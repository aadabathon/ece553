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22" r:id="rId2"/>
    <p:sldId id="273" r:id="rId3"/>
    <p:sldId id="274" r:id="rId4"/>
    <p:sldId id="275" r:id="rId5"/>
    <p:sldId id="276" r:id="rId6"/>
    <p:sldId id="277" r:id="rId7"/>
    <p:sldId id="326" r:id="rId8"/>
    <p:sldId id="278" r:id="rId9"/>
    <p:sldId id="280" r:id="rId10"/>
    <p:sldId id="256" r:id="rId11"/>
    <p:sldId id="257" r:id="rId12"/>
    <p:sldId id="258" r:id="rId13"/>
    <p:sldId id="260" r:id="rId14"/>
    <p:sldId id="262" r:id="rId15"/>
    <p:sldId id="263" r:id="rId16"/>
    <p:sldId id="281" r:id="rId17"/>
    <p:sldId id="282" r:id="rId18"/>
    <p:sldId id="293" r:id="rId19"/>
    <p:sldId id="294" r:id="rId20"/>
    <p:sldId id="312" r:id="rId21"/>
    <p:sldId id="319" r:id="rId22"/>
    <p:sldId id="324" r:id="rId2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0"/>
    <p:restoredTop sz="82045"/>
  </p:normalViewPr>
  <p:slideViewPr>
    <p:cSldViewPr>
      <p:cViewPr varScale="1">
        <p:scale>
          <a:sx n="121" d="100"/>
          <a:sy n="121" d="100"/>
        </p:scale>
        <p:origin x="333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1A90B-1E3D-BD4B-8F6E-9162723181F8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D03C8-1A07-5A48-8542-28688BA21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7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2C99-3CF1-7E84-EBFB-47110A5E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027F4-28DA-002B-8F72-E32A94BA1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CB7A1-B281-4AF9-CC4D-D63B1DCB8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E311-E534-F5AD-DE35-B4DB2E64B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D03C8-1A07-5A48-8542-28688BA214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27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Testbench development involves writing code (usually in </a:t>
            </a:r>
            <a:r>
              <a:rPr lang="en-US" dirty="0" err="1"/>
              <a:t>SystemVerilog</a:t>
            </a:r>
            <a:r>
              <a:rPr lang="en-US" dirty="0"/>
              <a:t> using methodologies like UVM, or using VHDL/Python) to build a closed-loop verification environment.</a:t>
            </a:r>
          </a:p>
          <a:p>
            <a:endParaRPr lang="en-US" b="1" dirty="0"/>
          </a:p>
          <a:p>
            <a:r>
              <a:rPr lang="en-US" b="0" dirty="0"/>
              <a:t>During a simulation,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testbench development</a:t>
            </a:r>
            <a:r>
              <a:rPr lang="en-US" b="0" dirty="0"/>
              <a:t> provides the pipeline. The engineer writes a specific test case that outlines the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stimuli</a:t>
            </a:r>
            <a:r>
              <a:rPr lang="en-US" b="0" dirty="0"/>
              <a:t>. The testbench takes those stimuli, formats them to fit the design's protocols, pushes them through the DUT, and verifies if the chip reacted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D03C8-1A07-5A48-8542-28688BA214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86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role of the Resolution Function</a:t>
            </a:r>
            <a:r>
              <a:rPr lang="en-US" b="0" dirty="0"/>
              <a:t> is to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the final, singular logic state of a shared net (or bus) when it is driven by multiple sources simultaneously.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D03C8-1A07-5A48-8542-28688BA214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12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3^n</a:t>
            </a:r>
          </a:p>
          <a:p>
            <a:endParaRPr lang="en-US" dirty="0"/>
          </a:p>
          <a:p>
            <a:r>
              <a:rPr lang="en-US" b="0" dirty="0"/>
              <a:t>Instead of evaluating the whole 3^n table at once, the simulation algorithm runs a software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for-loop</a:t>
            </a:r>
            <a:r>
              <a:rPr lang="en-US" b="0" dirty="0"/>
              <a:t> to evaluate each of these small 2-input gates sequentially, one by one, until the final output is calculated. This changes the computational complexity from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exponential 3^n to linear n-1 iterations)</a:t>
            </a:r>
            <a:r>
              <a:rPr lang="en-US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D03C8-1A07-5A48-8542-28688BA214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38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2.2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2.2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2.2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2.2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2.2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87829" y="164414"/>
            <a:ext cx="5639434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2125" y="1632051"/>
            <a:ext cx="4446270" cy="1602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57549"/>
            <a:ext cx="313182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2.2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18270" y="6399903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448712A-7B4A-AE3A-614D-656387799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i="1" spc="-5" dirty="0">
                <a:solidFill>
                  <a:srgbClr val="FF0000"/>
                </a:solidFill>
                <a:latin typeface="Arial-BoldItalicMT"/>
              </a:rPr>
              <a:t>Logic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3670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0079" y="164414"/>
            <a:ext cx="6934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dirty="0"/>
              <a:t>Course</a:t>
            </a:r>
            <a:r>
              <a:rPr spc="10" dirty="0"/>
              <a:t> </a:t>
            </a:r>
            <a:r>
              <a:rPr spc="-5" dirty="0"/>
              <a:t>Roadmap	</a:t>
            </a:r>
            <a:r>
              <a:rPr dirty="0"/>
              <a:t>(EDA</a:t>
            </a:r>
            <a:r>
              <a:rPr spc="-60" dirty="0"/>
              <a:t> </a:t>
            </a:r>
            <a:r>
              <a:rPr spc="-5" dirty="0"/>
              <a:t>Topics)</a:t>
            </a:r>
          </a:p>
        </p:txBody>
      </p:sp>
      <p:sp>
        <p:nvSpPr>
          <p:cNvPr id="4" name="object 4"/>
          <p:cNvSpPr/>
          <p:nvPr/>
        </p:nvSpPr>
        <p:spPr>
          <a:xfrm>
            <a:off x="2921507" y="952500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9394" y="1005332"/>
            <a:ext cx="26892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spc="-8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Modeling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03191" y="167640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8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1507" y="2273807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55950" y="2326081"/>
            <a:ext cx="2938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spc="-3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Simulation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41291" y="2997707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1507" y="3619500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29127" y="3672966"/>
            <a:ext cx="23895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Comb.</a:t>
            </a:r>
            <a:r>
              <a:rPr sz="3200" spc="-25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79391" y="434340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7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21507" y="4940808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08959" y="4993589"/>
            <a:ext cx="2028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Seq.</a:t>
            </a:r>
            <a:r>
              <a:rPr sz="3200" spc="-25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17491" y="5664708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21507" y="6222491"/>
            <a:ext cx="3403600" cy="635635"/>
          </a:xfrm>
          <a:custGeom>
            <a:avLst/>
            <a:gdLst/>
            <a:ahLst/>
            <a:cxnLst/>
            <a:rect l="l" t="t" r="r" b="b"/>
            <a:pathLst>
              <a:path w="3403600" h="635634">
                <a:moveTo>
                  <a:pt x="3295142" y="0"/>
                </a:moveTo>
                <a:lnTo>
                  <a:pt x="107950" y="0"/>
                </a:lnTo>
                <a:lnTo>
                  <a:pt x="65954" y="8483"/>
                </a:lnTo>
                <a:lnTo>
                  <a:pt x="31638" y="31619"/>
                </a:lnTo>
                <a:lnTo>
                  <a:pt x="8491" y="65933"/>
                </a:lnTo>
                <a:lnTo>
                  <a:pt x="0" y="107950"/>
                </a:lnTo>
                <a:lnTo>
                  <a:pt x="0" y="539747"/>
                </a:lnTo>
                <a:lnTo>
                  <a:pt x="8491" y="581767"/>
                </a:lnTo>
                <a:lnTo>
                  <a:pt x="31638" y="616081"/>
                </a:lnTo>
                <a:lnTo>
                  <a:pt x="60451" y="635506"/>
                </a:lnTo>
                <a:lnTo>
                  <a:pt x="3342640" y="635506"/>
                </a:lnTo>
                <a:lnTo>
                  <a:pt x="3371453" y="616081"/>
                </a:lnTo>
                <a:lnTo>
                  <a:pt x="3394600" y="581767"/>
                </a:lnTo>
                <a:lnTo>
                  <a:pt x="3403092" y="539747"/>
                </a:lnTo>
                <a:lnTo>
                  <a:pt x="3403092" y="107950"/>
                </a:lnTo>
                <a:lnTo>
                  <a:pt x="3394600" y="65933"/>
                </a:lnTo>
                <a:lnTo>
                  <a:pt x="3371453" y="31619"/>
                </a:lnTo>
                <a:lnTo>
                  <a:pt x="3337137" y="8483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66871" y="6277152"/>
            <a:ext cx="191388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Delay</a:t>
            </a:r>
            <a:r>
              <a:rPr sz="3200" spc="-14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Helvetica"/>
                <a:cs typeface="Helvetica"/>
              </a:rPr>
              <a:t>Test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68440" y="2286000"/>
            <a:ext cx="2296795" cy="647700"/>
          </a:xfrm>
          <a:custGeom>
            <a:avLst/>
            <a:gdLst/>
            <a:ahLst/>
            <a:cxnLst/>
            <a:rect l="l" t="t" r="r" b="b"/>
            <a:pathLst>
              <a:path w="2296795" h="647700">
                <a:moveTo>
                  <a:pt x="2188717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2188717" y="647700"/>
                </a:lnTo>
                <a:lnTo>
                  <a:pt x="2230713" y="639208"/>
                </a:lnTo>
                <a:lnTo>
                  <a:pt x="2265029" y="616061"/>
                </a:lnTo>
                <a:lnTo>
                  <a:pt x="2288176" y="581745"/>
                </a:lnTo>
                <a:lnTo>
                  <a:pt x="2296667" y="539750"/>
                </a:lnTo>
                <a:lnTo>
                  <a:pt x="2296667" y="107950"/>
                </a:lnTo>
                <a:lnTo>
                  <a:pt x="2288176" y="65954"/>
                </a:lnTo>
                <a:lnTo>
                  <a:pt x="2265029" y="31638"/>
                </a:lnTo>
                <a:lnTo>
                  <a:pt x="2230713" y="8491"/>
                </a:lnTo>
                <a:lnTo>
                  <a:pt x="218871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80454" y="2339086"/>
            <a:ext cx="18116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5" dirty="0">
                <a:solidFill>
                  <a:srgbClr val="FFFFFF"/>
                </a:solidFill>
                <a:latin typeface="Helvetica"/>
                <a:cs typeface="Helvetica"/>
              </a:rPr>
              <a:t>Testability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4904" y="964691"/>
            <a:ext cx="2342515" cy="647700"/>
          </a:xfrm>
          <a:custGeom>
            <a:avLst/>
            <a:gdLst/>
            <a:ahLst/>
            <a:cxnLst/>
            <a:rect l="l" t="t" r="r" b="b"/>
            <a:pathLst>
              <a:path w="2342515" h="647700">
                <a:moveTo>
                  <a:pt x="2234438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234438" y="647700"/>
                </a:lnTo>
                <a:lnTo>
                  <a:pt x="2276433" y="639208"/>
                </a:lnTo>
                <a:lnTo>
                  <a:pt x="2310749" y="616061"/>
                </a:lnTo>
                <a:lnTo>
                  <a:pt x="2333896" y="581745"/>
                </a:lnTo>
                <a:lnTo>
                  <a:pt x="2342388" y="539750"/>
                </a:lnTo>
                <a:lnTo>
                  <a:pt x="2342388" y="107950"/>
                </a:lnTo>
                <a:lnTo>
                  <a:pt x="2333896" y="65954"/>
                </a:lnTo>
                <a:lnTo>
                  <a:pt x="2310749" y="31638"/>
                </a:lnTo>
                <a:lnTo>
                  <a:pt x="2276433" y="8491"/>
                </a:lnTo>
                <a:lnTo>
                  <a:pt x="2234438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5038" y="1018158"/>
            <a:ext cx="19208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Logic</a:t>
            </a:r>
            <a:r>
              <a:rPr sz="3200" spc="-7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Helvetica"/>
                <a:cs typeface="Helvetica"/>
              </a:rPr>
              <a:t>Sim.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3055" y="1657985"/>
            <a:ext cx="678815" cy="593090"/>
          </a:xfrm>
          <a:custGeom>
            <a:avLst/>
            <a:gdLst/>
            <a:ahLst/>
            <a:cxnLst/>
            <a:rect l="l" t="t" r="r" b="b"/>
            <a:pathLst>
              <a:path w="678814" h="593089">
                <a:moveTo>
                  <a:pt x="351917" y="0"/>
                </a:moveTo>
                <a:lnTo>
                  <a:pt x="12573" y="256666"/>
                </a:lnTo>
                <a:lnTo>
                  <a:pt x="169671" y="464185"/>
                </a:lnTo>
                <a:lnTo>
                  <a:pt x="0" y="592581"/>
                </a:lnTo>
                <a:lnTo>
                  <a:pt x="496443" y="543560"/>
                </a:lnTo>
                <a:lnTo>
                  <a:pt x="628291" y="207644"/>
                </a:lnTo>
                <a:lnTo>
                  <a:pt x="509016" y="207644"/>
                </a:lnTo>
                <a:lnTo>
                  <a:pt x="351917" y="0"/>
                </a:lnTo>
                <a:close/>
              </a:path>
              <a:path w="678814" h="593089">
                <a:moveTo>
                  <a:pt x="678688" y="79248"/>
                </a:moveTo>
                <a:lnTo>
                  <a:pt x="509016" y="207644"/>
                </a:lnTo>
                <a:lnTo>
                  <a:pt x="628291" y="207644"/>
                </a:lnTo>
                <a:lnTo>
                  <a:pt x="678688" y="79248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46291" y="299605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5" h="558164">
                <a:moveTo>
                  <a:pt x="0" y="122046"/>
                </a:moveTo>
                <a:lnTo>
                  <a:pt x="242316" y="558038"/>
                </a:lnTo>
                <a:lnTo>
                  <a:pt x="740790" y="540638"/>
                </a:lnTo>
                <a:lnTo>
                  <a:pt x="555625" y="435990"/>
                </a:lnTo>
                <a:lnTo>
                  <a:pt x="673815" y="226694"/>
                </a:lnTo>
                <a:lnTo>
                  <a:pt x="185166" y="226694"/>
                </a:lnTo>
                <a:lnTo>
                  <a:pt x="0" y="122046"/>
                </a:lnTo>
                <a:close/>
              </a:path>
              <a:path w="741045" h="558164">
                <a:moveTo>
                  <a:pt x="313309" y="0"/>
                </a:moveTo>
                <a:lnTo>
                  <a:pt x="185166" y="226694"/>
                </a:lnTo>
                <a:lnTo>
                  <a:pt x="673815" y="226694"/>
                </a:lnTo>
                <a:lnTo>
                  <a:pt x="683640" y="209295"/>
                </a:lnTo>
                <a:lnTo>
                  <a:pt x="31330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2148" y="4940808"/>
            <a:ext cx="2295525" cy="647700"/>
          </a:xfrm>
          <a:custGeom>
            <a:avLst/>
            <a:gdLst/>
            <a:ahLst/>
            <a:cxnLst/>
            <a:rect l="l" t="t" r="r" b="b"/>
            <a:pathLst>
              <a:path w="2295525" h="647700">
                <a:moveTo>
                  <a:pt x="2187194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187194" y="647700"/>
                </a:lnTo>
                <a:lnTo>
                  <a:pt x="2229189" y="639208"/>
                </a:lnTo>
                <a:lnTo>
                  <a:pt x="2263505" y="616061"/>
                </a:lnTo>
                <a:lnTo>
                  <a:pt x="2286652" y="581745"/>
                </a:lnTo>
                <a:lnTo>
                  <a:pt x="2295144" y="539750"/>
                </a:lnTo>
                <a:lnTo>
                  <a:pt x="2295144" y="107950"/>
                </a:lnTo>
                <a:lnTo>
                  <a:pt x="2286652" y="65954"/>
                </a:lnTo>
                <a:lnTo>
                  <a:pt x="2263505" y="31638"/>
                </a:lnTo>
                <a:lnTo>
                  <a:pt x="2229189" y="8491"/>
                </a:lnTo>
                <a:lnTo>
                  <a:pt x="218719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32587" y="4993589"/>
            <a:ext cx="181228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Helvetica"/>
                <a:cs typeface="Helvetica"/>
              </a:rPr>
              <a:t>Diag</a:t>
            </a:r>
            <a:r>
              <a:rPr sz="3200" spc="-10" dirty="0">
                <a:solidFill>
                  <a:srgbClr val="FFFFFF"/>
                </a:solidFill>
                <a:latin typeface="Helvetica"/>
                <a:cs typeface="Helvetica"/>
              </a:rPr>
              <a:t>n</a:t>
            </a:r>
            <a:r>
              <a:rPr sz="3200" dirty="0">
                <a:solidFill>
                  <a:srgbClr val="FFFFFF"/>
                </a:solidFill>
                <a:latin typeface="Helvetica"/>
                <a:cs typeface="Helvetica"/>
              </a:rPr>
              <a:t>osis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47341" y="427240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4" h="558164">
                <a:moveTo>
                  <a:pt x="0" y="122047"/>
                </a:moveTo>
                <a:lnTo>
                  <a:pt x="242442" y="558038"/>
                </a:lnTo>
                <a:lnTo>
                  <a:pt x="740917" y="540639"/>
                </a:lnTo>
                <a:lnTo>
                  <a:pt x="555625" y="435991"/>
                </a:lnTo>
                <a:lnTo>
                  <a:pt x="673932" y="226695"/>
                </a:lnTo>
                <a:lnTo>
                  <a:pt x="185292" y="226695"/>
                </a:lnTo>
                <a:lnTo>
                  <a:pt x="0" y="122047"/>
                </a:lnTo>
                <a:close/>
              </a:path>
              <a:path w="741044" h="558164">
                <a:moveTo>
                  <a:pt x="313308" y="0"/>
                </a:moveTo>
                <a:lnTo>
                  <a:pt x="185292" y="226695"/>
                </a:lnTo>
                <a:lnTo>
                  <a:pt x="673932" y="226695"/>
                </a:lnTo>
                <a:lnTo>
                  <a:pt x="683767" y="209296"/>
                </a:lnTo>
                <a:lnTo>
                  <a:pt x="31330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1838" y="164414"/>
            <a:ext cx="5513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 Am I Learning</a:t>
            </a:r>
            <a:r>
              <a:rPr spc="-100" dirty="0"/>
              <a:t> </a:t>
            </a:r>
            <a:r>
              <a:rPr dirty="0"/>
              <a:t>This?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6725284" cy="1854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Logic </a:t>
            </a:r>
            <a:r>
              <a:rPr sz="2000" b="1" spc="-5" dirty="0">
                <a:latin typeface="Arial"/>
                <a:cs typeface="Arial"/>
              </a:rPr>
              <a:t>simulation </a:t>
            </a:r>
            <a:r>
              <a:rPr sz="2000" b="1" dirty="0">
                <a:latin typeface="Arial"/>
                <a:cs typeface="Arial"/>
              </a:rPr>
              <a:t>is essential to </a:t>
            </a:r>
            <a:r>
              <a:rPr sz="2000" b="1" spc="-5" dirty="0">
                <a:latin typeface="Arial"/>
                <a:cs typeface="Arial"/>
              </a:rPr>
              <a:t>verify</a:t>
            </a:r>
            <a:r>
              <a:rPr lang="en-US" sz="2000" b="1" spc="-114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Design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correctness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ATPG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Logic </a:t>
            </a:r>
            <a:r>
              <a:rPr sz="2000" b="1" spc="-5" dirty="0">
                <a:latin typeface="Arial"/>
                <a:cs typeface="Arial"/>
              </a:rPr>
              <a:t>simulation </a:t>
            </a:r>
            <a:r>
              <a:rPr sz="2000" b="1" dirty="0">
                <a:latin typeface="Arial"/>
                <a:cs typeface="Arial"/>
              </a:rPr>
              <a:t>is basic EDA tool for </a:t>
            </a:r>
            <a:r>
              <a:rPr sz="2000" b="1" spc="-5" dirty="0">
                <a:latin typeface="Arial"/>
                <a:cs typeface="Arial"/>
              </a:rPr>
              <a:t>digital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Basic building block of many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tools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4300" y="164414"/>
            <a:ext cx="3708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Logic</a:t>
            </a:r>
            <a:r>
              <a:rPr spc="-75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14369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Simulation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Logic Simulation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Issues of Logic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Simulations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1923" y="4146803"/>
            <a:ext cx="4969002" cy="1933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0" y="164414"/>
            <a:ext cx="43935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Is</a:t>
            </a:r>
            <a:r>
              <a:rPr spc="-60" dirty="0"/>
              <a:t> </a:t>
            </a:r>
            <a:r>
              <a:rPr spc="-5" dirty="0"/>
              <a:t>Simulation?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7795"/>
            <a:ext cx="6676390" cy="1658146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Arial"/>
                <a:cs typeface="Arial"/>
              </a:rPr>
              <a:t>Given </a:t>
            </a:r>
            <a:r>
              <a:rPr sz="1800" b="1" dirty="0">
                <a:latin typeface="Arial"/>
                <a:cs typeface="Arial"/>
              </a:rPr>
              <a:t>input stimuli, models, 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commands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Run software to </a:t>
            </a:r>
            <a:r>
              <a:rPr sz="1800" b="1" spc="-5" dirty="0">
                <a:latin typeface="Arial"/>
                <a:cs typeface="Arial"/>
              </a:rPr>
              <a:t>produce </a:t>
            </a:r>
            <a:r>
              <a:rPr sz="1800" b="1" dirty="0">
                <a:latin typeface="Arial"/>
                <a:cs typeface="Arial"/>
              </a:rPr>
              <a:t>output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responses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For digital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circuits: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Input </a:t>
            </a:r>
            <a:r>
              <a:rPr sz="1800" b="1" spc="-5" dirty="0">
                <a:latin typeface="Arial"/>
                <a:cs typeface="Arial"/>
              </a:rPr>
              <a:t>stimuli are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test</a:t>
            </a:r>
            <a:r>
              <a:rPr sz="1800" b="1" i="1" spc="-2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patterns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Models </a:t>
            </a:r>
            <a:r>
              <a:rPr sz="1800" b="1" spc="-5" dirty="0">
                <a:latin typeface="Arial"/>
                <a:cs typeface="Arial"/>
              </a:rPr>
              <a:t>can </a:t>
            </a:r>
            <a:r>
              <a:rPr sz="1800" b="1" dirty="0">
                <a:latin typeface="Arial"/>
                <a:cs typeface="Arial"/>
              </a:rPr>
              <a:t>be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functional/logic/transistors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(next slide)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6537" y="2903666"/>
            <a:ext cx="1798955" cy="661670"/>
          </a:xfrm>
          <a:prstGeom prst="rect">
            <a:avLst/>
          </a:prstGeom>
          <a:ln w="7254">
            <a:solidFill>
              <a:srgbClr val="000000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280"/>
              </a:spcBef>
            </a:pPr>
            <a:r>
              <a:rPr sz="1900" b="1" dirty="0">
                <a:latin typeface="Arial"/>
                <a:cs typeface="Arial"/>
              </a:rPr>
              <a:t>Commands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6537" y="4262596"/>
            <a:ext cx="1798955" cy="661670"/>
          </a:xfrm>
          <a:prstGeom prst="rect">
            <a:avLst/>
          </a:prstGeom>
          <a:solidFill>
            <a:srgbClr val="FFC000"/>
          </a:solidFill>
          <a:ln w="7254">
            <a:solidFill>
              <a:srgbClr val="000000"/>
            </a:solidFill>
          </a:ln>
        </p:spPr>
        <p:txBody>
          <a:bodyPr vert="horz" wrap="square" lIns="0" tIns="163830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1290"/>
              </a:spcBef>
            </a:pPr>
            <a:r>
              <a:rPr sz="1900" b="1" dirty="0">
                <a:latin typeface="Arial"/>
                <a:cs typeface="Arial"/>
              </a:rPr>
              <a:t>Simulator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6214" y="4262596"/>
            <a:ext cx="1798955" cy="661670"/>
          </a:xfrm>
          <a:prstGeom prst="rect">
            <a:avLst/>
          </a:prstGeom>
          <a:ln w="7254">
            <a:solidFill>
              <a:srgbClr val="000000"/>
            </a:solidFill>
          </a:ln>
        </p:spPr>
        <p:txBody>
          <a:bodyPr vert="horz" wrap="square" lIns="0" tIns="16383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290"/>
              </a:spcBef>
            </a:pPr>
            <a:r>
              <a:rPr sz="1900" b="1" dirty="0">
                <a:latin typeface="Arial"/>
                <a:cs typeface="Arial"/>
              </a:rPr>
              <a:t>Responses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6537" y="5707261"/>
            <a:ext cx="1798955" cy="661670"/>
          </a:xfrm>
          <a:prstGeom prst="rect">
            <a:avLst/>
          </a:prstGeom>
          <a:ln w="7254">
            <a:solidFill>
              <a:srgbClr val="000000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300"/>
              </a:spcBef>
            </a:pPr>
            <a:r>
              <a:rPr sz="1900" b="1" dirty="0">
                <a:latin typeface="Arial"/>
                <a:cs typeface="Arial"/>
              </a:rPr>
              <a:t>Models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2562" y="4262596"/>
            <a:ext cx="1798955" cy="661670"/>
          </a:xfrm>
          <a:prstGeom prst="rect">
            <a:avLst/>
          </a:prstGeom>
          <a:ln w="7254">
            <a:solidFill>
              <a:srgbClr val="000000"/>
            </a:solidFill>
          </a:ln>
        </p:spPr>
        <p:txBody>
          <a:bodyPr vert="horz" wrap="square" lIns="0" tIns="16383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290"/>
              </a:spcBef>
            </a:pPr>
            <a:r>
              <a:rPr sz="1900" b="1" dirty="0">
                <a:latin typeface="Arial"/>
                <a:cs typeface="Arial"/>
              </a:rPr>
              <a:t>Input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Stimuli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26009" y="3565207"/>
            <a:ext cx="240029" cy="697865"/>
          </a:xfrm>
          <a:custGeom>
            <a:avLst/>
            <a:gdLst/>
            <a:ahLst/>
            <a:cxnLst/>
            <a:rect l="l" t="t" r="r" b="b"/>
            <a:pathLst>
              <a:path w="240029" h="697864">
                <a:moveTo>
                  <a:pt x="239800" y="577449"/>
                </a:moveTo>
                <a:lnTo>
                  <a:pt x="0" y="577449"/>
                </a:lnTo>
                <a:lnTo>
                  <a:pt x="119900" y="697389"/>
                </a:lnTo>
                <a:lnTo>
                  <a:pt x="239800" y="577449"/>
                </a:lnTo>
                <a:close/>
              </a:path>
              <a:path w="240029" h="697864">
                <a:moveTo>
                  <a:pt x="160632" y="0"/>
                </a:moveTo>
                <a:lnTo>
                  <a:pt x="79107" y="0"/>
                </a:lnTo>
                <a:lnTo>
                  <a:pt x="79107" y="577449"/>
                </a:lnTo>
                <a:lnTo>
                  <a:pt x="160632" y="577449"/>
                </a:lnTo>
                <a:lnTo>
                  <a:pt x="160632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26009" y="3565207"/>
            <a:ext cx="240029" cy="697865"/>
          </a:xfrm>
          <a:custGeom>
            <a:avLst/>
            <a:gdLst/>
            <a:ahLst/>
            <a:cxnLst/>
            <a:rect l="l" t="t" r="r" b="b"/>
            <a:pathLst>
              <a:path w="240029" h="697864">
                <a:moveTo>
                  <a:pt x="119900" y="697389"/>
                </a:moveTo>
                <a:lnTo>
                  <a:pt x="239800" y="577449"/>
                </a:lnTo>
                <a:lnTo>
                  <a:pt x="160632" y="577449"/>
                </a:lnTo>
                <a:lnTo>
                  <a:pt x="160632" y="0"/>
                </a:lnTo>
                <a:lnTo>
                  <a:pt x="79107" y="0"/>
                </a:lnTo>
                <a:lnTo>
                  <a:pt x="79107" y="577449"/>
                </a:lnTo>
                <a:lnTo>
                  <a:pt x="0" y="577449"/>
                </a:lnTo>
                <a:lnTo>
                  <a:pt x="119900" y="697389"/>
                </a:lnTo>
                <a:close/>
              </a:path>
            </a:pathLst>
          </a:custGeom>
          <a:ln w="36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26009" y="4924136"/>
            <a:ext cx="240029" cy="783590"/>
          </a:xfrm>
          <a:custGeom>
            <a:avLst/>
            <a:gdLst/>
            <a:ahLst/>
            <a:cxnLst/>
            <a:rect l="l" t="t" r="r" b="b"/>
            <a:pathLst>
              <a:path w="240029" h="783589">
                <a:moveTo>
                  <a:pt x="160632" y="119999"/>
                </a:moveTo>
                <a:lnTo>
                  <a:pt x="79107" y="119999"/>
                </a:lnTo>
                <a:lnTo>
                  <a:pt x="79107" y="783111"/>
                </a:lnTo>
                <a:lnTo>
                  <a:pt x="160632" y="783111"/>
                </a:lnTo>
                <a:lnTo>
                  <a:pt x="160632" y="119999"/>
                </a:lnTo>
                <a:close/>
              </a:path>
              <a:path w="240029" h="783589">
                <a:moveTo>
                  <a:pt x="119900" y="0"/>
                </a:moveTo>
                <a:lnTo>
                  <a:pt x="0" y="119999"/>
                </a:lnTo>
                <a:lnTo>
                  <a:pt x="239800" y="119999"/>
                </a:lnTo>
                <a:lnTo>
                  <a:pt x="119900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26009" y="4924136"/>
            <a:ext cx="240029" cy="783590"/>
          </a:xfrm>
          <a:custGeom>
            <a:avLst/>
            <a:gdLst/>
            <a:ahLst/>
            <a:cxnLst/>
            <a:rect l="l" t="t" r="r" b="b"/>
            <a:pathLst>
              <a:path w="240029" h="783589">
                <a:moveTo>
                  <a:pt x="119900" y="0"/>
                </a:moveTo>
                <a:lnTo>
                  <a:pt x="239800" y="119999"/>
                </a:lnTo>
                <a:lnTo>
                  <a:pt x="160632" y="119999"/>
                </a:lnTo>
                <a:lnTo>
                  <a:pt x="160632" y="783111"/>
                </a:lnTo>
                <a:lnTo>
                  <a:pt x="79107" y="783111"/>
                </a:lnTo>
                <a:lnTo>
                  <a:pt x="79107" y="119999"/>
                </a:lnTo>
                <a:lnTo>
                  <a:pt x="0" y="119999"/>
                </a:lnTo>
                <a:lnTo>
                  <a:pt x="119900" y="0"/>
                </a:lnTo>
                <a:close/>
              </a:path>
            </a:pathLst>
          </a:custGeom>
          <a:ln w="36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61279" y="4473397"/>
            <a:ext cx="685800" cy="240029"/>
          </a:xfrm>
          <a:custGeom>
            <a:avLst/>
            <a:gdLst/>
            <a:ahLst/>
            <a:cxnLst/>
            <a:rect l="l" t="t" r="r" b="b"/>
            <a:pathLst>
              <a:path w="685800" h="240029">
                <a:moveTo>
                  <a:pt x="565356" y="0"/>
                </a:moveTo>
                <a:lnTo>
                  <a:pt x="565356" y="79193"/>
                </a:lnTo>
                <a:lnTo>
                  <a:pt x="0" y="79193"/>
                </a:lnTo>
                <a:lnTo>
                  <a:pt x="0" y="160745"/>
                </a:lnTo>
                <a:lnTo>
                  <a:pt x="565356" y="160745"/>
                </a:lnTo>
                <a:lnTo>
                  <a:pt x="565356" y="239939"/>
                </a:lnTo>
                <a:lnTo>
                  <a:pt x="685257" y="119999"/>
                </a:lnTo>
                <a:lnTo>
                  <a:pt x="565356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61279" y="4473397"/>
            <a:ext cx="685800" cy="240029"/>
          </a:xfrm>
          <a:custGeom>
            <a:avLst/>
            <a:gdLst/>
            <a:ahLst/>
            <a:cxnLst/>
            <a:rect l="l" t="t" r="r" b="b"/>
            <a:pathLst>
              <a:path w="685800" h="240029">
                <a:moveTo>
                  <a:pt x="685257" y="119999"/>
                </a:moveTo>
                <a:lnTo>
                  <a:pt x="565356" y="0"/>
                </a:lnTo>
                <a:lnTo>
                  <a:pt x="565356" y="79193"/>
                </a:lnTo>
                <a:lnTo>
                  <a:pt x="0" y="79193"/>
                </a:lnTo>
                <a:lnTo>
                  <a:pt x="0" y="160745"/>
                </a:lnTo>
                <a:lnTo>
                  <a:pt x="565356" y="160745"/>
                </a:lnTo>
                <a:lnTo>
                  <a:pt x="565356" y="239939"/>
                </a:lnTo>
                <a:lnTo>
                  <a:pt x="685257" y="119999"/>
                </a:lnTo>
                <a:close/>
              </a:path>
            </a:pathLst>
          </a:custGeom>
          <a:ln w="3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5284" y="4473397"/>
            <a:ext cx="651510" cy="240029"/>
          </a:xfrm>
          <a:custGeom>
            <a:avLst/>
            <a:gdLst/>
            <a:ahLst/>
            <a:cxnLst/>
            <a:rect l="l" t="t" r="r" b="b"/>
            <a:pathLst>
              <a:path w="651510" h="240029">
                <a:moveTo>
                  <a:pt x="531030" y="0"/>
                </a:moveTo>
                <a:lnTo>
                  <a:pt x="531030" y="79193"/>
                </a:lnTo>
                <a:lnTo>
                  <a:pt x="0" y="79193"/>
                </a:lnTo>
                <a:lnTo>
                  <a:pt x="0" y="160745"/>
                </a:lnTo>
                <a:lnTo>
                  <a:pt x="531030" y="160745"/>
                </a:lnTo>
                <a:lnTo>
                  <a:pt x="531030" y="239939"/>
                </a:lnTo>
                <a:lnTo>
                  <a:pt x="650930" y="119999"/>
                </a:lnTo>
                <a:lnTo>
                  <a:pt x="531030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5283" y="4473397"/>
            <a:ext cx="651510" cy="240029"/>
          </a:xfrm>
          <a:custGeom>
            <a:avLst/>
            <a:gdLst/>
            <a:ahLst/>
            <a:cxnLst/>
            <a:rect l="l" t="t" r="r" b="b"/>
            <a:pathLst>
              <a:path w="651510" h="240029">
                <a:moveTo>
                  <a:pt x="650930" y="119999"/>
                </a:moveTo>
                <a:lnTo>
                  <a:pt x="531030" y="0"/>
                </a:lnTo>
                <a:lnTo>
                  <a:pt x="531030" y="79193"/>
                </a:lnTo>
                <a:lnTo>
                  <a:pt x="0" y="79193"/>
                </a:lnTo>
                <a:lnTo>
                  <a:pt x="0" y="160745"/>
                </a:lnTo>
                <a:lnTo>
                  <a:pt x="531030" y="160745"/>
                </a:lnTo>
                <a:lnTo>
                  <a:pt x="531030" y="239939"/>
                </a:lnTo>
                <a:lnTo>
                  <a:pt x="650930" y="119999"/>
                </a:lnTo>
                <a:close/>
              </a:path>
            </a:pathLst>
          </a:custGeom>
          <a:ln w="3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138" y="164414"/>
            <a:ext cx="6045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Levels of </a:t>
            </a:r>
            <a:r>
              <a:rPr spc="-5" dirty="0"/>
              <a:t>Circuit</a:t>
            </a:r>
            <a:r>
              <a:rPr spc="-40" dirty="0"/>
              <a:t> </a:t>
            </a:r>
            <a:r>
              <a:rPr spc="-5"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7796"/>
            <a:ext cx="8669020" cy="51562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5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Functional/Behavior</a:t>
            </a:r>
            <a:r>
              <a:rPr sz="1800" b="1" i="1" spc="-3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level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Interconnect </a:t>
            </a:r>
            <a:r>
              <a:rPr sz="1800" b="1" dirty="0">
                <a:latin typeface="Arial"/>
                <a:cs typeface="Arial"/>
              </a:rPr>
              <a:t>of modules </a:t>
            </a:r>
            <a:r>
              <a:rPr sz="1800" b="1" spc="-5" dirty="0">
                <a:latin typeface="Arial"/>
                <a:cs typeface="Arial"/>
              </a:rPr>
              <a:t>(expressed </a:t>
            </a: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programming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language)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Good for </a:t>
            </a:r>
            <a:r>
              <a:rPr sz="1800" b="1" spc="-5" dirty="0">
                <a:latin typeface="Arial"/>
                <a:cs typeface="Arial"/>
              </a:rPr>
              <a:t>architecture </a:t>
            </a:r>
            <a:r>
              <a:rPr sz="1800" b="1" dirty="0">
                <a:latin typeface="Arial"/>
                <a:cs typeface="Arial"/>
              </a:rPr>
              <a:t>and functional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verification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Fast </a:t>
            </a:r>
            <a:r>
              <a:rPr sz="1800" b="1" dirty="0">
                <a:latin typeface="Arial"/>
                <a:cs typeface="Arial"/>
              </a:rPr>
              <a:t>but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inaccurate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1898650" algn="l"/>
              </a:tabLst>
            </a:pPr>
            <a:r>
              <a:rPr sz="1800" b="1" spc="-5" dirty="0">
                <a:latin typeface="Arial"/>
                <a:cs typeface="Arial"/>
              </a:rPr>
              <a:t>Example:	</a:t>
            </a:r>
            <a:r>
              <a:rPr sz="1800" b="1" dirty="0">
                <a:latin typeface="Arial"/>
                <a:cs typeface="Arial"/>
              </a:rPr>
              <a:t>C, </a:t>
            </a:r>
            <a:r>
              <a:rPr sz="1800" b="1" spc="-5" dirty="0">
                <a:latin typeface="Arial"/>
                <a:cs typeface="Arial"/>
              </a:rPr>
              <a:t>System-C, Verilog (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Register-Transfer-Level,</a:t>
            </a:r>
            <a:r>
              <a:rPr sz="1800" b="1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RTL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  <a:tab pos="1791335" algn="l"/>
              </a:tabLst>
            </a:pPr>
            <a:r>
              <a:rPr sz="18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Logic</a:t>
            </a:r>
            <a:r>
              <a:rPr sz="1800" b="1" i="1" spc="-1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level	</a:t>
            </a:r>
            <a:r>
              <a:rPr sz="1800" dirty="0">
                <a:solidFill>
                  <a:srgbClr val="0000FF"/>
                </a:solidFill>
                <a:latin typeface="Wingdings"/>
                <a:cs typeface="Wingdings"/>
              </a:rPr>
              <a:t></a:t>
            </a:r>
            <a:r>
              <a:rPr sz="1800" spc="-810" dirty="0">
                <a:solidFill>
                  <a:srgbClr val="0000FF"/>
                </a:solidFill>
                <a:latin typeface="Wingdings"/>
                <a:cs typeface="Wingdings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Arial"/>
                <a:cs typeface="Arial"/>
              </a:rPr>
              <a:t>our focus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6789420" algn="l"/>
              </a:tabLst>
            </a:pPr>
            <a:r>
              <a:rPr sz="1800" b="1" spc="-5" dirty="0">
                <a:latin typeface="Arial"/>
                <a:cs typeface="Arial"/>
              </a:rPr>
              <a:t>Interconnect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Boolean gates (aka.</a:t>
            </a:r>
            <a:r>
              <a:rPr sz="1800" b="1" spc="114" dirty="0"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Gate-level</a:t>
            </a:r>
            <a:r>
              <a:rPr sz="1800" b="1" i="1" spc="2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netlist</a:t>
            </a:r>
            <a:r>
              <a:rPr sz="1800" b="1" dirty="0">
                <a:latin typeface="Arial"/>
                <a:cs typeface="Arial"/>
              </a:rPr>
              <a:t>):	</a:t>
            </a:r>
            <a:r>
              <a:rPr sz="1800" b="1" spc="-20" dirty="0">
                <a:latin typeface="Arial"/>
                <a:cs typeface="Arial"/>
              </a:rPr>
              <a:t>AND, </a:t>
            </a:r>
            <a:r>
              <a:rPr sz="1800" b="1" dirty="0">
                <a:latin typeface="Arial"/>
                <a:cs typeface="Arial"/>
              </a:rPr>
              <a:t>OR, </a:t>
            </a:r>
            <a:r>
              <a:rPr sz="1800" b="1" spc="-5" dirty="0">
                <a:latin typeface="Arial"/>
                <a:cs typeface="Arial"/>
              </a:rPr>
              <a:t>NOT </a:t>
            </a: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9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Good for logic </a:t>
            </a:r>
            <a:r>
              <a:rPr sz="1800" b="1" spc="-5" dirty="0">
                <a:latin typeface="Arial"/>
                <a:cs typeface="Arial"/>
              </a:rPr>
              <a:t>verification, test pattern generation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Example: Verilog (gate-level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9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Transistor level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Interconnect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" dirty="0">
                <a:latin typeface="Arial"/>
                <a:cs typeface="Arial"/>
              </a:rPr>
              <a:t> transistors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Good for analog/mixed-signal and timing </a:t>
            </a:r>
            <a:r>
              <a:rPr sz="1800" b="1" spc="-5" dirty="0">
                <a:latin typeface="Arial"/>
                <a:cs typeface="Arial"/>
              </a:rPr>
              <a:t>critical </a:t>
            </a:r>
            <a:r>
              <a:rPr sz="1800" b="1" dirty="0">
                <a:latin typeface="Arial"/>
                <a:cs typeface="Arial"/>
              </a:rPr>
              <a:t>digital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circuits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Slow </a:t>
            </a:r>
            <a:r>
              <a:rPr sz="1800" b="1" dirty="0">
                <a:latin typeface="Arial"/>
                <a:cs typeface="Arial"/>
              </a:rPr>
              <a:t>but</a:t>
            </a:r>
            <a:r>
              <a:rPr sz="1800" b="1" spc="-5" dirty="0">
                <a:latin typeface="Arial"/>
                <a:cs typeface="Arial"/>
              </a:rPr>
              <a:t> accurate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Example: </a:t>
            </a:r>
            <a:r>
              <a:rPr sz="1800" b="1" dirty="0">
                <a:latin typeface="Arial"/>
                <a:cs typeface="Arial"/>
              </a:rPr>
              <a:t>SPICE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Mixed-level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Mixed </a:t>
            </a:r>
            <a:r>
              <a:rPr sz="1800" b="1" dirty="0">
                <a:latin typeface="Arial"/>
                <a:cs typeface="Arial"/>
              </a:rPr>
              <a:t>functional/logic/transistor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levels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9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Trade </a:t>
            </a:r>
            <a:r>
              <a:rPr sz="1800" b="1" dirty="0">
                <a:latin typeface="Arial"/>
                <a:cs typeface="Arial"/>
              </a:rPr>
              <a:t>off </a:t>
            </a:r>
            <a:r>
              <a:rPr sz="1800" b="1" spc="-5" dirty="0">
                <a:latin typeface="Arial"/>
                <a:cs typeface="Arial"/>
              </a:rPr>
              <a:t>CPU </a:t>
            </a:r>
            <a:r>
              <a:rPr sz="1800" b="1" dirty="0">
                <a:latin typeface="Arial"/>
                <a:cs typeface="Arial"/>
              </a:rPr>
              <a:t>time 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accuracy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A02C-0785-99C5-8462-975E56F2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>
            <a:extLst>
              <a:ext uri="{FF2B5EF4-FFF2-40B4-BE49-F238E27FC236}">
                <a16:creationId xmlns:a16="http://schemas.microsoft.com/office/drawing/2014/main" id="{70ACBF4F-D9C8-D3E0-EDA8-43AF57E10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93725"/>
            <a:ext cx="7772400" cy="553998"/>
          </a:xfrm>
        </p:spPr>
        <p:txBody>
          <a:bodyPr/>
          <a:lstStyle/>
          <a:p>
            <a:r>
              <a:rPr lang="en-US" altLang="en-US" dirty="0"/>
              <a:t>Netlist Formats: Example</a:t>
            </a: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9BB673A3-FA7C-8748-ED22-7ACA334CA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57400"/>
            <a:ext cx="5334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ID = GATE_TYPE (INPUT1, …)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INPUT(G1)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INPUT(G2)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OUTPUT(G7)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G3 = NOT(G2)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G4 = NOT(G1)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G5 = AND(G1, G3)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G6 = AND(G2, G4)</a:t>
            </a:r>
          </a:p>
          <a:p>
            <a:pPr>
              <a:spcBef>
                <a:spcPct val="20000"/>
              </a:spcBef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G7 = OR(G5, G6)</a:t>
            </a:r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A862842C-E4EE-2878-4DC5-788BC3433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ISCAS format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B1A111BB-8BB9-E19D-179E-26C335BE852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518270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AE834-42B8-E38A-1A7D-47A2F900D18A}"/>
              </a:ext>
            </a:extLst>
          </p:cNvPr>
          <p:cNvSpPr txBox="1"/>
          <p:nvPr/>
        </p:nvSpPr>
        <p:spPr>
          <a:xfrm>
            <a:off x="4495800" y="1981200"/>
            <a:ext cx="4495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03B70-0922-B630-114E-4071647FC2DB}"/>
              </a:ext>
            </a:extLst>
          </p:cNvPr>
          <p:cNvSpPr txBox="1"/>
          <p:nvPr/>
        </p:nvSpPr>
        <p:spPr>
          <a:xfrm>
            <a:off x="3681516" y="2614251"/>
            <a:ext cx="533327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Each line represents a signal ID which could be output pin of a gate, a primary input, or primary output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ID of primary input in 1</a:t>
            </a:r>
            <a:r>
              <a:rPr lang="en-US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line is G1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ID of primary output in 3</a:t>
            </a:r>
            <a:r>
              <a:rPr lang="en-US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line is G7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G3 is ID of output pin of a NOT gate fed by signal G2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G5 is ID of output pin of AND gate fed by G2 and G4</a:t>
            </a:r>
          </a:p>
        </p:txBody>
      </p:sp>
    </p:spTree>
    <p:extLst>
      <p:ext uri="{BB962C8B-B14F-4D97-AF65-F5344CB8AC3E}">
        <p14:creationId xmlns:p14="http://schemas.microsoft.com/office/powerpoint/2010/main" val="385079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7829" y="164414"/>
            <a:ext cx="5639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Verification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Simulation</a:t>
            </a:r>
          </a:p>
        </p:txBody>
      </p:sp>
      <p:sp>
        <p:nvSpPr>
          <p:cNvPr id="4" name="object 4"/>
          <p:cNvSpPr/>
          <p:nvPr/>
        </p:nvSpPr>
        <p:spPr>
          <a:xfrm>
            <a:off x="1447800" y="1219200"/>
            <a:ext cx="5706169" cy="4371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99370" y="5429659"/>
            <a:ext cx="17284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(www Fig.</a:t>
            </a:r>
            <a:r>
              <a:rPr sz="2000" b="1" spc="-140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3.1)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883525" cy="224163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What is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simulation?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pr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oduce output based on 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given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input stimuli and</a:t>
            </a:r>
            <a:r>
              <a:rPr sz="20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model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Levels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functional,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logic,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transistor,</a:t>
            </a:r>
            <a:r>
              <a:rPr sz="2000" b="1" spc="-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mixed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Design </a:t>
            </a:r>
            <a:r>
              <a:rPr sz="2000" b="1" spc="-5" dirty="0">
                <a:latin typeface="Arial"/>
                <a:cs typeface="Arial"/>
              </a:rPr>
              <a:t>verification </a:t>
            </a:r>
            <a:r>
              <a:rPr sz="2000" b="1" dirty="0">
                <a:latin typeface="Arial"/>
                <a:cs typeface="Arial"/>
              </a:rPr>
              <a:t>by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1923" y="4146803"/>
            <a:ext cx="4969002" cy="1933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18270" y="6399903"/>
            <a:ext cx="62573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4300" y="164414"/>
            <a:ext cx="3708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Logic</a:t>
            </a:r>
            <a:r>
              <a:rPr spc="-75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1808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9999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Logic Gate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Evaluation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9999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Logic Simulation</a:t>
            </a:r>
            <a:r>
              <a:rPr sz="2000" b="1" spc="-9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1923" y="4146803"/>
            <a:ext cx="4969002" cy="1933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05800" y="6415405"/>
            <a:ext cx="4582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82000" y="6399903"/>
            <a:ext cx="3820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4360" y="164414"/>
            <a:ext cx="2744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Logic</a:t>
            </a:r>
            <a:r>
              <a:rPr spc="-70" dirty="0"/>
              <a:t> </a:t>
            </a:r>
            <a:r>
              <a:rPr dirty="0"/>
              <a:t>States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8726690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Binary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logic</a:t>
            </a:r>
            <a:r>
              <a:rPr sz="2000" b="1" i="1" spc="-3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(0,1)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Three-valued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logic </a:t>
            </a:r>
            <a:r>
              <a:rPr sz="2000" b="1" dirty="0">
                <a:latin typeface="Arial"/>
                <a:cs typeface="Arial"/>
              </a:rPr>
              <a:t>(0,1, </a:t>
            </a:r>
            <a:r>
              <a:rPr sz="20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u</a:t>
            </a:r>
            <a:r>
              <a:rPr sz="2000" b="1" spc="-5" dirty="0">
                <a:latin typeface="Arial"/>
                <a:cs typeface="Arial"/>
              </a:rPr>
              <a:t>) </a:t>
            </a:r>
            <a:r>
              <a:rPr sz="2000" b="1" dirty="0">
                <a:latin typeface="Arial"/>
                <a:cs typeface="Arial"/>
              </a:rPr>
              <a:t>aka.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Ternary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logic </a:t>
            </a:r>
            <a:r>
              <a:rPr sz="2000" b="1" dirty="0">
                <a:latin typeface="Arial"/>
                <a:cs typeface="Arial"/>
              </a:rPr>
              <a:t>[Eichelberger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65]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u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lang="en-US" sz="2000" b="1" dirty="0">
                <a:latin typeface="Arial"/>
                <a:cs typeface="Arial"/>
              </a:rPr>
              <a:t>mean </a:t>
            </a:r>
            <a:r>
              <a:rPr sz="2000" b="1" dirty="0">
                <a:latin typeface="Arial"/>
                <a:cs typeface="Arial"/>
              </a:rPr>
              <a:t>unknown) </a:t>
            </a:r>
            <a:r>
              <a:rPr lang="en-US" sz="2000" b="1" dirty="0">
                <a:latin typeface="Arial"/>
                <a:cs typeface="Arial"/>
              </a:rPr>
              <a:t>is used when </a:t>
            </a:r>
            <a:r>
              <a:rPr sz="2000" b="1" spc="-5" dirty="0">
                <a:latin typeface="Arial"/>
                <a:cs typeface="Arial"/>
              </a:rPr>
              <a:t>logic value </a:t>
            </a:r>
            <a:r>
              <a:rPr sz="2000" b="1" dirty="0">
                <a:latin typeface="Arial"/>
                <a:cs typeface="Arial"/>
              </a:rPr>
              <a:t>cannot be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determined</a:t>
            </a:r>
            <a:r>
              <a:rPr lang="en-US" sz="2000" b="1" dirty="0">
                <a:latin typeface="Arial"/>
                <a:cs typeface="Arial"/>
              </a:rPr>
              <a:t> during simulation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1790064" algn="l"/>
              </a:tabLst>
            </a:pPr>
            <a:endParaRPr sz="2000" dirty="0">
              <a:latin typeface="Arial"/>
              <a:cs typeface="Arial"/>
            </a:endParaRPr>
          </a:p>
          <a:p>
            <a:pPr marL="469265" lvl="1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tabLst>
                <a:tab pos="756285" algn="l"/>
                <a:tab pos="756920" algn="l"/>
              </a:tabLst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779" y="5804915"/>
            <a:ext cx="8856345" cy="58547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4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More States, More </a:t>
            </a:r>
            <a:r>
              <a:rPr sz="3200" b="1" spc="-30" dirty="0">
                <a:solidFill>
                  <a:srgbClr val="FF0000"/>
                </a:solidFill>
                <a:latin typeface="Helvetica"/>
                <a:cs typeface="Helvetica"/>
              </a:rPr>
              <a:t>Accuracy,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More CPU</a:t>
            </a:r>
            <a:r>
              <a:rPr sz="3200" b="1" spc="-22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Helvetica"/>
                <a:cs typeface="Helvetica"/>
              </a:rPr>
              <a:t>Time</a:t>
            </a:r>
            <a:endParaRPr sz="3200">
              <a:latin typeface="Helvetica"/>
              <a:cs typeface="Helvetica"/>
            </a:endParaRPr>
          </a:p>
        </p:txBody>
      </p:sp>
      <p:pic>
        <p:nvPicPr>
          <p:cNvPr id="8" name="Picture 7" descr="A white and black text&#10;&#10;Description automatically generated with medium confidence">
            <a:extLst>
              <a:ext uri="{FF2B5EF4-FFF2-40B4-BE49-F238E27FC236}">
                <a16:creationId xmlns:a16="http://schemas.microsoft.com/office/drawing/2014/main" id="{DFFACB0E-5625-0407-0A05-101567BBB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30" y="3124200"/>
            <a:ext cx="7772400" cy="16981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1838" y="164414"/>
            <a:ext cx="5513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Ternary </a:t>
            </a:r>
            <a:r>
              <a:rPr spc="-5" dirty="0"/>
              <a:t>Logic</a:t>
            </a:r>
            <a:r>
              <a:rPr spc="-85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03263" y="1854316"/>
            <a:ext cx="5978928" cy="4326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05023" y="2364485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A</a:t>
            </a:r>
            <a:r>
              <a:rPr sz="1800" b="1" i="1" spc="-7" baseline="-20833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2</a:t>
            </a:r>
            <a:endParaRPr sz="1800" baseline="-20833">
              <a:latin typeface="TimesNewRomanPS-BoldItalicMT"/>
              <a:cs typeface="TimesNewRomanPS-BoldItalic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305800" y="6399903"/>
            <a:ext cx="4582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217525" y="961136"/>
            <a:ext cx="4475480" cy="1055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Problem: output </a:t>
            </a:r>
            <a:r>
              <a:rPr sz="2000" b="1" i="1" dirty="0">
                <a:latin typeface="Arial-BoldItalicMT"/>
                <a:cs typeface="Arial-BoldItalicMT"/>
              </a:rPr>
              <a:t>K </a:t>
            </a:r>
            <a:r>
              <a:rPr sz="2000" b="1" dirty="0">
                <a:latin typeface="Arial"/>
                <a:cs typeface="Arial"/>
              </a:rPr>
              <a:t>should be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Arial"/>
              <a:cs typeface="Arial"/>
            </a:endParaRPr>
          </a:p>
          <a:p>
            <a:pPr marL="2967990">
              <a:lnSpc>
                <a:spcPct val="100000"/>
              </a:lnSpc>
              <a:spcBef>
                <a:spcPts val="5"/>
              </a:spcBef>
            </a:pPr>
            <a:r>
              <a:rPr sz="1800" b="1" i="1" spc="-5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A</a:t>
            </a:r>
            <a:r>
              <a:rPr sz="1800" b="1" i="1" spc="-7" baseline="-20833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1</a:t>
            </a:r>
            <a:endParaRPr sz="1800" baseline="-20833">
              <a:latin typeface="TimesNewRomanPS-BoldItalicMT"/>
              <a:cs typeface="TimesNewRomanPS-BoldItalic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9973" y="2212085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F</a:t>
            </a:r>
            <a:endParaRPr sz="1800">
              <a:latin typeface="TimesNewRomanPS-BoldItalicMT"/>
              <a:cs typeface="TimesNewRomanPS-BoldItalic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82191" y="2743200"/>
            <a:ext cx="2461809" cy="2827056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lang="en-US" sz="1600" b="1" spc="10" dirty="0">
                <a:latin typeface="HelveticaNeue-BoldItalic"/>
                <a:cs typeface="HelveticaNeue-BoldItalic"/>
              </a:rPr>
              <a:t>We can do better in the bottom case: By enumerating all possible cases in (b), we can determine that K should be 0. </a:t>
            </a:r>
          </a:p>
          <a:p>
            <a:pPr marL="92075">
              <a:lnSpc>
                <a:spcPct val="100000"/>
              </a:lnSpc>
              <a:spcBef>
                <a:spcPts val="325"/>
              </a:spcBef>
            </a:pPr>
            <a:endParaRPr lang="en-US" sz="1600" b="1" spc="10" dirty="0">
              <a:latin typeface="HelveticaNeue-BoldItalic"/>
              <a:cs typeface="HelveticaNeue-BoldItalic"/>
            </a:endParaRPr>
          </a:p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lang="en-US" sz="1600" b="1" spc="10" dirty="0">
                <a:latin typeface="HelveticaNeue-BoldItalic"/>
                <a:cs typeface="HelveticaNeue-BoldItalic"/>
              </a:rPr>
              <a:t>This example shows the limitation of using `u’ state. But (a) is faster than (b)</a:t>
            </a:r>
            <a:endParaRPr sz="1575" baseline="-21164" dirty="0">
              <a:latin typeface="HelveticaNeue-BoldItalic"/>
              <a:cs typeface="HelveticaNeue-BoldItal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0314" y="164414"/>
            <a:ext cx="5513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Arial-BoldItalicMT"/>
                <a:cs typeface="Arial-BoldItalicMT"/>
              </a:rPr>
              <a:t>High </a:t>
            </a:r>
            <a:r>
              <a:rPr i="1" spc="-5" dirty="0">
                <a:latin typeface="Arial-BoldItalicMT"/>
                <a:cs typeface="Arial-BoldItalicMT"/>
              </a:rPr>
              <a:t>Impedance </a:t>
            </a:r>
            <a:r>
              <a:rPr dirty="0"/>
              <a:t>State</a:t>
            </a:r>
            <a:r>
              <a:rPr spc="-50" dirty="0"/>
              <a:t> </a:t>
            </a:r>
            <a:r>
              <a:rPr dirty="0"/>
              <a:t>(Z)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9218575" cy="13856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Note: do </a:t>
            </a:r>
            <a:r>
              <a:rPr lang="en-US" sz="2000" b="1" spc="-5" dirty="0">
                <a:latin typeface="Arial"/>
                <a:cs typeface="Arial"/>
              </a:rPr>
              <a:t>not </a:t>
            </a:r>
            <a:r>
              <a:rPr lang="en-US" sz="2000" b="1" dirty="0">
                <a:latin typeface="Arial"/>
                <a:cs typeface="Arial"/>
              </a:rPr>
              <a:t>confuse </a:t>
            </a:r>
            <a:r>
              <a:rPr lang="en-US" sz="2000" b="1" dirty="0">
                <a:latin typeface="Helvetica"/>
                <a:cs typeface="Arial"/>
              </a:rPr>
              <a:t>`</a:t>
            </a:r>
            <a:r>
              <a:rPr lang="en-US" sz="2000" b="1" i="1" dirty="0">
                <a:latin typeface="Arial-BoldItalicMT"/>
                <a:cs typeface="Arial-BoldItalicMT"/>
              </a:rPr>
              <a:t>u’ </a:t>
            </a:r>
            <a:r>
              <a:rPr lang="en-US" sz="2000" b="1" spc="-5" dirty="0">
                <a:latin typeface="Arial"/>
                <a:cs typeface="Arial"/>
              </a:rPr>
              <a:t>and</a:t>
            </a:r>
            <a:r>
              <a:rPr lang="en-US" sz="2000" b="1" spc="-70" dirty="0">
                <a:latin typeface="Arial"/>
                <a:cs typeface="Arial"/>
              </a:rPr>
              <a:t> `</a:t>
            </a:r>
            <a:r>
              <a:rPr lang="en-US" sz="2000" b="1" i="1" spc="-70" dirty="0">
                <a:latin typeface="Arial-BoldItalicMT"/>
                <a:cs typeface="Arial"/>
              </a:rPr>
              <a:t>Z</a:t>
            </a:r>
            <a:r>
              <a:rPr lang="en-US" sz="2000" b="1" i="1" dirty="0">
                <a:latin typeface="Helvetica"/>
                <a:cs typeface="Arial-BoldItalicMT"/>
              </a:rPr>
              <a:t>’  </a:t>
            </a:r>
            <a:endParaRPr lang="en-US" sz="2000" b="1" dirty="0">
              <a:latin typeface="Helvetica"/>
              <a:cs typeface="Helvetica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dirty="0">
                <a:latin typeface="Helvetica"/>
                <a:cs typeface="Helvetica"/>
              </a:rPr>
              <a:t>	</a:t>
            </a:r>
            <a:r>
              <a:rPr lang="en-US" sz="2000" b="1" i="1" dirty="0">
                <a:latin typeface="Arial-BoldItalicMT"/>
                <a:cs typeface="Helvetica"/>
              </a:rPr>
              <a:t>Z</a:t>
            </a:r>
            <a:r>
              <a:rPr lang="en-US" sz="2000" b="1" i="1" dirty="0">
                <a:latin typeface="Arial-BoldItalicMT"/>
                <a:cs typeface="Arial-BoldItalicMT"/>
              </a:rPr>
              <a:t> </a:t>
            </a:r>
            <a:r>
              <a:rPr lang="en-US" sz="2000" b="1" dirty="0">
                <a:latin typeface="Arial"/>
                <a:cs typeface="Arial"/>
              </a:rPr>
              <a:t>= floating node without conducting path to VDD or</a:t>
            </a:r>
            <a:r>
              <a:rPr lang="en-US" sz="2000" b="1" spc="-18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GND</a:t>
            </a:r>
            <a:endParaRPr lang="en-US"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lang="en-US"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i="1" dirty="0">
                <a:latin typeface="Arial-BoldItalicMT"/>
                <a:cs typeface="Arial-BoldItalicMT"/>
              </a:rPr>
              <a:t>aka.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high</a:t>
            </a:r>
            <a:r>
              <a:rPr lang="en-US" sz="2000" b="1" i="1" spc="-3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impedance</a:t>
            </a:r>
          </a:p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xfrm>
            <a:off x="8458200" y="6399903"/>
            <a:ext cx="45720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32" name="object 32"/>
          <p:cNvSpPr txBox="1">
            <a:spLocks noGrp="1"/>
          </p:cNvSpPr>
          <p:nvPr>
            <p:ph type="body" idx="1"/>
          </p:nvPr>
        </p:nvSpPr>
        <p:spPr>
          <a:xfrm>
            <a:off x="685800" y="2078979"/>
            <a:ext cx="8686800" cy="121571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93700" indent="-342900"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/>
                <a:cs typeface="Arial"/>
              </a:rPr>
              <a:t>Tri-state bus</a:t>
            </a:r>
            <a:r>
              <a:rPr lang="en-US" sz="20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spc="-5" dirty="0">
                <a:solidFill>
                  <a:srgbClr val="FF0000"/>
                </a:solidFill>
                <a:latin typeface="Arial"/>
                <a:cs typeface="Arial"/>
              </a:rPr>
              <a:t>driver : </a:t>
            </a:r>
            <a:r>
              <a:rPr dirty="0"/>
              <a:t>Only one </a:t>
            </a:r>
            <a:r>
              <a:rPr spc="-5" dirty="0"/>
              <a:t>driver </a:t>
            </a:r>
            <a:r>
              <a:rPr dirty="0"/>
              <a:t>enabled at a</a:t>
            </a:r>
            <a:r>
              <a:rPr spc="-105" dirty="0"/>
              <a:t> </a:t>
            </a:r>
            <a:r>
              <a:rPr spc="-5" dirty="0"/>
              <a:t>time</a:t>
            </a: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i="1" spc="5" dirty="0">
                <a:latin typeface="Arial-BoldItalicMT"/>
                <a:cs typeface="Arial-BoldItalicMT"/>
              </a:rPr>
              <a:t>e</a:t>
            </a:r>
            <a:r>
              <a:rPr sz="1950" b="1" i="1" spc="7" baseline="-21367" dirty="0">
                <a:latin typeface="Arial-BoldItalicMT"/>
                <a:cs typeface="Arial-BoldItalicMT"/>
              </a:rPr>
              <a:t>1</a:t>
            </a:r>
            <a:r>
              <a:rPr sz="2000" b="1" i="1" spc="5" dirty="0">
                <a:latin typeface="Arial-BoldItalicMT"/>
                <a:cs typeface="Arial-BoldItalicMT"/>
              </a:rPr>
              <a:t>,e</a:t>
            </a:r>
            <a:r>
              <a:rPr sz="1950" b="1" i="1" spc="7" baseline="-21367" dirty="0">
                <a:latin typeface="Arial-BoldItalicMT"/>
                <a:cs typeface="Arial-BoldItalicMT"/>
              </a:rPr>
              <a:t>2</a:t>
            </a:r>
            <a:r>
              <a:rPr sz="2000" b="1" i="1" spc="5" dirty="0">
                <a:latin typeface="Arial-BoldItalicMT"/>
                <a:cs typeface="Arial-BoldItalicMT"/>
              </a:rPr>
              <a:t>, e</a:t>
            </a:r>
            <a:r>
              <a:rPr sz="1950" b="1" i="1" spc="7" baseline="-21367" dirty="0">
                <a:latin typeface="Arial-BoldItalicMT"/>
                <a:cs typeface="Arial-BoldItalicMT"/>
              </a:rPr>
              <a:t>3 </a:t>
            </a:r>
            <a:r>
              <a:rPr sz="2000" b="1" dirty="0">
                <a:latin typeface="Arial"/>
                <a:cs typeface="Arial"/>
              </a:rPr>
              <a:t>are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one-hot</a:t>
            </a:r>
            <a:r>
              <a:rPr sz="2000" b="1" i="1" spc="-30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signals</a:t>
            </a:r>
            <a:endParaRPr sz="2000" dirty="0">
              <a:latin typeface="Arial-BoldItalicMT"/>
              <a:cs typeface="Arial-BoldItalicMT"/>
            </a:endParaRPr>
          </a:p>
          <a:p>
            <a:pPr>
              <a:lnSpc>
                <a:spcPct val="100000"/>
              </a:lnSpc>
            </a:pPr>
            <a:endParaRPr sz="2050" dirty="0">
              <a:latin typeface="Arial-BoldItalicMT"/>
              <a:cs typeface="Arial-BoldItalicMT"/>
            </a:endParaRPr>
          </a:p>
          <a:p>
            <a:pPr marR="183515" algn="ctr">
              <a:lnSpc>
                <a:spcPct val="100000"/>
              </a:lnSpc>
              <a:tabLst>
                <a:tab pos="464820" algn="l"/>
                <a:tab pos="928369" algn="l"/>
              </a:tabLst>
            </a:pPr>
            <a:endParaRPr sz="1425" baseline="-11695" dirty="0">
              <a:latin typeface="Times New Roman"/>
              <a:cs typeface="Times New Roman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DE0655D-FBD5-FF06-0B7F-38752B224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69" y="2986732"/>
            <a:ext cx="6562176" cy="383109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0C948BE-CC69-0FFA-6F2A-8BB09CFC7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628" y="2986732"/>
            <a:ext cx="2166474" cy="868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4300" y="164414"/>
            <a:ext cx="3708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Logic</a:t>
            </a:r>
            <a:r>
              <a:rPr spc="-75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1808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Logic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 Gate</a:t>
            </a:r>
            <a:r>
              <a:rPr sz="20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Evaluation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>
                <a:latin typeface="Arial"/>
                <a:cs typeface="Arial"/>
              </a:rPr>
              <a:t>Logic </a:t>
            </a:r>
            <a:r>
              <a:rPr lang="en-US" sz="2000" b="1" dirty="0">
                <a:latin typeface="Arial"/>
                <a:cs typeface="Arial"/>
              </a:rPr>
              <a:t>Simulation</a:t>
            </a:r>
            <a:r>
              <a:rPr lang="en-US" sz="2000" b="1" spc="-10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Techniques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1923" y="4146803"/>
            <a:ext cx="4969002" cy="1933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82000" y="6399903"/>
            <a:ext cx="3820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253298" y="6399903"/>
            <a:ext cx="510718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663" y="164414"/>
            <a:ext cx="74936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Gate </a:t>
            </a:r>
            <a:r>
              <a:rPr spc="-5" dirty="0"/>
              <a:t>Evaluation </a:t>
            </a:r>
            <a:r>
              <a:rPr dirty="0"/>
              <a:t>Using Truth</a:t>
            </a:r>
            <a:r>
              <a:rPr spc="-40" dirty="0"/>
              <a:t> </a:t>
            </a:r>
            <a:r>
              <a:rPr spc="-5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7223759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Determine output </a:t>
            </a:r>
            <a:r>
              <a:rPr sz="2000" b="1" spc="-5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based on a pre-stored truth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table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 </a:t>
            </a:r>
            <a:r>
              <a:rPr lang="en-US" sz="2000" b="1" spc="-5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-valued logic </a:t>
            </a:r>
            <a:r>
              <a:rPr sz="2000" b="1" dirty="0">
                <a:latin typeface="Arial"/>
                <a:cs typeface="Arial"/>
              </a:rPr>
              <a:t>truth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table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4925009"/>
            <a:ext cx="6227445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Practical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implementation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Break n-input gate into multiple 2-input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Use for-loop to </a:t>
            </a:r>
            <a:r>
              <a:rPr sz="2000" b="1" spc="-5" dirty="0">
                <a:latin typeface="Arial"/>
                <a:cs typeface="Arial"/>
              </a:rPr>
              <a:t>evaluate </a:t>
            </a:r>
            <a:r>
              <a:rPr sz="2000" b="1" dirty="0">
                <a:latin typeface="Arial"/>
                <a:cs typeface="Arial"/>
              </a:rPr>
              <a:t>gate one by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715" y="3573779"/>
            <a:ext cx="8569960" cy="963083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936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9"/>
              </a:spcBef>
            </a:pPr>
            <a:r>
              <a:rPr sz="2000" b="1" dirty="0">
                <a:latin typeface="Helvetica"/>
                <a:cs typeface="Helvetica"/>
              </a:rPr>
              <a:t>Quiz:</a:t>
            </a:r>
            <a:endParaRPr sz="2000" dirty="0">
              <a:latin typeface="Helvetica"/>
              <a:cs typeface="Helvetica"/>
            </a:endParaRPr>
          </a:p>
          <a:p>
            <a:pPr marL="30035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What is size of truth table for n-input gate using </a:t>
            </a:r>
            <a:r>
              <a:rPr lang="en-US" sz="2000" b="1" dirty="0">
                <a:latin typeface="Helvetica"/>
                <a:cs typeface="Helvetica"/>
              </a:rPr>
              <a:t>3</a:t>
            </a:r>
            <a:r>
              <a:rPr sz="2000" b="1" spc="-185" dirty="0">
                <a:latin typeface="Helvetica"/>
                <a:cs typeface="Helvetica"/>
              </a:rPr>
              <a:t> </a:t>
            </a:r>
            <a:r>
              <a:rPr sz="2000" b="1" spc="-5" dirty="0">
                <a:latin typeface="Helvetica"/>
                <a:cs typeface="Helvetica"/>
              </a:rPr>
              <a:t>valued-logic?</a:t>
            </a:r>
            <a:endParaRPr sz="2000" dirty="0">
              <a:latin typeface="Helvetica"/>
              <a:cs typeface="Helvetica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p:pic>
        <p:nvPicPr>
          <p:cNvPr id="7" name="Picture 6" descr="A white and black text&#10;&#10;Description automatically generated with medium confidence">
            <a:extLst>
              <a:ext uri="{FF2B5EF4-FFF2-40B4-BE49-F238E27FC236}">
                <a16:creationId xmlns:a16="http://schemas.microsoft.com/office/drawing/2014/main" id="{F99B4A6C-1F9F-B248-4DBC-6A51BD2C6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95" y="1827840"/>
            <a:ext cx="7772400" cy="16981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724" y="6371031"/>
            <a:ext cx="5000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25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54300" y="164414"/>
            <a:ext cx="3708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Logic</a:t>
            </a:r>
            <a:r>
              <a:rPr spc="-75" dirty="0"/>
              <a:t> </a:t>
            </a:r>
            <a:r>
              <a:rPr dirty="0"/>
              <a:t>Simulation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61136"/>
            <a:ext cx="3946525" cy="3296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r>
              <a:rPr sz="2000" b="1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 Simulation</a:t>
            </a:r>
            <a:r>
              <a:rPr sz="2000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Compiled-code</a:t>
            </a:r>
            <a:r>
              <a:rPr sz="20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Logic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Optimization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Logic</a:t>
            </a:r>
            <a:r>
              <a:rPr sz="2000" b="1" spc="-5" dirty="0">
                <a:latin typeface="Arial"/>
                <a:cs typeface="Arial"/>
              </a:rPr>
              <a:t> Levelization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Generation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Event-driven</a:t>
            </a:r>
            <a:r>
              <a:rPr sz="2000" b="1" spc="-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Parallel</a:t>
            </a:r>
            <a:r>
              <a:rPr sz="2000" b="1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66032" y="4146803"/>
            <a:ext cx="4969002" cy="1933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724" y="6371031"/>
            <a:ext cx="4238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r>
              <a:rPr lang="en-US" sz="2400" b="1" spc="-5" dirty="0">
                <a:latin typeface="Arial"/>
                <a:cs typeface="Arial"/>
              </a:rPr>
              <a:t>6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73530" y="164414"/>
            <a:ext cx="5869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Compiled-Code</a:t>
            </a:r>
            <a:r>
              <a:rPr spc="-25" dirty="0"/>
              <a:t> </a:t>
            </a:r>
            <a:r>
              <a:rPr dirty="0"/>
              <a:t>Simulation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67330" y="4365497"/>
            <a:ext cx="2719070" cy="224663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000" b="1" dirty="0">
                <a:latin typeface="Times New Roman"/>
                <a:cs typeface="Times New Roman"/>
              </a:rPr>
              <a:t>while{true}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endParaRPr sz="2000" dirty="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Times New Roman"/>
                <a:cs typeface="Times New Roman"/>
              </a:rPr>
              <a:t>read(A,B,C);</a:t>
            </a:r>
            <a:endParaRPr sz="2000" dirty="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  <a:tabLst>
                <a:tab pos="1431925" algn="l"/>
              </a:tabLst>
            </a:pPr>
            <a:r>
              <a:rPr sz="2000" b="1" dirty="0">
                <a:latin typeface="Times New Roman"/>
                <a:cs typeface="Times New Roman"/>
              </a:rPr>
              <a:t>E	OR(B,C);</a:t>
            </a:r>
            <a:endParaRPr sz="2000" dirty="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  <a:tabLst>
                <a:tab pos="1378585" algn="l"/>
              </a:tabLst>
            </a:pPr>
            <a:r>
              <a:rPr sz="2000" b="1" dirty="0">
                <a:latin typeface="Times New Roman"/>
                <a:cs typeface="Times New Roman"/>
              </a:rPr>
              <a:t>H	AND(A,E);</a:t>
            </a:r>
            <a:endParaRPr sz="2000" dirty="0">
              <a:latin typeface="Times New Roman"/>
              <a:cs typeface="Times New Roman"/>
            </a:endParaRPr>
          </a:p>
          <a:p>
            <a:pPr marL="1391285" indent="-386080">
              <a:lnSpc>
                <a:spcPct val="100000"/>
              </a:lnSpc>
              <a:buAutoNum type="alphaUcPeriod" startAt="10"/>
              <a:tabLst>
                <a:tab pos="1390650" algn="l"/>
                <a:tab pos="1391285" algn="l"/>
              </a:tabLst>
            </a:pPr>
            <a:r>
              <a:rPr lang="en-US" sz="2000" b="1" spc="-5" dirty="0">
                <a:latin typeface="Times New Roman"/>
                <a:cs typeface="Times New Roman"/>
              </a:rPr>
              <a:t>NOT(E);</a:t>
            </a:r>
            <a:endParaRPr sz="2000" dirty="0">
              <a:latin typeface="Times New Roman"/>
              <a:cs typeface="Times New Roman"/>
            </a:endParaRPr>
          </a:p>
          <a:p>
            <a:pPr marL="1393190" indent="-388620">
              <a:lnSpc>
                <a:spcPct val="100000"/>
              </a:lnSpc>
              <a:buAutoNum type="alphaUcPeriod" startAt="10"/>
              <a:tabLst>
                <a:tab pos="1393190" algn="l"/>
                <a:tab pos="1393825" algn="l"/>
              </a:tabLst>
            </a:pPr>
            <a:r>
              <a:rPr sz="2000" b="1" dirty="0">
                <a:latin typeface="Times New Roman"/>
                <a:cs typeface="Times New Roman"/>
              </a:rPr>
              <a:t>NOR(H,J);</a:t>
            </a:r>
            <a:endParaRPr sz="200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end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6423" y="2197041"/>
            <a:ext cx="6251102" cy="1879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0225" y="900785"/>
            <a:ext cx="5249545" cy="15170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Translate circuit into sequence of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Execute codes </a:t>
            </a:r>
            <a:r>
              <a:rPr sz="2000" b="1" dirty="0">
                <a:latin typeface="Arial"/>
                <a:cs typeface="Arial"/>
              </a:rPr>
              <a:t>= run logic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0467" y="3333114"/>
            <a:ext cx="167005" cy="85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7582" y="4917694"/>
            <a:ext cx="173672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E=OR(0,0)=0  H=AND(1,0)=0  J=NOT(0)=1  K</a:t>
            </a:r>
            <a:r>
              <a:rPr sz="2000" b="1" spc="5" dirty="0">
                <a:solidFill>
                  <a:srgbClr val="FF0000"/>
                </a:solidFill>
                <a:latin typeface="Helvetica"/>
                <a:cs typeface="Helvetica"/>
              </a:rPr>
              <a:t>=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NO</a:t>
            </a:r>
            <a:r>
              <a:rPr sz="2000" b="1" spc="10" dirty="0">
                <a:solidFill>
                  <a:srgbClr val="FF0000"/>
                </a:solidFill>
                <a:latin typeface="Helvetica"/>
                <a:cs typeface="Helvetica"/>
              </a:rPr>
              <a:t>R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(0</a:t>
            </a:r>
            <a:r>
              <a:rPr sz="2000" b="1" spc="-10" dirty="0">
                <a:solidFill>
                  <a:srgbClr val="FF0000"/>
                </a:solidFill>
                <a:latin typeface="Helvetica"/>
                <a:cs typeface="Helvetica"/>
              </a:rPr>
              <a:t>,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1)</a:t>
            </a:r>
            <a:r>
              <a:rPr sz="2000" b="1" spc="-15" dirty="0">
                <a:solidFill>
                  <a:srgbClr val="FF0000"/>
                </a:solidFill>
                <a:latin typeface="Helvetica"/>
                <a:cs typeface="Helvetica"/>
              </a:rPr>
              <a:t>=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26388" y="5078603"/>
            <a:ext cx="965200" cy="345440"/>
          </a:xfrm>
          <a:custGeom>
            <a:avLst/>
            <a:gdLst/>
            <a:ahLst/>
            <a:cxnLst/>
            <a:rect l="l" t="t" r="r" b="b"/>
            <a:pathLst>
              <a:path w="965200" h="345439">
                <a:moveTo>
                  <a:pt x="923571" y="267335"/>
                </a:moveTo>
                <a:lnTo>
                  <a:pt x="852297" y="267335"/>
                </a:lnTo>
                <a:lnTo>
                  <a:pt x="904239" y="345186"/>
                </a:lnTo>
                <a:lnTo>
                  <a:pt x="923571" y="267335"/>
                </a:lnTo>
                <a:close/>
              </a:path>
              <a:path w="965200" h="345439">
                <a:moveTo>
                  <a:pt x="0" y="0"/>
                </a:moveTo>
                <a:lnTo>
                  <a:pt x="103759" y="155575"/>
                </a:lnTo>
                <a:lnTo>
                  <a:pt x="128982" y="189121"/>
                </a:lnTo>
                <a:lnTo>
                  <a:pt x="157626" y="219456"/>
                </a:lnTo>
                <a:lnTo>
                  <a:pt x="189475" y="246546"/>
                </a:lnTo>
                <a:lnTo>
                  <a:pt x="224316" y="270362"/>
                </a:lnTo>
                <a:lnTo>
                  <a:pt x="261936" y="290869"/>
                </a:lnTo>
                <a:lnTo>
                  <a:pt x="302121" y="308037"/>
                </a:lnTo>
                <a:lnTo>
                  <a:pt x="344656" y="321834"/>
                </a:lnTo>
                <a:lnTo>
                  <a:pt x="389329" y="332227"/>
                </a:lnTo>
                <a:lnTo>
                  <a:pt x="435926" y="339184"/>
                </a:lnTo>
                <a:lnTo>
                  <a:pt x="484232" y="342674"/>
                </a:lnTo>
                <a:lnTo>
                  <a:pt x="534034" y="342665"/>
                </a:lnTo>
                <a:lnTo>
                  <a:pt x="585119" y="339125"/>
                </a:lnTo>
                <a:lnTo>
                  <a:pt x="637272" y="332021"/>
                </a:lnTo>
                <a:lnTo>
                  <a:pt x="690280" y="321322"/>
                </a:lnTo>
                <a:lnTo>
                  <a:pt x="743929" y="306996"/>
                </a:lnTo>
                <a:lnTo>
                  <a:pt x="798006" y="289011"/>
                </a:lnTo>
                <a:lnTo>
                  <a:pt x="852297" y="267335"/>
                </a:lnTo>
                <a:lnTo>
                  <a:pt x="923571" y="267335"/>
                </a:lnTo>
                <a:lnTo>
                  <a:pt x="943495" y="187099"/>
                </a:lnTo>
                <a:lnTo>
                  <a:pt x="380473" y="187099"/>
                </a:lnTo>
                <a:lnTo>
                  <a:pt x="332167" y="183609"/>
                </a:lnTo>
                <a:lnTo>
                  <a:pt x="285570" y="176652"/>
                </a:lnTo>
                <a:lnTo>
                  <a:pt x="240897" y="166259"/>
                </a:lnTo>
                <a:lnTo>
                  <a:pt x="198362" y="152462"/>
                </a:lnTo>
                <a:lnTo>
                  <a:pt x="158177" y="135294"/>
                </a:lnTo>
                <a:lnTo>
                  <a:pt x="120557" y="114787"/>
                </a:lnTo>
                <a:lnTo>
                  <a:pt x="85716" y="90971"/>
                </a:lnTo>
                <a:lnTo>
                  <a:pt x="53867" y="63881"/>
                </a:lnTo>
                <a:lnTo>
                  <a:pt x="25223" y="33546"/>
                </a:lnTo>
                <a:lnTo>
                  <a:pt x="0" y="0"/>
                </a:lnTo>
                <a:close/>
              </a:path>
              <a:path w="965200" h="345439">
                <a:moveTo>
                  <a:pt x="696722" y="33909"/>
                </a:moveTo>
                <a:lnTo>
                  <a:pt x="748538" y="111760"/>
                </a:lnTo>
                <a:lnTo>
                  <a:pt x="694247" y="133436"/>
                </a:lnTo>
                <a:lnTo>
                  <a:pt x="640170" y="151421"/>
                </a:lnTo>
                <a:lnTo>
                  <a:pt x="586521" y="165747"/>
                </a:lnTo>
                <a:lnTo>
                  <a:pt x="533513" y="176446"/>
                </a:lnTo>
                <a:lnTo>
                  <a:pt x="481360" y="183550"/>
                </a:lnTo>
                <a:lnTo>
                  <a:pt x="430275" y="187090"/>
                </a:lnTo>
                <a:lnTo>
                  <a:pt x="380473" y="187099"/>
                </a:lnTo>
                <a:lnTo>
                  <a:pt x="943498" y="187090"/>
                </a:lnTo>
                <a:lnTo>
                  <a:pt x="965200" y="99695"/>
                </a:lnTo>
                <a:lnTo>
                  <a:pt x="696722" y="33909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1653" y="4227067"/>
            <a:ext cx="499745" cy="922655"/>
          </a:xfrm>
          <a:custGeom>
            <a:avLst/>
            <a:gdLst/>
            <a:ahLst/>
            <a:cxnLst/>
            <a:rect l="l" t="t" r="r" b="b"/>
            <a:pathLst>
              <a:path w="499744" h="922654">
                <a:moveTo>
                  <a:pt x="395696" y="0"/>
                </a:moveTo>
                <a:lnTo>
                  <a:pt x="341181" y="38830"/>
                </a:lnTo>
                <a:lnTo>
                  <a:pt x="289524" y="80898"/>
                </a:lnTo>
                <a:lnTo>
                  <a:pt x="246933" y="119942"/>
                </a:lnTo>
                <a:lnTo>
                  <a:pt x="207597" y="160275"/>
                </a:lnTo>
                <a:lnTo>
                  <a:pt x="171550" y="201711"/>
                </a:lnTo>
                <a:lnTo>
                  <a:pt x="138830" y="244063"/>
                </a:lnTo>
                <a:lnTo>
                  <a:pt x="109472" y="287143"/>
                </a:lnTo>
                <a:lnTo>
                  <a:pt x="83512" y="330764"/>
                </a:lnTo>
                <a:lnTo>
                  <a:pt x="60988" y="374739"/>
                </a:lnTo>
                <a:lnTo>
                  <a:pt x="41934" y="418880"/>
                </a:lnTo>
                <a:lnTo>
                  <a:pt x="26388" y="463000"/>
                </a:lnTo>
                <a:lnTo>
                  <a:pt x="14385" y="506913"/>
                </a:lnTo>
                <a:lnTo>
                  <a:pt x="5962" y="550430"/>
                </a:lnTo>
                <a:lnTo>
                  <a:pt x="1155" y="593364"/>
                </a:lnTo>
                <a:lnTo>
                  <a:pt x="0" y="635528"/>
                </a:lnTo>
                <a:lnTo>
                  <a:pt x="2533" y="676735"/>
                </a:lnTo>
                <a:lnTo>
                  <a:pt x="8791" y="716798"/>
                </a:lnTo>
                <a:lnTo>
                  <a:pt x="18809" y="755529"/>
                </a:lnTo>
                <a:lnTo>
                  <a:pt x="32625" y="792741"/>
                </a:lnTo>
                <a:lnTo>
                  <a:pt x="50274" y="828247"/>
                </a:lnTo>
                <a:lnTo>
                  <a:pt x="71793" y="861860"/>
                </a:lnTo>
                <a:lnTo>
                  <a:pt x="97217" y="893391"/>
                </a:lnTo>
                <a:lnTo>
                  <a:pt x="126583" y="922654"/>
                </a:lnTo>
                <a:lnTo>
                  <a:pt x="115164" y="883582"/>
                </a:lnTo>
                <a:lnTo>
                  <a:pt x="107680" y="843365"/>
                </a:lnTo>
                <a:lnTo>
                  <a:pt x="104046" y="802180"/>
                </a:lnTo>
                <a:lnTo>
                  <a:pt x="104176" y="760203"/>
                </a:lnTo>
                <a:lnTo>
                  <a:pt x="107983" y="717611"/>
                </a:lnTo>
                <a:lnTo>
                  <a:pt x="115383" y="674580"/>
                </a:lnTo>
                <a:lnTo>
                  <a:pt x="126290" y="631286"/>
                </a:lnTo>
                <a:lnTo>
                  <a:pt x="140617" y="587908"/>
                </a:lnTo>
                <a:lnTo>
                  <a:pt x="158279" y="544620"/>
                </a:lnTo>
                <a:lnTo>
                  <a:pt x="179190" y="501599"/>
                </a:lnTo>
                <a:lnTo>
                  <a:pt x="203265" y="459022"/>
                </a:lnTo>
                <a:lnTo>
                  <a:pt x="230418" y="417066"/>
                </a:lnTo>
                <a:lnTo>
                  <a:pt x="260562" y="375907"/>
                </a:lnTo>
                <a:lnTo>
                  <a:pt x="293612" y="335721"/>
                </a:lnTo>
                <a:lnTo>
                  <a:pt x="329483" y="296686"/>
                </a:lnTo>
                <a:lnTo>
                  <a:pt x="368088" y="258977"/>
                </a:lnTo>
                <a:lnTo>
                  <a:pt x="409343" y="222771"/>
                </a:lnTo>
                <a:lnTo>
                  <a:pt x="453160" y="188245"/>
                </a:lnTo>
                <a:lnTo>
                  <a:pt x="499455" y="155574"/>
                </a:lnTo>
                <a:lnTo>
                  <a:pt x="395696" y="0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61461" y="4227067"/>
            <a:ext cx="1030605" cy="1196975"/>
          </a:xfrm>
          <a:custGeom>
            <a:avLst/>
            <a:gdLst/>
            <a:ahLst/>
            <a:cxnLst/>
            <a:rect l="l" t="t" r="r" b="b"/>
            <a:pathLst>
              <a:path w="1030605" h="1196975">
                <a:moveTo>
                  <a:pt x="64926" y="851534"/>
                </a:moveTo>
                <a:lnTo>
                  <a:pt x="90150" y="885081"/>
                </a:lnTo>
                <a:lnTo>
                  <a:pt x="118793" y="915416"/>
                </a:lnTo>
                <a:lnTo>
                  <a:pt x="150643" y="942506"/>
                </a:lnTo>
                <a:lnTo>
                  <a:pt x="185484" y="966322"/>
                </a:lnTo>
                <a:lnTo>
                  <a:pt x="223104" y="986829"/>
                </a:lnTo>
                <a:lnTo>
                  <a:pt x="263289" y="1003997"/>
                </a:lnTo>
                <a:lnTo>
                  <a:pt x="305824" y="1017794"/>
                </a:lnTo>
                <a:lnTo>
                  <a:pt x="350497" y="1028187"/>
                </a:lnTo>
                <a:lnTo>
                  <a:pt x="397093" y="1035144"/>
                </a:lnTo>
                <a:lnTo>
                  <a:pt x="445400" y="1038634"/>
                </a:lnTo>
                <a:lnTo>
                  <a:pt x="495202" y="1038625"/>
                </a:lnTo>
                <a:lnTo>
                  <a:pt x="546286" y="1035085"/>
                </a:lnTo>
                <a:lnTo>
                  <a:pt x="598440" y="1027981"/>
                </a:lnTo>
                <a:lnTo>
                  <a:pt x="651448" y="1017282"/>
                </a:lnTo>
                <a:lnTo>
                  <a:pt x="705097" y="1002956"/>
                </a:lnTo>
                <a:lnTo>
                  <a:pt x="759174" y="984971"/>
                </a:lnTo>
                <a:lnTo>
                  <a:pt x="813464" y="963294"/>
                </a:lnTo>
                <a:lnTo>
                  <a:pt x="761648" y="885443"/>
                </a:lnTo>
                <a:lnTo>
                  <a:pt x="1030126" y="951229"/>
                </a:lnTo>
                <a:lnTo>
                  <a:pt x="969166" y="1196720"/>
                </a:lnTo>
                <a:lnTo>
                  <a:pt x="917223" y="1118869"/>
                </a:lnTo>
                <a:lnTo>
                  <a:pt x="862933" y="1140546"/>
                </a:lnTo>
                <a:lnTo>
                  <a:pt x="808856" y="1158531"/>
                </a:lnTo>
                <a:lnTo>
                  <a:pt x="755207" y="1172857"/>
                </a:lnTo>
                <a:lnTo>
                  <a:pt x="702199" y="1183556"/>
                </a:lnTo>
                <a:lnTo>
                  <a:pt x="650045" y="1190660"/>
                </a:lnTo>
                <a:lnTo>
                  <a:pt x="598961" y="1194200"/>
                </a:lnTo>
                <a:lnTo>
                  <a:pt x="549159" y="1194209"/>
                </a:lnTo>
                <a:lnTo>
                  <a:pt x="500852" y="1190719"/>
                </a:lnTo>
                <a:lnTo>
                  <a:pt x="454256" y="1183762"/>
                </a:lnTo>
                <a:lnTo>
                  <a:pt x="409583" y="1173369"/>
                </a:lnTo>
                <a:lnTo>
                  <a:pt x="367048" y="1159572"/>
                </a:lnTo>
                <a:lnTo>
                  <a:pt x="326863" y="1142404"/>
                </a:lnTo>
                <a:lnTo>
                  <a:pt x="289243" y="1121897"/>
                </a:lnTo>
                <a:lnTo>
                  <a:pt x="254402" y="1098081"/>
                </a:lnTo>
                <a:lnTo>
                  <a:pt x="222552" y="1070991"/>
                </a:lnTo>
                <a:lnTo>
                  <a:pt x="193909" y="1040656"/>
                </a:lnTo>
                <a:lnTo>
                  <a:pt x="168685" y="1007109"/>
                </a:lnTo>
                <a:lnTo>
                  <a:pt x="64926" y="851534"/>
                </a:lnTo>
                <a:lnTo>
                  <a:pt x="44905" y="817806"/>
                </a:lnTo>
                <a:lnTo>
                  <a:pt x="28649" y="782507"/>
                </a:lnTo>
                <a:lnTo>
                  <a:pt x="16095" y="745799"/>
                </a:lnTo>
                <a:lnTo>
                  <a:pt x="7177" y="707850"/>
                </a:lnTo>
                <a:lnTo>
                  <a:pt x="1834" y="668822"/>
                </a:lnTo>
                <a:lnTo>
                  <a:pt x="0" y="628881"/>
                </a:lnTo>
                <a:lnTo>
                  <a:pt x="1611" y="588192"/>
                </a:lnTo>
                <a:lnTo>
                  <a:pt x="6605" y="546919"/>
                </a:lnTo>
                <a:lnTo>
                  <a:pt x="14917" y="505226"/>
                </a:lnTo>
                <a:lnTo>
                  <a:pt x="26484" y="463279"/>
                </a:lnTo>
                <a:lnTo>
                  <a:pt x="41241" y="421243"/>
                </a:lnTo>
                <a:lnTo>
                  <a:pt x="59125" y="379281"/>
                </a:lnTo>
                <a:lnTo>
                  <a:pt x="80071" y="337558"/>
                </a:lnTo>
                <a:lnTo>
                  <a:pt x="104017" y="296239"/>
                </a:lnTo>
                <a:lnTo>
                  <a:pt x="130898" y="255490"/>
                </a:lnTo>
                <a:lnTo>
                  <a:pt x="160650" y="215473"/>
                </a:lnTo>
                <a:lnTo>
                  <a:pt x="193210" y="176355"/>
                </a:lnTo>
                <a:lnTo>
                  <a:pt x="228514" y="138300"/>
                </a:lnTo>
                <a:lnTo>
                  <a:pt x="266497" y="101472"/>
                </a:lnTo>
                <a:lnTo>
                  <a:pt x="307097" y="66036"/>
                </a:lnTo>
                <a:lnTo>
                  <a:pt x="350248" y="32157"/>
                </a:lnTo>
                <a:lnTo>
                  <a:pt x="395888" y="0"/>
                </a:lnTo>
                <a:lnTo>
                  <a:pt x="499647" y="155574"/>
                </a:lnTo>
                <a:lnTo>
                  <a:pt x="453353" y="188245"/>
                </a:lnTo>
                <a:lnTo>
                  <a:pt x="409535" y="222771"/>
                </a:lnTo>
                <a:lnTo>
                  <a:pt x="368281" y="258977"/>
                </a:lnTo>
                <a:lnTo>
                  <a:pt x="329676" y="296686"/>
                </a:lnTo>
                <a:lnTo>
                  <a:pt x="293805" y="335721"/>
                </a:lnTo>
                <a:lnTo>
                  <a:pt x="260755" y="375907"/>
                </a:lnTo>
                <a:lnTo>
                  <a:pt x="230610" y="417066"/>
                </a:lnTo>
                <a:lnTo>
                  <a:pt x="203458" y="459022"/>
                </a:lnTo>
                <a:lnTo>
                  <a:pt x="179383" y="501599"/>
                </a:lnTo>
                <a:lnTo>
                  <a:pt x="158472" y="544620"/>
                </a:lnTo>
                <a:lnTo>
                  <a:pt x="140810" y="587908"/>
                </a:lnTo>
                <a:lnTo>
                  <a:pt x="126482" y="631286"/>
                </a:lnTo>
                <a:lnTo>
                  <a:pt x="115576" y="674580"/>
                </a:lnTo>
                <a:lnTo>
                  <a:pt x="108176" y="717611"/>
                </a:lnTo>
                <a:lnTo>
                  <a:pt x="104368" y="760203"/>
                </a:lnTo>
                <a:lnTo>
                  <a:pt x="104239" y="802180"/>
                </a:lnTo>
                <a:lnTo>
                  <a:pt x="107873" y="843365"/>
                </a:lnTo>
                <a:lnTo>
                  <a:pt x="115356" y="883582"/>
                </a:lnTo>
                <a:lnTo>
                  <a:pt x="126775" y="92265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574" y="6371031"/>
            <a:ext cx="5385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32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0600" y="164414"/>
            <a:ext cx="70865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Compiled-code Simulation</a:t>
            </a:r>
            <a:r>
              <a:rPr sz="3200" spc="40" dirty="0"/>
              <a:t> </a:t>
            </a:r>
            <a:r>
              <a:rPr sz="3200" spc="-5" dirty="0"/>
              <a:t>Problems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9146" y="4188714"/>
            <a:ext cx="2719070" cy="224663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2000" b="1" spc="-5" dirty="0">
                <a:latin typeface="Times New Roman"/>
                <a:cs typeface="Times New Roman"/>
              </a:rPr>
              <a:t>while{true}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endParaRPr sz="2000">
              <a:latin typeface="Times New Roman"/>
              <a:cs typeface="Times New Roman"/>
            </a:endParaRPr>
          </a:p>
          <a:p>
            <a:pPr marL="1004569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read(A,B,C);</a:t>
            </a:r>
            <a:endParaRPr sz="2000">
              <a:latin typeface="Times New Roman"/>
              <a:cs typeface="Times New Roman"/>
            </a:endParaRPr>
          </a:p>
          <a:p>
            <a:pPr marL="1004569">
              <a:lnSpc>
                <a:spcPct val="100000"/>
              </a:lnSpc>
              <a:spcBef>
                <a:spcPts val="5"/>
              </a:spcBef>
              <a:tabLst>
                <a:tab pos="1431290" algn="l"/>
              </a:tabLst>
            </a:pPr>
            <a:r>
              <a:rPr sz="2000" b="1" dirty="0">
                <a:latin typeface="Times New Roman"/>
                <a:cs typeface="Times New Roman"/>
              </a:rPr>
              <a:t>E	OR(B,C);</a:t>
            </a:r>
            <a:endParaRPr sz="2000">
              <a:latin typeface="Times New Roman"/>
              <a:cs typeface="Times New Roman"/>
            </a:endParaRPr>
          </a:p>
          <a:p>
            <a:pPr marL="1004569">
              <a:lnSpc>
                <a:spcPct val="100000"/>
              </a:lnSpc>
              <a:tabLst>
                <a:tab pos="1377950" algn="l"/>
              </a:tabLst>
            </a:pPr>
            <a:r>
              <a:rPr sz="2000" b="1" dirty="0">
                <a:latin typeface="Times New Roman"/>
                <a:cs typeface="Times New Roman"/>
              </a:rPr>
              <a:t>H	AND(A,E);</a:t>
            </a:r>
            <a:endParaRPr sz="2000">
              <a:latin typeface="Times New Roman"/>
              <a:cs typeface="Times New Roman"/>
            </a:endParaRPr>
          </a:p>
          <a:p>
            <a:pPr marL="1390650" indent="-386080">
              <a:lnSpc>
                <a:spcPct val="100000"/>
              </a:lnSpc>
              <a:buAutoNum type="alphaUcPeriod" startAt="10"/>
              <a:tabLst>
                <a:tab pos="1390015" algn="l"/>
                <a:tab pos="139065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NOT(E);</a:t>
            </a:r>
            <a:endParaRPr sz="2000">
              <a:latin typeface="Times New Roman"/>
              <a:cs typeface="Times New Roman"/>
            </a:endParaRPr>
          </a:p>
          <a:p>
            <a:pPr marL="1392555" indent="-388620">
              <a:lnSpc>
                <a:spcPct val="100000"/>
              </a:lnSpc>
              <a:buAutoNum type="alphaUcPeriod" startAt="10"/>
              <a:tabLst>
                <a:tab pos="1392555" algn="l"/>
                <a:tab pos="1393190" algn="l"/>
              </a:tabLst>
            </a:pPr>
            <a:r>
              <a:rPr sz="2000" b="1" dirty="0">
                <a:latin typeface="Times New Roman"/>
                <a:cs typeface="Times New Roman"/>
              </a:rPr>
              <a:t>NOR(H,J);</a:t>
            </a: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4271" y="1873953"/>
            <a:ext cx="6251102" cy="1879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8194" y="3045713"/>
            <a:ext cx="167640" cy="85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2822" y="3055112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1678" y="3045713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225" y="961136"/>
            <a:ext cx="7181215" cy="17456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1. Gate delay model not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considered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Oblivious: </a:t>
            </a:r>
            <a:r>
              <a:rPr sz="2000" b="1" dirty="0">
                <a:latin typeface="Arial"/>
                <a:cs typeface="Arial"/>
              </a:rPr>
              <a:t>forgets results in </a:t>
            </a:r>
            <a:r>
              <a:rPr sz="2000" b="1" spc="-5" dirty="0">
                <a:latin typeface="Arial"/>
                <a:cs typeface="Arial"/>
              </a:rPr>
              <a:t>previous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cycle</a:t>
            </a:r>
            <a:endParaRPr sz="2000" dirty="0">
              <a:latin typeface="Arial"/>
              <a:cs typeface="Arial"/>
            </a:endParaRPr>
          </a:p>
          <a:p>
            <a:pPr marL="688340">
              <a:lnSpc>
                <a:spcPct val="100000"/>
              </a:lnSpc>
              <a:spcBef>
                <a:spcPts val="1360"/>
              </a:spcBef>
              <a:tabLst>
                <a:tab pos="5334000" algn="l"/>
              </a:tabLst>
            </a:pPr>
            <a:r>
              <a:rPr sz="3000" b="1" spc="-7" baseline="1388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r>
              <a:rPr sz="3000" b="1" spc="-7" baseline="1388" dirty="0">
                <a:solidFill>
                  <a:srgbClr val="FF0000"/>
                </a:solidFill>
                <a:latin typeface="Arial"/>
                <a:cs typeface="Arial"/>
              </a:rPr>
              <a:t>→</a:t>
            </a:r>
            <a:r>
              <a:rPr sz="3000" b="1" spc="-7" baseline="1388" dirty="0">
                <a:solidFill>
                  <a:srgbClr val="FF0000"/>
                </a:solidFill>
                <a:latin typeface="Helvetica"/>
                <a:cs typeface="Helvetica"/>
              </a:rPr>
              <a:t>1	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  <a:p>
            <a:pPr marR="5080" algn="r">
              <a:lnSpc>
                <a:spcPct val="100000"/>
              </a:lnSpc>
              <a:spcBef>
                <a:spcPts val="2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9373" y="1974342"/>
            <a:ext cx="2590800" cy="5080"/>
          </a:xfrm>
          <a:custGeom>
            <a:avLst/>
            <a:gdLst/>
            <a:ahLst/>
            <a:cxnLst/>
            <a:rect l="l" t="t" r="r" b="b"/>
            <a:pathLst>
              <a:path w="2590800" h="5080">
                <a:moveTo>
                  <a:pt x="0" y="4699"/>
                </a:moveTo>
                <a:lnTo>
                  <a:pt x="259080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7205" y="4367021"/>
            <a:ext cx="433070" cy="1800225"/>
          </a:xfrm>
          <a:custGeom>
            <a:avLst/>
            <a:gdLst/>
            <a:ahLst/>
            <a:cxnLst/>
            <a:rect l="l" t="t" r="r" b="b"/>
            <a:pathLst>
              <a:path w="433070" h="1800225">
                <a:moveTo>
                  <a:pt x="432816" y="1583308"/>
                </a:moveTo>
                <a:lnTo>
                  <a:pt x="0" y="1583308"/>
                </a:lnTo>
                <a:lnTo>
                  <a:pt x="216408" y="1799843"/>
                </a:lnTo>
                <a:lnTo>
                  <a:pt x="432816" y="1583308"/>
                </a:lnTo>
                <a:close/>
              </a:path>
              <a:path w="433070" h="1800225">
                <a:moveTo>
                  <a:pt x="324612" y="0"/>
                </a:moveTo>
                <a:lnTo>
                  <a:pt x="108204" y="0"/>
                </a:lnTo>
                <a:lnTo>
                  <a:pt x="108204" y="1583308"/>
                </a:lnTo>
                <a:lnTo>
                  <a:pt x="324612" y="1583308"/>
                </a:lnTo>
                <a:lnTo>
                  <a:pt x="3246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7205" y="4367021"/>
            <a:ext cx="433070" cy="1800225"/>
          </a:xfrm>
          <a:custGeom>
            <a:avLst/>
            <a:gdLst/>
            <a:ahLst/>
            <a:cxnLst/>
            <a:rect l="l" t="t" r="r" b="b"/>
            <a:pathLst>
              <a:path w="433070" h="1800225">
                <a:moveTo>
                  <a:pt x="0" y="1583308"/>
                </a:moveTo>
                <a:lnTo>
                  <a:pt x="108204" y="1583308"/>
                </a:lnTo>
                <a:lnTo>
                  <a:pt x="108204" y="0"/>
                </a:lnTo>
                <a:lnTo>
                  <a:pt x="324612" y="0"/>
                </a:lnTo>
                <a:lnTo>
                  <a:pt x="324612" y="1583308"/>
                </a:lnTo>
                <a:lnTo>
                  <a:pt x="432816" y="1583308"/>
                </a:lnTo>
                <a:lnTo>
                  <a:pt x="216408" y="1799843"/>
                </a:lnTo>
                <a:lnTo>
                  <a:pt x="0" y="158330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62853" y="4671136"/>
            <a:ext cx="29095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Forget </a:t>
            </a:r>
            <a:r>
              <a:rPr sz="2000" b="1" spc="10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r>
              <a:rPr sz="1950" b="1" spc="15" baseline="25641" dirty="0">
                <a:solidFill>
                  <a:srgbClr val="FF0000"/>
                </a:solidFill>
                <a:latin typeface="Helvetica"/>
                <a:cs typeface="Helvetica"/>
              </a:rPr>
              <a:t>st </a:t>
            </a:r>
            <a:r>
              <a:rPr sz="2000" b="1" spc="-10" dirty="0">
                <a:solidFill>
                  <a:srgbClr val="FF0000"/>
                </a:solidFill>
                <a:latin typeface="Helvetica"/>
                <a:cs typeface="Helvetica"/>
              </a:rPr>
              <a:t>cycle</a:t>
            </a:r>
            <a:r>
              <a:rPr sz="2000" b="1" spc="-26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results.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2853" y="5281422"/>
            <a:ext cx="35452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Rerun all codes for </a:t>
            </a:r>
            <a:r>
              <a:rPr sz="2000" b="1" spc="15" dirty="0">
                <a:solidFill>
                  <a:srgbClr val="FF0000"/>
                </a:solidFill>
                <a:latin typeface="Helvetica"/>
                <a:cs typeface="Helvetica"/>
              </a:rPr>
              <a:t>2</a:t>
            </a:r>
            <a:r>
              <a:rPr sz="1950" b="1" spc="22" baseline="25641" dirty="0">
                <a:solidFill>
                  <a:srgbClr val="FF0000"/>
                </a:solidFill>
                <a:latin typeface="Helvetica"/>
                <a:cs typeface="Helvetica"/>
              </a:rPr>
              <a:t>nd</a:t>
            </a:r>
            <a:r>
              <a:rPr sz="1950" b="1" spc="-179" baseline="25641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Helvetica"/>
                <a:cs typeface="Helvetica"/>
              </a:rPr>
              <a:t>cycle.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27982" y="4367021"/>
            <a:ext cx="433070" cy="1800225"/>
          </a:xfrm>
          <a:custGeom>
            <a:avLst/>
            <a:gdLst/>
            <a:ahLst/>
            <a:cxnLst/>
            <a:rect l="l" t="t" r="r" b="b"/>
            <a:pathLst>
              <a:path w="433070" h="1800225">
                <a:moveTo>
                  <a:pt x="432815" y="1583308"/>
                </a:moveTo>
                <a:lnTo>
                  <a:pt x="0" y="1583308"/>
                </a:lnTo>
                <a:lnTo>
                  <a:pt x="216407" y="1799843"/>
                </a:lnTo>
                <a:lnTo>
                  <a:pt x="432815" y="1583308"/>
                </a:lnTo>
                <a:close/>
              </a:path>
              <a:path w="433070" h="1800225">
                <a:moveTo>
                  <a:pt x="324612" y="0"/>
                </a:moveTo>
                <a:lnTo>
                  <a:pt x="108203" y="0"/>
                </a:lnTo>
                <a:lnTo>
                  <a:pt x="108203" y="1583308"/>
                </a:lnTo>
                <a:lnTo>
                  <a:pt x="324612" y="1583308"/>
                </a:lnTo>
                <a:lnTo>
                  <a:pt x="3246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27982" y="4367021"/>
            <a:ext cx="433070" cy="1800225"/>
          </a:xfrm>
          <a:custGeom>
            <a:avLst/>
            <a:gdLst/>
            <a:ahLst/>
            <a:cxnLst/>
            <a:rect l="l" t="t" r="r" b="b"/>
            <a:pathLst>
              <a:path w="433070" h="1800225">
                <a:moveTo>
                  <a:pt x="0" y="1583308"/>
                </a:moveTo>
                <a:lnTo>
                  <a:pt x="108203" y="1583308"/>
                </a:lnTo>
                <a:lnTo>
                  <a:pt x="108203" y="0"/>
                </a:lnTo>
                <a:lnTo>
                  <a:pt x="324612" y="0"/>
                </a:lnTo>
                <a:lnTo>
                  <a:pt x="324612" y="1583308"/>
                </a:lnTo>
                <a:lnTo>
                  <a:pt x="432815" y="1583308"/>
                </a:lnTo>
                <a:lnTo>
                  <a:pt x="216407" y="1799843"/>
                </a:lnTo>
                <a:lnTo>
                  <a:pt x="0" y="158330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22775" y="6135725"/>
            <a:ext cx="11461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46125" algn="l"/>
              </a:tabLst>
            </a:pPr>
            <a:r>
              <a:rPr sz="3000" b="1" spc="15" baseline="-16666" dirty="0">
                <a:latin typeface="Helvetica"/>
                <a:cs typeface="Helvetica"/>
              </a:rPr>
              <a:t>1</a:t>
            </a:r>
            <a:r>
              <a:rPr sz="1300" b="1" spc="10" dirty="0">
                <a:latin typeface="Helvetica"/>
                <a:cs typeface="Helvetica"/>
              </a:rPr>
              <a:t>st	</a:t>
            </a:r>
            <a:r>
              <a:rPr sz="3000" b="1" spc="15" baseline="-16666" dirty="0">
                <a:latin typeface="Helvetica"/>
                <a:cs typeface="Helvetica"/>
              </a:rPr>
              <a:t>2</a:t>
            </a:r>
            <a:r>
              <a:rPr sz="1300" b="1" spc="10" dirty="0">
                <a:latin typeface="Helvetica"/>
                <a:cs typeface="Helvetica"/>
              </a:rPr>
              <a:t>nd</a:t>
            </a:r>
            <a:endParaRPr sz="13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574" y="6371031"/>
            <a:ext cx="40599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33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21765" y="164414"/>
            <a:ext cx="6961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Event-Driven </a:t>
            </a:r>
            <a:r>
              <a:rPr spc="-5" dirty="0"/>
              <a:t>Simulation </a:t>
            </a:r>
            <a:r>
              <a:rPr sz="2000" dirty="0"/>
              <a:t>[Ulrich</a:t>
            </a:r>
            <a:r>
              <a:rPr sz="2000" spc="-70" dirty="0"/>
              <a:t> </a:t>
            </a:r>
            <a:r>
              <a:rPr sz="2000" dirty="0"/>
              <a:t>1965]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1315567" y="3975631"/>
            <a:ext cx="6251102" cy="188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9540" y="5147817"/>
            <a:ext cx="167005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4373" y="515759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568" y="3905834"/>
            <a:ext cx="4813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58360" algn="l"/>
              </a:tabLst>
            </a:pPr>
            <a:r>
              <a:rPr sz="3000" b="1" baseline="1388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r>
              <a:rPr sz="3000" b="1" spc="-22" baseline="1388" dirty="0">
                <a:solidFill>
                  <a:srgbClr val="FF0000"/>
                </a:solidFill>
                <a:latin typeface="Arial"/>
                <a:cs typeface="Arial"/>
              </a:rPr>
              <a:t>→</a:t>
            </a:r>
            <a:r>
              <a:rPr sz="3000" b="1" baseline="1388" dirty="0">
                <a:solidFill>
                  <a:srgbClr val="FF0000"/>
                </a:solidFill>
                <a:latin typeface="Helvetica"/>
                <a:cs typeface="Helvetica"/>
              </a:rPr>
              <a:t>1	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3354" y="514781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50669" y="4075938"/>
            <a:ext cx="2590800" cy="5080"/>
          </a:xfrm>
          <a:custGeom>
            <a:avLst/>
            <a:gdLst/>
            <a:ahLst/>
            <a:cxnLst/>
            <a:rect l="l" t="t" r="r" b="b"/>
            <a:pathLst>
              <a:path w="2590800" h="5079">
                <a:moveTo>
                  <a:pt x="0" y="4699"/>
                </a:moveTo>
                <a:lnTo>
                  <a:pt x="259080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7525" y="900785"/>
            <a:ext cx="8028940" cy="281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IDEA: </a:t>
            </a:r>
            <a:r>
              <a:rPr sz="2000" b="1" spc="-5" dirty="0">
                <a:latin typeface="Arial"/>
                <a:cs typeface="Arial"/>
              </a:rPr>
              <a:t>evaluates </a:t>
            </a:r>
            <a:r>
              <a:rPr sz="2000" b="1" dirty="0">
                <a:latin typeface="Arial"/>
                <a:cs typeface="Arial"/>
              </a:rPr>
              <a:t>a gate only if there is </a:t>
            </a:r>
            <a:r>
              <a:rPr sz="2000" b="1" spc="-5" dirty="0">
                <a:latin typeface="Arial"/>
                <a:cs typeface="Arial"/>
              </a:rPr>
              <a:t>event(s) </a:t>
            </a:r>
            <a:r>
              <a:rPr sz="2000" b="1" dirty="0">
                <a:latin typeface="Arial"/>
                <a:cs typeface="Arial"/>
              </a:rPr>
              <a:t>at its gate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inputs</a:t>
            </a:r>
            <a:endParaRPr sz="200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Event </a:t>
            </a:r>
            <a:r>
              <a:rPr sz="2000" b="1" dirty="0">
                <a:latin typeface="Arial"/>
                <a:cs typeface="Arial"/>
              </a:rPr>
              <a:t>is a signal </a:t>
            </a:r>
            <a:r>
              <a:rPr sz="2000" b="1" spc="-5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change (at time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t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Gates </a:t>
            </a:r>
            <a:r>
              <a:rPr sz="2000" b="1" spc="5" dirty="0">
                <a:latin typeface="Arial"/>
                <a:cs typeface="Arial"/>
              </a:rPr>
              <a:t>with </a:t>
            </a:r>
            <a:r>
              <a:rPr sz="2000" b="1" dirty="0">
                <a:latin typeface="Arial"/>
                <a:cs typeface="Arial"/>
              </a:rPr>
              <a:t>inputs changed are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activated</a:t>
            </a:r>
            <a:endParaRPr sz="2000">
              <a:latin typeface="Arial-BoldItalicMT"/>
              <a:cs typeface="Arial-BoldItalicMT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Event: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A</a:t>
            </a: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2000" b="1" spc="64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2000" spc="645" dirty="0">
                <a:solidFill>
                  <a:srgbClr val="0000FF"/>
                </a:solidFill>
                <a:latin typeface="Wingdings"/>
                <a:cs typeface="Wingdings"/>
              </a:rPr>
              <a:t>→</a:t>
            </a:r>
            <a:r>
              <a:rPr sz="2000" b="1" spc="64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Activated </a:t>
            </a:r>
            <a:r>
              <a:rPr sz="2000" b="1" dirty="0">
                <a:latin typeface="Arial"/>
                <a:cs typeface="Arial"/>
              </a:rPr>
              <a:t>gate: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i="1" spc="10" dirty="0">
                <a:solidFill>
                  <a:srgbClr val="0000FF"/>
                </a:solidFill>
                <a:latin typeface="Arial-BoldItalicMT"/>
                <a:cs typeface="Arial-BoldItalicMT"/>
              </a:rPr>
              <a:t>G</a:t>
            </a:r>
            <a:r>
              <a:rPr sz="1950" b="1" i="1" spc="15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2</a:t>
            </a:r>
            <a:endParaRPr sz="1950" baseline="-21367">
              <a:latin typeface="Arial-BoldItalicMT"/>
              <a:cs typeface="Arial-BoldItalicMT"/>
            </a:endParaRPr>
          </a:p>
          <a:p>
            <a:pPr marL="768985" lvl="1" indent="-287020">
              <a:lnSpc>
                <a:spcPts val="2095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Only </a:t>
            </a:r>
            <a:r>
              <a:rPr sz="2000" b="1" spc="-5" dirty="0">
                <a:latin typeface="Arial"/>
                <a:cs typeface="Arial"/>
              </a:rPr>
              <a:t>evaluate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 gate</a:t>
            </a:r>
            <a:r>
              <a:rPr sz="2000" b="1" dirty="0">
                <a:latin typeface="Arial"/>
                <a:cs typeface="Arial"/>
              </a:rPr>
              <a:t>, instead of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0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gates</a:t>
            </a:r>
            <a:endParaRPr sz="2000">
              <a:latin typeface="Arial"/>
              <a:cs typeface="Arial"/>
            </a:endParaRPr>
          </a:p>
          <a:p>
            <a:pPr marR="677545" algn="r">
              <a:lnSpc>
                <a:spcPts val="2095"/>
              </a:lnSpc>
            </a:pPr>
            <a:r>
              <a:rPr sz="2000" b="1" spc="5" dirty="0">
                <a:solidFill>
                  <a:srgbClr val="006600"/>
                </a:solidFill>
                <a:latin typeface="Helvetica"/>
                <a:cs typeface="Helvetica"/>
              </a:rPr>
              <a:t>G</a:t>
            </a:r>
            <a:r>
              <a:rPr sz="1950" b="1" spc="7" baseline="-21367" dirty="0">
                <a:solidFill>
                  <a:srgbClr val="006600"/>
                </a:solidFill>
                <a:latin typeface="Helvetica"/>
                <a:cs typeface="Helvetica"/>
              </a:rPr>
              <a:t>1</a:t>
            </a:r>
            <a:r>
              <a:rPr sz="2000" b="1" spc="5" dirty="0">
                <a:solidFill>
                  <a:srgbClr val="006600"/>
                </a:solidFill>
                <a:latin typeface="Helvetica"/>
                <a:cs typeface="Helvetica"/>
              </a:rPr>
              <a:t>, G</a:t>
            </a:r>
            <a:r>
              <a:rPr sz="1950" b="1" spc="7" baseline="-21367" dirty="0">
                <a:solidFill>
                  <a:srgbClr val="006600"/>
                </a:solidFill>
                <a:latin typeface="Helvetica"/>
                <a:cs typeface="Helvetica"/>
              </a:rPr>
              <a:t>3</a:t>
            </a:r>
            <a:r>
              <a:rPr sz="2000" b="1" spc="5" dirty="0">
                <a:solidFill>
                  <a:srgbClr val="006600"/>
                </a:solidFill>
                <a:latin typeface="Helvetica"/>
                <a:cs typeface="Helvetica"/>
              </a:rPr>
              <a:t>,</a:t>
            </a:r>
            <a:r>
              <a:rPr sz="2000" b="1" spc="-145" dirty="0">
                <a:solidFill>
                  <a:srgbClr val="006600"/>
                </a:solidFill>
                <a:latin typeface="Helvetica"/>
                <a:cs typeface="Helvetica"/>
              </a:rPr>
              <a:t> </a:t>
            </a:r>
            <a:r>
              <a:rPr sz="2000" b="1" spc="5" dirty="0">
                <a:solidFill>
                  <a:srgbClr val="006600"/>
                </a:solidFill>
                <a:latin typeface="Helvetica"/>
                <a:cs typeface="Helvetica"/>
              </a:rPr>
              <a:t>G</a:t>
            </a:r>
            <a:r>
              <a:rPr sz="1950" b="1" spc="7" baseline="-21367" dirty="0">
                <a:solidFill>
                  <a:srgbClr val="006600"/>
                </a:solidFill>
                <a:latin typeface="Helvetica"/>
                <a:cs typeface="Helvetica"/>
              </a:rPr>
              <a:t>4</a:t>
            </a:r>
            <a:endParaRPr sz="1950" baseline="-21367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9430" y="3688841"/>
            <a:ext cx="2447925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6600"/>
                </a:solidFill>
                <a:latin typeface="Helvetica"/>
                <a:cs typeface="Helvetica"/>
              </a:rPr>
              <a:t>not </a:t>
            </a:r>
            <a:r>
              <a:rPr sz="2000" b="1" spc="-5" dirty="0">
                <a:solidFill>
                  <a:srgbClr val="006600"/>
                </a:solidFill>
                <a:latin typeface="Helvetica"/>
                <a:cs typeface="Helvetica"/>
              </a:rPr>
              <a:t>evaluated</a:t>
            </a:r>
            <a:r>
              <a:rPr sz="2000" b="1" spc="-60" dirty="0">
                <a:solidFill>
                  <a:srgbClr val="006600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Helvetica"/>
                <a:cs typeface="Helvetica"/>
              </a:rPr>
              <a:t>again  in </a:t>
            </a:r>
            <a:r>
              <a:rPr sz="2000" b="1" spc="10" dirty="0">
                <a:solidFill>
                  <a:srgbClr val="006600"/>
                </a:solidFill>
                <a:latin typeface="Helvetica"/>
                <a:cs typeface="Helvetica"/>
              </a:rPr>
              <a:t>2</a:t>
            </a:r>
            <a:r>
              <a:rPr sz="1950" b="1" spc="15" baseline="25641" dirty="0">
                <a:solidFill>
                  <a:srgbClr val="006600"/>
                </a:solidFill>
                <a:latin typeface="Helvetica"/>
                <a:cs typeface="Helvetica"/>
              </a:rPr>
              <a:t>nd</a:t>
            </a:r>
            <a:r>
              <a:rPr sz="1950" b="1" spc="232" baseline="25641" dirty="0">
                <a:solidFill>
                  <a:srgbClr val="006600"/>
                </a:solidFill>
                <a:latin typeface="Helvetica"/>
                <a:cs typeface="Helvetic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Helvetica"/>
                <a:cs typeface="Helvetica"/>
              </a:rPr>
              <a:t>cycle</a:t>
            </a:r>
            <a:endParaRPr sz="2000">
              <a:latin typeface="Helvetica"/>
              <a:cs typeface="Helvetica"/>
            </a:endParaRPr>
          </a:p>
          <a:p>
            <a:pPr marL="588645">
              <a:lnSpc>
                <a:spcPct val="100000"/>
              </a:lnSpc>
              <a:spcBef>
                <a:spcPts val="141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82011" y="6224015"/>
            <a:ext cx="4381500" cy="463550"/>
          </a:xfrm>
          <a:custGeom>
            <a:avLst/>
            <a:gdLst/>
            <a:ahLst/>
            <a:cxnLst/>
            <a:rect l="l" t="t" r="r" b="b"/>
            <a:pathLst>
              <a:path w="4381500" h="463550">
                <a:moveTo>
                  <a:pt x="0" y="463296"/>
                </a:moveTo>
                <a:lnTo>
                  <a:pt x="4381499" y="463296"/>
                </a:lnTo>
                <a:lnTo>
                  <a:pt x="4381499" y="0"/>
                </a:lnTo>
                <a:lnTo>
                  <a:pt x="0" y="0"/>
                </a:lnTo>
                <a:lnTo>
                  <a:pt x="0" y="463296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73198" y="6251549"/>
            <a:ext cx="41103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Event-driven Faster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th</a:t>
            </a:r>
            <a:r>
              <a:rPr lang="en-US" sz="2400" b="1" dirty="0">
                <a:solidFill>
                  <a:srgbClr val="FF0000"/>
                </a:solidFill>
                <a:latin typeface="Helvetica"/>
                <a:cs typeface="Helvetica"/>
              </a:rPr>
              <a:t>a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n</a:t>
            </a:r>
            <a:r>
              <a:rPr sz="2400" b="1" spc="-1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Helvetica"/>
                <a:cs typeface="Helvetica"/>
              </a:rPr>
              <a:t>CC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51142" y="4270375"/>
            <a:ext cx="179705" cy="381635"/>
          </a:xfrm>
          <a:custGeom>
            <a:avLst/>
            <a:gdLst/>
            <a:ahLst/>
            <a:cxnLst/>
            <a:rect l="l" t="t" r="r" b="b"/>
            <a:pathLst>
              <a:path w="179704" h="381635">
                <a:moveTo>
                  <a:pt x="21082" y="239902"/>
                </a:moveTo>
                <a:lnTo>
                  <a:pt x="5334" y="242443"/>
                </a:lnTo>
                <a:lnTo>
                  <a:pt x="0" y="249808"/>
                </a:lnTo>
                <a:lnTo>
                  <a:pt x="1270" y="257810"/>
                </a:lnTo>
                <a:lnTo>
                  <a:pt x="21462" y="381507"/>
                </a:lnTo>
                <a:lnTo>
                  <a:pt x="48363" y="359918"/>
                </a:lnTo>
                <a:lnTo>
                  <a:pt x="45212" y="359918"/>
                </a:lnTo>
                <a:lnTo>
                  <a:pt x="18161" y="349504"/>
                </a:lnTo>
                <a:lnTo>
                  <a:pt x="37385" y="299450"/>
                </a:lnTo>
                <a:lnTo>
                  <a:pt x="28575" y="245237"/>
                </a:lnTo>
                <a:lnTo>
                  <a:pt x="21082" y="239902"/>
                </a:lnTo>
                <a:close/>
              </a:path>
              <a:path w="179704" h="381635">
                <a:moveTo>
                  <a:pt x="37385" y="299450"/>
                </a:moveTo>
                <a:lnTo>
                  <a:pt x="18161" y="349504"/>
                </a:lnTo>
                <a:lnTo>
                  <a:pt x="45212" y="359918"/>
                </a:lnTo>
                <a:lnTo>
                  <a:pt x="48138" y="352298"/>
                </a:lnTo>
                <a:lnTo>
                  <a:pt x="45974" y="352298"/>
                </a:lnTo>
                <a:lnTo>
                  <a:pt x="22733" y="343407"/>
                </a:lnTo>
                <a:lnTo>
                  <a:pt x="42010" y="327910"/>
                </a:lnTo>
                <a:lnTo>
                  <a:pt x="37385" y="299450"/>
                </a:lnTo>
                <a:close/>
              </a:path>
              <a:path w="179704" h="381635">
                <a:moveTo>
                  <a:pt x="107315" y="275463"/>
                </a:moveTo>
                <a:lnTo>
                  <a:pt x="64426" y="309890"/>
                </a:lnTo>
                <a:lnTo>
                  <a:pt x="45212" y="359918"/>
                </a:lnTo>
                <a:lnTo>
                  <a:pt x="48363" y="359918"/>
                </a:lnTo>
                <a:lnTo>
                  <a:pt x="125476" y="298069"/>
                </a:lnTo>
                <a:lnTo>
                  <a:pt x="126492" y="288925"/>
                </a:lnTo>
                <a:lnTo>
                  <a:pt x="121412" y="282701"/>
                </a:lnTo>
                <a:lnTo>
                  <a:pt x="116459" y="276479"/>
                </a:lnTo>
                <a:lnTo>
                  <a:pt x="107315" y="275463"/>
                </a:lnTo>
                <a:close/>
              </a:path>
              <a:path w="179704" h="381635">
                <a:moveTo>
                  <a:pt x="42010" y="327910"/>
                </a:moveTo>
                <a:lnTo>
                  <a:pt x="22733" y="343407"/>
                </a:lnTo>
                <a:lnTo>
                  <a:pt x="45974" y="352298"/>
                </a:lnTo>
                <a:lnTo>
                  <a:pt x="42010" y="327910"/>
                </a:lnTo>
                <a:close/>
              </a:path>
              <a:path w="179704" h="381635">
                <a:moveTo>
                  <a:pt x="64426" y="309890"/>
                </a:moveTo>
                <a:lnTo>
                  <a:pt x="42010" y="327910"/>
                </a:lnTo>
                <a:lnTo>
                  <a:pt x="45974" y="352298"/>
                </a:lnTo>
                <a:lnTo>
                  <a:pt x="48138" y="352298"/>
                </a:lnTo>
                <a:lnTo>
                  <a:pt x="64426" y="309890"/>
                </a:lnTo>
                <a:close/>
              </a:path>
              <a:path w="179704" h="381635">
                <a:moveTo>
                  <a:pt x="152400" y="0"/>
                </a:moveTo>
                <a:lnTo>
                  <a:pt x="37385" y="299450"/>
                </a:lnTo>
                <a:lnTo>
                  <a:pt x="42010" y="327910"/>
                </a:lnTo>
                <a:lnTo>
                  <a:pt x="64426" y="309890"/>
                </a:lnTo>
                <a:lnTo>
                  <a:pt x="179451" y="10413"/>
                </a:lnTo>
                <a:lnTo>
                  <a:pt x="15240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0083" y="164414"/>
            <a:ext cx="41141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Parallel</a:t>
            </a:r>
            <a:r>
              <a:rPr sz="3600" spc="-70" dirty="0"/>
              <a:t> </a:t>
            </a:r>
            <a:r>
              <a:rPr sz="3600" spc="-5" dirty="0"/>
              <a:t>Simulation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380375" cy="211339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Simultaneously </a:t>
            </a:r>
            <a:r>
              <a:rPr lang="en-US" sz="2000" b="1" spc="-5" dirty="0">
                <a:latin typeface="Arial"/>
                <a:cs typeface="Arial"/>
              </a:rPr>
              <a:t>evaluate </a:t>
            </a:r>
            <a:r>
              <a:rPr lang="en-US" sz="2000" b="1" dirty="0">
                <a:latin typeface="Arial"/>
                <a:cs typeface="Arial"/>
              </a:rPr>
              <a:t>a gate </a:t>
            </a:r>
            <a:r>
              <a:rPr lang="en-US" sz="2000" b="1" spc="5" dirty="0">
                <a:latin typeface="Arial"/>
                <a:cs typeface="Arial"/>
              </a:rPr>
              <a:t>with </a:t>
            </a:r>
            <a:r>
              <a:rPr lang="en-US" sz="2000" b="1" i="1" dirty="0">
                <a:latin typeface="Arial-BoldItalicMT"/>
                <a:cs typeface="Arial-BoldItalicMT"/>
              </a:rPr>
              <a:t>W</a:t>
            </a:r>
            <a:r>
              <a:rPr lang="en-US" sz="2000" b="1" i="1" spc="-135" dirty="0">
                <a:latin typeface="Arial-BoldItalicMT"/>
                <a:cs typeface="Arial-BoldItalicMT"/>
              </a:rPr>
              <a:t> </a:t>
            </a:r>
            <a:r>
              <a:rPr lang="en-US" sz="2000" b="1" dirty="0">
                <a:latin typeface="Arial"/>
                <a:cs typeface="Arial"/>
              </a:rPr>
              <a:t>patterns (determine </a:t>
            </a:r>
            <a:r>
              <a:rPr lang="en-US" sz="2000" b="1" i="1" dirty="0">
                <a:latin typeface="Arial"/>
                <a:cs typeface="Arial"/>
              </a:rPr>
              <a:t>W</a:t>
            </a:r>
            <a:r>
              <a:rPr lang="en-US" sz="2000" b="1" dirty="0">
                <a:latin typeface="Arial"/>
                <a:cs typeface="Arial"/>
              </a:rPr>
              <a:t> based on platform that the simulation software is running)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2432685" algn="l"/>
              </a:tabLst>
            </a:pPr>
            <a:r>
              <a:rPr sz="2000" b="1" dirty="0">
                <a:latin typeface="Arial"/>
                <a:cs typeface="Arial"/>
              </a:rPr>
              <a:t>Example: </a:t>
            </a:r>
            <a:r>
              <a:rPr sz="2000" b="1" i="1" dirty="0">
                <a:latin typeface="Arial-BoldItalicMT"/>
                <a:cs typeface="Arial-BoldItalicMT"/>
              </a:rPr>
              <a:t>W</a:t>
            </a:r>
            <a:r>
              <a:rPr sz="2000" b="1" i="1" spc="-2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4	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(WWW Fig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3.8)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Consider only binary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(no </a:t>
            </a:r>
            <a:r>
              <a:rPr sz="2000" b="1" i="1" dirty="0">
                <a:latin typeface="Arial-BoldItalicMT"/>
                <a:cs typeface="Arial-BoldItalicMT"/>
              </a:rPr>
              <a:t>u </a:t>
            </a:r>
            <a:r>
              <a:rPr sz="2000" b="1" spc="-5" dirty="0">
                <a:latin typeface="Arial"/>
                <a:cs typeface="Arial"/>
              </a:rPr>
              <a:t>or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z</a:t>
            </a:r>
            <a:r>
              <a:rPr sz="2000" b="1" dirty="0">
                <a:latin typeface="Arial"/>
                <a:cs typeface="Arial"/>
              </a:rPr>
              <a:t>)</a:t>
            </a:r>
            <a:endParaRPr lang="en-US" sz="2000" b="1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Speed up of 4 in this example, assuming 4 patterns can be simulated in parallel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6231" y="3831472"/>
            <a:ext cx="6369383" cy="19158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18260" y="3415284"/>
          <a:ext cx="864868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8382000" y="6399903"/>
            <a:ext cx="3820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18260" y="4782311"/>
          <a:ext cx="864868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18260" y="5791200"/>
          <a:ext cx="864868" cy="289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406140" y="5844540"/>
          <a:ext cx="864868" cy="289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5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422391" y="5897879"/>
          <a:ext cx="864868" cy="289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5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583423" y="5070347"/>
          <a:ext cx="864868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422391" y="3415284"/>
          <a:ext cx="864868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406140" y="3413759"/>
          <a:ext cx="864868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229600" y="6399903"/>
            <a:ext cx="5344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7145655" cy="25526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r>
              <a:rPr sz="2000" b="1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 Simulation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Compiled code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Event driven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Parallel</a:t>
            </a:r>
            <a:r>
              <a:rPr sz="20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Exploits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bitwise operation to gain linear speed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0000FF"/>
                </a:solidFill>
                <a:latin typeface="Arial"/>
                <a:cs typeface="Arial"/>
              </a:rPr>
              <a:t>up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4075-BA61-C440-9FEC-AF8C5A0E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F467C-DFAD-E1E8-A9A4-D56A8BB6A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124" y="1143000"/>
            <a:ext cx="8875675" cy="30777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[Huffman 1957] D. A. Huffman, “Design and Use of Hazard-free Switching Networks,” J. ACM 4, pp.47, 1957.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[McCluskey 1962] E.J. McCluskey, “Transients in Combinational Logic Circuits,” Redundancy Techniques for Computing Systems, pp.9-46, Spartan Book, 1962.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[Ulrich 1965] Ulrich, “Time sequenced logical simulation based on circuit delay and selective tracing of active network paths”, ACM </a:t>
            </a:r>
            <a:r>
              <a:rPr lang="en-US" dirty="0" err="1"/>
              <a:t>Nat’l</a:t>
            </a:r>
            <a:r>
              <a:rPr lang="en-US" dirty="0"/>
              <a:t> Conference, pp.437-448, 1965.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3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16527</TotalTime>
  <Words>1342</Words>
  <Application>Microsoft Macintosh PowerPoint</Application>
  <PresentationFormat>On-screen Show (4:3)</PresentationFormat>
  <Paragraphs>265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Arial-BoldItalicMT</vt:lpstr>
      <vt:lpstr>Calibri</vt:lpstr>
      <vt:lpstr>Helvetica</vt:lpstr>
      <vt:lpstr>HelveticaNeue-BoldItalic</vt:lpstr>
      <vt:lpstr>Times New Roman</vt:lpstr>
      <vt:lpstr>TimesNewRomanPS-BoldItalicMT</vt:lpstr>
      <vt:lpstr>Wingdings</vt:lpstr>
      <vt:lpstr>Office Theme</vt:lpstr>
      <vt:lpstr>ECE 553: TESTING AND TESTABLE DESIGN OF DIGITAL SYSTEMS</vt:lpstr>
      <vt:lpstr>Course Roadmap (EDA Topics)</vt:lpstr>
      <vt:lpstr>Why Am I Learning This?</vt:lpstr>
      <vt:lpstr>Logic Simulation</vt:lpstr>
      <vt:lpstr>What Is Simulation?</vt:lpstr>
      <vt:lpstr>Levels of Circuit Simulation</vt:lpstr>
      <vt:lpstr>Netlist Formats: Example</vt:lpstr>
      <vt:lpstr>Verification by Simulation</vt:lpstr>
      <vt:lpstr>Summary</vt:lpstr>
      <vt:lpstr>Logic Simulation</vt:lpstr>
      <vt:lpstr>Logic States</vt:lpstr>
      <vt:lpstr>Ternary Logic Simulation</vt:lpstr>
      <vt:lpstr>High Impedance State (Z)</vt:lpstr>
      <vt:lpstr>Logic Simulation</vt:lpstr>
      <vt:lpstr>Gate Evaluation Using Truth Table</vt:lpstr>
      <vt:lpstr>Logic Simulation</vt:lpstr>
      <vt:lpstr>Compiled-Code Simulation</vt:lpstr>
      <vt:lpstr>Compiled-code Simulation Problems</vt:lpstr>
      <vt:lpstr>Event-Driven Simulation [Ulrich 1965]</vt:lpstr>
      <vt:lpstr>Parallel Simulation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130</cp:revision>
  <cp:lastPrinted>2022-09-13T17:05:49Z</cp:lastPrinted>
  <dcterms:created xsi:type="dcterms:W3CDTF">2022-08-16T17:02:52Z</dcterms:created>
  <dcterms:modified xsi:type="dcterms:W3CDTF">2026-09-09T14:16:02Z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2022-08-16T00:00:00Z</vt:filetime>
  </property>
</Properties>
</file>