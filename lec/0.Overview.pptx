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7" r:id="rId10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670"/>
  </p:normalViewPr>
  <p:slideViewPr>
    <p:cSldViewPr>
      <p:cViewPr varScale="1">
        <p:scale>
          <a:sx n="113" d="100"/>
          <a:sy n="113" d="100"/>
        </p:scale>
        <p:origin x="1688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1.1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1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1">
                <a:solidFill>
                  <a:srgbClr val="00AF50"/>
                </a:solidFill>
                <a:latin typeface="HelveticaNeue-BoldItalic"/>
                <a:cs typeface="HelveticaNeue-BoldIt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1" i="1">
                <a:solidFill>
                  <a:srgbClr val="FF0000"/>
                </a:solidFill>
                <a:latin typeface="Arial-BoldItalicMT"/>
                <a:cs typeface="Arial-BoldItalic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1.1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1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1">
                <a:solidFill>
                  <a:srgbClr val="00AF50"/>
                </a:solidFill>
                <a:latin typeface="HelveticaNeue-BoldItalic"/>
                <a:cs typeface="HelveticaNeue-BoldIt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1.1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1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1">
                <a:solidFill>
                  <a:srgbClr val="00AF50"/>
                </a:solidFill>
                <a:latin typeface="HelveticaNeue-BoldItalic"/>
                <a:cs typeface="HelveticaNeue-BoldIt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1.1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1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1.1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1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37433" y="1956307"/>
            <a:ext cx="3469132" cy="513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1">
                <a:solidFill>
                  <a:srgbClr val="00AF50"/>
                </a:solidFill>
                <a:latin typeface="HelveticaNeue-BoldItalic"/>
                <a:cs typeface="HelveticaNeue-BoldIt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04849" y="3419602"/>
            <a:ext cx="6734301" cy="2565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1">
                <a:solidFill>
                  <a:srgbClr val="FF0000"/>
                </a:solidFill>
                <a:latin typeface="Arial-BoldItalicMT"/>
                <a:cs typeface="Arial-BoldItalic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82132" y="6516427"/>
            <a:ext cx="3089275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1.1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1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15798" y="6399903"/>
            <a:ext cx="245745" cy="366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7800" y="1538681"/>
            <a:ext cx="6491350" cy="16671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algn="ctr">
              <a:lnSpc>
                <a:spcPts val="4305"/>
              </a:lnSpc>
              <a:spcBef>
                <a:spcPts val="100"/>
              </a:spcBef>
            </a:pPr>
            <a:r>
              <a:rPr lang="en-US" altLang="en-US" sz="3600" i="0" dirty="0">
                <a:solidFill>
                  <a:srgbClr val="00B050"/>
                </a:solidFill>
                <a:latin typeface="Arial"/>
                <a:cs typeface="Arial"/>
              </a:rPr>
              <a:t>ECE 553: TESTING AND TESTABLE DESIGN OF DIGITAL SYSTEMS</a:t>
            </a:r>
            <a:endParaRPr sz="3600" i="0" dirty="0">
              <a:solidFill>
                <a:srgbClr val="00B05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204849" y="3419602"/>
            <a:ext cx="673430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0" marR="149225" algn="ctr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Course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4927" y="6390640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>
                <a:latin typeface="Arial"/>
                <a:cs typeface="Arial"/>
              </a:rPr>
              <a:t>2</a:t>
            </a:r>
            <a:endParaRPr sz="2400" b="1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707384" y="164414"/>
            <a:ext cx="15989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</a:t>
            </a:r>
            <a:r>
              <a:rPr spc="-15" dirty="0"/>
              <a:t>u</a:t>
            </a:r>
            <a:r>
              <a:rPr dirty="0"/>
              <a:t>tli</a:t>
            </a:r>
            <a:r>
              <a:rPr spc="-15" dirty="0"/>
              <a:t>n</a:t>
            </a:r>
            <a:r>
              <a:rPr dirty="0"/>
              <a:t>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30225" y="961136"/>
            <a:ext cx="3812540" cy="143693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Course </a:t>
            </a:r>
            <a:r>
              <a:rPr sz="2000" b="1" spc="-5" dirty="0">
                <a:latin typeface="Arial"/>
                <a:cs typeface="Arial"/>
              </a:rPr>
              <a:t>objective </a:t>
            </a:r>
            <a:r>
              <a:rPr sz="2000" b="1" dirty="0">
                <a:latin typeface="Arial"/>
                <a:cs typeface="Arial"/>
              </a:rPr>
              <a:t>&amp;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roadmap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Notation &amp;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references</a:t>
            </a:r>
            <a:endParaRPr lang="en-US" sz="2000" b="1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000" b="1" dirty="0">
                <a:latin typeface="Arial"/>
                <a:cs typeface="Arial"/>
              </a:rPr>
              <a:t>Acknowledgements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120000"/>
              <a:tabLst>
                <a:tab pos="354965" algn="l"/>
                <a:tab pos="355600" algn="l"/>
              </a:tabLst>
            </a:pPr>
            <a:endParaRPr sz="200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705714" y="3513501"/>
            <a:ext cx="3628376" cy="2525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4927" y="6371031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spc="-5" dirty="0">
                <a:latin typeface="Arial"/>
                <a:cs typeface="Arial"/>
              </a:rPr>
              <a:t>3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486660" y="164414"/>
            <a:ext cx="40392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Course</a:t>
            </a:r>
            <a:r>
              <a:rPr spc="-60" dirty="0"/>
              <a:t> </a:t>
            </a:r>
            <a:r>
              <a:rPr spc="-5" dirty="0"/>
              <a:t>Objectives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30225" y="900785"/>
            <a:ext cx="7479030" cy="223075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You </a:t>
            </a:r>
            <a:r>
              <a:rPr sz="2000" b="1" spc="5" dirty="0">
                <a:latin typeface="Arial"/>
                <a:cs typeface="Arial"/>
              </a:rPr>
              <a:t>will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learn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What is </a:t>
            </a:r>
            <a:r>
              <a:rPr sz="2000" b="1" spc="-5" dirty="0">
                <a:latin typeface="Arial"/>
                <a:cs typeface="Arial"/>
              </a:rPr>
              <a:t>VLSI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testing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Why is testing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important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spc="-5" dirty="0">
                <a:latin typeface="Arial"/>
                <a:cs typeface="Arial"/>
              </a:rPr>
              <a:t>How </a:t>
            </a:r>
            <a:r>
              <a:rPr sz="2000" b="1" dirty="0">
                <a:latin typeface="Arial"/>
                <a:cs typeface="Arial"/>
              </a:rPr>
              <a:t>do </a:t>
            </a:r>
            <a:r>
              <a:rPr sz="2000" b="1" spc="20" dirty="0">
                <a:latin typeface="Arial"/>
                <a:cs typeface="Arial"/>
              </a:rPr>
              <a:t>we </a:t>
            </a:r>
            <a:r>
              <a:rPr sz="2000" b="1" spc="-5" dirty="0">
                <a:latin typeface="Arial"/>
                <a:cs typeface="Arial"/>
              </a:rPr>
              <a:t>achieve </a:t>
            </a:r>
            <a:r>
              <a:rPr sz="2000" b="1" dirty="0">
                <a:latin typeface="Arial"/>
                <a:cs typeface="Arial"/>
              </a:rPr>
              <a:t>good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testing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What are important issues in testing and their</a:t>
            </a:r>
            <a:r>
              <a:rPr sz="2000" b="1" spc="-20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solutions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This course focus</a:t>
            </a:r>
            <a:r>
              <a:rPr lang="en-US" sz="2000" b="1" dirty="0">
                <a:latin typeface="Arial"/>
                <a:cs typeface="Arial"/>
              </a:rPr>
              <a:t>es</a:t>
            </a:r>
            <a:r>
              <a:rPr sz="2000" b="1" dirty="0">
                <a:latin typeface="Arial"/>
                <a:cs typeface="Arial"/>
              </a:rPr>
              <a:t> on </a:t>
            </a:r>
            <a:r>
              <a:rPr sz="2000" b="1" spc="-5" dirty="0">
                <a:latin typeface="Arial"/>
                <a:cs typeface="Arial"/>
              </a:rPr>
              <a:t>VLSI </a:t>
            </a: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digital</a:t>
            </a:r>
            <a:r>
              <a:rPr sz="2000" b="1" spc="-8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circuits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25980" y="3888681"/>
            <a:ext cx="6249830" cy="18790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4927" y="6371031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spc="-5" dirty="0">
                <a:latin typeface="Arial"/>
                <a:cs typeface="Arial"/>
              </a:rPr>
              <a:t>4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83820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50665" algn="l"/>
              </a:tabLst>
            </a:pPr>
            <a:r>
              <a:rPr dirty="0"/>
              <a:t>Course</a:t>
            </a:r>
            <a:r>
              <a:rPr spc="10" dirty="0"/>
              <a:t> </a:t>
            </a:r>
            <a:r>
              <a:rPr spc="-5" dirty="0"/>
              <a:t>Roadmap	</a:t>
            </a:r>
            <a:r>
              <a:rPr dirty="0"/>
              <a:t>(EDA</a:t>
            </a:r>
            <a:r>
              <a:rPr spc="-60" dirty="0"/>
              <a:t> </a:t>
            </a:r>
            <a:r>
              <a:rPr spc="-5" dirty="0"/>
              <a:t>Topics)</a:t>
            </a:r>
          </a:p>
        </p:txBody>
      </p:sp>
      <p:sp>
        <p:nvSpPr>
          <p:cNvPr id="5" name="object 5"/>
          <p:cNvSpPr/>
          <p:nvPr/>
        </p:nvSpPr>
        <p:spPr>
          <a:xfrm>
            <a:off x="2921507" y="952500"/>
            <a:ext cx="3403600" cy="647700"/>
          </a:xfrm>
          <a:custGeom>
            <a:avLst/>
            <a:gdLst/>
            <a:ahLst/>
            <a:cxnLst/>
            <a:rect l="l" t="t" r="r" b="b"/>
            <a:pathLst>
              <a:path w="3403600" h="647700">
                <a:moveTo>
                  <a:pt x="3295142" y="0"/>
                </a:moveTo>
                <a:lnTo>
                  <a:pt x="107950" y="0"/>
                </a:lnTo>
                <a:lnTo>
                  <a:pt x="65954" y="8491"/>
                </a:lnTo>
                <a:lnTo>
                  <a:pt x="31638" y="31638"/>
                </a:lnTo>
                <a:lnTo>
                  <a:pt x="8491" y="65954"/>
                </a:lnTo>
                <a:lnTo>
                  <a:pt x="0" y="107950"/>
                </a:lnTo>
                <a:lnTo>
                  <a:pt x="0" y="539750"/>
                </a:lnTo>
                <a:lnTo>
                  <a:pt x="8491" y="581745"/>
                </a:lnTo>
                <a:lnTo>
                  <a:pt x="31638" y="616061"/>
                </a:lnTo>
                <a:lnTo>
                  <a:pt x="65954" y="639208"/>
                </a:lnTo>
                <a:lnTo>
                  <a:pt x="107950" y="647700"/>
                </a:lnTo>
                <a:lnTo>
                  <a:pt x="3295142" y="647700"/>
                </a:lnTo>
                <a:lnTo>
                  <a:pt x="3337137" y="639208"/>
                </a:lnTo>
                <a:lnTo>
                  <a:pt x="3371453" y="616061"/>
                </a:lnTo>
                <a:lnTo>
                  <a:pt x="3394600" y="581745"/>
                </a:lnTo>
                <a:lnTo>
                  <a:pt x="3403092" y="539750"/>
                </a:lnTo>
                <a:lnTo>
                  <a:pt x="3403092" y="107950"/>
                </a:lnTo>
                <a:lnTo>
                  <a:pt x="3394600" y="65954"/>
                </a:lnTo>
                <a:lnTo>
                  <a:pt x="3371453" y="31638"/>
                </a:lnTo>
                <a:lnTo>
                  <a:pt x="3337137" y="8491"/>
                </a:lnTo>
                <a:lnTo>
                  <a:pt x="3295142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03191" y="1676400"/>
            <a:ext cx="852169" cy="521334"/>
          </a:xfrm>
          <a:custGeom>
            <a:avLst/>
            <a:gdLst/>
            <a:ahLst/>
            <a:cxnLst/>
            <a:rect l="l" t="t" r="r" b="b"/>
            <a:pathLst>
              <a:path w="852170" h="521335">
                <a:moveTo>
                  <a:pt x="851916" y="260603"/>
                </a:moveTo>
                <a:lnTo>
                  <a:pt x="0" y="260603"/>
                </a:lnTo>
                <a:lnTo>
                  <a:pt x="425958" y="521208"/>
                </a:lnTo>
                <a:lnTo>
                  <a:pt x="851916" y="260603"/>
                </a:lnTo>
                <a:close/>
              </a:path>
              <a:path w="852170" h="521335">
                <a:moveTo>
                  <a:pt x="638937" y="0"/>
                </a:moveTo>
                <a:lnTo>
                  <a:pt x="212979" y="0"/>
                </a:lnTo>
                <a:lnTo>
                  <a:pt x="212979" y="260603"/>
                </a:lnTo>
                <a:lnTo>
                  <a:pt x="638937" y="260603"/>
                </a:lnTo>
                <a:lnTo>
                  <a:pt x="638937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21507" y="2273807"/>
            <a:ext cx="3403600" cy="647700"/>
          </a:xfrm>
          <a:custGeom>
            <a:avLst/>
            <a:gdLst/>
            <a:ahLst/>
            <a:cxnLst/>
            <a:rect l="l" t="t" r="r" b="b"/>
            <a:pathLst>
              <a:path w="3403600" h="647700">
                <a:moveTo>
                  <a:pt x="3295142" y="0"/>
                </a:moveTo>
                <a:lnTo>
                  <a:pt x="107950" y="0"/>
                </a:lnTo>
                <a:lnTo>
                  <a:pt x="65954" y="8491"/>
                </a:lnTo>
                <a:lnTo>
                  <a:pt x="31638" y="31638"/>
                </a:lnTo>
                <a:lnTo>
                  <a:pt x="8491" y="65954"/>
                </a:lnTo>
                <a:lnTo>
                  <a:pt x="0" y="107950"/>
                </a:lnTo>
                <a:lnTo>
                  <a:pt x="0" y="539750"/>
                </a:lnTo>
                <a:lnTo>
                  <a:pt x="8491" y="581745"/>
                </a:lnTo>
                <a:lnTo>
                  <a:pt x="31638" y="616061"/>
                </a:lnTo>
                <a:lnTo>
                  <a:pt x="65954" y="639208"/>
                </a:lnTo>
                <a:lnTo>
                  <a:pt x="107950" y="647700"/>
                </a:lnTo>
                <a:lnTo>
                  <a:pt x="3295142" y="647700"/>
                </a:lnTo>
                <a:lnTo>
                  <a:pt x="3337137" y="639208"/>
                </a:lnTo>
                <a:lnTo>
                  <a:pt x="3371453" y="616061"/>
                </a:lnTo>
                <a:lnTo>
                  <a:pt x="3394600" y="581745"/>
                </a:lnTo>
                <a:lnTo>
                  <a:pt x="3403092" y="539750"/>
                </a:lnTo>
                <a:lnTo>
                  <a:pt x="3403092" y="107950"/>
                </a:lnTo>
                <a:lnTo>
                  <a:pt x="3394600" y="65954"/>
                </a:lnTo>
                <a:lnTo>
                  <a:pt x="3371453" y="31638"/>
                </a:lnTo>
                <a:lnTo>
                  <a:pt x="3337137" y="8491"/>
                </a:lnTo>
                <a:lnTo>
                  <a:pt x="3295142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241291" y="2997707"/>
            <a:ext cx="852169" cy="520065"/>
          </a:xfrm>
          <a:custGeom>
            <a:avLst/>
            <a:gdLst/>
            <a:ahLst/>
            <a:cxnLst/>
            <a:rect l="l" t="t" r="r" b="b"/>
            <a:pathLst>
              <a:path w="852170" h="520064">
                <a:moveTo>
                  <a:pt x="851916" y="259841"/>
                </a:moveTo>
                <a:lnTo>
                  <a:pt x="0" y="259841"/>
                </a:lnTo>
                <a:lnTo>
                  <a:pt x="425958" y="519683"/>
                </a:lnTo>
                <a:lnTo>
                  <a:pt x="851916" y="259841"/>
                </a:lnTo>
                <a:close/>
              </a:path>
              <a:path w="852170" h="520064">
                <a:moveTo>
                  <a:pt x="638937" y="0"/>
                </a:moveTo>
                <a:lnTo>
                  <a:pt x="212979" y="0"/>
                </a:lnTo>
                <a:lnTo>
                  <a:pt x="212979" y="259841"/>
                </a:lnTo>
                <a:lnTo>
                  <a:pt x="638937" y="259841"/>
                </a:lnTo>
                <a:lnTo>
                  <a:pt x="638937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21507" y="3619500"/>
            <a:ext cx="3403600" cy="647700"/>
          </a:xfrm>
          <a:custGeom>
            <a:avLst/>
            <a:gdLst/>
            <a:ahLst/>
            <a:cxnLst/>
            <a:rect l="l" t="t" r="r" b="b"/>
            <a:pathLst>
              <a:path w="3403600" h="647700">
                <a:moveTo>
                  <a:pt x="3295142" y="0"/>
                </a:moveTo>
                <a:lnTo>
                  <a:pt x="107950" y="0"/>
                </a:lnTo>
                <a:lnTo>
                  <a:pt x="65954" y="8491"/>
                </a:lnTo>
                <a:lnTo>
                  <a:pt x="31638" y="31638"/>
                </a:lnTo>
                <a:lnTo>
                  <a:pt x="8491" y="65954"/>
                </a:lnTo>
                <a:lnTo>
                  <a:pt x="0" y="107950"/>
                </a:lnTo>
                <a:lnTo>
                  <a:pt x="0" y="539750"/>
                </a:lnTo>
                <a:lnTo>
                  <a:pt x="8491" y="581745"/>
                </a:lnTo>
                <a:lnTo>
                  <a:pt x="31638" y="616061"/>
                </a:lnTo>
                <a:lnTo>
                  <a:pt x="65954" y="639208"/>
                </a:lnTo>
                <a:lnTo>
                  <a:pt x="107950" y="647700"/>
                </a:lnTo>
                <a:lnTo>
                  <a:pt x="3295142" y="647700"/>
                </a:lnTo>
                <a:lnTo>
                  <a:pt x="3337137" y="639208"/>
                </a:lnTo>
                <a:lnTo>
                  <a:pt x="3371453" y="616061"/>
                </a:lnTo>
                <a:lnTo>
                  <a:pt x="3394600" y="581745"/>
                </a:lnTo>
                <a:lnTo>
                  <a:pt x="3403092" y="539750"/>
                </a:lnTo>
                <a:lnTo>
                  <a:pt x="3403092" y="107950"/>
                </a:lnTo>
                <a:lnTo>
                  <a:pt x="3394600" y="65954"/>
                </a:lnTo>
                <a:lnTo>
                  <a:pt x="3371453" y="31638"/>
                </a:lnTo>
                <a:lnTo>
                  <a:pt x="3337137" y="8491"/>
                </a:lnTo>
                <a:lnTo>
                  <a:pt x="3295142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79391" y="4343400"/>
            <a:ext cx="852169" cy="521334"/>
          </a:xfrm>
          <a:custGeom>
            <a:avLst/>
            <a:gdLst/>
            <a:ahLst/>
            <a:cxnLst/>
            <a:rect l="l" t="t" r="r" b="b"/>
            <a:pathLst>
              <a:path w="852170" h="521335">
                <a:moveTo>
                  <a:pt x="851916" y="260604"/>
                </a:moveTo>
                <a:lnTo>
                  <a:pt x="0" y="260604"/>
                </a:lnTo>
                <a:lnTo>
                  <a:pt x="425958" y="521207"/>
                </a:lnTo>
                <a:lnTo>
                  <a:pt x="851916" y="260604"/>
                </a:lnTo>
                <a:close/>
              </a:path>
              <a:path w="852170" h="521335">
                <a:moveTo>
                  <a:pt x="638937" y="0"/>
                </a:moveTo>
                <a:lnTo>
                  <a:pt x="212979" y="0"/>
                </a:lnTo>
                <a:lnTo>
                  <a:pt x="212979" y="260604"/>
                </a:lnTo>
                <a:lnTo>
                  <a:pt x="638937" y="260604"/>
                </a:lnTo>
                <a:lnTo>
                  <a:pt x="638937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21507" y="4940808"/>
            <a:ext cx="3403600" cy="647700"/>
          </a:xfrm>
          <a:custGeom>
            <a:avLst/>
            <a:gdLst/>
            <a:ahLst/>
            <a:cxnLst/>
            <a:rect l="l" t="t" r="r" b="b"/>
            <a:pathLst>
              <a:path w="3403600" h="647700">
                <a:moveTo>
                  <a:pt x="3295142" y="0"/>
                </a:moveTo>
                <a:lnTo>
                  <a:pt x="107950" y="0"/>
                </a:lnTo>
                <a:lnTo>
                  <a:pt x="65954" y="8491"/>
                </a:lnTo>
                <a:lnTo>
                  <a:pt x="31638" y="31638"/>
                </a:lnTo>
                <a:lnTo>
                  <a:pt x="8491" y="65954"/>
                </a:lnTo>
                <a:lnTo>
                  <a:pt x="0" y="107950"/>
                </a:lnTo>
                <a:lnTo>
                  <a:pt x="0" y="539750"/>
                </a:lnTo>
                <a:lnTo>
                  <a:pt x="8491" y="581745"/>
                </a:lnTo>
                <a:lnTo>
                  <a:pt x="31638" y="616061"/>
                </a:lnTo>
                <a:lnTo>
                  <a:pt x="65954" y="639208"/>
                </a:lnTo>
                <a:lnTo>
                  <a:pt x="107950" y="647700"/>
                </a:lnTo>
                <a:lnTo>
                  <a:pt x="3295142" y="647700"/>
                </a:lnTo>
                <a:lnTo>
                  <a:pt x="3337137" y="639208"/>
                </a:lnTo>
                <a:lnTo>
                  <a:pt x="3371453" y="616061"/>
                </a:lnTo>
                <a:lnTo>
                  <a:pt x="3394600" y="581745"/>
                </a:lnTo>
                <a:lnTo>
                  <a:pt x="3403092" y="539750"/>
                </a:lnTo>
                <a:lnTo>
                  <a:pt x="3403092" y="107950"/>
                </a:lnTo>
                <a:lnTo>
                  <a:pt x="3394600" y="65954"/>
                </a:lnTo>
                <a:lnTo>
                  <a:pt x="3371453" y="31638"/>
                </a:lnTo>
                <a:lnTo>
                  <a:pt x="3337137" y="8491"/>
                </a:lnTo>
                <a:lnTo>
                  <a:pt x="3295142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317491" y="5664708"/>
            <a:ext cx="852169" cy="520065"/>
          </a:xfrm>
          <a:custGeom>
            <a:avLst/>
            <a:gdLst/>
            <a:ahLst/>
            <a:cxnLst/>
            <a:rect l="l" t="t" r="r" b="b"/>
            <a:pathLst>
              <a:path w="852170" h="520064">
                <a:moveTo>
                  <a:pt x="851916" y="259841"/>
                </a:moveTo>
                <a:lnTo>
                  <a:pt x="0" y="259841"/>
                </a:lnTo>
                <a:lnTo>
                  <a:pt x="425958" y="519683"/>
                </a:lnTo>
                <a:lnTo>
                  <a:pt x="851916" y="259841"/>
                </a:lnTo>
                <a:close/>
              </a:path>
              <a:path w="852170" h="520064">
                <a:moveTo>
                  <a:pt x="638937" y="0"/>
                </a:moveTo>
                <a:lnTo>
                  <a:pt x="212979" y="0"/>
                </a:lnTo>
                <a:lnTo>
                  <a:pt x="212979" y="259841"/>
                </a:lnTo>
                <a:lnTo>
                  <a:pt x="638937" y="259841"/>
                </a:lnTo>
                <a:lnTo>
                  <a:pt x="638937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21507" y="6222491"/>
            <a:ext cx="3403600" cy="635635"/>
          </a:xfrm>
          <a:custGeom>
            <a:avLst/>
            <a:gdLst/>
            <a:ahLst/>
            <a:cxnLst/>
            <a:rect l="l" t="t" r="r" b="b"/>
            <a:pathLst>
              <a:path w="3403600" h="635634">
                <a:moveTo>
                  <a:pt x="3295142" y="0"/>
                </a:moveTo>
                <a:lnTo>
                  <a:pt x="107950" y="0"/>
                </a:lnTo>
                <a:lnTo>
                  <a:pt x="65954" y="8483"/>
                </a:lnTo>
                <a:lnTo>
                  <a:pt x="31638" y="31619"/>
                </a:lnTo>
                <a:lnTo>
                  <a:pt x="8491" y="65933"/>
                </a:lnTo>
                <a:lnTo>
                  <a:pt x="0" y="107950"/>
                </a:lnTo>
                <a:lnTo>
                  <a:pt x="0" y="539747"/>
                </a:lnTo>
                <a:lnTo>
                  <a:pt x="8491" y="581767"/>
                </a:lnTo>
                <a:lnTo>
                  <a:pt x="31638" y="616081"/>
                </a:lnTo>
                <a:lnTo>
                  <a:pt x="60451" y="635506"/>
                </a:lnTo>
                <a:lnTo>
                  <a:pt x="3342640" y="635506"/>
                </a:lnTo>
                <a:lnTo>
                  <a:pt x="3371453" y="616081"/>
                </a:lnTo>
                <a:lnTo>
                  <a:pt x="3394600" y="581767"/>
                </a:lnTo>
                <a:lnTo>
                  <a:pt x="3403092" y="539747"/>
                </a:lnTo>
                <a:lnTo>
                  <a:pt x="3403092" y="107950"/>
                </a:lnTo>
                <a:lnTo>
                  <a:pt x="3394600" y="65933"/>
                </a:lnTo>
                <a:lnTo>
                  <a:pt x="3371453" y="31619"/>
                </a:lnTo>
                <a:lnTo>
                  <a:pt x="3337137" y="8483"/>
                </a:lnTo>
                <a:lnTo>
                  <a:pt x="3295142" y="0"/>
                </a:lnTo>
                <a:close/>
              </a:path>
            </a:pathLst>
          </a:custGeom>
          <a:solidFill>
            <a:srgbClr val="FF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610483" y="6277152"/>
            <a:ext cx="202565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solidFill>
                  <a:srgbClr val="FFFFFF"/>
                </a:solidFill>
                <a:latin typeface="Helvetica"/>
                <a:cs typeface="Helvetica"/>
              </a:rPr>
              <a:t>Delay</a:t>
            </a:r>
            <a:r>
              <a:rPr sz="3200" b="1" spc="-75" dirty="0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sz="3200" b="1" spc="-65" dirty="0">
                <a:solidFill>
                  <a:srgbClr val="FFFFFF"/>
                </a:solidFill>
                <a:latin typeface="Helvetica"/>
                <a:cs typeface="Helvetica"/>
              </a:rPr>
              <a:t>Test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568440" y="2286000"/>
            <a:ext cx="2296795" cy="647700"/>
          </a:xfrm>
          <a:custGeom>
            <a:avLst/>
            <a:gdLst/>
            <a:ahLst/>
            <a:cxnLst/>
            <a:rect l="l" t="t" r="r" b="b"/>
            <a:pathLst>
              <a:path w="2296795" h="647700">
                <a:moveTo>
                  <a:pt x="2188717" y="0"/>
                </a:moveTo>
                <a:lnTo>
                  <a:pt x="107950" y="0"/>
                </a:lnTo>
                <a:lnTo>
                  <a:pt x="65954" y="8491"/>
                </a:lnTo>
                <a:lnTo>
                  <a:pt x="31638" y="31638"/>
                </a:lnTo>
                <a:lnTo>
                  <a:pt x="8491" y="65954"/>
                </a:lnTo>
                <a:lnTo>
                  <a:pt x="0" y="107950"/>
                </a:lnTo>
                <a:lnTo>
                  <a:pt x="0" y="539750"/>
                </a:lnTo>
                <a:lnTo>
                  <a:pt x="8491" y="581745"/>
                </a:lnTo>
                <a:lnTo>
                  <a:pt x="31638" y="616061"/>
                </a:lnTo>
                <a:lnTo>
                  <a:pt x="65954" y="639208"/>
                </a:lnTo>
                <a:lnTo>
                  <a:pt x="107950" y="647700"/>
                </a:lnTo>
                <a:lnTo>
                  <a:pt x="2188717" y="647700"/>
                </a:lnTo>
                <a:lnTo>
                  <a:pt x="2230713" y="639208"/>
                </a:lnTo>
                <a:lnTo>
                  <a:pt x="2265029" y="616061"/>
                </a:lnTo>
                <a:lnTo>
                  <a:pt x="2288176" y="581745"/>
                </a:lnTo>
                <a:lnTo>
                  <a:pt x="2296667" y="539750"/>
                </a:lnTo>
                <a:lnTo>
                  <a:pt x="2296667" y="107950"/>
                </a:lnTo>
                <a:lnTo>
                  <a:pt x="2288176" y="65954"/>
                </a:lnTo>
                <a:lnTo>
                  <a:pt x="2265029" y="31638"/>
                </a:lnTo>
                <a:lnTo>
                  <a:pt x="2230713" y="8491"/>
                </a:lnTo>
                <a:lnTo>
                  <a:pt x="2188717" y="0"/>
                </a:lnTo>
                <a:close/>
              </a:path>
            </a:pathLst>
          </a:custGeom>
          <a:solidFill>
            <a:srgbClr val="FF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74904" y="964691"/>
            <a:ext cx="2342515" cy="647700"/>
          </a:xfrm>
          <a:custGeom>
            <a:avLst/>
            <a:gdLst/>
            <a:ahLst/>
            <a:cxnLst/>
            <a:rect l="l" t="t" r="r" b="b"/>
            <a:pathLst>
              <a:path w="2342515" h="647700">
                <a:moveTo>
                  <a:pt x="2234438" y="0"/>
                </a:moveTo>
                <a:lnTo>
                  <a:pt x="107950" y="0"/>
                </a:lnTo>
                <a:lnTo>
                  <a:pt x="65933" y="8491"/>
                </a:lnTo>
                <a:lnTo>
                  <a:pt x="31619" y="31638"/>
                </a:lnTo>
                <a:lnTo>
                  <a:pt x="8483" y="65954"/>
                </a:lnTo>
                <a:lnTo>
                  <a:pt x="0" y="107950"/>
                </a:lnTo>
                <a:lnTo>
                  <a:pt x="0" y="539750"/>
                </a:lnTo>
                <a:lnTo>
                  <a:pt x="8483" y="581745"/>
                </a:lnTo>
                <a:lnTo>
                  <a:pt x="31619" y="616061"/>
                </a:lnTo>
                <a:lnTo>
                  <a:pt x="65933" y="639208"/>
                </a:lnTo>
                <a:lnTo>
                  <a:pt x="107950" y="647700"/>
                </a:lnTo>
                <a:lnTo>
                  <a:pt x="2234438" y="647700"/>
                </a:lnTo>
                <a:lnTo>
                  <a:pt x="2276433" y="639208"/>
                </a:lnTo>
                <a:lnTo>
                  <a:pt x="2310749" y="616061"/>
                </a:lnTo>
                <a:lnTo>
                  <a:pt x="2333896" y="581745"/>
                </a:lnTo>
                <a:lnTo>
                  <a:pt x="2342388" y="539750"/>
                </a:lnTo>
                <a:lnTo>
                  <a:pt x="2342388" y="107950"/>
                </a:lnTo>
                <a:lnTo>
                  <a:pt x="2333896" y="65954"/>
                </a:lnTo>
                <a:lnTo>
                  <a:pt x="2310749" y="31638"/>
                </a:lnTo>
                <a:lnTo>
                  <a:pt x="2276433" y="8491"/>
                </a:lnTo>
                <a:lnTo>
                  <a:pt x="2234438" y="0"/>
                </a:lnTo>
                <a:close/>
              </a:path>
            </a:pathLst>
          </a:custGeom>
          <a:solidFill>
            <a:srgbClr val="FF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353055" y="1657985"/>
            <a:ext cx="678815" cy="593090"/>
          </a:xfrm>
          <a:custGeom>
            <a:avLst/>
            <a:gdLst/>
            <a:ahLst/>
            <a:cxnLst/>
            <a:rect l="l" t="t" r="r" b="b"/>
            <a:pathLst>
              <a:path w="678814" h="593089">
                <a:moveTo>
                  <a:pt x="351917" y="0"/>
                </a:moveTo>
                <a:lnTo>
                  <a:pt x="12573" y="256666"/>
                </a:lnTo>
                <a:lnTo>
                  <a:pt x="169671" y="464185"/>
                </a:lnTo>
                <a:lnTo>
                  <a:pt x="0" y="592581"/>
                </a:lnTo>
                <a:lnTo>
                  <a:pt x="496443" y="543560"/>
                </a:lnTo>
                <a:lnTo>
                  <a:pt x="628291" y="207644"/>
                </a:lnTo>
                <a:lnTo>
                  <a:pt x="509016" y="207644"/>
                </a:lnTo>
                <a:lnTo>
                  <a:pt x="351917" y="0"/>
                </a:lnTo>
                <a:close/>
              </a:path>
              <a:path w="678814" h="593089">
                <a:moveTo>
                  <a:pt x="678688" y="79248"/>
                </a:moveTo>
                <a:lnTo>
                  <a:pt x="509016" y="207644"/>
                </a:lnTo>
                <a:lnTo>
                  <a:pt x="628291" y="207644"/>
                </a:lnTo>
                <a:lnTo>
                  <a:pt x="678688" y="79248"/>
                </a:lnTo>
                <a:close/>
              </a:path>
            </a:pathLst>
          </a:custGeom>
          <a:solidFill>
            <a:srgbClr val="FF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146291" y="2996057"/>
            <a:ext cx="741045" cy="558165"/>
          </a:xfrm>
          <a:custGeom>
            <a:avLst/>
            <a:gdLst/>
            <a:ahLst/>
            <a:cxnLst/>
            <a:rect l="l" t="t" r="r" b="b"/>
            <a:pathLst>
              <a:path w="741045" h="558164">
                <a:moveTo>
                  <a:pt x="0" y="122046"/>
                </a:moveTo>
                <a:lnTo>
                  <a:pt x="242316" y="558038"/>
                </a:lnTo>
                <a:lnTo>
                  <a:pt x="740790" y="540638"/>
                </a:lnTo>
                <a:lnTo>
                  <a:pt x="555625" y="435990"/>
                </a:lnTo>
                <a:lnTo>
                  <a:pt x="673815" y="226694"/>
                </a:lnTo>
                <a:lnTo>
                  <a:pt x="185166" y="226694"/>
                </a:lnTo>
                <a:lnTo>
                  <a:pt x="0" y="122046"/>
                </a:lnTo>
                <a:close/>
              </a:path>
              <a:path w="741045" h="558164">
                <a:moveTo>
                  <a:pt x="313309" y="0"/>
                </a:moveTo>
                <a:lnTo>
                  <a:pt x="185166" y="226694"/>
                </a:lnTo>
                <a:lnTo>
                  <a:pt x="673815" y="226694"/>
                </a:lnTo>
                <a:lnTo>
                  <a:pt x="683640" y="209295"/>
                </a:lnTo>
                <a:lnTo>
                  <a:pt x="313309" y="0"/>
                </a:lnTo>
                <a:close/>
              </a:path>
            </a:pathLst>
          </a:custGeom>
          <a:solidFill>
            <a:srgbClr val="FF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22148" y="4940808"/>
            <a:ext cx="2295525" cy="647700"/>
          </a:xfrm>
          <a:custGeom>
            <a:avLst/>
            <a:gdLst/>
            <a:ahLst/>
            <a:cxnLst/>
            <a:rect l="l" t="t" r="r" b="b"/>
            <a:pathLst>
              <a:path w="2295525" h="647700">
                <a:moveTo>
                  <a:pt x="2187194" y="0"/>
                </a:moveTo>
                <a:lnTo>
                  <a:pt x="107950" y="0"/>
                </a:lnTo>
                <a:lnTo>
                  <a:pt x="65933" y="8491"/>
                </a:lnTo>
                <a:lnTo>
                  <a:pt x="31619" y="31638"/>
                </a:lnTo>
                <a:lnTo>
                  <a:pt x="8483" y="65954"/>
                </a:lnTo>
                <a:lnTo>
                  <a:pt x="0" y="107950"/>
                </a:lnTo>
                <a:lnTo>
                  <a:pt x="0" y="539750"/>
                </a:lnTo>
                <a:lnTo>
                  <a:pt x="8483" y="581745"/>
                </a:lnTo>
                <a:lnTo>
                  <a:pt x="31619" y="616061"/>
                </a:lnTo>
                <a:lnTo>
                  <a:pt x="65933" y="639208"/>
                </a:lnTo>
                <a:lnTo>
                  <a:pt x="107950" y="647700"/>
                </a:lnTo>
                <a:lnTo>
                  <a:pt x="2187194" y="647700"/>
                </a:lnTo>
                <a:lnTo>
                  <a:pt x="2229189" y="639208"/>
                </a:lnTo>
                <a:lnTo>
                  <a:pt x="2263505" y="616061"/>
                </a:lnTo>
                <a:lnTo>
                  <a:pt x="2286652" y="581745"/>
                </a:lnTo>
                <a:lnTo>
                  <a:pt x="2295144" y="539750"/>
                </a:lnTo>
                <a:lnTo>
                  <a:pt x="2295144" y="107950"/>
                </a:lnTo>
                <a:lnTo>
                  <a:pt x="2286652" y="65954"/>
                </a:lnTo>
                <a:lnTo>
                  <a:pt x="2263505" y="31638"/>
                </a:lnTo>
                <a:lnTo>
                  <a:pt x="2229189" y="8491"/>
                </a:lnTo>
                <a:lnTo>
                  <a:pt x="2187194" y="0"/>
                </a:lnTo>
                <a:close/>
              </a:path>
            </a:pathLst>
          </a:custGeom>
          <a:solidFill>
            <a:srgbClr val="FF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347341" y="4272407"/>
            <a:ext cx="741045" cy="558165"/>
          </a:xfrm>
          <a:custGeom>
            <a:avLst/>
            <a:gdLst/>
            <a:ahLst/>
            <a:cxnLst/>
            <a:rect l="l" t="t" r="r" b="b"/>
            <a:pathLst>
              <a:path w="741044" h="558164">
                <a:moveTo>
                  <a:pt x="0" y="122047"/>
                </a:moveTo>
                <a:lnTo>
                  <a:pt x="242442" y="558038"/>
                </a:lnTo>
                <a:lnTo>
                  <a:pt x="740917" y="540639"/>
                </a:lnTo>
                <a:lnTo>
                  <a:pt x="555625" y="435991"/>
                </a:lnTo>
                <a:lnTo>
                  <a:pt x="673932" y="226695"/>
                </a:lnTo>
                <a:lnTo>
                  <a:pt x="185292" y="226695"/>
                </a:lnTo>
                <a:lnTo>
                  <a:pt x="0" y="122047"/>
                </a:lnTo>
                <a:close/>
              </a:path>
              <a:path w="741044" h="558164">
                <a:moveTo>
                  <a:pt x="313308" y="0"/>
                </a:moveTo>
                <a:lnTo>
                  <a:pt x="185292" y="226695"/>
                </a:lnTo>
                <a:lnTo>
                  <a:pt x="673932" y="226695"/>
                </a:lnTo>
                <a:lnTo>
                  <a:pt x="683767" y="209296"/>
                </a:lnTo>
                <a:lnTo>
                  <a:pt x="313308" y="0"/>
                </a:lnTo>
                <a:close/>
              </a:path>
            </a:pathLst>
          </a:custGeom>
          <a:solidFill>
            <a:srgbClr val="FF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410957" y="4891862"/>
            <a:ext cx="13728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C00000"/>
                </a:solidFill>
                <a:latin typeface="Helvetica"/>
                <a:cs typeface="Helvetica"/>
              </a:rPr>
              <a:t>Major</a:t>
            </a:r>
            <a:r>
              <a:rPr sz="1800" b="1" spc="-45" dirty="0">
                <a:solidFill>
                  <a:srgbClr val="C00000"/>
                </a:solidFill>
                <a:latin typeface="Helvetica"/>
                <a:cs typeface="Helvetica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Helvetica"/>
                <a:cs typeface="Helvetica"/>
              </a:rPr>
              <a:t>topics</a:t>
            </a:r>
            <a:endParaRPr sz="180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FF6666"/>
                </a:solidFill>
                <a:latin typeface="Helvetica"/>
                <a:cs typeface="Helvetica"/>
              </a:rPr>
              <a:t>Side</a:t>
            </a:r>
            <a:r>
              <a:rPr sz="1800" b="1" spc="-45" dirty="0">
                <a:solidFill>
                  <a:srgbClr val="FF6666"/>
                </a:solidFill>
                <a:latin typeface="Helvetica"/>
                <a:cs typeface="Helvetica"/>
              </a:rPr>
              <a:t> </a:t>
            </a:r>
            <a:r>
              <a:rPr sz="1800" b="1" dirty="0">
                <a:solidFill>
                  <a:srgbClr val="FF6666"/>
                </a:solidFill>
                <a:latin typeface="Helvetica"/>
                <a:cs typeface="Helvetica"/>
              </a:rPr>
              <a:t>topics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5038" y="922657"/>
            <a:ext cx="2077720" cy="525143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3200" b="1" dirty="0">
                <a:solidFill>
                  <a:srgbClr val="FFFFFF"/>
                </a:solidFill>
                <a:latin typeface="Helvetica"/>
                <a:cs typeface="Helvetica"/>
              </a:rPr>
              <a:t>Logic</a:t>
            </a:r>
            <a:r>
              <a:rPr sz="3200" b="1" spc="-100" dirty="0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Helvetica"/>
                <a:cs typeface="Helvetica"/>
              </a:rPr>
              <a:t>Sim.</a:t>
            </a:r>
            <a:endParaRPr sz="3200" dirty="0">
              <a:latin typeface="Helvetica"/>
              <a:cs typeface="Helvetic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32505" y="2056510"/>
            <a:ext cx="3184525" cy="78422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R="295275" algn="r">
              <a:lnSpc>
                <a:spcPct val="100000"/>
              </a:lnSpc>
              <a:spcBef>
                <a:spcPts val="240"/>
              </a:spcBef>
            </a:pPr>
            <a:r>
              <a:rPr lang="en-US" sz="1400" b="1" spc="-5" dirty="0">
                <a:latin typeface="Helvetica"/>
                <a:cs typeface="Helvetica"/>
              </a:rPr>
              <a:t> </a:t>
            </a:r>
            <a:endParaRPr sz="1400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3200" b="1" dirty="0">
                <a:solidFill>
                  <a:srgbClr val="FFFFFF"/>
                </a:solidFill>
                <a:latin typeface="Helvetica"/>
                <a:cs typeface="Helvetica"/>
              </a:rPr>
              <a:t>Fault</a:t>
            </a:r>
            <a:r>
              <a:rPr sz="3200" b="1" spc="-114" dirty="0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sz="3200" b="1" dirty="0">
                <a:solidFill>
                  <a:srgbClr val="FFFFFF"/>
                </a:solidFill>
                <a:latin typeface="Helvetica"/>
                <a:cs typeface="Helvetica"/>
              </a:rPr>
              <a:t>Simulation</a:t>
            </a:r>
            <a:endParaRPr sz="3200" dirty="0">
              <a:latin typeface="Helvetica"/>
              <a:cs typeface="Helvetic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78810" y="731233"/>
            <a:ext cx="2896870" cy="788035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245"/>
              </a:spcBef>
            </a:pPr>
            <a:r>
              <a:rPr lang="en-US" sz="1400" b="1" spc="-5" dirty="0">
                <a:latin typeface="Helvetica"/>
                <a:cs typeface="Helvetica"/>
              </a:rPr>
              <a:t> </a:t>
            </a:r>
            <a:endParaRPr lang="en-US" sz="1400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3200" b="1" spc="-5" dirty="0">
                <a:solidFill>
                  <a:srgbClr val="FFFFFF"/>
                </a:solidFill>
                <a:latin typeface="Helvetica"/>
                <a:cs typeface="Helvetica"/>
              </a:rPr>
              <a:t>Fault</a:t>
            </a:r>
            <a:r>
              <a:rPr sz="3200" b="1" spc="-105" dirty="0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sz="3200" b="1" dirty="0">
                <a:solidFill>
                  <a:srgbClr val="FFFFFF"/>
                </a:solidFill>
                <a:latin typeface="Helvetica"/>
                <a:cs typeface="Helvetica"/>
              </a:rPr>
              <a:t>Modeling</a:t>
            </a:r>
            <a:endParaRPr sz="3200" dirty="0">
              <a:latin typeface="Helvetica"/>
              <a:cs typeface="Helvetic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379978" y="3384487"/>
            <a:ext cx="2546350" cy="802640"/>
          </a:xfrm>
          <a:prstGeom prst="rect">
            <a:avLst/>
          </a:prstGeom>
        </p:spPr>
        <p:txBody>
          <a:bodyPr vert="horz" wrap="square" lIns="0" tIns="36194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284"/>
              </a:spcBef>
            </a:pPr>
            <a:r>
              <a:rPr lang="en-US" sz="1400" b="1" spc="-5" dirty="0">
                <a:latin typeface="Helvetica"/>
                <a:cs typeface="Helvetica"/>
              </a:rPr>
              <a:t> </a:t>
            </a:r>
            <a:endParaRPr sz="1400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3200" b="1" dirty="0">
                <a:solidFill>
                  <a:srgbClr val="FFFFFF"/>
                </a:solidFill>
                <a:latin typeface="Helvetica"/>
                <a:cs typeface="Helvetica"/>
              </a:rPr>
              <a:t>Comb.</a:t>
            </a:r>
            <a:r>
              <a:rPr sz="3200" b="1" spc="-175" dirty="0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sz="3200" b="1" spc="-60" dirty="0">
                <a:solidFill>
                  <a:srgbClr val="FFFFFF"/>
                </a:solidFill>
                <a:latin typeface="Helvetica"/>
                <a:cs typeface="Helvetica"/>
              </a:rPr>
              <a:t>ATPG</a:t>
            </a:r>
            <a:endParaRPr sz="3200" dirty="0">
              <a:latin typeface="Helvetica"/>
              <a:cs typeface="Helvetic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583051" y="4712690"/>
            <a:ext cx="2343785" cy="79502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265"/>
              </a:spcBef>
            </a:pPr>
            <a:r>
              <a:rPr lang="en-US" sz="1400" b="1" spc="-5" dirty="0">
                <a:latin typeface="Helvetica"/>
                <a:cs typeface="Helvetica"/>
              </a:rPr>
              <a:t> </a:t>
            </a:r>
            <a:endParaRPr sz="1400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3200" b="1" spc="-5" dirty="0">
                <a:solidFill>
                  <a:srgbClr val="FFFFFF"/>
                </a:solidFill>
                <a:latin typeface="Helvetica"/>
                <a:cs typeface="Helvetica"/>
              </a:rPr>
              <a:t>Seq.</a:t>
            </a:r>
            <a:r>
              <a:rPr sz="3200" b="1" spc="-150" dirty="0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sz="3200" b="1" spc="-60" dirty="0">
                <a:solidFill>
                  <a:srgbClr val="FFFFFF"/>
                </a:solidFill>
                <a:latin typeface="Helvetica"/>
                <a:cs typeface="Helvetica"/>
              </a:rPr>
              <a:t>ATPG</a:t>
            </a:r>
            <a:endParaRPr sz="3200" dirty="0">
              <a:latin typeface="Helvetica"/>
              <a:cs typeface="Helvetic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516626" y="6020815"/>
            <a:ext cx="410209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" dirty="0">
                <a:latin typeface="Helvetica"/>
                <a:cs typeface="Helvetica"/>
              </a:rPr>
              <a:t> </a:t>
            </a:r>
            <a:endParaRPr sz="1400" dirty="0">
              <a:latin typeface="Helvetica"/>
              <a:cs typeface="Helvetic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680454" y="2071745"/>
            <a:ext cx="2004695" cy="78105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R="167640" algn="r">
              <a:lnSpc>
                <a:spcPct val="100000"/>
              </a:lnSpc>
              <a:spcBef>
                <a:spcPts val="229"/>
              </a:spcBef>
            </a:pPr>
            <a:r>
              <a:rPr lang="en-US" sz="1400" b="1" spc="-5" dirty="0">
                <a:latin typeface="Helvetica"/>
                <a:cs typeface="Helvetica"/>
              </a:rPr>
              <a:t> </a:t>
            </a:r>
            <a:endParaRPr sz="1400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3200" b="1" spc="-240" dirty="0">
                <a:solidFill>
                  <a:srgbClr val="FFFFFF"/>
                </a:solidFill>
                <a:latin typeface="Helvetica"/>
                <a:cs typeface="Helvetica"/>
              </a:rPr>
              <a:t>T</a:t>
            </a:r>
            <a:r>
              <a:rPr sz="3200" b="1" dirty="0">
                <a:solidFill>
                  <a:srgbClr val="FFFFFF"/>
                </a:solidFill>
                <a:latin typeface="Helvetica"/>
                <a:cs typeface="Helvetica"/>
              </a:rPr>
              <a:t>e</a:t>
            </a:r>
            <a:r>
              <a:rPr sz="3200" b="1" spc="-10" dirty="0">
                <a:solidFill>
                  <a:srgbClr val="FFFFFF"/>
                </a:solidFill>
                <a:latin typeface="Helvetica"/>
                <a:cs typeface="Helvetica"/>
              </a:rPr>
              <a:t>s</a:t>
            </a:r>
            <a:r>
              <a:rPr sz="3200" b="1" dirty="0">
                <a:solidFill>
                  <a:srgbClr val="FFFFFF"/>
                </a:solidFill>
                <a:latin typeface="Helvetica"/>
                <a:cs typeface="Helvetica"/>
              </a:rPr>
              <a:t>tabi</a:t>
            </a:r>
            <a:r>
              <a:rPr sz="3200" b="1" spc="-15" dirty="0">
                <a:solidFill>
                  <a:srgbClr val="FFFFFF"/>
                </a:solidFill>
                <a:latin typeface="Helvetica"/>
                <a:cs typeface="Helvetica"/>
              </a:rPr>
              <a:t>l</a:t>
            </a:r>
            <a:r>
              <a:rPr sz="3200" b="1" dirty="0">
                <a:solidFill>
                  <a:srgbClr val="FFFFFF"/>
                </a:solidFill>
                <a:latin typeface="Helvetica"/>
                <a:cs typeface="Helvetica"/>
              </a:rPr>
              <a:t>ity</a:t>
            </a:r>
            <a:endParaRPr sz="3200" dirty="0">
              <a:latin typeface="Helvetica"/>
              <a:cs typeface="Helvetic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32587" y="4720125"/>
            <a:ext cx="1971675" cy="788035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84605">
              <a:lnSpc>
                <a:spcPct val="100000"/>
              </a:lnSpc>
              <a:spcBef>
                <a:spcPts val="245"/>
              </a:spcBef>
            </a:pPr>
            <a:r>
              <a:rPr lang="en-US" sz="1400" b="1" spc="-5" dirty="0">
                <a:latin typeface="Helvetica"/>
                <a:cs typeface="Helvetica"/>
              </a:rPr>
              <a:t> </a:t>
            </a:r>
            <a:endParaRPr sz="1400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3200" b="1" dirty="0">
                <a:solidFill>
                  <a:srgbClr val="FFFFFF"/>
                </a:solidFill>
                <a:latin typeface="Helvetica"/>
                <a:cs typeface="Helvetica"/>
              </a:rPr>
              <a:t>Diagnosis</a:t>
            </a:r>
            <a:endParaRPr sz="3200" dirty="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4927" y="6371031"/>
            <a:ext cx="252273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spc="-5" dirty="0">
                <a:latin typeface="Arial"/>
                <a:cs typeface="Arial"/>
              </a:rPr>
              <a:t>5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61187" y="164414"/>
            <a:ext cx="74923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50665" algn="l"/>
              </a:tabLst>
            </a:pPr>
            <a:r>
              <a:rPr dirty="0"/>
              <a:t>Course</a:t>
            </a:r>
            <a:r>
              <a:rPr spc="10" dirty="0"/>
              <a:t> </a:t>
            </a:r>
            <a:r>
              <a:rPr spc="-5" dirty="0"/>
              <a:t>Roadmap	</a:t>
            </a:r>
            <a:r>
              <a:rPr dirty="0"/>
              <a:t>(Design</a:t>
            </a:r>
            <a:r>
              <a:rPr spc="-70" dirty="0"/>
              <a:t> </a:t>
            </a:r>
            <a:r>
              <a:rPr spc="-5" dirty="0"/>
              <a:t>Topics)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A91F776-1E9E-B480-51A3-005699C4A0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9773"/>
            <a:ext cx="9144000" cy="41984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4927" y="6371031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spc="-5" dirty="0">
                <a:latin typeface="Arial"/>
                <a:cs typeface="Arial"/>
              </a:rPr>
              <a:t>6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19936" y="164414"/>
            <a:ext cx="68853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Test </a:t>
            </a:r>
            <a:r>
              <a:rPr spc="-10" dirty="0"/>
              <a:t>in </a:t>
            </a:r>
            <a:r>
              <a:rPr spc="-5" dirty="0"/>
              <a:t>Semiconductor</a:t>
            </a:r>
            <a:r>
              <a:rPr spc="-15" dirty="0"/>
              <a:t> </a:t>
            </a:r>
            <a:r>
              <a:rPr dirty="0"/>
              <a:t>Pyramid</a:t>
            </a:r>
          </a:p>
        </p:txBody>
      </p:sp>
      <p:sp>
        <p:nvSpPr>
          <p:cNvPr id="5" name="object 5"/>
          <p:cNvSpPr/>
          <p:nvPr/>
        </p:nvSpPr>
        <p:spPr>
          <a:xfrm>
            <a:off x="3562350" y="1413510"/>
            <a:ext cx="2021205" cy="1647825"/>
          </a:xfrm>
          <a:custGeom>
            <a:avLst/>
            <a:gdLst/>
            <a:ahLst/>
            <a:cxnLst/>
            <a:rect l="l" t="t" r="r" b="b"/>
            <a:pathLst>
              <a:path w="2021204" h="1647825">
                <a:moveTo>
                  <a:pt x="1010412" y="0"/>
                </a:moveTo>
                <a:lnTo>
                  <a:pt x="0" y="1647443"/>
                </a:lnTo>
                <a:lnTo>
                  <a:pt x="2020824" y="1647443"/>
                </a:lnTo>
                <a:lnTo>
                  <a:pt x="101041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62350" y="1413510"/>
            <a:ext cx="2021205" cy="1647825"/>
          </a:xfrm>
          <a:custGeom>
            <a:avLst/>
            <a:gdLst/>
            <a:ahLst/>
            <a:cxnLst/>
            <a:rect l="l" t="t" r="r" b="b"/>
            <a:pathLst>
              <a:path w="2021204" h="1647825">
                <a:moveTo>
                  <a:pt x="0" y="1647443"/>
                </a:moveTo>
                <a:lnTo>
                  <a:pt x="1010412" y="0"/>
                </a:lnTo>
                <a:lnTo>
                  <a:pt x="2020824" y="1647443"/>
                </a:lnTo>
                <a:lnTo>
                  <a:pt x="0" y="1647443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814698" y="1395407"/>
            <a:ext cx="1515110" cy="1423035"/>
          </a:xfrm>
          <a:prstGeom prst="rect">
            <a:avLst/>
          </a:prstGeom>
        </p:spPr>
        <p:txBody>
          <a:bodyPr vert="horz" wrap="square" lIns="0" tIns="207010" rIns="0" bIns="0" rtlCol="0">
            <a:spAutoFit/>
          </a:bodyPr>
          <a:lstStyle/>
          <a:p>
            <a:pPr marL="382905">
              <a:lnSpc>
                <a:spcPct val="100000"/>
              </a:lnSpc>
              <a:spcBef>
                <a:spcPts val="1630"/>
              </a:spcBef>
            </a:pPr>
            <a:r>
              <a:rPr sz="2800" b="1" spc="-5" dirty="0">
                <a:latin typeface="Arial"/>
                <a:cs typeface="Arial"/>
              </a:rPr>
              <a:t>EDA</a:t>
            </a:r>
            <a:endParaRPr sz="2800" dirty="0">
              <a:latin typeface="Arial"/>
              <a:cs typeface="Arial"/>
            </a:endParaRPr>
          </a:p>
          <a:p>
            <a:pPr marL="41275" marR="5080" indent="-29209" algn="ctr">
              <a:lnSpc>
                <a:spcPct val="86300"/>
              </a:lnSpc>
              <a:spcBef>
                <a:spcPts val="1140"/>
              </a:spcBef>
            </a:pPr>
            <a:r>
              <a:rPr sz="1600" b="1" spc="-5" dirty="0">
                <a:solidFill>
                  <a:srgbClr val="006FC0"/>
                </a:solidFill>
                <a:latin typeface="Arial"/>
                <a:cs typeface="Arial"/>
              </a:rPr>
              <a:t>Logic Sim. Fault Sim. </a:t>
            </a:r>
            <a:r>
              <a:rPr lang="en-US" sz="1600" b="1" spc="-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006FC0"/>
                </a:solidFill>
                <a:latin typeface="Arial"/>
                <a:cs typeface="Arial"/>
              </a:rPr>
              <a:t>ATPG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28138" y="3060954"/>
            <a:ext cx="3889375" cy="1468120"/>
          </a:xfrm>
          <a:custGeom>
            <a:avLst/>
            <a:gdLst/>
            <a:ahLst/>
            <a:cxnLst/>
            <a:rect l="l" t="t" r="r" b="b"/>
            <a:pathLst>
              <a:path w="3889375" h="1468120">
                <a:moveTo>
                  <a:pt x="2960624" y="0"/>
                </a:moveTo>
                <a:lnTo>
                  <a:pt x="928624" y="0"/>
                </a:lnTo>
                <a:lnTo>
                  <a:pt x="0" y="1467612"/>
                </a:lnTo>
                <a:lnTo>
                  <a:pt x="3889247" y="1467612"/>
                </a:lnTo>
                <a:lnTo>
                  <a:pt x="2960624" y="0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28138" y="3060954"/>
            <a:ext cx="3889375" cy="1468120"/>
          </a:xfrm>
          <a:custGeom>
            <a:avLst/>
            <a:gdLst/>
            <a:ahLst/>
            <a:cxnLst/>
            <a:rect l="l" t="t" r="r" b="b"/>
            <a:pathLst>
              <a:path w="3889375" h="1468120">
                <a:moveTo>
                  <a:pt x="0" y="1467612"/>
                </a:moveTo>
                <a:lnTo>
                  <a:pt x="928624" y="0"/>
                </a:lnTo>
                <a:lnTo>
                  <a:pt x="2960624" y="0"/>
                </a:lnTo>
                <a:lnTo>
                  <a:pt x="3889247" y="1467612"/>
                </a:lnTo>
                <a:lnTo>
                  <a:pt x="0" y="1467612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968241" y="3042919"/>
            <a:ext cx="12109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Arial"/>
                <a:cs typeface="Arial"/>
              </a:rPr>
              <a:t>Des</a:t>
            </a:r>
            <a:r>
              <a:rPr sz="2800" b="1" dirty="0">
                <a:latin typeface="Arial"/>
                <a:cs typeface="Arial"/>
              </a:rPr>
              <a:t>i</a:t>
            </a:r>
            <a:r>
              <a:rPr sz="2800" b="1" spc="-5" dirty="0">
                <a:latin typeface="Arial"/>
                <a:cs typeface="Arial"/>
              </a:rPr>
              <a:t>gn</a:t>
            </a:r>
            <a:endParaRPr sz="2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465325" y="4528565"/>
            <a:ext cx="6215380" cy="1797050"/>
          </a:xfrm>
          <a:custGeom>
            <a:avLst/>
            <a:gdLst/>
            <a:ahLst/>
            <a:cxnLst/>
            <a:rect l="l" t="t" r="r" b="b"/>
            <a:pathLst>
              <a:path w="6215380" h="1797050">
                <a:moveTo>
                  <a:pt x="5077968" y="0"/>
                </a:moveTo>
                <a:lnTo>
                  <a:pt x="1136904" y="0"/>
                </a:lnTo>
                <a:lnTo>
                  <a:pt x="0" y="1796795"/>
                </a:lnTo>
                <a:lnTo>
                  <a:pt x="6214872" y="1796795"/>
                </a:lnTo>
                <a:lnTo>
                  <a:pt x="5077968" y="0"/>
                </a:lnTo>
                <a:close/>
              </a:path>
            </a:pathLst>
          </a:custGeom>
          <a:solidFill>
            <a:srgbClr val="E7E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65325" y="4528565"/>
            <a:ext cx="6215380" cy="1797050"/>
          </a:xfrm>
          <a:custGeom>
            <a:avLst/>
            <a:gdLst/>
            <a:ahLst/>
            <a:cxnLst/>
            <a:rect l="l" t="t" r="r" b="b"/>
            <a:pathLst>
              <a:path w="6215380" h="1797050">
                <a:moveTo>
                  <a:pt x="0" y="1796795"/>
                </a:moveTo>
                <a:lnTo>
                  <a:pt x="1136904" y="0"/>
                </a:lnTo>
                <a:lnTo>
                  <a:pt x="5077968" y="0"/>
                </a:lnTo>
                <a:lnTo>
                  <a:pt x="6214872" y="1796795"/>
                </a:lnTo>
                <a:lnTo>
                  <a:pt x="0" y="1796795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503167" y="3580587"/>
            <a:ext cx="2138045" cy="223843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" algn="ctr">
              <a:lnSpc>
                <a:spcPts val="1789"/>
              </a:lnSpc>
              <a:spcBef>
                <a:spcPts val="95"/>
              </a:spcBef>
              <a:tabLst>
                <a:tab pos="565150" algn="l"/>
              </a:tabLst>
            </a:pPr>
            <a:r>
              <a:rPr sz="1600" b="1" spc="-5" dirty="0">
                <a:solidFill>
                  <a:srgbClr val="006FC0"/>
                </a:solidFill>
                <a:latin typeface="Arial"/>
                <a:cs typeface="Arial"/>
              </a:rPr>
              <a:t>DFT	</a:t>
            </a:r>
            <a:endParaRPr sz="1600" dirty="0">
              <a:latin typeface="Arial"/>
              <a:cs typeface="Arial"/>
            </a:endParaRPr>
          </a:p>
          <a:p>
            <a:pPr marL="36830" marR="27305" algn="ctr">
              <a:lnSpc>
                <a:spcPts val="1660"/>
              </a:lnSpc>
              <a:spcBef>
                <a:spcPts val="145"/>
              </a:spcBef>
            </a:pPr>
            <a:r>
              <a:rPr sz="1600" b="1" spc="-5" dirty="0">
                <a:solidFill>
                  <a:srgbClr val="006FC0"/>
                </a:solidFill>
                <a:latin typeface="Arial"/>
                <a:cs typeface="Arial"/>
              </a:rPr>
              <a:t>Boundary Scan </a:t>
            </a:r>
            <a:r>
              <a:rPr lang="en-US" sz="1600" b="1" spc="-5" dirty="0">
                <a:solidFill>
                  <a:srgbClr val="006FC0"/>
                </a:solidFill>
                <a:latin typeface="Arial"/>
                <a:cs typeface="Arial"/>
              </a:rPr>
              <a:t>   </a:t>
            </a:r>
            <a:r>
              <a:rPr sz="1600" b="1" spc="-5" dirty="0">
                <a:solidFill>
                  <a:srgbClr val="006FC0"/>
                </a:solidFill>
                <a:latin typeface="Arial"/>
                <a:cs typeface="Arial"/>
              </a:rPr>
              <a:t>BIST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0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800" b="1" spc="-5" dirty="0">
                <a:latin typeface="Arial"/>
                <a:cs typeface="Arial"/>
              </a:rPr>
              <a:t>Manufacture</a:t>
            </a:r>
            <a:endParaRPr sz="2800" dirty="0">
              <a:latin typeface="Arial"/>
              <a:cs typeface="Arial"/>
            </a:endParaRPr>
          </a:p>
          <a:p>
            <a:pPr marL="71755" marR="64135" algn="ctr">
              <a:lnSpc>
                <a:spcPts val="1660"/>
              </a:lnSpc>
              <a:spcBef>
                <a:spcPts val="1150"/>
              </a:spcBef>
            </a:pPr>
            <a:r>
              <a:rPr sz="1600" b="1" spc="-5" dirty="0">
                <a:solidFill>
                  <a:srgbClr val="006FC0"/>
                </a:solidFill>
                <a:latin typeface="Arial"/>
                <a:cs typeface="Arial"/>
              </a:rPr>
              <a:t>Production </a:t>
            </a:r>
            <a:r>
              <a:rPr sz="1600" b="1" spc="-35" dirty="0">
                <a:solidFill>
                  <a:srgbClr val="006FC0"/>
                </a:solidFill>
                <a:latin typeface="Arial"/>
                <a:cs typeface="Arial"/>
              </a:rPr>
              <a:t>Test </a:t>
            </a:r>
            <a:r>
              <a:rPr sz="1600" b="1" spc="-5" dirty="0">
                <a:solidFill>
                  <a:srgbClr val="006FC0"/>
                </a:solidFill>
                <a:latin typeface="Arial"/>
                <a:cs typeface="Arial"/>
              </a:rPr>
              <a:t>Diagnosis </a:t>
            </a:r>
            <a:r>
              <a:rPr lang="en-US" sz="1600" b="1" spc="-5" dirty="0">
                <a:solidFill>
                  <a:srgbClr val="006FC0"/>
                </a:solidFill>
                <a:latin typeface="Arial"/>
                <a:cs typeface="Arial"/>
              </a:rPr>
              <a:t>     </a:t>
            </a:r>
            <a:r>
              <a:rPr sz="1600" b="1" spc="-5" dirty="0">
                <a:solidFill>
                  <a:srgbClr val="006FC0"/>
                </a:solidFill>
                <a:latin typeface="Arial"/>
                <a:cs typeface="Arial"/>
              </a:rPr>
              <a:t>Memory </a:t>
            </a:r>
            <a:r>
              <a:rPr sz="1600" b="1" spc="-35" dirty="0">
                <a:solidFill>
                  <a:srgbClr val="006FC0"/>
                </a:solidFill>
                <a:latin typeface="Arial"/>
                <a:cs typeface="Arial"/>
              </a:rPr>
              <a:t>Test</a:t>
            </a:r>
            <a:r>
              <a:rPr sz="1600" b="1" spc="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endParaRPr sz="1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4927" y="6371031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7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26867" y="164414"/>
            <a:ext cx="37604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Reference</a:t>
            </a:r>
            <a:r>
              <a:rPr spc="-105" dirty="0"/>
              <a:t> </a:t>
            </a:r>
            <a:r>
              <a:rPr dirty="0"/>
              <a:t>Books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0225" y="962659"/>
            <a:ext cx="8089265" cy="2385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448945" indent="-342900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SzPct val="119444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800" b="1" dirty="0">
                <a:latin typeface="Arial"/>
                <a:cs typeface="Arial"/>
              </a:rPr>
              <a:t>(WWW) L.T. Wang, </a:t>
            </a:r>
            <a:r>
              <a:rPr sz="1800" b="1" spc="-5" dirty="0">
                <a:latin typeface="Arial"/>
                <a:cs typeface="Arial"/>
              </a:rPr>
              <a:t>C.W. </a:t>
            </a:r>
            <a:r>
              <a:rPr sz="1800" b="1" dirty="0">
                <a:latin typeface="Arial"/>
                <a:cs typeface="Arial"/>
              </a:rPr>
              <a:t>Wu, </a:t>
            </a:r>
            <a:r>
              <a:rPr sz="1800" b="1" spc="-5" dirty="0">
                <a:latin typeface="Arial"/>
                <a:cs typeface="Arial"/>
              </a:rPr>
              <a:t>and </a:t>
            </a:r>
            <a:r>
              <a:rPr sz="1800" b="1" dirty="0">
                <a:latin typeface="Arial"/>
                <a:cs typeface="Arial"/>
              </a:rPr>
              <a:t>X. Wen, </a:t>
            </a:r>
            <a:r>
              <a:rPr sz="1800" b="1" spc="5" dirty="0">
                <a:latin typeface="Arial"/>
                <a:cs typeface="Arial"/>
              </a:rPr>
              <a:t>“</a:t>
            </a:r>
            <a:r>
              <a:rPr sz="1800" b="1" i="1" spc="5" dirty="0">
                <a:latin typeface="Arial-BoldItalicMT"/>
                <a:cs typeface="Arial-BoldItalicMT"/>
              </a:rPr>
              <a:t>VLSI </a:t>
            </a:r>
            <a:r>
              <a:rPr sz="1800" b="1" i="1" spc="-5" dirty="0">
                <a:latin typeface="Arial-BoldItalicMT"/>
                <a:cs typeface="Arial-BoldItalicMT"/>
              </a:rPr>
              <a:t>Test </a:t>
            </a:r>
            <a:r>
              <a:rPr sz="1800" b="1" i="1" dirty="0">
                <a:latin typeface="Arial-BoldItalicMT"/>
                <a:cs typeface="Arial-BoldItalicMT"/>
              </a:rPr>
              <a:t>Principles</a:t>
            </a:r>
            <a:r>
              <a:rPr sz="1800" b="1" i="1" spc="-110" dirty="0">
                <a:latin typeface="Arial-BoldItalicMT"/>
                <a:cs typeface="Arial-BoldItalicMT"/>
              </a:rPr>
              <a:t> </a:t>
            </a:r>
            <a:r>
              <a:rPr sz="1800" b="1" i="1" dirty="0">
                <a:latin typeface="Arial-BoldItalicMT"/>
                <a:cs typeface="Arial-BoldItalicMT"/>
              </a:rPr>
              <a:t>and  </a:t>
            </a:r>
            <a:r>
              <a:rPr sz="1800" b="1" i="1" spc="-5" dirty="0">
                <a:latin typeface="Arial-BoldItalicMT"/>
                <a:cs typeface="Arial-BoldItalicMT"/>
              </a:rPr>
              <a:t>Architectures</a:t>
            </a:r>
            <a:r>
              <a:rPr sz="1800" b="1" spc="-5" dirty="0">
                <a:latin typeface="Arial"/>
                <a:cs typeface="Arial"/>
              </a:rPr>
              <a:t>”, Morgan Kaufmann,</a:t>
            </a:r>
            <a:r>
              <a:rPr sz="1800" b="1" spc="3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2006.</a:t>
            </a:r>
            <a:endParaRPr sz="1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30"/>
              </a:spcBef>
              <a:buClr>
                <a:srgbClr val="FF0000"/>
              </a:buClr>
              <a:buSzPct val="119444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800" b="1" spc="-15" dirty="0">
                <a:latin typeface="Arial"/>
                <a:cs typeface="Arial"/>
              </a:rPr>
              <a:t>(BA) </a:t>
            </a:r>
            <a:r>
              <a:rPr sz="1800" b="1" dirty="0">
                <a:latin typeface="Arial"/>
                <a:cs typeface="Arial"/>
              </a:rPr>
              <a:t>M.L. </a:t>
            </a:r>
            <a:r>
              <a:rPr sz="1800" b="1" spc="-5" dirty="0">
                <a:latin typeface="Arial"/>
                <a:cs typeface="Arial"/>
              </a:rPr>
              <a:t>Bushnell </a:t>
            </a:r>
            <a:r>
              <a:rPr sz="1800" b="1" dirty="0">
                <a:latin typeface="Arial"/>
                <a:cs typeface="Arial"/>
              </a:rPr>
              <a:t>and </a:t>
            </a:r>
            <a:r>
              <a:rPr sz="1800" b="1" spc="-5" dirty="0">
                <a:latin typeface="Arial"/>
                <a:cs typeface="Arial"/>
              </a:rPr>
              <a:t>V.D. Agrawal,</a:t>
            </a:r>
            <a:r>
              <a:rPr sz="1800" b="1" i="1" spc="-5" dirty="0">
                <a:latin typeface="Arial-BoldItalicMT"/>
                <a:cs typeface="Arial-BoldItalicMT"/>
              </a:rPr>
              <a:t>“Essentials </a:t>
            </a:r>
            <a:r>
              <a:rPr sz="1800" b="1" i="1" dirty="0">
                <a:latin typeface="Arial-BoldItalicMT"/>
                <a:cs typeface="Arial-BoldItalicMT"/>
              </a:rPr>
              <a:t>of </a:t>
            </a:r>
            <a:r>
              <a:rPr sz="1800" b="1" i="1" spc="-5" dirty="0">
                <a:latin typeface="Arial-BoldItalicMT"/>
                <a:cs typeface="Arial-BoldItalicMT"/>
              </a:rPr>
              <a:t>electronic</a:t>
            </a:r>
            <a:r>
              <a:rPr sz="1800" b="1" i="1" spc="95" dirty="0">
                <a:latin typeface="Arial-BoldItalicMT"/>
                <a:cs typeface="Arial-BoldItalicMT"/>
              </a:rPr>
              <a:t> </a:t>
            </a:r>
            <a:r>
              <a:rPr sz="1800" b="1" i="1" dirty="0">
                <a:latin typeface="Arial-BoldItalicMT"/>
                <a:cs typeface="Arial-BoldItalicMT"/>
              </a:rPr>
              <a:t>testing,”</a:t>
            </a:r>
            <a:endParaRPr sz="1800" dirty="0">
              <a:latin typeface="Arial-BoldItalicMT"/>
              <a:cs typeface="Arial-BoldItalicMT"/>
            </a:endParaRPr>
          </a:p>
          <a:p>
            <a:pPr marL="3556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Kluwer </a:t>
            </a:r>
            <a:r>
              <a:rPr sz="1800" b="1" spc="-10" dirty="0">
                <a:latin typeface="Arial"/>
                <a:cs typeface="Arial"/>
              </a:rPr>
              <a:t>Academic </a:t>
            </a:r>
            <a:r>
              <a:rPr sz="1800" b="1" spc="-5" dirty="0">
                <a:latin typeface="Arial"/>
                <a:cs typeface="Arial"/>
              </a:rPr>
              <a:t>Publishers,</a:t>
            </a:r>
            <a:r>
              <a:rPr sz="1800" b="1" spc="2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2000.</a:t>
            </a:r>
            <a:endParaRPr sz="1800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434"/>
              </a:spcBef>
              <a:buClr>
                <a:srgbClr val="FF0000"/>
              </a:buClr>
              <a:buSzPct val="119444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800" b="1" spc="-15" dirty="0">
                <a:latin typeface="Arial"/>
                <a:cs typeface="Arial"/>
              </a:rPr>
              <a:t>(ABF) </a:t>
            </a:r>
            <a:r>
              <a:rPr sz="1800" b="1" dirty="0">
                <a:latin typeface="Arial"/>
                <a:cs typeface="Arial"/>
              </a:rPr>
              <a:t>M. </a:t>
            </a:r>
            <a:r>
              <a:rPr sz="1800" b="1" spc="-10" dirty="0">
                <a:latin typeface="Arial"/>
                <a:cs typeface="Arial"/>
              </a:rPr>
              <a:t>Abramovici, </a:t>
            </a:r>
            <a:r>
              <a:rPr sz="1800" b="1" dirty="0">
                <a:latin typeface="Arial"/>
                <a:cs typeface="Arial"/>
              </a:rPr>
              <a:t>M. </a:t>
            </a:r>
            <a:r>
              <a:rPr sz="1800" b="1" spc="-30" dirty="0">
                <a:latin typeface="Arial"/>
                <a:cs typeface="Arial"/>
              </a:rPr>
              <a:t>A. </a:t>
            </a:r>
            <a:r>
              <a:rPr sz="1800" b="1" spc="-10" dirty="0">
                <a:latin typeface="Arial"/>
                <a:cs typeface="Arial"/>
              </a:rPr>
              <a:t>Breuer </a:t>
            </a:r>
            <a:r>
              <a:rPr sz="1800" b="1" spc="-5" dirty="0">
                <a:latin typeface="Arial"/>
                <a:cs typeface="Arial"/>
              </a:rPr>
              <a:t>and </a:t>
            </a:r>
            <a:r>
              <a:rPr sz="1800" b="1" spc="-15" dirty="0">
                <a:latin typeface="Arial"/>
                <a:cs typeface="Arial"/>
              </a:rPr>
              <a:t>A.D. </a:t>
            </a:r>
            <a:r>
              <a:rPr sz="1800" b="1" spc="-5" dirty="0">
                <a:latin typeface="Arial"/>
                <a:cs typeface="Arial"/>
              </a:rPr>
              <a:t>Friedman, </a:t>
            </a:r>
            <a:r>
              <a:rPr sz="1800" b="1" dirty="0">
                <a:latin typeface="Arial"/>
                <a:cs typeface="Arial"/>
              </a:rPr>
              <a:t>“</a:t>
            </a:r>
            <a:r>
              <a:rPr sz="1800" b="1" i="1" dirty="0">
                <a:latin typeface="Arial-BoldItalicMT"/>
                <a:cs typeface="Arial-BoldItalicMT"/>
              </a:rPr>
              <a:t>Digital </a:t>
            </a:r>
            <a:r>
              <a:rPr sz="1800" b="1" i="1" spc="-5" dirty="0">
                <a:latin typeface="Arial-BoldItalicMT"/>
                <a:cs typeface="Arial-BoldItalicMT"/>
              </a:rPr>
              <a:t>systems  testing and testable </a:t>
            </a:r>
            <a:r>
              <a:rPr sz="1800" b="1" i="1" dirty="0">
                <a:latin typeface="Arial-BoldItalicMT"/>
                <a:cs typeface="Arial-BoldItalicMT"/>
              </a:rPr>
              <a:t>design,</a:t>
            </a:r>
            <a:r>
              <a:rPr sz="1800" b="1" dirty="0">
                <a:latin typeface="Arial"/>
                <a:cs typeface="Arial"/>
              </a:rPr>
              <a:t>” IEEE</a:t>
            </a:r>
            <a:r>
              <a:rPr sz="1800" b="1" spc="-5" dirty="0">
                <a:latin typeface="Arial"/>
                <a:cs typeface="Arial"/>
              </a:rPr>
              <a:t> Press,1994</a:t>
            </a:r>
            <a:endParaRPr sz="1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30"/>
              </a:spcBef>
              <a:buClr>
                <a:srgbClr val="FF0000"/>
              </a:buClr>
              <a:buSzPct val="119444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800" b="1" dirty="0">
                <a:latin typeface="Arial"/>
                <a:cs typeface="Arial"/>
              </a:rPr>
              <a:t>(BMS) P.H. </a:t>
            </a:r>
            <a:r>
              <a:rPr sz="1800" b="1" spc="-5" dirty="0">
                <a:latin typeface="Arial"/>
                <a:cs typeface="Arial"/>
              </a:rPr>
              <a:t>Bardell, </a:t>
            </a:r>
            <a:r>
              <a:rPr sz="1800" b="1" dirty="0">
                <a:latin typeface="Arial"/>
                <a:cs typeface="Arial"/>
              </a:rPr>
              <a:t>W.H. </a:t>
            </a:r>
            <a:r>
              <a:rPr sz="1800" b="1" spc="-10" dirty="0">
                <a:latin typeface="Arial"/>
                <a:cs typeface="Arial"/>
              </a:rPr>
              <a:t>McAnney, </a:t>
            </a:r>
            <a:r>
              <a:rPr sz="1800" b="1" spc="-5" dirty="0">
                <a:latin typeface="Arial"/>
                <a:cs typeface="Arial"/>
              </a:rPr>
              <a:t>J. </a:t>
            </a:r>
            <a:r>
              <a:rPr sz="1800" b="1" spc="-10" dirty="0">
                <a:latin typeface="Arial"/>
                <a:cs typeface="Arial"/>
              </a:rPr>
              <a:t>Savior, </a:t>
            </a:r>
            <a:r>
              <a:rPr sz="1800" b="1" dirty="0">
                <a:latin typeface="Arial"/>
                <a:cs typeface="Arial"/>
              </a:rPr>
              <a:t>“Built-in </a:t>
            </a:r>
            <a:r>
              <a:rPr sz="1800" b="1" spc="-5" dirty="0">
                <a:latin typeface="Arial"/>
                <a:cs typeface="Arial"/>
              </a:rPr>
              <a:t>Test </a:t>
            </a:r>
            <a:r>
              <a:rPr sz="1800" b="1" dirty="0">
                <a:latin typeface="Arial"/>
                <a:cs typeface="Arial"/>
              </a:rPr>
              <a:t>for</a:t>
            </a:r>
            <a:r>
              <a:rPr sz="1800" b="1" spc="7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VLSI:</a:t>
            </a:r>
            <a:endParaRPr sz="1800" dirty="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Pseudorandom Techniques,” </a:t>
            </a:r>
            <a:r>
              <a:rPr sz="1800" b="1" dirty="0">
                <a:latin typeface="Arial"/>
                <a:cs typeface="Arial"/>
              </a:rPr>
              <a:t>Wiely </a:t>
            </a:r>
            <a:r>
              <a:rPr sz="1800" b="1" spc="-5" dirty="0">
                <a:latin typeface="Arial"/>
                <a:cs typeface="Arial"/>
              </a:rPr>
              <a:t>Interscience,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1987,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61844" y="3547871"/>
            <a:ext cx="1997963" cy="26319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22876" y="3547871"/>
            <a:ext cx="1997964" cy="26319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85431" y="3547871"/>
            <a:ext cx="1997964" cy="26319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7763" y="3549396"/>
            <a:ext cx="1999488" cy="263042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07465" y="6141516"/>
            <a:ext cx="8274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Helvetica"/>
                <a:cs typeface="Helvetica"/>
              </a:rPr>
              <a:t>(W</a:t>
            </a:r>
            <a:r>
              <a:rPr sz="1800" b="1" spc="5" dirty="0">
                <a:latin typeface="Helvetica"/>
                <a:cs typeface="Helvetica"/>
              </a:rPr>
              <a:t>W</a:t>
            </a:r>
            <a:r>
              <a:rPr sz="1800" b="1" dirty="0">
                <a:latin typeface="Helvetica"/>
                <a:cs typeface="Helvetica"/>
              </a:rPr>
              <a:t>W)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02000" y="6141516"/>
            <a:ext cx="5010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Helvetica"/>
                <a:cs typeface="Helvetica"/>
              </a:rPr>
              <a:t>(</a:t>
            </a:r>
            <a:r>
              <a:rPr sz="1800" b="1" spc="-10" dirty="0">
                <a:latin typeface="Helvetica"/>
                <a:cs typeface="Helvetica"/>
              </a:rPr>
              <a:t>B</a:t>
            </a:r>
            <a:r>
              <a:rPr sz="1800" b="1" spc="-55" dirty="0">
                <a:latin typeface="Helvetica"/>
                <a:cs typeface="Helvetica"/>
              </a:rPr>
              <a:t>A</a:t>
            </a:r>
            <a:r>
              <a:rPr sz="1800" b="1" dirty="0">
                <a:latin typeface="Helvetica"/>
                <a:cs typeface="Helvetica"/>
              </a:rPr>
              <a:t>)</a:t>
            </a:r>
            <a:endParaRPr sz="18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4927" y="6371031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8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890522" y="164414"/>
            <a:ext cx="52336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Recommended</a:t>
            </a:r>
            <a:r>
              <a:rPr spc="-100" dirty="0"/>
              <a:t> </a:t>
            </a:r>
            <a:r>
              <a:rPr dirty="0"/>
              <a:t>Reading</a:t>
            </a:r>
          </a:p>
        </p:txBody>
      </p:sp>
      <p:sp>
        <p:nvSpPr>
          <p:cNvPr id="7" name="object 7"/>
          <p:cNvSpPr/>
          <p:nvPr/>
        </p:nvSpPr>
        <p:spPr>
          <a:xfrm>
            <a:off x="5143627" y="6351371"/>
            <a:ext cx="1811655" cy="365760"/>
          </a:xfrm>
          <a:custGeom>
            <a:avLst/>
            <a:gdLst/>
            <a:ahLst/>
            <a:cxnLst/>
            <a:rect l="l" t="t" r="r" b="b"/>
            <a:pathLst>
              <a:path w="1811654" h="365759">
                <a:moveTo>
                  <a:pt x="0" y="365759"/>
                </a:moveTo>
                <a:lnTo>
                  <a:pt x="1811274" y="365759"/>
                </a:lnTo>
                <a:lnTo>
                  <a:pt x="1811274" y="0"/>
                </a:lnTo>
                <a:lnTo>
                  <a:pt x="0" y="0"/>
                </a:lnTo>
                <a:lnTo>
                  <a:pt x="0" y="3657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54901" y="6351371"/>
            <a:ext cx="1811655" cy="365760"/>
          </a:xfrm>
          <a:custGeom>
            <a:avLst/>
            <a:gdLst/>
            <a:ahLst/>
            <a:cxnLst/>
            <a:rect l="l" t="t" r="r" b="b"/>
            <a:pathLst>
              <a:path w="1811654" h="365759">
                <a:moveTo>
                  <a:pt x="0" y="365759"/>
                </a:moveTo>
                <a:lnTo>
                  <a:pt x="1811274" y="365759"/>
                </a:lnTo>
                <a:lnTo>
                  <a:pt x="1811274" y="0"/>
                </a:lnTo>
                <a:lnTo>
                  <a:pt x="0" y="0"/>
                </a:lnTo>
                <a:lnTo>
                  <a:pt x="0" y="3657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649760"/>
              </p:ext>
            </p:extLst>
          </p:nvPr>
        </p:nvGraphicFramePr>
        <p:xfrm>
          <a:off x="988061" y="804862"/>
          <a:ext cx="6403339" cy="5532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8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1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1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Topics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0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WWW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BA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41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Introduction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0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1.1,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1.2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1.4, 2.1, 3.2,</a:t>
                      </a:r>
                      <a:r>
                        <a:rPr sz="18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3.3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41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Logic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Simulation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0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3.2,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3.3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5.1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~</a:t>
                      </a:r>
                      <a:r>
                        <a:rPr sz="1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5.4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01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Fault</a:t>
                      </a:r>
                      <a:r>
                        <a:rPr sz="1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Models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0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1.3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04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Fault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Collapsing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0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4.5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Fault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Simulation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0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3.4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5.5,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5.6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15" dirty="0">
                          <a:latin typeface="Arial"/>
                          <a:cs typeface="Arial"/>
                        </a:rPr>
                        <a:t>Testability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Measure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0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2.2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6.1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Comb.</a:t>
                      </a:r>
                      <a:r>
                        <a:rPr sz="1800" b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0" dirty="0">
                          <a:latin typeface="Arial"/>
                          <a:cs typeface="Arial"/>
                        </a:rPr>
                        <a:t>ATPG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0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4.1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~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4.4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7.5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Seq.</a:t>
                      </a:r>
                      <a:r>
                        <a:rPr sz="1800" b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0" dirty="0">
                          <a:latin typeface="Arial"/>
                          <a:cs typeface="Arial"/>
                        </a:rPr>
                        <a:t>ATPG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0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4.5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8.2,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8.3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Delay </a:t>
                      </a:r>
                      <a:r>
                        <a:rPr sz="1800" b="1" spc="-40" dirty="0">
                          <a:latin typeface="Arial"/>
                          <a:cs typeface="Arial"/>
                        </a:rPr>
                        <a:t>Test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0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4.10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Diagnosis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0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7.2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Design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for </a:t>
                      </a:r>
                      <a:r>
                        <a:rPr sz="1800" b="1" spc="-40" dirty="0">
                          <a:latin typeface="Arial"/>
                          <a:cs typeface="Arial"/>
                        </a:rPr>
                        <a:t>Test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(DFT)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0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2.3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~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2.5,</a:t>
                      </a:r>
                      <a:r>
                        <a:rPr sz="18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10.2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14,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16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4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BIST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0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5.3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~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5.5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15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574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spc="-40" dirty="0">
                          <a:latin typeface="Arial"/>
                          <a:cs typeface="Arial"/>
                        </a:rPr>
                        <a:t>Test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 Compression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0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-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Memory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Testing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0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8.2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9.5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~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9.7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969766" y="164414"/>
            <a:ext cx="4040633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Acknowledgements</a:t>
            </a:r>
            <a:endParaRPr spc="-5" dirty="0"/>
          </a:p>
        </p:txBody>
      </p:sp>
      <p:sp>
        <p:nvSpPr>
          <p:cNvPr id="5" name="object 5"/>
          <p:cNvSpPr txBox="1"/>
          <p:nvPr/>
        </p:nvSpPr>
        <p:spPr>
          <a:xfrm>
            <a:off x="230225" y="961136"/>
            <a:ext cx="6780174" cy="12830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000" b="1" dirty="0">
                <a:latin typeface="Arial"/>
                <a:cs typeface="Arial"/>
              </a:rPr>
              <a:t>Sources of course material:</a:t>
            </a:r>
          </a:p>
          <a:p>
            <a:pPr marL="812800" lvl="1" indent="-342900"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000" b="1" dirty="0">
                <a:latin typeface="Arial"/>
                <a:cs typeface="Arial"/>
              </a:rPr>
              <a:t>Emeritus Prof. </a:t>
            </a:r>
            <a:r>
              <a:rPr lang="en-US" sz="2000" b="1" dirty="0" err="1">
                <a:latin typeface="Arial"/>
                <a:cs typeface="Arial"/>
              </a:rPr>
              <a:t>Kewal</a:t>
            </a:r>
            <a:r>
              <a:rPr lang="en-US" sz="2000" b="1" dirty="0">
                <a:latin typeface="Arial"/>
                <a:cs typeface="Arial"/>
              </a:rPr>
              <a:t> </a:t>
            </a:r>
            <a:r>
              <a:rPr lang="en-US" sz="2000" b="1" dirty="0" err="1">
                <a:latin typeface="Arial"/>
                <a:cs typeface="Arial"/>
              </a:rPr>
              <a:t>Saluja</a:t>
            </a:r>
            <a:r>
              <a:rPr lang="en-US" sz="2000" b="1" dirty="0">
                <a:latin typeface="Arial"/>
                <a:cs typeface="Arial"/>
              </a:rPr>
              <a:t> , UW- Madison</a:t>
            </a:r>
          </a:p>
          <a:p>
            <a:pPr marL="812800" lvl="1" indent="-342900"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000" b="1" dirty="0">
                <a:latin typeface="Arial"/>
                <a:cs typeface="Arial"/>
              </a:rPr>
              <a:t>Prof. James </a:t>
            </a:r>
            <a:r>
              <a:rPr lang="en-US" sz="2000" b="1" dirty="0" err="1">
                <a:latin typeface="Arial"/>
                <a:cs typeface="Arial"/>
              </a:rPr>
              <a:t>Chien</a:t>
            </a:r>
            <a:r>
              <a:rPr lang="en-US" sz="2000" b="1" dirty="0">
                <a:latin typeface="Arial"/>
                <a:cs typeface="Arial"/>
              </a:rPr>
              <a:t>-Mo Li , NTU</a:t>
            </a:r>
          </a:p>
          <a:p>
            <a:pPr marL="812800" lvl="1" indent="-342900"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000" b="1" dirty="0">
                <a:latin typeface="Arial"/>
                <a:cs typeface="Arial"/>
              </a:rPr>
              <a:t>Prof.  </a:t>
            </a:r>
            <a:r>
              <a:rPr lang="en-US" sz="2000" b="1" dirty="0" err="1">
                <a:latin typeface="Arial"/>
                <a:cs typeface="Arial"/>
              </a:rPr>
              <a:t>Vishwani</a:t>
            </a:r>
            <a:r>
              <a:rPr lang="en-US" sz="2000" b="1" dirty="0">
                <a:latin typeface="Arial"/>
                <a:cs typeface="Arial"/>
              </a:rPr>
              <a:t> Agrawal , Auburn University</a:t>
            </a:r>
          </a:p>
        </p:txBody>
      </p:sp>
    </p:spTree>
    <p:extLst>
      <p:ext uri="{BB962C8B-B14F-4D97-AF65-F5344CB8AC3E}">
        <p14:creationId xmlns:p14="http://schemas.microsoft.com/office/powerpoint/2010/main" val="498913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</TotalTime>
  <Words>380</Words>
  <Application>Microsoft Macintosh PowerPoint</Application>
  <PresentationFormat>On-screen Show (4:3)</PresentationFormat>
  <Paragraphs>108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Arial-BoldItalicMT</vt:lpstr>
      <vt:lpstr>Calibri</vt:lpstr>
      <vt:lpstr>Helvetica</vt:lpstr>
      <vt:lpstr>HelveticaNeue-BoldItalic</vt:lpstr>
      <vt:lpstr>Office Theme</vt:lpstr>
      <vt:lpstr>ECE 553: TESTING AND TESTABLE DESIGN OF DIGITAL SYSTEMS</vt:lpstr>
      <vt:lpstr>Outline</vt:lpstr>
      <vt:lpstr>Course Objectives</vt:lpstr>
      <vt:lpstr>Course Roadmap (EDA Topics)</vt:lpstr>
      <vt:lpstr>Course Roadmap (Design Topics)</vt:lpstr>
      <vt:lpstr>Test in Semiconductor Pyramid</vt:lpstr>
      <vt:lpstr>Reference Books</vt:lpstr>
      <vt:lpstr>Recommended Reading</vt:lpstr>
      <vt:lpstr>Acknowledgements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user</dc:creator>
  <cp:lastModifiedBy>Azadeh Davoodi</cp:lastModifiedBy>
  <cp:revision>40</cp:revision>
  <cp:lastPrinted>2026-09-02T13:39:13Z</cp:lastPrinted>
  <dcterms:created xsi:type="dcterms:W3CDTF">2022-08-16T15:10:06Z</dcterms:created>
  <dcterms:modified xsi:type="dcterms:W3CDTF">2026-09-02T13:39:32Z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2021-02-18T00:00:00Z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2022-08-16T00:00:00Z</vt:filetime>
  </property>
</Properties>
</file>