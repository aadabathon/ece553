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73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95" r:id="rId10"/>
    <p:sldId id="265" r:id="rId11"/>
    <p:sldId id="266" r:id="rId12"/>
    <p:sldId id="267" r:id="rId13"/>
    <p:sldId id="268" r:id="rId14"/>
    <p:sldId id="271" r:id="rId15"/>
    <p:sldId id="296" r:id="rId1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25"/>
    <p:restoredTop sz="96192"/>
  </p:normalViewPr>
  <p:slideViewPr>
    <p:cSldViewPr>
      <p:cViewPr varScale="1">
        <p:scale>
          <a:sx n="114" d="100"/>
          <a:sy n="114" d="100"/>
        </p:scale>
        <p:origin x="2112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22A7E-68B0-DA4F-A0FB-CD0E6FAA377D}" type="datetimeFigureOut">
              <a:rPr lang="en-US" smtClean="0"/>
              <a:t>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2C181-22D4-CB4C-8EA0-15459A144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60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equivalence in general case when there are branches (bottom-right image)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2C181-22D4-CB4C-8EA0-15459A1449C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05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Study on your 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2C181-22D4-CB4C-8EA0-15459A1449C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31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4.1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4.1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4.1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4.1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4.1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8258" y="164414"/>
            <a:ext cx="7847482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225" y="1265936"/>
            <a:ext cx="4137025" cy="2099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86703" y="6590505"/>
            <a:ext cx="3132454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4.1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423" y="6447452"/>
            <a:ext cx="245745" cy="36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1538681"/>
            <a:ext cx="6491350" cy="1667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algn="ctr">
              <a:lnSpc>
                <a:spcPts val="4305"/>
              </a:lnSpc>
              <a:spcBef>
                <a:spcPts val="100"/>
              </a:spcBef>
            </a:pPr>
            <a:r>
              <a:rPr lang="en-US" altLang="en-US" sz="3600" i="0" dirty="0">
                <a:solidFill>
                  <a:srgbClr val="00B050"/>
                </a:solidFill>
                <a:latin typeface="Arial"/>
                <a:cs typeface="Arial"/>
              </a:rPr>
              <a:t>ECE 553: TESTING AND TESTABLE DESIGN OF DIGITAL SYSTEMS</a:t>
            </a:r>
            <a:endParaRPr sz="3600" i="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04849" y="3419602"/>
            <a:ext cx="67343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149225" algn="ctr">
              <a:lnSpc>
                <a:spcPct val="100000"/>
              </a:lnSpc>
              <a:spcBef>
                <a:spcPts val="100"/>
              </a:spcBef>
            </a:pPr>
            <a:r>
              <a:rPr lang="en-US" sz="3600" i="1" spc="-5" dirty="0">
                <a:solidFill>
                  <a:srgbClr val="FF0000"/>
                </a:solidFill>
              </a:rPr>
              <a:t>Fault Collapsing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823" y="6418579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40079" y="164414"/>
            <a:ext cx="69348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0665" algn="l"/>
              </a:tabLst>
            </a:pPr>
            <a:r>
              <a:rPr dirty="0"/>
              <a:t>Course</a:t>
            </a:r>
            <a:r>
              <a:rPr spc="10" dirty="0"/>
              <a:t> </a:t>
            </a:r>
            <a:r>
              <a:rPr spc="-5" dirty="0"/>
              <a:t>Roadmap	</a:t>
            </a:r>
            <a:r>
              <a:rPr dirty="0"/>
              <a:t>(EDA</a:t>
            </a:r>
            <a:r>
              <a:rPr spc="-60" dirty="0"/>
              <a:t> </a:t>
            </a:r>
            <a:r>
              <a:rPr spc="-5" dirty="0"/>
              <a:t>Topics)</a:t>
            </a:r>
          </a:p>
        </p:txBody>
      </p:sp>
      <p:sp>
        <p:nvSpPr>
          <p:cNvPr id="5" name="object 5"/>
          <p:cNvSpPr/>
          <p:nvPr/>
        </p:nvSpPr>
        <p:spPr>
          <a:xfrm>
            <a:off x="2921507" y="867155"/>
            <a:ext cx="3403600" cy="919480"/>
          </a:xfrm>
          <a:custGeom>
            <a:avLst/>
            <a:gdLst/>
            <a:ahLst/>
            <a:cxnLst/>
            <a:rect l="l" t="t" r="r" b="b"/>
            <a:pathLst>
              <a:path w="3403600" h="919480">
                <a:moveTo>
                  <a:pt x="3249930" y="0"/>
                </a:moveTo>
                <a:lnTo>
                  <a:pt x="153162" y="0"/>
                </a:lnTo>
                <a:lnTo>
                  <a:pt x="104753" y="7808"/>
                </a:lnTo>
                <a:lnTo>
                  <a:pt x="62709" y="29553"/>
                </a:lnTo>
                <a:lnTo>
                  <a:pt x="29553" y="62709"/>
                </a:lnTo>
                <a:lnTo>
                  <a:pt x="7808" y="104753"/>
                </a:lnTo>
                <a:lnTo>
                  <a:pt x="0" y="153162"/>
                </a:lnTo>
                <a:lnTo>
                  <a:pt x="0" y="765810"/>
                </a:lnTo>
                <a:lnTo>
                  <a:pt x="7808" y="814218"/>
                </a:lnTo>
                <a:lnTo>
                  <a:pt x="29553" y="856262"/>
                </a:lnTo>
                <a:lnTo>
                  <a:pt x="62709" y="889418"/>
                </a:lnTo>
                <a:lnTo>
                  <a:pt x="104753" y="911163"/>
                </a:lnTo>
                <a:lnTo>
                  <a:pt x="153162" y="918972"/>
                </a:lnTo>
                <a:lnTo>
                  <a:pt x="3249930" y="918972"/>
                </a:lnTo>
                <a:lnTo>
                  <a:pt x="3298338" y="911163"/>
                </a:lnTo>
                <a:lnTo>
                  <a:pt x="3340382" y="889418"/>
                </a:lnTo>
                <a:lnTo>
                  <a:pt x="3373538" y="856262"/>
                </a:lnTo>
                <a:lnTo>
                  <a:pt x="3395283" y="814218"/>
                </a:lnTo>
                <a:lnTo>
                  <a:pt x="3403092" y="765810"/>
                </a:lnTo>
                <a:lnTo>
                  <a:pt x="3403092" y="153162"/>
                </a:lnTo>
                <a:lnTo>
                  <a:pt x="3395283" y="104753"/>
                </a:lnTo>
                <a:lnTo>
                  <a:pt x="3373538" y="62709"/>
                </a:lnTo>
                <a:lnTo>
                  <a:pt x="3340382" y="29553"/>
                </a:lnTo>
                <a:lnTo>
                  <a:pt x="3298338" y="7808"/>
                </a:lnTo>
                <a:lnTo>
                  <a:pt x="3249930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52240" y="937386"/>
            <a:ext cx="23406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marR="5080" indent="-37973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Helvetica"/>
                <a:cs typeface="Helvetica"/>
              </a:rPr>
              <a:t>Fault Modeling</a:t>
            </a:r>
            <a:r>
              <a:rPr sz="2400" b="1" spc="-8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Helvetica"/>
                <a:cs typeface="Helvetica"/>
              </a:rPr>
              <a:t>/  Collapsing</a:t>
            </a:r>
            <a:endParaRPr sz="2400">
              <a:latin typeface="Helvetica"/>
              <a:cs typeface="Helvetic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03191" y="1696211"/>
            <a:ext cx="852169" cy="520065"/>
          </a:xfrm>
          <a:custGeom>
            <a:avLst/>
            <a:gdLst/>
            <a:ahLst/>
            <a:cxnLst/>
            <a:rect l="l" t="t" r="r" b="b"/>
            <a:pathLst>
              <a:path w="852170" h="520064">
                <a:moveTo>
                  <a:pt x="851916" y="259841"/>
                </a:moveTo>
                <a:lnTo>
                  <a:pt x="0" y="259841"/>
                </a:lnTo>
                <a:lnTo>
                  <a:pt x="425958" y="519684"/>
                </a:lnTo>
                <a:lnTo>
                  <a:pt x="851916" y="259841"/>
                </a:lnTo>
                <a:close/>
              </a:path>
              <a:path w="852170" h="520064">
                <a:moveTo>
                  <a:pt x="638937" y="0"/>
                </a:moveTo>
                <a:lnTo>
                  <a:pt x="212979" y="0"/>
                </a:lnTo>
                <a:lnTo>
                  <a:pt x="212979" y="259841"/>
                </a:lnTo>
                <a:lnTo>
                  <a:pt x="638937" y="259841"/>
                </a:lnTo>
                <a:lnTo>
                  <a:pt x="638937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21507" y="2186939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032505" y="2240661"/>
            <a:ext cx="31832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Fault</a:t>
            </a:r>
            <a:r>
              <a:rPr sz="3200" b="1" spc="-55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Simulation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41291" y="2910839"/>
            <a:ext cx="852169" cy="521334"/>
          </a:xfrm>
          <a:custGeom>
            <a:avLst/>
            <a:gdLst/>
            <a:ahLst/>
            <a:cxnLst/>
            <a:rect l="l" t="t" r="r" b="b"/>
            <a:pathLst>
              <a:path w="852170" h="521335">
                <a:moveTo>
                  <a:pt x="851916" y="260604"/>
                </a:moveTo>
                <a:lnTo>
                  <a:pt x="0" y="260604"/>
                </a:lnTo>
                <a:lnTo>
                  <a:pt x="425958" y="521208"/>
                </a:lnTo>
                <a:lnTo>
                  <a:pt x="851916" y="260604"/>
                </a:lnTo>
                <a:close/>
              </a:path>
              <a:path w="852170" h="521335">
                <a:moveTo>
                  <a:pt x="638937" y="0"/>
                </a:moveTo>
                <a:lnTo>
                  <a:pt x="212979" y="0"/>
                </a:lnTo>
                <a:lnTo>
                  <a:pt x="212979" y="260604"/>
                </a:lnTo>
                <a:lnTo>
                  <a:pt x="638937" y="260604"/>
                </a:lnTo>
                <a:lnTo>
                  <a:pt x="63893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21507" y="3534155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80359" y="3587241"/>
            <a:ext cx="24866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Comb.</a:t>
            </a:r>
            <a:r>
              <a:rPr sz="3200" b="1" spc="-21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60" dirty="0">
                <a:solidFill>
                  <a:srgbClr val="FFFFFF"/>
                </a:solidFill>
                <a:latin typeface="Helvetica"/>
                <a:cs typeface="Helvetica"/>
              </a:rPr>
              <a:t>ATPG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79391" y="4258055"/>
            <a:ext cx="852169" cy="520065"/>
          </a:xfrm>
          <a:custGeom>
            <a:avLst/>
            <a:gdLst/>
            <a:ahLst/>
            <a:cxnLst/>
            <a:rect l="l" t="t" r="r" b="b"/>
            <a:pathLst>
              <a:path w="852170" h="520064">
                <a:moveTo>
                  <a:pt x="851916" y="259842"/>
                </a:moveTo>
                <a:lnTo>
                  <a:pt x="0" y="259842"/>
                </a:lnTo>
                <a:lnTo>
                  <a:pt x="425958" y="519684"/>
                </a:lnTo>
                <a:lnTo>
                  <a:pt x="851916" y="259842"/>
                </a:lnTo>
                <a:close/>
              </a:path>
              <a:path w="852170" h="520064">
                <a:moveTo>
                  <a:pt x="638937" y="0"/>
                </a:moveTo>
                <a:lnTo>
                  <a:pt x="212979" y="0"/>
                </a:lnTo>
                <a:lnTo>
                  <a:pt x="212979" y="259842"/>
                </a:lnTo>
                <a:lnTo>
                  <a:pt x="638937" y="259842"/>
                </a:lnTo>
                <a:lnTo>
                  <a:pt x="63893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21507" y="4853940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3295142" y="647700"/>
                </a:lnTo>
                <a:lnTo>
                  <a:pt x="3337137" y="639208"/>
                </a:lnTo>
                <a:lnTo>
                  <a:pt x="3371453" y="616061"/>
                </a:lnTo>
                <a:lnTo>
                  <a:pt x="3394600" y="581745"/>
                </a:lnTo>
                <a:lnTo>
                  <a:pt x="3403092" y="539750"/>
                </a:lnTo>
                <a:lnTo>
                  <a:pt x="3403092" y="107950"/>
                </a:lnTo>
                <a:lnTo>
                  <a:pt x="3394600" y="65954"/>
                </a:lnTo>
                <a:lnTo>
                  <a:pt x="3371453" y="31638"/>
                </a:lnTo>
                <a:lnTo>
                  <a:pt x="3337137" y="8491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583051" y="4908296"/>
            <a:ext cx="20815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Seq.</a:t>
            </a:r>
            <a:r>
              <a:rPr sz="3200" b="1" spc="-204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60" dirty="0">
                <a:solidFill>
                  <a:srgbClr val="FFFFFF"/>
                </a:solidFill>
                <a:latin typeface="Helvetica"/>
                <a:cs typeface="Helvetica"/>
              </a:rPr>
              <a:t>ATPG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17491" y="5577840"/>
            <a:ext cx="852169" cy="521334"/>
          </a:xfrm>
          <a:custGeom>
            <a:avLst/>
            <a:gdLst/>
            <a:ahLst/>
            <a:cxnLst/>
            <a:rect l="l" t="t" r="r" b="b"/>
            <a:pathLst>
              <a:path w="852170" h="521335">
                <a:moveTo>
                  <a:pt x="851916" y="260604"/>
                </a:moveTo>
                <a:lnTo>
                  <a:pt x="0" y="260604"/>
                </a:lnTo>
                <a:lnTo>
                  <a:pt x="425958" y="521208"/>
                </a:lnTo>
                <a:lnTo>
                  <a:pt x="851916" y="260604"/>
                </a:lnTo>
                <a:close/>
              </a:path>
              <a:path w="852170" h="521335">
                <a:moveTo>
                  <a:pt x="638937" y="0"/>
                </a:moveTo>
                <a:lnTo>
                  <a:pt x="212979" y="0"/>
                </a:lnTo>
                <a:lnTo>
                  <a:pt x="212979" y="260604"/>
                </a:lnTo>
                <a:lnTo>
                  <a:pt x="638937" y="260604"/>
                </a:lnTo>
                <a:lnTo>
                  <a:pt x="63893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21507" y="6137147"/>
            <a:ext cx="3403600" cy="647700"/>
          </a:xfrm>
          <a:custGeom>
            <a:avLst/>
            <a:gdLst/>
            <a:ahLst/>
            <a:cxnLst/>
            <a:rect l="l" t="t" r="r" b="b"/>
            <a:pathLst>
              <a:path w="3403600" h="647700">
                <a:moveTo>
                  <a:pt x="3295142" y="0"/>
                </a:moveTo>
                <a:lnTo>
                  <a:pt x="107950" y="0"/>
                </a:lnTo>
                <a:lnTo>
                  <a:pt x="65954" y="8483"/>
                </a:lnTo>
                <a:lnTo>
                  <a:pt x="31638" y="31619"/>
                </a:lnTo>
                <a:lnTo>
                  <a:pt x="8491" y="65933"/>
                </a:lnTo>
                <a:lnTo>
                  <a:pt x="0" y="107949"/>
                </a:lnTo>
                <a:lnTo>
                  <a:pt x="0" y="539749"/>
                </a:lnTo>
                <a:lnTo>
                  <a:pt x="8491" y="581768"/>
                </a:lnTo>
                <a:lnTo>
                  <a:pt x="31638" y="616080"/>
                </a:lnTo>
                <a:lnTo>
                  <a:pt x="65954" y="639215"/>
                </a:lnTo>
                <a:lnTo>
                  <a:pt x="107950" y="647698"/>
                </a:lnTo>
                <a:lnTo>
                  <a:pt x="3295142" y="647698"/>
                </a:lnTo>
                <a:lnTo>
                  <a:pt x="3337137" y="639215"/>
                </a:lnTo>
                <a:lnTo>
                  <a:pt x="3371453" y="616080"/>
                </a:lnTo>
                <a:lnTo>
                  <a:pt x="3394600" y="581768"/>
                </a:lnTo>
                <a:lnTo>
                  <a:pt x="3403092" y="539749"/>
                </a:lnTo>
                <a:lnTo>
                  <a:pt x="3403092" y="107949"/>
                </a:lnTo>
                <a:lnTo>
                  <a:pt x="3394600" y="65933"/>
                </a:lnTo>
                <a:lnTo>
                  <a:pt x="3371453" y="31619"/>
                </a:lnTo>
                <a:lnTo>
                  <a:pt x="3337137" y="8483"/>
                </a:lnTo>
                <a:lnTo>
                  <a:pt x="329514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610483" y="6190894"/>
            <a:ext cx="20250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Delay</a:t>
            </a:r>
            <a:r>
              <a:rPr sz="3200" b="1" spc="-85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65" dirty="0">
                <a:solidFill>
                  <a:srgbClr val="FFFFFF"/>
                </a:solidFill>
                <a:latin typeface="Helvetica"/>
                <a:cs typeface="Helvetica"/>
              </a:rPr>
              <a:t>Test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68440" y="2200655"/>
            <a:ext cx="2296795" cy="647700"/>
          </a:xfrm>
          <a:custGeom>
            <a:avLst/>
            <a:gdLst/>
            <a:ahLst/>
            <a:cxnLst/>
            <a:rect l="l" t="t" r="r" b="b"/>
            <a:pathLst>
              <a:path w="2296795" h="647700">
                <a:moveTo>
                  <a:pt x="2188717" y="0"/>
                </a:moveTo>
                <a:lnTo>
                  <a:pt x="107950" y="0"/>
                </a:lnTo>
                <a:lnTo>
                  <a:pt x="65954" y="8491"/>
                </a:lnTo>
                <a:lnTo>
                  <a:pt x="31638" y="31638"/>
                </a:lnTo>
                <a:lnTo>
                  <a:pt x="8491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91" y="581745"/>
                </a:lnTo>
                <a:lnTo>
                  <a:pt x="31638" y="616061"/>
                </a:lnTo>
                <a:lnTo>
                  <a:pt x="65954" y="639208"/>
                </a:lnTo>
                <a:lnTo>
                  <a:pt x="107950" y="647700"/>
                </a:lnTo>
                <a:lnTo>
                  <a:pt x="2188717" y="647700"/>
                </a:lnTo>
                <a:lnTo>
                  <a:pt x="2230713" y="639208"/>
                </a:lnTo>
                <a:lnTo>
                  <a:pt x="2265029" y="616061"/>
                </a:lnTo>
                <a:lnTo>
                  <a:pt x="2288176" y="581745"/>
                </a:lnTo>
                <a:lnTo>
                  <a:pt x="2296667" y="539750"/>
                </a:lnTo>
                <a:lnTo>
                  <a:pt x="2296667" y="107950"/>
                </a:lnTo>
                <a:lnTo>
                  <a:pt x="2288176" y="65954"/>
                </a:lnTo>
                <a:lnTo>
                  <a:pt x="2265029" y="31638"/>
                </a:lnTo>
                <a:lnTo>
                  <a:pt x="2230713" y="8491"/>
                </a:lnTo>
                <a:lnTo>
                  <a:pt x="218871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680454" y="2253488"/>
            <a:ext cx="20072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5" dirty="0">
                <a:solidFill>
                  <a:srgbClr val="FFFFFF"/>
                </a:solidFill>
                <a:latin typeface="Helvetica"/>
                <a:cs typeface="Helvetica"/>
              </a:rPr>
              <a:t>Testability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4904" y="879347"/>
            <a:ext cx="2342515" cy="647700"/>
          </a:xfrm>
          <a:custGeom>
            <a:avLst/>
            <a:gdLst/>
            <a:ahLst/>
            <a:cxnLst/>
            <a:rect l="l" t="t" r="r" b="b"/>
            <a:pathLst>
              <a:path w="2342515" h="647700">
                <a:moveTo>
                  <a:pt x="2234438" y="0"/>
                </a:moveTo>
                <a:lnTo>
                  <a:pt x="107950" y="0"/>
                </a:lnTo>
                <a:lnTo>
                  <a:pt x="65933" y="8491"/>
                </a:lnTo>
                <a:lnTo>
                  <a:pt x="31619" y="31638"/>
                </a:lnTo>
                <a:lnTo>
                  <a:pt x="8483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83" y="581745"/>
                </a:lnTo>
                <a:lnTo>
                  <a:pt x="31619" y="616061"/>
                </a:lnTo>
                <a:lnTo>
                  <a:pt x="65933" y="639208"/>
                </a:lnTo>
                <a:lnTo>
                  <a:pt x="107950" y="647700"/>
                </a:lnTo>
                <a:lnTo>
                  <a:pt x="2234438" y="647700"/>
                </a:lnTo>
                <a:lnTo>
                  <a:pt x="2276433" y="639208"/>
                </a:lnTo>
                <a:lnTo>
                  <a:pt x="2310749" y="616061"/>
                </a:lnTo>
                <a:lnTo>
                  <a:pt x="2333896" y="581745"/>
                </a:lnTo>
                <a:lnTo>
                  <a:pt x="2342388" y="539750"/>
                </a:lnTo>
                <a:lnTo>
                  <a:pt x="2342388" y="107950"/>
                </a:lnTo>
                <a:lnTo>
                  <a:pt x="2333896" y="65954"/>
                </a:lnTo>
                <a:lnTo>
                  <a:pt x="2310749" y="31638"/>
                </a:lnTo>
                <a:lnTo>
                  <a:pt x="2276433" y="8491"/>
                </a:lnTo>
                <a:lnTo>
                  <a:pt x="2234438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85038" y="931875"/>
            <a:ext cx="20777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Logic</a:t>
            </a:r>
            <a:r>
              <a:rPr sz="3200" b="1" spc="-11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Helvetica"/>
                <a:cs typeface="Helvetica"/>
              </a:rPr>
              <a:t>Sim.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53055" y="1572260"/>
            <a:ext cx="678815" cy="593090"/>
          </a:xfrm>
          <a:custGeom>
            <a:avLst/>
            <a:gdLst/>
            <a:ahLst/>
            <a:cxnLst/>
            <a:rect l="l" t="t" r="r" b="b"/>
            <a:pathLst>
              <a:path w="678814" h="593089">
                <a:moveTo>
                  <a:pt x="351917" y="0"/>
                </a:moveTo>
                <a:lnTo>
                  <a:pt x="12573" y="256666"/>
                </a:lnTo>
                <a:lnTo>
                  <a:pt x="169671" y="464185"/>
                </a:lnTo>
                <a:lnTo>
                  <a:pt x="0" y="592581"/>
                </a:lnTo>
                <a:lnTo>
                  <a:pt x="496443" y="543560"/>
                </a:lnTo>
                <a:lnTo>
                  <a:pt x="628291" y="207644"/>
                </a:lnTo>
                <a:lnTo>
                  <a:pt x="509016" y="207644"/>
                </a:lnTo>
                <a:lnTo>
                  <a:pt x="351917" y="0"/>
                </a:lnTo>
                <a:close/>
              </a:path>
              <a:path w="678814" h="593089">
                <a:moveTo>
                  <a:pt x="678688" y="79248"/>
                </a:moveTo>
                <a:lnTo>
                  <a:pt x="509016" y="207644"/>
                </a:lnTo>
                <a:lnTo>
                  <a:pt x="628291" y="207644"/>
                </a:lnTo>
                <a:lnTo>
                  <a:pt x="678688" y="79248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146291" y="2910332"/>
            <a:ext cx="741045" cy="558165"/>
          </a:xfrm>
          <a:custGeom>
            <a:avLst/>
            <a:gdLst/>
            <a:ahLst/>
            <a:cxnLst/>
            <a:rect l="l" t="t" r="r" b="b"/>
            <a:pathLst>
              <a:path w="741045" h="558164">
                <a:moveTo>
                  <a:pt x="0" y="122046"/>
                </a:moveTo>
                <a:lnTo>
                  <a:pt x="242316" y="558038"/>
                </a:lnTo>
                <a:lnTo>
                  <a:pt x="740790" y="540638"/>
                </a:lnTo>
                <a:lnTo>
                  <a:pt x="555625" y="435990"/>
                </a:lnTo>
                <a:lnTo>
                  <a:pt x="673815" y="226694"/>
                </a:lnTo>
                <a:lnTo>
                  <a:pt x="185166" y="226694"/>
                </a:lnTo>
                <a:lnTo>
                  <a:pt x="0" y="122046"/>
                </a:lnTo>
                <a:close/>
              </a:path>
              <a:path w="741045" h="558164">
                <a:moveTo>
                  <a:pt x="313309" y="0"/>
                </a:moveTo>
                <a:lnTo>
                  <a:pt x="185166" y="226694"/>
                </a:lnTo>
                <a:lnTo>
                  <a:pt x="673815" y="226694"/>
                </a:lnTo>
                <a:lnTo>
                  <a:pt x="683640" y="209295"/>
                </a:lnTo>
                <a:lnTo>
                  <a:pt x="313309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2148" y="4853940"/>
            <a:ext cx="2295525" cy="647700"/>
          </a:xfrm>
          <a:custGeom>
            <a:avLst/>
            <a:gdLst/>
            <a:ahLst/>
            <a:cxnLst/>
            <a:rect l="l" t="t" r="r" b="b"/>
            <a:pathLst>
              <a:path w="2295525" h="647700">
                <a:moveTo>
                  <a:pt x="2187194" y="0"/>
                </a:moveTo>
                <a:lnTo>
                  <a:pt x="107950" y="0"/>
                </a:lnTo>
                <a:lnTo>
                  <a:pt x="65933" y="8491"/>
                </a:lnTo>
                <a:lnTo>
                  <a:pt x="31619" y="31638"/>
                </a:lnTo>
                <a:lnTo>
                  <a:pt x="8483" y="65954"/>
                </a:lnTo>
                <a:lnTo>
                  <a:pt x="0" y="107950"/>
                </a:lnTo>
                <a:lnTo>
                  <a:pt x="0" y="539750"/>
                </a:lnTo>
                <a:lnTo>
                  <a:pt x="8483" y="581745"/>
                </a:lnTo>
                <a:lnTo>
                  <a:pt x="31619" y="616061"/>
                </a:lnTo>
                <a:lnTo>
                  <a:pt x="65933" y="639208"/>
                </a:lnTo>
                <a:lnTo>
                  <a:pt x="107950" y="647700"/>
                </a:lnTo>
                <a:lnTo>
                  <a:pt x="2187194" y="647700"/>
                </a:lnTo>
                <a:lnTo>
                  <a:pt x="2229189" y="639208"/>
                </a:lnTo>
                <a:lnTo>
                  <a:pt x="2263505" y="616061"/>
                </a:lnTo>
                <a:lnTo>
                  <a:pt x="2286652" y="581745"/>
                </a:lnTo>
                <a:lnTo>
                  <a:pt x="2295144" y="539750"/>
                </a:lnTo>
                <a:lnTo>
                  <a:pt x="2295144" y="107950"/>
                </a:lnTo>
                <a:lnTo>
                  <a:pt x="2286652" y="65954"/>
                </a:lnTo>
                <a:lnTo>
                  <a:pt x="2263505" y="31638"/>
                </a:lnTo>
                <a:lnTo>
                  <a:pt x="2229189" y="8491"/>
                </a:lnTo>
                <a:lnTo>
                  <a:pt x="2187194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32587" y="4908296"/>
            <a:ext cx="19697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Helvetica"/>
                <a:cs typeface="Helvetica"/>
              </a:rPr>
              <a:t>Diagnosis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347341" y="4186682"/>
            <a:ext cx="741045" cy="558165"/>
          </a:xfrm>
          <a:custGeom>
            <a:avLst/>
            <a:gdLst/>
            <a:ahLst/>
            <a:cxnLst/>
            <a:rect l="l" t="t" r="r" b="b"/>
            <a:pathLst>
              <a:path w="741044" h="558164">
                <a:moveTo>
                  <a:pt x="0" y="122047"/>
                </a:moveTo>
                <a:lnTo>
                  <a:pt x="242442" y="558038"/>
                </a:lnTo>
                <a:lnTo>
                  <a:pt x="740917" y="540639"/>
                </a:lnTo>
                <a:lnTo>
                  <a:pt x="555625" y="435991"/>
                </a:lnTo>
                <a:lnTo>
                  <a:pt x="673932" y="226695"/>
                </a:lnTo>
                <a:lnTo>
                  <a:pt x="185292" y="226695"/>
                </a:lnTo>
                <a:lnTo>
                  <a:pt x="0" y="122047"/>
                </a:lnTo>
                <a:close/>
              </a:path>
              <a:path w="741044" h="558164">
                <a:moveTo>
                  <a:pt x="313308" y="0"/>
                </a:moveTo>
                <a:lnTo>
                  <a:pt x="185292" y="226695"/>
                </a:lnTo>
                <a:lnTo>
                  <a:pt x="673932" y="226695"/>
                </a:lnTo>
                <a:lnTo>
                  <a:pt x="683767" y="209296"/>
                </a:lnTo>
                <a:lnTo>
                  <a:pt x="313308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6783" y="164414"/>
            <a:ext cx="3580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80" dirty="0"/>
              <a:t> </a:t>
            </a:r>
            <a:r>
              <a:rPr dirty="0"/>
              <a:t>Collapsing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898265" cy="3267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Introduction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Equivalence </a:t>
            </a:r>
            <a:r>
              <a:rPr sz="2000" b="1" dirty="0">
                <a:latin typeface="Arial"/>
                <a:cs typeface="Arial"/>
              </a:rPr>
              <a:t>Fault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Collapsing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Fanout-free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Circuits with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fanout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Dominance Fault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Collapsing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Fanout-free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Circuits with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fanout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Discussions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Conclusion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792" y="164414"/>
            <a:ext cx="26911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7014209" cy="5237331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Why Fault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Collapsing?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Reduce</a:t>
            </a:r>
            <a:r>
              <a:rPr lang="en-US" sz="2000" b="1" dirty="0">
                <a:latin typeface="Arial"/>
                <a:cs typeface="Arial"/>
              </a:rPr>
              <a:t>s</a:t>
            </a:r>
            <a:r>
              <a:rPr sz="2000" b="1" dirty="0">
                <a:latin typeface="Arial"/>
                <a:cs typeface="Arial"/>
              </a:rPr>
              <a:t> number of faults so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that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Speed up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ATPG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Shorten test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5" dirty="0">
                <a:latin typeface="Arial"/>
                <a:cs typeface="Arial"/>
              </a:rPr>
              <a:t>How?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Quickly find </a:t>
            </a:r>
            <a:r>
              <a:rPr sz="2000" b="1" i="1" dirty="0">
                <a:latin typeface="Arial-BoldItalicMT"/>
                <a:cs typeface="Arial-BoldItalicMT"/>
              </a:rPr>
              <a:t>representative</a:t>
            </a:r>
            <a:r>
              <a:rPr sz="2000" b="1" i="1" spc="-105" dirty="0">
                <a:latin typeface="Arial-BoldItalicMT"/>
                <a:cs typeface="Arial-BoldItalicMT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faults</a:t>
            </a:r>
            <a:endParaRPr sz="20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Use only those representative faults for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ATPG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Arial"/>
              <a:buChar char="◆"/>
            </a:pPr>
            <a:endParaRPr sz="29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Requirement of fault collapsing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algorithm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Must be fast; otherwise, it is not </a:t>
            </a:r>
            <a:r>
              <a:rPr sz="2000" b="1" spc="5" dirty="0">
                <a:latin typeface="Arial"/>
                <a:cs typeface="Arial"/>
              </a:rPr>
              <a:t>worth</a:t>
            </a:r>
            <a:r>
              <a:rPr sz="2000" b="1" spc="-229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doing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Arial"/>
              <a:buChar char="◆"/>
            </a:pPr>
            <a:endParaRPr sz="29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There are many different </a:t>
            </a:r>
            <a:r>
              <a:rPr sz="2000" b="1" spc="-5" dirty="0">
                <a:latin typeface="Arial"/>
                <a:cs typeface="Arial"/>
              </a:rPr>
              <a:t>ways </a:t>
            </a:r>
            <a:r>
              <a:rPr sz="2000" b="1" dirty="0">
                <a:latin typeface="Arial"/>
                <a:cs typeface="Arial"/>
              </a:rPr>
              <a:t>to do fault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collapsing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Obtaining the </a:t>
            </a:r>
            <a:r>
              <a:rPr sz="2000" b="1" i="1" spc="-5" dirty="0">
                <a:latin typeface="Arial-BoldItalicMT"/>
                <a:cs typeface="Arial-BoldItalicMT"/>
              </a:rPr>
              <a:t>minimum </a:t>
            </a:r>
            <a:r>
              <a:rPr sz="2000" b="1" dirty="0">
                <a:latin typeface="Arial"/>
                <a:cs typeface="Arial"/>
              </a:rPr>
              <a:t>solution is not so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important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As long as </a:t>
            </a:r>
            <a:r>
              <a:rPr sz="2000" b="1" spc="20" dirty="0">
                <a:latin typeface="Arial"/>
                <a:cs typeface="Arial"/>
              </a:rPr>
              <a:t>we </a:t>
            </a:r>
            <a:r>
              <a:rPr sz="2000" b="1" dirty="0">
                <a:latin typeface="Arial"/>
                <a:cs typeface="Arial"/>
              </a:rPr>
              <a:t>do not </a:t>
            </a:r>
            <a:r>
              <a:rPr sz="2000" b="1" spc="-5" dirty="0">
                <a:latin typeface="Arial"/>
                <a:cs typeface="Arial"/>
              </a:rPr>
              <a:t>miss </a:t>
            </a:r>
            <a:r>
              <a:rPr sz="2000" b="1" dirty="0">
                <a:latin typeface="Arial"/>
                <a:cs typeface="Arial"/>
              </a:rPr>
              <a:t>any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2483" y="164414"/>
            <a:ext cx="3810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Equivalent</a:t>
            </a:r>
            <a:r>
              <a:rPr spc="-55" dirty="0"/>
              <a:t> </a:t>
            </a:r>
            <a:r>
              <a:rPr dirty="0"/>
              <a:t>Faults</a:t>
            </a:r>
          </a:p>
        </p:txBody>
      </p:sp>
      <p:sp>
        <p:nvSpPr>
          <p:cNvPr id="3" name="object 3"/>
          <p:cNvSpPr/>
          <p:nvPr/>
        </p:nvSpPr>
        <p:spPr>
          <a:xfrm>
            <a:off x="951738" y="2472689"/>
            <a:ext cx="448309" cy="1905"/>
          </a:xfrm>
          <a:custGeom>
            <a:avLst/>
            <a:gdLst/>
            <a:ahLst/>
            <a:cxnLst/>
            <a:rect l="l" t="t" r="r" b="b"/>
            <a:pathLst>
              <a:path w="448309" h="1905">
                <a:moveTo>
                  <a:pt x="448056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1738" y="2925317"/>
            <a:ext cx="448309" cy="0"/>
          </a:xfrm>
          <a:custGeom>
            <a:avLst/>
            <a:gdLst/>
            <a:ahLst/>
            <a:cxnLst/>
            <a:rect l="l" t="t" r="r" b="b"/>
            <a:pathLst>
              <a:path w="448309">
                <a:moveTo>
                  <a:pt x="44805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26870" y="2699766"/>
            <a:ext cx="447040" cy="1905"/>
          </a:xfrm>
          <a:custGeom>
            <a:avLst/>
            <a:gdLst/>
            <a:ahLst/>
            <a:cxnLst/>
            <a:rect l="l" t="t" r="r" b="b"/>
            <a:pathLst>
              <a:path w="447039" h="1905">
                <a:moveTo>
                  <a:pt x="446531" y="0"/>
                </a:moveTo>
                <a:lnTo>
                  <a:pt x="0" y="152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77289" y="2362961"/>
            <a:ext cx="675640" cy="673735"/>
          </a:xfrm>
          <a:custGeom>
            <a:avLst/>
            <a:gdLst/>
            <a:ahLst/>
            <a:cxnLst/>
            <a:rect l="l" t="t" r="r" b="b"/>
            <a:pathLst>
              <a:path w="675639" h="673735">
                <a:moveTo>
                  <a:pt x="337566" y="0"/>
                </a:moveTo>
                <a:lnTo>
                  <a:pt x="0" y="0"/>
                </a:lnTo>
                <a:lnTo>
                  <a:pt x="0" y="673608"/>
                </a:lnTo>
                <a:lnTo>
                  <a:pt x="337566" y="673608"/>
                </a:lnTo>
                <a:lnTo>
                  <a:pt x="383372" y="670534"/>
                </a:lnTo>
                <a:lnTo>
                  <a:pt x="427305" y="661580"/>
                </a:lnTo>
                <a:lnTo>
                  <a:pt x="468963" y="647146"/>
                </a:lnTo>
                <a:lnTo>
                  <a:pt x="507943" y="627633"/>
                </a:lnTo>
                <a:lnTo>
                  <a:pt x="543843" y="603443"/>
                </a:lnTo>
                <a:lnTo>
                  <a:pt x="576262" y="574976"/>
                </a:lnTo>
                <a:lnTo>
                  <a:pt x="604796" y="542633"/>
                </a:lnTo>
                <a:lnTo>
                  <a:pt x="629045" y="506814"/>
                </a:lnTo>
                <a:lnTo>
                  <a:pt x="648604" y="467921"/>
                </a:lnTo>
                <a:lnTo>
                  <a:pt x="663074" y="426354"/>
                </a:lnTo>
                <a:lnTo>
                  <a:pt x="672050" y="382515"/>
                </a:lnTo>
                <a:lnTo>
                  <a:pt x="675132" y="336803"/>
                </a:lnTo>
                <a:lnTo>
                  <a:pt x="672050" y="291092"/>
                </a:lnTo>
                <a:lnTo>
                  <a:pt x="663074" y="247253"/>
                </a:lnTo>
                <a:lnTo>
                  <a:pt x="648604" y="205686"/>
                </a:lnTo>
                <a:lnTo>
                  <a:pt x="629045" y="166793"/>
                </a:lnTo>
                <a:lnTo>
                  <a:pt x="604796" y="130974"/>
                </a:lnTo>
                <a:lnTo>
                  <a:pt x="576262" y="98631"/>
                </a:lnTo>
                <a:lnTo>
                  <a:pt x="543843" y="70164"/>
                </a:lnTo>
                <a:lnTo>
                  <a:pt x="507943" y="45974"/>
                </a:lnTo>
                <a:lnTo>
                  <a:pt x="468963" y="26461"/>
                </a:lnTo>
                <a:lnTo>
                  <a:pt x="427305" y="12027"/>
                </a:lnTo>
                <a:lnTo>
                  <a:pt x="383372" y="3073"/>
                </a:lnTo>
                <a:lnTo>
                  <a:pt x="3375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77289" y="2362961"/>
            <a:ext cx="675640" cy="673735"/>
          </a:xfrm>
          <a:custGeom>
            <a:avLst/>
            <a:gdLst/>
            <a:ahLst/>
            <a:cxnLst/>
            <a:rect l="l" t="t" r="r" b="b"/>
            <a:pathLst>
              <a:path w="675639" h="673735">
                <a:moveTo>
                  <a:pt x="0" y="0"/>
                </a:moveTo>
                <a:lnTo>
                  <a:pt x="337566" y="0"/>
                </a:lnTo>
                <a:lnTo>
                  <a:pt x="383372" y="3073"/>
                </a:lnTo>
                <a:lnTo>
                  <a:pt x="427305" y="12027"/>
                </a:lnTo>
                <a:lnTo>
                  <a:pt x="468963" y="26461"/>
                </a:lnTo>
                <a:lnTo>
                  <a:pt x="507943" y="45974"/>
                </a:lnTo>
                <a:lnTo>
                  <a:pt x="543843" y="70164"/>
                </a:lnTo>
                <a:lnTo>
                  <a:pt x="576262" y="98631"/>
                </a:lnTo>
                <a:lnTo>
                  <a:pt x="604796" y="130974"/>
                </a:lnTo>
                <a:lnTo>
                  <a:pt x="629045" y="166793"/>
                </a:lnTo>
                <a:lnTo>
                  <a:pt x="648604" y="205686"/>
                </a:lnTo>
                <a:lnTo>
                  <a:pt x="663074" y="247253"/>
                </a:lnTo>
                <a:lnTo>
                  <a:pt x="672050" y="291092"/>
                </a:lnTo>
                <a:lnTo>
                  <a:pt x="675132" y="336803"/>
                </a:lnTo>
                <a:lnTo>
                  <a:pt x="672050" y="382515"/>
                </a:lnTo>
                <a:lnTo>
                  <a:pt x="663074" y="426354"/>
                </a:lnTo>
                <a:lnTo>
                  <a:pt x="648604" y="467921"/>
                </a:lnTo>
                <a:lnTo>
                  <a:pt x="629045" y="506814"/>
                </a:lnTo>
                <a:lnTo>
                  <a:pt x="604796" y="542633"/>
                </a:lnTo>
                <a:lnTo>
                  <a:pt x="576262" y="574976"/>
                </a:lnTo>
                <a:lnTo>
                  <a:pt x="543843" y="603443"/>
                </a:lnTo>
                <a:lnTo>
                  <a:pt x="507943" y="627633"/>
                </a:lnTo>
                <a:lnTo>
                  <a:pt x="468963" y="647146"/>
                </a:lnTo>
                <a:lnTo>
                  <a:pt x="427305" y="661580"/>
                </a:lnTo>
                <a:lnTo>
                  <a:pt x="383372" y="670534"/>
                </a:lnTo>
                <a:lnTo>
                  <a:pt x="337566" y="673608"/>
                </a:lnTo>
                <a:lnTo>
                  <a:pt x="0" y="673608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0225" y="907795"/>
            <a:ext cx="7227570" cy="2181366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latin typeface="Arial"/>
                <a:cs typeface="Arial"/>
              </a:rPr>
              <a:t>Faults </a:t>
            </a:r>
            <a:r>
              <a:rPr sz="1800" b="1" i="1" dirty="0">
                <a:latin typeface="Arial-BoldItalicMT"/>
                <a:cs typeface="Arial-BoldItalicMT"/>
              </a:rPr>
              <a:t>f </a:t>
            </a:r>
            <a:r>
              <a:rPr sz="1800" b="1" dirty="0">
                <a:latin typeface="Arial"/>
                <a:cs typeface="Arial"/>
              </a:rPr>
              <a:t>and </a:t>
            </a:r>
            <a:r>
              <a:rPr sz="1800" b="1" i="1" dirty="0">
                <a:latin typeface="Arial-BoldItalicMT"/>
                <a:cs typeface="Arial-BoldItalicMT"/>
              </a:rPr>
              <a:t>g </a:t>
            </a:r>
            <a:r>
              <a:rPr sz="1800" b="1" spc="-5" dirty="0">
                <a:latin typeface="Arial"/>
                <a:cs typeface="Arial"/>
              </a:rPr>
              <a:t>are </a:t>
            </a:r>
            <a:r>
              <a:rPr sz="1800" b="1" i="1" dirty="0">
                <a:latin typeface="Arial-BoldItalicMT"/>
                <a:cs typeface="Arial-BoldItalicMT"/>
              </a:rPr>
              <a:t>functionally </a:t>
            </a:r>
            <a:r>
              <a:rPr sz="1800" b="1" i="1" spc="-5" dirty="0">
                <a:latin typeface="Arial-BoldItalicMT"/>
                <a:cs typeface="Arial-BoldItalicMT"/>
              </a:rPr>
              <a:t>equivalent </a:t>
            </a:r>
            <a:r>
              <a:rPr sz="1800" b="1" dirty="0">
                <a:latin typeface="Arial"/>
                <a:cs typeface="Arial"/>
              </a:rPr>
              <a:t>(or simply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-BoldItalicMT"/>
                <a:cs typeface="Arial-BoldItalicMT"/>
              </a:rPr>
              <a:t>equivalent</a:t>
            </a:r>
            <a:r>
              <a:rPr sz="1800" b="1" dirty="0"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dirty="0">
                <a:latin typeface="Arial"/>
                <a:cs typeface="Arial"/>
              </a:rPr>
              <a:t>if </a:t>
            </a:r>
            <a:r>
              <a:rPr b="1" spc="-5" dirty="0">
                <a:solidFill>
                  <a:srgbClr val="0000FF"/>
                </a:solidFill>
                <a:latin typeface="Arial"/>
                <a:cs typeface="Arial"/>
              </a:rPr>
              <a:t>faulty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outputs of them </a:t>
            </a:r>
            <a:r>
              <a:rPr sz="1800" b="1" spc="-5" dirty="0">
                <a:latin typeface="Arial"/>
                <a:cs typeface="Arial"/>
              </a:rPr>
              <a:t>are identical </a:t>
            </a: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i="1" u="sng" dirty="0">
                <a:latin typeface="Arial-BoldItalicMT"/>
                <a:cs typeface="Arial-BoldItalicMT"/>
              </a:rPr>
              <a:t>all</a:t>
            </a:r>
            <a:r>
              <a:rPr sz="1800" b="1" i="1" dirty="0">
                <a:latin typeface="Arial-BoldItalicMT"/>
                <a:cs typeface="Arial-BoldItalicMT"/>
              </a:rPr>
              <a:t> </a:t>
            </a:r>
            <a:r>
              <a:rPr sz="1800" b="1" spc="-5" dirty="0">
                <a:latin typeface="Arial"/>
                <a:cs typeface="Arial"/>
              </a:rPr>
              <a:t>test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patterns</a:t>
            </a: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Example: </a:t>
            </a:r>
            <a:r>
              <a:rPr sz="1800" b="1" i="1" dirty="0">
                <a:latin typeface="Arial-BoldItalicMT"/>
                <a:cs typeface="Arial-BoldItalicMT"/>
              </a:rPr>
              <a:t>A/0 B/0 and C/0 </a:t>
            </a:r>
            <a:r>
              <a:rPr sz="1800" b="1" spc="-5" dirty="0">
                <a:latin typeface="Arial"/>
                <a:cs typeface="Arial"/>
              </a:rPr>
              <a:t>are all </a:t>
            </a:r>
            <a:r>
              <a:rPr sz="18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equivalent</a:t>
            </a:r>
            <a:r>
              <a:rPr sz="1800" b="1" i="1" spc="2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18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faults</a:t>
            </a:r>
            <a:endParaRPr sz="18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1800" b="1" spc="-5" dirty="0">
                <a:latin typeface="Arial"/>
                <a:cs typeface="Arial"/>
              </a:rPr>
              <a:t>They </a:t>
            </a:r>
            <a:r>
              <a:rPr sz="1800" b="1" dirty="0">
                <a:latin typeface="Arial"/>
                <a:cs typeface="Arial"/>
              </a:rPr>
              <a:t>belong to the </a:t>
            </a:r>
            <a:r>
              <a:rPr sz="1800" b="1" spc="-5" dirty="0">
                <a:latin typeface="Arial"/>
                <a:cs typeface="Arial"/>
              </a:rPr>
              <a:t>same </a:t>
            </a:r>
            <a:r>
              <a:rPr sz="1800" b="1" i="1" spc="-5" dirty="0">
                <a:latin typeface="Arial-BoldItalicMT"/>
                <a:cs typeface="Arial-BoldItalicMT"/>
              </a:rPr>
              <a:t>equivalent fault</a:t>
            </a:r>
            <a:r>
              <a:rPr sz="1800" b="1" i="1" spc="-15" dirty="0">
                <a:latin typeface="Arial-BoldItalicMT"/>
                <a:cs typeface="Arial-BoldItalicMT"/>
              </a:rPr>
              <a:t> </a:t>
            </a:r>
            <a:r>
              <a:rPr sz="1800" b="1" i="1" spc="-5" dirty="0">
                <a:latin typeface="Arial-BoldItalicMT"/>
                <a:cs typeface="Arial-BoldItalicMT"/>
              </a:rPr>
              <a:t>class</a:t>
            </a:r>
            <a:endParaRPr sz="1800" dirty="0">
              <a:latin typeface="Arial-BoldItalicMT"/>
              <a:cs typeface="Arial-BoldItalicMT"/>
            </a:endParaRPr>
          </a:p>
          <a:p>
            <a:pPr marL="548005">
              <a:lnSpc>
                <a:spcPts val="2130"/>
              </a:lnSpc>
              <a:spcBef>
                <a:spcPts val="370"/>
              </a:spcBef>
            </a:pPr>
            <a:r>
              <a:rPr sz="1800" b="1" i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877060">
              <a:lnSpc>
                <a:spcPts val="1930"/>
              </a:lnSpc>
            </a:pPr>
            <a:r>
              <a:rPr sz="1800" b="1" i="1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53085">
              <a:lnSpc>
                <a:spcPts val="1960"/>
              </a:lnSpc>
            </a:pPr>
            <a:r>
              <a:rPr sz="1800" b="1" i="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12750" y="3489325"/>
          <a:ext cx="8283572" cy="23748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5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04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8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85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46100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Input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7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Output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308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A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B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good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A/0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C/0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B/0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A/1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C/1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B/1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225" y="900785"/>
            <a:ext cx="8613140" cy="14890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Equivalence </a:t>
            </a:r>
            <a:r>
              <a:rPr sz="2000" b="1" dirty="0">
                <a:latin typeface="Arial"/>
                <a:cs typeface="Arial"/>
              </a:rPr>
              <a:t>relationship is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symmetric</a:t>
            </a:r>
            <a:endParaRPr sz="20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if fault </a:t>
            </a:r>
            <a:r>
              <a:rPr sz="2000" b="1" i="1" dirty="0">
                <a:latin typeface="Arial-BoldItalicMT"/>
                <a:cs typeface="Arial-BoldItalicMT"/>
              </a:rPr>
              <a:t>f </a:t>
            </a:r>
            <a:r>
              <a:rPr sz="2000" b="1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equivalent </a:t>
            </a:r>
            <a:r>
              <a:rPr sz="2000" b="1" dirty="0">
                <a:latin typeface="Arial"/>
                <a:cs typeface="Arial"/>
              </a:rPr>
              <a:t>to fault </a:t>
            </a:r>
            <a:r>
              <a:rPr sz="2000" b="1" i="1" spc="-5" dirty="0">
                <a:latin typeface="Arial-BoldItalicMT"/>
                <a:cs typeface="Arial-BoldItalicMT"/>
              </a:rPr>
              <a:t>g</a:t>
            </a:r>
            <a:r>
              <a:rPr sz="2000" b="1" spc="-5" dirty="0">
                <a:latin typeface="Arial"/>
                <a:cs typeface="Arial"/>
              </a:rPr>
              <a:t>, </a:t>
            </a:r>
            <a:r>
              <a:rPr sz="2000" b="1" dirty="0">
                <a:latin typeface="Arial"/>
                <a:cs typeface="Arial"/>
              </a:rPr>
              <a:t>then fault </a:t>
            </a:r>
            <a:r>
              <a:rPr sz="2000" b="1" i="1" dirty="0">
                <a:latin typeface="Arial-BoldItalicMT"/>
                <a:cs typeface="Arial-BoldItalicMT"/>
              </a:rPr>
              <a:t>g </a:t>
            </a:r>
            <a:r>
              <a:rPr sz="2000" b="1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equivalent </a:t>
            </a:r>
            <a:r>
              <a:rPr sz="2000" b="1" dirty="0">
                <a:latin typeface="Arial"/>
                <a:cs typeface="Arial"/>
              </a:rPr>
              <a:t>to fault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f</a:t>
            </a:r>
            <a:endParaRPr sz="2000" dirty="0">
              <a:latin typeface="Arial-BoldItalicMT"/>
              <a:cs typeface="Arial-BoldItalicMT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Equivalence </a:t>
            </a:r>
            <a:r>
              <a:rPr sz="2000" b="1" dirty="0">
                <a:latin typeface="Arial"/>
                <a:cs typeface="Arial"/>
              </a:rPr>
              <a:t>relationship is also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transitive</a:t>
            </a:r>
            <a:endParaRPr sz="20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if fault </a:t>
            </a:r>
            <a:r>
              <a:rPr sz="2000" b="1" i="1" dirty="0">
                <a:latin typeface="Arial-BoldItalicMT"/>
                <a:cs typeface="Arial-BoldItalicMT"/>
              </a:rPr>
              <a:t>f </a:t>
            </a:r>
            <a:r>
              <a:rPr sz="2000" b="1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equivalent </a:t>
            </a:r>
            <a:r>
              <a:rPr sz="2000" b="1" dirty="0">
                <a:latin typeface="Arial"/>
                <a:cs typeface="Arial"/>
              </a:rPr>
              <a:t>to fault </a:t>
            </a:r>
            <a:r>
              <a:rPr sz="2000" b="1" i="1" dirty="0">
                <a:latin typeface="Arial-BoldItalicMT"/>
                <a:cs typeface="Arial-BoldItalicMT"/>
              </a:rPr>
              <a:t>g </a:t>
            </a:r>
            <a:r>
              <a:rPr sz="2000" b="1" dirty="0">
                <a:latin typeface="Arial"/>
                <a:cs typeface="Arial"/>
              </a:rPr>
              <a:t>and fault </a:t>
            </a:r>
            <a:r>
              <a:rPr sz="2000" b="1" i="1" dirty="0">
                <a:latin typeface="Arial-BoldItalicMT"/>
                <a:cs typeface="Arial-BoldItalicMT"/>
              </a:rPr>
              <a:t>g </a:t>
            </a:r>
            <a:r>
              <a:rPr sz="2000" b="1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equivalent </a:t>
            </a:r>
            <a:r>
              <a:rPr sz="2000" b="1" dirty="0">
                <a:latin typeface="Arial"/>
                <a:cs typeface="Arial"/>
              </a:rPr>
              <a:t>to fault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-BoldItalicMT"/>
                <a:cs typeface="Arial-BoldItalicMT"/>
              </a:rPr>
              <a:t>h</a:t>
            </a:r>
            <a:r>
              <a:rPr sz="2000" b="1" spc="-5" dirty="0">
                <a:latin typeface="Arial"/>
                <a:cs typeface="Arial"/>
              </a:rPr>
              <a:t>,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0225" y="2363470"/>
            <a:ext cx="4812030" cy="706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5628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then fault </a:t>
            </a:r>
            <a:r>
              <a:rPr sz="2000" b="1" i="1" dirty="0">
                <a:latin typeface="Arial-BoldItalicMT"/>
                <a:cs typeface="Arial-BoldItalicMT"/>
              </a:rPr>
              <a:t>f </a:t>
            </a:r>
            <a:r>
              <a:rPr sz="2000" b="1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equivalent </a:t>
            </a:r>
            <a:r>
              <a:rPr sz="2000" b="1" dirty="0">
                <a:latin typeface="Arial"/>
                <a:cs typeface="Arial"/>
              </a:rPr>
              <a:t>to fault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h</a:t>
            </a:r>
            <a:endParaRPr sz="2000" dirty="0">
              <a:latin typeface="Arial-BoldItalicMT"/>
              <a:cs typeface="Arial-BoldItalicMT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Example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7425" y="3094685"/>
            <a:ext cx="8116570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86385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286385" algn="l"/>
                <a:tab pos="299720" algn="l"/>
              </a:tabLst>
            </a:pPr>
            <a:r>
              <a:rPr sz="2000" b="1" dirty="0">
                <a:latin typeface="Arial"/>
                <a:cs typeface="Arial"/>
              </a:rPr>
              <a:t>A/0 fault is </a:t>
            </a:r>
            <a:r>
              <a:rPr sz="2000" b="1" spc="-5" dirty="0">
                <a:latin typeface="Arial"/>
                <a:cs typeface="Arial"/>
              </a:rPr>
              <a:t>equivalent </a:t>
            </a:r>
            <a:r>
              <a:rPr sz="2000" b="1" dirty="0">
                <a:latin typeface="Arial"/>
                <a:cs typeface="Arial"/>
              </a:rPr>
              <a:t>to B/0 fault, </a:t>
            </a:r>
            <a:r>
              <a:rPr sz="2000" b="1" spc="5" dirty="0">
                <a:latin typeface="Arial"/>
                <a:cs typeface="Arial"/>
              </a:rPr>
              <a:t>which </a:t>
            </a:r>
            <a:r>
              <a:rPr sz="2000" b="1" dirty="0">
                <a:latin typeface="Arial"/>
                <a:cs typeface="Arial"/>
              </a:rPr>
              <a:t>is also </a:t>
            </a:r>
            <a:r>
              <a:rPr sz="2000" b="1" spc="-5" dirty="0">
                <a:latin typeface="Arial"/>
                <a:cs typeface="Arial"/>
              </a:rPr>
              <a:t>equivalent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1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C/0</a:t>
            </a:r>
            <a:endParaRPr sz="2000">
              <a:latin typeface="Arial"/>
              <a:cs typeface="Arial"/>
            </a:endParaRPr>
          </a:p>
          <a:p>
            <a:pPr marR="49530"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Arial"/>
                <a:cs typeface="Arial"/>
              </a:rPr>
              <a:t>fault. These three faults belong to the same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equivalence</a:t>
            </a:r>
            <a:r>
              <a:rPr sz="2000" b="1" i="1" spc="-20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class</a:t>
            </a:r>
            <a:endParaRPr sz="2000">
              <a:latin typeface="Arial-BoldItalicMT"/>
              <a:cs typeface="Arial-BoldItalic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87829" y="164414"/>
            <a:ext cx="56381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Properties </a:t>
            </a:r>
            <a:r>
              <a:rPr dirty="0"/>
              <a:t>of</a:t>
            </a:r>
            <a:r>
              <a:rPr spc="-25" dirty="0"/>
              <a:t> </a:t>
            </a:r>
            <a:r>
              <a:rPr spc="-5" dirty="0"/>
              <a:t>Equivalence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5125" y="3937000"/>
          <a:ext cx="8288654" cy="23748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5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1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0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85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46100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Input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30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7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Output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308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A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B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good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A/0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C/0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B/0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A/1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C/1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B/1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6723126" y="2596133"/>
            <a:ext cx="448309" cy="1905"/>
          </a:xfrm>
          <a:custGeom>
            <a:avLst/>
            <a:gdLst/>
            <a:ahLst/>
            <a:cxnLst/>
            <a:rect l="l" t="t" r="r" b="b"/>
            <a:pathLst>
              <a:path w="448309" h="1905">
                <a:moveTo>
                  <a:pt x="448055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23126" y="3048761"/>
            <a:ext cx="448309" cy="0"/>
          </a:xfrm>
          <a:custGeom>
            <a:avLst/>
            <a:gdLst/>
            <a:ahLst/>
            <a:cxnLst/>
            <a:rect l="l" t="t" r="r" b="b"/>
            <a:pathLst>
              <a:path w="448309">
                <a:moveTo>
                  <a:pt x="448055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98257" y="2823210"/>
            <a:ext cx="448309" cy="1905"/>
          </a:xfrm>
          <a:custGeom>
            <a:avLst/>
            <a:gdLst/>
            <a:ahLst/>
            <a:cxnLst/>
            <a:rect l="l" t="t" r="r" b="b"/>
            <a:pathLst>
              <a:path w="448309" h="1905">
                <a:moveTo>
                  <a:pt x="448056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48678" y="2486405"/>
            <a:ext cx="675640" cy="673735"/>
          </a:xfrm>
          <a:custGeom>
            <a:avLst/>
            <a:gdLst/>
            <a:ahLst/>
            <a:cxnLst/>
            <a:rect l="l" t="t" r="r" b="b"/>
            <a:pathLst>
              <a:path w="675640" h="673735">
                <a:moveTo>
                  <a:pt x="337566" y="0"/>
                </a:moveTo>
                <a:lnTo>
                  <a:pt x="0" y="0"/>
                </a:lnTo>
                <a:lnTo>
                  <a:pt x="0" y="673608"/>
                </a:lnTo>
                <a:lnTo>
                  <a:pt x="337566" y="673608"/>
                </a:lnTo>
                <a:lnTo>
                  <a:pt x="383372" y="670534"/>
                </a:lnTo>
                <a:lnTo>
                  <a:pt x="427305" y="661580"/>
                </a:lnTo>
                <a:lnTo>
                  <a:pt x="468963" y="647146"/>
                </a:lnTo>
                <a:lnTo>
                  <a:pt x="507943" y="627634"/>
                </a:lnTo>
                <a:lnTo>
                  <a:pt x="543843" y="603443"/>
                </a:lnTo>
                <a:lnTo>
                  <a:pt x="576262" y="574976"/>
                </a:lnTo>
                <a:lnTo>
                  <a:pt x="604796" y="542633"/>
                </a:lnTo>
                <a:lnTo>
                  <a:pt x="629045" y="506814"/>
                </a:lnTo>
                <a:lnTo>
                  <a:pt x="648604" y="467921"/>
                </a:lnTo>
                <a:lnTo>
                  <a:pt x="663074" y="426354"/>
                </a:lnTo>
                <a:lnTo>
                  <a:pt x="672050" y="382515"/>
                </a:lnTo>
                <a:lnTo>
                  <a:pt x="675131" y="336804"/>
                </a:lnTo>
                <a:lnTo>
                  <a:pt x="672050" y="291092"/>
                </a:lnTo>
                <a:lnTo>
                  <a:pt x="663074" y="247253"/>
                </a:lnTo>
                <a:lnTo>
                  <a:pt x="648604" y="205686"/>
                </a:lnTo>
                <a:lnTo>
                  <a:pt x="629045" y="166793"/>
                </a:lnTo>
                <a:lnTo>
                  <a:pt x="604796" y="130974"/>
                </a:lnTo>
                <a:lnTo>
                  <a:pt x="576262" y="98631"/>
                </a:lnTo>
                <a:lnTo>
                  <a:pt x="543843" y="70164"/>
                </a:lnTo>
                <a:lnTo>
                  <a:pt x="507943" y="45974"/>
                </a:lnTo>
                <a:lnTo>
                  <a:pt x="468963" y="26461"/>
                </a:lnTo>
                <a:lnTo>
                  <a:pt x="427305" y="12027"/>
                </a:lnTo>
                <a:lnTo>
                  <a:pt x="383372" y="3073"/>
                </a:lnTo>
                <a:lnTo>
                  <a:pt x="3375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48678" y="2486405"/>
            <a:ext cx="675640" cy="673735"/>
          </a:xfrm>
          <a:custGeom>
            <a:avLst/>
            <a:gdLst/>
            <a:ahLst/>
            <a:cxnLst/>
            <a:rect l="l" t="t" r="r" b="b"/>
            <a:pathLst>
              <a:path w="675640" h="673735">
                <a:moveTo>
                  <a:pt x="0" y="0"/>
                </a:moveTo>
                <a:lnTo>
                  <a:pt x="337566" y="0"/>
                </a:lnTo>
                <a:lnTo>
                  <a:pt x="383372" y="3073"/>
                </a:lnTo>
                <a:lnTo>
                  <a:pt x="427305" y="12027"/>
                </a:lnTo>
                <a:lnTo>
                  <a:pt x="468963" y="26461"/>
                </a:lnTo>
                <a:lnTo>
                  <a:pt x="507943" y="45974"/>
                </a:lnTo>
                <a:lnTo>
                  <a:pt x="543843" y="70164"/>
                </a:lnTo>
                <a:lnTo>
                  <a:pt x="576262" y="98631"/>
                </a:lnTo>
                <a:lnTo>
                  <a:pt x="604796" y="130974"/>
                </a:lnTo>
                <a:lnTo>
                  <a:pt x="629045" y="166793"/>
                </a:lnTo>
                <a:lnTo>
                  <a:pt x="648604" y="205686"/>
                </a:lnTo>
                <a:lnTo>
                  <a:pt x="663074" y="247253"/>
                </a:lnTo>
                <a:lnTo>
                  <a:pt x="672050" y="291092"/>
                </a:lnTo>
                <a:lnTo>
                  <a:pt x="675131" y="336804"/>
                </a:lnTo>
                <a:lnTo>
                  <a:pt x="672050" y="382515"/>
                </a:lnTo>
                <a:lnTo>
                  <a:pt x="663074" y="426354"/>
                </a:lnTo>
                <a:lnTo>
                  <a:pt x="648604" y="467921"/>
                </a:lnTo>
                <a:lnTo>
                  <a:pt x="629045" y="506814"/>
                </a:lnTo>
                <a:lnTo>
                  <a:pt x="604796" y="542633"/>
                </a:lnTo>
                <a:lnTo>
                  <a:pt x="576262" y="574976"/>
                </a:lnTo>
                <a:lnTo>
                  <a:pt x="543843" y="603443"/>
                </a:lnTo>
                <a:lnTo>
                  <a:pt x="507943" y="627634"/>
                </a:lnTo>
                <a:lnTo>
                  <a:pt x="468963" y="647146"/>
                </a:lnTo>
                <a:lnTo>
                  <a:pt x="427305" y="661580"/>
                </a:lnTo>
                <a:lnTo>
                  <a:pt x="383372" y="670534"/>
                </a:lnTo>
                <a:lnTo>
                  <a:pt x="337566" y="673608"/>
                </a:lnTo>
                <a:lnTo>
                  <a:pt x="0" y="673608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38976" y="2394661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sp>
        <p:nvSpPr>
          <p:cNvPr id="13" name="object 13"/>
          <p:cNvSpPr txBox="1"/>
          <p:nvPr/>
        </p:nvSpPr>
        <p:spPr>
          <a:xfrm>
            <a:off x="6543802" y="2885694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67904" y="2661920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279" y="164414"/>
            <a:ext cx="75431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Arial-BoldItalicMT"/>
                <a:cs typeface="Arial-BoldItalicMT"/>
              </a:rPr>
              <a:t>Equivalence Fault Collapsing,</a:t>
            </a:r>
            <a:r>
              <a:rPr spc="10" dirty="0">
                <a:latin typeface="Arial-BoldItalicMT"/>
                <a:cs typeface="Arial-BoldItalicMT"/>
              </a:rPr>
              <a:t> </a:t>
            </a:r>
            <a:r>
              <a:rPr dirty="0">
                <a:latin typeface="Arial-BoldItalicMT"/>
                <a:cs typeface="Arial-BoldItalicMT"/>
              </a:rPr>
              <a:t>EFC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7855584" cy="22205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EFC reduces fault </a:t>
            </a:r>
            <a:r>
              <a:rPr sz="2000" b="1" spc="-5" dirty="0">
                <a:latin typeface="Arial"/>
                <a:cs typeface="Arial"/>
              </a:rPr>
              <a:t>list </a:t>
            </a:r>
            <a:r>
              <a:rPr sz="2000" b="1" dirty="0">
                <a:latin typeface="Arial"/>
                <a:cs typeface="Arial"/>
              </a:rPr>
              <a:t>using fault </a:t>
            </a:r>
            <a:r>
              <a:rPr sz="2000" b="1" spc="-5" dirty="0">
                <a:latin typeface="Arial"/>
                <a:cs typeface="Arial"/>
              </a:rPr>
              <a:t>equivalence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relationship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Select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one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representative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fault </a:t>
            </a:r>
            <a:r>
              <a:rPr sz="2000" b="1" dirty="0">
                <a:latin typeface="Arial"/>
                <a:cs typeface="Arial"/>
              </a:rPr>
              <a:t>from </a:t>
            </a:r>
            <a:r>
              <a:rPr sz="2000" b="1" spc="-5" dirty="0">
                <a:latin typeface="Arial"/>
                <a:cs typeface="Arial"/>
              </a:rPr>
              <a:t>every </a:t>
            </a:r>
            <a:r>
              <a:rPr sz="2000" b="1" dirty="0">
                <a:latin typeface="Arial"/>
                <a:cs typeface="Arial"/>
              </a:rPr>
              <a:t>equivalent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class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Example: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Originally </a:t>
            </a:r>
            <a:r>
              <a:rPr sz="2000" b="1" spc="-5" dirty="0">
                <a:latin typeface="Arial"/>
                <a:cs typeface="Arial"/>
              </a:rPr>
              <a:t>six </a:t>
            </a:r>
            <a:r>
              <a:rPr sz="2000" b="1" dirty="0">
                <a:latin typeface="Arial"/>
                <a:cs typeface="Arial"/>
              </a:rPr>
              <a:t>faults per 2-input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gate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After EFC, only four faults per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gate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10" dirty="0">
                <a:solidFill>
                  <a:srgbClr val="0000FF"/>
                </a:solidFill>
                <a:latin typeface="Arial"/>
                <a:cs typeface="Arial"/>
              </a:rPr>
              <a:t>6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→</a:t>
            </a:r>
            <a:r>
              <a:rPr sz="2000" b="1" spc="-10" dirty="0">
                <a:solidFill>
                  <a:srgbClr val="0000FF"/>
                </a:solidFill>
                <a:latin typeface="Arial"/>
                <a:cs typeface="Arial"/>
              </a:rPr>
              <a:t>4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225" y="5181600"/>
            <a:ext cx="6028055" cy="75819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  <a:tab pos="1287145" algn="l"/>
              </a:tabLst>
            </a:pPr>
            <a:r>
              <a:rPr sz="2000" b="1" dirty="0">
                <a:latin typeface="Arial"/>
                <a:cs typeface="Arial"/>
              </a:rPr>
              <a:t>NOTE:	</a:t>
            </a:r>
            <a:r>
              <a:rPr sz="2000" b="1" spc="-5" dirty="0">
                <a:latin typeface="Arial"/>
                <a:cs typeface="Arial"/>
              </a:rPr>
              <a:t>EFC is </a:t>
            </a:r>
            <a:r>
              <a:rPr sz="2000" b="1" dirty="0">
                <a:latin typeface="Arial"/>
                <a:cs typeface="Arial"/>
              </a:rPr>
              <a:t>not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unique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{A/0, A/1, B/1, C/1} is also EFC for </a:t>
            </a:r>
            <a:r>
              <a:rPr sz="2000" b="1" spc="5" dirty="0">
                <a:latin typeface="Arial"/>
                <a:cs typeface="Arial"/>
              </a:rPr>
              <a:t>AND</a:t>
            </a:r>
            <a:r>
              <a:rPr sz="2000" b="1" spc="-1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gate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3741" y="4558738"/>
            <a:ext cx="478790" cy="1905"/>
          </a:xfrm>
          <a:custGeom>
            <a:avLst/>
            <a:gdLst/>
            <a:ahLst/>
            <a:cxnLst/>
            <a:rect l="l" t="t" r="r" b="b"/>
            <a:pathLst>
              <a:path w="478790" h="1904">
                <a:moveTo>
                  <a:pt x="478536" y="0"/>
                </a:moveTo>
                <a:lnTo>
                  <a:pt x="0" y="152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03070" y="4372811"/>
            <a:ext cx="477520" cy="1905"/>
          </a:xfrm>
          <a:custGeom>
            <a:avLst/>
            <a:gdLst/>
            <a:ahLst/>
            <a:cxnLst/>
            <a:rect l="l" t="t" r="r" b="b"/>
            <a:pathLst>
              <a:path w="477519" h="1904">
                <a:moveTo>
                  <a:pt x="477012" y="0"/>
                </a:moveTo>
                <a:lnTo>
                  <a:pt x="0" y="1523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24533" y="4042103"/>
            <a:ext cx="655320" cy="646430"/>
          </a:xfrm>
          <a:custGeom>
            <a:avLst/>
            <a:gdLst/>
            <a:ahLst/>
            <a:cxnLst/>
            <a:rect l="l" t="t" r="r" b="b"/>
            <a:pathLst>
              <a:path w="655319" h="646429">
                <a:moveTo>
                  <a:pt x="327659" y="0"/>
                </a:moveTo>
                <a:lnTo>
                  <a:pt x="0" y="0"/>
                </a:lnTo>
                <a:lnTo>
                  <a:pt x="0" y="646176"/>
                </a:lnTo>
                <a:lnTo>
                  <a:pt x="327659" y="646176"/>
                </a:lnTo>
                <a:lnTo>
                  <a:pt x="376082" y="642672"/>
                </a:lnTo>
                <a:lnTo>
                  <a:pt x="422297" y="632496"/>
                </a:lnTo>
                <a:lnTo>
                  <a:pt x="465798" y="616147"/>
                </a:lnTo>
                <a:lnTo>
                  <a:pt x="506080" y="594124"/>
                </a:lnTo>
                <a:lnTo>
                  <a:pt x="542634" y="566927"/>
                </a:lnTo>
                <a:lnTo>
                  <a:pt x="574955" y="535056"/>
                </a:lnTo>
                <a:lnTo>
                  <a:pt x="602535" y="499012"/>
                </a:lnTo>
                <a:lnTo>
                  <a:pt x="624868" y="459293"/>
                </a:lnTo>
                <a:lnTo>
                  <a:pt x="641448" y="416399"/>
                </a:lnTo>
                <a:lnTo>
                  <a:pt x="651767" y="370831"/>
                </a:lnTo>
                <a:lnTo>
                  <a:pt x="655320" y="323088"/>
                </a:lnTo>
                <a:lnTo>
                  <a:pt x="651767" y="275344"/>
                </a:lnTo>
                <a:lnTo>
                  <a:pt x="641448" y="229776"/>
                </a:lnTo>
                <a:lnTo>
                  <a:pt x="624868" y="186882"/>
                </a:lnTo>
                <a:lnTo>
                  <a:pt x="602535" y="147163"/>
                </a:lnTo>
                <a:lnTo>
                  <a:pt x="574955" y="111119"/>
                </a:lnTo>
                <a:lnTo>
                  <a:pt x="542634" y="79248"/>
                </a:lnTo>
                <a:lnTo>
                  <a:pt x="506080" y="52051"/>
                </a:lnTo>
                <a:lnTo>
                  <a:pt x="465798" y="30028"/>
                </a:lnTo>
                <a:lnTo>
                  <a:pt x="422297" y="13679"/>
                </a:lnTo>
                <a:lnTo>
                  <a:pt x="376082" y="3503"/>
                </a:lnTo>
                <a:lnTo>
                  <a:pt x="3276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24533" y="4042103"/>
            <a:ext cx="655320" cy="646430"/>
          </a:xfrm>
          <a:custGeom>
            <a:avLst/>
            <a:gdLst/>
            <a:ahLst/>
            <a:cxnLst/>
            <a:rect l="l" t="t" r="r" b="b"/>
            <a:pathLst>
              <a:path w="655319" h="646429">
                <a:moveTo>
                  <a:pt x="0" y="0"/>
                </a:moveTo>
                <a:lnTo>
                  <a:pt x="327659" y="0"/>
                </a:lnTo>
                <a:lnTo>
                  <a:pt x="376082" y="3503"/>
                </a:lnTo>
                <a:lnTo>
                  <a:pt x="422297" y="13679"/>
                </a:lnTo>
                <a:lnTo>
                  <a:pt x="465798" y="30028"/>
                </a:lnTo>
                <a:lnTo>
                  <a:pt x="506080" y="52051"/>
                </a:lnTo>
                <a:lnTo>
                  <a:pt x="542634" y="79248"/>
                </a:lnTo>
                <a:lnTo>
                  <a:pt x="574955" y="111119"/>
                </a:lnTo>
                <a:lnTo>
                  <a:pt x="602535" y="147163"/>
                </a:lnTo>
                <a:lnTo>
                  <a:pt x="624868" y="186882"/>
                </a:lnTo>
                <a:lnTo>
                  <a:pt x="641448" y="229776"/>
                </a:lnTo>
                <a:lnTo>
                  <a:pt x="651767" y="275344"/>
                </a:lnTo>
                <a:lnTo>
                  <a:pt x="655320" y="323088"/>
                </a:lnTo>
                <a:lnTo>
                  <a:pt x="651767" y="370831"/>
                </a:lnTo>
                <a:lnTo>
                  <a:pt x="641448" y="416399"/>
                </a:lnTo>
                <a:lnTo>
                  <a:pt x="624868" y="459293"/>
                </a:lnTo>
                <a:lnTo>
                  <a:pt x="602535" y="499012"/>
                </a:lnTo>
                <a:lnTo>
                  <a:pt x="574955" y="535056"/>
                </a:lnTo>
                <a:lnTo>
                  <a:pt x="542634" y="566927"/>
                </a:lnTo>
                <a:lnTo>
                  <a:pt x="506080" y="594124"/>
                </a:lnTo>
                <a:lnTo>
                  <a:pt x="465798" y="616147"/>
                </a:lnTo>
                <a:lnTo>
                  <a:pt x="422297" y="632496"/>
                </a:lnTo>
                <a:lnTo>
                  <a:pt x="376082" y="642672"/>
                </a:lnTo>
                <a:lnTo>
                  <a:pt x="327659" y="646176"/>
                </a:lnTo>
                <a:lnTo>
                  <a:pt x="0" y="64617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9358" y="3889652"/>
            <a:ext cx="7346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1360" algn="l"/>
              </a:tabLst>
            </a:pPr>
            <a:r>
              <a:rPr sz="2000" b="1" i="1" spc="-5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2000" b="1" i="1" u="heavy" spc="-5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/1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1857" y="4006416"/>
            <a:ext cx="3917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" dirty="0">
                <a:latin typeface="Calibri" panose="020F0502020204030204" pitchFamily="34" charset="0"/>
                <a:cs typeface="Calibri" panose="020F0502020204030204" pitchFamily="34" charset="0"/>
              </a:rPr>
              <a:t>C/1</a:t>
            </a:r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1189" y="4334075"/>
            <a:ext cx="3917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" dirty="0">
                <a:latin typeface="Calibri" panose="020F0502020204030204" pitchFamily="34" charset="0"/>
                <a:cs typeface="Calibri" panose="020F0502020204030204" pitchFamily="34" charset="0"/>
              </a:rPr>
              <a:t>C/0</a:t>
            </a:r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81122" y="4224982"/>
            <a:ext cx="478790" cy="1905"/>
          </a:xfrm>
          <a:custGeom>
            <a:avLst/>
            <a:gdLst/>
            <a:ahLst/>
            <a:cxnLst/>
            <a:rect l="l" t="t" r="r" b="b"/>
            <a:pathLst>
              <a:path w="478789" h="1904">
                <a:moveTo>
                  <a:pt x="478536" y="0"/>
                </a:moveTo>
                <a:lnTo>
                  <a:pt x="0" y="1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81122" y="4569406"/>
            <a:ext cx="478790" cy="1905"/>
          </a:xfrm>
          <a:custGeom>
            <a:avLst/>
            <a:gdLst/>
            <a:ahLst/>
            <a:cxnLst/>
            <a:rect l="l" t="t" r="r" b="b"/>
            <a:pathLst>
              <a:path w="478789" h="1904">
                <a:moveTo>
                  <a:pt x="478536" y="0"/>
                </a:moveTo>
                <a:lnTo>
                  <a:pt x="0" y="1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00450" y="4383479"/>
            <a:ext cx="477520" cy="1905"/>
          </a:xfrm>
          <a:custGeom>
            <a:avLst/>
            <a:gdLst/>
            <a:ahLst/>
            <a:cxnLst/>
            <a:rect l="l" t="t" r="r" b="b"/>
            <a:pathLst>
              <a:path w="477520" h="1904">
                <a:moveTo>
                  <a:pt x="477012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121914" y="4052770"/>
            <a:ext cx="655320" cy="646430"/>
          </a:xfrm>
          <a:custGeom>
            <a:avLst/>
            <a:gdLst/>
            <a:ahLst/>
            <a:cxnLst/>
            <a:rect l="l" t="t" r="r" b="b"/>
            <a:pathLst>
              <a:path w="655320" h="646429">
                <a:moveTo>
                  <a:pt x="327660" y="0"/>
                </a:moveTo>
                <a:lnTo>
                  <a:pt x="0" y="0"/>
                </a:lnTo>
                <a:lnTo>
                  <a:pt x="0" y="646176"/>
                </a:lnTo>
                <a:lnTo>
                  <a:pt x="327660" y="646176"/>
                </a:lnTo>
                <a:lnTo>
                  <a:pt x="376082" y="642672"/>
                </a:lnTo>
                <a:lnTo>
                  <a:pt x="422297" y="632496"/>
                </a:lnTo>
                <a:lnTo>
                  <a:pt x="465798" y="616147"/>
                </a:lnTo>
                <a:lnTo>
                  <a:pt x="506080" y="594124"/>
                </a:lnTo>
                <a:lnTo>
                  <a:pt x="542634" y="566927"/>
                </a:lnTo>
                <a:lnTo>
                  <a:pt x="574955" y="535056"/>
                </a:lnTo>
                <a:lnTo>
                  <a:pt x="602535" y="499012"/>
                </a:lnTo>
                <a:lnTo>
                  <a:pt x="624868" y="459293"/>
                </a:lnTo>
                <a:lnTo>
                  <a:pt x="641448" y="416399"/>
                </a:lnTo>
                <a:lnTo>
                  <a:pt x="651767" y="370831"/>
                </a:lnTo>
                <a:lnTo>
                  <a:pt x="655320" y="323088"/>
                </a:lnTo>
                <a:lnTo>
                  <a:pt x="651767" y="275344"/>
                </a:lnTo>
                <a:lnTo>
                  <a:pt x="641448" y="229776"/>
                </a:lnTo>
                <a:lnTo>
                  <a:pt x="624868" y="186882"/>
                </a:lnTo>
                <a:lnTo>
                  <a:pt x="602535" y="147163"/>
                </a:lnTo>
                <a:lnTo>
                  <a:pt x="574955" y="111119"/>
                </a:lnTo>
                <a:lnTo>
                  <a:pt x="542634" y="79248"/>
                </a:lnTo>
                <a:lnTo>
                  <a:pt x="506080" y="52051"/>
                </a:lnTo>
                <a:lnTo>
                  <a:pt x="465798" y="30028"/>
                </a:lnTo>
                <a:lnTo>
                  <a:pt x="422297" y="13679"/>
                </a:lnTo>
                <a:lnTo>
                  <a:pt x="376082" y="3503"/>
                </a:lnTo>
                <a:lnTo>
                  <a:pt x="3276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21914" y="4052770"/>
            <a:ext cx="655320" cy="646430"/>
          </a:xfrm>
          <a:custGeom>
            <a:avLst/>
            <a:gdLst/>
            <a:ahLst/>
            <a:cxnLst/>
            <a:rect l="l" t="t" r="r" b="b"/>
            <a:pathLst>
              <a:path w="655320" h="646429">
                <a:moveTo>
                  <a:pt x="0" y="0"/>
                </a:moveTo>
                <a:lnTo>
                  <a:pt x="327660" y="0"/>
                </a:lnTo>
                <a:lnTo>
                  <a:pt x="376082" y="3503"/>
                </a:lnTo>
                <a:lnTo>
                  <a:pt x="422297" y="13679"/>
                </a:lnTo>
                <a:lnTo>
                  <a:pt x="465798" y="30028"/>
                </a:lnTo>
                <a:lnTo>
                  <a:pt x="506080" y="52051"/>
                </a:lnTo>
                <a:lnTo>
                  <a:pt x="542634" y="79248"/>
                </a:lnTo>
                <a:lnTo>
                  <a:pt x="574955" y="111119"/>
                </a:lnTo>
                <a:lnTo>
                  <a:pt x="602535" y="147163"/>
                </a:lnTo>
                <a:lnTo>
                  <a:pt x="624868" y="186882"/>
                </a:lnTo>
                <a:lnTo>
                  <a:pt x="641448" y="229776"/>
                </a:lnTo>
                <a:lnTo>
                  <a:pt x="651767" y="275344"/>
                </a:lnTo>
                <a:lnTo>
                  <a:pt x="655320" y="323088"/>
                </a:lnTo>
                <a:lnTo>
                  <a:pt x="651767" y="370831"/>
                </a:lnTo>
                <a:lnTo>
                  <a:pt x="641448" y="416399"/>
                </a:lnTo>
                <a:lnTo>
                  <a:pt x="624868" y="459293"/>
                </a:lnTo>
                <a:lnTo>
                  <a:pt x="602535" y="499012"/>
                </a:lnTo>
                <a:lnTo>
                  <a:pt x="574955" y="535056"/>
                </a:lnTo>
                <a:lnTo>
                  <a:pt x="542634" y="566927"/>
                </a:lnTo>
                <a:lnTo>
                  <a:pt x="506080" y="594124"/>
                </a:lnTo>
                <a:lnTo>
                  <a:pt x="465798" y="616147"/>
                </a:lnTo>
                <a:lnTo>
                  <a:pt x="422297" y="632496"/>
                </a:lnTo>
                <a:lnTo>
                  <a:pt x="376082" y="642672"/>
                </a:lnTo>
                <a:lnTo>
                  <a:pt x="327660" y="646176"/>
                </a:lnTo>
                <a:lnTo>
                  <a:pt x="0" y="64617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9358" y="4534558"/>
            <a:ext cx="22891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10080" algn="l"/>
              </a:tabLst>
            </a:pPr>
            <a:r>
              <a:rPr sz="3000" b="1" i="1" spc="-7" baseline="2777" dirty="0">
                <a:latin typeface="Calibri" panose="020F0502020204030204" pitchFamily="34" charset="0"/>
                <a:cs typeface="Calibri" panose="020F0502020204030204" pitchFamily="34" charset="0"/>
              </a:rPr>
              <a:t>B/</a:t>
            </a:r>
            <a:r>
              <a:rPr sz="3000" b="1" i="1" baseline="2777" dirty="0">
                <a:latin typeface="Calibri" panose="020F0502020204030204" pitchFamily="34" charset="0"/>
                <a:cs typeface="Calibri" panose="020F0502020204030204" pitchFamily="34" charset="0"/>
              </a:rPr>
              <a:t>1	</a:t>
            </a:r>
            <a:r>
              <a:rPr sz="2000" b="1" i="1" spc="-10" dirty="0">
                <a:latin typeface="Calibri" panose="020F0502020204030204" pitchFamily="34" charset="0"/>
                <a:cs typeface="Calibri" panose="020F0502020204030204" pitchFamily="34" charset="0"/>
              </a:rPr>
              <a:t>B/1</a:t>
            </a:r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09238" y="4017084"/>
            <a:ext cx="3924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" dirty="0">
                <a:latin typeface="Calibri" panose="020F0502020204030204" pitchFamily="34" charset="0"/>
                <a:cs typeface="Calibri" panose="020F0502020204030204" pitchFamily="34" charset="0"/>
              </a:rPr>
              <a:t>C/1</a:t>
            </a:r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98823" y="4344743"/>
            <a:ext cx="3917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" dirty="0">
                <a:latin typeface="Calibri" panose="020F0502020204030204" pitchFamily="34" charset="0"/>
                <a:cs typeface="Calibri" panose="020F0502020204030204" pitchFamily="34" charset="0"/>
              </a:rPr>
              <a:t>C/0</a:t>
            </a:r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64279" y="4330900"/>
            <a:ext cx="132587" cy="121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26329" y="4590743"/>
            <a:ext cx="478790" cy="1905"/>
          </a:xfrm>
          <a:custGeom>
            <a:avLst/>
            <a:gdLst/>
            <a:ahLst/>
            <a:cxnLst/>
            <a:rect l="l" t="t" r="r" b="b"/>
            <a:pathLst>
              <a:path w="478789" h="1904">
                <a:moveTo>
                  <a:pt x="478536" y="0"/>
                </a:moveTo>
                <a:lnTo>
                  <a:pt x="0" y="152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645658" y="4404815"/>
            <a:ext cx="477520" cy="1905"/>
          </a:xfrm>
          <a:custGeom>
            <a:avLst/>
            <a:gdLst/>
            <a:ahLst/>
            <a:cxnLst/>
            <a:rect l="l" t="t" r="r" b="b"/>
            <a:pathLst>
              <a:path w="477520" h="1904">
                <a:moveTo>
                  <a:pt x="477012" y="0"/>
                </a:moveTo>
                <a:lnTo>
                  <a:pt x="0" y="15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81473" y="4556199"/>
            <a:ext cx="59499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" dirty="0">
                <a:latin typeface="Calibri" panose="020F0502020204030204" pitchFamily="34" charset="0"/>
                <a:cs typeface="Calibri" panose="020F0502020204030204" pitchFamily="34" charset="0"/>
              </a:rPr>
              <a:t>B/0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54953" y="4038038"/>
            <a:ext cx="3917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" dirty="0">
                <a:latin typeface="Calibri" panose="020F0502020204030204" pitchFamily="34" charset="0"/>
                <a:cs typeface="Calibri" panose="020F0502020204030204" pitchFamily="34" charset="0"/>
              </a:rPr>
              <a:t>C/1</a:t>
            </a:r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44285" y="4365394"/>
            <a:ext cx="3917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10" dirty="0">
                <a:latin typeface="Calibri" panose="020F0502020204030204" pitchFamily="34" charset="0"/>
                <a:cs typeface="Calibri" panose="020F0502020204030204" pitchFamily="34" charset="0"/>
              </a:rPr>
              <a:t>C/0</a:t>
            </a:r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071109" y="4042103"/>
            <a:ext cx="721360" cy="719455"/>
          </a:xfrm>
          <a:custGeom>
            <a:avLst/>
            <a:gdLst/>
            <a:ahLst/>
            <a:cxnLst/>
            <a:rect l="l" t="t" r="r" b="b"/>
            <a:pathLst>
              <a:path w="721360" h="719454">
                <a:moveTo>
                  <a:pt x="0" y="0"/>
                </a:moveTo>
                <a:lnTo>
                  <a:pt x="27101" y="44000"/>
                </a:lnTo>
                <a:lnTo>
                  <a:pt x="50589" y="88384"/>
                </a:lnTo>
                <a:lnTo>
                  <a:pt x="70464" y="133096"/>
                </a:lnTo>
                <a:lnTo>
                  <a:pt x="86725" y="178081"/>
                </a:lnTo>
                <a:lnTo>
                  <a:pt x="99372" y="223285"/>
                </a:lnTo>
                <a:lnTo>
                  <a:pt x="108406" y="268654"/>
                </a:lnTo>
                <a:lnTo>
                  <a:pt x="113826" y="314131"/>
                </a:lnTo>
                <a:lnTo>
                  <a:pt x="115633" y="359663"/>
                </a:lnTo>
                <a:lnTo>
                  <a:pt x="113826" y="405196"/>
                </a:lnTo>
                <a:lnTo>
                  <a:pt x="108406" y="450673"/>
                </a:lnTo>
                <a:lnTo>
                  <a:pt x="99372" y="496042"/>
                </a:lnTo>
                <a:lnTo>
                  <a:pt x="86725" y="541246"/>
                </a:lnTo>
                <a:lnTo>
                  <a:pt x="70464" y="586231"/>
                </a:lnTo>
                <a:lnTo>
                  <a:pt x="50589" y="630943"/>
                </a:lnTo>
                <a:lnTo>
                  <a:pt x="27101" y="675327"/>
                </a:lnTo>
                <a:lnTo>
                  <a:pt x="0" y="719328"/>
                </a:lnTo>
                <a:lnTo>
                  <a:pt x="62202" y="718007"/>
                </a:lnTo>
                <a:lnTo>
                  <a:pt x="122933" y="714118"/>
                </a:lnTo>
                <a:lnTo>
                  <a:pt x="181979" y="707769"/>
                </a:lnTo>
                <a:lnTo>
                  <a:pt x="239122" y="699067"/>
                </a:lnTo>
                <a:lnTo>
                  <a:pt x="294145" y="688121"/>
                </a:lnTo>
                <a:lnTo>
                  <a:pt x="346834" y="675038"/>
                </a:lnTo>
                <a:lnTo>
                  <a:pt x="396971" y="659926"/>
                </a:lnTo>
                <a:lnTo>
                  <a:pt x="444340" y="642894"/>
                </a:lnTo>
                <a:lnTo>
                  <a:pt x="488724" y="624049"/>
                </a:lnTo>
                <a:lnTo>
                  <a:pt x="529908" y="603500"/>
                </a:lnTo>
                <a:lnTo>
                  <a:pt x="567676" y="581354"/>
                </a:lnTo>
                <a:lnTo>
                  <a:pt x="601810" y="557719"/>
                </a:lnTo>
                <a:lnTo>
                  <a:pt x="632094" y="532704"/>
                </a:lnTo>
                <a:lnTo>
                  <a:pt x="680250" y="478963"/>
                </a:lnTo>
                <a:lnTo>
                  <a:pt x="710413" y="420995"/>
                </a:lnTo>
                <a:lnTo>
                  <a:pt x="720851" y="359663"/>
                </a:lnTo>
                <a:lnTo>
                  <a:pt x="718206" y="328632"/>
                </a:lnTo>
                <a:lnTo>
                  <a:pt x="697689" y="268874"/>
                </a:lnTo>
                <a:lnTo>
                  <a:pt x="658313" y="212912"/>
                </a:lnTo>
                <a:lnTo>
                  <a:pt x="601810" y="161608"/>
                </a:lnTo>
                <a:lnTo>
                  <a:pt x="567676" y="137973"/>
                </a:lnTo>
                <a:lnTo>
                  <a:pt x="529908" y="115827"/>
                </a:lnTo>
                <a:lnTo>
                  <a:pt x="488724" y="95278"/>
                </a:lnTo>
                <a:lnTo>
                  <a:pt x="444340" y="76433"/>
                </a:lnTo>
                <a:lnTo>
                  <a:pt x="396971" y="59401"/>
                </a:lnTo>
                <a:lnTo>
                  <a:pt x="346834" y="44289"/>
                </a:lnTo>
                <a:lnTo>
                  <a:pt x="294145" y="31206"/>
                </a:lnTo>
                <a:lnTo>
                  <a:pt x="239122" y="20260"/>
                </a:lnTo>
                <a:lnTo>
                  <a:pt x="181979" y="11558"/>
                </a:lnTo>
                <a:lnTo>
                  <a:pt x="122933" y="5209"/>
                </a:lnTo>
                <a:lnTo>
                  <a:pt x="62202" y="1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71109" y="4042103"/>
            <a:ext cx="721360" cy="719455"/>
          </a:xfrm>
          <a:custGeom>
            <a:avLst/>
            <a:gdLst/>
            <a:ahLst/>
            <a:cxnLst/>
            <a:rect l="l" t="t" r="r" b="b"/>
            <a:pathLst>
              <a:path w="721360" h="719454">
                <a:moveTo>
                  <a:pt x="0" y="719328"/>
                </a:moveTo>
                <a:lnTo>
                  <a:pt x="62202" y="718007"/>
                </a:lnTo>
                <a:lnTo>
                  <a:pt x="122933" y="714118"/>
                </a:lnTo>
                <a:lnTo>
                  <a:pt x="181979" y="707769"/>
                </a:lnTo>
                <a:lnTo>
                  <a:pt x="239122" y="699067"/>
                </a:lnTo>
                <a:lnTo>
                  <a:pt x="294145" y="688121"/>
                </a:lnTo>
                <a:lnTo>
                  <a:pt x="346834" y="675038"/>
                </a:lnTo>
                <a:lnTo>
                  <a:pt x="396971" y="659926"/>
                </a:lnTo>
                <a:lnTo>
                  <a:pt x="444340" y="642894"/>
                </a:lnTo>
                <a:lnTo>
                  <a:pt x="488724" y="624049"/>
                </a:lnTo>
                <a:lnTo>
                  <a:pt x="529908" y="603500"/>
                </a:lnTo>
                <a:lnTo>
                  <a:pt x="567676" y="581354"/>
                </a:lnTo>
                <a:lnTo>
                  <a:pt x="601810" y="557719"/>
                </a:lnTo>
                <a:lnTo>
                  <a:pt x="632094" y="532704"/>
                </a:lnTo>
                <a:lnTo>
                  <a:pt x="680250" y="478963"/>
                </a:lnTo>
                <a:lnTo>
                  <a:pt x="710413" y="420995"/>
                </a:lnTo>
                <a:lnTo>
                  <a:pt x="720851" y="359663"/>
                </a:lnTo>
                <a:lnTo>
                  <a:pt x="718206" y="328632"/>
                </a:lnTo>
                <a:lnTo>
                  <a:pt x="697689" y="268874"/>
                </a:lnTo>
                <a:lnTo>
                  <a:pt x="658313" y="212912"/>
                </a:lnTo>
                <a:lnTo>
                  <a:pt x="601810" y="161608"/>
                </a:lnTo>
                <a:lnTo>
                  <a:pt x="567676" y="137973"/>
                </a:lnTo>
                <a:lnTo>
                  <a:pt x="529908" y="115827"/>
                </a:lnTo>
                <a:lnTo>
                  <a:pt x="488724" y="95278"/>
                </a:lnTo>
                <a:lnTo>
                  <a:pt x="444340" y="76433"/>
                </a:lnTo>
                <a:lnTo>
                  <a:pt x="396971" y="59401"/>
                </a:lnTo>
                <a:lnTo>
                  <a:pt x="346834" y="44289"/>
                </a:lnTo>
                <a:lnTo>
                  <a:pt x="294145" y="31206"/>
                </a:lnTo>
                <a:lnTo>
                  <a:pt x="239122" y="20260"/>
                </a:lnTo>
                <a:lnTo>
                  <a:pt x="181979" y="11558"/>
                </a:lnTo>
                <a:lnTo>
                  <a:pt x="122933" y="5209"/>
                </a:lnTo>
                <a:lnTo>
                  <a:pt x="62202" y="1320"/>
                </a:lnTo>
                <a:lnTo>
                  <a:pt x="0" y="0"/>
                </a:lnTo>
                <a:lnTo>
                  <a:pt x="27101" y="44000"/>
                </a:lnTo>
                <a:lnTo>
                  <a:pt x="50589" y="88384"/>
                </a:lnTo>
                <a:lnTo>
                  <a:pt x="70464" y="133096"/>
                </a:lnTo>
                <a:lnTo>
                  <a:pt x="86725" y="178081"/>
                </a:lnTo>
                <a:lnTo>
                  <a:pt x="99372" y="223285"/>
                </a:lnTo>
                <a:lnTo>
                  <a:pt x="108406" y="268654"/>
                </a:lnTo>
                <a:lnTo>
                  <a:pt x="113826" y="314131"/>
                </a:lnTo>
                <a:lnTo>
                  <a:pt x="115633" y="359663"/>
                </a:lnTo>
                <a:lnTo>
                  <a:pt x="113826" y="405196"/>
                </a:lnTo>
                <a:lnTo>
                  <a:pt x="108406" y="450673"/>
                </a:lnTo>
                <a:lnTo>
                  <a:pt x="99372" y="496042"/>
                </a:lnTo>
                <a:lnTo>
                  <a:pt x="86725" y="541246"/>
                </a:lnTo>
                <a:lnTo>
                  <a:pt x="70464" y="586231"/>
                </a:lnTo>
                <a:lnTo>
                  <a:pt x="50589" y="630943"/>
                </a:lnTo>
                <a:lnTo>
                  <a:pt x="27101" y="675327"/>
                </a:lnTo>
                <a:lnTo>
                  <a:pt x="0" y="719328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660642" y="4580074"/>
            <a:ext cx="477520" cy="1905"/>
          </a:xfrm>
          <a:custGeom>
            <a:avLst/>
            <a:gdLst/>
            <a:ahLst/>
            <a:cxnLst/>
            <a:rect l="l" t="t" r="r" b="b"/>
            <a:pathLst>
              <a:path w="477520" h="1904">
                <a:moveTo>
                  <a:pt x="477011" y="0"/>
                </a:moveTo>
                <a:lnTo>
                  <a:pt x="0" y="1523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378445" y="4394147"/>
            <a:ext cx="478790" cy="1905"/>
          </a:xfrm>
          <a:custGeom>
            <a:avLst/>
            <a:gdLst/>
            <a:ahLst/>
            <a:cxnLst/>
            <a:rect l="l" t="t" r="r" b="b"/>
            <a:pathLst>
              <a:path w="478790" h="1904">
                <a:moveTo>
                  <a:pt x="478535" y="0"/>
                </a:moveTo>
                <a:lnTo>
                  <a:pt x="0" y="152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81473" y="3921402"/>
            <a:ext cx="24879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42315" algn="l"/>
                <a:tab pos="1746250" algn="l"/>
                <a:tab pos="2474595" algn="l"/>
              </a:tabLst>
            </a:pPr>
            <a:r>
              <a:rPr sz="2000" b="1" i="1" spc="-5" dirty="0">
                <a:latin typeface="Calibri" panose="020F0502020204030204" pitchFamily="34" charset="0"/>
                <a:cs typeface="Calibri" panose="020F0502020204030204" pitchFamily="34" charset="0"/>
              </a:rPr>
              <a:t>A/</a:t>
            </a:r>
            <a:r>
              <a:rPr sz="2000" b="1" i="1" u="heavy" spc="-5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2000" b="1" i="1" u="heavy" spc="-5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b="1" i="1" spc="-5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b="1" i="1" spc="-5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</a:t>
            </a:r>
            <a:r>
              <a:rPr sz="3000" b="1" i="1" spc="-7" baseline="2777" dirty="0">
                <a:latin typeface="Calibri" panose="020F0502020204030204" pitchFamily="34" charset="0"/>
                <a:cs typeface="Calibri" panose="020F0502020204030204" pitchFamily="34" charset="0"/>
              </a:rPr>
              <a:t>A/</a:t>
            </a:r>
            <a:r>
              <a:rPr sz="3000" b="1" i="1" u="heavy" spc="-7" baseline="2777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cs typeface="Calibri" panose="020F0502020204030204" pitchFamily="34" charset="0"/>
              </a:rPr>
              <a:t>0	</a:t>
            </a:r>
            <a:endParaRPr sz="3000" baseline="277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15278" y="4545531"/>
            <a:ext cx="59499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" dirty="0">
                <a:latin typeface="Calibri" panose="020F0502020204030204" pitchFamily="34" charset="0"/>
                <a:cs typeface="Calibri" panose="020F0502020204030204" pitchFamily="34" charset="0"/>
              </a:rPr>
              <a:t>B/0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88757" y="4027370"/>
            <a:ext cx="3917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" dirty="0">
                <a:latin typeface="Calibri" panose="020F0502020204030204" pitchFamily="34" charset="0"/>
                <a:cs typeface="Calibri" panose="020F0502020204030204" pitchFamily="34" charset="0"/>
              </a:rPr>
              <a:t>C/1</a:t>
            </a:r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78343" y="4355411"/>
            <a:ext cx="3917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" dirty="0">
                <a:latin typeface="Calibri" panose="020F0502020204030204" pitchFamily="34" charset="0"/>
                <a:cs typeface="Calibri" panose="020F0502020204030204" pitchFamily="34" charset="0"/>
              </a:rPr>
              <a:t>C/0</a:t>
            </a:r>
            <a:endParaRPr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803897" y="4032959"/>
            <a:ext cx="722630" cy="718185"/>
          </a:xfrm>
          <a:custGeom>
            <a:avLst/>
            <a:gdLst/>
            <a:ahLst/>
            <a:cxnLst/>
            <a:rect l="l" t="t" r="r" b="b"/>
            <a:pathLst>
              <a:path w="722629" h="718185">
                <a:moveTo>
                  <a:pt x="0" y="0"/>
                </a:moveTo>
                <a:lnTo>
                  <a:pt x="27146" y="43925"/>
                </a:lnTo>
                <a:lnTo>
                  <a:pt x="50673" y="88225"/>
                </a:lnTo>
                <a:lnTo>
                  <a:pt x="70580" y="132846"/>
                </a:lnTo>
                <a:lnTo>
                  <a:pt x="86868" y="177736"/>
                </a:lnTo>
                <a:lnTo>
                  <a:pt x="99536" y="222840"/>
                </a:lnTo>
                <a:lnTo>
                  <a:pt x="108584" y="268104"/>
                </a:lnTo>
                <a:lnTo>
                  <a:pt x="114014" y="313476"/>
                </a:lnTo>
                <a:lnTo>
                  <a:pt x="115824" y="358901"/>
                </a:lnTo>
                <a:lnTo>
                  <a:pt x="114014" y="404327"/>
                </a:lnTo>
                <a:lnTo>
                  <a:pt x="108584" y="449699"/>
                </a:lnTo>
                <a:lnTo>
                  <a:pt x="99536" y="494963"/>
                </a:lnTo>
                <a:lnTo>
                  <a:pt x="86868" y="540067"/>
                </a:lnTo>
                <a:lnTo>
                  <a:pt x="70580" y="584957"/>
                </a:lnTo>
                <a:lnTo>
                  <a:pt x="50673" y="629578"/>
                </a:lnTo>
                <a:lnTo>
                  <a:pt x="27146" y="673878"/>
                </a:lnTo>
                <a:lnTo>
                  <a:pt x="0" y="717803"/>
                </a:lnTo>
                <a:lnTo>
                  <a:pt x="62322" y="716486"/>
                </a:lnTo>
                <a:lnTo>
                  <a:pt x="123173" y="712607"/>
                </a:lnTo>
                <a:lnTo>
                  <a:pt x="182337" y="706272"/>
                </a:lnTo>
                <a:lnTo>
                  <a:pt x="239596" y="697590"/>
                </a:lnTo>
                <a:lnTo>
                  <a:pt x="294733" y="686669"/>
                </a:lnTo>
                <a:lnTo>
                  <a:pt x="347532" y="673616"/>
                </a:lnTo>
                <a:lnTo>
                  <a:pt x="397775" y="658538"/>
                </a:lnTo>
                <a:lnTo>
                  <a:pt x="445245" y="641544"/>
                </a:lnTo>
                <a:lnTo>
                  <a:pt x="489726" y="622741"/>
                </a:lnTo>
                <a:lnTo>
                  <a:pt x="531000" y="602237"/>
                </a:lnTo>
                <a:lnTo>
                  <a:pt x="568851" y="580139"/>
                </a:lnTo>
                <a:lnTo>
                  <a:pt x="603062" y="556555"/>
                </a:lnTo>
                <a:lnTo>
                  <a:pt x="633414" y="531593"/>
                </a:lnTo>
                <a:lnTo>
                  <a:pt x="681680" y="477963"/>
                </a:lnTo>
                <a:lnTo>
                  <a:pt x="711912" y="420113"/>
                </a:lnTo>
                <a:lnTo>
                  <a:pt x="722376" y="358901"/>
                </a:lnTo>
                <a:lnTo>
                  <a:pt x="719724" y="327930"/>
                </a:lnTo>
                <a:lnTo>
                  <a:pt x="699159" y="268291"/>
                </a:lnTo>
                <a:lnTo>
                  <a:pt x="659693" y="212443"/>
                </a:lnTo>
                <a:lnTo>
                  <a:pt x="603062" y="161248"/>
                </a:lnTo>
                <a:lnTo>
                  <a:pt x="568851" y="137664"/>
                </a:lnTo>
                <a:lnTo>
                  <a:pt x="531000" y="115566"/>
                </a:lnTo>
                <a:lnTo>
                  <a:pt x="489726" y="95062"/>
                </a:lnTo>
                <a:lnTo>
                  <a:pt x="445245" y="76259"/>
                </a:lnTo>
                <a:lnTo>
                  <a:pt x="397775" y="59265"/>
                </a:lnTo>
                <a:lnTo>
                  <a:pt x="347532" y="44187"/>
                </a:lnTo>
                <a:lnTo>
                  <a:pt x="294733" y="31134"/>
                </a:lnTo>
                <a:lnTo>
                  <a:pt x="239596" y="20213"/>
                </a:lnTo>
                <a:lnTo>
                  <a:pt x="182337" y="11531"/>
                </a:lnTo>
                <a:lnTo>
                  <a:pt x="123173" y="5196"/>
                </a:lnTo>
                <a:lnTo>
                  <a:pt x="62322" y="13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803897" y="4032959"/>
            <a:ext cx="722630" cy="718185"/>
          </a:xfrm>
          <a:custGeom>
            <a:avLst/>
            <a:gdLst/>
            <a:ahLst/>
            <a:cxnLst/>
            <a:rect l="l" t="t" r="r" b="b"/>
            <a:pathLst>
              <a:path w="722629" h="718185">
                <a:moveTo>
                  <a:pt x="0" y="717803"/>
                </a:moveTo>
                <a:lnTo>
                  <a:pt x="62322" y="716486"/>
                </a:lnTo>
                <a:lnTo>
                  <a:pt x="123173" y="712607"/>
                </a:lnTo>
                <a:lnTo>
                  <a:pt x="182337" y="706272"/>
                </a:lnTo>
                <a:lnTo>
                  <a:pt x="239596" y="697590"/>
                </a:lnTo>
                <a:lnTo>
                  <a:pt x="294733" y="686669"/>
                </a:lnTo>
                <a:lnTo>
                  <a:pt x="347532" y="673616"/>
                </a:lnTo>
                <a:lnTo>
                  <a:pt x="397775" y="658538"/>
                </a:lnTo>
                <a:lnTo>
                  <a:pt x="445245" y="641544"/>
                </a:lnTo>
                <a:lnTo>
                  <a:pt x="489726" y="622741"/>
                </a:lnTo>
                <a:lnTo>
                  <a:pt x="531000" y="602237"/>
                </a:lnTo>
                <a:lnTo>
                  <a:pt x="568851" y="580139"/>
                </a:lnTo>
                <a:lnTo>
                  <a:pt x="603062" y="556555"/>
                </a:lnTo>
                <a:lnTo>
                  <a:pt x="633414" y="531593"/>
                </a:lnTo>
                <a:lnTo>
                  <a:pt x="681680" y="477963"/>
                </a:lnTo>
                <a:lnTo>
                  <a:pt x="711912" y="420113"/>
                </a:lnTo>
                <a:lnTo>
                  <a:pt x="722376" y="358901"/>
                </a:lnTo>
                <a:lnTo>
                  <a:pt x="719724" y="327930"/>
                </a:lnTo>
                <a:lnTo>
                  <a:pt x="699159" y="268291"/>
                </a:lnTo>
                <a:lnTo>
                  <a:pt x="659693" y="212443"/>
                </a:lnTo>
                <a:lnTo>
                  <a:pt x="603062" y="161248"/>
                </a:lnTo>
                <a:lnTo>
                  <a:pt x="568851" y="137664"/>
                </a:lnTo>
                <a:lnTo>
                  <a:pt x="531000" y="115566"/>
                </a:lnTo>
                <a:lnTo>
                  <a:pt x="489726" y="95062"/>
                </a:lnTo>
                <a:lnTo>
                  <a:pt x="445245" y="76259"/>
                </a:lnTo>
                <a:lnTo>
                  <a:pt x="397775" y="59265"/>
                </a:lnTo>
                <a:lnTo>
                  <a:pt x="347532" y="44187"/>
                </a:lnTo>
                <a:lnTo>
                  <a:pt x="294733" y="31134"/>
                </a:lnTo>
                <a:lnTo>
                  <a:pt x="239596" y="20213"/>
                </a:lnTo>
                <a:lnTo>
                  <a:pt x="182337" y="11531"/>
                </a:lnTo>
                <a:lnTo>
                  <a:pt x="123173" y="5196"/>
                </a:lnTo>
                <a:lnTo>
                  <a:pt x="62322" y="1317"/>
                </a:lnTo>
                <a:lnTo>
                  <a:pt x="0" y="0"/>
                </a:lnTo>
                <a:lnTo>
                  <a:pt x="27146" y="43925"/>
                </a:lnTo>
                <a:lnTo>
                  <a:pt x="50673" y="88225"/>
                </a:lnTo>
                <a:lnTo>
                  <a:pt x="70580" y="132846"/>
                </a:lnTo>
                <a:lnTo>
                  <a:pt x="86868" y="177736"/>
                </a:lnTo>
                <a:lnTo>
                  <a:pt x="99536" y="222840"/>
                </a:lnTo>
                <a:lnTo>
                  <a:pt x="108584" y="268104"/>
                </a:lnTo>
                <a:lnTo>
                  <a:pt x="114014" y="313476"/>
                </a:lnTo>
                <a:lnTo>
                  <a:pt x="115824" y="358901"/>
                </a:lnTo>
                <a:lnTo>
                  <a:pt x="114014" y="404327"/>
                </a:lnTo>
                <a:lnTo>
                  <a:pt x="108584" y="449699"/>
                </a:lnTo>
                <a:lnTo>
                  <a:pt x="99536" y="494963"/>
                </a:lnTo>
                <a:lnTo>
                  <a:pt x="86868" y="540067"/>
                </a:lnTo>
                <a:lnTo>
                  <a:pt x="70580" y="584957"/>
                </a:lnTo>
                <a:lnTo>
                  <a:pt x="50673" y="629578"/>
                </a:lnTo>
                <a:lnTo>
                  <a:pt x="27146" y="673878"/>
                </a:lnTo>
                <a:lnTo>
                  <a:pt x="0" y="717803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516368" y="4341568"/>
            <a:ext cx="132587" cy="121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31694" y="3900624"/>
            <a:ext cx="4978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i="1" spc="-195" dirty="0">
                <a:latin typeface="Calibri" panose="020F0502020204030204" pitchFamily="34" charset="0"/>
                <a:cs typeface="Calibri" panose="020F0502020204030204" pitchFamily="34" charset="0"/>
              </a:rPr>
              <a:t>A/1</a:t>
            </a:r>
            <a:endParaRPr sz="2700" baseline="-32407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/>
      <p:bldP spid="34" grpId="0" animBg="1"/>
      <p:bldP spid="35" grpId="0" animBg="1"/>
      <p:bldP spid="36" grpId="0" animBg="1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1567" y="164414"/>
            <a:ext cx="47504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 to Perform</a:t>
            </a:r>
            <a:r>
              <a:rPr spc="-80" dirty="0"/>
              <a:t> </a:t>
            </a:r>
            <a:r>
              <a:rPr spc="-5" dirty="0"/>
              <a:t>EFC?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525" y="961136"/>
            <a:ext cx="8517255" cy="478400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EFC can be performed by </a:t>
            </a:r>
            <a:r>
              <a:rPr sz="2000" b="1" i="1" dirty="0">
                <a:latin typeface="Arial-BoldItalicMT"/>
                <a:cs typeface="Arial-BoldItalicMT"/>
              </a:rPr>
              <a:t>functional analysis </a:t>
            </a:r>
            <a:r>
              <a:rPr sz="2000" b="1" spc="-5" dirty="0">
                <a:latin typeface="Arial"/>
                <a:cs typeface="Arial"/>
              </a:rPr>
              <a:t>or </a:t>
            </a:r>
            <a:r>
              <a:rPr sz="2000" b="1" i="1" dirty="0">
                <a:latin typeface="Arial-BoldItalicMT"/>
                <a:cs typeface="Arial-BoldItalicMT"/>
              </a:rPr>
              <a:t>structure</a:t>
            </a:r>
            <a:r>
              <a:rPr sz="2000" b="1" i="1" spc="-160" dirty="0">
                <a:latin typeface="Arial-BoldItalicMT"/>
                <a:cs typeface="Arial-BoldItalicMT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analysis</a:t>
            </a:r>
            <a:endParaRPr sz="2000" dirty="0">
              <a:latin typeface="Arial-BoldItalicMT"/>
              <a:cs typeface="Arial-BoldItalicMT"/>
            </a:endParaRPr>
          </a:p>
          <a:p>
            <a:pPr marL="368300" indent="-342900">
              <a:lnSpc>
                <a:spcPct val="100000"/>
              </a:lnSpc>
              <a:spcBef>
                <a:spcPts val="475"/>
              </a:spcBef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Functional</a:t>
            </a:r>
            <a:r>
              <a:rPr sz="2000" b="1" i="1" spc="-3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analysis</a:t>
            </a:r>
            <a:endParaRPr sz="2000" dirty="0">
              <a:latin typeface="Arial-BoldItalicMT"/>
              <a:cs typeface="Arial-BoldItalicMT"/>
            </a:endParaRP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Apply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all possible </a:t>
            </a:r>
            <a:r>
              <a:rPr sz="2000" b="1" dirty="0">
                <a:latin typeface="Arial"/>
                <a:cs typeface="Arial"/>
              </a:rPr>
              <a:t>test patterns and fault simulate </a:t>
            </a:r>
            <a:r>
              <a:rPr sz="2000" b="1" spc="5" dirty="0">
                <a:latin typeface="Arial"/>
                <a:cs typeface="Arial"/>
              </a:rPr>
              <a:t>two</a:t>
            </a:r>
            <a:r>
              <a:rPr sz="2000" b="1" spc="-2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 dirty="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If same faulty outputs , </a:t>
            </a:r>
            <a:r>
              <a:rPr sz="2000" b="1" spc="5" dirty="0">
                <a:latin typeface="Arial"/>
                <a:cs typeface="Arial"/>
              </a:rPr>
              <a:t>two </a:t>
            </a:r>
            <a:r>
              <a:rPr sz="2000" b="1" dirty="0">
                <a:latin typeface="Arial"/>
                <a:cs typeface="Arial"/>
              </a:rPr>
              <a:t>faults are</a:t>
            </a:r>
            <a:r>
              <a:rPr sz="2000" b="1" spc="-2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equivalent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spc="-5" dirty="0">
                <a:latin typeface="Arial"/>
                <a:cs typeface="Arial"/>
              </a:rPr>
              <a:t>Exhaustive </a:t>
            </a:r>
            <a:r>
              <a:rPr lang="en-US" sz="2000" b="1" dirty="0">
                <a:latin typeface="Arial"/>
                <a:cs typeface="Arial"/>
              </a:rPr>
              <a:t>process which is</a:t>
            </a:r>
            <a:r>
              <a:rPr sz="2000" b="1" dirty="0">
                <a:latin typeface="Arial"/>
                <a:cs typeface="Arial"/>
              </a:rPr>
              <a:t> time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consuming</a:t>
            </a:r>
            <a:endParaRPr sz="2000" dirty="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10" dirty="0">
                <a:latin typeface="Arial"/>
                <a:cs typeface="Arial"/>
              </a:rPr>
              <a:t>2</a:t>
            </a:r>
            <a:r>
              <a:rPr sz="1950" b="1" i="1" spc="15" baseline="25641" dirty="0">
                <a:latin typeface="Arial-BoldItalicMT"/>
                <a:cs typeface="Arial-BoldItalicMT"/>
              </a:rPr>
              <a:t>n </a:t>
            </a:r>
            <a:r>
              <a:rPr sz="2000" b="1" dirty="0">
                <a:latin typeface="Arial"/>
                <a:cs typeface="Arial"/>
              </a:rPr>
              <a:t>test patterns may be needed for an </a:t>
            </a:r>
            <a:r>
              <a:rPr sz="2000" b="1" i="1" dirty="0">
                <a:latin typeface="Arial-BoldItalicMT"/>
                <a:cs typeface="Arial-BoldItalicMT"/>
              </a:rPr>
              <a:t>n</a:t>
            </a:r>
            <a:r>
              <a:rPr sz="2000" b="1" dirty="0">
                <a:latin typeface="Arial"/>
                <a:cs typeface="Arial"/>
              </a:rPr>
              <a:t>-input</a:t>
            </a:r>
            <a:r>
              <a:rPr sz="2000" b="1" spc="-3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</a:t>
            </a:r>
            <a:endParaRPr sz="2000" dirty="0">
              <a:latin typeface="Arial"/>
              <a:cs typeface="Arial"/>
            </a:endParaRPr>
          </a:p>
          <a:p>
            <a:pPr marL="368300" indent="-342900">
              <a:lnSpc>
                <a:spcPct val="100000"/>
              </a:lnSpc>
              <a:spcBef>
                <a:spcPts val="480"/>
              </a:spcBef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Structure</a:t>
            </a:r>
            <a:r>
              <a:rPr sz="2000" b="1" i="1" spc="-4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analysis</a:t>
            </a:r>
            <a:endParaRPr sz="2000" dirty="0">
              <a:latin typeface="Arial-BoldItalicMT"/>
              <a:cs typeface="Arial-BoldItalicMT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Identify </a:t>
            </a:r>
            <a:r>
              <a:rPr sz="2000" b="1" spc="-5" dirty="0">
                <a:latin typeface="Arial"/>
                <a:cs typeface="Arial"/>
              </a:rPr>
              <a:t>equivalent </a:t>
            </a:r>
            <a:r>
              <a:rPr sz="2000" b="1" dirty="0">
                <a:latin typeface="Arial"/>
                <a:cs typeface="Arial"/>
              </a:rPr>
              <a:t>faults by circuit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structure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spc="5" dirty="0">
                <a:latin typeface="Arial"/>
                <a:cs typeface="Arial"/>
              </a:rPr>
              <a:t>No </a:t>
            </a:r>
            <a:r>
              <a:rPr sz="2000" b="1" dirty="0">
                <a:latin typeface="Arial"/>
                <a:cs typeface="Arial"/>
              </a:rPr>
              <a:t>test patterns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applied</a:t>
            </a:r>
            <a:endParaRPr sz="2000" dirty="0">
              <a:latin typeface="Arial"/>
              <a:cs typeface="Arial"/>
            </a:endParaRPr>
          </a:p>
          <a:p>
            <a:pPr marL="3683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Many different structure </a:t>
            </a:r>
            <a:r>
              <a:rPr sz="2000" b="1" spc="-5" dirty="0">
                <a:latin typeface="Arial"/>
                <a:cs typeface="Arial"/>
              </a:rPr>
              <a:t>analysis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approaches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lang="en-US" sz="2000" b="1" dirty="0">
                <a:latin typeface="Arial"/>
                <a:cs typeface="Arial"/>
              </a:rPr>
              <a:t>We </a:t>
            </a:r>
            <a:r>
              <a:rPr sz="2000" b="1" spc="-5" dirty="0">
                <a:latin typeface="Arial"/>
                <a:cs typeface="Arial"/>
              </a:rPr>
              <a:t>show </a:t>
            </a:r>
            <a:r>
              <a:rPr sz="2000" b="1" dirty="0">
                <a:latin typeface="Arial"/>
                <a:cs typeface="Arial"/>
              </a:rPr>
              <a:t>a linear time structure </a:t>
            </a:r>
            <a:r>
              <a:rPr sz="2000" b="1" spc="-5" dirty="0">
                <a:latin typeface="Arial"/>
                <a:cs typeface="Arial"/>
              </a:rPr>
              <a:t>analysis</a:t>
            </a:r>
            <a:r>
              <a:rPr sz="2000" b="1" spc="-2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example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Resulting </a:t>
            </a:r>
            <a:r>
              <a:rPr sz="2000" b="1" spc="-5" dirty="0">
                <a:latin typeface="Arial"/>
                <a:cs typeface="Arial"/>
              </a:rPr>
              <a:t>equivalence </a:t>
            </a:r>
            <a:r>
              <a:rPr sz="2000" b="1" dirty="0">
                <a:latin typeface="Arial"/>
                <a:cs typeface="Arial"/>
              </a:rPr>
              <a:t>collapsed fault </a:t>
            </a:r>
            <a:r>
              <a:rPr sz="2000" b="1" spc="-5" dirty="0">
                <a:latin typeface="Arial"/>
                <a:cs typeface="Arial"/>
              </a:rPr>
              <a:t>list </a:t>
            </a:r>
            <a:r>
              <a:rPr sz="2000" b="1" dirty="0">
                <a:latin typeface="Arial"/>
                <a:cs typeface="Arial"/>
              </a:rPr>
              <a:t>may not be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minimal</a:t>
            </a:r>
            <a:endParaRPr sz="2000" dirty="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but good enough for most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applications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636" y="5839967"/>
            <a:ext cx="8944610" cy="524510"/>
          </a:xfrm>
          <a:prstGeom prst="rect">
            <a:avLst/>
          </a:prstGeom>
          <a:ln w="9144">
            <a:solidFill>
              <a:srgbClr val="00AF5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800" b="1" spc="-5" dirty="0">
                <a:solidFill>
                  <a:srgbClr val="00AF50"/>
                </a:solidFill>
                <a:latin typeface="Helvetica"/>
                <a:cs typeface="Helvetica"/>
              </a:rPr>
              <a:t>Structure </a:t>
            </a:r>
            <a:r>
              <a:rPr sz="2800" b="1" spc="-10" dirty="0">
                <a:solidFill>
                  <a:srgbClr val="00AF50"/>
                </a:solidFill>
                <a:latin typeface="Helvetica"/>
                <a:cs typeface="Helvetica"/>
              </a:rPr>
              <a:t>Analysis </a:t>
            </a:r>
            <a:r>
              <a:rPr sz="2800" b="1" spc="-5" dirty="0">
                <a:solidFill>
                  <a:srgbClr val="00AF50"/>
                </a:solidFill>
                <a:latin typeface="Helvetica"/>
                <a:cs typeface="Helvetica"/>
              </a:rPr>
              <a:t>Is </a:t>
            </a:r>
            <a:r>
              <a:rPr sz="2800" b="1" spc="-10" dirty="0">
                <a:solidFill>
                  <a:srgbClr val="00AF50"/>
                </a:solidFill>
                <a:latin typeface="Helvetica"/>
                <a:cs typeface="Helvetica"/>
              </a:rPr>
              <a:t>Enough </a:t>
            </a:r>
            <a:r>
              <a:rPr sz="2800" b="1" spc="-5" dirty="0">
                <a:solidFill>
                  <a:srgbClr val="00AF50"/>
                </a:solidFill>
                <a:latin typeface="Helvetica"/>
                <a:cs typeface="Helvetica"/>
              </a:rPr>
              <a:t>for Most</a:t>
            </a:r>
            <a:r>
              <a:rPr sz="2800" b="1" spc="-15" dirty="0">
                <a:solidFill>
                  <a:srgbClr val="00AF5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Helvetica"/>
                <a:cs typeface="Helvetica"/>
              </a:rPr>
              <a:t>Applications</a:t>
            </a:r>
            <a:endParaRPr sz="2800">
              <a:latin typeface="Helvetica"/>
              <a:cs typeface="Helvetic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>
            <a:extLst>
              <a:ext uri="{FF2B5EF4-FFF2-40B4-BE49-F238E27FC236}">
                <a16:creationId xmlns:a16="http://schemas.microsoft.com/office/drawing/2014/main" id="{2323F975-034F-7C8F-8773-905722D2C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8258" y="164414"/>
            <a:ext cx="7847482" cy="1107996"/>
          </a:xfrm>
        </p:spPr>
        <p:txBody>
          <a:bodyPr/>
          <a:lstStyle/>
          <a:p>
            <a:pPr algn="ctr"/>
            <a:r>
              <a:rPr lang="en-US" altLang="en-US" dirty="0"/>
              <a:t>Gate Equivalence Rules for Structure Analysis</a:t>
            </a:r>
          </a:p>
        </p:txBody>
      </p:sp>
      <p:grpSp>
        <p:nvGrpSpPr>
          <p:cNvPr id="23557" name="Group 3">
            <a:extLst>
              <a:ext uri="{FF2B5EF4-FFF2-40B4-BE49-F238E27FC236}">
                <a16:creationId xmlns:a16="http://schemas.microsoft.com/office/drawing/2014/main" id="{82A11126-150A-F5B8-93C9-076B5E1CBBC2}"/>
              </a:ext>
            </a:extLst>
          </p:cNvPr>
          <p:cNvGrpSpPr>
            <a:grpSpLocks/>
          </p:cNvGrpSpPr>
          <p:nvPr/>
        </p:nvGrpSpPr>
        <p:grpSpPr bwMode="auto">
          <a:xfrm>
            <a:off x="196850" y="1555750"/>
            <a:ext cx="3352800" cy="2278063"/>
            <a:chOff x="124" y="980"/>
            <a:chExt cx="2112" cy="1435"/>
          </a:xfrm>
        </p:grpSpPr>
        <p:sp>
          <p:nvSpPr>
            <p:cNvPr id="23627" name="AutoShape 4">
              <a:extLst>
                <a:ext uri="{FF2B5EF4-FFF2-40B4-BE49-F238E27FC236}">
                  <a16:creationId xmlns:a16="http://schemas.microsoft.com/office/drawing/2014/main" id="{77D69087-7495-D9DC-B432-B8B71AB06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" y="1402"/>
              <a:ext cx="788" cy="652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28" name="Line 5">
              <a:extLst>
                <a:ext uri="{FF2B5EF4-FFF2-40B4-BE49-F238E27FC236}">
                  <a16:creationId xmlns:a16="http://schemas.microsoft.com/office/drawing/2014/main" id="{5C0CFC66-B757-4EF9-F88E-6C7B8E5EE0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" y="1546"/>
              <a:ext cx="6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29" name="Line 6">
              <a:extLst>
                <a:ext uri="{FF2B5EF4-FFF2-40B4-BE49-F238E27FC236}">
                  <a16:creationId xmlns:a16="http://schemas.microsoft.com/office/drawing/2014/main" id="{6B520D8C-DDB6-77FC-D847-B978356C45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3" y="1728"/>
              <a:ext cx="6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30" name="Line 7">
              <a:extLst>
                <a:ext uri="{FF2B5EF4-FFF2-40B4-BE49-F238E27FC236}">
                  <a16:creationId xmlns:a16="http://schemas.microsoft.com/office/drawing/2014/main" id="{0E4CC68C-E2B4-BFA0-E405-BF9B10924E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" y="1911"/>
              <a:ext cx="6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31" name="Text Box 8">
              <a:extLst>
                <a:ext uri="{FF2B5EF4-FFF2-40B4-BE49-F238E27FC236}">
                  <a16:creationId xmlns:a16="http://schemas.microsoft.com/office/drawing/2014/main" id="{89805119-DDC7-7750-9CE2-BA44DCFBBA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" y="1310"/>
              <a:ext cx="5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 b="1">
                  <a:latin typeface="Calibri" panose="020F0502020204030204" pitchFamily="34" charset="0"/>
                  <a:cs typeface="Calibri" panose="020F0502020204030204" pitchFamily="34" charset="0"/>
                </a:rPr>
                <a:t>sa0  sa1</a:t>
              </a:r>
            </a:p>
          </p:txBody>
        </p:sp>
        <p:sp>
          <p:nvSpPr>
            <p:cNvPr id="23632" name="Text Box 9">
              <a:extLst>
                <a:ext uri="{FF2B5EF4-FFF2-40B4-BE49-F238E27FC236}">
                  <a16:creationId xmlns:a16="http://schemas.microsoft.com/office/drawing/2014/main" id="{1BC3E978-0E78-AB81-A166-92E7F4689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" y="1905"/>
              <a:ext cx="5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 b="1">
                  <a:latin typeface="Calibri" panose="020F0502020204030204" pitchFamily="34" charset="0"/>
                  <a:cs typeface="Calibri" panose="020F0502020204030204" pitchFamily="34" charset="0"/>
                </a:rPr>
                <a:t>sa0  sa1</a:t>
              </a:r>
            </a:p>
          </p:txBody>
        </p:sp>
        <p:sp>
          <p:nvSpPr>
            <p:cNvPr id="23633" name="Text Box 10">
              <a:extLst>
                <a:ext uri="{FF2B5EF4-FFF2-40B4-BE49-F238E27FC236}">
                  <a16:creationId xmlns:a16="http://schemas.microsoft.com/office/drawing/2014/main" id="{EC457570-776C-C460-DA6D-131BAD7B2F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3" y="1511"/>
              <a:ext cx="5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 b="1">
                  <a:latin typeface="Calibri" panose="020F0502020204030204" pitchFamily="34" charset="0"/>
                  <a:cs typeface="Calibri" panose="020F0502020204030204" pitchFamily="34" charset="0"/>
                </a:rPr>
                <a:t>sa0  sa1</a:t>
              </a:r>
            </a:p>
          </p:txBody>
        </p:sp>
        <p:sp>
          <p:nvSpPr>
            <p:cNvPr id="23634" name="Line 11">
              <a:extLst>
                <a:ext uri="{FF2B5EF4-FFF2-40B4-BE49-F238E27FC236}">
                  <a16:creationId xmlns:a16="http://schemas.microsoft.com/office/drawing/2014/main" id="{070FDE80-5F2D-7E08-FE0E-C7AAFEFE5A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498"/>
              <a:ext cx="0" cy="45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35" name="Arc 12">
              <a:extLst>
                <a:ext uri="{FF2B5EF4-FFF2-40B4-BE49-F238E27FC236}">
                  <a16:creationId xmlns:a16="http://schemas.microsoft.com/office/drawing/2014/main" id="{0CA01AB0-9DAD-CF3E-D768-E1652B9A0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" y="980"/>
              <a:ext cx="1407" cy="520"/>
            </a:xfrm>
            <a:custGeom>
              <a:avLst/>
              <a:gdLst>
                <a:gd name="T0" fmla="*/ 0 w 41793"/>
                <a:gd name="T1" fmla="*/ 0 h 21600"/>
                <a:gd name="T2" fmla="*/ 2 w 41793"/>
                <a:gd name="T3" fmla="*/ 0 h 21600"/>
                <a:gd name="T4" fmla="*/ 1 w 41793"/>
                <a:gd name="T5" fmla="*/ 0 h 21600"/>
                <a:gd name="T6" fmla="*/ 0 60000 65536"/>
                <a:gd name="T7" fmla="*/ 0 60000 65536"/>
                <a:gd name="T8" fmla="*/ 0 60000 65536"/>
                <a:gd name="T9" fmla="*/ 0 w 41793"/>
                <a:gd name="T10" fmla="*/ 0 h 21600"/>
                <a:gd name="T11" fmla="*/ 41793 w 4179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793" h="21600" fill="none" extrusionOk="0">
                  <a:moveTo>
                    <a:pt x="0" y="13930"/>
                  </a:moveTo>
                  <a:cubicBezTo>
                    <a:pt x="3185" y="5544"/>
                    <a:pt x="11222" y="-1"/>
                    <a:pt x="20193" y="0"/>
                  </a:cubicBezTo>
                  <a:cubicBezTo>
                    <a:pt x="32122" y="0"/>
                    <a:pt x="41793" y="9670"/>
                    <a:pt x="41793" y="21600"/>
                  </a:cubicBezTo>
                </a:path>
                <a:path w="41793" h="21600" stroke="0" extrusionOk="0">
                  <a:moveTo>
                    <a:pt x="0" y="13930"/>
                  </a:moveTo>
                  <a:cubicBezTo>
                    <a:pt x="3185" y="5544"/>
                    <a:pt x="11222" y="-1"/>
                    <a:pt x="20193" y="0"/>
                  </a:cubicBezTo>
                  <a:cubicBezTo>
                    <a:pt x="32122" y="0"/>
                    <a:pt x="41793" y="9670"/>
                    <a:pt x="41793" y="21600"/>
                  </a:cubicBezTo>
                  <a:lnTo>
                    <a:pt x="20193" y="21600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36" name="Arc 13">
              <a:extLst>
                <a:ext uri="{FF2B5EF4-FFF2-40B4-BE49-F238E27FC236}">
                  <a16:creationId xmlns:a16="http://schemas.microsoft.com/office/drawing/2014/main" id="{888FC92B-25BA-3CE7-CB9E-4382D54F8F1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05" y="1768"/>
              <a:ext cx="1422" cy="647"/>
            </a:xfrm>
            <a:custGeom>
              <a:avLst/>
              <a:gdLst>
                <a:gd name="T0" fmla="*/ 0 w 41107"/>
                <a:gd name="T1" fmla="*/ 0 h 23996"/>
                <a:gd name="T2" fmla="*/ 2 w 41107"/>
                <a:gd name="T3" fmla="*/ 0 h 23996"/>
                <a:gd name="T4" fmla="*/ 1 w 41107"/>
                <a:gd name="T5" fmla="*/ 0 h 23996"/>
                <a:gd name="T6" fmla="*/ 0 60000 65536"/>
                <a:gd name="T7" fmla="*/ 0 60000 65536"/>
                <a:gd name="T8" fmla="*/ 0 60000 65536"/>
                <a:gd name="T9" fmla="*/ 0 w 41107"/>
                <a:gd name="T10" fmla="*/ 0 h 23996"/>
                <a:gd name="T11" fmla="*/ 41107 w 41107"/>
                <a:gd name="T12" fmla="*/ 23996 h 239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07" h="23996" fill="none" extrusionOk="0">
                  <a:moveTo>
                    <a:pt x="-1" y="12324"/>
                  </a:moveTo>
                  <a:cubicBezTo>
                    <a:pt x="3579" y="4796"/>
                    <a:pt x="11171" y="-1"/>
                    <a:pt x="19507" y="0"/>
                  </a:cubicBezTo>
                  <a:cubicBezTo>
                    <a:pt x="31436" y="0"/>
                    <a:pt x="41107" y="9670"/>
                    <a:pt x="41107" y="21600"/>
                  </a:cubicBezTo>
                  <a:cubicBezTo>
                    <a:pt x="41107" y="22400"/>
                    <a:pt x="41062" y="23200"/>
                    <a:pt x="40973" y="23995"/>
                  </a:cubicBezTo>
                </a:path>
                <a:path w="41107" h="23996" stroke="0" extrusionOk="0">
                  <a:moveTo>
                    <a:pt x="-1" y="12324"/>
                  </a:moveTo>
                  <a:cubicBezTo>
                    <a:pt x="3579" y="4796"/>
                    <a:pt x="11171" y="-1"/>
                    <a:pt x="19507" y="0"/>
                  </a:cubicBezTo>
                  <a:cubicBezTo>
                    <a:pt x="31436" y="0"/>
                    <a:pt x="41107" y="9670"/>
                    <a:pt x="41107" y="21600"/>
                  </a:cubicBezTo>
                  <a:cubicBezTo>
                    <a:pt x="41107" y="22400"/>
                    <a:pt x="41062" y="23200"/>
                    <a:pt x="40973" y="23995"/>
                  </a:cubicBezTo>
                  <a:lnTo>
                    <a:pt x="19507" y="21600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3558" name="AutoShape 14">
            <a:extLst>
              <a:ext uri="{FF2B5EF4-FFF2-40B4-BE49-F238E27FC236}">
                <a16:creationId xmlns:a16="http://schemas.microsoft.com/office/drawing/2014/main" id="{18523C0C-43E4-161C-A05C-D94416EBB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938" y="4633913"/>
            <a:ext cx="1250950" cy="1035050"/>
          </a:xfrm>
          <a:prstGeom prst="flowChartDelay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59" name="Line 15">
            <a:extLst>
              <a:ext uri="{FF2B5EF4-FFF2-40B4-BE49-F238E27FC236}">
                <a16:creationId xmlns:a16="http://schemas.microsoft.com/office/drawing/2014/main" id="{E4D73101-2C81-E2DF-0C2E-BDF68BEEA6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75" y="4862513"/>
            <a:ext cx="10207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60" name="Line 16">
            <a:extLst>
              <a:ext uri="{FF2B5EF4-FFF2-40B4-BE49-F238E27FC236}">
                <a16:creationId xmlns:a16="http://schemas.microsoft.com/office/drawing/2014/main" id="{B94565AC-33B1-2D9C-D2D7-957D71E147E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5146675"/>
            <a:ext cx="10207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61" name="Line 17">
            <a:extLst>
              <a:ext uri="{FF2B5EF4-FFF2-40B4-BE49-F238E27FC236}">
                <a16:creationId xmlns:a16="http://schemas.microsoft.com/office/drawing/2014/main" id="{1E59D065-56D7-94BA-D76E-46E2F5A7B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175" y="5441950"/>
            <a:ext cx="10207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62" name="Text Box 18">
            <a:extLst>
              <a:ext uri="{FF2B5EF4-FFF2-40B4-BE49-F238E27FC236}">
                <a16:creationId xmlns:a16="http://schemas.microsoft.com/office/drawing/2014/main" id="{46A249AF-10B2-68FC-D784-B9C0B8018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3" y="4487863"/>
            <a:ext cx="85151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sa0  sa1</a:t>
            </a:r>
          </a:p>
        </p:txBody>
      </p:sp>
      <p:sp>
        <p:nvSpPr>
          <p:cNvPr id="23563" name="Text Box 19">
            <a:extLst>
              <a:ext uri="{FF2B5EF4-FFF2-40B4-BE49-F238E27FC236}">
                <a16:creationId xmlns:a16="http://schemas.microsoft.com/office/drawing/2014/main" id="{112466B3-1A10-665D-6FEE-70866153C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5432425"/>
            <a:ext cx="85151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sa0  sa1</a:t>
            </a:r>
          </a:p>
        </p:txBody>
      </p:sp>
      <p:sp>
        <p:nvSpPr>
          <p:cNvPr id="23564" name="Text Box 20">
            <a:extLst>
              <a:ext uri="{FF2B5EF4-FFF2-40B4-BE49-F238E27FC236}">
                <a16:creationId xmlns:a16="http://schemas.microsoft.com/office/drawing/2014/main" id="{3BEFB554-B703-0B36-CFDD-E82FEB58D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1938" y="4806950"/>
            <a:ext cx="9909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sa0     sa1</a:t>
            </a:r>
          </a:p>
        </p:txBody>
      </p:sp>
      <p:sp>
        <p:nvSpPr>
          <p:cNvPr id="23565" name="Line 21">
            <a:extLst>
              <a:ext uri="{FF2B5EF4-FFF2-40B4-BE49-F238E27FC236}">
                <a16:creationId xmlns:a16="http://schemas.microsoft.com/office/drawing/2014/main" id="{930816A8-572B-7B15-2177-CB4086C647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613" y="4786313"/>
            <a:ext cx="0" cy="715962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66" name="Arc 22">
            <a:extLst>
              <a:ext uri="{FF2B5EF4-FFF2-40B4-BE49-F238E27FC236}">
                <a16:creationId xmlns:a16="http://schemas.microsoft.com/office/drawing/2014/main" id="{4B245DB8-40AF-A837-4ED9-1B9FA04DD764}"/>
              </a:ext>
            </a:extLst>
          </p:cNvPr>
          <p:cNvSpPr>
            <a:spLocks/>
          </p:cNvSpPr>
          <p:nvPr/>
        </p:nvSpPr>
        <p:spPr bwMode="auto">
          <a:xfrm>
            <a:off x="461963" y="3917950"/>
            <a:ext cx="3089275" cy="915988"/>
          </a:xfrm>
          <a:custGeom>
            <a:avLst/>
            <a:gdLst>
              <a:gd name="T0" fmla="*/ 0 w 41793"/>
              <a:gd name="T1" fmla="*/ 1062328233 h 21600"/>
              <a:gd name="T2" fmla="*/ 2147483647 w 41793"/>
              <a:gd name="T3" fmla="*/ 1647258621 h 21600"/>
              <a:gd name="T4" fmla="*/ 2147483647 w 41793"/>
              <a:gd name="T5" fmla="*/ 1647258621 h 21600"/>
              <a:gd name="T6" fmla="*/ 0 60000 65536"/>
              <a:gd name="T7" fmla="*/ 0 60000 65536"/>
              <a:gd name="T8" fmla="*/ 0 60000 65536"/>
              <a:gd name="T9" fmla="*/ 0 w 41793"/>
              <a:gd name="T10" fmla="*/ 0 h 21600"/>
              <a:gd name="T11" fmla="*/ 41793 w 4179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793" h="21600" fill="none" extrusionOk="0">
                <a:moveTo>
                  <a:pt x="0" y="13930"/>
                </a:moveTo>
                <a:cubicBezTo>
                  <a:pt x="3185" y="5544"/>
                  <a:pt x="11222" y="-1"/>
                  <a:pt x="20193" y="0"/>
                </a:cubicBezTo>
                <a:cubicBezTo>
                  <a:pt x="32122" y="0"/>
                  <a:pt x="41793" y="9670"/>
                  <a:pt x="41793" y="21600"/>
                </a:cubicBezTo>
              </a:path>
              <a:path w="41793" h="21600" stroke="0" extrusionOk="0">
                <a:moveTo>
                  <a:pt x="0" y="13930"/>
                </a:moveTo>
                <a:cubicBezTo>
                  <a:pt x="3185" y="5544"/>
                  <a:pt x="11222" y="-1"/>
                  <a:pt x="20193" y="0"/>
                </a:cubicBezTo>
                <a:cubicBezTo>
                  <a:pt x="32122" y="0"/>
                  <a:pt x="41793" y="9670"/>
                  <a:pt x="41793" y="21600"/>
                </a:cubicBezTo>
                <a:lnTo>
                  <a:pt x="20193" y="21600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67" name="Arc 23">
            <a:extLst>
              <a:ext uri="{FF2B5EF4-FFF2-40B4-BE49-F238E27FC236}">
                <a16:creationId xmlns:a16="http://schemas.microsoft.com/office/drawing/2014/main" id="{FCA714E6-2358-6307-F884-EB2A2766F4B5}"/>
              </a:ext>
            </a:extLst>
          </p:cNvPr>
          <p:cNvSpPr>
            <a:spLocks/>
          </p:cNvSpPr>
          <p:nvPr/>
        </p:nvSpPr>
        <p:spPr bwMode="auto">
          <a:xfrm flipV="1">
            <a:off x="512763" y="5199063"/>
            <a:ext cx="3067050" cy="1119187"/>
          </a:xfrm>
          <a:custGeom>
            <a:avLst/>
            <a:gdLst>
              <a:gd name="T0" fmla="*/ 0 w 41107"/>
              <a:gd name="T1" fmla="*/ 1250484261 h 23996"/>
              <a:gd name="T2" fmla="*/ 2147483647 w 41107"/>
              <a:gd name="T3" fmla="*/ 2147483647 h 23996"/>
              <a:gd name="T4" fmla="*/ 2147483647 w 41107"/>
              <a:gd name="T5" fmla="*/ 2147483647 h 23996"/>
              <a:gd name="T6" fmla="*/ 0 60000 65536"/>
              <a:gd name="T7" fmla="*/ 0 60000 65536"/>
              <a:gd name="T8" fmla="*/ 0 60000 65536"/>
              <a:gd name="T9" fmla="*/ 0 w 41107"/>
              <a:gd name="T10" fmla="*/ 0 h 23996"/>
              <a:gd name="T11" fmla="*/ 41107 w 41107"/>
              <a:gd name="T12" fmla="*/ 23996 h 239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107" h="23996" fill="none" extrusionOk="0">
                <a:moveTo>
                  <a:pt x="-1" y="12324"/>
                </a:moveTo>
                <a:cubicBezTo>
                  <a:pt x="3579" y="4796"/>
                  <a:pt x="11171" y="-1"/>
                  <a:pt x="19507" y="0"/>
                </a:cubicBezTo>
                <a:cubicBezTo>
                  <a:pt x="31436" y="0"/>
                  <a:pt x="41107" y="9670"/>
                  <a:pt x="41107" y="21600"/>
                </a:cubicBezTo>
                <a:cubicBezTo>
                  <a:pt x="41107" y="22400"/>
                  <a:pt x="41062" y="23200"/>
                  <a:pt x="40973" y="23995"/>
                </a:cubicBezTo>
              </a:path>
              <a:path w="41107" h="23996" stroke="0" extrusionOk="0">
                <a:moveTo>
                  <a:pt x="-1" y="12324"/>
                </a:moveTo>
                <a:cubicBezTo>
                  <a:pt x="3579" y="4796"/>
                  <a:pt x="11171" y="-1"/>
                  <a:pt x="19507" y="0"/>
                </a:cubicBezTo>
                <a:cubicBezTo>
                  <a:pt x="31436" y="0"/>
                  <a:pt x="41107" y="9670"/>
                  <a:pt x="41107" y="21600"/>
                </a:cubicBezTo>
                <a:cubicBezTo>
                  <a:pt x="41107" y="22400"/>
                  <a:pt x="41062" y="23200"/>
                  <a:pt x="40973" y="23995"/>
                </a:cubicBezTo>
                <a:lnTo>
                  <a:pt x="19507" y="21600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68" name="Oval 24">
            <a:extLst>
              <a:ext uri="{FF2B5EF4-FFF2-40B4-BE49-F238E27FC236}">
                <a16:creationId xmlns:a16="http://schemas.microsoft.com/office/drawing/2014/main" id="{4A0A619D-48F3-5940-2448-54D68B7A0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475" y="5018088"/>
            <a:ext cx="244475" cy="26035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569" name="Group 25">
            <a:extLst>
              <a:ext uri="{FF2B5EF4-FFF2-40B4-BE49-F238E27FC236}">
                <a16:creationId xmlns:a16="http://schemas.microsoft.com/office/drawing/2014/main" id="{8053DDCD-414E-DBAF-F9F1-87E7D4E29D82}"/>
              </a:ext>
            </a:extLst>
          </p:cNvPr>
          <p:cNvGrpSpPr>
            <a:grpSpLocks/>
          </p:cNvGrpSpPr>
          <p:nvPr/>
        </p:nvGrpSpPr>
        <p:grpSpPr bwMode="auto">
          <a:xfrm>
            <a:off x="3625849" y="1624013"/>
            <a:ext cx="3352800" cy="2246312"/>
            <a:chOff x="2457" y="1023"/>
            <a:chExt cx="2112" cy="1415"/>
          </a:xfrm>
        </p:grpSpPr>
        <p:sp>
          <p:nvSpPr>
            <p:cNvPr id="23617" name="Line 26">
              <a:extLst>
                <a:ext uri="{FF2B5EF4-FFF2-40B4-BE49-F238E27FC236}">
                  <a16:creationId xmlns:a16="http://schemas.microsoft.com/office/drawing/2014/main" id="{3E2EF320-8ED8-46AA-497B-78E61E920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565"/>
              <a:ext cx="7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18" name="Line 27">
              <a:extLst>
                <a:ext uri="{FF2B5EF4-FFF2-40B4-BE49-F238E27FC236}">
                  <a16:creationId xmlns:a16="http://schemas.microsoft.com/office/drawing/2014/main" id="{850380A8-94EC-43FE-E3CD-69CCC95BD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6" y="1747"/>
              <a:ext cx="6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19" name="Line 28">
              <a:extLst>
                <a:ext uri="{FF2B5EF4-FFF2-40B4-BE49-F238E27FC236}">
                  <a16:creationId xmlns:a16="http://schemas.microsoft.com/office/drawing/2014/main" id="{D0F4E377-E992-5027-9C71-5EAD4AA725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930"/>
              <a:ext cx="7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20" name="Text Box 29">
              <a:extLst>
                <a:ext uri="{FF2B5EF4-FFF2-40B4-BE49-F238E27FC236}">
                  <a16:creationId xmlns:a16="http://schemas.microsoft.com/office/drawing/2014/main" id="{F419AECB-2077-1C23-2C3D-28B12CEB6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7" y="1329"/>
              <a:ext cx="62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sa0     sa1</a:t>
              </a:r>
            </a:p>
          </p:txBody>
        </p:sp>
        <p:sp>
          <p:nvSpPr>
            <p:cNvPr id="23621" name="Text Box 30">
              <a:extLst>
                <a:ext uri="{FF2B5EF4-FFF2-40B4-BE49-F238E27FC236}">
                  <a16:creationId xmlns:a16="http://schemas.microsoft.com/office/drawing/2014/main" id="{44C1F939-A9A1-8349-08A0-B7D332208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8" y="1924"/>
              <a:ext cx="62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sa0     sa1</a:t>
              </a:r>
            </a:p>
          </p:txBody>
        </p:sp>
        <p:sp>
          <p:nvSpPr>
            <p:cNvPr id="23622" name="Text Box 31">
              <a:extLst>
                <a:ext uri="{FF2B5EF4-FFF2-40B4-BE49-F238E27FC236}">
                  <a16:creationId xmlns:a16="http://schemas.microsoft.com/office/drawing/2014/main" id="{E65CA4B0-EA6F-8549-2791-B281B63234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6" y="1530"/>
              <a:ext cx="62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sa0     sa1</a:t>
              </a:r>
            </a:p>
          </p:txBody>
        </p:sp>
        <p:sp>
          <p:nvSpPr>
            <p:cNvPr id="23623" name="Line 32">
              <a:extLst>
                <a:ext uri="{FF2B5EF4-FFF2-40B4-BE49-F238E27FC236}">
                  <a16:creationId xmlns:a16="http://schemas.microsoft.com/office/drawing/2014/main" id="{D90EF2A1-3BB9-F2B9-AEDB-C6BB4C3EC1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2" y="1514"/>
              <a:ext cx="0" cy="45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24" name="Arc 33">
              <a:extLst>
                <a:ext uri="{FF2B5EF4-FFF2-40B4-BE49-F238E27FC236}">
                  <a16:creationId xmlns:a16="http://schemas.microsoft.com/office/drawing/2014/main" id="{F255F117-C9BE-4BEB-B79B-BB64FDC9C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" y="1023"/>
              <a:ext cx="1407" cy="520"/>
            </a:xfrm>
            <a:custGeom>
              <a:avLst/>
              <a:gdLst>
                <a:gd name="T0" fmla="*/ 0 w 41793"/>
                <a:gd name="T1" fmla="*/ 0 h 21600"/>
                <a:gd name="T2" fmla="*/ 2 w 41793"/>
                <a:gd name="T3" fmla="*/ 0 h 21600"/>
                <a:gd name="T4" fmla="*/ 1 w 41793"/>
                <a:gd name="T5" fmla="*/ 0 h 21600"/>
                <a:gd name="T6" fmla="*/ 0 60000 65536"/>
                <a:gd name="T7" fmla="*/ 0 60000 65536"/>
                <a:gd name="T8" fmla="*/ 0 60000 65536"/>
                <a:gd name="T9" fmla="*/ 0 w 41793"/>
                <a:gd name="T10" fmla="*/ 0 h 21600"/>
                <a:gd name="T11" fmla="*/ 41793 w 4179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793" h="21600" fill="none" extrusionOk="0">
                  <a:moveTo>
                    <a:pt x="0" y="13930"/>
                  </a:moveTo>
                  <a:cubicBezTo>
                    <a:pt x="3185" y="5544"/>
                    <a:pt x="11222" y="-1"/>
                    <a:pt x="20193" y="0"/>
                  </a:cubicBezTo>
                  <a:cubicBezTo>
                    <a:pt x="32122" y="0"/>
                    <a:pt x="41793" y="9670"/>
                    <a:pt x="41793" y="21600"/>
                  </a:cubicBezTo>
                </a:path>
                <a:path w="41793" h="21600" stroke="0" extrusionOk="0">
                  <a:moveTo>
                    <a:pt x="0" y="13930"/>
                  </a:moveTo>
                  <a:cubicBezTo>
                    <a:pt x="3185" y="5544"/>
                    <a:pt x="11222" y="-1"/>
                    <a:pt x="20193" y="0"/>
                  </a:cubicBezTo>
                  <a:cubicBezTo>
                    <a:pt x="32122" y="0"/>
                    <a:pt x="41793" y="9670"/>
                    <a:pt x="41793" y="21600"/>
                  </a:cubicBezTo>
                  <a:lnTo>
                    <a:pt x="20193" y="21600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25" name="Arc 34">
              <a:extLst>
                <a:ext uri="{FF2B5EF4-FFF2-40B4-BE49-F238E27FC236}">
                  <a16:creationId xmlns:a16="http://schemas.microsoft.com/office/drawing/2014/main" id="{6667A3D6-4BBB-0BD5-44C5-588CF8E61A7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981" y="1759"/>
              <a:ext cx="1422" cy="679"/>
            </a:xfrm>
            <a:custGeom>
              <a:avLst/>
              <a:gdLst>
                <a:gd name="T0" fmla="*/ 0 w 41107"/>
                <a:gd name="T1" fmla="*/ 0 h 24475"/>
                <a:gd name="T2" fmla="*/ 2 w 41107"/>
                <a:gd name="T3" fmla="*/ 1 h 24475"/>
                <a:gd name="T4" fmla="*/ 1 w 41107"/>
                <a:gd name="T5" fmla="*/ 0 h 24475"/>
                <a:gd name="T6" fmla="*/ 0 60000 65536"/>
                <a:gd name="T7" fmla="*/ 0 60000 65536"/>
                <a:gd name="T8" fmla="*/ 0 60000 65536"/>
                <a:gd name="T9" fmla="*/ 0 w 41107"/>
                <a:gd name="T10" fmla="*/ 0 h 24475"/>
                <a:gd name="T11" fmla="*/ 41107 w 41107"/>
                <a:gd name="T12" fmla="*/ 24475 h 244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07" h="24475" fill="none" extrusionOk="0">
                  <a:moveTo>
                    <a:pt x="-1" y="12324"/>
                  </a:moveTo>
                  <a:cubicBezTo>
                    <a:pt x="3579" y="4796"/>
                    <a:pt x="11171" y="-1"/>
                    <a:pt x="19507" y="0"/>
                  </a:cubicBezTo>
                  <a:cubicBezTo>
                    <a:pt x="31436" y="0"/>
                    <a:pt x="41107" y="9670"/>
                    <a:pt x="41107" y="21600"/>
                  </a:cubicBezTo>
                  <a:cubicBezTo>
                    <a:pt x="41107" y="22561"/>
                    <a:pt x="41042" y="23521"/>
                    <a:pt x="40914" y="24474"/>
                  </a:cubicBezTo>
                </a:path>
                <a:path w="41107" h="24475" stroke="0" extrusionOk="0">
                  <a:moveTo>
                    <a:pt x="-1" y="12324"/>
                  </a:moveTo>
                  <a:cubicBezTo>
                    <a:pt x="3579" y="4796"/>
                    <a:pt x="11171" y="-1"/>
                    <a:pt x="19507" y="0"/>
                  </a:cubicBezTo>
                  <a:cubicBezTo>
                    <a:pt x="31436" y="0"/>
                    <a:pt x="41107" y="9670"/>
                    <a:pt x="41107" y="21600"/>
                  </a:cubicBezTo>
                  <a:cubicBezTo>
                    <a:pt x="41107" y="22561"/>
                    <a:pt x="41042" y="23521"/>
                    <a:pt x="40914" y="24474"/>
                  </a:cubicBezTo>
                  <a:lnTo>
                    <a:pt x="19507" y="21600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26" name="AutoShape 35">
              <a:extLst>
                <a:ext uri="{FF2B5EF4-FFF2-40B4-BE49-F238E27FC236}">
                  <a16:creationId xmlns:a16="http://schemas.microsoft.com/office/drawing/2014/main" id="{1D603E5D-C5E4-BB11-5394-8BEB843CB96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31" y="1402"/>
              <a:ext cx="796" cy="681"/>
            </a:xfrm>
            <a:prstGeom prst="moon">
              <a:avLst>
                <a:gd name="adj" fmla="val 83847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3570" name="Group 36">
            <a:extLst>
              <a:ext uri="{FF2B5EF4-FFF2-40B4-BE49-F238E27FC236}">
                <a16:creationId xmlns:a16="http://schemas.microsoft.com/office/drawing/2014/main" id="{523B9665-0D5A-95CB-BC3C-EC579EB4CCD3}"/>
              </a:ext>
            </a:extLst>
          </p:cNvPr>
          <p:cNvGrpSpPr>
            <a:grpSpLocks/>
          </p:cNvGrpSpPr>
          <p:nvPr/>
        </p:nvGrpSpPr>
        <p:grpSpPr bwMode="auto">
          <a:xfrm>
            <a:off x="3836988" y="3948113"/>
            <a:ext cx="3597275" cy="2400300"/>
            <a:chOff x="2475" y="2487"/>
            <a:chExt cx="2266" cy="1512"/>
          </a:xfrm>
        </p:grpSpPr>
        <p:sp>
          <p:nvSpPr>
            <p:cNvPr id="23606" name="Line 37">
              <a:extLst>
                <a:ext uri="{FF2B5EF4-FFF2-40B4-BE49-F238E27FC236}">
                  <a16:creationId xmlns:a16="http://schemas.microsoft.com/office/drawing/2014/main" id="{B5C0AD7F-9605-28D7-384B-3BF62D1C41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4" y="3082"/>
              <a:ext cx="7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07" name="Line 38">
              <a:extLst>
                <a:ext uri="{FF2B5EF4-FFF2-40B4-BE49-F238E27FC236}">
                  <a16:creationId xmlns:a16="http://schemas.microsoft.com/office/drawing/2014/main" id="{6A11736A-E72F-F526-B97E-E190455FCF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8" y="3261"/>
              <a:ext cx="6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08" name="Line 39">
              <a:extLst>
                <a:ext uri="{FF2B5EF4-FFF2-40B4-BE49-F238E27FC236}">
                  <a16:creationId xmlns:a16="http://schemas.microsoft.com/office/drawing/2014/main" id="{F4DC05AD-1C44-7988-9465-52A683010A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4" y="3447"/>
              <a:ext cx="72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09" name="Text Box 40">
              <a:extLst>
                <a:ext uri="{FF2B5EF4-FFF2-40B4-BE49-F238E27FC236}">
                  <a16:creationId xmlns:a16="http://schemas.microsoft.com/office/drawing/2014/main" id="{3A460932-E49B-311D-761F-8C2709114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5" y="2846"/>
              <a:ext cx="62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sa0     sa1</a:t>
              </a:r>
            </a:p>
          </p:txBody>
        </p:sp>
        <p:sp>
          <p:nvSpPr>
            <p:cNvPr id="23610" name="Text Box 41">
              <a:extLst>
                <a:ext uri="{FF2B5EF4-FFF2-40B4-BE49-F238E27FC236}">
                  <a16:creationId xmlns:a16="http://schemas.microsoft.com/office/drawing/2014/main" id="{87EFE4F2-4475-17A4-0A4B-458EB3764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3441"/>
              <a:ext cx="62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 b="1" dirty="0">
                  <a:latin typeface="Calibri" panose="020F0502020204030204" pitchFamily="34" charset="0"/>
                  <a:cs typeface="Calibri" panose="020F0502020204030204" pitchFamily="34" charset="0"/>
                </a:rPr>
                <a:t>sa0     sa1</a:t>
              </a:r>
            </a:p>
          </p:txBody>
        </p:sp>
        <p:sp>
          <p:nvSpPr>
            <p:cNvPr id="23611" name="Text Box 42">
              <a:extLst>
                <a:ext uri="{FF2B5EF4-FFF2-40B4-BE49-F238E27FC236}">
                  <a16:creationId xmlns:a16="http://schemas.microsoft.com/office/drawing/2014/main" id="{8C3735F3-0F95-76DD-FF46-68F2FECD6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7" y="3047"/>
              <a:ext cx="5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600" b="1">
                  <a:latin typeface="Calibri" panose="020F0502020204030204" pitchFamily="34" charset="0"/>
                  <a:cs typeface="Calibri" panose="020F0502020204030204" pitchFamily="34" charset="0"/>
                </a:rPr>
                <a:t>sa0  sa1</a:t>
              </a:r>
            </a:p>
          </p:txBody>
        </p:sp>
        <p:sp>
          <p:nvSpPr>
            <p:cNvPr id="23612" name="Line 43">
              <a:extLst>
                <a:ext uri="{FF2B5EF4-FFF2-40B4-BE49-F238E27FC236}">
                  <a16:creationId xmlns:a16="http://schemas.microsoft.com/office/drawing/2014/main" id="{61395538-3960-2F13-17CB-79615D3B2A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4" y="3036"/>
              <a:ext cx="0" cy="45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13" name="Arc 44">
              <a:extLst>
                <a:ext uri="{FF2B5EF4-FFF2-40B4-BE49-F238E27FC236}">
                  <a16:creationId xmlns:a16="http://schemas.microsoft.com/office/drawing/2014/main" id="{E7AF0389-95C8-E3E1-B4FD-1BD14F76A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2487"/>
              <a:ext cx="1284" cy="577"/>
            </a:xfrm>
            <a:custGeom>
              <a:avLst/>
              <a:gdLst>
                <a:gd name="T0" fmla="*/ 0 w 41793"/>
                <a:gd name="T1" fmla="*/ 0 h 21600"/>
                <a:gd name="T2" fmla="*/ 1 w 41793"/>
                <a:gd name="T3" fmla="*/ 0 h 21600"/>
                <a:gd name="T4" fmla="*/ 1 w 41793"/>
                <a:gd name="T5" fmla="*/ 0 h 21600"/>
                <a:gd name="T6" fmla="*/ 0 60000 65536"/>
                <a:gd name="T7" fmla="*/ 0 60000 65536"/>
                <a:gd name="T8" fmla="*/ 0 60000 65536"/>
                <a:gd name="T9" fmla="*/ 0 w 41793"/>
                <a:gd name="T10" fmla="*/ 0 h 21600"/>
                <a:gd name="T11" fmla="*/ 41793 w 4179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793" h="21600" fill="none" extrusionOk="0">
                  <a:moveTo>
                    <a:pt x="0" y="13930"/>
                  </a:moveTo>
                  <a:cubicBezTo>
                    <a:pt x="3185" y="5544"/>
                    <a:pt x="11222" y="-1"/>
                    <a:pt x="20193" y="0"/>
                  </a:cubicBezTo>
                  <a:cubicBezTo>
                    <a:pt x="32122" y="0"/>
                    <a:pt x="41793" y="9670"/>
                    <a:pt x="41793" y="21600"/>
                  </a:cubicBezTo>
                </a:path>
                <a:path w="41793" h="21600" stroke="0" extrusionOk="0">
                  <a:moveTo>
                    <a:pt x="0" y="13930"/>
                  </a:moveTo>
                  <a:cubicBezTo>
                    <a:pt x="3185" y="5544"/>
                    <a:pt x="11222" y="-1"/>
                    <a:pt x="20193" y="0"/>
                  </a:cubicBezTo>
                  <a:cubicBezTo>
                    <a:pt x="32122" y="0"/>
                    <a:pt x="41793" y="9670"/>
                    <a:pt x="41793" y="21600"/>
                  </a:cubicBezTo>
                  <a:lnTo>
                    <a:pt x="20193" y="21600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14" name="Arc 45">
              <a:extLst>
                <a:ext uri="{FF2B5EF4-FFF2-40B4-BE49-F238E27FC236}">
                  <a16:creationId xmlns:a16="http://schemas.microsoft.com/office/drawing/2014/main" id="{162C415A-4444-4679-E132-87F17DDBBBC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011" y="3294"/>
              <a:ext cx="1298" cy="705"/>
            </a:xfrm>
            <a:custGeom>
              <a:avLst/>
              <a:gdLst>
                <a:gd name="T0" fmla="*/ 0 w 41107"/>
                <a:gd name="T1" fmla="*/ 0 h 23996"/>
                <a:gd name="T2" fmla="*/ 1 w 41107"/>
                <a:gd name="T3" fmla="*/ 1 h 23996"/>
                <a:gd name="T4" fmla="*/ 1 w 41107"/>
                <a:gd name="T5" fmla="*/ 1 h 23996"/>
                <a:gd name="T6" fmla="*/ 0 60000 65536"/>
                <a:gd name="T7" fmla="*/ 0 60000 65536"/>
                <a:gd name="T8" fmla="*/ 0 60000 65536"/>
                <a:gd name="T9" fmla="*/ 0 w 41107"/>
                <a:gd name="T10" fmla="*/ 0 h 23996"/>
                <a:gd name="T11" fmla="*/ 41107 w 41107"/>
                <a:gd name="T12" fmla="*/ 23996 h 239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07" h="23996" fill="none" extrusionOk="0">
                  <a:moveTo>
                    <a:pt x="-1" y="12324"/>
                  </a:moveTo>
                  <a:cubicBezTo>
                    <a:pt x="3579" y="4796"/>
                    <a:pt x="11171" y="-1"/>
                    <a:pt x="19507" y="0"/>
                  </a:cubicBezTo>
                  <a:cubicBezTo>
                    <a:pt x="31436" y="0"/>
                    <a:pt x="41107" y="9670"/>
                    <a:pt x="41107" y="21600"/>
                  </a:cubicBezTo>
                  <a:cubicBezTo>
                    <a:pt x="41107" y="22400"/>
                    <a:pt x="41062" y="23200"/>
                    <a:pt x="40973" y="23995"/>
                  </a:cubicBezTo>
                </a:path>
                <a:path w="41107" h="23996" stroke="0" extrusionOk="0">
                  <a:moveTo>
                    <a:pt x="-1" y="12324"/>
                  </a:moveTo>
                  <a:cubicBezTo>
                    <a:pt x="3579" y="4796"/>
                    <a:pt x="11171" y="-1"/>
                    <a:pt x="19507" y="0"/>
                  </a:cubicBezTo>
                  <a:cubicBezTo>
                    <a:pt x="31436" y="0"/>
                    <a:pt x="41107" y="9670"/>
                    <a:pt x="41107" y="21600"/>
                  </a:cubicBezTo>
                  <a:cubicBezTo>
                    <a:pt x="41107" y="22400"/>
                    <a:pt x="41062" y="23200"/>
                    <a:pt x="40973" y="23995"/>
                  </a:cubicBezTo>
                  <a:lnTo>
                    <a:pt x="19507" y="21600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15" name="Oval 46">
              <a:extLst>
                <a:ext uri="{FF2B5EF4-FFF2-40B4-BE49-F238E27FC236}">
                  <a16:creationId xmlns:a16="http://schemas.microsoft.com/office/drawing/2014/main" id="{21F77EEB-6914-160E-8FC9-CEF6527DE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3180"/>
              <a:ext cx="154" cy="1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16" name="AutoShape 47">
              <a:extLst>
                <a:ext uri="{FF2B5EF4-FFF2-40B4-BE49-F238E27FC236}">
                  <a16:creationId xmlns:a16="http://schemas.microsoft.com/office/drawing/2014/main" id="{97F7925C-086F-93F2-0700-3F750A53429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50" y="2919"/>
              <a:ext cx="796" cy="681"/>
            </a:xfrm>
            <a:prstGeom prst="moon">
              <a:avLst>
                <a:gd name="adj" fmla="val 83847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3571" name="Line 48">
            <a:extLst>
              <a:ext uri="{FF2B5EF4-FFF2-40B4-BE49-F238E27FC236}">
                <a16:creationId xmlns:a16="http://schemas.microsoft.com/office/drawing/2014/main" id="{B70DB658-103D-4903-F333-461713EE08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9725" y="1812925"/>
            <a:ext cx="2209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72" name="Text Box 49">
            <a:extLst>
              <a:ext uri="{FF2B5EF4-FFF2-40B4-BE49-F238E27FC236}">
                <a16:creationId xmlns:a16="http://schemas.microsoft.com/office/drawing/2014/main" id="{4DB5A5AD-6C55-4AEE-D2B2-BE58E849E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438" y="1425575"/>
            <a:ext cx="4716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sa0</a:t>
            </a:r>
          </a:p>
        </p:txBody>
      </p:sp>
      <p:sp>
        <p:nvSpPr>
          <p:cNvPr id="23573" name="Text Box 50">
            <a:extLst>
              <a:ext uri="{FF2B5EF4-FFF2-40B4-BE49-F238E27FC236}">
                <a16:creationId xmlns:a16="http://schemas.microsoft.com/office/drawing/2014/main" id="{778F0EBA-2875-79E1-F9C7-2E2A5A0FA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9888" y="1820863"/>
            <a:ext cx="4716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sa1</a:t>
            </a:r>
          </a:p>
        </p:txBody>
      </p:sp>
      <p:sp>
        <p:nvSpPr>
          <p:cNvPr id="23574" name="Rectangle 51">
            <a:extLst>
              <a:ext uri="{FF2B5EF4-FFF2-40B4-BE49-F238E27FC236}">
                <a16:creationId xmlns:a16="http://schemas.microsoft.com/office/drawing/2014/main" id="{77D0417A-CE03-D069-7BA0-BB57402FF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1350" y="1458913"/>
            <a:ext cx="4716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sa0</a:t>
            </a:r>
          </a:p>
        </p:txBody>
      </p:sp>
      <p:sp>
        <p:nvSpPr>
          <p:cNvPr id="23575" name="Rectangle 52">
            <a:extLst>
              <a:ext uri="{FF2B5EF4-FFF2-40B4-BE49-F238E27FC236}">
                <a16:creationId xmlns:a16="http://schemas.microsoft.com/office/drawing/2014/main" id="{E40A9A27-1739-D826-B679-747DC1CD2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9763" y="1809750"/>
            <a:ext cx="4716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sa1</a:t>
            </a:r>
          </a:p>
        </p:txBody>
      </p:sp>
      <p:sp>
        <p:nvSpPr>
          <p:cNvPr id="23576" name="Line 53">
            <a:extLst>
              <a:ext uri="{FF2B5EF4-FFF2-40B4-BE49-F238E27FC236}">
                <a16:creationId xmlns:a16="http://schemas.microsoft.com/office/drawing/2014/main" id="{529AE941-3F8E-2E3D-180B-E782C0608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4875" y="1600200"/>
            <a:ext cx="9747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77" name="Line 54">
            <a:extLst>
              <a:ext uri="{FF2B5EF4-FFF2-40B4-BE49-F238E27FC236}">
                <a16:creationId xmlns:a16="http://schemas.microsoft.com/office/drawing/2014/main" id="{5E7F34D9-9628-89A9-090F-574B8DCD3B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9163" y="1995488"/>
            <a:ext cx="9747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78" name="AutoShape 55">
            <a:extLst>
              <a:ext uri="{FF2B5EF4-FFF2-40B4-BE49-F238E27FC236}">
                <a16:creationId xmlns:a16="http://schemas.microsoft.com/office/drawing/2014/main" id="{F3FBD944-F194-1A74-796D-7CBABB6D7C0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162007" y="3490118"/>
            <a:ext cx="990600" cy="792163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79" name="Oval 56">
            <a:extLst>
              <a:ext uri="{FF2B5EF4-FFF2-40B4-BE49-F238E27FC236}">
                <a16:creationId xmlns:a16="http://schemas.microsoft.com/office/drawing/2014/main" id="{24A38CB9-9E81-FDBA-9625-673681FDD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913" y="3754438"/>
            <a:ext cx="244475" cy="26035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80" name="Line 57">
            <a:extLst>
              <a:ext uri="{FF2B5EF4-FFF2-40B4-BE49-F238E27FC236}">
                <a16:creationId xmlns:a16="http://schemas.microsoft.com/office/drawing/2014/main" id="{D2DD7EFB-625E-6BF9-7A41-1F9EFA96549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1675" y="3870325"/>
            <a:ext cx="5635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81" name="Line 58">
            <a:extLst>
              <a:ext uri="{FF2B5EF4-FFF2-40B4-BE49-F238E27FC236}">
                <a16:creationId xmlns:a16="http://schemas.microsoft.com/office/drawing/2014/main" id="{736F2077-2FB2-ECF8-507B-1A60C0017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9725" y="3884613"/>
            <a:ext cx="5635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82" name="Rectangle 59">
            <a:extLst>
              <a:ext uri="{FF2B5EF4-FFF2-40B4-BE49-F238E27FC236}">
                <a16:creationId xmlns:a16="http://schemas.microsoft.com/office/drawing/2014/main" id="{87F4E61C-355F-1627-9C54-39BB1CAEE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525" y="3530600"/>
            <a:ext cx="4716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sa0</a:t>
            </a:r>
          </a:p>
        </p:txBody>
      </p:sp>
      <p:sp>
        <p:nvSpPr>
          <p:cNvPr id="23583" name="Rectangle 60">
            <a:extLst>
              <a:ext uri="{FF2B5EF4-FFF2-40B4-BE49-F238E27FC236}">
                <a16:creationId xmlns:a16="http://schemas.microsoft.com/office/drawing/2014/main" id="{85CF71D8-0343-90C3-8EA4-060CEA412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5963" y="3851275"/>
            <a:ext cx="4716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sa0</a:t>
            </a:r>
          </a:p>
        </p:txBody>
      </p:sp>
      <p:sp>
        <p:nvSpPr>
          <p:cNvPr id="23584" name="Rectangle 61">
            <a:extLst>
              <a:ext uri="{FF2B5EF4-FFF2-40B4-BE49-F238E27FC236}">
                <a16:creationId xmlns:a16="http://schemas.microsoft.com/office/drawing/2014/main" id="{71541B9E-AEE8-7CBC-C300-3F3247B64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897313"/>
            <a:ext cx="4716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sa1</a:t>
            </a:r>
          </a:p>
        </p:txBody>
      </p:sp>
      <p:sp>
        <p:nvSpPr>
          <p:cNvPr id="23585" name="Rectangle 62">
            <a:extLst>
              <a:ext uri="{FF2B5EF4-FFF2-40B4-BE49-F238E27FC236}">
                <a16:creationId xmlns:a16="http://schemas.microsoft.com/office/drawing/2014/main" id="{6EA0D361-428C-D189-30BE-1D3CE1015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3532188"/>
            <a:ext cx="4716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sa1</a:t>
            </a:r>
          </a:p>
        </p:txBody>
      </p:sp>
      <p:sp>
        <p:nvSpPr>
          <p:cNvPr id="23586" name="Arc 63">
            <a:extLst>
              <a:ext uri="{FF2B5EF4-FFF2-40B4-BE49-F238E27FC236}">
                <a16:creationId xmlns:a16="http://schemas.microsoft.com/office/drawing/2014/main" id="{848A680B-58BA-A3C7-326F-60A97E05620F}"/>
              </a:ext>
            </a:extLst>
          </p:cNvPr>
          <p:cNvSpPr>
            <a:spLocks/>
          </p:cNvSpPr>
          <p:nvPr/>
        </p:nvSpPr>
        <p:spPr bwMode="auto">
          <a:xfrm>
            <a:off x="6997700" y="3094038"/>
            <a:ext cx="1460500" cy="487362"/>
          </a:xfrm>
          <a:custGeom>
            <a:avLst/>
            <a:gdLst>
              <a:gd name="T0" fmla="*/ 0 w 43121"/>
              <a:gd name="T1" fmla="*/ 226964672 h 21600"/>
              <a:gd name="T2" fmla="*/ 1675432590 w 43121"/>
              <a:gd name="T3" fmla="*/ 248111663 h 21600"/>
              <a:gd name="T4" fmla="*/ 836181045 w 43121"/>
              <a:gd name="T5" fmla="*/ 248111663 h 21600"/>
              <a:gd name="T6" fmla="*/ 0 60000 65536"/>
              <a:gd name="T7" fmla="*/ 0 60000 65536"/>
              <a:gd name="T8" fmla="*/ 0 60000 65536"/>
              <a:gd name="T9" fmla="*/ 0 w 43121"/>
              <a:gd name="T10" fmla="*/ 0 h 21600"/>
              <a:gd name="T11" fmla="*/ 43121 w 4312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21" h="21600" fill="none" extrusionOk="0">
                <a:moveTo>
                  <a:pt x="-1" y="19758"/>
                </a:moveTo>
                <a:cubicBezTo>
                  <a:pt x="955" y="8584"/>
                  <a:pt x="10305" y="-1"/>
                  <a:pt x="21521" y="0"/>
                </a:cubicBezTo>
                <a:cubicBezTo>
                  <a:pt x="33450" y="0"/>
                  <a:pt x="43121" y="9670"/>
                  <a:pt x="43121" y="21600"/>
                </a:cubicBezTo>
              </a:path>
              <a:path w="43121" h="21600" stroke="0" extrusionOk="0">
                <a:moveTo>
                  <a:pt x="-1" y="19758"/>
                </a:moveTo>
                <a:cubicBezTo>
                  <a:pt x="955" y="8584"/>
                  <a:pt x="10305" y="-1"/>
                  <a:pt x="21521" y="0"/>
                </a:cubicBezTo>
                <a:cubicBezTo>
                  <a:pt x="33450" y="0"/>
                  <a:pt x="43121" y="9670"/>
                  <a:pt x="43121" y="21600"/>
                </a:cubicBezTo>
                <a:lnTo>
                  <a:pt x="21521" y="21600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87" name="Arc 64">
            <a:extLst>
              <a:ext uri="{FF2B5EF4-FFF2-40B4-BE49-F238E27FC236}">
                <a16:creationId xmlns:a16="http://schemas.microsoft.com/office/drawing/2014/main" id="{B666A605-5AFF-D000-BBBD-8575D852A089}"/>
              </a:ext>
            </a:extLst>
          </p:cNvPr>
          <p:cNvSpPr>
            <a:spLocks/>
          </p:cNvSpPr>
          <p:nvPr/>
        </p:nvSpPr>
        <p:spPr bwMode="auto">
          <a:xfrm flipV="1">
            <a:off x="6997700" y="4144963"/>
            <a:ext cx="1460500" cy="487362"/>
          </a:xfrm>
          <a:custGeom>
            <a:avLst/>
            <a:gdLst>
              <a:gd name="T0" fmla="*/ 0 w 43121"/>
              <a:gd name="T1" fmla="*/ 226964672 h 21600"/>
              <a:gd name="T2" fmla="*/ 1675432590 w 43121"/>
              <a:gd name="T3" fmla="*/ 248111663 h 21600"/>
              <a:gd name="T4" fmla="*/ 836181045 w 43121"/>
              <a:gd name="T5" fmla="*/ 248111663 h 21600"/>
              <a:gd name="T6" fmla="*/ 0 60000 65536"/>
              <a:gd name="T7" fmla="*/ 0 60000 65536"/>
              <a:gd name="T8" fmla="*/ 0 60000 65536"/>
              <a:gd name="T9" fmla="*/ 0 w 43121"/>
              <a:gd name="T10" fmla="*/ 0 h 21600"/>
              <a:gd name="T11" fmla="*/ 43121 w 4312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21" h="21600" fill="none" extrusionOk="0">
                <a:moveTo>
                  <a:pt x="-1" y="19758"/>
                </a:moveTo>
                <a:cubicBezTo>
                  <a:pt x="955" y="8584"/>
                  <a:pt x="10305" y="-1"/>
                  <a:pt x="21521" y="0"/>
                </a:cubicBezTo>
                <a:cubicBezTo>
                  <a:pt x="33450" y="0"/>
                  <a:pt x="43121" y="9670"/>
                  <a:pt x="43121" y="21600"/>
                </a:cubicBezTo>
              </a:path>
              <a:path w="43121" h="21600" stroke="0" extrusionOk="0">
                <a:moveTo>
                  <a:pt x="-1" y="19758"/>
                </a:moveTo>
                <a:cubicBezTo>
                  <a:pt x="955" y="8584"/>
                  <a:pt x="10305" y="-1"/>
                  <a:pt x="21521" y="0"/>
                </a:cubicBezTo>
                <a:cubicBezTo>
                  <a:pt x="33450" y="0"/>
                  <a:pt x="43121" y="9670"/>
                  <a:pt x="43121" y="21600"/>
                </a:cubicBezTo>
                <a:lnTo>
                  <a:pt x="21521" y="21600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88" name="Line 65">
            <a:extLst>
              <a:ext uri="{FF2B5EF4-FFF2-40B4-BE49-F238E27FC236}">
                <a16:creationId xmlns:a16="http://schemas.microsoft.com/office/drawing/2014/main" id="{799CC703-3C79-B279-4502-7D9BDAB76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1988" y="5624513"/>
            <a:ext cx="9461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89" name="Line 66">
            <a:extLst>
              <a:ext uri="{FF2B5EF4-FFF2-40B4-BE49-F238E27FC236}">
                <a16:creationId xmlns:a16="http://schemas.microsoft.com/office/drawing/2014/main" id="{47283573-D4A4-89C0-CC62-23CAD8D529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3375" y="5205413"/>
            <a:ext cx="9461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90" name="Line 67">
            <a:extLst>
              <a:ext uri="{FF2B5EF4-FFF2-40B4-BE49-F238E27FC236}">
                <a16:creationId xmlns:a16="http://schemas.microsoft.com/office/drawing/2014/main" id="{DCC96587-13AF-CAE6-714E-23C9D9F3D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5438" y="6021388"/>
            <a:ext cx="9461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91" name="Line 68">
            <a:extLst>
              <a:ext uri="{FF2B5EF4-FFF2-40B4-BE49-F238E27FC236}">
                <a16:creationId xmlns:a16="http://schemas.microsoft.com/office/drawing/2014/main" id="{C7333DBE-EBD0-D39C-ACBB-EBBB88A7F7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4963" y="51943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92" name="Rectangle 69">
            <a:extLst>
              <a:ext uri="{FF2B5EF4-FFF2-40B4-BE49-F238E27FC236}">
                <a16:creationId xmlns:a16="http://schemas.microsoft.com/office/drawing/2014/main" id="{056C443A-B9DF-DA15-71D8-9A53BBB7B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9788" y="5319713"/>
            <a:ext cx="4716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sa0</a:t>
            </a:r>
          </a:p>
        </p:txBody>
      </p:sp>
      <p:sp>
        <p:nvSpPr>
          <p:cNvPr id="23593" name="Rectangle 70">
            <a:extLst>
              <a:ext uri="{FF2B5EF4-FFF2-40B4-BE49-F238E27FC236}">
                <a16:creationId xmlns:a16="http://schemas.microsoft.com/office/drawing/2014/main" id="{83811C9C-99FE-A592-7834-29246052E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873625"/>
            <a:ext cx="4716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sa0</a:t>
            </a:r>
          </a:p>
        </p:txBody>
      </p:sp>
      <p:sp>
        <p:nvSpPr>
          <p:cNvPr id="23594" name="Rectangle 71">
            <a:extLst>
              <a:ext uri="{FF2B5EF4-FFF2-40B4-BE49-F238E27FC236}">
                <a16:creationId xmlns:a16="http://schemas.microsoft.com/office/drawing/2014/main" id="{4C7C6000-EAC9-4BE5-A57A-45E57B735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3563" y="5707063"/>
            <a:ext cx="4716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sa0</a:t>
            </a:r>
          </a:p>
        </p:txBody>
      </p:sp>
      <p:sp>
        <p:nvSpPr>
          <p:cNvPr id="23595" name="Rectangle 72">
            <a:extLst>
              <a:ext uri="{FF2B5EF4-FFF2-40B4-BE49-F238E27FC236}">
                <a16:creationId xmlns:a16="http://schemas.microsoft.com/office/drawing/2014/main" id="{C9F32356-8680-F80C-5519-8B37767A1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6138" y="5591175"/>
            <a:ext cx="4716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sa1</a:t>
            </a:r>
          </a:p>
        </p:txBody>
      </p:sp>
      <p:sp>
        <p:nvSpPr>
          <p:cNvPr id="23596" name="Rectangle 73">
            <a:extLst>
              <a:ext uri="{FF2B5EF4-FFF2-40B4-BE49-F238E27FC236}">
                <a16:creationId xmlns:a16="http://schemas.microsoft.com/office/drawing/2014/main" id="{2FC43692-8EEA-6136-688D-C2FD9901F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9275" y="5167313"/>
            <a:ext cx="4716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sa1</a:t>
            </a:r>
          </a:p>
        </p:txBody>
      </p:sp>
      <p:sp>
        <p:nvSpPr>
          <p:cNvPr id="23597" name="Rectangle 74">
            <a:extLst>
              <a:ext uri="{FF2B5EF4-FFF2-40B4-BE49-F238E27FC236}">
                <a16:creationId xmlns:a16="http://schemas.microsoft.com/office/drawing/2014/main" id="{1A7E018A-0047-E3B7-1A09-BB8BDBB2A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4675" y="5994400"/>
            <a:ext cx="4716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>
                <a:latin typeface="Calibri" panose="020F0502020204030204" pitchFamily="34" charset="0"/>
                <a:cs typeface="Calibri" panose="020F0502020204030204" pitchFamily="34" charset="0"/>
              </a:rPr>
              <a:t>sa1</a:t>
            </a:r>
          </a:p>
        </p:txBody>
      </p:sp>
      <p:sp>
        <p:nvSpPr>
          <p:cNvPr id="23598" name="Oval 75">
            <a:extLst>
              <a:ext uri="{FF2B5EF4-FFF2-40B4-BE49-F238E27FC236}">
                <a16:creationId xmlns:a16="http://schemas.microsoft.com/office/drawing/2014/main" id="{FAA2F255-7C13-D2FF-3B5B-66A918DF5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0513" y="5580063"/>
            <a:ext cx="87312" cy="8731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99" name="Text Box 76">
            <a:extLst>
              <a:ext uri="{FF2B5EF4-FFF2-40B4-BE49-F238E27FC236}">
                <a16:creationId xmlns:a16="http://schemas.microsoft.com/office/drawing/2014/main" id="{304D8CA0-5CAE-A5CE-E245-F8B83B852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2552700"/>
            <a:ext cx="6206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 i="1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endParaRPr lang="en-US" altLang="en-US" sz="16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600" name="Text Box 77">
            <a:extLst>
              <a:ext uri="{FF2B5EF4-FFF2-40B4-BE49-F238E27FC236}">
                <a16:creationId xmlns:a16="http://schemas.microsoft.com/office/drawing/2014/main" id="{E570B0C4-E7F5-BE18-8FDE-D2FA73E0D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0338" y="4976813"/>
            <a:ext cx="7553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 i="1">
                <a:latin typeface="Calibri" panose="020F0502020204030204" pitchFamily="34" charset="0"/>
                <a:cs typeface="Calibri" panose="020F0502020204030204" pitchFamily="34" charset="0"/>
              </a:rPr>
              <a:t>NAND </a:t>
            </a:r>
          </a:p>
        </p:txBody>
      </p:sp>
      <p:sp>
        <p:nvSpPr>
          <p:cNvPr id="23601" name="Text Box 78">
            <a:extLst>
              <a:ext uri="{FF2B5EF4-FFF2-40B4-BE49-F238E27FC236}">
                <a16:creationId xmlns:a16="http://schemas.microsoft.com/office/drawing/2014/main" id="{F9F9478C-497E-9E73-2482-DC06F9D2C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075" y="2566988"/>
            <a:ext cx="4844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 i="1"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</a:p>
        </p:txBody>
      </p:sp>
      <p:sp>
        <p:nvSpPr>
          <p:cNvPr id="23602" name="Text Box 79">
            <a:extLst>
              <a:ext uri="{FF2B5EF4-FFF2-40B4-BE49-F238E27FC236}">
                <a16:creationId xmlns:a16="http://schemas.microsoft.com/office/drawing/2014/main" id="{C5BB6071-8C30-4AF1-BBD7-6CE8174E8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3513" y="5006975"/>
            <a:ext cx="6190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 i="1">
                <a:latin typeface="Calibri" panose="020F0502020204030204" pitchFamily="34" charset="0"/>
                <a:cs typeface="Calibri" panose="020F0502020204030204" pitchFamily="34" charset="0"/>
              </a:rPr>
              <a:t>NOR </a:t>
            </a:r>
          </a:p>
        </p:txBody>
      </p:sp>
      <p:sp>
        <p:nvSpPr>
          <p:cNvPr id="23603" name="Text Box 80">
            <a:extLst>
              <a:ext uri="{FF2B5EF4-FFF2-40B4-BE49-F238E27FC236}">
                <a16:creationId xmlns:a16="http://schemas.microsoft.com/office/drawing/2014/main" id="{D13E3005-27F2-AF9E-60F8-427AC5783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185988"/>
            <a:ext cx="6864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 i="1">
                <a:latin typeface="Calibri" panose="020F0502020204030204" pitchFamily="34" charset="0"/>
                <a:cs typeface="Calibri" panose="020F0502020204030204" pitchFamily="34" charset="0"/>
              </a:rPr>
              <a:t>WIRE </a:t>
            </a:r>
          </a:p>
        </p:txBody>
      </p:sp>
      <p:sp>
        <p:nvSpPr>
          <p:cNvPr id="23604" name="Text Box 81">
            <a:extLst>
              <a:ext uri="{FF2B5EF4-FFF2-40B4-BE49-F238E27FC236}">
                <a16:creationId xmlns:a16="http://schemas.microsoft.com/office/drawing/2014/main" id="{BC72282E-9F9B-566C-47B5-2C3B35672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5" y="3740150"/>
            <a:ext cx="6001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 i="1">
                <a:latin typeface="Calibri" panose="020F0502020204030204" pitchFamily="34" charset="0"/>
                <a:cs typeface="Calibri" panose="020F0502020204030204" pitchFamily="34" charset="0"/>
              </a:rPr>
              <a:t>NOT </a:t>
            </a:r>
          </a:p>
        </p:txBody>
      </p:sp>
      <p:sp>
        <p:nvSpPr>
          <p:cNvPr id="23605" name="Text Box 82">
            <a:extLst>
              <a:ext uri="{FF2B5EF4-FFF2-40B4-BE49-F238E27FC236}">
                <a16:creationId xmlns:a16="http://schemas.microsoft.com/office/drawing/2014/main" id="{504CBFB3-1DC4-7248-AC16-D9C2600D9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2775" y="6072188"/>
            <a:ext cx="94929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b="1" i="1">
                <a:latin typeface="Calibri" panose="020F0502020204030204" pitchFamily="34" charset="0"/>
                <a:cs typeface="Calibri" panose="020F0502020204030204" pitchFamily="34" charset="0"/>
              </a:rPr>
              <a:t>FANOUT </a:t>
            </a:r>
          </a:p>
        </p:txBody>
      </p:sp>
      <p:sp>
        <p:nvSpPr>
          <p:cNvPr id="2" name="object 81">
            <a:extLst>
              <a:ext uri="{FF2B5EF4-FFF2-40B4-BE49-F238E27FC236}">
                <a16:creationId xmlns:a16="http://schemas.microsoft.com/office/drawing/2014/main" id="{0AFAB819-E442-C5FB-B5FB-5BD9A476A65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09423" y="6447452"/>
            <a:ext cx="40334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4365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nimBg="1"/>
      <p:bldP spid="23559" grpId="0" animBg="1"/>
      <p:bldP spid="23560" grpId="0" animBg="1"/>
      <p:bldP spid="23561" grpId="0" animBg="1"/>
      <p:bldP spid="23562" grpId="0"/>
      <p:bldP spid="23563" grpId="0"/>
      <p:bldP spid="23564" grpId="0"/>
      <p:bldP spid="23565" grpId="0" animBg="1"/>
      <p:bldP spid="23566" grpId="0" animBg="1"/>
      <p:bldP spid="23567" grpId="0" animBg="1"/>
      <p:bldP spid="23568" grpId="0" animBg="1"/>
      <p:bldP spid="23571" grpId="0" animBg="1"/>
      <p:bldP spid="23572" grpId="0"/>
      <p:bldP spid="23573" grpId="0"/>
      <p:bldP spid="23574" grpId="0"/>
      <p:bldP spid="23575" grpId="0"/>
      <p:bldP spid="23576" grpId="0" animBg="1"/>
      <p:bldP spid="23577" grpId="0" animBg="1"/>
      <p:bldP spid="23578" grpId="0" animBg="1"/>
      <p:bldP spid="23579" grpId="0" animBg="1"/>
      <p:bldP spid="23580" grpId="0" animBg="1"/>
      <p:bldP spid="23581" grpId="0" animBg="1"/>
      <p:bldP spid="23581" grpId="1" animBg="1"/>
      <p:bldP spid="23582" grpId="0"/>
      <p:bldP spid="23583" grpId="0"/>
      <p:bldP spid="23584" grpId="0"/>
      <p:bldP spid="23585" grpId="0"/>
      <p:bldP spid="23586" grpId="0" animBg="1"/>
      <p:bldP spid="23587" grpId="0" animBg="1"/>
      <p:bldP spid="23588" grpId="0" animBg="1"/>
      <p:bldP spid="23589" grpId="0" animBg="1"/>
      <p:bldP spid="23590" grpId="0" animBg="1"/>
      <p:bldP spid="23591" grpId="0" animBg="1"/>
      <p:bldP spid="23592" grpId="0"/>
      <p:bldP spid="23593" grpId="0"/>
      <p:bldP spid="23594" grpId="0"/>
      <p:bldP spid="23595" grpId="0"/>
      <p:bldP spid="23596" grpId="0"/>
      <p:bldP spid="23597" grpId="0"/>
      <p:bldP spid="23598" grpId="0" animBg="1"/>
      <p:bldP spid="23599" grpId="0"/>
      <p:bldP spid="23600" grpId="0"/>
      <p:bldP spid="23601" grpId="0"/>
      <p:bldP spid="23602" grpId="0"/>
      <p:bldP spid="23603" grpId="0"/>
      <p:bldP spid="23604" grpId="0"/>
      <p:bldP spid="2360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823" y="6418579"/>
            <a:ext cx="3644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1</a:t>
            </a:r>
            <a:r>
              <a:rPr lang="en-US" sz="2400" b="1" spc="-5" dirty="0">
                <a:latin typeface="Arial"/>
                <a:cs typeface="Arial"/>
              </a:rPr>
              <a:t>1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57705" y="164414"/>
            <a:ext cx="60985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EFC </a:t>
            </a:r>
            <a:r>
              <a:rPr spc="-10" dirty="0"/>
              <a:t>on </a:t>
            </a:r>
            <a:r>
              <a:rPr spc="-5" dirty="0"/>
              <a:t>Fanout-free</a:t>
            </a:r>
            <a:r>
              <a:rPr spc="-10" dirty="0"/>
              <a:t> </a:t>
            </a:r>
            <a:r>
              <a:rPr dirty="0"/>
              <a:t>Circuits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4025" y="845924"/>
            <a:ext cx="8989975" cy="539634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Our EFC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Rules</a:t>
            </a:r>
            <a:r>
              <a:rPr lang="en-US" sz="2000" b="1" dirty="0">
                <a:latin typeface="Arial"/>
                <a:cs typeface="Arial"/>
              </a:rPr>
              <a:t> (no need to memorize to solve a given problem!)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(1) </a:t>
            </a:r>
            <a:r>
              <a:rPr lang="en-US" sz="2000" b="1" dirty="0">
                <a:latin typeface="Arial"/>
                <a:cs typeface="Arial"/>
              </a:rPr>
              <a:t>select </a:t>
            </a:r>
            <a:r>
              <a:rPr sz="2000" b="1" dirty="0">
                <a:latin typeface="Arial"/>
                <a:cs typeface="Arial"/>
              </a:rPr>
              <a:t>both stuck-at one and zero faults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for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every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primary</a:t>
            </a:r>
            <a:r>
              <a:rPr sz="2000" b="1" spc="-1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output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(2) </a:t>
            </a:r>
            <a:r>
              <a:rPr lang="en-US" sz="2000" b="1" dirty="0">
                <a:latin typeface="Arial"/>
                <a:cs typeface="Arial"/>
              </a:rPr>
              <a:t>select the “relevant” </a:t>
            </a:r>
            <a:r>
              <a:rPr sz="2000" b="1" dirty="0">
                <a:latin typeface="Arial"/>
                <a:cs typeface="Arial"/>
              </a:rPr>
              <a:t>collapsed fault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for each gate</a:t>
            </a:r>
            <a:r>
              <a:rPr sz="2000"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input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relevant one is picking s</a:t>
            </a:r>
            <a:r>
              <a:rPr sz="2000" b="1" dirty="0">
                <a:latin typeface="Arial"/>
                <a:cs typeface="Arial"/>
              </a:rPr>
              <a:t>tuck-at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non-controlling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values</a:t>
            </a:r>
            <a:r>
              <a:rPr lang="en-US" sz="20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based on gate type</a:t>
            </a:r>
            <a:endParaRPr lang="en-US"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tabLst>
                <a:tab pos="354965" algn="l"/>
                <a:tab pos="355600" algn="l"/>
              </a:tabLst>
            </a:pPr>
            <a:endParaRPr lang="en-US" sz="2000" b="1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Example</a:t>
            </a:r>
            <a:endParaRPr lang="en-US"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2000" b="1" dirty="0">
                <a:latin typeface="Arial"/>
                <a:cs typeface="Arial"/>
              </a:rPr>
              <a:t>Rule (1) : </a:t>
            </a:r>
            <a:r>
              <a:rPr sz="2000" b="1" dirty="0">
                <a:latin typeface="Arial"/>
                <a:cs typeface="Arial"/>
              </a:rPr>
              <a:t>keep both H/0 and H/1 faults for primary output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2000" b="1" dirty="0">
                <a:latin typeface="Arial"/>
                <a:cs typeface="Arial"/>
              </a:rPr>
              <a:t>Rule (2) : </a:t>
            </a:r>
            <a:r>
              <a:rPr sz="2000" b="1" dirty="0">
                <a:latin typeface="Arial"/>
                <a:cs typeface="Arial"/>
              </a:rPr>
              <a:t>keep </a:t>
            </a:r>
            <a:r>
              <a:rPr lang="en-US" sz="2000" b="1" dirty="0">
                <a:latin typeface="Arial"/>
                <a:cs typeface="Arial"/>
              </a:rPr>
              <a:t>only </a:t>
            </a:r>
            <a:r>
              <a:rPr sz="2000" b="1" dirty="0">
                <a:latin typeface="Arial"/>
                <a:cs typeface="Arial"/>
              </a:rPr>
              <a:t>one </a:t>
            </a:r>
            <a:r>
              <a:rPr lang="en-US" sz="2000" b="1" dirty="0">
                <a:latin typeface="Arial"/>
                <a:cs typeface="Arial"/>
              </a:rPr>
              <a:t>(relevant) </a:t>
            </a:r>
            <a:r>
              <a:rPr sz="2000" b="1" dirty="0">
                <a:latin typeface="Arial"/>
                <a:cs typeface="Arial"/>
              </a:rPr>
              <a:t>fault for each gate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input</a:t>
            </a:r>
            <a:r>
              <a:rPr lang="en-US" sz="2000" b="1" dirty="0">
                <a:latin typeface="Arial"/>
                <a:cs typeface="Arial"/>
              </a:rPr>
              <a:t> determined by the gate equivalency rules</a:t>
            </a:r>
            <a:r>
              <a:rPr sz="2000" b="1" dirty="0">
                <a:latin typeface="Arial"/>
                <a:cs typeface="Arial"/>
              </a:rPr>
              <a:t>,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4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A/0 and B/0 for OR gate G1 </a:t>
            </a:r>
            <a:r>
              <a:rPr lang="en-US" sz="2000" b="1" dirty="0">
                <a:latin typeface="Arial"/>
                <a:cs typeface="Arial"/>
              </a:rPr>
              <a:t>since 0 is non-controlling value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Original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14 </a:t>
            </a:r>
            <a:r>
              <a:rPr sz="2000" b="1" dirty="0">
                <a:latin typeface="Arial"/>
                <a:cs typeface="Arial"/>
              </a:rPr>
              <a:t>faults </a:t>
            </a:r>
            <a:r>
              <a:rPr sz="2000" spc="-40" dirty="0">
                <a:latin typeface="Arial"/>
                <a:cs typeface="Arial"/>
              </a:rPr>
              <a:t>→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8 </a:t>
            </a:r>
            <a:r>
              <a:rPr sz="2000" b="1" dirty="0">
                <a:latin typeface="Arial"/>
                <a:cs typeface="Arial"/>
              </a:rPr>
              <a:t>faults after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EFC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Why faults on the gate outputs are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removed?</a:t>
            </a:r>
            <a:endParaRPr sz="2000" dirty="0">
              <a:latin typeface="Arial"/>
              <a:cs typeface="Arial"/>
            </a:endParaRPr>
          </a:p>
          <a:p>
            <a:pPr marL="1155700" marR="5080" indent="-2286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4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gate G1 output stuck-at zero fault is </a:t>
            </a:r>
            <a:r>
              <a:rPr sz="2000" b="1" spc="-5" dirty="0">
                <a:latin typeface="Arial"/>
                <a:cs typeface="Arial"/>
              </a:rPr>
              <a:t>equivalent </a:t>
            </a:r>
            <a:r>
              <a:rPr sz="2000" b="1" dirty="0">
                <a:latin typeface="Arial"/>
                <a:cs typeface="Arial"/>
              </a:rPr>
              <a:t>to C/0</a:t>
            </a:r>
            <a:r>
              <a:rPr sz="2000" b="1" spc="-155" dirty="0">
                <a:latin typeface="Arial"/>
                <a:cs typeface="Arial"/>
              </a:rPr>
              <a:t> </a:t>
            </a:r>
            <a:r>
              <a:rPr sz="2000" b="1" spc="-50" dirty="0">
                <a:latin typeface="Arial"/>
                <a:cs typeface="Arial"/>
              </a:rPr>
              <a:t>fault,  </a:t>
            </a:r>
            <a:r>
              <a:rPr sz="2000" b="1" spc="5" dirty="0">
                <a:latin typeface="Arial"/>
                <a:cs typeface="Arial"/>
              </a:rPr>
              <a:t>which </a:t>
            </a:r>
            <a:r>
              <a:rPr sz="2000" b="1" dirty="0">
                <a:latin typeface="Arial"/>
                <a:cs typeface="Arial"/>
              </a:rPr>
              <a:t>is </a:t>
            </a:r>
            <a:r>
              <a:rPr sz="2000" b="1" spc="-5" dirty="0">
                <a:latin typeface="Arial"/>
                <a:cs typeface="Arial"/>
              </a:rPr>
              <a:t>equivalent </a:t>
            </a:r>
            <a:r>
              <a:rPr sz="2000" b="1" dirty="0">
                <a:latin typeface="Arial"/>
                <a:cs typeface="Arial"/>
              </a:rPr>
              <a:t>to </a:t>
            </a:r>
            <a:r>
              <a:rPr sz="2000" b="1" spc="-5" dirty="0">
                <a:latin typeface="Arial"/>
                <a:cs typeface="Arial"/>
              </a:rPr>
              <a:t>E/1, </a:t>
            </a:r>
            <a:r>
              <a:rPr sz="2000" b="1" dirty="0">
                <a:latin typeface="Arial"/>
                <a:cs typeface="Arial"/>
              </a:rPr>
              <a:t>which is </a:t>
            </a:r>
            <a:r>
              <a:rPr sz="2000" b="1" spc="-5" dirty="0">
                <a:latin typeface="Arial"/>
                <a:cs typeface="Arial"/>
              </a:rPr>
              <a:t>equivalent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H/0.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31" name="Picture 30" descr="Diagram, schematic&#10;&#10;Description automatically generated">
            <a:extLst>
              <a:ext uri="{FF2B5EF4-FFF2-40B4-BE49-F238E27FC236}">
                <a16:creationId xmlns:a16="http://schemas.microsoft.com/office/drawing/2014/main" id="{88A47F7F-56AC-EA6C-9448-53DE298FF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2438400"/>
            <a:ext cx="3440224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6830" y="164414"/>
            <a:ext cx="64008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EFC </a:t>
            </a:r>
            <a:r>
              <a:rPr spc="-10" dirty="0"/>
              <a:t>on </a:t>
            </a:r>
            <a:r>
              <a:rPr dirty="0"/>
              <a:t>Circuits </a:t>
            </a:r>
            <a:r>
              <a:rPr spc="-5" dirty="0"/>
              <a:t>with</a:t>
            </a:r>
            <a:r>
              <a:rPr spc="-25" dirty="0"/>
              <a:t> </a:t>
            </a:r>
            <a:r>
              <a:rPr spc="-5" dirty="0"/>
              <a:t>Fanouts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36823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Fanout stem faults are</a:t>
            </a:r>
            <a:r>
              <a:rPr sz="2000" b="1" spc="-1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NOT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30225" y="1265936"/>
            <a:ext cx="4137025" cy="17447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5847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always equivalent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fanout  branch</a:t>
            </a:r>
            <a:r>
              <a:rPr spc="-20" dirty="0"/>
              <a:t> </a:t>
            </a:r>
            <a:r>
              <a:rPr dirty="0"/>
              <a:t>faults</a:t>
            </a: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Example:</a:t>
            </a: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E/0 is equivalent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F/0</a:t>
            </a:r>
            <a:endParaRPr sz="2000" dirty="0">
              <a:latin typeface="Arial"/>
              <a:cs typeface="Arial"/>
            </a:endParaRPr>
          </a:p>
          <a:p>
            <a:pPr marR="40640" algn="r">
              <a:lnSpc>
                <a:spcPct val="100000"/>
              </a:lnSpc>
              <a:spcBef>
                <a:spcPts val="480"/>
              </a:spcBef>
            </a:pPr>
            <a:r>
              <a:rPr sz="1800" b="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b="0" spc="3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/>
              <a:t>but not </a:t>
            </a:r>
            <a:r>
              <a:rPr spc="-5" dirty="0"/>
              <a:t>equivalent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L/0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5125" y="3522598"/>
          <a:ext cx="8020049" cy="29229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353">
                <a:tc gridSpan="3"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Input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7"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Output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354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A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B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C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good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E/0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F/0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L/0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E/1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F/1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2120"/>
                        </a:lnSpc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L/1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226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354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226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354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227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315"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212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290"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290"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u="sng" dirty="0">
                          <a:solidFill>
                            <a:srgbClr val="FF0000"/>
                          </a:solidFill>
                          <a:uFill>
                            <a:solidFill>
                              <a:srgbClr val="FF0000"/>
                            </a:solidFill>
                          </a:u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2125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4849040" y="1295083"/>
            <a:ext cx="3944311" cy="13323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84427" y="2010723"/>
            <a:ext cx="205104" cy="68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>
              <a:lnSpc>
                <a:spcPct val="105100"/>
              </a:lnSpc>
              <a:spcBef>
                <a:spcPts val="100"/>
              </a:spcBef>
            </a:pPr>
            <a:r>
              <a:rPr sz="2050" b="1" i="1" spc="-5" dirty="0">
                <a:latin typeface="TimesNewRomanPS-BoldItalicMT"/>
                <a:cs typeface="TimesNewRomanPS-BoldItalicMT"/>
              </a:rPr>
              <a:t>B  C</a:t>
            </a:r>
            <a:endParaRPr sz="2050">
              <a:latin typeface="TimesNewRomanPS-BoldItalicMT"/>
              <a:cs typeface="TimesNewRomanPS-BoldItalic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9423" y="6447452"/>
            <a:ext cx="41529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11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17376" y="2328935"/>
            <a:ext cx="19875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i="1" spc="-5" dirty="0">
                <a:latin typeface="TimesNewRomanPS-BoldItalicMT"/>
                <a:cs typeface="TimesNewRomanPS-BoldItalicMT"/>
              </a:rPr>
              <a:t>E</a:t>
            </a:r>
            <a:endParaRPr sz="2050">
              <a:latin typeface="TimesNewRomanPS-BoldItalicMT"/>
              <a:cs typeface="TimesNewRomanPS-BoldItalic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98539" y="2346013"/>
            <a:ext cx="19875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i="1" spc="-5" dirty="0">
                <a:latin typeface="TimesNewRomanPS-BoldItalicMT"/>
                <a:cs typeface="TimesNewRomanPS-BoldItalicMT"/>
              </a:rPr>
              <a:t>F</a:t>
            </a:r>
            <a:endParaRPr sz="2050">
              <a:latin typeface="TimesNewRomanPS-BoldItalicMT"/>
              <a:cs typeface="TimesNewRomanPS-BoldItalic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530" y="1708851"/>
            <a:ext cx="18415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i="1" spc="-5" dirty="0">
                <a:latin typeface="TimesNewRomanPS-BoldItalicMT"/>
                <a:cs typeface="TimesNewRomanPS-BoldItalicMT"/>
              </a:rPr>
              <a:t>L</a:t>
            </a:r>
            <a:endParaRPr sz="2050">
              <a:latin typeface="TimesNewRomanPS-BoldItalicMT"/>
              <a:cs typeface="TimesNewRomanPS-BoldItalic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20556" y="2097605"/>
            <a:ext cx="15557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i="1" spc="-5" dirty="0">
                <a:latin typeface="TimesNewRomanPS-BoldItalicMT"/>
                <a:cs typeface="TimesNewRomanPS-BoldItalicMT"/>
              </a:rPr>
              <a:t>J</a:t>
            </a:r>
            <a:endParaRPr sz="2050">
              <a:latin typeface="TimesNewRomanPS-BoldItalicMT"/>
              <a:cs typeface="TimesNewRomanPS-BoldItalic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65774" y="1214835"/>
            <a:ext cx="302831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12415" algn="l"/>
              </a:tabLst>
            </a:pPr>
            <a:r>
              <a:rPr sz="3075" b="1" i="1" spc="-7" baseline="1355" dirty="0">
                <a:latin typeface="TimesNewRomanPS-BoldItalicMT"/>
                <a:cs typeface="TimesNewRomanPS-BoldItalicMT"/>
              </a:rPr>
              <a:t>A	</a:t>
            </a:r>
            <a:r>
              <a:rPr sz="2050" b="1" i="1" spc="-5" dirty="0">
                <a:latin typeface="TimesNewRomanPS-BoldItalicMT"/>
                <a:cs typeface="TimesNewRomanPS-BoldItalicMT"/>
              </a:rPr>
              <a:t>H</a:t>
            </a:r>
            <a:endParaRPr sz="2050">
              <a:latin typeface="TimesNewRomanPS-BoldItalicMT"/>
              <a:cs typeface="TimesNewRomanPS-BoldItalic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66274" y="1334380"/>
            <a:ext cx="19875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i="1" spc="-5" dirty="0">
                <a:latin typeface="TimesNewRomanPS-BoldItalicMT"/>
                <a:cs typeface="TimesNewRomanPS-BoldItalicMT"/>
              </a:rPr>
              <a:t>K</a:t>
            </a:r>
            <a:endParaRPr sz="2050">
              <a:latin typeface="TimesNewRomanPS-BoldItalicMT"/>
              <a:cs typeface="TimesNewRomanPS-BoldItalic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83422" y="1407145"/>
            <a:ext cx="18478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5" dirty="0">
                <a:latin typeface="Arial"/>
                <a:cs typeface="Arial"/>
              </a:rPr>
              <a:t>G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42358" y="1506777"/>
            <a:ext cx="99695" cy="184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b="1" spc="-5" dirty="0"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09759" y="1522800"/>
            <a:ext cx="30924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Arial"/>
                <a:cs typeface="Arial"/>
              </a:rPr>
              <a:t>G</a:t>
            </a:r>
            <a:r>
              <a:rPr sz="1575" b="1" baseline="-10582" dirty="0">
                <a:latin typeface="Arial"/>
                <a:cs typeface="Arial"/>
              </a:rPr>
              <a:t>4</a:t>
            </a:r>
            <a:endParaRPr sz="1575" baseline="-10582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09722" y="2467217"/>
            <a:ext cx="30924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Arial"/>
                <a:cs typeface="Arial"/>
              </a:rPr>
              <a:t>G</a:t>
            </a:r>
            <a:r>
              <a:rPr sz="1575" b="1" baseline="-10582" dirty="0">
                <a:latin typeface="Arial"/>
                <a:cs typeface="Arial"/>
              </a:rPr>
              <a:t>3</a:t>
            </a:r>
            <a:endParaRPr sz="1575" baseline="-10582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45410" y="2216657"/>
            <a:ext cx="18478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5" dirty="0">
                <a:latin typeface="Arial"/>
                <a:cs typeface="Arial"/>
              </a:rPr>
              <a:t>G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04352" y="2316262"/>
            <a:ext cx="99695" cy="184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b="1" spc="-5" dirty="0"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92529" y="3212338"/>
            <a:ext cx="64008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BEBEBE"/>
                </a:solidFill>
                <a:latin typeface="Helvetica"/>
                <a:cs typeface="Helvetica"/>
              </a:rPr>
              <a:t>*This functional </a:t>
            </a:r>
            <a:r>
              <a:rPr sz="1400" b="1" spc="-10" dirty="0">
                <a:solidFill>
                  <a:srgbClr val="BEBEBE"/>
                </a:solidFill>
                <a:latin typeface="Helvetica"/>
                <a:cs typeface="Helvetica"/>
              </a:rPr>
              <a:t>analysis</a:t>
            </a:r>
            <a:r>
              <a:rPr lang="en-US" sz="1400" b="1" spc="-10" dirty="0">
                <a:solidFill>
                  <a:srgbClr val="BEBEBE"/>
                </a:solidFill>
                <a:latin typeface="Helvetica"/>
                <a:cs typeface="Helvetica"/>
              </a:rPr>
              <a:t> by building truth table</a:t>
            </a:r>
            <a:r>
              <a:rPr sz="1400" b="1" spc="-10" dirty="0">
                <a:solidFill>
                  <a:srgbClr val="BEBEBE"/>
                </a:solidFill>
                <a:latin typeface="Helvetica"/>
                <a:cs typeface="Helvetica"/>
              </a:rPr>
              <a:t> </a:t>
            </a:r>
            <a:r>
              <a:rPr lang="en-US" sz="1400" b="1" spc="-10" dirty="0">
                <a:solidFill>
                  <a:srgbClr val="BEBEBE"/>
                </a:solidFill>
                <a:latin typeface="Helvetica"/>
                <a:cs typeface="Helvetica"/>
              </a:rPr>
              <a:t>using simulation </a:t>
            </a:r>
            <a:r>
              <a:rPr sz="1400" b="1" dirty="0">
                <a:solidFill>
                  <a:srgbClr val="BEBEBE"/>
                </a:solidFill>
                <a:latin typeface="Helvetica"/>
                <a:cs typeface="Helvetica"/>
              </a:rPr>
              <a:t>is</a:t>
            </a:r>
            <a:r>
              <a:rPr sz="1400" b="1" spc="-75" dirty="0">
                <a:solidFill>
                  <a:srgbClr val="BEBEBE"/>
                </a:solidFill>
                <a:latin typeface="Helvetica"/>
                <a:cs typeface="Helvetica"/>
              </a:rPr>
              <a:t> </a:t>
            </a:r>
            <a:r>
              <a:rPr sz="1400" b="1" spc="-5" dirty="0">
                <a:solidFill>
                  <a:srgbClr val="BEBEBE"/>
                </a:solidFill>
                <a:latin typeface="Helvetica"/>
                <a:cs typeface="Helvetica"/>
              </a:rPr>
              <a:t>slow</a:t>
            </a:r>
            <a:endParaRPr sz="14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9423" y="6447452"/>
            <a:ext cx="41529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12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dirty="0"/>
              <a:t>How to Handle Circuits w/</a:t>
            </a:r>
            <a:r>
              <a:rPr spc="-45" dirty="0"/>
              <a:t> </a:t>
            </a:r>
            <a:r>
              <a:rPr dirty="0"/>
              <a:t>Fanouts?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8333740" cy="3986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Stem analysis </a:t>
            </a:r>
            <a:r>
              <a:rPr lang="en-US" sz="2000" b="1" dirty="0">
                <a:latin typeface="Arial"/>
                <a:cs typeface="Arial"/>
              </a:rPr>
              <a:t>using simulation for the fanout location (stem and its branches) is needed to d</a:t>
            </a:r>
            <a:r>
              <a:rPr sz="2000" b="1" dirty="0">
                <a:latin typeface="Arial"/>
                <a:cs typeface="Arial"/>
              </a:rPr>
              <a:t>etermine </a:t>
            </a:r>
            <a:r>
              <a:rPr sz="2000" b="1" spc="-5" dirty="0">
                <a:latin typeface="Arial"/>
                <a:cs typeface="Arial"/>
              </a:rPr>
              <a:t>equivalent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However, stem </a:t>
            </a:r>
            <a:r>
              <a:rPr sz="2000" b="1" spc="-5" dirty="0">
                <a:latin typeface="Arial"/>
                <a:cs typeface="Arial"/>
              </a:rPr>
              <a:t>analysis </a:t>
            </a:r>
            <a:r>
              <a:rPr sz="2000" b="1" dirty="0">
                <a:latin typeface="Arial"/>
                <a:cs typeface="Arial"/>
              </a:rPr>
              <a:t>is time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consuming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4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not </a:t>
            </a:r>
            <a:r>
              <a:rPr sz="2000" b="1" spc="5" dirty="0">
                <a:latin typeface="Arial"/>
                <a:cs typeface="Arial"/>
              </a:rPr>
              <a:t>worth </a:t>
            </a:r>
            <a:r>
              <a:rPr sz="2000" b="1" dirty="0">
                <a:latin typeface="Arial"/>
                <a:cs typeface="Arial"/>
              </a:rPr>
              <a:t>the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time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details skipped in this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lecture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An approximate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solution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Partition circuit into independent </a:t>
            </a:r>
            <a:r>
              <a:rPr sz="2000" b="1" i="1" dirty="0">
                <a:latin typeface="Arial-BoldItalicMT"/>
                <a:cs typeface="Arial-BoldItalicMT"/>
              </a:rPr>
              <a:t>fanout-free</a:t>
            </a:r>
            <a:r>
              <a:rPr sz="2000" b="1" i="1" spc="-150" dirty="0">
                <a:latin typeface="Arial-BoldItalicMT"/>
                <a:cs typeface="Arial-BoldItalicMT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subcircuits</a:t>
            </a:r>
            <a:r>
              <a:rPr lang="en-US" sz="2000" b="1" i="1" dirty="0">
                <a:latin typeface="Arial-BoldItalicMT"/>
                <a:cs typeface="Arial-BoldItalicMT"/>
              </a:rPr>
              <a:t> (FFS)</a:t>
            </a:r>
            <a:endParaRPr sz="20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Every </a:t>
            </a:r>
            <a:r>
              <a:rPr sz="2000" b="1" dirty="0">
                <a:latin typeface="Arial"/>
                <a:cs typeface="Arial"/>
              </a:rPr>
              <a:t>fanout stem treated as a primary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output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both s@1 s@0 faults are included on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branches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They are </a:t>
            </a:r>
            <a:r>
              <a:rPr sz="2000" b="1" i="1" dirty="0">
                <a:latin typeface="Arial-BoldItalicMT"/>
                <a:cs typeface="Arial-BoldItalicMT"/>
              </a:rPr>
              <a:t>NOT</a:t>
            </a:r>
            <a:r>
              <a:rPr sz="2000" b="1" i="1" spc="-40" dirty="0"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collapsed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2247" y="5839967"/>
            <a:ext cx="6937375" cy="524510"/>
          </a:xfrm>
          <a:prstGeom prst="rect">
            <a:avLst/>
          </a:prstGeom>
          <a:ln w="9144">
            <a:solidFill>
              <a:srgbClr val="00AF5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2800" b="1" spc="-35" dirty="0">
                <a:solidFill>
                  <a:srgbClr val="00AF50"/>
                </a:solidFill>
                <a:latin typeface="Helvetica"/>
                <a:cs typeface="Helvetica"/>
              </a:rPr>
              <a:t>Treat </a:t>
            </a:r>
            <a:r>
              <a:rPr sz="2800" b="1" dirty="0">
                <a:solidFill>
                  <a:srgbClr val="00AF50"/>
                </a:solidFill>
                <a:latin typeface="Helvetica"/>
                <a:cs typeface="Helvetica"/>
              </a:rPr>
              <a:t>each </a:t>
            </a:r>
            <a:r>
              <a:rPr sz="2800" b="1" spc="-5" dirty="0">
                <a:solidFill>
                  <a:srgbClr val="00AF50"/>
                </a:solidFill>
                <a:latin typeface="Helvetica"/>
                <a:cs typeface="Helvetica"/>
              </a:rPr>
              <a:t>FFS partition</a:t>
            </a:r>
            <a:r>
              <a:rPr sz="2800" b="1" spc="50" dirty="0">
                <a:solidFill>
                  <a:srgbClr val="00AF50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Helvetica"/>
                <a:cs typeface="Helvetica"/>
              </a:rPr>
              <a:t>independently</a:t>
            </a:r>
            <a:endParaRPr sz="28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776" y="3564166"/>
            <a:ext cx="8140700" cy="142875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000" b="1" dirty="0">
                <a:latin typeface="Arial"/>
                <a:cs typeface="Arial"/>
              </a:rPr>
              <a:t>NOTE:</a:t>
            </a:r>
            <a:endParaRPr sz="2000" dirty="0">
              <a:latin typeface="Arial"/>
              <a:cs typeface="Arial"/>
            </a:endParaRPr>
          </a:p>
          <a:p>
            <a:pPr marL="7943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spc="-5" dirty="0">
                <a:latin typeface="Arial"/>
                <a:cs typeface="Arial"/>
              </a:rPr>
              <a:t>Inverter </a:t>
            </a:r>
            <a:r>
              <a:rPr sz="2000" b="1" spc="10" dirty="0">
                <a:latin typeface="Arial"/>
                <a:cs typeface="Arial"/>
              </a:rPr>
              <a:t>G</a:t>
            </a:r>
            <a:r>
              <a:rPr sz="1950" b="1" spc="15" baseline="-21367" dirty="0">
                <a:latin typeface="Arial"/>
                <a:cs typeface="Arial"/>
              </a:rPr>
              <a:t>3</a:t>
            </a:r>
            <a:r>
              <a:rPr sz="1950" b="1" spc="247" baseline="-21367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ignored</a:t>
            </a:r>
            <a:endParaRPr sz="2000" dirty="0">
              <a:latin typeface="Arial"/>
              <a:cs typeface="Arial"/>
            </a:endParaRPr>
          </a:p>
          <a:p>
            <a:pPr marL="794385" marR="17780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94385" algn="l"/>
                <a:tab pos="795020" algn="l"/>
              </a:tabLst>
            </a:pPr>
            <a:r>
              <a:rPr sz="2000" b="1" dirty="0">
                <a:latin typeface="Arial"/>
                <a:cs typeface="Arial"/>
              </a:rPr>
              <a:t>because its input fault s@0 is </a:t>
            </a:r>
            <a:r>
              <a:rPr sz="2000" b="1" spc="-5" dirty="0">
                <a:latin typeface="Arial"/>
                <a:cs typeface="Arial"/>
              </a:rPr>
              <a:t>always equivalent </a:t>
            </a:r>
            <a:r>
              <a:rPr sz="2000" b="1" dirty="0">
                <a:latin typeface="Arial"/>
                <a:cs typeface="Arial"/>
              </a:rPr>
              <a:t>to its</a:t>
            </a:r>
            <a:r>
              <a:rPr sz="2000" b="1" spc="-1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output  s@1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53459" y="164414"/>
            <a:ext cx="190753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</a:p>
        </p:txBody>
      </p:sp>
      <p:sp>
        <p:nvSpPr>
          <p:cNvPr id="4" name="object 4"/>
          <p:cNvSpPr/>
          <p:nvPr/>
        </p:nvSpPr>
        <p:spPr>
          <a:xfrm>
            <a:off x="6639306" y="2279142"/>
            <a:ext cx="927100" cy="0"/>
          </a:xfrm>
          <a:custGeom>
            <a:avLst/>
            <a:gdLst/>
            <a:ahLst/>
            <a:cxnLst/>
            <a:rect l="l" t="t" r="r" b="b"/>
            <a:pathLst>
              <a:path w="927100">
                <a:moveTo>
                  <a:pt x="92659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11845" y="2442210"/>
            <a:ext cx="139065" cy="1905"/>
          </a:xfrm>
          <a:custGeom>
            <a:avLst/>
            <a:gdLst/>
            <a:ahLst/>
            <a:cxnLst/>
            <a:rect l="l" t="t" r="r" b="b"/>
            <a:pathLst>
              <a:path w="139065" h="1905">
                <a:moveTo>
                  <a:pt x="-19050" y="762"/>
                </a:moveTo>
                <a:lnTo>
                  <a:pt x="157734" y="762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21118" y="2196845"/>
            <a:ext cx="439420" cy="492759"/>
          </a:xfrm>
          <a:custGeom>
            <a:avLst/>
            <a:gdLst/>
            <a:ahLst/>
            <a:cxnLst/>
            <a:rect l="l" t="t" r="r" b="b"/>
            <a:pathLst>
              <a:path w="439420" h="492760">
                <a:moveTo>
                  <a:pt x="0" y="0"/>
                </a:moveTo>
                <a:lnTo>
                  <a:pt x="23269" y="43900"/>
                </a:lnTo>
                <a:lnTo>
                  <a:pt x="41884" y="88310"/>
                </a:lnTo>
                <a:lnTo>
                  <a:pt x="55846" y="133116"/>
                </a:lnTo>
                <a:lnTo>
                  <a:pt x="65154" y="178207"/>
                </a:lnTo>
                <a:lnTo>
                  <a:pt x="69808" y="223467"/>
                </a:lnTo>
                <a:lnTo>
                  <a:pt x="69808" y="268784"/>
                </a:lnTo>
                <a:lnTo>
                  <a:pt x="65154" y="314044"/>
                </a:lnTo>
                <a:lnTo>
                  <a:pt x="55846" y="359135"/>
                </a:lnTo>
                <a:lnTo>
                  <a:pt x="41884" y="403941"/>
                </a:lnTo>
                <a:lnTo>
                  <a:pt x="23269" y="448351"/>
                </a:lnTo>
                <a:lnTo>
                  <a:pt x="0" y="492251"/>
                </a:lnTo>
                <a:lnTo>
                  <a:pt x="59565" y="490004"/>
                </a:lnTo>
                <a:lnTo>
                  <a:pt x="116693" y="483457"/>
                </a:lnTo>
                <a:lnTo>
                  <a:pt x="170860" y="472904"/>
                </a:lnTo>
                <a:lnTo>
                  <a:pt x="221544" y="458639"/>
                </a:lnTo>
                <a:lnTo>
                  <a:pt x="268222" y="440955"/>
                </a:lnTo>
                <a:lnTo>
                  <a:pt x="310372" y="420147"/>
                </a:lnTo>
                <a:lnTo>
                  <a:pt x="347470" y="396508"/>
                </a:lnTo>
                <a:lnTo>
                  <a:pt x="378996" y="370331"/>
                </a:lnTo>
                <a:lnTo>
                  <a:pt x="404425" y="341911"/>
                </a:lnTo>
                <a:lnTo>
                  <a:pt x="434905" y="279515"/>
                </a:lnTo>
                <a:lnTo>
                  <a:pt x="438911" y="246125"/>
                </a:lnTo>
                <a:lnTo>
                  <a:pt x="434905" y="212736"/>
                </a:lnTo>
                <a:lnTo>
                  <a:pt x="404425" y="150340"/>
                </a:lnTo>
                <a:lnTo>
                  <a:pt x="378996" y="121920"/>
                </a:lnTo>
                <a:lnTo>
                  <a:pt x="347470" y="95743"/>
                </a:lnTo>
                <a:lnTo>
                  <a:pt x="310372" y="72104"/>
                </a:lnTo>
                <a:lnTo>
                  <a:pt x="268222" y="51296"/>
                </a:lnTo>
                <a:lnTo>
                  <a:pt x="221544" y="33612"/>
                </a:lnTo>
                <a:lnTo>
                  <a:pt x="170860" y="19347"/>
                </a:lnTo>
                <a:lnTo>
                  <a:pt x="116693" y="8794"/>
                </a:lnTo>
                <a:lnTo>
                  <a:pt x="59565" y="22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21118" y="2196845"/>
            <a:ext cx="439420" cy="492759"/>
          </a:xfrm>
          <a:custGeom>
            <a:avLst/>
            <a:gdLst/>
            <a:ahLst/>
            <a:cxnLst/>
            <a:rect l="l" t="t" r="r" b="b"/>
            <a:pathLst>
              <a:path w="439420" h="492760">
                <a:moveTo>
                  <a:pt x="0" y="492251"/>
                </a:moveTo>
                <a:lnTo>
                  <a:pt x="59565" y="490004"/>
                </a:lnTo>
                <a:lnTo>
                  <a:pt x="116693" y="483457"/>
                </a:lnTo>
                <a:lnTo>
                  <a:pt x="170860" y="472904"/>
                </a:lnTo>
                <a:lnTo>
                  <a:pt x="221544" y="458639"/>
                </a:lnTo>
                <a:lnTo>
                  <a:pt x="268222" y="440955"/>
                </a:lnTo>
                <a:lnTo>
                  <a:pt x="310372" y="420147"/>
                </a:lnTo>
                <a:lnTo>
                  <a:pt x="347470" y="396508"/>
                </a:lnTo>
                <a:lnTo>
                  <a:pt x="378996" y="370331"/>
                </a:lnTo>
                <a:lnTo>
                  <a:pt x="404425" y="341911"/>
                </a:lnTo>
                <a:lnTo>
                  <a:pt x="434905" y="279515"/>
                </a:lnTo>
                <a:lnTo>
                  <a:pt x="438911" y="246125"/>
                </a:lnTo>
                <a:lnTo>
                  <a:pt x="434905" y="212736"/>
                </a:lnTo>
                <a:lnTo>
                  <a:pt x="404425" y="150340"/>
                </a:lnTo>
                <a:lnTo>
                  <a:pt x="378996" y="121920"/>
                </a:lnTo>
                <a:lnTo>
                  <a:pt x="347470" y="95743"/>
                </a:lnTo>
                <a:lnTo>
                  <a:pt x="310372" y="72104"/>
                </a:lnTo>
                <a:lnTo>
                  <a:pt x="268222" y="51296"/>
                </a:lnTo>
                <a:lnTo>
                  <a:pt x="221544" y="33612"/>
                </a:lnTo>
                <a:lnTo>
                  <a:pt x="170860" y="19347"/>
                </a:lnTo>
                <a:lnTo>
                  <a:pt x="116693" y="8794"/>
                </a:lnTo>
                <a:lnTo>
                  <a:pt x="59565" y="2247"/>
                </a:lnTo>
                <a:lnTo>
                  <a:pt x="0" y="0"/>
                </a:lnTo>
                <a:lnTo>
                  <a:pt x="23269" y="43900"/>
                </a:lnTo>
                <a:lnTo>
                  <a:pt x="41884" y="88310"/>
                </a:lnTo>
                <a:lnTo>
                  <a:pt x="55846" y="133116"/>
                </a:lnTo>
                <a:lnTo>
                  <a:pt x="65154" y="178207"/>
                </a:lnTo>
                <a:lnTo>
                  <a:pt x="69808" y="223467"/>
                </a:lnTo>
                <a:lnTo>
                  <a:pt x="69808" y="268784"/>
                </a:lnTo>
                <a:lnTo>
                  <a:pt x="65154" y="314044"/>
                </a:lnTo>
                <a:lnTo>
                  <a:pt x="55846" y="359135"/>
                </a:lnTo>
                <a:lnTo>
                  <a:pt x="41884" y="403941"/>
                </a:lnTo>
                <a:lnTo>
                  <a:pt x="23269" y="448351"/>
                </a:lnTo>
                <a:lnTo>
                  <a:pt x="0" y="49225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40980" y="2389632"/>
            <a:ext cx="115824" cy="111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87417" y="2134361"/>
            <a:ext cx="1882139" cy="0"/>
          </a:xfrm>
          <a:custGeom>
            <a:avLst/>
            <a:gdLst/>
            <a:ahLst/>
            <a:cxnLst/>
            <a:rect l="l" t="t" r="r" b="b"/>
            <a:pathLst>
              <a:path w="1882139">
                <a:moveTo>
                  <a:pt x="188214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26302" y="2064257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70" h="429894">
                <a:moveTo>
                  <a:pt x="216408" y="0"/>
                </a:moveTo>
                <a:lnTo>
                  <a:pt x="0" y="0"/>
                </a:lnTo>
                <a:lnTo>
                  <a:pt x="0" y="429767"/>
                </a:lnTo>
                <a:lnTo>
                  <a:pt x="216408" y="429767"/>
                </a:lnTo>
                <a:lnTo>
                  <a:pt x="266024" y="424089"/>
                </a:lnTo>
                <a:lnTo>
                  <a:pt x="311573" y="407916"/>
                </a:lnTo>
                <a:lnTo>
                  <a:pt x="351755" y="382541"/>
                </a:lnTo>
                <a:lnTo>
                  <a:pt x="385269" y="349258"/>
                </a:lnTo>
                <a:lnTo>
                  <a:pt x="410817" y="309358"/>
                </a:lnTo>
                <a:lnTo>
                  <a:pt x="427099" y="264136"/>
                </a:lnTo>
                <a:lnTo>
                  <a:pt x="432816" y="214883"/>
                </a:lnTo>
                <a:lnTo>
                  <a:pt x="427099" y="165631"/>
                </a:lnTo>
                <a:lnTo>
                  <a:pt x="410817" y="120409"/>
                </a:lnTo>
                <a:lnTo>
                  <a:pt x="385269" y="80509"/>
                </a:lnTo>
                <a:lnTo>
                  <a:pt x="351755" y="47226"/>
                </a:lnTo>
                <a:lnTo>
                  <a:pt x="311573" y="21851"/>
                </a:lnTo>
                <a:lnTo>
                  <a:pt x="266024" y="5678"/>
                </a:lnTo>
                <a:lnTo>
                  <a:pt x="2164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26302" y="2064257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70" h="429894">
                <a:moveTo>
                  <a:pt x="0" y="0"/>
                </a:moveTo>
                <a:lnTo>
                  <a:pt x="216408" y="0"/>
                </a:lnTo>
                <a:lnTo>
                  <a:pt x="266024" y="5678"/>
                </a:lnTo>
                <a:lnTo>
                  <a:pt x="311573" y="21851"/>
                </a:lnTo>
                <a:lnTo>
                  <a:pt x="351755" y="47226"/>
                </a:lnTo>
                <a:lnTo>
                  <a:pt x="385269" y="80509"/>
                </a:lnTo>
                <a:lnTo>
                  <a:pt x="410817" y="120409"/>
                </a:lnTo>
                <a:lnTo>
                  <a:pt x="427099" y="165631"/>
                </a:lnTo>
                <a:lnTo>
                  <a:pt x="432816" y="214883"/>
                </a:lnTo>
                <a:lnTo>
                  <a:pt x="427099" y="264136"/>
                </a:lnTo>
                <a:lnTo>
                  <a:pt x="410817" y="309358"/>
                </a:lnTo>
                <a:lnTo>
                  <a:pt x="385269" y="349258"/>
                </a:lnTo>
                <a:lnTo>
                  <a:pt x="351755" y="382541"/>
                </a:lnTo>
                <a:lnTo>
                  <a:pt x="311573" y="407916"/>
                </a:lnTo>
                <a:lnTo>
                  <a:pt x="266024" y="424089"/>
                </a:lnTo>
                <a:lnTo>
                  <a:pt x="216408" y="429767"/>
                </a:lnTo>
                <a:lnTo>
                  <a:pt x="0" y="42976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33821" y="2419350"/>
            <a:ext cx="792480" cy="692150"/>
          </a:xfrm>
          <a:custGeom>
            <a:avLst/>
            <a:gdLst/>
            <a:ahLst/>
            <a:cxnLst/>
            <a:rect l="l" t="t" r="r" b="b"/>
            <a:pathLst>
              <a:path w="792479" h="692150">
                <a:moveTo>
                  <a:pt x="0" y="692150"/>
                </a:moveTo>
                <a:lnTo>
                  <a:pt x="0" y="0"/>
                </a:lnTo>
                <a:lnTo>
                  <a:pt x="7920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76415" y="3084576"/>
            <a:ext cx="108204" cy="1112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29705" y="2929889"/>
            <a:ext cx="364490" cy="411480"/>
          </a:xfrm>
          <a:custGeom>
            <a:avLst/>
            <a:gdLst/>
            <a:ahLst/>
            <a:cxnLst/>
            <a:rect l="l" t="t" r="r" b="b"/>
            <a:pathLst>
              <a:path w="364489" h="411479">
                <a:moveTo>
                  <a:pt x="0" y="0"/>
                </a:moveTo>
                <a:lnTo>
                  <a:pt x="0" y="411480"/>
                </a:lnTo>
                <a:lnTo>
                  <a:pt x="364236" y="2057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29705" y="2929889"/>
            <a:ext cx="364490" cy="411480"/>
          </a:xfrm>
          <a:custGeom>
            <a:avLst/>
            <a:gdLst/>
            <a:ahLst/>
            <a:cxnLst/>
            <a:rect l="l" t="t" r="r" b="b"/>
            <a:pathLst>
              <a:path w="364489" h="411479">
                <a:moveTo>
                  <a:pt x="0" y="0"/>
                </a:moveTo>
                <a:lnTo>
                  <a:pt x="364236" y="205739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65570" y="2567177"/>
            <a:ext cx="998855" cy="571500"/>
          </a:xfrm>
          <a:custGeom>
            <a:avLst/>
            <a:gdLst/>
            <a:ahLst/>
            <a:cxnLst/>
            <a:rect l="l" t="t" r="r" b="b"/>
            <a:pathLst>
              <a:path w="998854" h="571500">
                <a:moveTo>
                  <a:pt x="0" y="571500"/>
                </a:moveTo>
                <a:lnTo>
                  <a:pt x="437387" y="571500"/>
                </a:lnTo>
                <a:lnTo>
                  <a:pt x="437387" y="0"/>
                </a:lnTo>
                <a:lnTo>
                  <a:pt x="998474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26458" y="2978657"/>
            <a:ext cx="288290" cy="1905"/>
          </a:xfrm>
          <a:custGeom>
            <a:avLst/>
            <a:gdLst/>
            <a:ahLst/>
            <a:cxnLst/>
            <a:rect l="l" t="t" r="r" b="b"/>
            <a:pathLst>
              <a:path w="288289" h="1905">
                <a:moveTo>
                  <a:pt x="-19050" y="762"/>
                </a:moveTo>
                <a:lnTo>
                  <a:pt x="307086" y="762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26458" y="3280409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59273" y="3135629"/>
            <a:ext cx="1181100" cy="0"/>
          </a:xfrm>
          <a:custGeom>
            <a:avLst/>
            <a:gdLst/>
            <a:ahLst/>
            <a:cxnLst/>
            <a:rect l="l" t="t" r="r" b="b"/>
            <a:pathLst>
              <a:path w="1181100">
                <a:moveTo>
                  <a:pt x="1181100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569714" y="2920745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0"/>
                </a:move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5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1"/>
                </a:ln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5" y="215645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569714" y="2920745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431291"/>
                </a:move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5" y="215645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5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257290" y="2040077"/>
            <a:ext cx="22415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55409" y="2187905"/>
            <a:ext cx="110489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1" spc="15" dirty="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77379" y="2224786"/>
            <a:ext cx="3594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latin typeface="Times New Roman"/>
                <a:cs typeface="Times New Roman"/>
              </a:rPr>
              <a:t>G</a:t>
            </a:r>
            <a:r>
              <a:rPr sz="1950" b="1" spc="7" baseline="-21367" dirty="0">
                <a:latin typeface="Times New Roman"/>
                <a:cs typeface="Times New Roman"/>
              </a:rPr>
              <a:t>4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48451" y="3297758"/>
            <a:ext cx="3594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latin typeface="Times New Roman"/>
                <a:cs typeface="Times New Roman"/>
              </a:rPr>
              <a:t>G</a:t>
            </a:r>
            <a:r>
              <a:rPr sz="1950" b="1" spc="7" baseline="-21367" dirty="0">
                <a:latin typeface="Times New Roman"/>
                <a:cs typeface="Times New Roman"/>
              </a:rPr>
              <a:t>3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391911" y="3093720"/>
            <a:ext cx="82296" cy="838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660897" y="3095370"/>
            <a:ext cx="1955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TimesNewRomanPS-BoldItalicMT"/>
                <a:cs typeface="TimesNewRomanPS-BoldItalicMT"/>
              </a:rPr>
              <a:t>F</a:t>
            </a:r>
            <a:endParaRPr sz="2000">
              <a:latin typeface="TimesNewRomanPS-BoldItalicMT"/>
              <a:cs typeface="TimesNewRomanPS-BoldItalic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87470" y="2793619"/>
            <a:ext cx="39179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i="1" spc="-5" dirty="0">
                <a:latin typeface="TimesNewRomanPS-BoldItalicMT"/>
                <a:cs typeface="TimesNewRomanPS-BoldItalicMT"/>
              </a:rPr>
              <a:t>B/0  C/0</a:t>
            </a:r>
            <a:endParaRPr sz="2000">
              <a:latin typeface="TimesNewRomanPS-BoldItalicMT"/>
              <a:cs typeface="TimesNewRomanPS-BoldItalic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8876" y="1063827"/>
            <a:ext cx="5668010" cy="1035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partitions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Originally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18 </a:t>
            </a:r>
            <a:r>
              <a:rPr sz="2000" b="1" dirty="0">
                <a:latin typeface="Arial"/>
                <a:cs typeface="Arial"/>
              </a:rPr>
              <a:t>faults, </a:t>
            </a:r>
            <a:r>
              <a:rPr sz="2000" spc="-40" dirty="0">
                <a:latin typeface="Arial"/>
                <a:cs typeface="Arial"/>
              </a:rPr>
              <a:t>→ </a:t>
            </a:r>
            <a:r>
              <a:rPr sz="2000" b="1" dirty="0">
                <a:latin typeface="Arial"/>
                <a:cs typeface="Arial"/>
              </a:rPr>
              <a:t>after EFC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10</a:t>
            </a:r>
            <a:r>
              <a:rPr sz="2000" b="1" spc="-1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54"/>
              </a:spcBef>
            </a:pPr>
            <a:r>
              <a:rPr sz="2000" b="1" i="1" spc="-10" dirty="0">
                <a:latin typeface="TimesNewRomanPS-BoldItalicMT"/>
                <a:cs typeface="TimesNewRomanPS-BoldItalicMT"/>
              </a:rPr>
              <a:t>A/1</a:t>
            </a:r>
            <a:endParaRPr sz="2000">
              <a:latin typeface="TimesNewRomanPS-BoldItalicMT"/>
              <a:cs typeface="TimesNewRomanPS-BoldItalic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990338" y="1992629"/>
            <a:ext cx="457200" cy="1371600"/>
          </a:xfrm>
          <a:custGeom>
            <a:avLst/>
            <a:gdLst/>
            <a:ahLst/>
            <a:cxnLst/>
            <a:rect l="l" t="t" r="r" b="b"/>
            <a:pathLst>
              <a:path w="457200" h="1371600">
                <a:moveTo>
                  <a:pt x="0" y="0"/>
                </a:moveTo>
                <a:lnTo>
                  <a:pt x="457200" y="1371600"/>
                </a:lnTo>
              </a:path>
            </a:pathLst>
          </a:custGeom>
          <a:ln w="381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535548" y="2368042"/>
            <a:ext cx="3790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TimesNewRomanPS-BoldItalicMT"/>
                <a:cs typeface="TimesNewRomanPS-BoldItalicMT"/>
              </a:rPr>
              <a:t>L/1</a:t>
            </a:r>
            <a:endParaRPr sz="2000">
              <a:latin typeface="TimesNewRomanPS-BoldItalicMT"/>
              <a:cs typeface="TimesNewRomanPS-BoldItalic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9423" y="6447452"/>
            <a:ext cx="41529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13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30546" y="2617470"/>
            <a:ext cx="618490" cy="624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3995">
              <a:lnSpc>
                <a:spcPts val="2355"/>
              </a:lnSpc>
              <a:spcBef>
                <a:spcPts val="105"/>
              </a:spcBef>
            </a:pPr>
            <a:r>
              <a:rPr sz="2000" b="1" i="1" spc="-5" dirty="0">
                <a:latin typeface="TimesNewRomanPS-BoldItalicMT"/>
                <a:cs typeface="TimesNewRomanPS-BoldItalicMT"/>
              </a:rPr>
              <a:t>E/0</a:t>
            </a:r>
            <a:endParaRPr sz="2000">
              <a:latin typeface="TimesNewRomanPS-BoldItalicMT"/>
              <a:cs typeface="TimesNewRomanPS-BoldItalicMT"/>
            </a:endParaRPr>
          </a:p>
          <a:p>
            <a:pPr marL="38100">
              <a:lnSpc>
                <a:spcPts val="2355"/>
              </a:lnSpc>
            </a:pPr>
            <a:r>
              <a:rPr sz="2000" b="1" spc="5" dirty="0">
                <a:latin typeface="Times New Roman"/>
                <a:cs typeface="Times New Roman"/>
              </a:rPr>
              <a:t>G</a:t>
            </a:r>
            <a:r>
              <a:rPr sz="1950" b="1" spc="7" baseline="-21367" dirty="0">
                <a:latin typeface="Times New Roman"/>
                <a:cs typeface="Times New Roman"/>
              </a:rPr>
              <a:t>1</a:t>
            </a:r>
            <a:endParaRPr sz="1950" baseline="-21367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68671" y="3336112"/>
            <a:ext cx="3917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10" dirty="0">
                <a:latin typeface="TimesNewRomanPS-BoldItalicMT"/>
                <a:cs typeface="TimesNewRomanPS-BoldItalicMT"/>
              </a:rPr>
              <a:t>E/1</a:t>
            </a:r>
            <a:endParaRPr sz="2000">
              <a:latin typeface="TimesNewRomanPS-BoldItalicMT"/>
              <a:cs typeface="TimesNewRomanPS-BoldItalic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70903" y="2572893"/>
            <a:ext cx="3511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TimesNewRomanPS-BoldItalicMT"/>
                <a:cs typeface="TimesNewRomanPS-BoldItalicMT"/>
              </a:rPr>
              <a:t>J/0</a:t>
            </a:r>
            <a:endParaRPr sz="2000">
              <a:latin typeface="TimesNewRomanPS-BoldItalicMT"/>
              <a:cs typeface="TimesNewRomanPS-BoldItalic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94652" y="1894713"/>
            <a:ext cx="421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TimesNewRomanPS-BoldItalicMT"/>
                <a:cs typeface="TimesNewRomanPS-BoldItalicMT"/>
              </a:rPr>
              <a:t>H/0</a:t>
            </a:r>
            <a:endParaRPr sz="2000">
              <a:latin typeface="TimesNewRomanPS-BoldItalicMT"/>
              <a:cs typeface="TimesNewRomanPS-BoldItalic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85303" y="2001138"/>
            <a:ext cx="403225" cy="828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5"/>
              </a:spcBef>
            </a:pPr>
            <a:r>
              <a:rPr sz="2000" b="1" i="1" spc="-5" dirty="0">
                <a:latin typeface="TimesNewRomanPS-BoldItalicMT"/>
                <a:cs typeface="TimesNewRomanPS-BoldItalicMT"/>
              </a:rPr>
              <a:t>K/0</a:t>
            </a:r>
            <a:endParaRPr sz="2000">
              <a:latin typeface="TimesNewRomanPS-BoldItalicMT"/>
              <a:cs typeface="TimesNewRomanPS-BoldItalicMT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2000" b="1" i="1" spc="-5" dirty="0">
                <a:latin typeface="TimesNewRomanPS-BoldItalicMT"/>
                <a:cs typeface="TimesNewRomanPS-BoldItalicMT"/>
              </a:rPr>
              <a:t>K/1</a:t>
            </a:r>
            <a:endParaRPr sz="2000">
              <a:latin typeface="TimesNewRomanPS-BoldItalicMT"/>
              <a:cs typeface="TimesNewRomanPS-BoldItalic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161366"/>
            <a:ext cx="7467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Problems of </a:t>
            </a:r>
            <a:r>
              <a:rPr lang="en-US" spc="-5" dirty="0"/>
              <a:t>this Approach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0225" y="762000"/>
            <a:ext cx="8423910" cy="4155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Link </a:t>
            </a:r>
            <a:r>
              <a:rPr sz="2000" b="1" dirty="0">
                <a:latin typeface="Arial"/>
                <a:cs typeface="Arial"/>
              </a:rPr>
              <a:t>between original (</a:t>
            </a:r>
            <a:r>
              <a:rPr sz="2000" b="1" dirty="0" err="1">
                <a:latin typeface="Arial"/>
                <a:cs typeface="Arial"/>
              </a:rPr>
              <a:t>un</a:t>
            </a:r>
            <a:r>
              <a:rPr lang="en-US" sz="2000" b="1" dirty="0" err="1">
                <a:latin typeface="Arial"/>
                <a:cs typeface="Arial"/>
              </a:rPr>
              <a:t>c</a:t>
            </a:r>
            <a:r>
              <a:rPr sz="2000" b="1" dirty="0" err="1">
                <a:latin typeface="Arial"/>
                <a:cs typeface="Arial"/>
              </a:rPr>
              <a:t>ollapsed</a:t>
            </a:r>
            <a:r>
              <a:rPr sz="2000" b="1" dirty="0">
                <a:latin typeface="Arial"/>
                <a:cs typeface="Arial"/>
              </a:rPr>
              <a:t>) faults and their</a:t>
            </a:r>
            <a:r>
              <a:rPr sz="2000" b="1" spc="-1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corresponding  collapsed faults is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lost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Example:</a:t>
            </a:r>
            <a:endParaRPr sz="2000" dirty="0">
              <a:latin typeface="Arial"/>
              <a:cs typeface="Arial"/>
            </a:endParaRPr>
          </a:p>
          <a:p>
            <a:pPr marL="756285" marR="120586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2000" b="1" spc="5" dirty="0">
                <a:latin typeface="Arial"/>
                <a:cs typeface="Arial"/>
              </a:rPr>
              <a:t>We do not calculate and store information about </a:t>
            </a:r>
            <a:r>
              <a:rPr lang="en-US" sz="2000" b="1" dirty="0">
                <a:latin typeface="Arial"/>
                <a:cs typeface="Arial"/>
              </a:rPr>
              <a:t>the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equivalent</a:t>
            </a:r>
            <a:r>
              <a:rPr sz="2000" b="1" dirty="0">
                <a:latin typeface="Arial"/>
                <a:cs typeface="Arial"/>
              </a:rPr>
              <a:t> faults</a:t>
            </a:r>
            <a:r>
              <a:rPr lang="en-US" sz="2000" b="1" dirty="0">
                <a:latin typeface="Arial"/>
                <a:cs typeface="Arial"/>
              </a:rPr>
              <a:t> </a:t>
            </a:r>
          </a:p>
          <a:p>
            <a:pPr marL="756285" marR="120586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2000" b="1" dirty="0">
                <a:latin typeface="Arial"/>
                <a:cs typeface="Arial"/>
              </a:rPr>
              <a:t>For example</a:t>
            </a:r>
            <a:r>
              <a:rPr sz="2000" b="1" dirty="0">
                <a:latin typeface="Arial"/>
                <a:cs typeface="Arial"/>
              </a:rPr>
              <a:t> {F/0, J/1, H/1, K/0} </a:t>
            </a:r>
            <a:r>
              <a:rPr lang="en-US" sz="2000" b="1" dirty="0">
                <a:latin typeface="Arial"/>
                <a:cs typeface="Arial"/>
              </a:rPr>
              <a:t> are equivalent but we don’t calculate or store this information for ATPG</a:t>
            </a:r>
            <a:endParaRPr sz="2000" dirty="0">
              <a:latin typeface="Arial"/>
              <a:cs typeface="Arial"/>
            </a:endParaRPr>
          </a:p>
          <a:p>
            <a:pPr marL="355600" marR="9144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However, l</a:t>
            </a:r>
            <a:r>
              <a:rPr sz="2000" b="1" dirty="0">
                <a:latin typeface="Arial"/>
                <a:cs typeface="Arial"/>
              </a:rPr>
              <a:t>ink between </a:t>
            </a:r>
            <a:r>
              <a:rPr lang="en-US" sz="2000" b="1" dirty="0">
                <a:latin typeface="Arial"/>
                <a:cs typeface="Arial"/>
              </a:rPr>
              <a:t>the </a:t>
            </a:r>
            <a:r>
              <a:rPr sz="2000" b="1" dirty="0" err="1">
                <a:latin typeface="Arial"/>
                <a:cs typeface="Arial"/>
              </a:rPr>
              <a:t>uncollapsed</a:t>
            </a:r>
            <a:r>
              <a:rPr sz="2000" b="1" dirty="0">
                <a:latin typeface="Arial"/>
                <a:cs typeface="Arial"/>
              </a:rPr>
              <a:t> faults and collapsed faults are</a:t>
            </a:r>
            <a:r>
              <a:rPr sz="2000" b="1" spc="-1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needed  </a:t>
            </a:r>
            <a:r>
              <a:rPr lang="en-US" sz="2000" b="1" spc="5" dirty="0">
                <a:latin typeface="Arial"/>
                <a:cs typeface="Arial"/>
              </a:rPr>
              <a:t>if we need to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calculat</a:t>
            </a:r>
            <a:r>
              <a:rPr lang="en-US" sz="2000" b="1" dirty="0">
                <a:latin typeface="Arial"/>
                <a:cs typeface="Arial"/>
              </a:rPr>
              <a:t>e</a:t>
            </a:r>
            <a:r>
              <a:rPr sz="2000" b="1" dirty="0">
                <a:latin typeface="Arial"/>
                <a:cs typeface="Arial"/>
              </a:rPr>
              <a:t> the </a:t>
            </a:r>
            <a:r>
              <a:rPr sz="2000" b="1" i="1" u="sng" dirty="0">
                <a:solidFill>
                  <a:srgbClr val="FF0000"/>
                </a:solidFill>
                <a:latin typeface="Arial-BoldItalicMT"/>
                <a:cs typeface="Arial-BoldItalicMT"/>
              </a:rPr>
              <a:t>uncollapsed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 fault</a:t>
            </a:r>
            <a:r>
              <a:rPr sz="2000" b="1" i="1" spc="-14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coverage</a:t>
            </a:r>
            <a:endParaRPr sz="20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Example: suppose </a:t>
            </a:r>
            <a:r>
              <a:rPr lang="en-US" sz="2000" b="1" spc="20" dirty="0">
                <a:latin typeface="Arial"/>
                <a:cs typeface="Arial"/>
              </a:rPr>
              <a:t>a test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detect</a:t>
            </a:r>
            <a:r>
              <a:rPr lang="en-US" sz="2000" b="1" dirty="0">
                <a:latin typeface="Arial"/>
                <a:cs typeface="Arial"/>
              </a:rPr>
              <a:t>s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3 faults : </a:t>
            </a:r>
            <a:r>
              <a:rPr sz="2000" b="1" dirty="0">
                <a:latin typeface="Arial"/>
                <a:cs typeface="Arial"/>
              </a:rPr>
              <a:t>A/1 K/0 and B/0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4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Collapsed fault </a:t>
            </a:r>
            <a:r>
              <a:rPr sz="2000" b="1" spc="-5" dirty="0">
                <a:latin typeface="Arial"/>
                <a:cs typeface="Arial"/>
              </a:rPr>
              <a:t>coverage </a:t>
            </a:r>
            <a:r>
              <a:rPr sz="2000" b="1" dirty="0">
                <a:latin typeface="Arial"/>
                <a:cs typeface="Arial"/>
              </a:rPr>
              <a:t>is 3/10 =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30%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But uncollapsed fault </a:t>
            </a:r>
            <a:r>
              <a:rPr sz="2000" b="1" spc="-5" dirty="0">
                <a:latin typeface="Arial"/>
                <a:cs typeface="Arial"/>
              </a:rPr>
              <a:t>coverage </a:t>
            </a:r>
            <a:r>
              <a:rPr sz="2000" b="1" dirty="0">
                <a:latin typeface="Arial"/>
                <a:cs typeface="Arial"/>
              </a:rPr>
              <a:t>is ?/18 =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?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9423" y="6447452"/>
            <a:ext cx="41529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14</a:t>
            </a:fld>
            <a:endParaRPr sz="2400">
              <a:latin typeface="Arial"/>
              <a:cs typeface="Arial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8210BD1-1AD6-1834-16E3-39798AC69841}"/>
              </a:ext>
            </a:extLst>
          </p:cNvPr>
          <p:cNvGrpSpPr/>
          <p:nvPr/>
        </p:nvGrpSpPr>
        <p:grpSpPr>
          <a:xfrm>
            <a:off x="1834388" y="4899584"/>
            <a:ext cx="4400677" cy="1882216"/>
            <a:chOff x="1834388" y="4650385"/>
            <a:chExt cx="4400677" cy="1882216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56BC50A6-AD12-B871-F29A-4A31528331FF}"/>
                </a:ext>
              </a:extLst>
            </p:cNvPr>
            <p:cNvSpPr/>
            <p:nvPr/>
          </p:nvSpPr>
          <p:spPr>
            <a:xfrm>
              <a:off x="4586478" y="5133594"/>
              <a:ext cx="927100" cy="0"/>
            </a:xfrm>
            <a:custGeom>
              <a:avLst/>
              <a:gdLst/>
              <a:ahLst/>
              <a:cxnLst/>
              <a:rect l="l" t="t" r="r" b="b"/>
              <a:pathLst>
                <a:path w="927100">
                  <a:moveTo>
                    <a:pt x="92659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639E766B-1C4E-8E58-0389-912E9C8678D1}"/>
                </a:ext>
              </a:extLst>
            </p:cNvPr>
            <p:cNvSpPr/>
            <p:nvPr/>
          </p:nvSpPr>
          <p:spPr>
            <a:xfrm>
              <a:off x="5859017" y="5296661"/>
              <a:ext cx="139065" cy="1905"/>
            </a:xfrm>
            <a:custGeom>
              <a:avLst/>
              <a:gdLst/>
              <a:ahLst/>
              <a:cxnLst/>
              <a:rect l="l" t="t" r="r" b="b"/>
              <a:pathLst>
                <a:path w="139064" h="1904">
                  <a:moveTo>
                    <a:pt x="-19050" y="762"/>
                  </a:moveTo>
                  <a:lnTo>
                    <a:pt x="157734" y="762"/>
                  </a:lnTo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6">
              <a:extLst>
                <a:ext uri="{FF2B5EF4-FFF2-40B4-BE49-F238E27FC236}">
                  <a16:creationId xmlns:a16="http://schemas.microsoft.com/office/drawing/2014/main" id="{F8E5F767-96C0-7323-C0C1-C9795D703CE3}"/>
                </a:ext>
              </a:extLst>
            </p:cNvPr>
            <p:cNvSpPr/>
            <p:nvPr/>
          </p:nvSpPr>
          <p:spPr>
            <a:xfrm>
              <a:off x="5368290" y="5051297"/>
              <a:ext cx="439420" cy="490855"/>
            </a:xfrm>
            <a:custGeom>
              <a:avLst/>
              <a:gdLst/>
              <a:ahLst/>
              <a:cxnLst/>
              <a:rect l="l" t="t" r="r" b="b"/>
              <a:pathLst>
                <a:path w="439420" h="490854">
                  <a:moveTo>
                    <a:pt x="0" y="0"/>
                  </a:moveTo>
                  <a:lnTo>
                    <a:pt x="23269" y="43761"/>
                  </a:lnTo>
                  <a:lnTo>
                    <a:pt x="41884" y="88033"/>
                  </a:lnTo>
                  <a:lnTo>
                    <a:pt x="55846" y="132701"/>
                  </a:lnTo>
                  <a:lnTo>
                    <a:pt x="65154" y="177653"/>
                  </a:lnTo>
                  <a:lnTo>
                    <a:pt x="69808" y="222774"/>
                  </a:lnTo>
                  <a:lnTo>
                    <a:pt x="69808" y="267953"/>
                  </a:lnTo>
                  <a:lnTo>
                    <a:pt x="65154" y="313074"/>
                  </a:lnTo>
                  <a:lnTo>
                    <a:pt x="55846" y="358026"/>
                  </a:lnTo>
                  <a:lnTo>
                    <a:pt x="41884" y="402694"/>
                  </a:lnTo>
                  <a:lnTo>
                    <a:pt x="23269" y="446966"/>
                  </a:lnTo>
                  <a:lnTo>
                    <a:pt x="0" y="490727"/>
                  </a:lnTo>
                  <a:lnTo>
                    <a:pt x="59565" y="488488"/>
                  </a:lnTo>
                  <a:lnTo>
                    <a:pt x="116693" y="481963"/>
                  </a:lnTo>
                  <a:lnTo>
                    <a:pt x="170860" y="471445"/>
                  </a:lnTo>
                  <a:lnTo>
                    <a:pt x="221544" y="457228"/>
                  </a:lnTo>
                  <a:lnTo>
                    <a:pt x="268222" y="439602"/>
                  </a:lnTo>
                  <a:lnTo>
                    <a:pt x="310372" y="418861"/>
                  </a:lnTo>
                  <a:lnTo>
                    <a:pt x="347470" y="395297"/>
                  </a:lnTo>
                  <a:lnTo>
                    <a:pt x="378996" y="369203"/>
                  </a:lnTo>
                  <a:lnTo>
                    <a:pt x="423236" y="310590"/>
                  </a:lnTo>
                  <a:lnTo>
                    <a:pt x="438912" y="245363"/>
                  </a:lnTo>
                  <a:lnTo>
                    <a:pt x="434905" y="212069"/>
                  </a:lnTo>
                  <a:lnTo>
                    <a:pt x="404425" y="149858"/>
                  </a:lnTo>
                  <a:lnTo>
                    <a:pt x="347470" y="95430"/>
                  </a:lnTo>
                  <a:lnTo>
                    <a:pt x="310372" y="71866"/>
                  </a:lnTo>
                  <a:lnTo>
                    <a:pt x="268222" y="51125"/>
                  </a:lnTo>
                  <a:lnTo>
                    <a:pt x="221544" y="33499"/>
                  </a:lnTo>
                  <a:lnTo>
                    <a:pt x="170860" y="19282"/>
                  </a:lnTo>
                  <a:lnTo>
                    <a:pt x="116693" y="8764"/>
                  </a:lnTo>
                  <a:lnTo>
                    <a:pt x="59565" y="2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7">
              <a:extLst>
                <a:ext uri="{FF2B5EF4-FFF2-40B4-BE49-F238E27FC236}">
                  <a16:creationId xmlns:a16="http://schemas.microsoft.com/office/drawing/2014/main" id="{EA7E7EB0-4394-801F-4FB5-9F63E4F8D1D8}"/>
                </a:ext>
              </a:extLst>
            </p:cNvPr>
            <p:cNvSpPr/>
            <p:nvPr/>
          </p:nvSpPr>
          <p:spPr>
            <a:xfrm>
              <a:off x="5368290" y="5051297"/>
              <a:ext cx="439420" cy="490855"/>
            </a:xfrm>
            <a:custGeom>
              <a:avLst/>
              <a:gdLst/>
              <a:ahLst/>
              <a:cxnLst/>
              <a:rect l="l" t="t" r="r" b="b"/>
              <a:pathLst>
                <a:path w="439420" h="490854">
                  <a:moveTo>
                    <a:pt x="0" y="490727"/>
                  </a:moveTo>
                  <a:lnTo>
                    <a:pt x="59565" y="488488"/>
                  </a:lnTo>
                  <a:lnTo>
                    <a:pt x="116693" y="481963"/>
                  </a:lnTo>
                  <a:lnTo>
                    <a:pt x="170860" y="471445"/>
                  </a:lnTo>
                  <a:lnTo>
                    <a:pt x="221544" y="457228"/>
                  </a:lnTo>
                  <a:lnTo>
                    <a:pt x="268222" y="439602"/>
                  </a:lnTo>
                  <a:lnTo>
                    <a:pt x="310372" y="418861"/>
                  </a:lnTo>
                  <a:lnTo>
                    <a:pt x="347470" y="395297"/>
                  </a:lnTo>
                  <a:lnTo>
                    <a:pt x="378996" y="369203"/>
                  </a:lnTo>
                  <a:lnTo>
                    <a:pt x="423236" y="310590"/>
                  </a:lnTo>
                  <a:lnTo>
                    <a:pt x="438912" y="245363"/>
                  </a:lnTo>
                  <a:lnTo>
                    <a:pt x="434905" y="212069"/>
                  </a:lnTo>
                  <a:lnTo>
                    <a:pt x="404425" y="149858"/>
                  </a:lnTo>
                  <a:lnTo>
                    <a:pt x="347470" y="95430"/>
                  </a:lnTo>
                  <a:lnTo>
                    <a:pt x="310372" y="71866"/>
                  </a:lnTo>
                  <a:lnTo>
                    <a:pt x="268222" y="51125"/>
                  </a:lnTo>
                  <a:lnTo>
                    <a:pt x="221544" y="33499"/>
                  </a:lnTo>
                  <a:lnTo>
                    <a:pt x="170860" y="19282"/>
                  </a:lnTo>
                  <a:lnTo>
                    <a:pt x="116693" y="8764"/>
                  </a:lnTo>
                  <a:lnTo>
                    <a:pt x="59565" y="2239"/>
                  </a:lnTo>
                  <a:lnTo>
                    <a:pt x="0" y="0"/>
                  </a:lnTo>
                  <a:lnTo>
                    <a:pt x="23269" y="43761"/>
                  </a:lnTo>
                  <a:lnTo>
                    <a:pt x="41884" y="88033"/>
                  </a:lnTo>
                  <a:lnTo>
                    <a:pt x="55846" y="132701"/>
                  </a:lnTo>
                  <a:lnTo>
                    <a:pt x="65154" y="177653"/>
                  </a:lnTo>
                  <a:lnTo>
                    <a:pt x="69808" y="222774"/>
                  </a:lnTo>
                  <a:lnTo>
                    <a:pt x="69808" y="267953"/>
                  </a:lnTo>
                  <a:lnTo>
                    <a:pt x="65154" y="313074"/>
                  </a:lnTo>
                  <a:lnTo>
                    <a:pt x="55846" y="358026"/>
                  </a:lnTo>
                  <a:lnTo>
                    <a:pt x="41884" y="402694"/>
                  </a:lnTo>
                  <a:lnTo>
                    <a:pt x="23269" y="446966"/>
                  </a:lnTo>
                  <a:lnTo>
                    <a:pt x="0" y="49072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8">
              <a:extLst>
                <a:ext uri="{FF2B5EF4-FFF2-40B4-BE49-F238E27FC236}">
                  <a16:creationId xmlns:a16="http://schemas.microsoft.com/office/drawing/2014/main" id="{5DA7667F-D46E-EEC2-ED4A-2CCE54B2A410}"/>
                </a:ext>
              </a:extLst>
            </p:cNvPr>
            <p:cNvSpPr/>
            <p:nvPr/>
          </p:nvSpPr>
          <p:spPr>
            <a:xfrm>
              <a:off x="5788152" y="5244084"/>
              <a:ext cx="115824" cy="1112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9">
              <a:extLst>
                <a:ext uri="{FF2B5EF4-FFF2-40B4-BE49-F238E27FC236}">
                  <a16:creationId xmlns:a16="http://schemas.microsoft.com/office/drawing/2014/main" id="{2CBBC8E7-D303-22C9-F03E-BCF400C994F1}"/>
                </a:ext>
              </a:extLst>
            </p:cNvPr>
            <p:cNvSpPr/>
            <p:nvPr/>
          </p:nvSpPr>
          <p:spPr>
            <a:xfrm>
              <a:off x="2434589" y="4988814"/>
              <a:ext cx="1882139" cy="0"/>
            </a:xfrm>
            <a:custGeom>
              <a:avLst/>
              <a:gdLst/>
              <a:ahLst/>
              <a:cxnLst/>
              <a:rect l="l" t="t" r="r" b="b"/>
              <a:pathLst>
                <a:path w="1882139">
                  <a:moveTo>
                    <a:pt x="1882139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10">
              <a:extLst>
                <a:ext uri="{FF2B5EF4-FFF2-40B4-BE49-F238E27FC236}">
                  <a16:creationId xmlns:a16="http://schemas.microsoft.com/office/drawing/2014/main" id="{698CA770-3631-0845-BE79-30F98AA04F9B}"/>
                </a:ext>
              </a:extLst>
            </p:cNvPr>
            <p:cNvSpPr/>
            <p:nvPr/>
          </p:nvSpPr>
          <p:spPr>
            <a:xfrm>
              <a:off x="4174997" y="4918709"/>
              <a:ext cx="431800" cy="429895"/>
            </a:xfrm>
            <a:custGeom>
              <a:avLst/>
              <a:gdLst/>
              <a:ahLst/>
              <a:cxnLst/>
              <a:rect l="l" t="t" r="r" b="b"/>
              <a:pathLst>
                <a:path w="431800" h="429895">
                  <a:moveTo>
                    <a:pt x="215646" y="0"/>
                  </a:moveTo>
                  <a:lnTo>
                    <a:pt x="0" y="0"/>
                  </a:lnTo>
                  <a:lnTo>
                    <a:pt x="0" y="429767"/>
                  </a:lnTo>
                  <a:lnTo>
                    <a:pt x="215646" y="429767"/>
                  </a:lnTo>
                  <a:lnTo>
                    <a:pt x="265100" y="424089"/>
                  </a:lnTo>
                  <a:lnTo>
                    <a:pt x="310493" y="407916"/>
                  </a:lnTo>
                  <a:lnTo>
                    <a:pt x="350533" y="382541"/>
                  </a:lnTo>
                  <a:lnTo>
                    <a:pt x="383925" y="349258"/>
                  </a:lnTo>
                  <a:lnTo>
                    <a:pt x="409378" y="309358"/>
                  </a:lnTo>
                  <a:lnTo>
                    <a:pt x="425598" y="264136"/>
                  </a:lnTo>
                  <a:lnTo>
                    <a:pt x="431291" y="214883"/>
                  </a:lnTo>
                  <a:lnTo>
                    <a:pt x="425598" y="165631"/>
                  </a:lnTo>
                  <a:lnTo>
                    <a:pt x="409378" y="120409"/>
                  </a:lnTo>
                  <a:lnTo>
                    <a:pt x="383925" y="80509"/>
                  </a:lnTo>
                  <a:lnTo>
                    <a:pt x="350533" y="47226"/>
                  </a:lnTo>
                  <a:lnTo>
                    <a:pt x="310493" y="21851"/>
                  </a:lnTo>
                  <a:lnTo>
                    <a:pt x="265100" y="5678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11">
              <a:extLst>
                <a:ext uri="{FF2B5EF4-FFF2-40B4-BE49-F238E27FC236}">
                  <a16:creationId xmlns:a16="http://schemas.microsoft.com/office/drawing/2014/main" id="{4D635CC4-DFF3-18B8-3FCE-A2A3A5BBE209}"/>
                </a:ext>
              </a:extLst>
            </p:cNvPr>
            <p:cNvSpPr/>
            <p:nvPr/>
          </p:nvSpPr>
          <p:spPr>
            <a:xfrm>
              <a:off x="4174997" y="4918709"/>
              <a:ext cx="431800" cy="429895"/>
            </a:xfrm>
            <a:custGeom>
              <a:avLst/>
              <a:gdLst/>
              <a:ahLst/>
              <a:cxnLst/>
              <a:rect l="l" t="t" r="r" b="b"/>
              <a:pathLst>
                <a:path w="431800" h="429895">
                  <a:moveTo>
                    <a:pt x="0" y="0"/>
                  </a:moveTo>
                  <a:lnTo>
                    <a:pt x="215646" y="0"/>
                  </a:lnTo>
                  <a:lnTo>
                    <a:pt x="265100" y="5678"/>
                  </a:lnTo>
                  <a:lnTo>
                    <a:pt x="310493" y="21851"/>
                  </a:lnTo>
                  <a:lnTo>
                    <a:pt x="350533" y="47226"/>
                  </a:lnTo>
                  <a:lnTo>
                    <a:pt x="383925" y="80509"/>
                  </a:lnTo>
                  <a:lnTo>
                    <a:pt x="409378" y="120409"/>
                  </a:lnTo>
                  <a:lnTo>
                    <a:pt x="425598" y="165631"/>
                  </a:lnTo>
                  <a:lnTo>
                    <a:pt x="431291" y="214883"/>
                  </a:lnTo>
                  <a:lnTo>
                    <a:pt x="425598" y="264136"/>
                  </a:lnTo>
                  <a:lnTo>
                    <a:pt x="409378" y="309358"/>
                  </a:lnTo>
                  <a:lnTo>
                    <a:pt x="383925" y="349258"/>
                  </a:lnTo>
                  <a:lnTo>
                    <a:pt x="350533" y="382541"/>
                  </a:lnTo>
                  <a:lnTo>
                    <a:pt x="310493" y="407916"/>
                  </a:lnTo>
                  <a:lnTo>
                    <a:pt x="265100" y="424089"/>
                  </a:lnTo>
                  <a:lnTo>
                    <a:pt x="215646" y="429767"/>
                  </a:lnTo>
                  <a:lnTo>
                    <a:pt x="0" y="429767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12">
              <a:extLst>
                <a:ext uri="{FF2B5EF4-FFF2-40B4-BE49-F238E27FC236}">
                  <a16:creationId xmlns:a16="http://schemas.microsoft.com/office/drawing/2014/main" id="{C0C7671E-F5D5-6E70-1EB8-827BAAE6B20B}"/>
                </a:ext>
              </a:extLst>
            </p:cNvPr>
            <p:cNvSpPr/>
            <p:nvPr/>
          </p:nvSpPr>
          <p:spPr>
            <a:xfrm>
              <a:off x="3380994" y="5273802"/>
              <a:ext cx="792480" cy="692150"/>
            </a:xfrm>
            <a:custGeom>
              <a:avLst/>
              <a:gdLst/>
              <a:ahLst/>
              <a:cxnLst/>
              <a:rect l="l" t="t" r="r" b="b"/>
              <a:pathLst>
                <a:path w="792479" h="692150">
                  <a:moveTo>
                    <a:pt x="0" y="692150"/>
                  </a:moveTo>
                  <a:lnTo>
                    <a:pt x="0" y="0"/>
                  </a:lnTo>
                  <a:lnTo>
                    <a:pt x="792098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13">
              <a:extLst>
                <a:ext uri="{FF2B5EF4-FFF2-40B4-BE49-F238E27FC236}">
                  <a16:creationId xmlns:a16="http://schemas.microsoft.com/office/drawing/2014/main" id="{3DBD2425-C0C2-55BD-0AF6-DE19C346F426}"/>
                </a:ext>
              </a:extLst>
            </p:cNvPr>
            <p:cNvSpPr/>
            <p:nvPr/>
          </p:nvSpPr>
          <p:spPr>
            <a:xfrm>
              <a:off x="4323588" y="5939028"/>
              <a:ext cx="108203" cy="1112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14">
              <a:extLst>
                <a:ext uri="{FF2B5EF4-FFF2-40B4-BE49-F238E27FC236}">
                  <a16:creationId xmlns:a16="http://schemas.microsoft.com/office/drawing/2014/main" id="{F32670C6-D7A9-A5C4-65C4-CD832BEFC77B}"/>
                </a:ext>
              </a:extLst>
            </p:cNvPr>
            <p:cNvSpPr/>
            <p:nvPr/>
          </p:nvSpPr>
          <p:spPr>
            <a:xfrm>
              <a:off x="3976878" y="5784341"/>
              <a:ext cx="364490" cy="411480"/>
            </a:xfrm>
            <a:custGeom>
              <a:avLst/>
              <a:gdLst/>
              <a:ahLst/>
              <a:cxnLst/>
              <a:rect l="l" t="t" r="r" b="b"/>
              <a:pathLst>
                <a:path w="364489" h="411479">
                  <a:moveTo>
                    <a:pt x="0" y="0"/>
                  </a:moveTo>
                  <a:lnTo>
                    <a:pt x="0" y="411480"/>
                  </a:lnTo>
                  <a:lnTo>
                    <a:pt x="364236" y="2057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15">
              <a:extLst>
                <a:ext uri="{FF2B5EF4-FFF2-40B4-BE49-F238E27FC236}">
                  <a16:creationId xmlns:a16="http://schemas.microsoft.com/office/drawing/2014/main" id="{184B4911-55B2-FE2E-83EB-451B4F45A740}"/>
                </a:ext>
              </a:extLst>
            </p:cNvPr>
            <p:cNvSpPr/>
            <p:nvPr/>
          </p:nvSpPr>
          <p:spPr>
            <a:xfrm>
              <a:off x="3976878" y="5784341"/>
              <a:ext cx="364490" cy="411480"/>
            </a:xfrm>
            <a:custGeom>
              <a:avLst/>
              <a:gdLst/>
              <a:ahLst/>
              <a:cxnLst/>
              <a:rect l="l" t="t" r="r" b="b"/>
              <a:pathLst>
                <a:path w="364489" h="411479">
                  <a:moveTo>
                    <a:pt x="0" y="0"/>
                  </a:moveTo>
                  <a:lnTo>
                    <a:pt x="364236" y="20574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16">
              <a:extLst>
                <a:ext uri="{FF2B5EF4-FFF2-40B4-BE49-F238E27FC236}">
                  <a16:creationId xmlns:a16="http://schemas.microsoft.com/office/drawing/2014/main" id="{31948447-8F41-CC25-1DE4-5E502D0BF672}"/>
                </a:ext>
              </a:extLst>
            </p:cNvPr>
            <p:cNvSpPr/>
            <p:nvPr/>
          </p:nvSpPr>
          <p:spPr>
            <a:xfrm>
              <a:off x="4412741" y="5421629"/>
              <a:ext cx="998855" cy="571500"/>
            </a:xfrm>
            <a:custGeom>
              <a:avLst/>
              <a:gdLst/>
              <a:ahLst/>
              <a:cxnLst/>
              <a:rect l="l" t="t" r="r" b="b"/>
              <a:pathLst>
                <a:path w="998854" h="571500">
                  <a:moveTo>
                    <a:pt x="0" y="571500"/>
                  </a:moveTo>
                  <a:lnTo>
                    <a:pt x="437388" y="571500"/>
                  </a:lnTo>
                  <a:lnTo>
                    <a:pt x="437388" y="0"/>
                  </a:lnTo>
                  <a:lnTo>
                    <a:pt x="99860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17">
              <a:extLst>
                <a:ext uri="{FF2B5EF4-FFF2-40B4-BE49-F238E27FC236}">
                  <a16:creationId xmlns:a16="http://schemas.microsoft.com/office/drawing/2014/main" id="{92A2059D-EB6B-52CA-AF38-BF797E72D3E7}"/>
                </a:ext>
              </a:extLst>
            </p:cNvPr>
            <p:cNvSpPr/>
            <p:nvPr/>
          </p:nvSpPr>
          <p:spPr>
            <a:xfrm>
              <a:off x="2373629" y="5833109"/>
              <a:ext cx="288290" cy="1905"/>
            </a:xfrm>
            <a:custGeom>
              <a:avLst/>
              <a:gdLst/>
              <a:ahLst/>
              <a:cxnLst/>
              <a:rect l="l" t="t" r="r" b="b"/>
              <a:pathLst>
                <a:path w="288289" h="1904">
                  <a:moveTo>
                    <a:pt x="-19050" y="761"/>
                  </a:moveTo>
                  <a:lnTo>
                    <a:pt x="307086" y="761"/>
                  </a:lnTo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18">
              <a:extLst>
                <a:ext uri="{FF2B5EF4-FFF2-40B4-BE49-F238E27FC236}">
                  <a16:creationId xmlns:a16="http://schemas.microsoft.com/office/drawing/2014/main" id="{A41F2D31-FBD9-006D-DEA8-61AEEB523592}"/>
                </a:ext>
              </a:extLst>
            </p:cNvPr>
            <p:cNvSpPr/>
            <p:nvPr/>
          </p:nvSpPr>
          <p:spPr>
            <a:xfrm>
              <a:off x="2373629" y="6134861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89">
                  <a:moveTo>
                    <a:pt x="288036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19">
              <a:extLst>
                <a:ext uri="{FF2B5EF4-FFF2-40B4-BE49-F238E27FC236}">
                  <a16:creationId xmlns:a16="http://schemas.microsoft.com/office/drawing/2014/main" id="{79BCA9BE-B931-3E52-5252-269971CE7227}"/>
                </a:ext>
              </a:extLst>
            </p:cNvPr>
            <p:cNvSpPr/>
            <p:nvPr/>
          </p:nvSpPr>
          <p:spPr>
            <a:xfrm>
              <a:off x="2806445" y="5990082"/>
              <a:ext cx="1181100" cy="0"/>
            </a:xfrm>
            <a:custGeom>
              <a:avLst/>
              <a:gdLst/>
              <a:ahLst/>
              <a:cxnLst/>
              <a:rect l="l" t="t" r="r" b="b"/>
              <a:pathLst>
                <a:path w="1181100">
                  <a:moveTo>
                    <a:pt x="1181100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20">
              <a:extLst>
                <a:ext uri="{FF2B5EF4-FFF2-40B4-BE49-F238E27FC236}">
                  <a16:creationId xmlns:a16="http://schemas.microsoft.com/office/drawing/2014/main" id="{7270F501-36C1-E7A2-2832-1BCB3B4A1DAF}"/>
                </a:ext>
              </a:extLst>
            </p:cNvPr>
            <p:cNvSpPr/>
            <p:nvPr/>
          </p:nvSpPr>
          <p:spPr>
            <a:xfrm>
              <a:off x="2516885" y="5775197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69" h="431800">
                  <a:moveTo>
                    <a:pt x="0" y="0"/>
                  </a:moveTo>
                  <a:lnTo>
                    <a:pt x="24997" y="42330"/>
                  </a:lnTo>
                  <a:lnTo>
                    <a:pt x="44439" y="85194"/>
                  </a:lnTo>
                  <a:lnTo>
                    <a:pt x="58327" y="128456"/>
                  </a:lnTo>
                  <a:lnTo>
                    <a:pt x="66659" y="171984"/>
                  </a:lnTo>
                  <a:lnTo>
                    <a:pt x="69437" y="215646"/>
                  </a:lnTo>
                  <a:lnTo>
                    <a:pt x="66659" y="259307"/>
                  </a:lnTo>
                  <a:lnTo>
                    <a:pt x="58327" y="302835"/>
                  </a:lnTo>
                  <a:lnTo>
                    <a:pt x="44439" y="346097"/>
                  </a:lnTo>
                  <a:lnTo>
                    <a:pt x="24997" y="388961"/>
                  </a:lnTo>
                  <a:lnTo>
                    <a:pt x="0" y="431291"/>
                  </a:lnTo>
                  <a:lnTo>
                    <a:pt x="63953" y="428953"/>
                  </a:lnTo>
                  <a:lnTo>
                    <a:pt x="124994" y="422161"/>
                  </a:lnTo>
                  <a:lnTo>
                    <a:pt x="182454" y="411249"/>
                  </a:lnTo>
                  <a:lnTo>
                    <a:pt x="235662" y="396550"/>
                  </a:lnTo>
                  <a:lnTo>
                    <a:pt x="283949" y="378398"/>
                  </a:lnTo>
                  <a:lnTo>
                    <a:pt x="326645" y="357126"/>
                  </a:lnTo>
                  <a:lnTo>
                    <a:pt x="363080" y="333068"/>
                  </a:lnTo>
                  <a:lnTo>
                    <a:pt x="392585" y="306558"/>
                  </a:lnTo>
                  <a:lnTo>
                    <a:pt x="428122" y="247513"/>
                  </a:lnTo>
                  <a:lnTo>
                    <a:pt x="432815" y="215646"/>
                  </a:lnTo>
                  <a:lnTo>
                    <a:pt x="428122" y="183778"/>
                  </a:lnTo>
                  <a:lnTo>
                    <a:pt x="392585" y="124733"/>
                  </a:lnTo>
                  <a:lnTo>
                    <a:pt x="363080" y="98223"/>
                  </a:lnTo>
                  <a:lnTo>
                    <a:pt x="326645" y="74165"/>
                  </a:lnTo>
                  <a:lnTo>
                    <a:pt x="283949" y="52893"/>
                  </a:lnTo>
                  <a:lnTo>
                    <a:pt x="235662" y="34741"/>
                  </a:lnTo>
                  <a:lnTo>
                    <a:pt x="182454" y="20042"/>
                  </a:lnTo>
                  <a:lnTo>
                    <a:pt x="124994" y="9130"/>
                  </a:lnTo>
                  <a:lnTo>
                    <a:pt x="63953" y="2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21">
              <a:extLst>
                <a:ext uri="{FF2B5EF4-FFF2-40B4-BE49-F238E27FC236}">
                  <a16:creationId xmlns:a16="http://schemas.microsoft.com/office/drawing/2014/main" id="{E3948978-A716-9EC2-180A-6A98BD9F5EB0}"/>
                </a:ext>
              </a:extLst>
            </p:cNvPr>
            <p:cNvSpPr/>
            <p:nvPr/>
          </p:nvSpPr>
          <p:spPr>
            <a:xfrm>
              <a:off x="2516885" y="5775197"/>
              <a:ext cx="433070" cy="431800"/>
            </a:xfrm>
            <a:custGeom>
              <a:avLst/>
              <a:gdLst/>
              <a:ahLst/>
              <a:cxnLst/>
              <a:rect l="l" t="t" r="r" b="b"/>
              <a:pathLst>
                <a:path w="433069" h="431800">
                  <a:moveTo>
                    <a:pt x="0" y="431291"/>
                  </a:moveTo>
                  <a:lnTo>
                    <a:pt x="63953" y="428953"/>
                  </a:lnTo>
                  <a:lnTo>
                    <a:pt x="124994" y="422161"/>
                  </a:lnTo>
                  <a:lnTo>
                    <a:pt x="182454" y="411249"/>
                  </a:lnTo>
                  <a:lnTo>
                    <a:pt x="235662" y="396550"/>
                  </a:lnTo>
                  <a:lnTo>
                    <a:pt x="283949" y="378398"/>
                  </a:lnTo>
                  <a:lnTo>
                    <a:pt x="326645" y="357126"/>
                  </a:lnTo>
                  <a:lnTo>
                    <a:pt x="363080" y="333068"/>
                  </a:lnTo>
                  <a:lnTo>
                    <a:pt x="392585" y="306558"/>
                  </a:lnTo>
                  <a:lnTo>
                    <a:pt x="428122" y="247513"/>
                  </a:lnTo>
                  <a:lnTo>
                    <a:pt x="432815" y="215645"/>
                  </a:lnTo>
                  <a:lnTo>
                    <a:pt x="428122" y="183778"/>
                  </a:lnTo>
                  <a:lnTo>
                    <a:pt x="392585" y="124733"/>
                  </a:lnTo>
                  <a:lnTo>
                    <a:pt x="363080" y="98223"/>
                  </a:lnTo>
                  <a:lnTo>
                    <a:pt x="326645" y="74165"/>
                  </a:lnTo>
                  <a:lnTo>
                    <a:pt x="283949" y="52893"/>
                  </a:lnTo>
                  <a:lnTo>
                    <a:pt x="235662" y="34741"/>
                  </a:lnTo>
                  <a:lnTo>
                    <a:pt x="182454" y="20042"/>
                  </a:lnTo>
                  <a:lnTo>
                    <a:pt x="124994" y="9130"/>
                  </a:lnTo>
                  <a:lnTo>
                    <a:pt x="63953" y="2338"/>
                  </a:lnTo>
                  <a:lnTo>
                    <a:pt x="0" y="0"/>
                  </a:lnTo>
                  <a:lnTo>
                    <a:pt x="24997" y="42330"/>
                  </a:lnTo>
                  <a:lnTo>
                    <a:pt x="44439" y="85194"/>
                  </a:lnTo>
                  <a:lnTo>
                    <a:pt x="58327" y="128456"/>
                  </a:lnTo>
                  <a:lnTo>
                    <a:pt x="66659" y="171984"/>
                  </a:lnTo>
                  <a:lnTo>
                    <a:pt x="69437" y="215646"/>
                  </a:lnTo>
                  <a:lnTo>
                    <a:pt x="66659" y="259307"/>
                  </a:lnTo>
                  <a:lnTo>
                    <a:pt x="58327" y="302835"/>
                  </a:lnTo>
                  <a:lnTo>
                    <a:pt x="44439" y="346097"/>
                  </a:lnTo>
                  <a:lnTo>
                    <a:pt x="24997" y="388961"/>
                  </a:lnTo>
                  <a:lnTo>
                    <a:pt x="0" y="431291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22">
              <a:extLst>
                <a:ext uri="{FF2B5EF4-FFF2-40B4-BE49-F238E27FC236}">
                  <a16:creationId xmlns:a16="http://schemas.microsoft.com/office/drawing/2014/main" id="{87BD02E9-C5FB-F0B2-C72E-7AFA8863E175}"/>
                </a:ext>
              </a:extLst>
            </p:cNvPr>
            <p:cNvSpPr/>
            <p:nvPr/>
          </p:nvSpPr>
          <p:spPr>
            <a:xfrm>
              <a:off x="3339084" y="5948171"/>
              <a:ext cx="82295" cy="8381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23">
              <a:extLst>
                <a:ext uri="{FF2B5EF4-FFF2-40B4-BE49-F238E27FC236}">
                  <a16:creationId xmlns:a16="http://schemas.microsoft.com/office/drawing/2014/main" id="{84E3CFCC-C8AE-8AFD-6534-EBE57F978189}"/>
                </a:ext>
              </a:extLst>
            </p:cNvPr>
            <p:cNvSpPr/>
            <p:nvPr/>
          </p:nvSpPr>
          <p:spPr>
            <a:xfrm>
              <a:off x="2937510" y="4847082"/>
              <a:ext cx="457200" cy="1371600"/>
            </a:xfrm>
            <a:custGeom>
              <a:avLst/>
              <a:gdLst/>
              <a:ahLst/>
              <a:cxnLst/>
              <a:rect l="l" t="t" r="r" b="b"/>
              <a:pathLst>
                <a:path w="457200" h="1371600">
                  <a:moveTo>
                    <a:pt x="0" y="0"/>
                  </a:moveTo>
                  <a:lnTo>
                    <a:pt x="457200" y="1371600"/>
                  </a:lnTo>
                </a:path>
              </a:pathLst>
            </a:custGeom>
            <a:ln w="381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28">
              <a:extLst>
                <a:ext uri="{FF2B5EF4-FFF2-40B4-BE49-F238E27FC236}">
                  <a16:creationId xmlns:a16="http://schemas.microsoft.com/office/drawing/2014/main" id="{F92FF9A3-A4A8-2A41-D8A6-6C7D4D073D4C}"/>
                </a:ext>
              </a:extLst>
            </p:cNvPr>
            <p:cNvSpPr txBox="1"/>
            <p:nvPr/>
          </p:nvSpPr>
          <p:spPr>
            <a:xfrm>
              <a:off x="3482466" y="4650385"/>
              <a:ext cx="391795" cy="3073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285"/>
                </a:lnSpc>
              </a:pPr>
              <a:r>
                <a:rPr sz="2000" b="1" i="1" spc="-5" dirty="0">
                  <a:latin typeface="TimesNewRomanPS-BoldItalicMT"/>
                  <a:cs typeface="TimesNewRomanPS-BoldItalicMT"/>
                </a:rPr>
                <a:t>A/1</a:t>
              </a:r>
              <a:endParaRPr sz="2000">
                <a:latin typeface="TimesNewRomanPS-BoldItalicMT"/>
                <a:cs typeface="TimesNewRomanPS-BoldItalicMT"/>
              </a:endParaRPr>
            </a:p>
          </p:txBody>
        </p:sp>
        <p:sp>
          <p:nvSpPr>
            <p:cNvPr id="58" name="object 29">
              <a:extLst>
                <a:ext uri="{FF2B5EF4-FFF2-40B4-BE49-F238E27FC236}">
                  <a16:creationId xmlns:a16="http://schemas.microsoft.com/office/drawing/2014/main" id="{B6B101A2-D421-A5CD-3601-05A0E30509A8}"/>
                </a:ext>
              </a:extLst>
            </p:cNvPr>
            <p:cNvSpPr txBox="1"/>
            <p:nvPr/>
          </p:nvSpPr>
          <p:spPr>
            <a:xfrm>
              <a:off x="4941570" y="4777512"/>
              <a:ext cx="421640" cy="3073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285"/>
                </a:lnSpc>
              </a:pPr>
              <a:r>
                <a:rPr sz="2000" b="1" i="1" dirty="0">
                  <a:latin typeface="TimesNewRomanPS-BoldItalicMT"/>
                  <a:cs typeface="TimesNewRomanPS-BoldItalicMT"/>
                </a:rPr>
                <a:t>H/0</a:t>
              </a:r>
              <a:endParaRPr sz="2000">
                <a:latin typeface="TimesNewRomanPS-BoldItalicMT"/>
                <a:cs typeface="TimesNewRomanPS-BoldItalicMT"/>
              </a:endParaRPr>
            </a:p>
          </p:txBody>
        </p:sp>
        <p:sp>
          <p:nvSpPr>
            <p:cNvPr id="59" name="object 30">
              <a:extLst>
                <a:ext uri="{FF2B5EF4-FFF2-40B4-BE49-F238E27FC236}">
                  <a16:creationId xmlns:a16="http://schemas.microsoft.com/office/drawing/2014/main" id="{D3C91CB3-858B-8A7F-122C-BCF1BDE59CA3}"/>
                </a:ext>
              </a:extLst>
            </p:cNvPr>
            <p:cNvSpPr txBox="1"/>
            <p:nvPr/>
          </p:nvSpPr>
          <p:spPr>
            <a:xfrm>
              <a:off x="5832475" y="4883938"/>
              <a:ext cx="402590" cy="8045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3495">
                <a:lnSpc>
                  <a:spcPts val="2285"/>
                </a:lnSpc>
              </a:pPr>
              <a:r>
                <a:rPr sz="2000" b="1" i="1" spc="-5" dirty="0">
                  <a:latin typeface="TimesNewRomanPS-BoldItalicMT"/>
                  <a:cs typeface="TimesNewRomanPS-BoldItalicMT"/>
                </a:rPr>
                <a:t>K/0</a:t>
              </a:r>
              <a:endParaRPr sz="2000">
                <a:latin typeface="TimesNewRomanPS-BoldItalicMT"/>
                <a:cs typeface="TimesNewRomanPS-BoldItalicMT"/>
              </a:endParaRPr>
            </a:p>
            <a:p>
              <a:pPr marL="12700">
                <a:lnSpc>
                  <a:spcPct val="100000"/>
                </a:lnSpc>
                <a:spcBef>
                  <a:spcPts val="1510"/>
                </a:spcBef>
              </a:pPr>
              <a:r>
                <a:rPr sz="2000" b="1" i="1" spc="-5" dirty="0">
                  <a:latin typeface="TimesNewRomanPS-BoldItalicMT"/>
                  <a:cs typeface="TimesNewRomanPS-BoldItalicMT"/>
                </a:rPr>
                <a:t>K/1</a:t>
              </a:r>
              <a:endParaRPr sz="2000">
                <a:latin typeface="TimesNewRomanPS-BoldItalicMT"/>
                <a:cs typeface="TimesNewRomanPS-BoldItalicMT"/>
              </a:endParaRPr>
            </a:p>
          </p:txBody>
        </p:sp>
        <p:sp>
          <p:nvSpPr>
            <p:cNvPr id="60" name="object 31">
              <a:extLst>
                <a:ext uri="{FF2B5EF4-FFF2-40B4-BE49-F238E27FC236}">
                  <a16:creationId xmlns:a16="http://schemas.microsoft.com/office/drawing/2014/main" id="{F966FA16-751A-F76C-6594-BD012E71C320}"/>
                </a:ext>
              </a:extLst>
            </p:cNvPr>
            <p:cNvSpPr txBox="1"/>
            <p:nvPr/>
          </p:nvSpPr>
          <p:spPr>
            <a:xfrm>
              <a:off x="4204461" y="4923181"/>
              <a:ext cx="223520" cy="3073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285"/>
                </a:lnSpc>
              </a:pPr>
              <a:r>
                <a:rPr sz="2000" b="1" dirty="0">
                  <a:latin typeface="Times New Roman"/>
                  <a:cs typeface="Times New Roman"/>
                </a:rPr>
                <a:t>G</a:t>
              </a:r>
              <a:endParaRPr sz="2000" dirty="0">
                <a:latin typeface="Times New Roman"/>
                <a:cs typeface="Times New Roman"/>
              </a:endParaRPr>
            </a:p>
          </p:txBody>
        </p:sp>
        <p:sp>
          <p:nvSpPr>
            <p:cNvPr id="61" name="object 32">
              <a:extLst>
                <a:ext uri="{FF2B5EF4-FFF2-40B4-BE49-F238E27FC236}">
                  <a16:creationId xmlns:a16="http://schemas.microsoft.com/office/drawing/2014/main" id="{CF58E598-BC8F-9B59-1C06-CECAAAD31B96}"/>
                </a:ext>
              </a:extLst>
            </p:cNvPr>
            <p:cNvSpPr txBox="1"/>
            <p:nvPr/>
          </p:nvSpPr>
          <p:spPr>
            <a:xfrm>
              <a:off x="4402582" y="5061716"/>
              <a:ext cx="110489" cy="21336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1545"/>
                </a:lnSpc>
              </a:pPr>
              <a:r>
                <a:rPr sz="1300" b="1" spc="15" dirty="0">
                  <a:latin typeface="Times New Roman"/>
                  <a:cs typeface="Times New Roman"/>
                </a:rPr>
                <a:t>2</a:t>
              </a:r>
              <a:endParaRPr sz="1300">
                <a:latin typeface="Times New Roman"/>
                <a:cs typeface="Times New Roman"/>
              </a:endParaRPr>
            </a:p>
          </p:txBody>
        </p:sp>
        <p:sp>
          <p:nvSpPr>
            <p:cNvPr id="62" name="object 33">
              <a:extLst>
                <a:ext uri="{FF2B5EF4-FFF2-40B4-BE49-F238E27FC236}">
                  <a16:creationId xmlns:a16="http://schemas.microsoft.com/office/drawing/2014/main" id="{5788039A-96AE-A124-2EFF-06B0F2612870}"/>
                </a:ext>
              </a:extLst>
            </p:cNvPr>
            <p:cNvSpPr txBox="1"/>
            <p:nvPr/>
          </p:nvSpPr>
          <p:spPr>
            <a:xfrm>
              <a:off x="5449570" y="5107585"/>
              <a:ext cx="308610" cy="351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285"/>
                </a:lnSpc>
              </a:pPr>
              <a:r>
                <a:rPr sz="2000" b="1" dirty="0">
                  <a:latin typeface="Times New Roman"/>
                  <a:cs typeface="Times New Roman"/>
                </a:rPr>
                <a:t>G</a:t>
              </a:r>
              <a:r>
                <a:rPr sz="1950" b="1" spc="22" baseline="-21367" dirty="0">
                  <a:latin typeface="Times New Roman"/>
                  <a:cs typeface="Times New Roman"/>
                </a:rPr>
                <a:t>4</a:t>
              </a:r>
              <a:endParaRPr sz="1950" baseline="-21367">
                <a:latin typeface="Times New Roman"/>
                <a:cs typeface="Times New Roman"/>
              </a:endParaRPr>
            </a:p>
          </p:txBody>
        </p:sp>
        <p:sp>
          <p:nvSpPr>
            <p:cNvPr id="63" name="object 34">
              <a:extLst>
                <a:ext uri="{FF2B5EF4-FFF2-40B4-BE49-F238E27FC236}">
                  <a16:creationId xmlns:a16="http://schemas.microsoft.com/office/drawing/2014/main" id="{57C59EEF-ED44-AA9F-480F-0B2916A0E029}"/>
                </a:ext>
              </a:extLst>
            </p:cNvPr>
            <p:cNvSpPr txBox="1"/>
            <p:nvPr/>
          </p:nvSpPr>
          <p:spPr>
            <a:xfrm>
              <a:off x="3482466" y="5250315"/>
              <a:ext cx="378460" cy="3079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290"/>
                </a:lnSpc>
              </a:pPr>
              <a:r>
                <a:rPr sz="2000" b="1" i="1" dirty="0">
                  <a:latin typeface="TimesNewRomanPS-BoldItalicMT"/>
                  <a:cs typeface="TimesNewRomanPS-BoldItalicMT"/>
                </a:rPr>
                <a:t>L</a:t>
              </a:r>
              <a:r>
                <a:rPr sz="2000" b="1" i="1" spc="-10" dirty="0">
                  <a:latin typeface="TimesNewRomanPS-BoldItalicMT"/>
                  <a:cs typeface="TimesNewRomanPS-BoldItalicMT"/>
                </a:rPr>
                <a:t>/</a:t>
              </a:r>
              <a:r>
                <a:rPr sz="2000" b="1" i="1" dirty="0">
                  <a:latin typeface="TimesNewRomanPS-BoldItalicMT"/>
                  <a:cs typeface="TimesNewRomanPS-BoldItalicMT"/>
                </a:rPr>
                <a:t>1</a:t>
              </a:r>
              <a:endParaRPr sz="2000" dirty="0">
                <a:latin typeface="TimesNewRomanPS-BoldItalicMT"/>
                <a:cs typeface="TimesNewRomanPS-BoldItalicMT"/>
              </a:endParaRPr>
            </a:p>
          </p:txBody>
        </p:sp>
        <p:sp>
          <p:nvSpPr>
            <p:cNvPr id="64" name="object 35">
              <a:extLst>
                <a:ext uri="{FF2B5EF4-FFF2-40B4-BE49-F238E27FC236}">
                  <a16:creationId xmlns:a16="http://schemas.microsoft.com/office/drawing/2014/main" id="{E215538F-87F9-2C34-DCAC-5D802C3CB302}"/>
                </a:ext>
              </a:extLst>
            </p:cNvPr>
            <p:cNvSpPr txBox="1"/>
            <p:nvPr/>
          </p:nvSpPr>
          <p:spPr>
            <a:xfrm>
              <a:off x="4917694" y="5455116"/>
              <a:ext cx="351155" cy="3079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290"/>
                </a:lnSpc>
              </a:pPr>
              <a:r>
                <a:rPr sz="2000" b="1" i="1" dirty="0">
                  <a:latin typeface="TimesNewRomanPS-BoldItalicMT"/>
                  <a:cs typeface="TimesNewRomanPS-BoldItalicMT"/>
                </a:rPr>
                <a:t>J/0</a:t>
              </a:r>
              <a:endParaRPr sz="2000">
                <a:latin typeface="TimesNewRomanPS-BoldItalicMT"/>
                <a:cs typeface="TimesNewRomanPS-BoldItalicMT"/>
              </a:endParaRPr>
            </a:p>
          </p:txBody>
        </p:sp>
        <p:sp>
          <p:nvSpPr>
            <p:cNvPr id="65" name="object 36">
              <a:extLst>
                <a:ext uri="{FF2B5EF4-FFF2-40B4-BE49-F238E27FC236}">
                  <a16:creationId xmlns:a16="http://schemas.microsoft.com/office/drawing/2014/main" id="{47023197-9529-CA84-3489-5FA52053C05B}"/>
                </a:ext>
              </a:extLst>
            </p:cNvPr>
            <p:cNvSpPr txBox="1"/>
            <p:nvPr/>
          </p:nvSpPr>
          <p:spPr>
            <a:xfrm>
              <a:off x="2602738" y="5499888"/>
              <a:ext cx="604520" cy="102679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89230">
                <a:lnSpc>
                  <a:spcPts val="2240"/>
                </a:lnSpc>
              </a:pPr>
              <a:r>
                <a:rPr sz="2000" b="1" i="1" spc="-5" dirty="0">
                  <a:latin typeface="TimesNewRomanPS-BoldItalicMT"/>
                  <a:cs typeface="TimesNewRomanPS-BoldItalicMT"/>
                </a:rPr>
                <a:t>E/0</a:t>
              </a:r>
              <a:endParaRPr sz="2000">
                <a:latin typeface="TimesNewRomanPS-BoldItalicMT"/>
                <a:cs typeface="TimesNewRomanPS-BoldItalicMT"/>
              </a:endParaRPr>
            </a:p>
            <a:p>
              <a:pPr marL="12700">
                <a:lnSpc>
                  <a:spcPts val="2355"/>
                </a:lnSpc>
              </a:pPr>
              <a:r>
                <a:rPr sz="2000" b="1" spc="5" dirty="0">
                  <a:latin typeface="Times New Roman"/>
                  <a:cs typeface="Times New Roman"/>
                </a:rPr>
                <a:t>G</a:t>
              </a:r>
              <a:r>
                <a:rPr sz="1950" b="1" spc="7" baseline="-21367" dirty="0">
                  <a:latin typeface="Times New Roman"/>
                  <a:cs typeface="Times New Roman"/>
                </a:rPr>
                <a:t>1</a:t>
              </a:r>
              <a:endParaRPr sz="1950" baseline="-21367">
                <a:latin typeface="Times New Roman"/>
                <a:cs typeface="Times New Roman"/>
              </a:endParaRPr>
            </a:p>
            <a:p>
              <a:pPr marL="225425">
                <a:lnSpc>
                  <a:spcPct val="100000"/>
                </a:lnSpc>
                <a:spcBef>
                  <a:spcPts val="950"/>
                </a:spcBef>
              </a:pPr>
              <a:r>
                <a:rPr sz="2000" b="1" i="1" spc="-5" dirty="0">
                  <a:latin typeface="TimesNewRomanPS-BoldItalicMT"/>
                  <a:cs typeface="TimesNewRomanPS-BoldItalicMT"/>
                </a:rPr>
                <a:t>E/1</a:t>
              </a:r>
              <a:endParaRPr sz="2000">
                <a:latin typeface="TimesNewRomanPS-BoldItalicMT"/>
                <a:cs typeface="TimesNewRomanPS-BoldItalicMT"/>
              </a:endParaRPr>
            </a:p>
          </p:txBody>
        </p:sp>
        <p:sp>
          <p:nvSpPr>
            <p:cNvPr id="66" name="object 37">
              <a:extLst>
                <a:ext uri="{FF2B5EF4-FFF2-40B4-BE49-F238E27FC236}">
                  <a16:creationId xmlns:a16="http://schemas.microsoft.com/office/drawing/2014/main" id="{77FDB7D3-832C-E301-4BA5-B3536FC85307}"/>
                </a:ext>
              </a:extLst>
            </p:cNvPr>
            <p:cNvSpPr txBox="1"/>
            <p:nvPr/>
          </p:nvSpPr>
          <p:spPr>
            <a:xfrm>
              <a:off x="1834388" y="5676367"/>
              <a:ext cx="391795" cy="6121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285"/>
                </a:lnSpc>
              </a:pPr>
              <a:r>
                <a:rPr sz="2000" b="1" i="1" spc="-5" dirty="0">
                  <a:latin typeface="TimesNewRomanPS-BoldItalicMT"/>
                  <a:cs typeface="TimesNewRomanPS-BoldItalicMT"/>
                </a:rPr>
                <a:t>B/0</a:t>
              </a:r>
              <a:endParaRPr sz="2000">
                <a:latin typeface="TimesNewRomanPS-BoldItalicMT"/>
                <a:cs typeface="TimesNewRomanPS-BoldItalicMT"/>
              </a:endParaRPr>
            </a:p>
            <a:p>
              <a:pPr marL="12700">
                <a:lnSpc>
                  <a:spcPct val="100000"/>
                </a:lnSpc>
              </a:pPr>
              <a:r>
                <a:rPr sz="2000" b="1" i="1" spc="-5" dirty="0">
                  <a:latin typeface="TimesNewRomanPS-BoldItalicMT"/>
                  <a:cs typeface="TimesNewRomanPS-BoldItalicMT"/>
                </a:rPr>
                <a:t>C/0</a:t>
              </a:r>
              <a:endParaRPr sz="2000">
                <a:latin typeface="TimesNewRomanPS-BoldItalicMT"/>
                <a:cs typeface="TimesNewRomanPS-BoldItalicMT"/>
              </a:endParaRPr>
            </a:p>
          </p:txBody>
        </p:sp>
        <p:sp>
          <p:nvSpPr>
            <p:cNvPr id="67" name="object 38">
              <a:extLst>
                <a:ext uri="{FF2B5EF4-FFF2-40B4-BE49-F238E27FC236}">
                  <a16:creationId xmlns:a16="http://schemas.microsoft.com/office/drawing/2014/main" id="{D049642C-742B-EE88-4492-6936108ED006}"/>
                </a:ext>
              </a:extLst>
            </p:cNvPr>
            <p:cNvSpPr txBox="1"/>
            <p:nvPr/>
          </p:nvSpPr>
          <p:spPr>
            <a:xfrm>
              <a:off x="3608070" y="5977543"/>
              <a:ext cx="195580" cy="3079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290"/>
                </a:lnSpc>
              </a:pPr>
              <a:r>
                <a:rPr sz="2000" b="1" i="1" dirty="0">
                  <a:latin typeface="TimesNewRomanPS-BoldItalicMT"/>
                  <a:cs typeface="TimesNewRomanPS-BoldItalicMT"/>
                </a:rPr>
                <a:t>F</a:t>
              </a:r>
              <a:endParaRPr sz="2000">
                <a:latin typeface="TimesNewRomanPS-BoldItalicMT"/>
                <a:cs typeface="TimesNewRomanPS-BoldItalicMT"/>
              </a:endParaRPr>
            </a:p>
          </p:txBody>
        </p:sp>
        <p:sp>
          <p:nvSpPr>
            <p:cNvPr id="68" name="object 39">
              <a:extLst>
                <a:ext uri="{FF2B5EF4-FFF2-40B4-BE49-F238E27FC236}">
                  <a16:creationId xmlns:a16="http://schemas.microsoft.com/office/drawing/2014/main" id="{8D0BC242-AAC9-DBBF-BB5E-7434CD326324}"/>
                </a:ext>
              </a:extLst>
            </p:cNvPr>
            <p:cNvSpPr txBox="1"/>
            <p:nvPr/>
          </p:nvSpPr>
          <p:spPr>
            <a:xfrm>
              <a:off x="4120641" y="6180811"/>
              <a:ext cx="308610" cy="35179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2285"/>
                </a:lnSpc>
              </a:pPr>
              <a:r>
                <a:rPr sz="2000" b="1" dirty="0">
                  <a:latin typeface="Times New Roman"/>
                  <a:cs typeface="Times New Roman"/>
                </a:rPr>
                <a:t>G</a:t>
              </a:r>
              <a:r>
                <a:rPr sz="1950" b="1" spc="22" baseline="-21367" dirty="0">
                  <a:latin typeface="Times New Roman"/>
                  <a:cs typeface="Times New Roman"/>
                </a:rPr>
                <a:t>3</a:t>
              </a:r>
              <a:endParaRPr sz="1950" baseline="-21367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Slide Number Placeholder 4">
            <a:extLst>
              <a:ext uri="{FF2B5EF4-FFF2-40B4-BE49-F238E27FC236}">
                <a16:creationId xmlns:a16="http://schemas.microsoft.com/office/drawing/2014/main" id="{75E6AA88-3043-596C-972D-33A451C8F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304800" y="6211597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l"/>
            <a:fld id="{377A525C-9DEC-9442-A280-8C58730164AF}" type="slidenum">
              <a:rPr lang="en-US" altLang="en-US" sz="2800" b="1" smtClean="0">
                <a:latin typeface="Arial" panose="020B0604020202020204" pitchFamily="34" charset="0"/>
                <a:cs typeface="Arial" panose="020B0604020202020204" pitchFamily="34" charset="0"/>
              </a:rPr>
              <a:pPr algn="l"/>
              <a:t>15</a:t>
            </a:fld>
            <a:endParaRPr lang="en-US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4B536C4E-F7B8-BD25-F274-F3D7101DB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Equivalence Example</a:t>
            </a:r>
          </a:p>
        </p:txBody>
      </p:sp>
      <p:sp>
        <p:nvSpPr>
          <p:cNvPr id="24581" name="AutoShape 3">
            <a:extLst>
              <a:ext uri="{FF2B5EF4-FFF2-40B4-BE49-F238E27FC236}">
                <a16:creationId xmlns:a16="http://schemas.microsoft.com/office/drawing/2014/main" id="{1EC7C01E-057E-82B9-101D-146E92552DC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089525" y="4222750"/>
            <a:ext cx="974725" cy="776288"/>
          </a:xfrm>
          <a:prstGeom prst="moon">
            <a:avLst>
              <a:gd name="adj" fmla="val 82736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582" name="AutoShape 4">
            <a:extLst>
              <a:ext uri="{FF2B5EF4-FFF2-40B4-BE49-F238E27FC236}">
                <a16:creationId xmlns:a16="http://schemas.microsoft.com/office/drawing/2014/main" id="{02F8EA32-5D60-90A7-25DA-7594E45AC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163" y="1798638"/>
            <a:ext cx="960437" cy="838200"/>
          </a:xfrm>
          <a:prstGeom prst="flowChartDelay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583" name="AutoShape 5">
            <a:extLst>
              <a:ext uri="{FF2B5EF4-FFF2-40B4-BE49-F238E27FC236}">
                <a16:creationId xmlns:a16="http://schemas.microsoft.com/office/drawing/2014/main" id="{9D45428C-72C8-7FB3-383B-DFD0A27CC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0" y="3448050"/>
            <a:ext cx="960438" cy="838200"/>
          </a:xfrm>
          <a:prstGeom prst="flowChartDelay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584" name="AutoShape 6">
            <a:extLst>
              <a:ext uri="{FF2B5EF4-FFF2-40B4-BE49-F238E27FC236}">
                <a16:creationId xmlns:a16="http://schemas.microsoft.com/office/drawing/2014/main" id="{96EB3B23-6E93-CC18-C1E0-838FC67B6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625" y="5021263"/>
            <a:ext cx="960438" cy="838200"/>
          </a:xfrm>
          <a:prstGeom prst="flowChartDelay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585" name="AutoShape 7">
            <a:extLst>
              <a:ext uri="{FF2B5EF4-FFF2-40B4-BE49-F238E27FC236}">
                <a16:creationId xmlns:a16="http://schemas.microsoft.com/office/drawing/2014/main" id="{D0CE15E5-BE5C-6676-95F7-5909DB607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0238" y="3400425"/>
            <a:ext cx="960437" cy="838200"/>
          </a:xfrm>
          <a:prstGeom prst="flowChartDelay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586" name="Text Box 8">
            <a:extLst>
              <a:ext uri="{FF2B5EF4-FFF2-40B4-BE49-F238E27FC236}">
                <a16:creationId xmlns:a16="http://schemas.microsoft.com/office/drawing/2014/main" id="{96667896-4B73-41CB-158D-E00F8DC67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0413" y="1887538"/>
            <a:ext cx="10398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latin typeface="Arial Black" panose="020B0604020202020204" pitchFamily="34" charset="0"/>
              </a:rPr>
              <a:t>sa0 </a:t>
            </a:r>
            <a:r>
              <a:rPr lang="en-US" altLang="en-US" sz="1600">
                <a:solidFill>
                  <a:schemeClr val="accent1"/>
                </a:solidFill>
                <a:latin typeface="Arial Black" panose="020B0604020202020204" pitchFamily="34" charset="0"/>
              </a:rPr>
              <a:t>sa1</a:t>
            </a:r>
            <a:endParaRPr lang="en-US" altLang="en-US" sz="1600">
              <a:latin typeface="Arial Black" panose="020B0604020202020204" pitchFamily="34" charset="0"/>
            </a:endParaRPr>
          </a:p>
        </p:txBody>
      </p:sp>
      <p:sp>
        <p:nvSpPr>
          <p:cNvPr id="24587" name="Line 9">
            <a:extLst>
              <a:ext uri="{FF2B5EF4-FFF2-40B4-BE49-F238E27FC236}">
                <a16:creationId xmlns:a16="http://schemas.microsoft.com/office/drawing/2014/main" id="{85F17F1A-1C58-0B49-94F1-EE6B538E35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025" y="3044825"/>
            <a:ext cx="10366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Line 10">
            <a:extLst>
              <a:ext uri="{FF2B5EF4-FFF2-40B4-BE49-F238E27FC236}">
                <a16:creationId xmlns:a16="http://schemas.microsoft.com/office/drawing/2014/main" id="{CAE3CB11-9AEF-2F54-0F4A-C3E159C648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6200" y="2495550"/>
            <a:ext cx="974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Line 11">
            <a:extLst>
              <a:ext uri="{FF2B5EF4-FFF2-40B4-BE49-F238E27FC236}">
                <a16:creationId xmlns:a16="http://schemas.microsoft.com/office/drawing/2014/main" id="{9F2F6DC5-896C-6264-E460-E586BCF9B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6200" y="3608388"/>
            <a:ext cx="979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Line 12">
            <a:extLst>
              <a:ext uri="{FF2B5EF4-FFF2-40B4-BE49-F238E27FC236}">
                <a16:creationId xmlns:a16="http://schemas.microsoft.com/office/drawing/2014/main" id="{F51868A1-2056-F5B7-5A50-E229CE2C63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0488" y="4137025"/>
            <a:ext cx="9620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13">
            <a:extLst>
              <a:ext uri="{FF2B5EF4-FFF2-40B4-BE49-F238E27FC236}">
                <a16:creationId xmlns:a16="http://schemas.microsoft.com/office/drawing/2014/main" id="{F20E107B-BD12-00D1-A49B-DF531CB1B2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0488" y="5187950"/>
            <a:ext cx="974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2" name="Line 14">
            <a:extLst>
              <a:ext uri="{FF2B5EF4-FFF2-40B4-BE49-F238E27FC236}">
                <a16:creationId xmlns:a16="http://schemas.microsoft.com/office/drawing/2014/main" id="{FE8E4AEA-DB4A-7C74-61FA-6E6486201B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0488" y="2482850"/>
            <a:ext cx="0" cy="1139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Line 15">
            <a:extLst>
              <a:ext uri="{FF2B5EF4-FFF2-40B4-BE49-F238E27FC236}">
                <a16:creationId xmlns:a16="http://schemas.microsoft.com/office/drawing/2014/main" id="{E60E4751-E9C2-D90D-17BC-1A80871B3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4129088"/>
            <a:ext cx="0" cy="10715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4" name="Line 16">
            <a:extLst>
              <a:ext uri="{FF2B5EF4-FFF2-40B4-BE49-F238E27FC236}">
                <a16:creationId xmlns:a16="http://schemas.microsoft.com/office/drawing/2014/main" id="{33EF08C8-9AE9-66C4-980B-736CD7E16F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725" y="4659313"/>
            <a:ext cx="10366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5" name="Line 17">
            <a:extLst>
              <a:ext uri="{FF2B5EF4-FFF2-40B4-BE49-F238E27FC236}">
                <a16:creationId xmlns:a16="http://schemas.microsoft.com/office/drawing/2014/main" id="{A3E18498-CA27-F67E-A5AE-21A9F61E8B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925" y="1936750"/>
            <a:ext cx="20272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6" name="Line 18">
            <a:extLst>
              <a:ext uri="{FF2B5EF4-FFF2-40B4-BE49-F238E27FC236}">
                <a16:creationId xmlns:a16="http://schemas.microsoft.com/office/drawing/2014/main" id="{17F15788-6861-337E-0A4D-B7D46BDD10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1150" y="5732463"/>
            <a:ext cx="20272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7" name="Line 19">
            <a:extLst>
              <a:ext uri="{FF2B5EF4-FFF2-40B4-BE49-F238E27FC236}">
                <a16:creationId xmlns:a16="http://schemas.microsoft.com/office/drawing/2014/main" id="{C888640C-055B-471D-F473-4717AE348A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90888" y="5438775"/>
            <a:ext cx="1028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8" name="Line 20">
            <a:extLst>
              <a:ext uri="{FF2B5EF4-FFF2-40B4-BE49-F238E27FC236}">
                <a16:creationId xmlns:a16="http://schemas.microsoft.com/office/drawing/2014/main" id="{9C6D8DFA-F403-B8E2-40E9-D89EB3A6EC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5488" y="3860800"/>
            <a:ext cx="1036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9" name="Line 21">
            <a:extLst>
              <a:ext uri="{FF2B5EF4-FFF2-40B4-BE49-F238E27FC236}">
                <a16:creationId xmlns:a16="http://schemas.microsoft.com/office/drawing/2014/main" id="{AE406C19-B924-A9D3-C022-09C29DE39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211388"/>
            <a:ext cx="10366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0" name="Line 22">
            <a:extLst>
              <a:ext uri="{FF2B5EF4-FFF2-40B4-BE49-F238E27FC236}">
                <a16:creationId xmlns:a16="http://schemas.microsoft.com/office/drawing/2014/main" id="{A379EC3C-AB47-4094-4318-379A9873464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0675" y="3817938"/>
            <a:ext cx="10366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1" name="Line 23">
            <a:extLst>
              <a:ext uri="{FF2B5EF4-FFF2-40B4-BE49-F238E27FC236}">
                <a16:creationId xmlns:a16="http://schemas.microsoft.com/office/drawing/2014/main" id="{97F9EA3A-B928-5F03-7960-CDBCDA1CA7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2600" y="4873625"/>
            <a:ext cx="889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2" name="Line 24">
            <a:extLst>
              <a:ext uri="{FF2B5EF4-FFF2-40B4-BE49-F238E27FC236}">
                <a16:creationId xmlns:a16="http://schemas.microsoft.com/office/drawing/2014/main" id="{8A74C2FF-8A3C-2A98-D842-8E567F03C2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1013" y="4359275"/>
            <a:ext cx="901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3" name="Line 25">
            <a:extLst>
              <a:ext uri="{FF2B5EF4-FFF2-40B4-BE49-F238E27FC236}">
                <a16:creationId xmlns:a16="http://schemas.microsoft.com/office/drawing/2014/main" id="{E89DF09A-EE17-F5C9-4563-0B6AB31469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8950" y="3306763"/>
            <a:ext cx="906463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4" name="Line 26">
            <a:extLst>
              <a:ext uri="{FF2B5EF4-FFF2-40B4-BE49-F238E27FC236}">
                <a16:creationId xmlns:a16="http://schemas.microsoft.com/office/drawing/2014/main" id="{9349CA58-F0E2-62BF-FE32-39A3B7781E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0538" y="3294063"/>
            <a:ext cx="0" cy="1076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5" name="AutoShape 27">
            <a:extLst>
              <a:ext uri="{FF2B5EF4-FFF2-40B4-BE49-F238E27FC236}">
                <a16:creationId xmlns:a16="http://schemas.microsoft.com/office/drawing/2014/main" id="{B734AF08-50D1-81C4-3D50-EB79268A879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103813" y="2668588"/>
            <a:ext cx="974725" cy="776287"/>
          </a:xfrm>
          <a:prstGeom prst="moon">
            <a:avLst>
              <a:gd name="adj" fmla="val 82736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606" name="Line 28">
            <a:extLst>
              <a:ext uri="{FF2B5EF4-FFF2-40B4-BE49-F238E27FC236}">
                <a16:creationId xmlns:a16="http://schemas.microsoft.com/office/drawing/2014/main" id="{21DB10FC-0EF8-F2C0-A751-B969F42B06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95775" y="2803525"/>
            <a:ext cx="903288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7" name="Line 29">
            <a:extLst>
              <a:ext uri="{FF2B5EF4-FFF2-40B4-BE49-F238E27FC236}">
                <a16:creationId xmlns:a16="http://schemas.microsoft.com/office/drawing/2014/main" id="{056A082E-BD27-8ED6-BD9B-DF5C602B9D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4250" y="4602163"/>
            <a:ext cx="6778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8" name="Line 30">
            <a:extLst>
              <a:ext uri="{FF2B5EF4-FFF2-40B4-BE49-F238E27FC236}">
                <a16:creationId xmlns:a16="http://schemas.microsoft.com/office/drawing/2014/main" id="{1F0DB949-E99C-E569-E505-6B330FEFCD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0125" y="3048000"/>
            <a:ext cx="660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9" name="Line 31">
            <a:extLst>
              <a:ext uri="{FF2B5EF4-FFF2-40B4-BE49-F238E27FC236}">
                <a16:creationId xmlns:a16="http://schemas.microsoft.com/office/drawing/2014/main" id="{37BC7311-DA5F-E36B-1359-4FDD2A087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7363" y="2225675"/>
            <a:ext cx="0" cy="593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0" name="Line 32">
            <a:extLst>
              <a:ext uri="{FF2B5EF4-FFF2-40B4-BE49-F238E27FC236}">
                <a16:creationId xmlns:a16="http://schemas.microsoft.com/office/drawing/2014/main" id="{B1F58066-3419-4771-7871-3CFE7CC517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05300" y="4864100"/>
            <a:ext cx="0" cy="5857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1" name="Line 33">
            <a:extLst>
              <a:ext uri="{FF2B5EF4-FFF2-40B4-BE49-F238E27FC236}">
                <a16:creationId xmlns:a16="http://schemas.microsoft.com/office/drawing/2014/main" id="{E92EF4EA-B7A8-C1FD-72A1-E593ED146E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6238" y="4073525"/>
            <a:ext cx="0" cy="5445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2" name="Line 34">
            <a:extLst>
              <a:ext uri="{FF2B5EF4-FFF2-40B4-BE49-F238E27FC236}">
                <a16:creationId xmlns:a16="http://schemas.microsoft.com/office/drawing/2014/main" id="{E097FCE6-4761-80BE-0123-7EED7BB21E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6238" y="3035300"/>
            <a:ext cx="0" cy="522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3" name="Line 35">
            <a:extLst>
              <a:ext uri="{FF2B5EF4-FFF2-40B4-BE49-F238E27FC236}">
                <a16:creationId xmlns:a16="http://schemas.microsoft.com/office/drawing/2014/main" id="{6A163651-A483-B31E-B0E9-C4C6C490B1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5125" y="3541713"/>
            <a:ext cx="263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4" name="Line 36">
            <a:extLst>
              <a:ext uri="{FF2B5EF4-FFF2-40B4-BE49-F238E27FC236}">
                <a16:creationId xmlns:a16="http://schemas.microsoft.com/office/drawing/2014/main" id="{CA8F64C1-0FD4-2A51-6CD4-580116F10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3538" y="4083050"/>
            <a:ext cx="2651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5" name="Rectangle 37">
            <a:extLst>
              <a:ext uri="{FF2B5EF4-FFF2-40B4-BE49-F238E27FC236}">
                <a16:creationId xmlns:a16="http://schemas.microsoft.com/office/drawing/2014/main" id="{F3241A30-2616-0D14-518C-B2C4C928D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27188"/>
            <a:ext cx="1039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accent1"/>
                </a:solidFill>
                <a:latin typeface="Arial Black" panose="020B0604020202020204" pitchFamily="34" charset="0"/>
              </a:rPr>
              <a:t>sa0</a:t>
            </a:r>
            <a:r>
              <a:rPr lang="en-US" altLang="en-US" sz="1600">
                <a:latin typeface="Arial Black" panose="020B0604020202020204" pitchFamily="34" charset="0"/>
              </a:rPr>
              <a:t> sa1</a:t>
            </a:r>
          </a:p>
        </p:txBody>
      </p:sp>
      <p:sp>
        <p:nvSpPr>
          <p:cNvPr id="24616" name="Rectangle 38">
            <a:extLst>
              <a:ext uri="{FF2B5EF4-FFF2-40B4-BE49-F238E27FC236}">
                <a16:creationId xmlns:a16="http://schemas.microsoft.com/office/drawing/2014/main" id="{7F9BD58C-777C-85E0-671A-8A507F017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2724150"/>
            <a:ext cx="10398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latin typeface="Arial Black" panose="020B0604020202020204" pitchFamily="34" charset="0"/>
              </a:rPr>
              <a:t>sa0 sa1</a:t>
            </a:r>
          </a:p>
        </p:txBody>
      </p:sp>
      <p:sp>
        <p:nvSpPr>
          <p:cNvPr id="24617" name="Rectangle 39">
            <a:extLst>
              <a:ext uri="{FF2B5EF4-FFF2-40B4-BE49-F238E27FC236}">
                <a16:creationId xmlns:a16="http://schemas.microsoft.com/office/drawing/2014/main" id="{82119C9E-B6BE-7F7D-1FF4-D41D81B73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350" y="2179638"/>
            <a:ext cx="1039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accent1"/>
                </a:solidFill>
                <a:latin typeface="Arial Black" panose="020B0604020202020204" pitchFamily="34" charset="0"/>
              </a:rPr>
              <a:t>sa0</a:t>
            </a:r>
            <a:r>
              <a:rPr lang="en-US" altLang="en-US" sz="1600">
                <a:latin typeface="Arial Black" panose="020B0604020202020204" pitchFamily="34" charset="0"/>
              </a:rPr>
              <a:t> sa1</a:t>
            </a:r>
          </a:p>
        </p:txBody>
      </p:sp>
      <p:sp>
        <p:nvSpPr>
          <p:cNvPr id="24618" name="Rectangle 40">
            <a:extLst>
              <a:ext uri="{FF2B5EF4-FFF2-40B4-BE49-F238E27FC236}">
                <a16:creationId xmlns:a16="http://schemas.microsoft.com/office/drawing/2014/main" id="{0142EADD-DF33-DA3E-FBC5-0B0BC3E6F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3287713"/>
            <a:ext cx="10398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accent1"/>
                </a:solidFill>
                <a:latin typeface="Arial Black" panose="020B0604020202020204" pitchFamily="34" charset="0"/>
              </a:rPr>
              <a:t>sa0</a:t>
            </a:r>
            <a:r>
              <a:rPr lang="en-US" altLang="en-US" sz="1600">
                <a:latin typeface="Arial Black" panose="020B0604020202020204" pitchFamily="34" charset="0"/>
              </a:rPr>
              <a:t> sa1</a:t>
            </a:r>
          </a:p>
        </p:txBody>
      </p:sp>
      <p:sp>
        <p:nvSpPr>
          <p:cNvPr id="24619" name="Rectangle 41">
            <a:extLst>
              <a:ext uri="{FF2B5EF4-FFF2-40B4-BE49-F238E27FC236}">
                <a16:creationId xmlns:a16="http://schemas.microsoft.com/office/drawing/2014/main" id="{DB9048D4-B060-C3AD-8EAC-0FAD95387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413" y="3817938"/>
            <a:ext cx="10398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accent1"/>
                </a:solidFill>
                <a:latin typeface="Arial Black" panose="020B0604020202020204" pitchFamily="34" charset="0"/>
              </a:rPr>
              <a:t>sa0</a:t>
            </a:r>
            <a:r>
              <a:rPr lang="en-US" altLang="en-US" sz="1600">
                <a:latin typeface="Arial Black" panose="020B0604020202020204" pitchFamily="34" charset="0"/>
              </a:rPr>
              <a:t> sa1</a:t>
            </a:r>
          </a:p>
        </p:txBody>
      </p:sp>
      <p:sp>
        <p:nvSpPr>
          <p:cNvPr id="24620" name="Rectangle 42">
            <a:extLst>
              <a:ext uri="{FF2B5EF4-FFF2-40B4-BE49-F238E27FC236}">
                <a16:creationId xmlns:a16="http://schemas.microsoft.com/office/drawing/2014/main" id="{51485B10-8B2C-99AB-D4BF-065AD85A0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4335463"/>
            <a:ext cx="1039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latin typeface="Arial Black" panose="020B0604020202020204" pitchFamily="34" charset="0"/>
              </a:rPr>
              <a:t>sa0 sa1</a:t>
            </a:r>
          </a:p>
        </p:txBody>
      </p:sp>
      <p:sp>
        <p:nvSpPr>
          <p:cNvPr id="24621" name="Rectangle 43">
            <a:extLst>
              <a:ext uri="{FF2B5EF4-FFF2-40B4-BE49-F238E27FC236}">
                <a16:creationId xmlns:a16="http://schemas.microsoft.com/office/drawing/2014/main" id="{A09971EA-A3C0-D3D6-7233-A4807B75C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438" y="4873625"/>
            <a:ext cx="10398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accent1"/>
                </a:solidFill>
                <a:latin typeface="Arial Black" panose="020B0604020202020204" pitchFamily="34" charset="0"/>
              </a:rPr>
              <a:t>sa0</a:t>
            </a:r>
            <a:r>
              <a:rPr lang="en-US" altLang="en-US" sz="1600">
                <a:latin typeface="Arial Black" panose="020B0604020202020204" pitchFamily="34" charset="0"/>
              </a:rPr>
              <a:t> sa1</a:t>
            </a:r>
          </a:p>
        </p:txBody>
      </p:sp>
      <p:sp>
        <p:nvSpPr>
          <p:cNvPr id="24622" name="Rectangle 44">
            <a:extLst>
              <a:ext uri="{FF2B5EF4-FFF2-40B4-BE49-F238E27FC236}">
                <a16:creationId xmlns:a16="http://schemas.microsoft.com/office/drawing/2014/main" id="{94E3C6C8-010B-9EB7-B0B7-E1C6057F7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5421313"/>
            <a:ext cx="1039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accent1"/>
                </a:solidFill>
                <a:latin typeface="Arial Black" panose="020B0604020202020204" pitchFamily="34" charset="0"/>
              </a:rPr>
              <a:t>sa0</a:t>
            </a:r>
            <a:r>
              <a:rPr lang="en-US" altLang="en-US" sz="1600">
                <a:latin typeface="Arial Black" panose="020B0604020202020204" pitchFamily="34" charset="0"/>
              </a:rPr>
              <a:t> sa1</a:t>
            </a:r>
          </a:p>
        </p:txBody>
      </p:sp>
      <p:sp>
        <p:nvSpPr>
          <p:cNvPr id="24623" name="Rectangle 45">
            <a:extLst>
              <a:ext uri="{FF2B5EF4-FFF2-40B4-BE49-F238E27FC236}">
                <a16:creationId xmlns:a16="http://schemas.microsoft.com/office/drawing/2014/main" id="{EF5C17F9-F6A8-993E-4703-7A57B81C9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913" y="3541713"/>
            <a:ext cx="10398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latin typeface="Arial Black" panose="020B0604020202020204" pitchFamily="34" charset="0"/>
              </a:rPr>
              <a:t>sa0 sa1</a:t>
            </a:r>
          </a:p>
        </p:txBody>
      </p:sp>
      <p:sp>
        <p:nvSpPr>
          <p:cNvPr id="24624" name="Rectangle 46">
            <a:extLst>
              <a:ext uri="{FF2B5EF4-FFF2-40B4-BE49-F238E27FC236}">
                <a16:creationId xmlns:a16="http://schemas.microsoft.com/office/drawing/2014/main" id="{E5B76951-141A-1A3A-C3E9-4C5615A23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1363" y="5127625"/>
            <a:ext cx="10398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latin typeface="Arial Black" panose="020B0604020202020204" pitchFamily="34" charset="0"/>
              </a:rPr>
              <a:t>sa0 </a:t>
            </a:r>
            <a:r>
              <a:rPr lang="en-US" altLang="en-US" sz="1600">
                <a:solidFill>
                  <a:schemeClr val="accent1"/>
                </a:solidFill>
                <a:latin typeface="Arial Black" panose="020B0604020202020204" pitchFamily="34" charset="0"/>
              </a:rPr>
              <a:t>sa1</a:t>
            </a:r>
            <a:endParaRPr lang="en-US" altLang="en-US" sz="1600">
              <a:latin typeface="Arial Black" panose="020B0604020202020204" pitchFamily="34" charset="0"/>
            </a:endParaRPr>
          </a:p>
        </p:txBody>
      </p:sp>
      <p:sp>
        <p:nvSpPr>
          <p:cNvPr id="24625" name="Rectangle 47">
            <a:extLst>
              <a:ext uri="{FF2B5EF4-FFF2-40B4-BE49-F238E27FC236}">
                <a16:creationId xmlns:a16="http://schemas.microsoft.com/office/drawing/2014/main" id="{CD09EAEF-03C9-4E06-38C1-15A80A3C7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978150"/>
            <a:ext cx="1039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latin typeface="Arial Black" panose="020B0604020202020204" pitchFamily="34" charset="0"/>
              </a:rPr>
              <a:t>sa0 </a:t>
            </a:r>
            <a:r>
              <a:rPr lang="en-US" altLang="en-US" sz="1600">
                <a:solidFill>
                  <a:schemeClr val="accent1"/>
                </a:solidFill>
                <a:latin typeface="Arial Black" panose="020B0604020202020204" pitchFamily="34" charset="0"/>
              </a:rPr>
              <a:t>sa1</a:t>
            </a:r>
            <a:endParaRPr lang="en-US" altLang="en-US" sz="1600">
              <a:latin typeface="Arial Black" panose="020B0604020202020204" pitchFamily="34" charset="0"/>
            </a:endParaRPr>
          </a:p>
        </p:txBody>
      </p:sp>
      <p:sp>
        <p:nvSpPr>
          <p:cNvPr id="24626" name="Rectangle 48">
            <a:extLst>
              <a:ext uri="{FF2B5EF4-FFF2-40B4-BE49-F238E27FC236}">
                <a16:creationId xmlns:a16="http://schemas.microsoft.com/office/drawing/2014/main" id="{EFF80756-0227-1CC7-5109-674C56563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4333875"/>
            <a:ext cx="1039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latin typeface="Arial Black" panose="020B0604020202020204" pitchFamily="34" charset="0"/>
              </a:rPr>
              <a:t>sa0 </a:t>
            </a:r>
            <a:r>
              <a:rPr lang="en-US" altLang="en-US" sz="1600">
                <a:solidFill>
                  <a:schemeClr val="accent1"/>
                </a:solidFill>
                <a:latin typeface="Arial Black" panose="020B0604020202020204" pitchFamily="34" charset="0"/>
              </a:rPr>
              <a:t>sa1</a:t>
            </a:r>
            <a:endParaRPr lang="en-US" altLang="en-US" sz="1600">
              <a:latin typeface="Arial Black" panose="020B0604020202020204" pitchFamily="34" charset="0"/>
            </a:endParaRPr>
          </a:p>
        </p:txBody>
      </p:sp>
      <p:sp>
        <p:nvSpPr>
          <p:cNvPr id="24627" name="Rectangle 49">
            <a:extLst>
              <a:ext uri="{FF2B5EF4-FFF2-40B4-BE49-F238E27FC236}">
                <a16:creationId xmlns:a16="http://schemas.microsoft.com/office/drawing/2014/main" id="{F55FF3EA-F2B1-69E1-1F25-EB28624BF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2719388"/>
            <a:ext cx="10398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accent1"/>
                </a:solidFill>
                <a:latin typeface="Arial Black" panose="020B0604020202020204" pitchFamily="34" charset="0"/>
              </a:rPr>
              <a:t>sa0</a:t>
            </a:r>
            <a:r>
              <a:rPr lang="en-US" altLang="en-US" sz="1600">
                <a:latin typeface="Arial Black" panose="020B0604020202020204" pitchFamily="34" charset="0"/>
              </a:rPr>
              <a:t> sa1</a:t>
            </a:r>
          </a:p>
        </p:txBody>
      </p:sp>
      <p:sp>
        <p:nvSpPr>
          <p:cNvPr id="24628" name="Rectangle 50">
            <a:extLst>
              <a:ext uri="{FF2B5EF4-FFF2-40B4-BE49-F238E27FC236}">
                <a16:creationId xmlns:a16="http://schemas.microsoft.com/office/drawing/2014/main" id="{1A5E1E79-EC16-C33C-24A8-A8F811185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1225" y="4581525"/>
            <a:ext cx="1039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accent1"/>
                </a:solidFill>
                <a:latin typeface="Arial Black" panose="020B0604020202020204" pitchFamily="34" charset="0"/>
              </a:rPr>
              <a:t>sa0</a:t>
            </a:r>
            <a:r>
              <a:rPr lang="en-US" altLang="en-US" sz="1600">
                <a:latin typeface="Arial Black" panose="020B0604020202020204" pitchFamily="34" charset="0"/>
              </a:rPr>
              <a:t> sa1</a:t>
            </a:r>
          </a:p>
        </p:txBody>
      </p:sp>
      <p:sp>
        <p:nvSpPr>
          <p:cNvPr id="24629" name="Rectangle 51">
            <a:extLst>
              <a:ext uri="{FF2B5EF4-FFF2-40B4-BE49-F238E27FC236}">
                <a16:creationId xmlns:a16="http://schemas.microsoft.com/office/drawing/2014/main" id="{C714CD1A-9B55-8138-0DE8-9196C1614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3494088"/>
            <a:ext cx="10398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latin typeface="Arial Black" panose="020B0604020202020204" pitchFamily="34" charset="0"/>
              </a:rPr>
              <a:t>sa0 sa1</a:t>
            </a:r>
          </a:p>
        </p:txBody>
      </p:sp>
      <p:sp>
        <p:nvSpPr>
          <p:cNvPr id="24630" name="Oval 52">
            <a:extLst>
              <a:ext uri="{FF2B5EF4-FFF2-40B4-BE49-F238E27FC236}">
                <a16:creationId xmlns:a16="http://schemas.microsoft.com/office/drawing/2014/main" id="{6C1AC7F3-55C8-E0FF-4613-5A8E5ABF4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325" y="3810000"/>
            <a:ext cx="96838" cy="10001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631" name="Oval 53">
            <a:extLst>
              <a:ext uri="{FF2B5EF4-FFF2-40B4-BE49-F238E27FC236}">
                <a16:creationId xmlns:a16="http://schemas.microsoft.com/office/drawing/2014/main" id="{E828AB97-5D15-1524-4A42-0EDEA00AE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925" y="2994025"/>
            <a:ext cx="96838" cy="10001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632" name="Oval 54">
            <a:extLst>
              <a:ext uri="{FF2B5EF4-FFF2-40B4-BE49-F238E27FC236}">
                <a16:creationId xmlns:a16="http://schemas.microsoft.com/office/drawing/2014/main" id="{2D5E3BA2-1ED4-61A4-83EA-79532D362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00" y="4608513"/>
            <a:ext cx="96838" cy="10001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633" name="Arc 55">
            <a:extLst>
              <a:ext uri="{FF2B5EF4-FFF2-40B4-BE49-F238E27FC236}">
                <a16:creationId xmlns:a16="http://schemas.microsoft.com/office/drawing/2014/main" id="{7B49F41F-BECA-4153-0E4A-6F0C69603571}"/>
              </a:ext>
            </a:extLst>
          </p:cNvPr>
          <p:cNvSpPr>
            <a:spLocks/>
          </p:cNvSpPr>
          <p:nvPr/>
        </p:nvSpPr>
        <p:spPr bwMode="auto">
          <a:xfrm flipH="1">
            <a:off x="4878388" y="1995488"/>
            <a:ext cx="1792287" cy="1062037"/>
          </a:xfrm>
          <a:custGeom>
            <a:avLst/>
            <a:gdLst>
              <a:gd name="T0" fmla="*/ 0 w 43000"/>
              <a:gd name="T1" fmla="*/ 1369949941 h 25368"/>
              <a:gd name="T2" fmla="*/ 2147483647 w 43000"/>
              <a:gd name="T3" fmla="*/ 1861428428 h 25368"/>
              <a:gd name="T4" fmla="*/ 1549639120 w 43000"/>
              <a:gd name="T5" fmla="*/ 1584943876 h 25368"/>
              <a:gd name="T6" fmla="*/ 0 60000 65536"/>
              <a:gd name="T7" fmla="*/ 0 60000 65536"/>
              <a:gd name="T8" fmla="*/ 0 60000 65536"/>
              <a:gd name="T9" fmla="*/ 0 w 43000"/>
              <a:gd name="T10" fmla="*/ 0 h 25368"/>
              <a:gd name="T11" fmla="*/ 43000 w 43000"/>
              <a:gd name="T12" fmla="*/ 25368 h 253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000" h="25368" fill="none" extrusionOk="0">
                <a:moveTo>
                  <a:pt x="-1" y="18669"/>
                </a:moveTo>
                <a:cubicBezTo>
                  <a:pt x="1464" y="7972"/>
                  <a:pt x="10602" y="-1"/>
                  <a:pt x="21400" y="0"/>
                </a:cubicBezTo>
                <a:cubicBezTo>
                  <a:pt x="33329" y="0"/>
                  <a:pt x="43000" y="9670"/>
                  <a:pt x="43000" y="21600"/>
                </a:cubicBezTo>
                <a:cubicBezTo>
                  <a:pt x="43000" y="22863"/>
                  <a:pt x="42889" y="24124"/>
                  <a:pt x="42668" y="25367"/>
                </a:cubicBezTo>
              </a:path>
              <a:path w="43000" h="25368" stroke="0" extrusionOk="0">
                <a:moveTo>
                  <a:pt x="-1" y="18669"/>
                </a:moveTo>
                <a:cubicBezTo>
                  <a:pt x="1464" y="7972"/>
                  <a:pt x="10602" y="-1"/>
                  <a:pt x="21400" y="0"/>
                </a:cubicBezTo>
                <a:cubicBezTo>
                  <a:pt x="33329" y="0"/>
                  <a:pt x="43000" y="9670"/>
                  <a:pt x="43000" y="21600"/>
                </a:cubicBezTo>
                <a:cubicBezTo>
                  <a:pt x="43000" y="22863"/>
                  <a:pt x="42889" y="24124"/>
                  <a:pt x="42668" y="25367"/>
                </a:cubicBezTo>
                <a:lnTo>
                  <a:pt x="21400" y="21600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34" name="Arc 56">
            <a:extLst>
              <a:ext uri="{FF2B5EF4-FFF2-40B4-BE49-F238E27FC236}">
                <a16:creationId xmlns:a16="http://schemas.microsoft.com/office/drawing/2014/main" id="{91DEF465-F2A4-0523-9AC5-5BC870ACBBEB}"/>
              </a:ext>
            </a:extLst>
          </p:cNvPr>
          <p:cNvSpPr>
            <a:spLocks/>
          </p:cNvSpPr>
          <p:nvPr/>
        </p:nvSpPr>
        <p:spPr bwMode="auto">
          <a:xfrm>
            <a:off x="4287838" y="1560513"/>
            <a:ext cx="2590800" cy="1282700"/>
          </a:xfrm>
          <a:custGeom>
            <a:avLst/>
            <a:gdLst>
              <a:gd name="T0" fmla="*/ 0 w 35954"/>
              <a:gd name="T1" fmla="*/ 1150542053 h 21600"/>
              <a:gd name="T2" fmla="*/ 2147483647 w 35954"/>
              <a:gd name="T3" fmla="*/ 2147483647 h 21600"/>
              <a:gd name="T4" fmla="*/ 2147483647 w 35954"/>
              <a:gd name="T5" fmla="*/ 2147483647 h 21600"/>
              <a:gd name="T6" fmla="*/ 0 60000 65536"/>
              <a:gd name="T7" fmla="*/ 0 60000 65536"/>
              <a:gd name="T8" fmla="*/ 0 60000 65536"/>
              <a:gd name="T9" fmla="*/ 0 w 35954"/>
              <a:gd name="T10" fmla="*/ 0 h 21600"/>
              <a:gd name="T11" fmla="*/ 35954 w 3595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954" h="21600" fill="none" extrusionOk="0">
                <a:moveTo>
                  <a:pt x="0" y="5494"/>
                </a:moveTo>
                <a:cubicBezTo>
                  <a:pt x="3959" y="1955"/>
                  <a:pt x="9083" y="-1"/>
                  <a:pt x="14393" y="0"/>
                </a:cubicBezTo>
                <a:cubicBezTo>
                  <a:pt x="25819" y="0"/>
                  <a:pt x="35268" y="8898"/>
                  <a:pt x="35954" y="20303"/>
                </a:cubicBezTo>
              </a:path>
              <a:path w="35954" h="21600" stroke="0" extrusionOk="0">
                <a:moveTo>
                  <a:pt x="0" y="5494"/>
                </a:moveTo>
                <a:cubicBezTo>
                  <a:pt x="3959" y="1955"/>
                  <a:pt x="9083" y="-1"/>
                  <a:pt x="14393" y="0"/>
                </a:cubicBezTo>
                <a:cubicBezTo>
                  <a:pt x="25819" y="0"/>
                  <a:pt x="35268" y="8898"/>
                  <a:pt x="35954" y="20303"/>
                </a:cubicBezTo>
                <a:lnTo>
                  <a:pt x="14393" y="21600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35" name="Arc 57">
            <a:extLst>
              <a:ext uri="{FF2B5EF4-FFF2-40B4-BE49-F238E27FC236}">
                <a16:creationId xmlns:a16="http://schemas.microsoft.com/office/drawing/2014/main" id="{E289EE88-FCEB-DE07-0E8A-4B6797A8DD72}"/>
              </a:ext>
            </a:extLst>
          </p:cNvPr>
          <p:cNvSpPr>
            <a:spLocks/>
          </p:cNvSpPr>
          <p:nvPr/>
        </p:nvSpPr>
        <p:spPr bwMode="auto">
          <a:xfrm flipV="1">
            <a:off x="4835525" y="4684713"/>
            <a:ext cx="1766888" cy="795337"/>
          </a:xfrm>
          <a:custGeom>
            <a:avLst/>
            <a:gdLst>
              <a:gd name="T0" fmla="*/ 61607573 w 43161"/>
              <a:gd name="T1" fmla="*/ 652663602 h 27764"/>
              <a:gd name="T2" fmla="*/ 2147483647 w 43161"/>
              <a:gd name="T3" fmla="*/ 477297057 h 27764"/>
              <a:gd name="T4" fmla="*/ 1481856551 w 43161"/>
              <a:gd name="T5" fmla="*/ 507763119 h 27764"/>
              <a:gd name="T6" fmla="*/ 0 60000 65536"/>
              <a:gd name="T7" fmla="*/ 0 60000 65536"/>
              <a:gd name="T8" fmla="*/ 0 60000 65536"/>
              <a:gd name="T9" fmla="*/ 0 w 43161"/>
              <a:gd name="T10" fmla="*/ 0 h 27764"/>
              <a:gd name="T11" fmla="*/ 43161 w 43161"/>
              <a:gd name="T12" fmla="*/ 27764 h 277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61" h="27764" fill="none" extrusionOk="0">
                <a:moveTo>
                  <a:pt x="898" y="27763"/>
                </a:moveTo>
                <a:cubicBezTo>
                  <a:pt x="302" y="25763"/>
                  <a:pt x="0" y="2368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026" y="-1"/>
                  <a:pt x="42475" y="8898"/>
                  <a:pt x="43161" y="20303"/>
                </a:cubicBezTo>
              </a:path>
              <a:path w="43161" h="27764" stroke="0" extrusionOk="0">
                <a:moveTo>
                  <a:pt x="898" y="27763"/>
                </a:moveTo>
                <a:cubicBezTo>
                  <a:pt x="302" y="25763"/>
                  <a:pt x="0" y="2368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026" y="-1"/>
                  <a:pt x="42475" y="8898"/>
                  <a:pt x="43161" y="20303"/>
                </a:cubicBez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36" name="Arc 58">
            <a:extLst>
              <a:ext uri="{FF2B5EF4-FFF2-40B4-BE49-F238E27FC236}">
                <a16:creationId xmlns:a16="http://schemas.microsoft.com/office/drawing/2014/main" id="{BCACFD09-6F6D-7BA5-2EBA-EF6C859A61A9}"/>
              </a:ext>
            </a:extLst>
          </p:cNvPr>
          <p:cNvSpPr>
            <a:spLocks/>
          </p:cNvSpPr>
          <p:nvPr/>
        </p:nvSpPr>
        <p:spPr bwMode="auto">
          <a:xfrm flipV="1">
            <a:off x="4073525" y="4821238"/>
            <a:ext cx="2716213" cy="1131887"/>
          </a:xfrm>
          <a:custGeom>
            <a:avLst/>
            <a:gdLst>
              <a:gd name="T0" fmla="*/ 0 w 39653"/>
              <a:gd name="T1" fmla="*/ 1410176839 h 21600"/>
              <a:gd name="T2" fmla="*/ 2147483647 w 39653"/>
              <a:gd name="T3" fmla="*/ 2147483647 h 21600"/>
              <a:gd name="T4" fmla="*/ 2147483647 w 39653"/>
              <a:gd name="T5" fmla="*/ 2147483647 h 21600"/>
              <a:gd name="T6" fmla="*/ 0 60000 65536"/>
              <a:gd name="T7" fmla="*/ 0 60000 65536"/>
              <a:gd name="T8" fmla="*/ 0 60000 65536"/>
              <a:gd name="T9" fmla="*/ 0 w 39653"/>
              <a:gd name="T10" fmla="*/ 0 h 21600"/>
              <a:gd name="T11" fmla="*/ 39653 w 3965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653" h="21600" fill="none" extrusionOk="0">
                <a:moveTo>
                  <a:pt x="0" y="9800"/>
                </a:moveTo>
                <a:cubicBezTo>
                  <a:pt x="3987" y="3686"/>
                  <a:pt x="10792" y="-1"/>
                  <a:pt x="18092" y="0"/>
                </a:cubicBezTo>
                <a:cubicBezTo>
                  <a:pt x="29518" y="0"/>
                  <a:pt x="38967" y="8898"/>
                  <a:pt x="39653" y="20303"/>
                </a:cubicBezTo>
              </a:path>
              <a:path w="39653" h="21600" stroke="0" extrusionOk="0">
                <a:moveTo>
                  <a:pt x="0" y="9800"/>
                </a:moveTo>
                <a:cubicBezTo>
                  <a:pt x="3987" y="3686"/>
                  <a:pt x="10792" y="-1"/>
                  <a:pt x="18092" y="0"/>
                </a:cubicBezTo>
                <a:cubicBezTo>
                  <a:pt x="29518" y="0"/>
                  <a:pt x="38967" y="8898"/>
                  <a:pt x="39653" y="20303"/>
                </a:cubicBezTo>
                <a:lnTo>
                  <a:pt x="18092" y="21600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37" name="Freeform 59">
            <a:extLst>
              <a:ext uri="{FF2B5EF4-FFF2-40B4-BE49-F238E27FC236}">
                <a16:creationId xmlns:a16="http://schemas.microsoft.com/office/drawing/2014/main" id="{69AE71AA-6495-127E-5911-0F46A93A6AFD}"/>
              </a:ext>
            </a:extLst>
          </p:cNvPr>
          <p:cNvSpPr>
            <a:spLocks/>
          </p:cNvSpPr>
          <p:nvPr/>
        </p:nvSpPr>
        <p:spPr bwMode="auto">
          <a:xfrm>
            <a:off x="6303963" y="2987675"/>
            <a:ext cx="1879600" cy="563563"/>
          </a:xfrm>
          <a:custGeom>
            <a:avLst/>
            <a:gdLst>
              <a:gd name="T0" fmla="*/ 33266519 w 1175"/>
              <a:gd name="T1" fmla="*/ 0 h 355"/>
              <a:gd name="T2" fmla="*/ 401749636 w 1175"/>
              <a:gd name="T3" fmla="*/ 433467309 h 355"/>
              <a:gd name="T4" fmla="*/ 2147483647 w 1175"/>
              <a:gd name="T5" fmla="*/ 458668885 h 355"/>
              <a:gd name="T6" fmla="*/ 2147483647 w 1175"/>
              <a:gd name="T7" fmla="*/ 894657145 h 355"/>
              <a:gd name="T8" fmla="*/ 0 60000 65536"/>
              <a:gd name="T9" fmla="*/ 0 60000 65536"/>
              <a:gd name="T10" fmla="*/ 0 60000 65536"/>
              <a:gd name="T11" fmla="*/ 0 60000 65536"/>
              <a:gd name="T12" fmla="*/ 0 w 1175"/>
              <a:gd name="T13" fmla="*/ 0 h 355"/>
              <a:gd name="T14" fmla="*/ 1175 w 1175"/>
              <a:gd name="T15" fmla="*/ 355 h 35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75" h="355">
                <a:moveTo>
                  <a:pt x="13" y="0"/>
                </a:moveTo>
                <a:cubicBezTo>
                  <a:pt x="6" y="71"/>
                  <a:pt x="0" y="142"/>
                  <a:pt x="157" y="172"/>
                </a:cubicBezTo>
                <a:cubicBezTo>
                  <a:pt x="314" y="202"/>
                  <a:pt x="784" y="152"/>
                  <a:pt x="954" y="182"/>
                </a:cubicBezTo>
                <a:cubicBezTo>
                  <a:pt x="1124" y="212"/>
                  <a:pt x="1149" y="283"/>
                  <a:pt x="1175" y="355"/>
                </a:cubicBezTo>
              </a:path>
            </a:pathLst>
          </a:custGeom>
          <a:noFill/>
          <a:ln w="19050" cmpd="sng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38" name="Freeform 60">
            <a:extLst>
              <a:ext uri="{FF2B5EF4-FFF2-40B4-BE49-F238E27FC236}">
                <a16:creationId xmlns:a16="http://schemas.microsoft.com/office/drawing/2014/main" id="{E7C6AFE1-3C76-696F-F60B-86C01E4F243A}"/>
              </a:ext>
            </a:extLst>
          </p:cNvPr>
          <p:cNvSpPr>
            <a:spLocks/>
          </p:cNvSpPr>
          <p:nvPr/>
        </p:nvSpPr>
        <p:spPr bwMode="auto">
          <a:xfrm>
            <a:off x="6213475" y="3779838"/>
            <a:ext cx="2000250" cy="868362"/>
          </a:xfrm>
          <a:custGeom>
            <a:avLst/>
            <a:gdLst>
              <a:gd name="T0" fmla="*/ 51448331 w 1308"/>
              <a:gd name="T1" fmla="*/ 1378523663 h 547"/>
              <a:gd name="T2" fmla="*/ 411591235 w 1308"/>
              <a:gd name="T3" fmla="*/ 942537871 h 547"/>
              <a:gd name="T4" fmla="*/ 2147483647 w 1308"/>
              <a:gd name="T5" fmla="*/ 869452621 h 547"/>
              <a:gd name="T6" fmla="*/ 2147483647 w 1308"/>
              <a:gd name="T7" fmla="*/ 0 h 547"/>
              <a:gd name="T8" fmla="*/ 0 60000 65536"/>
              <a:gd name="T9" fmla="*/ 0 60000 65536"/>
              <a:gd name="T10" fmla="*/ 0 60000 65536"/>
              <a:gd name="T11" fmla="*/ 0 60000 65536"/>
              <a:gd name="T12" fmla="*/ 0 w 1308"/>
              <a:gd name="T13" fmla="*/ 0 h 547"/>
              <a:gd name="T14" fmla="*/ 1308 w 1308"/>
              <a:gd name="T15" fmla="*/ 547 h 54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08" h="547">
                <a:moveTo>
                  <a:pt x="22" y="547"/>
                </a:moveTo>
                <a:cubicBezTo>
                  <a:pt x="11" y="477"/>
                  <a:pt x="0" y="408"/>
                  <a:pt x="176" y="374"/>
                </a:cubicBezTo>
                <a:cubicBezTo>
                  <a:pt x="352" y="340"/>
                  <a:pt x="889" y="407"/>
                  <a:pt x="1078" y="345"/>
                </a:cubicBezTo>
                <a:cubicBezTo>
                  <a:pt x="1267" y="283"/>
                  <a:pt x="1287" y="141"/>
                  <a:pt x="1308" y="0"/>
                </a:cubicBezTo>
              </a:path>
            </a:pathLst>
          </a:custGeom>
          <a:noFill/>
          <a:ln w="19050" cmpd="sng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39" name="Freeform 61">
            <a:extLst>
              <a:ext uri="{FF2B5EF4-FFF2-40B4-BE49-F238E27FC236}">
                <a16:creationId xmlns:a16="http://schemas.microsoft.com/office/drawing/2014/main" id="{2BB7B280-CC77-D070-9A65-E1322F569296}"/>
              </a:ext>
            </a:extLst>
          </p:cNvPr>
          <p:cNvSpPr>
            <a:spLocks/>
          </p:cNvSpPr>
          <p:nvPr/>
        </p:nvSpPr>
        <p:spPr bwMode="auto">
          <a:xfrm>
            <a:off x="639763" y="1362075"/>
            <a:ext cx="2865437" cy="542925"/>
          </a:xfrm>
          <a:custGeom>
            <a:avLst/>
            <a:gdLst>
              <a:gd name="T0" fmla="*/ 0 w 1815"/>
              <a:gd name="T1" fmla="*/ 457364227 h 390"/>
              <a:gd name="T2" fmla="*/ 862392502 w 1815"/>
              <a:gd name="T3" fmla="*/ 124030525 h 390"/>
              <a:gd name="T4" fmla="*/ 2147483647 w 1815"/>
              <a:gd name="T5" fmla="*/ 104650893 h 390"/>
              <a:gd name="T6" fmla="*/ 2147483647 w 1815"/>
              <a:gd name="T7" fmla="*/ 755814357 h 390"/>
              <a:gd name="T8" fmla="*/ 0 60000 65536"/>
              <a:gd name="T9" fmla="*/ 0 60000 65536"/>
              <a:gd name="T10" fmla="*/ 0 60000 65536"/>
              <a:gd name="T11" fmla="*/ 0 60000 65536"/>
              <a:gd name="T12" fmla="*/ 0 w 1815"/>
              <a:gd name="T13" fmla="*/ 0 h 390"/>
              <a:gd name="T14" fmla="*/ 1815 w 1815"/>
              <a:gd name="T15" fmla="*/ 390 h 39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15" h="390">
                <a:moveTo>
                  <a:pt x="0" y="236"/>
                </a:moveTo>
                <a:cubicBezTo>
                  <a:pt x="59" y="165"/>
                  <a:pt x="119" y="94"/>
                  <a:pt x="346" y="64"/>
                </a:cubicBezTo>
                <a:cubicBezTo>
                  <a:pt x="573" y="34"/>
                  <a:pt x="1118" y="0"/>
                  <a:pt x="1363" y="54"/>
                </a:cubicBezTo>
                <a:cubicBezTo>
                  <a:pt x="1608" y="108"/>
                  <a:pt x="1711" y="249"/>
                  <a:pt x="1815" y="390"/>
                </a:cubicBezTo>
              </a:path>
            </a:pathLst>
          </a:custGeom>
          <a:noFill/>
          <a:ln w="19050" cmpd="sng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40" name="Freeform 62">
            <a:extLst>
              <a:ext uri="{FF2B5EF4-FFF2-40B4-BE49-F238E27FC236}">
                <a16:creationId xmlns:a16="http://schemas.microsoft.com/office/drawing/2014/main" id="{4AA112EC-A3E0-DAAE-EF59-9BD5388E5941}"/>
              </a:ext>
            </a:extLst>
          </p:cNvPr>
          <p:cNvSpPr>
            <a:spLocks/>
          </p:cNvSpPr>
          <p:nvPr/>
        </p:nvSpPr>
        <p:spPr bwMode="auto">
          <a:xfrm>
            <a:off x="1554163" y="2163763"/>
            <a:ext cx="2027237" cy="714375"/>
          </a:xfrm>
          <a:custGeom>
            <a:avLst/>
            <a:gdLst>
              <a:gd name="T0" fmla="*/ 0 w 1277"/>
              <a:gd name="T1" fmla="*/ 461189461 h 450"/>
              <a:gd name="T2" fmla="*/ 483869894 w 1277"/>
              <a:gd name="T3" fmla="*/ 992941690 h 450"/>
              <a:gd name="T4" fmla="*/ 2147483647 w 1277"/>
              <a:gd name="T5" fmla="*/ 967740134 h 450"/>
              <a:gd name="T6" fmla="*/ 2147483647 w 1277"/>
              <a:gd name="T7" fmla="*/ 0 h 450"/>
              <a:gd name="T8" fmla="*/ 0 60000 65536"/>
              <a:gd name="T9" fmla="*/ 0 60000 65536"/>
              <a:gd name="T10" fmla="*/ 0 60000 65536"/>
              <a:gd name="T11" fmla="*/ 0 60000 65536"/>
              <a:gd name="T12" fmla="*/ 0 w 1277"/>
              <a:gd name="T13" fmla="*/ 0 h 450"/>
              <a:gd name="T14" fmla="*/ 1277 w 1277"/>
              <a:gd name="T15" fmla="*/ 450 h 4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77" h="450">
                <a:moveTo>
                  <a:pt x="0" y="183"/>
                </a:moveTo>
                <a:cubicBezTo>
                  <a:pt x="15" y="272"/>
                  <a:pt x="31" y="361"/>
                  <a:pt x="192" y="394"/>
                </a:cubicBezTo>
                <a:cubicBezTo>
                  <a:pt x="353" y="427"/>
                  <a:pt x="789" y="450"/>
                  <a:pt x="970" y="384"/>
                </a:cubicBezTo>
                <a:cubicBezTo>
                  <a:pt x="1151" y="318"/>
                  <a:pt x="1214" y="159"/>
                  <a:pt x="1277" y="0"/>
                </a:cubicBezTo>
              </a:path>
            </a:pathLst>
          </a:custGeom>
          <a:noFill/>
          <a:ln w="19050" cmpd="sng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41" name="Freeform 63">
            <a:extLst>
              <a:ext uri="{FF2B5EF4-FFF2-40B4-BE49-F238E27FC236}">
                <a16:creationId xmlns:a16="http://schemas.microsoft.com/office/drawing/2014/main" id="{9BE26E6E-CC96-D4DB-8537-B1C9A4E28AD5}"/>
              </a:ext>
            </a:extLst>
          </p:cNvPr>
          <p:cNvSpPr>
            <a:spLocks/>
          </p:cNvSpPr>
          <p:nvPr/>
        </p:nvSpPr>
        <p:spPr bwMode="auto">
          <a:xfrm flipV="1">
            <a:off x="1597025" y="4664075"/>
            <a:ext cx="1890713" cy="487363"/>
          </a:xfrm>
          <a:custGeom>
            <a:avLst/>
            <a:gdLst>
              <a:gd name="T0" fmla="*/ 0 w 1277"/>
              <a:gd name="T1" fmla="*/ 214649837 h 450"/>
              <a:gd name="T2" fmla="*/ 420891689 w 1277"/>
              <a:gd name="T3" fmla="*/ 462142516 h 450"/>
              <a:gd name="T4" fmla="*/ 2126381345 w 1277"/>
              <a:gd name="T5" fmla="*/ 450413317 h 450"/>
              <a:gd name="T6" fmla="*/ 2147483647 w 1277"/>
              <a:gd name="T7" fmla="*/ 0 h 450"/>
              <a:gd name="T8" fmla="*/ 0 60000 65536"/>
              <a:gd name="T9" fmla="*/ 0 60000 65536"/>
              <a:gd name="T10" fmla="*/ 0 60000 65536"/>
              <a:gd name="T11" fmla="*/ 0 60000 65536"/>
              <a:gd name="T12" fmla="*/ 0 w 1277"/>
              <a:gd name="T13" fmla="*/ 0 h 450"/>
              <a:gd name="T14" fmla="*/ 1277 w 1277"/>
              <a:gd name="T15" fmla="*/ 450 h 4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77" h="450">
                <a:moveTo>
                  <a:pt x="0" y="183"/>
                </a:moveTo>
                <a:cubicBezTo>
                  <a:pt x="15" y="272"/>
                  <a:pt x="31" y="361"/>
                  <a:pt x="192" y="394"/>
                </a:cubicBezTo>
                <a:cubicBezTo>
                  <a:pt x="353" y="427"/>
                  <a:pt x="789" y="450"/>
                  <a:pt x="970" y="384"/>
                </a:cubicBezTo>
                <a:cubicBezTo>
                  <a:pt x="1151" y="318"/>
                  <a:pt x="1214" y="159"/>
                  <a:pt x="1277" y="0"/>
                </a:cubicBezTo>
              </a:path>
            </a:pathLst>
          </a:custGeom>
          <a:noFill/>
          <a:ln w="19050" cmpd="sng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42" name="Freeform 64">
            <a:extLst>
              <a:ext uri="{FF2B5EF4-FFF2-40B4-BE49-F238E27FC236}">
                <a16:creationId xmlns:a16="http://schemas.microsoft.com/office/drawing/2014/main" id="{B32CE3E8-F8F0-ABEF-AC58-33C4C2A016A0}"/>
              </a:ext>
            </a:extLst>
          </p:cNvPr>
          <p:cNvSpPr>
            <a:spLocks/>
          </p:cNvSpPr>
          <p:nvPr/>
        </p:nvSpPr>
        <p:spPr bwMode="auto">
          <a:xfrm>
            <a:off x="655638" y="5470525"/>
            <a:ext cx="2879725" cy="742950"/>
          </a:xfrm>
          <a:custGeom>
            <a:avLst/>
            <a:gdLst>
              <a:gd name="T0" fmla="*/ 0 w 1814"/>
              <a:gd name="T1" fmla="*/ 319256785 h 516"/>
              <a:gd name="T2" fmla="*/ 1209675071 w 1814"/>
              <a:gd name="T3" fmla="*/ 916309246 h 516"/>
              <a:gd name="T4" fmla="*/ 2147483647 w 1814"/>
              <a:gd name="T5" fmla="*/ 916309246 h 516"/>
              <a:gd name="T6" fmla="*/ 2147483647 w 1814"/>
              <a:gd name="T7" fmla="*/ 0 h 516"/>
              <a:gd name="T8" fmla="*/ 0 60000 65536"/>
              <a:gd name="T9" fmla="*/ 0 60000 65536"/>
              <a:gd name="T10" fmla="*/ 0 60000 65536"/>
              <a:gd name="T11" fmla="*/ 0 60000 65536"/>
              <a:gd name="T12" fmla="*/ 0 w 1814"/>
              <a:gd name="T13" fmla="*/ 0 h 516"/>
              <a:gd name="T14" fmla="*/ 1814 w 1814"/>
              <a:gd name="T15" fmla="*/ 516 h 5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14" h="516">
                <a:moveTo>
                  <a:pt x="0" y="154"/>
                </a:moveTo>
                <a:cubicBezTo>
                  <a:pt x="115" y="274"/>
                  <a:pt x="231" y="394"/>
                  <a:pt x="480" y="442"/>
                </a:cubicBezTo>
                <a:cubicBezTo>
                  <a:pt x="729" y="490"/>
                  <a:pt x="1275" y="516"/>
                  <a:pt x="1497" y="442"/>
                </a:cubicBezTo>
                <a:cubicBezTo>
                  <a:pt x="1719" y="368"/>
                  <a:pt x="1763" y="74"/>
                  <a:pt x="1814" y="0"/>
                </a:cubicBezTo>
              </a:path>
            </a:pathLst>
          </a:custGeom>
          <a:noFill/>
          <a:ln w="19050" cmpd="sng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43" name="Freeform 65">
            <a:extLst>
              <a:ext uri="{FF2B5EF4-FFF2-40B4-BE49-F238E27FC236}">
                <a16:creationId xmlns:a16="http://schemas.microsoft.com/office/drawing/2014/main" id="{750FDAA7-FEC1-41A1-5C16-13B45B296F0E}"/>
              </a:ext>
            </a:extLst>
          </p:cNvPr>
          <p:cNvSpPr>
            <a:spLocks/>
          </p:cNvSpPr>
          <p:nvPr/>
        </p:nvSpPr>
        <p:spPr bwMode="auto">
          <a:xfrm>
            <a:off x="1616075" y="3052763"/>
            <a:ext cx="1873250" cy="558800"/>
          </a:xfrm>
          <a:custGeom>
            <a:avLst/>
            <a:gdLst>
              <a:gd name="T0" fmla="*/ 0 w 1180"/>
              <a:gd name="T1" fmla="*/ 428426612 h 352"/>
              <a:gd name="T2" fmla="*/ 1015622152 w 1180"/>
              <a:gd name="T3" fmla="*/ 40322498 h 352"/>
              <a:gd name="T4" fmla="*/ 2147483647 w 1180"/>
              <a:gd name="T5" fmla="*/ 186491547 h 352"/>
              <a:gd name="T6" fmla="*/ 2147483647 w 1180"/>
              <a:gd name="T7" fmla="*/ 887095089 h 352"/>
              <a:gd name="T8" fmla="*/ 0 60000 65536"/>
              <a:gd name="T9" fmla="*/ 0 60000 65536"/>
              <a:gd name="T10" fmla="*/ 0 60000 65536"/>
              <a:gd name="T11" fmla="*/ 0 60000 65536"/>
              <a:gd name="T12" fmla="*/ 0 w 1180"/>
              <a:gd name="T13" fmla="*/ 0 h 352"/>
              <a:gd name="T14" fmla="*/ 1180 w 1180"/>
              <a:gd name="T15" fmla="*/ 352 h 3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80" h="352">
                <a:moveTo>
                  <a:pt x="0" y="170"/>
                </a:moveTo>
                <a:cubicBezTo>
                  <a:pt x="122" y="101"/>
                  <a:pt x="245" y="32"/>
                  <a:pt x="403" y="16"/>
                </a:cubicBezTo>
                <a:cubicBezTo>
                  <a:pt x="561" y="0"/>
                  <a:pt x="820" y="18"/>
                  <a:pt x="950" y="74"/>
                </a:cubicBezTo>
                <a:cubicBezTo>
                  <a:pt x="1080" y="130"/>
                  <a:pt x="1130" y="241"/>
                  <a:pt x="1180" y="352"/>
                </a:cubicBezTo>
              </a:path>
            </a:pathLst>
          </a:custGeom>
          <a:noFill/>
          <a:ln w="19050" cmpd="sng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44" name="Text Box 66">
            <a:extLst>
              <a:ext uri="{FF2B5EF4-FFF2-40B4-BE49-F238E27FC236}">
                <a16:creationId xmlns:a16="http://schemas.microsoft.com/office/drawing/2014/main" id="{81B718DF-F870-1B0E-2A4E-04E2D7F46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7413" y="1730375"/>
            <a:ext cx="169418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 dirty="0">
                <a:solidFill>
                  <a:schemeClr val="accent1"/>
                </a:solidFill>
                <a:latin typeface="Arial Black" panose="020B0604020202020204" pitchFamily="34" charset="0"/>
              </a:rPr>
              <a:t>Faults in blue</a:t>
            </a:r>
          </a:p>
          <a:p>
            <a:r>
              <a:rPr lang="en-US" altLang="en-US" sz="1600" dirty="0">
                <a:solidFill>
                  <a:schemeClr val="accent1"/>
                </a:solidFill>
                <a:latin typeface="Arial Black" panose="020B0604020202020204" pitchFamily="34" charset="0"/>
              </a:rPr>
              <a:t>removed by</a:t>
            </a:r>
          </a:p>
          <a:p>
            <a:r>
              <a:rPr lang="en-US" altLang="en-US" sz="1600" dirty="0">
                <a:solidFill>
                  <a:schemeClr val="accent1"/>
                </a:solidFill>
                <a:latin typeface="Arial Black" panose="020B0604020202020204" pitchFamily="34" charset="0"/>
              </a:rPr>
              <a:t>equivalence</a:t>
            </a:r>
          </a:p>
          <a:p>
            <a:r>
              <a:rPr lang="en-US" altLang="en-US" sz="1600" dirty="0">
                <a:solidFill>
                  <a:schemeClr val="accent1"/>
                </a:solidFill>
                <a:latin typeface="Arial Black" panose="020B0604020202020204" pitchFamily="34" charset="0"/>
              </a:rPr>
              <a:t>collapsing</a:t>
            </a:r>
            <a:endParaRPr lang="en-US" altLang="en-US" sz="1600" dirty="0">
              <a:latin typeface="Arial Black" panose="020B0604020202020204" pitchFamily="34" charset="0"/>
            </a:endParaRPr>
          </a:p>
        </p:txBody>
      </p:sp>
      <p:sp>
        <p:nvSpPr>
          <p:cNvPr id="24645" name="Text Box 67">
            <a:extLst>
              <a:ext uri="{FF2B5EF4-FFF2-40B4-BE49-F238E27FC236}">
                <a16:creationId xmlns:a16="http://schemas.microsoft.com/office/drawing/2014/main" id="{AFBC2BC1-E4ED-28EA-3757-98560F1E4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260" y="5762625"/>
            <a:ext cx="3352200" cy="62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1600" dirty="0">
                <a:latin typeface="Arial Black" panose="020B0604020202020204" pitchFamily="34" charset="0"/>
              </a:rPr>
              <a:t>                            20</a:t>
            </a:r>
          </a:p>
          <a:p>
            <a:pPr>
              <a:lnSpc>
                <a:spcPct val="70000"/>
              </a:lnSpc>
            </a:pPr>
            <a:r>
              <a:rPr lang="en-US" altLang="en-US" sz="1600" dirty="0">
                <a:latin typeface="Arial Black" panose="020B0604020202020204" pitchFamily="34" charset="0"/>
              </a:rPr>
              <a:t> Collapse ratio = ----- = 0.625</a:t>
            </a:r>
          </a:p>
          <a:p>
            <a:pPr>
              <a:lnSpc>
                <a:spcPct val="70000"/>
              </a:lnSpc>
            </a:pPr>
            <a:r>
              <a:rPr lang="en-US" altLang="en-US" sz="1600" dirty="0">
                <a:latin typeface="Arial Black" panose="020B0604020202020204" pitchFamily="34" charset="0"/>
              </a:rPr>
              <a:t>                            32</a:t>
            </a:r>
          </a:p>
        </p:txBody>
      </p:sp>
      <p:sp>
        <p:nvSpPr>
          <p:cNvPr id="24646" name="Freeform 68">
            <a:extLst>
              <a:ext uri="{FF2B5EF4-FFF2-40B4-BE49-F238E27FC236}">
                <a16:creationId xmlns:a16="http://schemas.microsoft.com/office/drawing/2014/main" id="{AD974224-49AB-91DE-6881-E91870FCA02B}"/>
              </a:ext>
            </a:extLst>
          </p:cNvPr>
          <p:cNvSpPr>
            <a:spLocks/>
          </p:cNvSpPr>
          <p:nvPr/>
        </p:nvSpPr>
        <p:spPr bwMode="auto">
          <a:xfrm>
            <a:off x="1554163" y="3825875"/>
            <a:ext cx="1981200" cy="679450"/>
          </a:xfrm>
          <a:custGeom>
            <a:avLst/>
            <a:gdLst>
              <a:gd name="T0" fmla="*/ 0 w 1248"/>
              <a:gd name="T1" fmla="*/ 410786245 h 428"/>
              <a:gd name="T2" fmla="*/ 773688658 w 1248"/>
              <a:gd name="T3" fmla="*/ 967740121 h 428"/>
              <a:gd name="T4" fmla="*/ 2147483647 w 1248"/>
              <a:gd name="T5" fmla="*/ 917337010 h 428"/>
              <a:gd name="T6" fmla="*/ 2147483647 w 1248"/>
              <a:gd name="T7" fmla="*/ 0 h 428"/>
              <a:gd name="T8" fmla="*/ 0 60000 65536"/>
              <a:gd name="T9" fmla="*/ 0 60000 65536"/>
              <a:gd name="T10" fmla="*/ 0 60000 65536"/>
              <a:gd name="T11" fmla="*/ 0 60000 65536"/>
              <a:gd name="T12" fmla="*/ 0 w 1248"/>
              <a:gd name="T13" fmla="*/ 0 h 428"/>
              <a:gd name="T14" fmla="*/ 1248 w 1248"/>
              <a:gd name="T15" fmla="*/ 428 h 4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48" h="428">
                <a:moveTo>
                  <a:pt x="0" y="163"/>
                </a:moveTo>
                <a:cubicBezTo>
                  <a:pt x="68" y="257"/>
                  <a:pt x="137" y="351"/>
                  <a:pt x="307" y="384"/>
                </a:cubicBezTo>
                <a:cubicBezTo>
                  <a:pt x="477" y="417"/>
                  <a:pt x="861" y="428"/>
                  <a:pt x="1018" y="364"/>
                </a:cubicBezTo>
                <a:cubicBezTo>
                  <a:pt x="1175" y="300"/>
                  <a:pt x="1211" y="150"/>
                  <a:pt x="1248" y="0"/>
                </a:cubicBezTo>
              </a:path>
            </a:pathLst>
          </a:custGeom>
          <a:noFill/>
          <a:ln w="19050" cmpd="sng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33" grpId="0" animBg="1"/>
      <p:bldP spid="24634" grpId="0" animBg="1"/>
      <p:bldP spid="24635" grpId="0" animBg="1"/>
      <p:bldP spid="24636" grpId="0" animBg="1"/>
      <p:bldP spid="24637" grpId="0" animBg="1"/>
      <p:bldP spid="24638" grpId="0" animBg="1"/>
      <p:bldP spid="24639" grpId="0" animBg="1"/>
      <p:bldP spid="24640" grpId="0" animBg="1"/>
      <p:bldP spid="24641" grpId="0" animBg="1"/>
      <p:bldP spid="24642" grpId="0" animBg="1"/>
      <p:bldP spid="24643" grpId="0" animBg="1"/>
      <p:bldP spid="24644" grpId="0"/>
      <p:bldP spid="24645" grpId="0"/>
      <p:bldP spid="2464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19094</TotalTime>
  <Words>1410</Words>
  <Application>Microsoft Macintosh PowerPoint</Application>
  <PresentationFormat>On-screen Show (4:3)</PresentationFormat>
  <Paragraphs>447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Black</vt:lpstr>
      <vt:lpstr>Arial-BoldItalicMT</vt:lpstr>
      <vt:lpstr>Calibri</vt:lpstr>
      <vt:lpstr>Helvetica</vt:lpstr>
      <vt:lpstr>Times New Roman</vt:lpstr>
      <vt:lpstr>TimesNewRomanPS-BoldItalicMT</vt:lpstr>
      <vt:lpstr>Office Theme</vt:lpstr>
      <vt:lpstr>ECE 553: TESTING AND TESTABLE DESIGN OF DIGITAL SYSTEMS</vt:lpstr>
      <vt:lpstr>Course Roadmap (EDA Topics)</vt:lpstr>
      <vt:lpstr>Fault Collapsing</vt:lpstr>
      <vt:lpstr>Introduction</vt:lpstr>
      <vt:lpstr>Equivalent Faults</vt:lpstr>
      <vt:lpstr>Properties of Equivalence</vt:lpstr>
      <vt:lpstr>Equivalence Fault Collapsing, EFC</vt:lpstr>
      <vt:lpstr>How to Perform EFC?</vt:lpstr>
      <vt:lpstr>Gate Equivalence Rules for Structure Analysis</vt:lpstr>
      <vt:lpstr>EFC on Fanout-free Circuits</vt:lpstr>
      <vt:lpstr>EFC on Circuits with Fanouts</vt:lpstr>
      <vt:lpstr>How to Handle Circuits w/ Fanouts?</vt:lpstr>
      <vt:lpstr>Example</vt:lpstr>
      <vt:lpstr>Problems of this Approach</vt:lpstr>
      <vt:lpstr>Equivalence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user</dc:creator>
  <cp:lastModifiedBy>Azadeh Davoodi</cp:lastModifiedBy>
  <cp:revision>137</cp:revision>
  <cp:lastPrinted>2025-02-05T23:42:10Z</cp:lastPrinted>
  <dcterms:created xsi:type="dcterms:W3CDTF">2022-09-06T16:52:28Z</dcterms:created>
  <dcterms:modified xsi:type="dcterms:W3CDTF">2025-02-10T15:50:38Z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2022-09-06T00:00:00Z</vt:filetime>
  </property>
</Properties>
</file>