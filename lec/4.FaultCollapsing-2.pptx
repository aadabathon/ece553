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73" r:id="rId2"/>
    <p:sldId id="256" r:id="rId3"/>
    <p:sldId id="274" r:id="rId4"/>
    <p:sldId id="275" r:id="rId5"/>
    <p:sldId id="276" r:id="rId6"/>
    <p:sldId id="277" r:id="rId7"/>
    <p:sldId id="278" r:id="rId8"/>
    <p:sldId id="279" r:id="rId9"/>
    <p:sldId id="281" r:id="rId10"/>
    <p:sldId id="282" r:id="rId11"/>
    <p:sldId id="283" r:id="rId12"/>
    <p:sldId id="286" r:id="rId13"/>
    <p:sldId id="287" r:id="rId14"/>
    <p:sldId id="289" r:id="rId15"/>
    <p:sldId id="290" r:id="rId16"/>
    <p:sldId id="292" r:id="rId17"/>
    <p:sldId id="294" r:id="rId18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51"/>
    <p:restoredTop sz="84767"/>
  </p:normalViewPr>
  <p:slideViewPr>
    <p:cSldViewPr>
      <p:cViewPr varScale="1">
        <p:scale>
          <a:sx n="99" d="100"/>
          <a:sy n="99" d="100"/>
        </p:scale>
        <p:origin x="1528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022A7E-68B0-DA4F-A0FB-CD0E6FAA377D}" type="datetimeFigureOut">
              <a:rPr lang="en-US" smtClean="0"/>
              <a:t>9/29/26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2C181-22D4-CB4C-8EA0-15459A144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060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Not symmetric. Example of previous slide C/1 dominates A/1 but not the other way, based on the definition</a:t>
            </a:r>
          </a:p>
          <a:p>
            <a:endParaRPr lang="en-US" dirty="0"/>
          </a:p>
          <a:p>
            <a:r>
              <a:rPr lang="en-US" dirty="0"/>
              <a:t>But it is transitive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2C181-22D4-CB4C-8EA0-15459A1449C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711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coverage in both cases remain roughly the same.</a:t>
            </a:r>
          </a:p>
          <a:p>
            <a:endParaRPr lang="en-US" dirty="0"/>
          </a:p>
          <a:p>
            <a:r>
              <a:rPr lang="en-US" dirty="0"/>
              <a:t>1000/(1234-230) ~ 700/(800-98) ~ 99.6%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2C181-22D4-CB4C-8EA0-15459A1449C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2539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Fault coverage after dominance fault collapsing is considered pessimistic, not optimistic.</a:t>
            </a:r>
          </a:p>
          <a:p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it is a common intuition that collapsing faults might change the math in a favorable way, dominance fault collapsing actually removes faults that are </a:t>
            </a:r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easier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detect, leaving behind a fault list that is harder to test.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2C181-22D4-CB4C-8EA0-15459A1449C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020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dirty="0"/>
              <a:t>4.1 </a:t>
            </a:r>
            <a:r>
              <a:rPr spc="-285" dirty="0"/>
              <a:t>© </a:t>
            </a:r>
            <a:r>
              <a:rPr dirty="0"/>
              <a:t>National </a:t>
            </a:r>
            <a:r>
              <a:rPr spc="-15" dirty="0"/>
              <a:t>Taiwan</a:t>
            </a:r>
            <a:r>
              <a:rPr spc="-60" dirty="0"/>
              <a:t> </a:t>
            </a:r>
            <a:r>
              <a:rPr spc="-5" dirty="0"/>
              <a:t>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9933F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dirty="0"/>
              <a:t>4.1 </a:t>
            </a:r>
            <a:r>
              <a:rPr spc="-285" dirty="0"/>
              <a:t>© </a:t>
            </a:r>
            <a:r>
              <a:rPr dirty="0"/>
              <a:t>National </a:t>
            </a:r>
            <a:r>
              <a:rPr spc="-15" dirty="0"/>
              <a:t>Taiwan</a:t>
            </a:r>
            <a:r>
              <a:rPr spc="-60" dirty="0"/>
              <a:t> </a:t>
            </a:r>
            <a:r>
              <a:rPr spc="-5" dirty="0"/>
              <a:t>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9933F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dirty="0"/>
              <a:t>4.1 </a:t>
            </a:r>
            <a:r>
              <a:rPr spc="-285" dirty="0"/>
              <a:t>© </a:t>
            </a:r>
            <a:r>
              <a:rPr dirty="0"/>
              <a:t>National </a:t>
            </a:r>
            <a:r>
              <a:rPr spc="-15" dirty="0"/>
              <a:t>Taiwan</a:t>
            </a:r>
            <a:r>
              <a:rPr spc="-60" dirty="0"/>
              <a:t> </a:t>
            </a:r>
            <a:r>
              <a:rPr spc="-5" dirty="0"/>
              <a:t>University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9933F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dirty="0"/>
              <a:t>4.1 </a:t>
            </a:r>
            <a:r>
              <a:rPr spc="-285" dirty="0"/>
              <a:t>© </a:t>
            </a:r>
            <a:r>
              <a:rPr dirty="0"/>
              <a:t>National </a:t>
            </a:r>
            <a:r>
              <a:rPr spc="-15" dirty="0"/>
              <a:t>Taiwan</a:t>
            </a:r>
            <a:r>
              <a:rPr spc="-60" dirty="0"/>
              <a:t> </a:t>
            </a:r>
            <a:r>
              <a:rPr spc="-5" dirty="0"/>
              <a:t>University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dirty="0"/>
              <a:t>4.1 </a:t>
            </a:r>
            <a:r>
              <a:rPr spc="-285" dirty="0"/>
              <a:t>© </a:t>
            </a:r>
            <a:r>
              <a:rPr dirty="0"/>
              <a:t>National </a:t>
            </a:r>
            <a:r>
              <a:rPr spc="-15" dirty="0"/>
              <a:t>Taiwan</a:t>
            </a:r>
            <a:r>
              <a:rPr spc="-60" dirty="0"/>
              <a:t> </a:t>
            </a:r>
            <a:r>
              <a:rPr spc="-5" dirty="0"/>
              <a:t>University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48258" y="164414"/>
            <a:ext cx="7847482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9933F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0225" y="1265936"/>
            <a:ext cx="4137025" cy="2099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886703" y="6590505"/>
            <a:ext cx="3132454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dirty="0"/>
              <a:t>4.1 </a:t>
            </a:r>
            <a:r>
              <a:rPr spc="-285" dirty="0"/>
              <a:t>© </a:t>
            </a:r>
            <a:r>
              <a:rPr dirty="0"/>
              <a:t>National </a:t>
            </a:r>
            <a:r>
              <a:rPr spc="-15" dirty="0"/>
              <a:t>Taiwan</a:t>
            </a:r>
            <a:r>
              <a:rPr spc="-60" dirty="0"/>
              <a:t> </a:t>
            </a:r>
            <a:r>
              <a:rPr spc="-5" dirty="0"/>
              <a:t>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9423" y="6447452"/>
            <a:ext cx="245745" cy="366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7800" y="1538681"/>
            <a:ext cx="6491350" cy="16671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 algn="ctr">
              <a:lnSpc>
                <a:spcPts val="4305"/>
              </a:lnSpc>
              <a:spcBef>
                <a:spcPts val="100"/>
              </a:spcBef>
            </a:pPr>
            <a:r>
              <a:rPr lang="en-US" altLang="en-US" sz="3600" i="0" dirty="0">
                <a:solidFill>
                  <a:srgbClr val="00B050"/>
                </a:solidFill>
                <a:latin typeface="Arial"/>
                <a:cs typeface="Arial"/>
              </a:rPr>
              <a:t>ECE 553: TESTING AND TESTABLE DESIGN OF DIGITAL SYSTEMS</a:t>
            </a:r>
            <a:endParaRPr sz="3600" i="0" dirty="0">
              <a:solidFill>
                <a:srgbClr val="00B050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204849" y="3419602"/>
            <a:ext cx="673430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0" marR="149225" algn="ctr">
              <a:lnSpc>
                <a:spcPct val="100000"/>
              </a:lnSpc>
              <a:spcBef>
                <a:spcPts val="100"/>
              </a:spcBef>
            </a:pPr>
            <a:r>
              <a:rPr lang="en-US" sz="3600" i="1" spc="-5" dirty="0">
                <a:solidFill>
                  <a:srgbClr val="FF0000"/>
                </a:solidFill>
              </a:rPr>
              <a:t>Fault Collapsing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16783" y="164414"/>
            <a:ext cx="35807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Fault</a:t>
            </a:r>
            <a:r>
              <a:rPr spc="-80" dirty="0"/>
              <a:t> </a:t>
            </a:r>
            <a:r>
              <a:rPr dirty="0"/>
              <a:t>Collapsing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61136"/>
            <a:ext cx="3898265" cy="3267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Introduction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spc="-5" dirty="0">
                <a:solidFill>
                  <a:srgbClr val="A6A6A6"/>
                </a:solidFill>
                <a:latin typeface="Arial"/>
                <a:cs typeface="Arial"/>
              </a:rPr>
              <a:t>Equivalence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Fault</a:t>
            </a:r>
            <a:r>
              <a:rPr sz="2000" b="1" spc="-4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Collapsing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Fanout-free</a:t>
            </a:r>
            <a:r>
              <a:rPr sz="2000" b="1" spc="-65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circuits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Circuits with</a:t>
            </a:r>
            <a:r>
              <a:rPr sz="2000" b="1" spc="-125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fanouts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Dominance Fault</a:t>
            </a:r>
            <a:r>
              <a:rPr sz="2000" b="1" u="sng" spc="-10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Collapsing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Fanout-free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circuits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Circuits with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fanouts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Checkpoint Theorem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(1976)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Conclusion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423" y="6447452"/>
            <a:ext cx="500177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2</a:t>
            </a:fld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2776" y="164414"/>
            <a:ext cx="371030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Fault</a:t>
            </a:r>
            <a:r>
              <a:rPr spc="-65" dirty="0"/>
              <a:t> </a:t>
            </a:r>
            <a:r>
              <a:rPr dirty="0"/>
              <a:t>Dominance</a:t>
            </a:r>
          </a:p>
        </p:txBody>
      </p:sp>
      <p:sp>
        <p:nvSpPr>
          <p:cNvPr id="3" name="object 3"/>
          <p:cNvSpPr/>
          <p:nvPr/>
        </p:nvSpPr>
        <p:spPr>
          <a:xfrm>
            <a:off x="1447800" y="3469292"/>
            <a:ext cx="445134" cy="1905"/>
          </a:xfrm>
          <a:custGeom>
            <a:avLst/>
            <a:gdLst/>
            <a:ahLst/>
            <a:cxnLst/>
            <a:rect l="l" t="t" r="r" b="b"/>
            <a:pathLst>
              <a:path w="445135" h="1904">
                <a:moveTo>
                  <a:pt x="444850" y="0"/>
                </a:moveTo>
                <a:lnTo>
                  <a:pt x="0" y="1568"/>
                </a:lnTo>
              </a:path>
            </a:pathLst>
          </a:custGeom>
          <a:ln w="376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47800" y="3916404"/>
            <a:ext cx="445134" cy="0"/>
          </a:xfrm>
          <a:custGeom>
            <a:avLst/>
            <a:gdLst/>
            <a:ahLst/>
            <a:cxnLst/>
            <a:rect l="l" t="t" r="r" b="b"/>
            <a:pathLst>
              <a:path w="445135">
                <a:moveTo>
                  <a:pt x="444850" y="0"/>
                </a:moveTo>
                <a:lnTo>
                  <a:pt x="0" y="0"/>
                </a:lnTo>
              </a:path>
            </a:pathLst>
          </a:custGeom>
          <a:ln w="376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118230" y="3693633"/>
            <a:ext cx="445134" cy="1905"/>
          </a:xfrm>
          <a:custGeom>
            <a:avLst/>
            <a:gdLst/>
            <a:ahLst/>
            <a:cxnLst/>
            <a:rect l="l" t="t" r="r" b="b"/>
            <a:pathLst>
              <a:path w="445135" h="1904">
                <a:moveTo>
                  <a:pt x="444863" y="0"/>
                </a:moveTo>
                <a:lnTo>
                  <a:pt x="0" y="1568"/>
                </a:lnTo>
              </a:path>
            </a:pathLst>
          </a:custGeom>
          <a:ln w="376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71802" y="3361044"/>
            <a:ext cx="670560" cy="665480"/>
          </a:xfrm>
          <a:custGeom>
            <a:avLst/>
            <a:gdLst/>
            <a:ahLst/>
            <a:cxnLst/>
            <a:rect l="l" t="t" r="r" b="b"/>
            <a:pathLst>
              <a:path w="670560" h="665479">
                <a:moveTo>
                  <a:pt x="335208" y="0"/>
                </a:moveTo>
                <a:lnTo>
                  <a:pt x="0" y="0"/>
                </a:lnTo>
                <a:lnTo>
                  <a:pt x="0" y="665180"/>
                </a:lnTo>
                <a:lnTo>
                  <a:pt x="335209" y="665180"/>
                </a:lnTo>
                <a:lnTo>
                  <a:pt x="384747" y="661574"/>
                </a:lnTo>
                <a:lnTo>
                  <a:pt x="432028" y="651099"/>
                </a:lnTo>
                <a:lnTo>
                  <a:pt x="476533" y="634270"/>
                </a:lnTo>
                <a:lnTo>
                  <a:pt x="517744" y="611601"/>
                </a:lnTo>
                <a:lnTo>
                  <a:pt x="555142" y="583606"/>
                </a:lnTo>
                <a:lnTo>
                  <a:pt x="588209" y="550799"/>
                </a:lnTo>
                <a:lnTo>
                  <a:pt x="616426" y="513695"/>
                </a:lnTo>
                <a:lnTo>
                  <a:pt x="639275" y="472807"/>
                </a:lnTo>
                <a:lnTo>
                  <a:pt x="656238" y="428650"/>
                </a:lnTo>
                <a:lnTo>
                  <a:pt x="666796" y="381739"/>
                </a:lnTo>
                <a:lnTo>
                  <a:pt x="670430" y="332588"/>
                </a:lnTo>
                <a:lnTo>
                  <a:pt x="666796" y="283439"/>
                </a:lnTo>
                <a:lnTo>
                  <a:pt x="656238" y="236530"/>
                </a:lnTo>
                <a:lnTo>
                  <a:pt x="639275" y="192374"/>
                </a:lnTo>
                <a:lnTo>
                  <a:pt x="616426" y="151487"/>
                </a:lnTo>
                <a:lnTo>
                  <a:pt x="588209" y="114383"/>
                </a:lnTo>
                <a:lnTo>
                  <a:pt x="555142" y="81576"/>
                </a:lnTo>
                <a:lnTo>
                  <a:pt x="517744" y="53580"/>
                </a:lnTo>
                <a:lnTo>
                  <a:pt x="476533" y="30910"/>
                </a:lnTo>
                <a:lnTo>
                  <a:pt x="432028" y="14080"/>
                </a:lnTo>
                <a:lnTo>
                  <a:pt x="384747" y="3605"/>
                </a:lnTo>
                <a:lnTo>
                  <a:pt x="3352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52885" y="3342244"/>
            <a:ext cx="708660" cy="702945"/>
          </a:xfrm>
          <a:custGeom>
            <a:avLst/>
            <a:gdLst/>
            <a:ahLst/>
            <a:cxnLst/>
            <a:rect l="l" t="t" r="r" b="b"/>
            <a:pathLst>
              <a:path w="708660" h="702945">
                <a:moveTo>
                  <a:pt x="354441" y="0"/>
                </a:moveTo>
                <a:lnTo>
                  <a:pt x="0" y="0"/>
                </a:lnTo>
                <a:lnTo>
                  <a:pt x="0" y="702855"/>
                </a:lnTo>
                <a:lnTo>
                  <a:pt x="354441" y="702855"/>
                </a:lnTo>
                <a:lnTo>
                  <a:pt x="372399" y="702363"/>
                </a:lnTo>
                <a:lnTo>
                  <a:pt x="425516" y="695709"/>
                </a:lnTo>
                <a:lnTo>
                  <a:pt x="468402" y="684029"/>
                </a:lnTo>
                <a:lnTo>
                  <a:pt x="37859" y="684029"/>
                </a:lnTo>
                <a:lnTo>
                  <a:pt x="18929" y="665203"/>
                </a:lnTo>
                <a:lnTo>
                  <a:pt x="37859" y="665203"/>
                </a:lnTo>
                <a:lnTo>
                  <a:pt x="37859" y="37651"/>
                </a:lnTo>
                <a:lnTo>
                  <a:pt x="18929" y="37651"/>
                </a:lnTo>
                <a:lnTo>
                  <a:pt x="37859" y="18825"/>
                </a:lnTo>
                <a:lnTo>
                  <a:pt x="468570" y="18825"/>
                </a:lnTo>
                <a:lnTo>
                  <a:pt x="459438" y="15801"/>
                </a:lnTo>
                <a:lnTo>
                  <a:pt x="408063" y="4066"/>
                </a:lnTo>
                <a:lnTo>
                  <a:pt x="372349" y="489"/>
                </a:lnTo>
                <a:lnTo>
                  <a:pt x="354441" y="0"/>
                </a:lnTo>
                <a:close/>
              </a:path>
              <a:path w="708660" h="702945">
                <a:moveTo>
                  <a:pt x="37859" y="665203"/>
                </a:moveTo>
                <a:lnTo>
                  <a:pt x="18929" y="665203"/>
                </a:lnTo>
                <a:lnTo>
                  <a:pt x="37859" y="684029"/>
                </a:lnTo>
                <a:lnTo>
                  <a:pt x="37859" y="665203"/>
                </a:lnTo>
                <a:close/>
              </a:path>
              <a:path w="708660" h="702945">
                <a:moveTo>
                  <a:pt x="353888" y="665203"/>
                </a:moveTo>
                <a:lnTo>
                  <a:pt x="37859" y="665203"/>
                </a:lnTo>
                <a:lnTo>
                  <a:pt x="37859" y="684029"/>
                </a:lnTo>
                <a:lnTo>
                  <a:pt x="468402" y="684029"/>
                </a:lnTo>
                <a:lnTo>
                  <a:pt x="475958" y="681479"/>
                </a:lnTo>
                <a:lnTo>
                  <a:pt x="492048" y="675215"/>
                </a:lnTo>
                <a:lnTo>
                  <a:pt x="507785" y="668139"/>
                </a:lnTo>
                <a:lnTo>
                  <a:pt x="513523" y="665210"/>
                </a:lnTo>
                <a:lnTo>
                  <a:pt x="353659" y="665210"/>
                </a:lnTo>
                <a:lnTo>
                  <a:pt x="353888" y="665203"/>
                </a:lnTo>
                <a:close/>
              </a:path>
              <a:path w="708660" h="702945">
                <a:moveTo>
                  <a:pt x="370425" y="664752"/>
                </a:moveTo>
                <a:lnTo>
                  <a:pt x="353659" y="665210"/>
                </a:lnTo>
                <a:lnTo>
                  <a:pt x="354176" y="665203"/>
                </a:lnTo>
                <a:lnTo>
                  <a:pt x="513535" y="665203"/>
                </a:lnTo>
                <a:lnTo>
                  <a:pt x="514346" y="664789"/>
                </a:lnTo>
                <a:lnTo>
                  <a:pt x="369938" y="664789"/>
                </a:lnTo>
                <a:lnTo>
                  <a:pt x="370425" y="664752"/>
                </a:lnTo>
                <a:close/>
              </a:path>
              <a:path w="708660" h="702945">
                <a:moveTo>
                  <a:pt x="514444" y="664739"/>
                </a:moveTo>
                <a:lnTo>
                  <a:pt x="370885" y="664739"/>
                </a:lnTo>
                <a:lnTo>
                  <a:pt x="369938" y="664789"/>
                </a:lnTo>
                <a:lnTo>
                  <a:pt x="514346" y="664789"/>
                </a:lnTo>
                <a:close/>
              </a:path>
              <a:path w="708660" h="702945">
                <a:moveTo>
                  <a:pt x="386520" y="663507"/>
                </a:moveTo>
                <a:lnTo>
                  <a:pt x="370425" y="664752"/>
                </a:lnTo>
                <a:lnTo>
                  <a:pt x="370885" y="664739"/>
                </a:lnTo>
                <a:lnTo>
                  <a:pt x="514444" y="664739"/>
                </a:lnTo>
                <a:lnTo>
                  <a:pt x="516757" y="663558"/>
                </a:lnTo>
                <a:lnTo>
                  <a:pt x="386104" y="663558"/>
                </a:lnTo>
                <a:lnTo>
                  <a:pt x="386520" y="663507"/>
                </a:lnTo>
                <a:close/>
              </a:path>
              <a:path w="708660" h="702945">
                <a:moveTo>
                  <a:pt x="516927" y="663471"/>
                </a:moveTo>
                <a:lnTo>
                  <a:pt x="386975" y="663471"/>
                </a:lnTo>
                <a:lnTo>
                  <a:pt x="386104" y="663558"/>
                </a:lnTo>
                <a:lnTo>
                  <a:pt x="516757" y="663558"/>
                </a:lnTo>
                <a:lnTo>
                  <a:pt x="516927" y="663471"/>
                </a:lnTo>
                <a:close/>
              </a:path>
              <a:path w="708660" h="702945">
                <a:moveTo>
                  <a:pt x="402381" y="661545"/>
                </a:moveTo>
                <a:lnTo>
                  <a:pt x="386520" y="663507"/>
                </a:lnTo>
                <a:lnTo>
                  <a:pt x="386975" y="663471"/>
                </a:lnTo>
                <a:lnTo>
                  <a:pt x="516927" y="663471"/>
                </a:lnTo>
                <a:lnTo>
                  <a:pt x="520531" y="661632"/>
                </a:lnTo>
                <a:lnTo>
                  <a:pt x="401892" y="661632"/>
                </a:lnTo>
                <a:lnTo>
                  <a:pt x="402381" y="661545"/>
                </a:lnTo>
                <a:close/>
              </a:path>
              <a:path w="708660" h="702945">
                <a:moveTo>
                  <a:pt x="520813" y="661487"/>
                </a:moveTo>
                <a:lnTo>
                  <a:pt x="402851" y="661487"/>
                </a:lnTo>
                <a:lnTo>
                  <a:pt x="401892" y="661632"/>
                </a:lnTo>
                <a:lnTo>
                  <a:pt x="520531" y="661632"/>
                </a:lnTo>
                <a:lnTo>
                  <a:pt x="520813" y="661487"/>
                </a:lnTo>
                <a:close/>
              </a:path>
              <a:path w="708660" h="702945">
                <a:moveTo>
                  <a:pt x="417998" y="658793"/>
                </a:moveTo>
                <a:lnTo>
                  <a:pt x="402381" y="661545"/>
                </a:lnTo>
                <a:lnTo>
                  <a:pt x="402851" y="661487"/>
                </a:lnTo>
                <a:lnTo>
                  <a:pt x="520813" y="661487"/>
                </a:lnTo>
                <a:lnTo>
                  <a:pt x="522954" y="660394"/>
                </a:lnTo>
                <a:lnTo>
                  <a:pt x="525594" y="658897"/>
                </a:lnTo>
                <a:lnTo>
                  <a:pt x="417541" y="658897"/>
                </a:lnTo>
                <a:lnTo>
                  <a:pt x="417998" y="658793"/>
                </a:lnTo>
                <a:close/>
              </a:path>
              <a:path w="708660" h="702945">
                <a:moveTo>
                  <a:pt x="525917" y="658714"/>
                </a:moveTo>
                <a:lnTo>
                  <a:pt x="418449" y="658714"/>
                </a:lnTo>
                <a:lnTo>
                  <a:pt x="417541" y="658897"/>
                </a:lnTo>
                <a:lnTo>
                  <a:pt x="525594" y="658897"/>
                </a:lnTo>
                <a:lnTo>
                  <a:pt x="525917" y="658714"/>
                </a:lnTo>
                <a:close/>
              </a:path>
              <a:path w="708660" h="702945">
                <a:moveTo>
                  <a:pt x="532064" y="655226"/>
                </a:moveTo>
                <a:lnTo>
                  <a:pt x="433732" y="655226"/>
                </a:lnTo>
                <a:lnTo>
                  <a:pt x="432735" y="655479"/>
                </a:lnTo>
                <a:lnTo>
                  <a:pt x="417998" y="658793"/>
                </a:lnTo>
                <a:lnTo>
                  <a:pt x="418449" y="658714"/>
                </a:lnTo>
                <a:lnTo>
                  <a:pt x="525917" y="658714"/>
                </a:lnTo>
                <a:lnTo>
                  <a:pt x="532064" y="655226"/>
                </a:lnTo>
                <a:close/>
              </a:path>
              <a:path w="708660" h="702945">
                <a:moveTo>
                  <a:pt x="433213" y="655343"/>
                </a:moveTo>
                <a:lnTo>
                  <a:pt x="432614" y="655479"/>
                </a:lnTo>
                <a:lnTo>
                  <a:pt x="433213" y="655343"/>
                </a:lnTo>
                <a:close/>
              </a:path>
              <a:path w="708660" h="702945">
                <a:moveTo>
                  <a:pt x="433732" y="655226"/>
                </a:moveTo>
                <a:lnTo>
                  <a:pt x="433213" y="655343"/>
                </a:lnTo>
                <a:lnTo>
                  <a:pt x="432735" y="655479"/>
                </a:lnTo>
                <a:lnTo>
                  <a:pt x="433732" y="655226"/>
                </a:lnTo>
                <a:close/>
              </a:path>
              <a:path w="708660" h="702945">
                <a:moveTo>
                  <a:pt x="539386" y="650961"/>
                </a:moveTo>
                <a:lnTo>
                  <a:pt x="448636" y="650961"/>
                </a:lnTo>
                <a:lnTo>
                  <a:pt x="447753" y="651235"/>
                </a:lnTo>
                <a:lnTo>
                  <a:pt x="433213" y="655343"/>
                </a:lnTo>
                <a:lnTo>
                  <a:pt x="433732" y="655226"/>
                </a:lnTo>
                <a:lnTo>
                  <a:pt x="532064" y="655226"/>
                </a:lnTo>
                <a:lnTo>
                  <a:pt x="537858" y="651939"/>
                </a:lnTo>
                <a:lnTo>
                  <a:pt x="539386" y="650961"/>
                </a:lnTo>
                <a:close/>
              </a:path>
              <a:path w="708660" h="702945">
                <a:moveTo>
                  <a:pt x="448177" y="651092"/>
                </a:moveTo>
                <a:lnTo>
                  <a:pt x="447673" y="651235"/>
                </a:lnTo>
                <a:lnTo>
                  <a:pt x="448177" y="651092"/>
                </a:lnTo>
                <a:close/>
              </a:path>
              <a:path w="708660" h="702945">
                <a:moveTo>
                  <a:pt x="547198" y="645963"/>
                </a:moveTo>
                <a:lnTo>
                  <a:pt x="463376" y="645963"/>
                </a:lnTo>
                <a:lnTo>
                  <a:pt x="462556" y="646260"/>
                </a:lnTo>
                <a:lnTo>
                  <a:pt x="448177" y="651092"/>
                </a:lnTo>
                <a:lnTo>
                  <a:pt x="448636" y="650961"/>
                </a:lnTo>
                <a:lnTo>
                  <a:pt x="539386" y="650961"/>
                </a:lnTo>
                <a:lnTo>
                  <a:pt x="547198" y="645963"/>
                </a:lnTo>
                <a:close/>
              </a:path>
              <a:path w="708660" h="702945">
                <a:moveTo>
                  <a:pt x="462932" y="646113"/>
                </a:moveTo>
                <a:lnTo>
                  <a:pt x="462498" y="646260"/>
                </a:lnTo>
                <a:lnTo>
                  <a:pt x="462932" y="646113"/>
                </a:lnTo>
                <a:close/>
              </a:path>
              <a:path w="708660" h="702945">
                <a:moveTo>
                  <a:pt x="555667" y="640330"/>
                </a:moveTo>
                <a:lnTo>
                  <a:pt x="477800" y="640330"/>
                </a:lnTo>
                <a:lnTo>
                  <a:pt x="476892" y="640707"/>
                </a:lnTo>
                <a:lnTo>
                  <a:pt x="462932" y="646113"/>
                </a:lnTo>
                <a:lnTo>
                  <a:pt x="463376" y="645963"/>
                </a:lnTo>
                <a:lnTo>
                  <a:pt x="547198" y="645963"/>
                </a:lnTo>
                <a:lnTo>
                  <a:pt x="552157" y="642791"/>
                </a:lnTo>
                <a:lnTo>
                  <a:pt x="555667" y="640330"/>
                </a:lnTo>
                <a:close/>
              </a:path>
              <a:path w="708660" h="702945">
                <a:moveTo>
                  <a:pt x="477294" y="640527"/>
                </a:moveTo>
                <a:lnTo>
                  <a:pt x="476829" y="640707"/>
                </a:lnTo>
                <a:lnTo>
                  <a:pt x="477294" y="640527"/>
                </a:lnTo>
                <a:close/>
              </a:path>
              <a:path w="708660" h="702945">
                <a:moveTo>
                  <a:pt x="564660" y="634025"/>
                </a:moveTo>
                <a:lnTo>
                  <a:pt x="491758" y="634025"/>
                </a:lnTo>
                <a:lnTo>
                  <a:pt x="490912" y="634427"/>
                </a:lnTo>
                <a:lnTo>
                  <a:pt x="477294" y="640527"/>
                </a:lnTo>
                <a:lnTo>
                  <a:pt x="477800" y="640330"/>
                </a:lnTo>
                <a:lnTo>
                  <a:pt x="555667" y="640330"/>
                </a:lnTo>
                <a:lnTo>
                  <a:pt x="564660" y="634025"/>
                </a:lnTo>
                <a:close/>
              </a:path>
              <a:path w="708660" h="702945">
                <a:moveTo>
                  <a:pt x="491267" y="634246"/>
                </a:moveTo>
                <a:lnTo>
                  <a:pt x="490864" y="634427"/>
                </a:lnTo>
                <a:lnTo>
                  <a:pt x="491267" y="634246"/>
                </a:lnTo>
                <a:close/>
              </a:path>
              <a:path w="708660" h="702945">
                <a:moveTo>
                  <a:pt x="573702" y="627085"/>
                </a:moveTo>
                <a:lnTo>
                  <a:pt x="505299" y="627085"/>
                </a:lnTo>
                <a:lnTo>
                  <a:pt x="504567" y="627487"/>
                </a:lnTo>
                <a:lnTo>
                  <a:pt x="491267" y="634246"/>
                </a:lnTo>
                <a:lnTo>
                  <a:pt x="491758" y="634025"/>
                </a:lnTo>
                <a:lnTo>
                  <a:pt x="564660" y="634025"/>
                </a:lnTo>
                <a:lnTo>
                  <a:pt x="566039" y="633059"/>
                </a:lnTo>
                <a:lnTo>
                  <a:pt x="573702" y="627085"/>
                </a:lnTo>
                <a:close/>
              </a:path>
              <a:path w="708660" h="702945">
                <a:moveTo>
                  <a:pt x="505054" y="627210"/>
                </a:moveTo>
                <a:lnTo>
                  <a:pt x="504512" y="627487"/>
                </a:lnTo>
                <a:lnTo>
                  <a:pt x="505054" y="627210"/>
                </a:lnTo>
                <a:close/>
              </a:path>
              <a:path w="708660" h="702945">
                <a:moveTo>
                  <a:pt x="583078" y="619479"/>
                </a:moveTo>
                <a:lnTo>
                  <a:pt x="518664" y="619479"/>
                </a:lnTo>
                <a:lnTo>
                  <a:pt x="517805" y="620007"/>
                </a:lnTo>
                <a:lnTo>
                  <a:pt x="505054" y="627210"/>
                </a:lnTo>
                <a:lnTo>
                  <a:pt x="505299" y="627085"/>
                </a:lnTo>
                <a:lnTo>
                  <a:pt x="573702" y="627085"/>
                </a:lnTo>
                <a:lnTo>
                  <a:pt x="579466" y="622592"/>
                </a:lnTo>
                <a:lnTo>
                  <a:pt x="583078" y="619479"/>
                </a:lnTo>
                <a:close/>
              </a:path>
              <a:path w="708660" h="702945">
                <a:moveTo>
                  <a:pt x="518356" y="619654"/>
                </a:moveTo>
                <a:lnTo>
                  <a:pt x="517736" y="620007"/>
                </a:lnTo>
                <a:lnTo>
                  <a:pt x="518356" y="619654"/>
                </a:lnTo>
                <a:close/>
              </a:path>
              <a:path w="708660" h="702945">
                <a:moveTo>
                  <a:pt x="592491" y="611347"/>
                </a:moveTo>
                <a:lnTo>
                  <a:pt x="531334" y="611347"/>
                </a:lnTo>
                <a:lnTo>
                  <a:pt x="530678" y="611786"/>
                </a:lnTo>
                <a:lnTo>
                  <a:pt x="518356" y="619654"/>
                </a:lnTo>
                <a:lnTo>
                  <a:pt x="518664" y="619479"/>
                </a:lnTo>
                <a:lnTo>
                  <a:pt x="583078" y="619479"/>
                </a:lnTo>
                <a:lnTo>
                  <a:pt x="592257" y="611567"/>
                </a:lnTo>
                <a:lnTo>
                  <a:pt x="592491" y="611347"/>
                </a:lnTo>
                <a:close/>
              </a:path>
              <a:path w="708660" h="702945">
                <a:moveTo>
                  <a:pt x="530990" y="611567"/>
                </a:moveTo>
                <a:lnTo>
                  <a:pt x="530648" y="611786"/>
                </a:lnTo>
                <a:lnTo>
                  <a:pt x="530990" y="611567"/>
                </a:lnTo>
                <a:close/>
              </a:path>
              <a:path w="708660" h="702945">
                <a:moveTo>
                  <a:pt x="601849" y="602561"/>
                </a:moveTo>
                <a:lnTo>
                  <a:pt x="543828" y="602561"/>
                </a:lnTo>
                <a:lnTo>
                  <a:pt x="543058" y="603126"/>
                </a:lnTo>
                <a:lnTo>
                  <a:pt x="530990" y="611567"/>
                </a:lnTo>
                <a:lnTo>
                  <a:pt x="531334" y="611347"/>
                </a:lnTo>
                <a:lnTo>
                  <a:pt x="592491" y="611347"/>
                </a:lnTo>
                <a:lnTo>
                  <a:pt x="601849" y="602561"/>
                </a:lnTo>
                <a:close/>
              </a:path>
              <a:path w="708660" h="702945">
                <a:moveTo>
                  <a:pt x="543378" y="602877"/>
                </a:moveTo>
                <a:lnTo>
                  <a:pt x="543022" y="603126"/>
                </a:lnTo>
                <a:lnTo>
                  <a:pt x="543378" y="602877"/>
                </a:lnTo>
                <a:close/>
              </a:path>
              <a:path w="708660" h="702945">
                <a:moveTo>
                  <a:pt x="611045" y="593249"/>
                </a:moveTo>
                <a:lnTo>
                  <a:pt x="555741" y="593249"/>
                </a:lnTo>
                <a:lnTo>
                  <a:pt x="555021" y="593839"/>
                </a:lnTo>
                <a:lnTo>
                  <a:pt x="543378" y="602877"/>
                </a:lnTo>
                <a:lnTo>
                  <a:pt x="543828" y="602561"/>
                </a:lnTo>
                <a:lnTo>
                  <a:pt x="601849" y="602561"/>
                </a:lnTo>
                <a:lnTo>
                  <a:pt x="604630" y="599951"/>
                </a:lnTo>
                <a:lnTo>
                  <a:pt x="611045" y="593249"/>
                </a:lnTo>
                <a:close/>
              </a:path>
              <a:path w="708660" h="702945">
                <a:moveTo>
                  <a:pt x="555378" y="593531"/>
                </a:moveTo>
                <a:lnTo>
                  <a:pt x="554983" y="593839"/>
                </a:lnTo>
                <a:lnTo>
                  <a:pt x="555378" y="593531"/>
                </a:lnTo>
                <a:close/>
              </a:path>
              <a:path w="708660" h="702945">
                <a:moveTo>
                  <a:pt x="620107" y="583397"/>
                </a:moveTo>
                <a:lnTo>
                  <a:pt x="567136" y="583397"/>
                </a:lnTo>
                <a:lnTo>
                  <a:pt x="555378" y="593531"/>
                </a:lnTo>
                <a:lnTo>
                  <a:pt x="555741" y="593249"/>
                </a:lnTo>
                <a:lnTo>
                  <a:pt x="611045" y="593249"/>
                </a:lnTo>
                <a:lnTo>
                  <a:pt x="616367" y="587689"/>
                </a:lnTo>
                <a:lnTo>
                  <a:pt x="620107" y="583397"/>
                </a:lnTo>
                <a:close/>
              </a:path>
              <a:path w="708660" h="702945">
                <a:moveTo>
                  <a:pt x="629078" y="572917"/>
                </a:moveTo>
                <a:lnTo>
                  <a:pt x="578280" y="572917"/>
                </a:lnTo>
                <a:lnTo>
                  <a:pt x="577560" y="573632"/>
                </a:lnTo>
                <a:lnTo>
                  <a:pt x="566753" y="583728"/>
                </a:lnTo>
                <a:lnTo>
                  <a:pt x="567136" y="583397"/>
                </a:lnTo>
                <a:lnTo>
                  <a:pt x="620107" y="583397"/>
                </a:lnTo>
                <a:lnTo>
                  <a:pt x="627434" y="574988"/>
                </a:lnTo>
                <a:lnTo>
                  <a:pt x="629078" y="572917"/>
                </a:lnTo>
                <a:close/>
              </a:path>
              <a:path w="708660" h="702945">
                <a:moveTo>
                  <a:pt x="577935" y="573240"/>
                </a:moveTo>
                <a:lnTo>
                  <a:pt x="577517" y="573632"/>
                </a:lnTo>
                <a:lnTo>
                  <a:pt x="577935" y="573240"/>
                </a:lnTo>
                <a:close/>
              </a:path>
              <a:path w="708660" h="702945">
                <a:moveTo>
                  <a:pt x="578280" y="572917"/>
                </a:moveTo>
                <a:lnTo>
                  <a:pt x="577935" y="573240"/>
                </a:lnTo>
                <a:lnTo>
                  <a:pt x="577560" y="573632"/>
                </a:lnTo>
                <a:lnTo>
                  <a:pt x="578280" y="572917"/>
                </a:lnTo>
                <a:close/>
              </a:path>
              <a:path w="708660" h="702945">
                <a:moveTo>
                  <a:pt x="637705" y="562048"/>
                </a:moveTo>
                <a:lnTo>
                  <a:pt x="588628" y="562048"/>
                </a:lnTo>
                <a:lnTo>
                  <a:pt x="588048" y="562688"/>
                </a:lnTo>
                <a:lnTo>
                  <a:pt x="577935" y="573240"/>
                </a:lnTo>
                <a:lnTo>
                  <a:pt x="578280" y="572917"/>
                </a:lnTo>
                <a:lnTo>
                  <a:pt x="629078" y="572917"/>
                </a:lnTo>
                <a:lnTo>
                  <a:pt x="637705" y="562048"/>
                </a:lnTo>
                <a:close/>
              </a:path>
              <a:path w="708660" h="702945">
                <a:moveTo>
                  <a:pt x="588370" y="562319"/>
                </a:moveTo>
                <a:lnTo>
                  <a:pt x="588017" y="562688"/>
                </a:lnTo>
                <a:lnTo>
                  <a:pt x="588370" y="562319"/>
                </a:lnTo>
                <a:close/>
              </a:path>
              <a:path w="708660" h="702945">
                <a:moveTo>
                  <a:pt x="645906" y="550640"/>
                </a:moveTo>
                <a:lnTo>
                  <a:pt x="598547" y="550640"/>
                </a:lnTo>
                <a:lnTo>
                  <a:pt x="597992" y="551318"/>
                </a:lnTo>
                <a:lnTo>
                  <a:pt x="588370" y="562319"/>
                </a:lnTo>
                <a:lnTo>
                  <a:pt x="588628" y="562048"/>
                </a:lnTo>
                <a:lnTo>
                  <a:pt x="637705" y="562048"/>
                </a:lnTo>
                <a:lnTo>
                  <a:pt x="637934" y="561760"/>
                </a:lnTo>
                <a:lnTo>
                  <a:pt x="645906" y="550640"/>
                </a:lnTo>
                <a:close/>
              </a:path>
              <a:path w="708660" h="702945">
                <a:moveTo>
                  <a:pt x="598354" y="550862"/>
                </a:moveTo>
                <a:lnTo>
                  <a:pt x="597957" y="551318"/>
                </a:lnTo>
                <a:lnTo>
                  <a:pt x="598354" y="550862"/>
                </a:lnTo>
                <a:close/>
              </a:path>
              <a:path w="708660" h="702945">
                <a:moveTo>
                  <a:pt x="653750" y="538792"/>
                </a:moveTo>
                <a:lnTo>
                  <a:pt x="607937" y="538792"/>
                </a:lnTo>
                <a:lnTo>
                  <a:pt x="607369" y="539533"/>
                </a:lnTo>
                <a:lnTo>
                  <a:pt x="598354" y="550862"/>
                </a:lnTo>
                <a:lnTo>
                  <a:pt x="598547" y="550640"/>
                </a:lnTo>
                <a:lnTo>
                  <a:pt x="645906" y="550640"/>
                </a:lnTo>
                <a:lnTo>
                  <a:pt x="647841" y="547942"/>
                </a:lnTo>
                <a:lnTo>
                  <a:pt x="653750" y="538792"/>
                </a:lnTo>
                <a:close/>
              </a:path>
              <a:path w="708660" h="702945">
                <a:moveTo>
                  <a:pt x="607555" y="539273"/>
                </a:moveTo>
                <a:lnTo>
                  <a:pt x="607349" y="539533"/>
                </a:lnTo>
                <a:lnTo>
                  <a:pt x="607555" y="539273"/>
                </a:lnTo>
                <a:close/>
              </a:path>
              <a:path w="708660" h="702945">
                <a:moveTo>
                  <a:pt x="661223" y="526455"/>
                </a:moveTo>
                <a:lnTo>
                  <a:pt x="616745" y="526455"/>
                </a:lnTo>
                <a:lnTo>
                  <a:pt x="616240" y="527196"/>
                </a:lnTo>
                <a:lnTo>
                  <a:pt x="607555" y="539273"/>
                </a:lnTo>
                <a:lnTo>
                  <a:pt x="607937" y="538792"/>
                </a:lnTo>
                <a:lnTo>
                  <a:pt x="653750" y="538792"/>
                </a:lnTo>
                <a:lnTo>
                  <a:pt x="657040" y="533697"/>
                </a:lnTo>
                <a:lnTo>
                  <a:pt x="661223" y="526455"/>
                </a:lnTo>
                <a:close/>
              </a:path>
              <a:path w="708660" h="702945">
                <a:moveTo>
                  <a:pt x="616480" y="526824"/>
                </a:moveTo>
                <a:lnTo>
                  <a:pt x="616214" y="527196"/>
                </a:lnTo>
                <a:lnTo>
                  <a:pt x="616480" y="526824"/>
                </a:lnTo>
                <a:close/>
              </a:path>
              <a:path w="708660" h="702945">
                <a:moveTo>
                  <a:pt x="668283" y="513729"/>
                </a:moveTo>
                <a:lnTo>
                  <a:pt x="624948" y="513729"/>
                </a:lnTo>
                <a:lnTo>
                  <a:pt x="624456" y="514545"/>
                </a:lnTo>
                <a:lnTo>
                  <a:pt x="616480" y="526824"/>
                </a:lnTo>
                <a:lnTo>
                  <a:pt x="616745" y="526455"/>
                </a:lnTo>
                <a:lnTo>
                  <a:pt x="661223" y="526455"/>
                </a:lnTo>
                <a:lnTo>
                  <a:pt x="665521" y="519013"/>
                </a:lnTo>
                <a:lnTo>
                  <a:pt x="668283" y="513729"/>
                </a:lnTo>
                <a:close/>
              </a:path>
              <a:path w="708660" h="702945">
                <a:moveTo>
                  <a:pt x="624749" y="514037"/>
                </a:moveTo>
                <a:lnTo>
                  <a:pt x="624421" y="514545"/>
                </a:lnTo>
                <a:lnTo>
                  <a:pt x="624749" y="514037"/>
                </a:lnTo>
                <a:close/>
              </a:path>
              <a:path w="708660" h="702945">
                <a:moveTo>
                  <a:pt x="674917" y="500614"/>
                </a:moveTo>
                <a:lnTo>
                  <a:pt x="632495" y="500614"/>
                </a:lnTo>
                <a:lnTo>
                  <a:pt x="632116" y="501304"/>
                </a:lnTo>
                <a:lnTo>
                  <a:pt x="624749" y="514037"/>
                </a:lnTo>
                <a:lnTo>
                  <a:pt x="624948" y="513729"/>
                </a:lnTo>
                <a:lnTo>
                  <a:pt x="668283" y="513729"/>
                </a:lnTo>
                <a:lnTo>
                  <a:pt x="673421" y="503902"/>
                </a:lnTo>
                <a:lnTo>
                  <a:pt x="674917" y="500614"/>
                </a:lnTo>
                <a:close/>
              </a:path>
              <a:path w="708660" h="702945">
                <a:moveTo>
                  <a:pt x="632307" y="500939"/>
                </a:moveTo>
                <a:lnTo>
                  <a:pt x="632096" y="501304"/>
                </a:lnTo>
                <a:lnTo>
                  <a:pt x="632307" y="500939"/>
                </a:lnTo>
                <a:close/>
              </a:path>
              <a:path w="708660" h="702945">
                <a:moveTo>
                  <a:pt x="681039" y="486996"/>
                </a:moveTo>
                <a:lnTo>
                  <a:pt x="639600" y="486996"/>
                </a:lnTo>
                <a:lnTo>
                  <a:pt x="639145" y="487925"/>
                </a:lnTo>
                <a:lnTo>
                  <a:pt x="632307" y="500939"/>
                </a:lnTo>
                <a:lnTo>
                  <a:pt x="632495" y="500614"/>
                </a:lnTo>
                <a:lnTo>
                  <a:pt x="674917" y="500614"/>
                </a:lnTo>
                <a:lnTo>
                  <a:pt x="680551" y="488226"/>
                </a:lnTo>
                <a:lnTo>
                  <a:pt x="681039" y="486996"/>
                </a:lnTo>
                <a:close/>
              </a:path>
              <a:path w="708660" h="702945">
                <a:moveTo>
                  <a:pt x="639353" y="487469"/>
                </a:moveTo>
                <a:lnTo>
                  <a:pt x="639114" y="487925"/>
                </a:lnTo>
                <a:lnTo>
                  <a:pt x="639353" y="487469"/>
                </a:lnTo>
                <a:close/>
              </a:path>
              <a:path w="708660" h="702945">
                <a:moveTo>
                  <a:pt x="639600" y="486996"/>
                </a:moveTo>
                <a:lnTo>
                  <a:pt x="639353" y="487469"/>
                </a:lnTo>
                <a:lnTo>
                  <a:pt x="639145" y="487925"/>
                </a:lnTo>
                <a:lnTo>
                  <a:pt x="639600" y="486996"/>
                </a:lnTo>
                <a:close/>
              </a:path>
              <a:path w="708660" h="702945">
                <a:moveTo>
                  <a:pt x="686530" y="473141"/>
                </a:moveTo>
                <a:lnTo>
                  <a:pt x="645859" y="473141"/>
                </a:lnTo>
                <a:lnTo>
                  <a:pt x="645493" y="474007"/>
                </a:lnTo>
                <a:lnTo>
                  <a:pt x="639353" y="487469"/>
                </a:lnTo>
                <a:lnTo>
                  <a:pt x="639600" y="486996"/>
                </a:lnTo>
                <a:lnTo>
                  <a:pt x="681039" y="486996"/>
                </a:lnTo>
                <a:lnTo>
                  <a:pt x="686530" y="473141"/>
                </a:lnTo>
                <a:close/>
              </a:path>
              <a:path w="708660" h="702945">
                <a:moveTo>
                  <a:pt x="645680" y="473534"/>
                </a:moveTo>
                <a:lnTo>
                  <a:pt x="645466" y="474007"/>
                </a:lnTo>
                <a:lnTo>
                  <a:pt x="645680" y="473534"/>
                </a:lnTo>
                <a:close/>
              </a:path>
              <a:path w="708660" h="702945">
                <a:moveTo>
                  <a:pt x="691447" y="458946"/>
                </a:moveTo>
                <a:lnTo>
                  <a:pt x="651462" y="458946"/>
                </a:lnTo>
                <a:lnTo>
                  <a:pt x="651160" y="459749"/>
                </a:lnTo>
                <a:lnTo>
                  <a:pt x="645680" y="473534"/>
                </a:lnTo>
                <a:lnTo>
                  <a:pt x="645859" y="473141"/>
                </a:lnTo>
                <a:lnTo>
                  <a:pt x="686530" y="473141"/>
                </a:lnTo>
                <a:lnTo>
                  <a:pt x="686849" y="472337"/>
                </a:lnTo>
                <a:lnTo>
                  <a:pt x="691447" y="458946"/>
                </a:lnTo>
                <a:close/>
              </a:path>
              <a:path w="708660" h="702945">
                <a:moveTo>
                  <a:pt x="651260" y="459457"/>
                </a:moveTo>
                <a:lnTo>
                  <a:pt x="651144" y="459749"/>
                </a:lnTo>
                <a:lnTo>
                  <a:pt x="651260" y="459457"/>
                </a:lnTo>
                <a:close/>
              </a:path>
              <a:path w="708660" h="702945">
                <a:moveTo>
                  <a:pt x="695742" y="444312"/>
                </a:moveTo>
                <a:lnTo>
                  <a:pt x="656460" y="444312"/>
                </a:lnTo>
                <a:lnTo>
                  <a:pt x="656144" y="445329"/>
                </a:lnTo>
                <a:lnTo>
                  <a:pt x="651260" y="459457"/>
                </a:lnTo>
                <a:lnTo>
                  <a:pt x="651462" y="458946"/>
                </a:lnTo>
                <a:lnTo>
                  <a:pt x="691447" y="458946"/>
                </a:lnTo>
                <a:lnTo>
                  <a:pt x="692464" y="455984"/>
                </a:lnTo>
                <a:lnTo>
                  <a:pt x="695742" y="444312"/>
                </a:lnTo>
                <a:close/>
              </a:path>
              <a:path w="708660" h="702945">
                <a:moveTo>
                  <a:pt x="656295" y="444791"/>
                </a:moveTo>
                <a:lnTo>
                  <a:pt x="656111" y="445329"/>
                </a:lnTo>
                <a:lnTo>
                  <a:pt x="656295" y="444791"/>
                </a:lnTo>
                <a:close/>
              </a:path>
              <a:path w="708660" h="702945">
                <a:moveTo>
                  <a:pt x="656460" y="444312"/>
                </a:moveTo>
                <a:lnTo>
                  <a:pt x="656295" y="444791"/>
                </a:lnTo>
                <a:lnTo>
                  <a:pt x="656144" y="445329"/>
                </a:lnTo>
                <a:lnTo>
                  <a:pt x="656460" y="444312"/>
                </a:lnTo>
                <a:close/>
              </a:path>
              <a:path w="708660" h="702945">
                <a:moveTo>
                  <a:pt x="699456" y="429515"/>
                </a:moveTo>
                <a:lnTo>
                  <a:pt x="660587" y="429515"/>
                </a:lnTo>
                <a:lnTo>
                  <a:pt x="660385" y="430293"/>
                </a:lnTo>
                <a:lnTo>
                  <a:pt x="656295" y="444791"/>
                </a:lnTo>
                <a:lnTo>
                  <a:pt x="656460" y="444312"/>
                </a:lnTo>
                <a:lnTo>
                  <a:pt x="695742" y="444312"/>
                </a:lnTo>
                <a:lnTo>
                  <a:pt x="697159" y="439267"/>
                </a:lnTo>
                <a:lnTo>
                  <a:pt x="699456" y="429515"/>
                </a:lnTo>
                <a:close/>
              </a:path>
              <a:path w="708660" h="702945">
                <a:moveTo>
                  <a:pt x="660471" y="429928"/>
                </a:moveTo>
                <a:lnTo>
                  <a:pt x="660368" y="430293"/>
                </a:lnTo>
                <a:lnTo>
                  <a:pt x="660471" y="429928"/>
                </a:lnTo>
                <a:close/>
              </a:path>
              <a:path w="708660" h="702945">
                <a:moveTo>
                  <a:pt x="702603" y="414204"/>
                </a:moveTo>
                <a:lnTo>
                  <a:pt x="664171" y="414204"/>
                </a:lnTo>
                <a:lnTo>
                  <a:pt x="663969" y="415195"/>
                </a:lnTo>
                <a:lnTo>
                  <a:pt x="660471" y="429928"/>
                </a:lnTo>
                <a:lnTo>
                  <a:pt x="660587" y="429515"/>
                </a:lnTo>
                <a:lnTo>
                  <a:pt x="699456" y="429515"/>
                </a:lnTo>
                <a:lnTo>
                  <a:pt x="701159" y="422286"/>
                </a:lnTo>
                <a:lnTo>
                  <a:pt x="702603" y="414204"/>
                </a:lnTo>
                <a:close/>
              </a:path>
              <a:path w="708660" h="702945">
                <a:moveTo>
                  <a:pt x="664070" y="414632"/>
                </a:moveTo>
                <a:lnTo>
                  <a:pt x="663937" y="415195"/>
                </a:lnTo>
                <a:lnTo>
                  <a:pt x="664070" y="414632"/>
                </a:lnTo>
                <a:close/>
              </a:path>
              <a:path w="708660" h="702945">
                <a:moveTo>
                  <a:pt x="664171" y="414204"/>
                </a:moveTo>
                <a:lnTo>
                  <a:pt x="664070" y="414632"/>
                </a:lnTo>
                <a:lnTo>
                  <a:pt x="663969" y="415195"/>
                </a:lnTo>
                <a:lnTo>
                  <a:pt x="664171" y="414204"/>
                </a:lnTo>
                <a:close/>
              </a:path>
              <a:path w="708660" h="702945">
                <a:moveTo>
                  <a:pt x="705058" y="398817"/>
                </a:moveTo>
                <a:lnTo>
                  <a:pt x="666909" y="398817"/>
                </a:lnTo>
                <a:lnTo>
                  <a:pt x="666770" y="399683"/>
                </a:lnTo>
                <a:lnTo>
                  <a:pt x="664070" y="414632"/>
                </a:lnTo>
                <a:lnTo>
                  <a:pt x="664171" y="414204"/>
                </a:lnTo>
                <a:lnTo>
                  <a:pt x="702603" y="414204"/>
                </a:lnTo>
                <a:lnTo>
                  <a:pt x="704251" y="404979"/>
                </a:lnTo>
                <a:lnTo>
                  <a:pt x="705058" y="398817"/>
                </a:lnTo>
                <a:close/>
              </a:path>
              <a:path w="708660" h="702945">
                <a:moveTo>
                  <a:pt x="666815" y="399339"/>
                </a:moveTo>
                <a:lnTo>
                  <a:pt x="666754" y="399683"/>
                </a:lnTo>
                <a:lnTo>
                  <a:pt x="666815" y="399339"/>
                </a:lnTo>
                <a:close/>
              </a:path>
              <a:path w="708660" h="702945">
                <a:moveTo>
                  <a:pt x="706876" y="383028"/>
                </a:moveTo>
                <a:lnTo>
                  <a:pt x="668954" y="383028"/>
                </a:lnTo>
                <a:lnTo>
                  <a:pt x="668840" y="384082"/>
                </a:lnTo>
                <a:lnTo>
                  <a:pt x="666815" y="399339"/>
                </a:lnTo>
                <a:lnTo>
                  <a:pt x="666909" y="398817"/>
                </a:lnTo>
                <a:lnTo>
                  <a:pt x="705058" y="398817"/>
                </a:lnTo>
                <a:lnTo>
                  <a:pt x="706561" y="387345"/>
                </a:lnTo>
                <a:lnTo>
                  <a:pt x="706876" y="383028"/>
                </a:lnTo>
                <a:close/>
              </a:path>
              <a:path w="708660" h="702945">
                <a:moveTo>
                  <a:pt x="668871" y="383661"/>
                </a:moveTo>
                <a:lnTo>
                  <a:pt x="668815" y="384082"/>
                </a:lnTo>
                <a:lnTo>
                  <a:pt x="668871" y="383661"/>
                </a:lnTo>
                <a:close/>
              </a:path>
              <a:path w="708660" h="702945">
                <a:moveTo>
                  <a:pt x="707925" y="367240"/>
                </a:moveTo>
                <a:lnTo>
                  <a:pt x="670064" y="367240"/>
                </a:lnTo>
                <a:lnTo>
                  <a:pt x="670026" y="368080"/>
                </a:lnTo>
                <a:lnTo>
                  <a:pt x="668871" y="383661"/>
                </a:lnTo>
                <a:lnTo>
                  <a:pt x="668954" y="383028"/>
                </a:lnTo>
                <a:lnTo>
                  <a:pt x="706876" y="383028"/>
                </a:lnTo>
                <a:lnTo>
                  <a:pt x="707861" y="369549"/>
                </a:lnTo>
                <a:lnTo>
                  <a:pt x="707925" y="367240"/>
                </a:lnTo>
                <a:close/>
              </a:path>
              <a:path w="708660" h="702945">
                <a:moveTo>
                  <a:pt x="670041" y="367560"/>
                </a:moveTo>
                <a:lnTo>
                  <a:pt x="670003" y="368080"/>
                </a:lnTo>
                <a:lnTo>
                  <a:pt x="670041" y="367560"/>
                </a:lnTo>
                <a:close/>
              </a:path>
              <a:path w="708660" h="702945">
                <a:moveTo>
                  <a:pt x="708351" y="350949"/>
                </a:moveTo>
                <a:lnTo>
                  <a:pt x="670506" y="350949"/>
                </a:lnTo>
                <a:lnTo>
                  <a:pt x="670506" y="351991"/>
                </a:lnTo>
                <a:lnTo>
                  <a:pt x="670041" y="367560"/>
                </a:lnTo>
                <a:lnTo>
                  <a:pt x="670064" y="367240"/>
                </a:lnTo>
                <a:lnTo>
                  <a:pt x="707925" y="367240"/>
                </a:lnTo>
                <a:lnTo>
                  <a:pt x="708351" y="351991"/>
                </a:lnTo>
                <a:lnTo>
                  <a:pt x="708351" y="350949"/>
                </a:lnTo>
                <a:close/>
              </a:path>
              <a:path w="708660" h="702945">
                <a:moveTo>
                  <a:pt x="670491" y="351470"/>
                </a:moveTo>
                <a:lnTo>
                  <a:pt x="670477" y="351991"/>
                </a:lnTo>
                <a:lnTo>
                  <a:pt x="670491" y="351470"/>
                </a:lnTo>
                <a:close/>
              </a:path>
              <a:path w="708660" h="702945">
                <a:moveTo>
                  <a:pt x="707901" y="334859"/>
                </a:moveTo>
                <a:lnTo>
                  <a:pt x="670026" y="334859"/>
                </a:lnTo>
                <a:lnTo>
                  <a:pt x="670064" y="335700"/>
                </a:lnTo>
                <a:lnTo>
                  <a:pt x="670491" y="351470"/>
                </a:lnTo>
                <a:lnTo>
                  <a:pt x="670506" y="350949"/>
                </a:lnTo>
                <a:lnTo>
                  <a:pt x="708351" y="350949"/>
                </a:lnTo>
                <a:lnTo>
                  <a:pt x="707901" y="334859"/>
                </a:lnTo>
                <a:close/>
              </a:path>
              <a:path w="708660" h="702945">
                <a:moveTo>
                  <a:pt x="670041" y="335380"/>
                </a:moveTo>
                <a:lnTo>
                  <a:pt x="670050" y="335700"/>
                </a:lnTo>
                <a:lnTo>
                  <a:pt x="670041" y="335380"/>
                </a:lnTo>
                <a:close/>
              </a:path>
              <a:path w="708660" h="702945">
                <a:moveTo>
                  <a:pt x="706799" y="318857"/>
                </a:moveTo>
                <a:lnTo>
                  <a:pt x="668840" y="318857"/>
                </a:lnTo>
                <a:lnTo>
                  <a:pt x="668954" y="319912"/>
                </a:lnTo>
                <a:lnTo>
                  <a:pt x="670041" y="335380"/>
                </a:lnTo>
                <a:lnTo>
                  <a:pt x="670026" y="334859"/>
                </a:lnTo>
                <a:lnTo>
                  <a:pt x="707901" y="334859"/>
                </a:lnTo>
                <a:lnTo>
                  <a:pt x="707861" y="333403"/>
                </a:lnTo>
                <a:lnTo>
                  <a:pt x="706799" y="318857"/>
                </a:lnTo>
                <a:close/>
              </a:path>
              <a:path w="708660" h="702945">
                <a:moveTo>
                  <a:pt x="668871" y="319279"/>
                </a:moveTo>
                <a:lnTo>
                  <a:pt x="668917" y="319912"/>
                </a:lnTo>
                <a:lnTo>
                  <a:pt x="668871" y="319279"/>
                </a:lnTo>
                <a:close/>
              </a:path>
              <a:path w="708660" h="702945">
                <a:moveTo>
                  <a:pt x="704945" y="303257"/>
                </a:moveTo>
                <a:lnTo>
                  <a:pt x="666770" y="303257"/>
                </a:lnTo>
                <a:lnTo>
                  <a:pt x="666909" y="304136"/>
                </a:lnTo>
                <a:lnTo>
                  <a:pt x="668871" y="319279"/>
                </a:lnTo>
                <a:lnTo>
                  <a:pt x="668840" y="318857"/>
                </a:lnTo>
                <a:lnTo>
                  <a:pt x="706799" y="318857"/>
                </a:lnTo>
                <a:lnTo>
                  <a:pt x="706561" y="315594"/>
                </a:lnTo>
                <a:lnTo>
                  <a:pt x="704945" y="303257"/>
                </a:lnTo>
                <a:close/>
              </a:path>
              <a:path w="708660" h="702945">
                <a:moveTo>
                  <a:pt x="666821" y="303647"/>
                </a:moveTo>
                <a:lnTo>
                  <a:pt x="666885" y="304136"/>
                </a:lnTo>
                <a:lnTo>
                  <a:pt x="666821" y="303647"/>
                </a:lnTo>
                <a:close/>
              </a:path>
              <a:path w="708660" h="702945">
                <a:moveTo>
                  <a:pt x="702428" y="287757"/>
                </a:moveTo>
                <a:lnTo>
                  <a:pt x="663969" y="287757"/>
                </a:lnTo>
                <a:lnTo>
                  <a:pt x="664171" y="288736"/>
                </a:lnTo>
                <a:lnTo>
                  <a:pt x="666821" y="303647"/>
                </a:lnTo>
                <a:lnTo>
                  <a:pt x="666770" y="303257"/>
                </a:lnTo>
                <a:lnTo>
                  <a:pt x="704945" y="303257"/>
                </a:lnTo>
                <a:lnTo>
                  <a:pt x="704251" y="297961"/>
                </a:lnTo>
                <a:lnTo>
                  <a:pt x="702428" y="287757"/>
                </a:lnTo>
                <a:close/>
              </a:path>
              <a:path w="708660" h="702945">
                <a:moveTo>
                  <a:pt x="664060" y="288267"/>
                </a:moveTo>
                <a:lnTo>
                  <a:pt x="664144" y="288736"/>
                </a:lnTo>
                <a:lnTo>
                  <a:pt x="664060" y="288267"/>
                </a:lnTo>
                <a:close/>
              </a:path>
              <a:path w="708660" h="702945">
                <a:moveTo>
                  <a:pt x="663969" y="287757"/>
                </a:moveTo>
                <a:lnTo>
                  <a:pt x="664060" y="288267"/>
                </a:lnTo>
                <a:lnTo>
                  <a:pt x="664171" y="288736"/>
                </a:lnTo>
                <a:lnTo>
                  <a:pt x="663969" y="287757"/>
                </a:lnTo>
                <a:close/>
              </a:path>
              <a:path w="708660" h="702945">
                <a:moveTo>
                  <a:pt x="699273" y="272646"/>
                </a:moveTo>
                <a:lnTo>
                  <a:pt x="660385" y="272646"/>
                </a:lnTo>
                <a:lnTo>
                  <a:pt x="660587" y="273425"/>
                </a:lnTo>
                <a:lnTo>
                  <a:pt x="664060" y="288267"/>
                </a:lnTo>
                <a:lnTo>
                  <a:pt x="663969" y="287757"/>
                </a:lnTo>
                <a:lnTo>
                  <a:pt x="702428" y="287757"/>
                </a:lnTo>
                <a:lnTo>
                  <a:pt x="701159" y="280654"/>
                </a:lnTo>
                <a:lnTo>
                  <a:pt x="699273" y="272646"/>
                </a:lnTo>
                <a:close/>
              </a:path>
              <a:path w="708660" h="702945">
                <a:moveTo>
                  <a:pt x="660471" y="273012"/>
                </a:moveTo>
                <a:lnTo>
                  <a:pt x="660568" y="273425"/>
                </a:lnTo>
                <a:lnTo>
                  <a:pt x="660471" y="273012"/>
                </a:lnTo>
                <a:close/>
              </a:path>
              <a:path w="708660" h="702945">
                <a:moveTo>
                  <a:pt x="695457" y="257611"/>
                </a:moveTo>
                <a:lnTo>
                  <a:pt x="656144" y="257611"/>
                </a:lnTo>
                <a:lnTo>
                  <a:pt x="656460" y="258628"/>
                </a:lnTo>
                <a:lnTo>
                  <a:pt x="660471" y="273012"/>
                </a:lnTo>
                <a:lnTo>
                  <a:pt x="660385" y="272646"/>
                </a:lnTo>
                <a:lnTo>
                  <a:pt x="699273" y="272646"/>
                </a:lnTo>
                <a:lnTo>
                  <a:pt x="697159" y="263673"/>
                </a:lnTo>
                <a:lnTo>
                  <a:pt x="695457" y="257611"/>
                </a:lnTo>
                <a:close/>
              </a:path>
              <a:path w="708660" h="702945">
                <a:moveTo>
                  <a:pt x="656295" y="258148"/>
                </a:moveTo>
                <a:lnTo>
                  <a:pt x="656430" y="258628"/>
                </a:lnTo>
                <a:lnTo>
                  <a:pt x="656295" y="258148"/>
                </a:lnTo>
                <a:close/>
              </a:path>
              <a:path w="708660" h="702945">
                <a:moveTo>
                  <a:pt x="656144" y="257611"/>
                </a:moveTo>
                <a:lnTo>
                  <a:pt x="656295" y="258148"/>
                </a:lnTo>
                <a:lnTo>
                  <a:pt x="656460" y="258628"/>
                </a:lnTo>
                <a:lnTo>
                  <a:pt x="656144" y="257611"/>
                </a:lnTo>
                <a:close/>
              </a:path>
              <a:path w="708660" h="702945">
                <a:moveTo>
                  <a:pt x="691169" y="243190"/>
                </a:moveTo>
                <a:lnTo>
                  <a:pt x="651160" y="243190"/>
                </a:lnTo>
                <a:lnTo>
                  <a:pt x="651450" y="243969"/>
                </a:lnTo>
                <a:lnTo>
                  <a:pt x="656295" y="258148"/>
                </a:lnTo>
                <a:lnTo>
                  <a:pt x="656144" y="257611"/>
                </a:lnTo>
                <a:lnTo>
                  <a:pt x="695457" y="257611"/>
                </a:lnTo>
                <a:lnTo>
                  <a:pt x="692464" y="246956"/>
                </a:lnTo>
                <a:lnTo>
                  <a:pt x="691169" y="243190"/>
                </a:lnTo>
                <a:close/>
              </a:path>
              <a:path w="708660" h="702945">
                <a:moveTo>
                  <a:pt x="651269" y="243510"/>
                </a:moveTo>
                <a:lnTo>
                  <a:pt x="651427" y="243969"/>
                </a:lnTo>
                <a:lnTo>
                  <a:pt x="651269" y="243510"/>
                </a:lnTo>
                <a:close/>
              </a:path>
              <a:path w="708660" h="702945">
                <a:moveTo>
                  <a:pt x="686133" y="228808"/>
                </a:moveTo>
                <a:lnTo>
                  <a:pt x="645481" y="228808"/>
                </a:lnTo>
                <a:lnTo>
                  <a:pt x="645884" y="229749"/>
                </a:lnTo>
                <a:lnTo>
                  <a:pt x="651269" y="243510"/>
                </a:lnTo>
                <a:lnTo>
                  <a:pt x="651160" y="243190"/>
                </a:lnTo>
                <a:lnTo>
                  <a:pt x="691169" y="243190"/>
                </a:lnTo>
                <a:lnTo>
                  <a:pt x="686849" y="230627"/>
                </a:lnTo>
                <a:lnTo>
                  <a:pt x="686133" y="228808"/>
                </a:lnTo>
                <a:close/>
              </a:path>
              <a:path w="708660" h="702945">
                <a:moveTo>
                  <a:pt x="645648" y="229232"/>
                </a:moveTo>
                <a:lnTo>
                  <a:pt x="645851" y="229749"/>
                </a:lnTo>
                <a:lnTo>
                  <a:pt x="645648" y="229232"/>
                </a:lnTo>
                <a:close/>
              </a:path>
              <a:path w="708660" h="702945">
                <a:moveTo>
                  <a:pt x="645481" y="228808"/>
                </a:moveTo>
                <a:lnTo>
                  <a:pt x="645648" y="229232"/>
                </a:lnTo>
                <a:lnTo>
                  <a:pt x="645884" y="229749"/>
                </a:lnTo>
                <a:lnTo>
                  <a:pt x="645481" y="228808"/>
                </a:lnTo>
                <a:close/>
              </a:path>
              <a:path w="708660" h="702945">
                <a:moveTo>
                  <a:pt x="680729" y="215065"/>
                </a:moveTo>
                <a:lnTo>
                  <a:pt x="639158" y="215065"/>
                </a:lnTo>
                <a:lnTo>
                  <a:pt x="639574" y="215906"/>
                </a:lnTo>
                <a:lnTo>
                  <a:pt x="645648" y="229232"/>
                </a:lnTo>
                <a:lnTo>
                  <a:pt x="645481" y="228808"/>
                </a:lnTo>
                <a:lnTo>
                  <a:pt x="686133" y="228808"/>
                </a:lnTo>
                <a:lnTo>
                  <a:pt x="680729" y="215065"/>
                </a:lnTo>
                <a:close/>
              </a:path>
              <a:path w="708660" h="702945">
                <a:moveTo>
                  <a:pt x="639310" y="215396"/>
                </a:moveTo>
                <a:lnTo>
                  <a:pt x="639543" y="215906"/>
                </a:lnTo>
                <a:lnTo>
                  <a:pt x="639310" y="215396"/>
                </a:lnTo>
                <a:close/>
              </a:path>
              <a:path w="708660" h="702945">
                <a:moveTo>
                  <a:pt x="674547" y="201498"/>
                </a:moveTo>
                <a:lnTo>
                  <a:pt x="632091" y="201498"/>
                </a:lnTo>
                <a:lnTo>
                  <a:pt x="632495" y="202238"/>
                </a:lnTo>
                <a:lnTo>
                  <a:pt x="639310" y="215396"/>
                </a:lnTo>
                <a:lnTo>
                  <a:pt x="639158" y="215065"/>
                </a:lnTo>
                <a:lnTo>
                  <a:pt x="680729" y="215065"/>
                </a:lnTo>
                <a:lnTo>
                  <a:pt x="680551" y="214613"/>
                </a:lnTo>
                <a:lnTo>
                  <a:pt x="674547" y="201498"/>
                </a:lnTo>
                <a:close/>
              </a:path>
              <a:path w="708660" h="702945">
                <a:moveTo>
                  <a:pt x="632302" y="201905"/>
                </a:moveTo>
                <a:lnTo>
                  <a:pt x="632476" y="202238"/>
                </a:lnTo>
                <a:lnTo>
                  <a:pt x="632302" y="201905"/>
                </a:lnTo>
                <a:close/>
              </a:path>
              <a:path w="708660" h="702945">
                <a:moveTo>
                  <a:pt x="667848" y="188307"/>
                </a:moveTo>
                <a:lnTo>
                  <a:pt x="624456" y="188307"/>
                </a:lnTo>
                <a:lnTo>
                  <a:pt x="624948" y="189123"/>
                </a:lnTo>
                <a:lnTo>
                  <a:pt x="632302" y="201905"/>
                </a:lnTo>
                <a:lnTo>
                  <a:pt x="632091" y="201498"/>
                </a:lnTo>
                <a:lnTo>
                  <a:pt x="674547" y="201498"/>
                </a:lnTo>
                <a:lnTo>
                  <a:pt x="673421" y="199038"/>
                </a:lnTo>
                <a:lnTo>
                  <a:pt x="667848" y="188307"/>
                </a:lnTo>
                <a:close/>
              </a:path>
              <a:path w="708660" h="702945">
                <a:moveTo>
                  <a:pt x="624749" y="188815"/>
                </a:moveTo>
                <a:lnTo>
                  <a:pt x="624927" y="189123"/>
                </a:lnTo>
                <a:lnTo>
                  <a:pt x="624749" y="188815"/>
                </a:lnTo>
                <a:close/>
              </a:path>
              <a:path w="708660" h="702945">
                <a:moveTo>
                  <a:pt x="660801" y="175656"/>
                </a:moveTo>
                <a:lnTo>
                  <a:pt x="616240" y="175656"/>
                </a:lnTo>
                <a:lnTo>
                  <a:pt x="616745" y="176397"/>
                </a:lnTo>
                <a:lnTo>
                  <a:pt x="624749" y="188815"/>
                </a:lnTo>
                <a:lnTo>
                  <a:pt x="624456" y="188307"/>
                </a:lnTo>
                <a:lnTo>
                  <a:pt x="667848" y="188307"/>
                </a:lnTo>
                <a:lnTo>
                  <a:pt x="665534" y="183852"/>
                </a:lnTo>
                <a:lnTo>
                  <a:pt x="660801" y="175656"/>
                </a:lnTo>
                <a:close/>
              </a:path>
              <a:path w="708660" h="702945">
                <a:moveTo>
                  <a:pt x="616478" y="176024"/>
                </a:moveTo>
                <a:lnTo>
                  <a:pt x="616719" y="176397"/>
                </a:lnTo>
                <a:lnTo>
                  <a:pt x="616478" y="176024"/>
                </a:lnTo>
                <a:close/>
              </a:path>
              <a:path w="708660" h="702945">
                <a:moveTo>
                  <a:pt x="653268" y="163307"/>
                </a:moveTo>
                <a:lnTo>
                  <a:pt x="607369" y="163307"/>
                </a:lnTo>
                <a:lnTo>
                  <a:pt x="607936" y="164060"/>
                </a:lnTo>
                <a:lnTo>
                  <a:pt x="616478" y="176024"/>
                </a:lnTo>
                <a:lnTo>
                  <a:pt x="616240" y="175656"/>
                </a:lnTo>
                <a:lnTo>
                  <a:pt x="660801" y="175656"/>
                </a:lnTo>
                <a:lnTo>
                  <a:pt x="657040" y="169143"/>
                </a:lnTo>
                <a:lnTo>
                  <a:pt x="653268" y="163307"/>
                </a:lnTo>
                <a:close/>
              </a:path>
              <a:path w="708660" h="702945">
                <a:moveTo>
                  <a:pt x="607645" y="163693"/>
                </a:moveTo>
                <a:lnTo>
                  <a:pt x="607908" y="164060"/>
                </a:lnTo>
                <a:lnTo>
                  <a:pt x="607645" y="163693"/>
                </a:lnTo>
                <a:close/>
              </a:path>
              <a:path w="708660" h="702945">
                <a:moveTo>
                  <a:pt x="645420" y="151534"/>
                </a:moveTo>
                <a:lnTo>
                  <a:pt x="597992" y="151534"/>
                </a:lnTo>
                <a:lnTo>
                  <a:pt x="598547" y="152199"/>
                </a:lnTo>
                <a:lnTo>
                  <a:pt x="607645" y="163693"/>
                </a:lnTo>
                <a:lnTo>
                  <a:pt x="607369" y="163307"/>
                </a:lnTo>
                <a:lnTo>
                  <a:pt x="653268" y="163307"/>
                </a:lnTo>
                <a:lnTo>
                  <a:pt x="647840" y="154910"/>
                </a:lnTo>
                <a:lnTo>
                  <a:pt x="645420" y="151534"/>
                </a:lnTo>
                <a:close/>
              </a:path>
              <a:path w="708660" h="702945">
                <a:moveTo>
                  <a:pt x="598242" y="151849"/>
                </a:moveTo>
                <a:lnTo>
                  <a:pt x="598520" y="152199"/>
                </a:lnTo>
                <a:lnTo>
                  <a:pt x="598242" y="151849"/>
                </a:lnTo>
                <a:close/>
              </a:path>
              <a:path w="708660" h="702945">
                <a:moveTo>
                  <a:pt x="637187" y="140151"/>
                </a:moveTo>
                <a:lnTo>
                  <a:pt x="588048" y="140151"/>
                </a:lnTo>
                <a:lnTo>
                  <a:pt x="588628" y="140791"/>
                </a:lnTo>
                <a:lnTo>
                  <a:pt x="598242" y="151849"/>
                </a:lnTo>
                <a:lnTo>
                  <a:pt x="597992" y="151534"/>
                </a:lnTo>
                <a:lnTo>
                  <a:pt x="645420" y="151534"/>
                </a:lnTo>
                <a:lnTo>
                  <a:pt x="637934" y="141092"/>
                </a:lnTo>
                <a:lnTo>
                  <a:pt x="637187" y="140151"/>
                </a:lnTo>
                <a:close/>
              </a:path>
              <a:path w="708660" h="702945">
                <a:moveTo>
                  <a:pt x="588372" y="140524"/>
                </a:moveTo>
                <a:lnTo>
                  <a:pt x="588605" y="140791"/>
                </a:lnTo>
                <a:lnTo>
                  <a:pt x="588372" y="140524"/>
                </a:lnTo>
                <a:close/>
              </a:path>
              <a:path w="708660" h="702945">
                <a:moveTo>
                  <a:pt x="628510" y="129219"/>
                </a:moveTo>
                <a:lnTo>
                  <a:pt x="577560" y="129219"/>
                </a:lnTo>
                <a:lnTo>
                  <a:pt x="578280" y="129935"/>
                </a:lnTo>
                <a:lnTo>
                  <a:pt x="588372" y="140524"/>
                </a:lnTo>
                <a:lnTo>
                  <a:pt x="588048" y="140151"/>
                </a:lnTo>
                <a:lnTo>
                  <a:pt x="637187" y="140151"/>
                </a:lnTo>
                <a:lnTo>
                  <a:pt x="628510" y="129219"/>
                </a:lnTo>
                <a:close/>
              </a:path>
              <a:path w="708660" h="702945">
                <a:moveTo>
                  <a:pt x="577939" y="129615"/>
                </a:moveTo>
                <a:lnTo>
                  <a:pt x="578245" y="129935"/>
                </a:lnTo>
                <a:lnTo>
                  <a:pt x="577939" y="129615"/>
                </a:lnTo>
                <a:close/>
              </a:path>
              <a:path w="708660" h="702945">
                <a:moveTo>
                  <a:pt x="577560" y="129219"/>
                </a:moveTo>
                <a:lnTo>
                  <a:pt x="577939" y="129615"/>
                </a:lnTo>
                <a:lnTo>
                  <a:pt x="578280" y="129935"/>
                </a:lnTo>
                <a:lnTo>
                  <a:pt x="577560" y="129219"/>
                </a:lnTo>
                <a:close/>
              </a:path>
              <a:path w="708660" h="702945">
                <a:moveTo>
                  <a:pt x="619647" y="118928"/>
                </a:moveTo>
                <a:lnTo>
                  <a:pt x="566543" y="118928"/>
                </a:lnTo>
                <a:lnTo>
                  <a:pt x="567136" y="119455"/>
                </a:lnTo>
                <a:lnTo>
                  <a:pt x="577939" y="129615"/>
                </a:lnTo>
                <a:lnTo>
                  <a:pt x="577560" y="129219"/>
                </a:lnTo>
                <a:lnTo>
                  <a:pt x="628510" y="129219"/>
                </a:lnTo>
                <a:lnTo>
                  <a:pt x="627434" y="127864"/>
                </a:lnTo>
                <a:lnTo>
                  <a:pt x="619647" y="118928"/>
                </a:lnTo>
                <a:close/>
              </a:path>
              <a:path w="708660" h="702945">
                <a:moveTo>
                  <a:pt x="566747" y="119119"/>
                </a:moveTo>
                <a:lnTo>
                  <a:pt x="567105" y="119455"/>
                </a:lnTo>
                <a:lnTo>
                  <a:pt x="566747" y="119119"/>
                </a:lnTo>
                <a:close/>
              </a:path>
              <a:path w="708660" h="702945">
                <a:moveTo>
                  <a:pt x="610468" y="109001"/>
                </a:moveTo>
                <a:lnTo>
                  <a:pt x="555021" y="109001"/>
                </a:lnTo>
                <a:lnTo>
                  <a:pt x="555741" y="109603"/>
                </a:lnTo>
                <a:lnTo>
                  <a:pt x="566747" y="119119"/>
                </a:lnTo>
                <a:lnTo>
                  <a:pt x="566543" y="118928"/>
                </a:lnTo>
                <a:lnTo>
                  <a:pt x="619647" y="118928"/>
                </a:lnTo>
                <a:lnTo>
                  <a:pt x="616367" y="115163"/>
                </a:lnTo>
                <a:lnTo>
                  <a:pt x="610468" y="109001"/>
                </a:lnTo>
                <a:close/>
              </a:path>
              <a:path w="708660" h="702945">
                <a:moveTo>
                  <a:pt x="555520" y="109431"/>
                </a:moveTo>
                <a:lnTo>
                  <a:pt x="555719" y="109603"/>
                </a:lnTo>
                <a:lnTo>
                  <a:pt x="555520" y="109431"/>
                </a:lnTo>
                <a:close/>
              </a:path>
              <a:path w="708660" h="702945">
                <a:moveTo>
                  <a:pt x="601234" y="99713"/>
                </a:moveTo>
                <a:lnTo>
                  <a:pt x="543058" y="99713"/>
                </a:lnTo>
                <a:lnTo>
                  <a:pt x="543752" y="100228"/>
                </a:lnTo>
                <a:lnTo>
                  <a:pt x="555520" y="109431"/>
                </a:lnTo>
                <a:lnTo>
                  <a:pt x="555021" y="109001"/>
                </a:lnTo>
                <a:lnTo>
                  <a:pt x="610468" y="109001"/>
                </a:lnTo>
                <a:lnTo>
                  <a:pt x="604630" y="102901"/>
                </a:lnTo>
                <a:lnTo>
                  <a:pt x="601234" y="99713"/>
                </a:lnTo>
                <a:close/>
              </a:path>
              <a:path w="708660" h="702945">
                <a:moveTo>
                  <a:pt x="543379" y="99964"/>
                </a:moveTo>
                <a:lnTo>
                  <a:pt x="543718" y="100228"/>
                </a:lnTo>
                <a:lnTo>
                  <a:pt x="543379" y="99964"/>
                </a:lnTo>
                <a:close/>
              </a:path>
              <a:path w="708660" h="702945">
                <a:moveTo>
                  <a:pt x="591830" y="90915"/>
                </a:moveTo>
                <a:lnTo>
                  <a:pt x="530602" y="90915"/>
                </a:lnTo>
                <a:lnTo>
                  <a:pt x="531422" y="91468"/>
                </a:lnTo>
                <a:lnTo>
                  <a:pt x="543379" y="99964"/>
                </a:lnTo>
                <a:lnTo>
                  <a:pt x="543058" y="99713"/>
                </a:lnTo>
                <a:lnTo>
                  <a:pt x="601234" y="99713"/>
                </a:lnTo>
                <a:lnTo>
                  <a:pt x="592190" y="91226"/>
                </a:lnTo>
                <a:lnTo>
                  <a:pt x="591830" y="90915"/>
                </a:lnTo>
                <a:close/>
              </a:path>
              <a:path w="708660" h="702945">
                <a:moveTo>
                  <a:pt x="531040" y="91226"/>
                </a:moveTo>
                <a:lnTo>
                  <a:pt x="531382" y="91468"/>
                </a:lnTo>
                <a:lnTo>
                  <a:pt x="531040" y="91226"/>
                </a:lnTo>
                <a:close/>
              </a:path>
              <a:path w="708660" h="702945">
                <a:moveTo>
                  <a:pt x="582535" y="82896"/>
                </a:moveTo>
                <a:lnTo>
                  <a:pt x="517881" y="82896"/>
                </a:lnTo>
                <a:lnTo>
                  <a:pt x="518588" y="83322"/>
                </a:lnTo>
                <a:lnTo>
                  <a:pt x="531040" y="91226"/>
                </a:lnTo>
                <a:lnTo>
                  <a:pt x="530602" y="90915"/>
                </a:lnTo>
                <a:lnTo>
                  <a:pt x="591830" y="90915"/>
                </a:lnTo>
                <a:lnTo>
                  <a:pt x="582535" y="82896"/>
                </a:lnTo>
                <a:close/>
              </a:path>
              <a:path w="708660" h="702945">
                <a:moveTo>
                  <a:pt x="518239" y="83122"/>
                </a:moveTo>
                <a:lnTo>
                  <a:pt x="518555" y="83322"/>
                </a:lnTo>
                <a:lnTo>
                  <a:pt x="518239" y="83122"/>
                </a:lnTo>
                <a:close/>
              </a:path>
              <a:path w="708660" h="702945">
                <a:moveTo>
                  <a:pt x="573021" y="75227"/>
                </a:moveTo>
                <a:lnTo>
                  <a:pt x="504479" y="75227"/>
                </a:lnTo>
                <a:lnTo>
                  <a:pt x="505299" y="75666"/>
                </a:lnTo>
                <a:lnTo>
                  <a:pt x="518239" y="83122"/>
                </a:lnTo>
                <a:lnTo>
                  <a:pt x="517881" y="82896"/>
                </a:lnTo>
                <a:lnTo>
                  <a:pt x="582535" y="82896"/>
                </a:lnTo>
                <a:lnTo>
                  <a:pt x="579466" y="80247"/>
                </a:lnTo>
                <a:lnTo>
                  <a:pt x="573021" y="75227"/>
                </a:lnTo>
                <a:close/>
              </a:path>
              <a:path w="708660" h="702945">
                <a:moveTo>
                  <a:pt x="504804" y="75414"/>
                </a:moveTo>
                <a:lnTo>
                  <a:pt x="505244" y="75666"/>
                </a:lnTo>
                <a:lnTo>
                  <a:pt x="504804" y="75414"/>
                </a:lnTo>
                <a:close/>
              </a:path>
              <a:path w="708660" h="702945">
                <a:moveTo>
                  <a:pt x="563966" y="68324"/>
                </a:moveTo>
                <a:lnTo>
                  <a:pt x="490912" y="68324"/>
                </a:lnTo>
                <a:lnTo>
                  <a:pt x="491846" y="68776"/>
                </a:lnTo>
                <a:lnTo>
                  <a:pt x="504804" y="75414"/>
                </a:lnTo>
                <a:lnTo>
                  <a:pt x="504479" y="75227"/>
                </a:lnTo>
                <a:lnTo>
                  <a:pt x="573021" y="75227"/>
                </a:lnTo>
                <a:lnTo>
                  <a:pt x="566076" y="69818"/>
                </a:lnTo>
                <a:lnTo>
                  <a:pt x="563966" y="68324"/>
                </a:lnTo>
                <a:close/>
              </a:path>
              <a:path w="708660" h="702945">
                <a:moveTo>
                  <a:pt x="491475" y="68612"/>
                </a:moveTo>
                <a:lnTo>
                  <a:pt x="491798" y="68776"/>
                </a:lnTo>
                <a:lnTo>
                  <a:pt x="491475" y="68612"/>
                </a:lnTo>
                <a:close/>
              </a:path>
              <a:path w="708660" h="702945">
                <a:moveTo>
                  <a:pt x="490912" y="68324"/>
                </a:moveTo>
                <a:lnTo>
                  <a:pt x="491475" y="68612"/>
                </a:lnTo>
                <a:lnTo>
                  <a:pt x="491846" y="68776"/>
                </a:lnTo>
                <a:lnTo>
                  <a:pt x="490912" y="68324"/>
                </a:lnTo>
                <a:close/>
              </a:path>
              <a:path w="708660" h="702945">
                <a:moveTo>
                  <a:pt x="555295" y="62187"/>
                </a:moveTo>
                <a:lnTo>
                  <a:pt x="476993" y="62187"/>
                </a:lnTo>
                <a:lnTo>
                  <a:pt x="477699" y="62488"/>
                </a:lnTo>
                <a:lnTo>
                  <a:pt x="491475" y="68612"/>
                </a:lnTo>
                <a:lnTo>
                  <a:pt x="490912" y="68324"/>
                </a:lnTo>
                <a:lnTo>
                  <a:pt x="563966" y="68324"/>
                </a:lnTo>
                <a:lnTo>
                  <a:pt x="555295" y="62187"/>
                </a:lnTo>
                <a:close/>
              </a:path>
              <a:path w="708660" h="702945">
                <a:moveTo>
                  <a:pt x="477444" y="62387"/>
                </a:moveTo>
                <a:lnTo>
                  <a:pt x="477672" y="62488"/>
                </a:lnTo>
                <a:lnTo>
                  <a:pt x="477444" y="62387"/>
                </a:lnTo>
                <a:close/>
              </a:path>
              <a:path w="708660" h="702945">
                <a:moveTo>
                  <a:pt x="546624" y="56464"/>
                </a:moveTo>
                <a:lnTo>
                  <a:pt x="462467" y="56464"/>
                </a:lnTo>
                <a:lnTo>
                  <a:pt x="463477" y="56828"/>
                </a:lnTo>
                <a:lnTo>
                  <a:pt x="477444" y="62387"/>
                </a:lnTo>
                <a:lnTo>
                  <a:pt x="476993" y="62187"/>
                </a:lnTo>
                <a:lnTo>
                  <a:pt x="555295" y="62187"/>
                </a:lnTo>
                <a:lnTo>
                  <a:pt x="552157" y="59966"/>
                </a:lnTo>
                <a:lnTo>
                  <a:pt x="546624" y="56464"/>
                </a:lnTo>
                <a:close/>
              </a:path>
              <a:path w="708660" h="702945">
                <a:moveTo>
                  <a:pt x="462923" y="56644"/>
                </a:moveTo>
                <a:lnTo>
                  <a:pt x="463388" y="56828"/>
                </a:lnTo>
                <a:lnTo>
                  <a:pt x="462923" y="56644"/>
                </a:lnTo>
                <a:close/>
              </a:path>
              <a:path w="708660" h="702945">
                <a:moveTo>
                  <a:pt x="462467" y="56464"/>
                </a:moveTo>
                <a:lnTo>
                  <a:pt x="462923" y="56644"/>
                </a:lnTo>
                <a:lnTo>
                  <a:pt x="463477" y="56828"/>
                </a:lnTo>
                <a:lnTo>
                  <a:pt x="462467" y="56464"/>
                </a:lnTo>
                <a:close/>
              </a:path>
              <a:path w="708660" h="702945">
                <a:moveTo>
                  <a:pt x="539009" y="51645"/>
                </a:moveTo>
                <a:lnTo>
                  <a:pt x="447853" y="51645"/>
                </a:lnTo>
                <a:lnTo>
                  <a:pt x="448636" y="51883"/>
                </a:lnTo>
                <a:lnTo>
                  <a:pt x="462923" y="56644"/>
                </a:lnTo>
                <a:lnTo>
                  <a:pt x="462467" y="56464"/>
                </a:lnTo>
                <a:lnTo>
                  <a:pt x="546624" y="56464"/>
                </a:lnTo>
                <a:lnTo>
                  <a:pt x="539009" y="51645"/>
                </a:lnTo>
                <a:close/>
              </a:path>
              <a:path w="708660" h="702945">
                <a:moveTo>
                  <a:pt x="448192" y="51757"/>
                </a:moveTo>
                <a:lnTo>
                  <a:pt x="448572" y="51883"/>
                </a:lnTo>
                <a:lnTo>
                  <a:pt x="448192" y="51757"/>
                </a:lnTo>
                <a:close/>
              </a:path>
              <a:path w="708660" h="702945">
                <a:moveTo>
                  <a:pt x="531677" y="47365"/>
                </a:moveTo>
                <a:lnTo>
                  <a:pt x="432735" y="47365"/>
                </a:lnTo>
                <a:lnTo>
                  <a:pt x="433732" y="47629"/>
                </a:lnTo>
                <a:lnTo>
                  <a:pt x="448192" y="51757"/>
                </a:lnTo>
                <a:lnTo>
                  <a:pt x="447853" y="51645"/>
                </a:lnTo>
                <a:lnTo>
                  <a:pt x="539009" y="51645"/>
                </a:lnTo>
                <a:lnTo>
                  <a:pt x="537858" y="50917"/>
                </a:lnTo>
                <a:lnTo>
                  <a:pt x="531677" y="47365"/>
                </a:lnTo>
                <a:close/>
              </a:path>
              <a:path w="708660" h="702945">
                <a:moveTo>
                  <a:pt x="433386" y="47550"/>
                </a:moveTo>
                <a:lnTo>
                  <a:pt x="433662" y="47629"/>
                </a:lnTo>
                <a:lnTo>
                  <a:pt x="433386" y="47550"/>
                </a:lnTo>
                <a:close/>
              </a:path>
              <a:path w="708660" h="702945">
                <a:moveTo>
                  <a:pt x="525735" y="43951"/>
                </a:moveTo>
                <a:lnTo>
                  <a:pt x="417540" y="43951"/>
                </a:lnTo>
                <a:lnTo>
                  <a:pt x="418449" y="44140"/>
                </a:lnTo>
                <a:lnTo>
                  <a:pt x="433386" y="47550"/>
                </a:lnTo>
                <a:lnTo>
                  <a:pt x="432735" y="47365"/>
                </a:lnTo>
                <a:lnTo>
                  <a:pt x="531677" y="47365"/>
                </a:lnTo>
                <a:lnTo>
                  <a:pt x="525735" y="43951"/>
                </a:lnTo>
                <a:close/>
              </a:path>
              <a:path w="708660" h="702945">
                <a:moveTo>
                  <a:pt x="418091" y="44076"/>
                </a:moveTo>
                <a:lnTo>
                  <a:pt x="418369" y="44140"/>
                </a:lnTo>
                <a:lnTo>
                  <a:pt x="418091" y="44076"/>
                </a:lnTo>
                <a:close/>
              </a:path>
              <a:path w="708660" h="702945">
                <a:moveTo>
                  <a:pt x="520718" y="41215"/>
                </a:moveTo>
                <a:lnTo>
                  <a:pt x="401892" y="41215"/>
                </a:lnTo>
                <a:lnTo>
                  <a:pt x="402750" y="41353"/>
                </a:lnTo>
                <a:lnTo>
                  <a:pt x="418091" y="44076"/>
                </a:lnTo>
                <a:lnTo>
                  <a:pt x="417540" y="43951"/>
                </a:lnTo>
                <a:lnTo>
                  <a:pt x="525735" y="43951"/>
                </a:lnTo>
                <a:lnTo>
                  <a:pt x="523005" y="42383"/>
                </a:lnTo>
                <a:lnTo>
                  <a:pt x="520718" y="41215"/>
                </a:lnTo>
                <a:close/>
              </a:path>
              <a:path w="708660" h="702945">
                <a:moveTo>
                  <a:pt x="402462" y="41316"/>
                </a:moveTo>
                <a:lnTo>
                  <a:pt x="402674" y="41353"/>
                </a:lnTo>
                <a:lnTo>
                  <a:pt x="402462" y="41316"/>
                </a:lnTo>
                <a:close/>
              </a:path>
              <a:path w="708660" h="702945">
                <a:moveTo>
                  <a:pt x="386622" y="39262"/>
                </a:moveTo>
                <a:lnTo>
                  <a:pt x="402462" y="41316"/>
                </a:lnTo>
                <a:lnTo>
                  <a:pt x="401892" y="41215"/>
                </a:lnTo>
                <a:lnTo>
                  <a:pt x="520718" y="41215"/>
                </a:lnTo>
                <a:lnTo>
                  <a:pt x="516956" y="39295"/>
                </a:lnTo>
                <a:lnTo>
                  <a:pt x="387076" y="39295"/>
                </a:lnTo>
                <a:lnTo>
                  <a:pt x="386622" y="39262"/>
                </a:lnTo>
                <a:close/>
              </a:path>
              <a:path w="708660" h="702945">
                <a:moveTo>
                  <a:pt x="386003" y="39182"/>
                </a:moveTo>
                <a:lnTo>
                  <a:pt x="386622" y="39262"/>
                </a:lnTo>
                <a:lnTo>
                  <a:pt x="387076" y="39295"/>
                </a:lnTo>
                <a:lnTo>
                  <a:pt x="386003" y="39182"/>
                </a:lnTo>
                <a:close/>
              </a:path>
              <a:path w="708660" h="702945">
                <a:moveTo>
                  <a:pt x="516734" y="39182"/>
                </a:moveTo>
                <a:lnTo>
                  <a:pt x="386003" y="39182"/>
                </a:lnTo>
                <a:lnTo>
                  <a:pt x="387076" y="39295"/>
                </a:lnTo>
                <a:lnTo>
                  <a:pt x="516956" y="39295"/>
                </a:lnTo>
                <a:lnTo>
                  <a:pt x="516734" y="39182"/>
                </a:lnTo>
                <a:close/>
              </a:path>
              <a:path w="708660" h="702945">
                <a:moveTo>
                  <a:pt x="514546" y="38065"/>
                </a:moveTo>
                <a:lnTo>
                  <a:pt x="370039" y="38065"/>
                </a:lnTo>
                <a:lnTo>
                  <a:pt x="370885" y="38115"/>
                </a:lnTo>
                <a:lnTo>
                  <a:pt x="370735" y="38115"/>
                </a:lnTo>
                <a:lnTo>
                  <a:pt x="386622" y="39262"/>
                </a:lnTo>
                <a:lnTo>
                  <a:pt x="386003" y="39182"/>
                </a:lnTo>
                <a:lnTo>
                  <a:pt x="516734" y="39182"/>
                </a:lnTo>
                <a:lnTo>
                  <a:pt x="514644" y="38115"/>
                </a:lnTo>
                <a:lnTo>
                  <a:pt x="370641" y="38109"/>
                </a:lnTo>
                <a:lnTo>
                  <a:pt x="514631" y="38109"/>
                </a:lnTo>
                <a:close/>
              </a:path>
              <a:path w="708660" h="702945">
                <a:moveTo>
                  <a:pt x="513710" y="37638"/>
                </a:moveTo>
                <a:lnTo>
                  <a:pt x="353659" y="37638"/>
                </a:lnTo>
                <a:lnTo>
                  <a:pt x="354176" y="37651"/>
                </a:lnTo>
                <a:lnTo>
                  <a:pt x="370641" y="38109"/>
                </a:lnTo>
                <a:lnTo>
                  <a:pt x="370039" y="38065"/>
                </a:lnTo>
                <a:lnTo>
                  <a:pt x="514546" y="38065"/>
                </a:lnTo>
                <a:lnTo>
                  <a:pt x="513710" y="37638"/>
                </a:lnTo>
                <a:close/>
              </a:path>
              <a:path w="708660" h="702945">
                <a:moveTo>
                  <a:pt x="37859" y="18825"/>
                </a:moveTo>
                <a:lnTo>
                  <a:pt x="18929" y="37651"/>
                </a:lnTo>
                <a:lnTo>
                  <a:pt x="37859" y="37651"/>
                </a:lnTo>
                <a:lnTo>
                  <a:pt x="37859" y="18825"/>
                </a:lnTo>
                <a:close/>
              </a:path>
              <a:path w="708660" h="702945">
                <a:moveTo>
                  <a:pt x="468570" y="18825"/>
                </a:moveTo>
                <a:lnTo>
                  <a:pt x="37859" y="18825"/>
                </a:lnTo>
                <a:lnTo>
                  <a:pt x="37859" y="37651"/>
                </a:lnTo>
                <a:lnTo>
                  <a:pt x="354112" y="37651"/>
                </a:lnTo>
                <a:lnTo>
                  <a:pt x="353659" y="37638"/>
                </a:lnTo>
                <a:lnTo>
                  <a:pt x="513710" y="37638"/>
                </a:lnTo>
                <a:lnTo>
                  <a:pt x="507735" y="34589"/>
                </a:lnTo>
                <a:lnTo>
                  <a:pt x="492048" y="27636"/>
                </a:lnTo>
                <a:lnTo>
                  <a:pt x="475958" y="21273"/>
                </a:lnTo>
                <a:lnTo>
                  <a:pt x="468570" y="18825"/>
                </a:lnTo>
                <a:close/>
              </a:path>
              <a:path w="708660" h="702945">
                <a:moveTo>
                  <a:pt x="353659" y="37638"/>
                </a:moveTo>
                <a:lnTo>
                  <a:pt x="354112" y="37651"/>
                </a:lnTo>
                <a:lnTo>
                  <a:pt x="353659" y="376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598414" y="4375405"/>
            <a:ext cx="2034539" cy="1165860"/>
          </a:xfrm>
          <a:custGeom>
            <a:avLst/>
            <a:gdLst/>
            <a:ahLst/>
            <a:cxnLst/>
            <a:rect l="l" t="t" r="r" b="b"/>
            <a:pathLst>
              <a:path w="2034540" h="1165860">
                <a:moveTo>
                  <a:pt x="0" y="582930"/>
                </a:moveTo>
                <a:lnTo>
                  <a:pt x="6843" y="514947"/>
                </a:lnTo>
                <a:lnTo>
                  <a:pt x="26865" y="449268"/>
                </a:lnTo>
                <a:lnTo>
                  <a:pt x="59302" y="386331"/>
                </a:lnTo>
                <a:lnTo>
                  <a:pt x="103392" y="326571"/>
                </a:lnTo>
                <a:lnTo>
                  <a:pt x="129567" y="298020"/>
                </a:lnTo>
                <a:lnTo>
                  <a:pt x="158370" y="270427"/>
                </a:lnTo>
                <a:lnTo>
                  <a:pt x="189704" y="243847"/>
                </a:lnTo>
                <a:lnTo>
                  <a:pt x="223474" y="218336"/>
                </a:lnTo>
                <a:lnTo>
                  <a:pt x="259585" y="193947"/>
                </a:lnTo>
                <a:lnTo>
                  <a:pt x="297941" y="170735"/>
                </a:lnTo>
                <a:lnTo>
                  <a:pt x="338448" y="148755"/>
                </a:lnTo>
                <a:lnTo>
                  <a:pt x="381008" y="128062"/>
                </a:lnTo>
                <a:lnTo>
                  <a:pt x="425528" y="108710"/>
                </a:lnTo>
                <a:lnTo>
                  <a:pt x="471912" y="90754"/>
                </a:lnTo>
                <a:lnTo>
                  <a:pt x="520064" y="74249"/>
                </a:lnTo>
                <a:lnTo>
                  <a:pt x="569889" y="59249"/>
                </a:lnTo>
                <a:lnTo>
                  <a:pt x="621291" y="45809"/>
                </a:lnTo>
                <a:lnTo>
                  <a:pt x="674176" y="33983"/>
                </a:lnTo>
                <a:lnTo>
                  <a:pt x="728448" y="23827"/>
                </a:lnTo>
                <a:lnTo>
                  <a:pt x="784011" y="15395"/>
                </a:lnTo>
                <a:lnTo>
                  <a:pt x="840770" y="8741"/>
                </a:lnTo>
                <a:lnTo>
                  <a:pt x="898630" y="3921"/>
                </a:lnTo>
                <a:lnTo>
                  <a:pt x="957495" y="989"/>
                </a:lnTo>
                <a:lnTo>
                  <a:pt x="1017269" y="0"/>
                </a:lnTo>
                <a:lnTo>
                  <a:pt x="1077044" y="989"/>
                </a:lnTo>
                <a:lnTo>
                  <a:pt x="1135909" y="3921"/>
                </a:lnTo>
                <a:lnTo>
                  <a:pt x="1193769" y="8741"/>
                </a:lnTo>
                <a:lnTo>
                  <a:pt x="1250528" y="15395"/>
                </a:lnTo>
                <a:lnTo>
                  <a:pt x="1306091" y="23827"/>
                </a:lnTo>
                <a:lnTo>
                  <a:pt x="1360363" y="33983"/>
                </a:lnTo>
                <a:lnTo>
                  <a:pt x="1413248" y="45809"/>
                </a:lnTo>
                <a:lnTo>
                  <a:pt x="1464650" y="59249"/>
                </a:lnTo>
                <a:lnTo>
                  <a:pt x="1514475" y="74249"/>
                </a:lnTo>
                <a:lnTo>
                  <a:pt x="1562627" y="90754"/>
                </a:lnTo>
                <a:lnTo>
                  <a:pt x="1609011" y="108710"/>
                </a:lnTo>
                <a:lnTo>
                  <a:pt x="1653531" y="128062"/>
                </a:lnTo>
                <a:lnTo>
                  <a:pt x="1696091" y="148755"/>
                </a:lnTo>
                <a:lnTo>
                  <a:pt x="1736598" y="170735"/>
                </a:lnTo>
                <a:lnTo>
                  <a:pt x="1774954" y="193947"/>
                </a:lnTo>
                <a:lnTo>
                  <a:pt x="1811065" y="218336"/>
                </a:lnTo>
                <a:lnTo>
                  <a:pt x="1844835" y="243847"/>
                </a:lnTo>
                <a:lnTo>
                  <a:pt x="1876169" y="270427"/>
                </a:lnTo>
                <a:lnTo>
                  <a:pt x="1904972" y="298020"/>
                </a:lnTo>
                <a:lnTo>
                  <a:pt x="1931147" y="326571"/>
                </a:lnTo>
                <a:lnTo>
                  <a:pt x="1975237" y="386331"/>
                </a:lnTo>
                <a:lnTo>
                  <a:pt x="2007674" y="449268"/>
                </a:lnTo>
                <a:lnTo>
                  <a:pt x="2027696" y="514947"/>
                </a:lnTo>
                <a:lnTo>
                  <a:pt x="2034539" y="582930"/>
                </a:lnTo>
                <a:lnTo>
                  <a:pt x="2032813" y="617181"/>
                </a:lnTo>
                <a:lnTo>
                  <a:pt x="2019285" y="684066"/>
                </a:lnTo>
                <a:lnTo>
                  <a:pt x="1992960" y="748429"/>
                </a:lnTo>
                <a:lnTo>
                  <a:pt x="1954601" y="809833"/>
                </a:lnTo>
                <a:lnTo>
                  <a:pt x="1904972" y="867839"/>
                </a:lnTo>
                <a:lnTo>
                  <a:pt x="1876169" y="895432"/>
                </a:lnTo>
                <a:lnTo>
                  <a:pt x="1844835" y="922012"/>
                </a:lnTo>
                <a:lnTo>
                  <a:pt x="1811065" y="947523"/>
                </a:lnTo>
                <a:lnTo>
                  <a:pt x="1774954" y="971912"/>
                </a:lnTo>
                <a:lnTo>
                  <a:pt x="1736598" y="995124"/>
                </a:lnTo>
                <a:lnTo>
                  <a:pt x="1696091" y="1017104"/>
                </a:lnTo>
                <a:lnTo>
                  <a:pt x="1653531" y="1037797"/>
                </a:lnTo>
                <a:lnTo>
                  <a:pt x="1609011" y="1057149"/>
                </a:lnTo>
                <a:lnTo>
                  <a:pt x="1562627" y="1075105"/>
                </a:lnTo>
                <a:lnTo>
                  <a:pt x="1514475" y="1091610"/>
                </a:lnTo>
                <a:lnTo>
                  <a:pt x="1464650" y="1106610"/>
                </a:lnTo>
                <a:lnTo>
                  <a:pt x="1413248" y="1120050"/>
                </a:lnTo>
                <a:lnTo>
                  <a:pt x="1360363" y="1131876"/>
                </a:lnTo>
                <a:lnTo>
                  <a:pt x="1306091" y="1142032"/>
                </a:lnTo>
                <a:lnTo>
                  <a:pt x="1250528" y="1150464"/>
                </a:lnTo>
                <a:lnTo>
                  <a:pt x="1193769" y="1157118"/>
                </a:lnTo>
                <a:lnTo>
                  <a:pt x="1135909" y="1161938"/>
                </a:lnTo>
                <a:lnTo>
                  <a:pt x="1077044" y="1164870"/>
                </a:lnTo>
                <a:lnTo>
                  <a:pt x="1017269" y="1165860"/>
                </a:lnTo>
                <a:lnTo>
                  <a:pt x="957495" y="1164870"/>
                </a:lnTo>
                <a:lnTo>
                  <a:pt x="898630" y="1161938"/>
                </a:lnTo>
                <a:lnTo>
                  <a:pt x="840770" y="1157118"/>
                </a:lnTo>
                <a:lnTo>
                  <a:pt x="784011" y="1150464"/>
                </a:lnTo>
                <a:lnTo>
                  <a:pt x="728448" y="1142032"/>
                </a:lnTo>
                <a:lnTo>
                  <a:pt x="674176" y="1131876"/>
                </a:lnTo>
                <a:lnTo>
                  <a:pt x="621291" y="1120050"/>
                </a:lnTo>
                <a:lnTo>
                  <a:pt x="569889" y="1106610"/>
                </a:lnTo>
                <a:lnTo>
                  <a:pt x="520064" y="1091610"/>
                </a:lnTo>
                <a:lnTo>
                  <a:pt x="471912" y="1075105"/>
                </a:lnTo>
                <a:lnTo>
                  <a:pt x="425528" y="1057149"/>
                </a:lnTo>
                <a:lnTo>
                  <a:pt x="381008" y="1037797"/>
                </a:lnTo>
                <a:lnTo>
                  <a:pt x="338448" y="1017104"/>
                </a:lnTo>
                <a:lnTo>
                  <a:pt x="297942" y="995124"/>
                </a:lnTo>
                <a:lnTo>
                  <a:pt x="259585" y="971912"/>
                </a:lnTo>
                <a:lnTo>
                  <a:pt x="223474" y="947523"/>
                </a:lnTo>
                <a:lnTo>
                  <a:pt x="189704" y="922012"/>
                </a:lnTo>
                <a:lnTo>
                  <a:pt x="158370" y="895432"/>
                </a:lnTo>
                <a:lnTo>
                  <a:pt x="129567" y="867839"/>
                </a:lnTo>
                <a:lnTo>
                  <a:pt x="103392" y="839288"/>
                </a:lnTo>
                <a:lnTo>
                  <a:pt x="59302" y="779528"/>
                </a:lnTo>
                <a:lnTo>
                  <a:pt x="26865" y="716591"/>
                </a:lnTo>
                <a:lnTo>
                  <a:pt x="6843" y="650912"/>
                </a:lnTo>
                <a:lnTo>
                  <a:pt x="0" y="582930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701533" y="5078857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Helvetica"/>
                <a:cs typeface="Helvetica"/>
              </a:rPr>
              <a:t>10</a:t>
            </a:r>
            <a:endParaRPr sz="1800">
              <a:latin typeface="Helvetica"/>
              <a:cs typeface="Helvetic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0"/>
              <p:cNvSpPr txBox="1"/>
              <p:nvPr/>
            </p:nvSpPr>
            <p:spPr>
              <a:xfrm>
                <a:off x="154024" y="961136"/>
                <a:ext cx="8989975" cy="3703771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431800" indent="-342900">
                  <a:lnSpc>
                    <a:spcPct val="100000"/>
                  </a:lnSpc>
                  <a:spcBef>
                    <a:spcPts val="105"/>
                  </a:spcBef>
                  <a:buSzPct val="120000"/>
                  <a:buFont typeface="Arial"/>
                  <a:buChar char="•"/>
                  <a:tabLst>
                    <a:tab pos="431165" algn="l"/>
                    <a:tab pos="431800" algn="l"/>
                  </a:tabLst>
                </a:pPr>
                <a:r>
                  <a:rPr lang="en-US" sz="2400" b="1" i="1" dirty="0" err="1">
                    <a:solidFill>
                      <a:srgbClr val="FF0000"/>
                    </a:solidFill>
                    <a:latin typeface="Arial-BoldItalicMT"/>
                    <a:cs typeface="Arial-BoldItalicMT"/>
                  </a:rPr>
                  <a:t>T</a:t>
                </a:r>
                <a:r>
                  <a:rPr lang="en-US" sz="2000" b="1" i="1" baseline="-21367" dirty="0" err="1">
                    <a:solidFill>
                      <a:srgbClr val="FF0000"/>
                    </a:solidFill>
                    <a:latin typeface="Arial-BoldItalicMT"/>
                    <a:cs typeface="Arial-BoldItalicMT"/>
                  </a:rPr>
                  <a:t>f</a:t>
                </a:r>
                <a:r>
                  <a:rPr lang="en-US" sz="2000" b="1" i="1" baseline="-21367" dirty="0">
                    <a:solidFill>
                      <a:srgbClr val="FF0000"/>
                    </a:solidFill>
                    <a:latin typeface="Arial-BoldItalicMT"/>
                    <a:cs typeface="Arial-BoldItalicMT"/>
                  </a:rPr>
                  <a:t> </a:t>
                </a:r>
                <a:r>
                  <a:rPr lang="en-US" sz="2000" b="1" i="1" dirty="0">
                    <a:solidFill>
                      <a:srgbClr val="FF0000"/>
                    </a:solidFill>
                    <a:latin typeface="Arial-BoldItalicMT"/>
                    <a:cs typeface="Arial-BoldItalicMT"/>
                  </a:rPr>
                  <a:t>: Detecting </a:t>
                </a:r>
                <a:r>
                  <a:rPr lang="en-US" sz="2000" b="1" dirty="0">
                    <a:latin typeface="Arial"/>
                    <a:cs typeface="Arial"/>
                  </a:rPr>
                  <a:t>set of fault f  = set of all test patterns that detect fault</a:t>
                </a:r>
                <a:r>
                  <a:rPr lang="en-US" sz="2000" b="1" spc="-310" dirty="0">
                    <a:latin typeface="Arial"/>
                    <a:cs typeface="Arial"/>
                  </a:rPr>
                  <a:t> </a:t>
                </a:r>
                <a:r>
                  <a:rPr lang="en-US" sz="2000" b="1" i="1" dirty="0">
                    <a:latin typeface="Arial-BoldItalicMT"/>
                    <a:cs typeface="Arial-BoldItalicMT"/>
                  </a:rPr>
                  <a:t>f</a:t>
                </a:r>
                <a:endParaRPr lang="en-US" sz="2000" dirty="0">
                  <a:latin typeface="Arial-BoldItalicMT"/>
                  <a:cs typeface="Arial-BoldItalicMT"/>
                </a:endParaRPr>
              </a:p>
              <a:p>
                <a:pPr marL="431800" indent="-342900">
                  <a:lnSpc>
                    <a:spcPct val="100000"/>
                  </a:lnSpc>
                  <a:spcBef>
                    <a:spcPts val="475"/>
                  </a:spcBef>
                  <a:buClr>
                    <a:srgbClr val="FF0000"/>
                  </a:buClr>
                  <a:buSzPct val="120000"/>
                  <a:buFont typeface="Arial"/>
                  <a:buChar char="•"/>
                  <a:tabLst>
                    <a:tab pos="431165" algn="l"/>
                    <a:tab pos="431800" algn="l"/>
                  </a:tabLst>
                </a:pPr>
                <a:r>
                  <a:rPr lang="en-US" sz="2000" b="1" dirty="0">
                    <a:latin typeface="Arial"/>
                    <a:cs typeface="Arial"/>
                  </a:rPr>
                  <a:t>Fault </a:t>
                </a:r>
                <a:r>
                  <a:rPr lang="en-US" sz="2000" b="1" i="1" dirty="0">
                    <a:latin typeface="Arial-BoldItalicMT"/>
                    <a:cs typeface="Arial-BoldItalicMT"/>
                  </a:rPr>
                  <a:t>f </a:t>
                </a:r>
                <a:r>
                  <a:rPr lang="en-US" sz="2000" b="1" i="1" dirty="0">
                    <a:solidFill>
                      <a:srgbClr val="FF0000"/>
                    </a:solidFill>
                    <a:latin typeface="Arial-BoldItalicMT"/>
                    <a:cs typeface="Arial-BoldItalicMT"/>
                  </a:rPr>
                  <a:t>dominates </a:t>
                </a:r>
                <a:r>
                  <a:rPr lang="en-US" sz="2000" b="1" dirty="0">
                    <a:latin typeface="Arial"/>
                    <a:cs typeface="Arial"/>
                  </a:rPr>
                  <a:t>fault </a:t>
                </a:r>
                <a:r>
                  <a:rPr lang="en-US" sz="2000" b="1" i="1" dirty="0">
                    <a:latin typeface="Arial-BoldItalicMT"/>
                    <a:cs typeface="Arial-BoldItalicMT"/>
                  </a:rPr>
                  <a:t>g </a:t>
                </a:r>
                <a:r>
                  <a:rPr lang="en-US" sz="2000" b="1" dirty="0">
                    <a:latin typeface="Arial"/>
                    <a:cs typeface="Arial"/>
                  </a:rPr>
                  <a:t>if the detecting set of </a:t>
                </a:r>
                <a:r>
                  <a:rPr lang="en-US" sz="2000" b="1" i="1" dirty="0">
                    <a:latin typeface="Arial-BoldItalicMT"/>
                    <a:cs typeface="Arial-BoldItalicMT"/>
                  </a:rPr>
                  <a:t>f </a:t>
                </a:r>
                <a:r>
                  <a:rPr lang="en-US" sz="2000" b="1" dirty="0">
                    <a:latin typeface="Arial"/>
                    <a:cs typeface="Arial"/>
                  </a:rPr>
                  <a:t>contains that of</a:t>
                </a:r>
                <a:r>
                  <a:rPr lang="en-US" sz="2000" b="1" spc="-260" dirty="0">
                    <a:latin typeface="Arial"/>
                    <a:cs typeface="Arial"/>
                  </a:rPr>
                  <a:t> </a:t>
                </a:r>
                <a:r>
                  <a:rPr lang="en-US" sz="2000" b="1" i="1" dirty="0">
                    <a:latin typeface="Arial-BoldItalicMT"/>
                    <a:cs typeface="Arial-BoldItalicMT"/>
                  </a:rPr>
                  <a:t>g</a:t>
                </a:r>
                <a:endParaRPr lang="en-US" sz="2000" dirty="0">
                  <a:latin typeface="Arial-BoldItalicMT"/>
                  <a:cs typeface="Arial-BoldItalicMT"/>
                </a:endParaRPr>
              </a:p>
              <a:p>
                <a:pPr marL="832485" lvl="1" indent="-287020">
                  <a:lnSpc>
                    <a:spcPct val="100000"/>
                  </a:lnSpc>
                  <a:spcBef>
                    <a:spcPts val="484"/>
                  </a:spcBef>
                  <a:buClr>
                    <a:srgbClr val="FF0000"/>
                  </a:buClr>
                  <a:buSzPct val="75000"/>
                  <a:buFont typeface="Arial"/>
                  <a:buChar char="◆"/>
                  <a:tabLst>
                    <a:tab pos="832485" algn="l"/>
                    <a:tab pos="833119" algn="l"/>
                    <a:tab pos="1184275" algn="l"/>
                    <a:tab pos="1506220" algn="l"/>
                  </a:tabLst>
                </a:pPr>
                <a:r>
                  <a:rPr lang="en-US" sz="2000" b="1" i="1" spc="5" dirty="0" err="1">
                    <a:solidFill>
                      <a:srgbClr val="0000FF"/>
                    </a:solidFill>
                    <a:latin typeface="Arial-BoldItalicMT"/>
                    <a:cs typeface="Arial-BoldItalicMT"/>
                  </a:rPr>
                  <a:t>T</a:t>
                </a:r>
                <a:r>
                  <a:rPr lang="en-US" sz="1950" b="1" i="1" spc="7" baseline="-21367" dirty="0" err="1">
                    <a:solidFill>
                      <a:srgbClr val="0000FF"/>
                    </a:solidFill>
                    <a:latin typeface="Arial-BoldItalicMT"/>
                    <a:cs typeface="Arial-BoldItalicMT"/>
                  </a:rPr>
                  <a:t>g</a:t>
                </a:r>
                <a:r>
                  <a:rPr lang="en-US" sz="1950" b="1" i="1" spc="7" baseline="-21367" dirty="0">
                    <a:solidFill>
                      <a:srgbClr val="0000FF"/>
                    </a:solidFill>
                    <a:latin typeface="Arial-BoldItalicMT"/>
                    <a:cs typeface="Arial-BoldItalicMT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b="1" i="1" spc="-10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⊆</m:t>
                    </m:r>
                    <m:r>
                      <a:rPr lang="en-US" sz="2000" b="1" i="1" spc="-1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  </m:t>
                    </m:r>
                  </m:oMath>
                </a14:m>
                <a:r>
                  <a:rPr lang="en-US" sz="2000" b="1" i="1" spc="5" dirty="0">
                    <a:solidFill>
                      <a:srgbClr val="0000FF"/>
                    </a:solidFill>
                    <a:latin typeface="Arial-BoldItalicMT"/>
                    <a:cs typeface="Arial-BoldItalicMT"/>
                  </a:rPr>
                  <a:t>T</a:t>
                </a:r>
                <a:r>
                  <a:rPr lang="en-US" sz="1950" b="1" i="1" spc="7" baseline="-21367" dirty="0">
                    <a:solidFill>
                      <a:srgbClr val="0000FF"/>
                    </a:solidFill>
                    <a:latin typeface="Arial-BoldItalicMT"/>
                    <a:cs typeface="Arial-BoldItalicMT"/>
                  </a:rPr>
                  <a:t>f  </a:t>
                </a:r>
                <a:endParaRPr lang="en-US" sz="1950" baseline="-21367" dirty="0">
                  <a:latin typeface="Arial-BoldItalicMT"/>
                  <a:cs typeface="Arial-BoldItalicMT"/>
                </a:endParaRPr>
              </a:p>
              <a:p>
                <a:pPr marL="431800" indent="-342900">
                  <a:lnSpc>
                    <a:spcPct val="100000"/>
                  </a:lnSpc>
                  <a:spcBef>
                    <a:spcPts val="480"/>
                  </a:spcBef>
                  <a:buClr>
                    <a:srgbClr val="FF0000"/>
                  </a:buClr>
                  <a:buSzPct val="120000"/>
                  <a:buFont typeface="Arial"/>
                  <a:buChar char="•"/>
                  <a:tabLst>
                    <a:tab pos="431165" algn="l"/>
                    <a:tab pos="431800" algn="l"/>
                  </a:tabLst>
                </a:pPr>
                <a:r>
                  <a:rPr lang="en-US" sz="2000" b="1" dirty="0">
                    <a:latin typeface="Arial"/>
                    <a:cs typeface="Arial"/>
                  </a:rPr>
                  <a:t>Example: </a:t>
                </a:r>
                <a:r>
                  <a:rPr lang="en-US" sz="2000" b="1" dirty="0">
                    <a:solidFill>
                      <a:srgbClr val="0000FF"/>
                    </a:solidFill>
                    <a:latin typeface="Arial"/>
                    <a:cs typeface="Arial"/>
                  </a:rPr>
                  <a:t>C/1 fault dominates A/1</a:t>
                </a:r>
                <a:r>
                  <a:rPr lang="en-US" sz="2000" b="1" spc="-100" dirty="0">
                    <a:solidFill>
                      <a:srgbClr val="0000FF"/>
                    </a:solidFill>
                    <a:latin typeface="Arial"/>
                    <a:cs typeface="Arial"/>
                  </a:rPr>
                  <a:t> </a:t>
                </a:r>
                <a:r>
                  <a:rPr lang="en-US" sz="2000" b="1" dirty="0">
                    <a:solidFill>
                      <a:srgbClr val="0000FF"/>
                    </a:solidFill>
                    <a:latin typeface="Arial"/>
                    <a:cs typeface="Arial"/>
                  </a:rPr>
                  <a:t>fault</a:t>
                </a:r>
                <a:endParaRPr lang="en-US" sz="2000" dirty="0">
                  <a:latin typeface="Arial"/>
                  <a:cs typeface="Arial"/>
                </a:endParaRPr>
              </a:p>
              <a:p>
                <a:pPr marL="832485" lvl="1" indent="-287020">
                  <a:lnSpc>
                    <a:spcPct val="100000"/>
                  </a:lnSpc>
                  <a:spcBef>
                    <a:spcPts val="480"/>
                  </a:spcBef>
                  <a:buClr>
                    <a:srgbClr val="FF0000"/>
                  </a:buClr>
                  <a:buSzPct val="75000"/>
                  <a:buFont typeface="Arial"/>
                  <a:buChar char="◆"/>
                  <a:tabLst>
                    <a:tab pos="832485" algn="l"/>
                    <a:tab pos="833119" algn="l"/>
                  </a:tabLst>
                </a:pPr>
                <a:r>
                  <a:rPr lang="en-US" sz="2000" b="1" dirty="0">
                    <a:latin typeface="Arial"/>
                    <a:cs typeface="Arial"/>
                  </a:rPr>
                  <a:t>C/1 detecting set {00, 01, 10} contains A/1 detecting set</a:t>
                </a:r>
                <a:r>
                  <a:rPr lang="en-US" sz="2000" b="1" spc="-240" dirty="0">
                    <a:latin typeface="Arial"/>
                    <a:cs typeface="Arial"/>
                  </a:rPr>
                  <a:t> </a:t>
                </a:r>
                <a:r>
                  <a:rPr lang="en-US" sz="2000" b="1" dirty="0">
                    <a:latin typeface="Arial"/>
                    <a:cs typeface="Arial"/>
                  </a:rPr>
                  <a:t>{01}</a:t>
                </a:r>
                <a:endParaRPr lang="en-US" sz="2000" dirty="0">
                  <a:latin typeface="Arial"/>
                  <a:cs typeface="Arial"/>
                </a:endParaRPr>
              </a:p>
              <a:p>
                <a:pPr marL="832485" lvl="1" indent="-287020">
                  <a:lnSpc>
                    <a:spcPct val="100000"/>
                  </a:lnSpc>
                  <a:spcBef>
                    <a:spcPts val="480"/>
                  </a:spcBef>
                  <a:buClr>
                    <a:srgbClr val="FF0000"/>
                  </a:buClr>
                  <a:buSzPct val="75000"/>
                  <a:buFont typeface="Arial"/>
                  <a:buChar char="◆"/>
                  <a:tabLst>
                    <a:tab pos="832485" algn="l"/>
                    <a:tab pos="833119" algn="l"/>
                    <a:tab pos="3776345" algn="l"/>
                  </a:tabLst>
                </a:pPr>
                <a:r>
                  <a:rPr lang="en-US" sz="2000" b="1" dirty="0">
                    <a:latin typeface="Arial"/>
                    <a:cs typeface="Arial"/>
                  </a:rPr>
                  <a:t>C/1 is</a:t>
                </a:r>
                <a:r>
                  <a:rPr lang="en-US" sz="2000" b="1" spc="-15" dirty="0">
                    <a:latin typeface="Arial"/>
                    <a:cs typeface="Arial"/>
                  </a:rPr>
                  <a:t> </a:t>
                </a:r>
                <a:r>
                  <a:rPr lang="en-US" sz="2000" b="1" i="1" dirty="0">
                    <a:solidFill>
                      <a:srgbClr val="FF0000"/>
                    </a:solidFill>
                    <a:latin typeface="Arial-BoldItalicMT"/>
                    <a:cs typeface="Arial-BoldItalicMT"/>
                  </a:rPr>
                  <a:t>dominating</a:t>
                </a:r>
                <a:r>
                  <a:rPr lang="en-US" sz="2000" b="1" i="1" spc="-30" dirty="0">
                    <a:solidFill>
                      <a:srgbClr val="FF0000"/>
                    </a:solidFill>
                    <a:latin typeface="Arial-BoldItalicMT"/>
                    <a:cs typeface="Arial-BoldItalicMT"/>
                  </a:rPr>
                  <a:t> </a:t>
                </a:r>
                <a:r>
                  <a:rPr lang="en-US" sz="2000" b="1" i="1" dirty="0">
                    <a:solidFill>
                      <a:srgbClr val="FF0000"/>
                    </a:solidFill>
                    <a:latin typeface="Arial-BoldItalicMT"/>
                    <a:cs typeface="Arial-BoldItalicMT"/>
                  </a:rPr>
                  <a:t>fault</a:t>
                </a:r>
                <a:r>
                  <a:rPr lang="en-US" sz="2000" b="1" dirty="0">
                    <a:latin typeface="Arial"/>
                    <a:cs typeface="Arial"/>
                  </a:rPr>
                  <a:t>;	A/1 is </a:t>
                </a:r>
                <a:r>
                  <a:rPr lang="en-US" sz="2000" b="1" i="1" dirty="0">
                    <a:solidFill>
                      <a:srgbClr val="FF0000"/>
                    </a:solidFill>
                    <a:latin typeface="Arial-BoldItalicMT"/>
                    <a:cs typeface="Arial-BoldItalicMT"/>
                  </a:rPr>
                  <a:t>dominated</a:t>
                </a:r>
                <a:r>
                  <a:rPr lang="en-US" sz="2000" b="1" i="1" spc="-65" dirty="0">
                    <a:solidFill>
                      <a:srgbClr val="FF0000"/>
                    </a:solidFill>
                    <a:latin typeface="Arial-BoldItalicMT"/>
                    <a:cs typeface="Arial-BoldItalicMT"/>
                  </a:rPr>
                  <a:t> </a:t>
                </a:r>
                <a:r>
                  <a:rPr lang="en-US" sz="2000" b="1" i="1" dirty="0">
                    <a:solidFill>
                      <a:srgbClr val="FF0000"/>
                    </a:solidFill>
                    <a:latin typeface="Arial-BoldItalicMT"/>
                    <a:cs typeface="Arial-BoldItalicMT"/>
                  </a:rPr>
                  <a:t>fault</a:t>
                </a:r>
                <a:endParaRPr lang="en-US" sz="2000" dirty="0">
                  <a:latin typeface="Arial-BoldItalicMT"/>
                  <a:cs typeface="Arial-BoldItalicMT"/>
                </a:endParaRPr>
              </a:p>
              <a:p>
                <a:pPr marL="1127760">
                  <a:lnSpc>
                    <a:spcPts val="2090"/>
                  </a:lnSpc>
                  <a:spcBef>
                    <a:spcPts val="1410"/>
                  </a:spcBef>
                </a:pPr>
                <a:r>
                  <a:rPr lang="en-US" sz="1750" b="1" i="1" spc="25" dirty="0">
                    <a:latin typeface="TimesNewRomanPS-BoldItalicMT"/>
                    <a:cs typeface="TimesNewRomanPS-BoldItalicMT"/>
                  </a:rPr>
                  <a:t>A</a:t>
                </a:r>
                <a:endParaRPr lang="en-US" sz="1750" dirty="0">
                  <a:latin typeface="TimesNewRomanPS-BoldItalicMT"/>
                  <a:cs typeface="TimesNewRomanPS-BoldItalicMT"/>
                </a:endParaRPr>
              </a:p>
              <a:p>
                <a:pPr marL="2449830">
                  <a:lnSpc>
                    <a:spcPts val="1914"/>
                  </a:lnSpc>
                </a:pPr>
                <a:r>
                  <a:rPr lang="en-US" sz="1750" b="1" i="1" spc="25" dirty="0">
                    <a:latin typeface="TimesNewRomanPS-BoldItalicMT"/>
                    <a:cs typeface="TimesNewRomanPS-BoldItalicMT"/>
                  </a:rPr>
                  <a:t>C</a:t>
                </a:r>
                <a:endParaRPr lang="en-US" sz="1750" dirty="0">
                  <a:latin typeface="TimesNewRomanPS-BoldItalicMT"/>
                  <a:cs typeface="TimesNewRomanPS-BoldItalicMT"/>
                </a:endParaRPr>
              </a:p>
              <a:p>
                <a:pPr marL="1133475">
                  <a:lnSpc>
                    <a:spcPts val="1925"/>
                  </a:lnSpc>
                </a:pPr>
                <a:r>
                  <a:rPr lang="en-US" sz="1750" b="1" i="1" spc="25" dirty="0">
                    <a:latin typeface="TimesNewRomanPS-BoldItalicMT"/>
                    <a:cs typeface="TimesNewRomanPS-BoldItalicMT"/>
                  </a:rPr>
                  <a:t>B</a:t>
                </a:r>
                <a:endParaRPr lang="en-US" sz="1750" dirty="0">
                  <a:latin typeface="TimesNewRomanPS-BoldItalicMT"/>
                  <a:cs typeface="TimesNewRomanPS-BoldItalicMT"/>
                </a:endParaRPr>
              </a:p>
              <a:p>
                <a:pPr marL="5647690">
                  <a:lnSpc>
                    <a:spcPts val="1560"/>
                  </a:lnSpc>
                  <a:spcBef>
                    <a:spcPts val="409"/>
                  </a:spcBef>
                </a:pPr>
                <a:r>
                  <a:rPr lang="en-US" sz="1400" b="1" spc="-5" dirty="0">
                    <a:latin typeface="Helvetica"/>
                    <a:cs typeface="Helvetica"/>
                  </a:rPr>
                  <a:t>Detecting </a:t>
                </a:r>
                <a:r>
                  <a:rPr lang="en-US" sz="1400" b="1" dirty="0">
                    <a:latin typeface="Helvetica"/>
                    <a:cs typeface="Helvetica"/>
                  </a:rPr>
                  <a:t>set of</a:t>
                </a:r>
                <a:r>
                  <a:rPr lang="en-US" sz="1400" b="1" spc="-80" dirty="0">
                    <a:latin typeface="Helvetica"/>
                    <a:cs typeface="Helvetica"/>
                  </a:rPr>
                  <a:t> </a:t>
                </a:r>
                <a:r>
                  <a:rPr lang="en-US" sz="1400" b="1" dirty="0">
                    <a:latin typeface="Helvetica"/>
                    <a:cs typeface="Helvetica"/>
                  </a:rPr>
                  <a:t>C/1</a:t>
                </a:r>
                <a:endParaRPr lang="en-US" sz="1400" dirty="0">
                  <a:latin typeface="Helvetica"/>
                  <a:cs typeface="Helvetica"/>
                </a:endParaRPr>
              </a:p>
              <a:p>
                <a:pPr marL="5647690">
                  <a:lnSpc>
                    <a:spcPts val="1560"/>
                  </a:lnSpc>
                  <a:spcBef>
                    <a:spcPts val="409"/>
                  </a:spcBef>
                </a:pPr>
                <a:r>
                  <a:rPr lang="en-US" sz="1400" b="1" spc="-10" dirty="0">
                    <a:solidFill>
                      <a:srgbClr val="FF0000"/>
                    </a:solidFill>
                    <a:latin typeface="Helvetica"/>
                    <a:cs typeface="Helvetica"/>
                  </a:rPr>
                  <a:t>		     </a:t>
                </a:r>
                <a:r>
                  <a:rPr lang="en-US" sz="1800" b="1" spc="-10" dirty="0">
                    <a:solidFill>
                      <a:srgbClr val="FF0000"/>
                    </a:solidFill>
                    <a:latin typeface="Helvetica"/>
                    <a:cs typeface="Helvetica"/>
                  </a:rPr>
                  <a:t>00</a:t>
                </a:r>
                <a:endParaRPr sz="1800" dirty="0">
                  <a:latin typeface="Helvetica"/>
                  <a:cs typeface="Helvetica"/>
                </a:endParaRPr>
              </a:p>
            </p:txBody>
          </p:sp>
        </mc:Choice>
        <mc:Fallback xmlns="">
          <p:sp>
            <p:nvSpPr>
              <p:cNvPr id="10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24" y="961136"/>
                <a:ext cx="8989975" cy="3703771"/>
              </a:xfrm>
              <a:prstGeom prst="rect">
                <a:avLst/>
              </a:prstGeom>
              <a:blipFill>
                <a:blip r:embed="rId2"/>
                <a:stretch>
                  <a:fillRect l="-1412" t="-3413" b="-2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bject 11"/>
          <p:cNvSpPr/>
          <p:nvPr/>
        </p:nvSpPr>
        <p:spPr>
          <a:xfrm>
            <a:off x="5072634" y="3886200"/>
            <a:ext cx="3400425" cy="2056130"/>
          </a:xfrm>
          <a:custGeom>
            <a:avLst/>
            <a:gdLst/>
            <a:ahLst/>
            <a:cxnLst/>
            <a:rect l="l" t="t" r="r" b="b"/>
            <a:pathLst>
              <a:path w="3400425" h="2056129">
                <a:moveTo>
                  <a:pt x="0" y="1027938"/>
                </a:moveTo>
                <a:lnTo>
                  <a:pt x="4089" y="956077"/>
                </a:lnTo>
                <a:lnTo>
                  <a:pt x="16178" y="885547"/>
                </a:lnTo>
                <a:lnTo>
                  <a:pt x="35997" y="816511"/>
                </a:lnTo>
                <a:lnTo>
                  <a:pt x="63277" y="749132"/>
                </a:lnTo>
                <a:lnTo>
                  <a:pt x="97746" y="683572"/>
                </a:lnTo>
                <a:lnTo>
                  <a:pt x="139137" y="619995"/>
                </a:lnTo>
                <a:lnTo>
                  <a:pt x="162343" y="589001"/>
                </a:lnTo>
                <a:lnTo>
                  <a:pt x="187178" y="558564"/>
                </a:lnTo>
                <a:lnTo>
                  <a:pt x="213609" y="528704"/>
                </a:lnTo>
                <a:lnTo>
                  <a:pt x="241601" y="499442"/>
                </a:lnTo>
                <a:lnTo>
                  <a:pt x="271122" y="470798"/>
                </a:lnTo>
                <a:lnTo>
                  <a:pt x="302136" y="442792"/>
                </a:lnTo>
                <a:lnTo>
                  <a:pt x="334611" y="415446"/>
                </a:lnTo>
                <a:lnTo>
                  <a:pt x="368513" y="388778"/>
                </a:lnTo>
                <a:lnTo>
                  <a:pt x="403808" y="362810"/>
                </a:lnTo>
                <a:lnTo>
                  <a:pt x="440462" y="337562"/>
                </a:lnTo>
                <a:lnTo>
                  <a:pt x="478442" y="313055"/>
                </a:lnTo>
                <a:lnTo>
                  <a:pt x="517714" y="289308"/>
                </a:lnTo>
                <a:lnTo>
                  <a:pt x="558245" y="266342"/>
                </a:lnTo>
                <a:lnTo>
                  <a:pt x="599999" y="244178"/>
                </a:lnTo>
                <a:lnTo>
                  <a:pt x="642945" y="222836"/>
                </a:lnTo>
                <a:lnTo>
                  <a:pt x="687048" y="202336"/>
                </a:lnTo>
                <a:lnTo>
                  <a:pt x="732274" y="182699"/>
                </a:lnTo>
                <a:lnTo>
                  <a:pt x="778590" y="163945"/>
                </a:lnTo>
                <a:lnTo>
                  <a:pt x="825962" y="146094"/>
                </a:lnTo>
                <a:lnTo>
                  <a:pt x="874356" y="129168"/>
                </a:lnTo>
                <a:lnTo>
                  <a:pt x="923739" y="113186"/>
                </a:lnTo>
                <a:lnTo>
                  <a:pt x="974076" y="98168"/>
                </a:lnTo>
                <a:lnTo>
                  <a:pt x="1025335" y="84135"/>
                </a:lnTo>
                <a:lnTo>
                  <a:pt x="1077482" y="71108"/>
                </a:lnTo>
                <a:lnTo>
                  <a:pt x="1130482" y="59107"/>
                </a:lnTo>
                <a:lnTo>
                  <a:pt x="1184302" y="48152"/>
                </a:lnTo>
                <a:lnTo>
                  <a:pt x="1238908" y="38263"/>
                </a:lnTo>
                <a:lnTo>
                  <a:pt x="1294267" y="29462"/>
                </a:lnTo>
                <a:lnTo>
                  <a:pt x="1350345" y="21767"/>
                </a:lnTo>
                <a:lnTo>
                  <a:pt x="1407108" y="15201"/>
                </a:lnTo>
                <a:lnTo>
                  <a:pt x="1464523" y="9783"/>
                </a:lnTo>
                <a:lnTo>
                  <a:pt x="1522555" y="5533"/>
                </a:lnTo>
                <a:lnTo>
                  <a:pt x="1581171" y="2473"/>
                </a:lnTo>
                <a:lnTo>
                  <a:pt x="1640338" y="621"/>
                </a:lnTo>
                <a:lnTo>
                  <a:pt x="1700021" y="0"/>
                </a:lnTo>
                <a:lnTo>
                  <a:pt x="1759705" y="621"/>
                </a:lnTo>
                <a:lnTo>
                  <a:pt x="1818872" y="2473"/>
                </a:lnTo>
                <a:lnTo>
                  <a:pt x="1877488" y="5533"/>
                </a:lnTo>
                <a:lnTo>
                  <a:pt x="1935520" y="9783"/>
                </a:lnTo>
                <a:lnTo>
                  <a:pt x="1992935" y="15201"/>
                </a:lnTo>
                <a:lnTo>
                  <a:pt x="2049698" y="21767"/>
                </a:lnTo>
                <a:lnTo>
                  <a:pt x="2105776" y="29462"/>
                </a:lnTo>
                <a:lnTo>
                  <a:pt x="2161135" y="38263"/>
                </a:lnTo>
                <a:lnTo>
                  <a:pt x="2215741" y="48152"/>
                </a:lnTo>
                <a:lnTo>
                  <a:pt x="2269561" y="59107"/>
                </a:lnTo>
                <a:lnTo>
                  <a:pt x="2322561" y="71108"/>
                </a:lnTo>
                <a:lnTo>
                  <a:pt x="2374708" y="84135"/>
                </a:lnTo>
                <a:lnTo>
                  <a:pt x="2425967" y="98168"/>
                </a:lnTo>
                <a:lnTo>
                  <a:pt x="2476304" y="113186"/>
                </a:lnTo>
                <a:lnTo>
                  <a:pt x="2525687" y="129168"/>
                </a:lnTo>
                <a:lnTo>
                  <a:pt x="2574081" y="146094"/>
                </a:lnTo>
                <a:lnTo>
                  <a:pt x="2621453" y="163945"/>
                </a:lnTo>
                <a:lnTo>
                  <a:pt x="2667769" y="182699"/>
                </a:lnTo>
                <a:lnTo>
                  <a:pt x="2712995" y="202336"/>
                </a:lnTo>
                <a:lnTo>
                  <a:pt x="2757098" y="222836"/>
                </a:lnTo>
                <a:lnTo>
                  <a:pt x="2800044" y="244178"/>
                </a:lnTo>
                <a:lnTo>
                  <a:pt x="2841798" y="266342"/>
                </a:lnTo>
                <a:lnTo>
                  <a:pt x="2882329" y="289308"/>
                </a:lnTo>
                <a:lnTo>
                  <a:pt x="2921601" y="313055"/>
                </a:lnTo>
                <a:lnTo>
                  <a:pt x="2959581" y="337562"/>
                </a:lnTo>
                <a:lnTo>
                  <a:pt x="2996235" y="362810"/>
                </a:lnTo>
                <a:lnTo>
                  <a:pt x="3031530" y="388778"/>
                </a:lnTo>
                <a:lnTo>
                  <a:pt x="3065432" y="415446"/>
                </a:lnTo>
                <a:lnTo>
                  <a:pt x="3097907" y="442792"/>
                </a:lnTo>
                <a:lnTo>
                  <a:pt x="3128921" y="470798"/>
                </a:lnTo>
                <a:lnTo>
                  <a:pt x="3158442" y="499442"/>
                </a:lnTo>
                <a:lnTo>
                  <a:pt x="3186434" y="528704"/>
                </a:lnTo>
                <a:lnTo>
                  <a:pt x="3212865" y="558564"/>
                </a:lnTo>
                <a:lnTo>
                  <a:pt x="3237700" y="589001"/>
                </a:lnTo>
                <a:lnTo>
                  <a:pt x="3260906" y="619995"/>
                </a:lnTo>
                <a:lnTo>
                  <a:pt x="3282450" y="651525"/>
                </a:lnTo>
                <a:lnTo>
                  <a:pt x="3320414" y="716114"/>
                </a:lnTo>
                <a:lnTo>
                  <a:pt x="3351322" y="782604"/>
                </a:lnTo>
                <a:lnTo>
                  <a:pt x="3374905" y="850832"/>
                </a:lnTo>
                <a:lnTo>
                  <a:pt x="3390892" y="920636"/>
                </a:lnTo>
                <a:lnTo>
                  <a:pt x="3399015" y="991851"/>
                </a:lnTo>
                <a:lnTo>
                  <a:pt x="3400043" y="1027938"/>
                </a:lnTo>
                <a:lnTo>
                  <a:pt x="3399015" y="1064024"/>
                </a:lnTo>
                <a:lnTo>
                  <a:pt x="3390892" y="1135239"/>
                </a:lnTo>
                <a:lnTo>
                  <a:pt x="3374905" y="1205043"/>
                </a:lnTo>
                <a:lnTo>
                  <a:pt x="3351322" y="1273271"/>
                </a:lnTo>
                <a:lnTo>
                  <a:pt x="3320414" y="1339761"/>
                </a:lnTo>
                <a:lnTo>
                  <a:pt x="3282450" y="1404350"/>
                </a:lnTo>
                <a:lnTo>
                  <a:pt x="3260906" y="1435880"/>
                </a:lnTo>
                <a:lnTo>
                  <a:pt x="3237700" y="1466874"/>
                </a:lnTo>
                <a:lnTo>
                  <a:pt x="3212865" y="1497311"/>
                </a:lnTo>
                <a:lnTo>
                  <a:pt x="3186434" y="1527171"/>
                </a:lnTo>
                <a:lnTo>
                  <a:pt x="3158442" y="1556433"/>
                </a:lnTo>
                <a:lnTo>
                  <a:pt x="3128921" y="1585077"/>
                </a:lnTo>
                <a:lnTo>
                  <a:pt x="3097907" y="1613083"/>
                </a:lnTo>
                <a:lnTo>
                  <a:pt x="3065432" y="1640429"/>
                </a:lnTo>
                <a:lnTo>
                  <a:pt x="3031530" y="1667097"/>
                </a:lnTo>
                <a:lnTo>
                  <a:pt x="2996235" y="1693065"/>
                </a:lnTo>
                <a:lnTo>
                  <a:pt x="2959581" y="1718313"/>
                </a:lnTo>
                <a:lnTo>
                  <a:pt x="2921601" y="1742820"/>
                </a:lnTo>
                <a:lnTo>
                  <a:pt x="2882329" y="1766567"/>
                </a:lnTo>
                <a:lnTo>
                  <a:pt x="2841798" y="1789533"/>
                </a:lnTo>
                <a:lnTo>
                  <a:pt x="2800044" y="1811697"/>
                </a:lnTo>
                <a:lnTo>
                  <a:pt x="2757098" y="1833039"/>
                </a:lnTo>
                <a:lnTo>
                  <a:pt x="2712995" y="1853539"/>
                </a:lnTo>
                <a:lnTo>
                  <a:pt x="2667769" y="1873176"/>
                </a:lnTo>
                <a:lnTo>
                  <a:pt x="2621453" y="1891930"/>
                </a:lnTo>
                <a:lnTo>
                  <a:pt x="2574081" y="1909781"/>
                </a:lnTo>
                <a:lnTo>
                  <a:pt x="2525687" y="1926707"/>
                </a:lnTo>
                <a:lnTo>
                  <a:pt x="2476304" y="1942689"/>
                </a:lnTo>
                <a:lnTo>
                  <a:pt x="2425967" y="1957707"/>
                </a:lnTo>
                <a:lnTo>
                  <a:pt x="2374708" y="1971740"/>
                </a:lnTo>
                <a:lnTo>
                  <a:pt x="2322561" y="1984767"/>
                </a:lnTo>
                <a:lnTo>
                  <a:pt x="2269561" y="1996768"/>
                </a:lnTo>
                <a:lnTo>
                  <a:pt x="2215741" y="2007723"/>
                </a:lnTo>
                <a:lnTo>
                  <a:pt x="2161135" y="2017612"/>
                </a:lnTo>
                <a:lnTo>
                  <a:pt x="2105776" y="2026413"/>
                </a:lnTo>
                <a:lnTo>
                  <a:pt x="2049698" y="2034108"/>
                </a:lnTo>
                <a:lnTo>
                  <a:pt x="1992935" y="2040674"/>
                </a:lnTo>
                <a:lnTo>
                  <a:pt x="1935520" y="2046092"/>
                </a:lnTo>
                <a:lnTo>
                  <a:pt x="1877488" y="2050342"/>
                </a:lnTo>
                <a:lnTo>
                  <a:pt x="1818872" y="2053402"/>
                </a:lnTo>
                <a:lnTo>
                  <a:pt x="1759705" y="2055254"/>
                </a:lnTo>
                <a:lnTo>
                  <a:pt x="1700021" y="2055876"/>
                </a:lnTo>
                <a:lnTo>
                  <a:pt x="1640338" y="2055254"/>
                </a:lnTo>
                <a:lnTo>
                  <a:pt x="1581171" y="2053402"/>
                </a:lnTo>
                <a:lnTo>
                  <a:pt x="1522555" y="2050342"/>
                </a:lnTo>
                <a:lnTo>
                  <a:pt x="1464523" y="2046092"/>
                </a:lnTo>
                <a:lnTo>
                  <a:pt x="1407108" y="2040674"/>
                </a:lnTo>
                <a:lnTo>
                  <a:pt x="1350345" y="2034108"/>
                </a:lnTo>
                <a:lnTo>
                  <a:pt x="1294267" y="2026413"/>
                </a:lnTo>
                <a:lnTo>
                  <a:pt x="1238908" y="2017612"/>
                </a:lnTo>
                <a:lnTo>
                  <a:pt x="1184302" y="2007723"/>
                </a:lnTo>
                <a:lnTo>
                  <a:pt x="1130482" y="1996768"/>
                </a:lnTo>
                <a:lnTo>
                  <a:pt x="1077482" y="1984767"/>
                </a:lnTo>
                <a:lnTo>
                  <a:pt x="1025335" y="1971740"/>
                </a:lnTo>
                <a:lnTo>
                  <a:pt x="974076" y="1957707"/>
                </a:lnTo>
                <a:lnTo>
                  <a:pt x="923739" y="1942689"/>
                </a:lnTo>
                <a:lnTo>
                  <a:pt x="874356" y="1926707"/>
                </a:lnTo>
                <a:lnTo>
                  <a:pt x="825962" y="1909781"/>
                </a:lnTo>
                <a:lnTo>
                  <a:pt x="778590" y="1891930"/>
                </a:lnTo>
                <a:lnTo>
                  <a:pt x="732274" y="1873176"/>
                </a:lnTo>
                <a:lnTo>
                  <a:pt x="687048" y="1853539"/>
                </a:lnTo>
                <a:lnTo>
                  <a:pt x="642945" y="1833039"/>
                </a:lnTo>
                <a:lnTo>
                  <a:pt x="599999" y="1811697"/>
                </a:lnTo>
                <a:lnTo>
                  <a:pt x="558245" y="1789533"/>
                </a:lnTo>
                <a:lnTo>
                  <a:pt x="517714" y="1766567"/>
                </a:lnTo>
                <a:lnTo>
                  <a:pt x="478442" y="1742820"/>
                </a:lnTo>
                <a:lnTo>
                  <a:pt x="440462" y="1718313"/>
                </a:lnTo>
                <a:lnTo>
                  <a:pt x="403808" y="1693065"/>
                </a:lnTo>
                <a:lnTo>
                  <a:pt x="368513" y="1667097"/>
                </a:lnTo>
                <a:lnTo>
                  <a:pt x="334611" y="1640429"/>
                </a:lnTo>
                <a:lnTo>
                  <a:pt x="302136" y="1613083"/>
                </a:lnTo>
                <a:lnTo>
                  <a:pt x="271122" y="1585077"/>
                </a:lnTo>
                <a:lnTo>
                  <a:pt x="241601" y="1556433"/>
                </a:lnTo>
                <a:lnTo>
                  <a:pt x="213609" y="1527171"/>
                </a:lnTo>
                <a:lnTo>
                  <a:pt x="187178" y="1497311"/>
                </a:lnTo>
                <a:lnTo>
                  <a:pt x="162343" y="1466874"/>
                </a:lnTo>
                <a:lnTo>
                  <a:pt x="139137" y="1435880"/>
                </a:lnTo>
                <a:lnTo>
                  <a:pt x="117593" y="1404350"/>
                </a:lnTo>
                <a:lnTo>
                  <a:pt x="79629" y="1339761"/>
                </a:lnTo>
                <a:lnTo>
                  <a:pt x="48721" y="1273271"/>
                </a:lnTo>
                <a:lnTo>
                  <a:pt x="25138" y="1205043"/>
                </a:lnTo>
                <a:lnTo>
                  <a:pt x="9151" y="1135239"/>
                </a:lnTo>
                <a:lnTo>
                  <a:pt x="1028" y="1064024"/>
                </a:lnTo>
                <a:lnTo>
                  <a:pt x="0" y="1027938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789167" y="4577953"/>
            <a:ext cx="1668780" cy="80073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400" b="1" dirty="0">
                <a:latin typeface="Helvetica"/>
                <a:cs typeface="Helvetica"/>
              </a:rPr>
              <a:t>Detecting set </a:t>
            </a:r>
            <a:r>
              <a:rPr sz="1400" b="1" spc="-5" dirty="0">
                <a:latin typeface="Helvetica"/>
                <a:cs typeface="Helvetica"/>
              </a:rPr>
              <a:t>of</a:t>
            </a:r>
            <a:r>
              <a:rPr sz="1400" b="1" spc="-195" dirty="0">
                <a:latin typeface="Helvetica"/>
                <a:cs typeface="Helvetica"/>
              </a:rPr>
              <a:t> </a:t>
            </a:r>
            <a:r>
              <a:rPr sz="1400" b="1" spc="-15" dirty="0">
                <a:latin typeface="Helvetica"/>
                <a:cs typeface="Helvetica"/>
              </a:rPr>
              <a:t>A/1</a:t>
            </a:r>
            <a:endParaRPr sz="1400">
              <a:latin typeface="Helvetica"/>
              <a:cs typeface="Helvetica"/>
            </a:endParaRPr>
          </a:p>
          <a:p>
            <a:pPr marL="1005205">
              <a:lnSpc>
                <a:spcPct val="100000"/>
              </a:lnSpc>
              <a:spcBef>
                <a:spcPts val="1270"/>
              </a:spcBef>
            </a:pPr>
            <a:r>
              <a:rPr sz="1800" b="1" spc="-10" dirty="0">
                <a:solidFill>
                  <a:srgbClr val="FF0000"/>
                </a:solidFill>
                <a:latin typeface="Helvetica"/>
                <a:cs typeface="Helvetica"/>
              </a:rPr>
              <a:t>01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9422" y="6447452"/>
            <a:ext cx="576377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3</a:t>
            </a:fld>
            <a:endParaRPr sz="2400" dirty="0">
              <a:latin typeface="Arial"/>
              <a:cs typeface="Arial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479653" y="4198620"/>
          <a:ext cx="4255767" cy="1945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7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35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29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29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35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21131">
                <a:tc grid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Input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990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7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Output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990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i="1" dirty="0">
                          <a:latin typeface="Arial-BoldItalicMT"/>
                          <a:cs typeface="Arial-BoldItalicMT"/>
                        </a:rPr>
                        <a:t>A</a:t>
                      </a:r>
                      <a:endParaRPr sz="1400">
                        <a:latin typeface="Arial-BoldItalicMT"/>
                        <a:cs typeface="Arial-BoldItalic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i="1" dirty="0">
                          <a:latin typeface="Arial-BoldItalicMT"/>
                          <a:cs typeface="Arial-BoldItalicMT"/>
                        </a:rPr>
                        <a:t>B</a:t>
                      </a:r>
                      <a:endParaRPr sz="1400">
                        <a:latin typeface="Arial-BoldItalicMT"/>
                        <a:cs typeface="Arial-BoldItalic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L="1778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good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i="1" spc="-5" dirty="0">
                          <a:latin typeface="Arial-BoldItalicMT"/>
                          <a:cs typeface="Arial-BoldItalicMT"/>
                        </a:rPr>
                        <a:t>A/0</a:t>
                      </a:r>
                      <a:endParaRPr sz="1400">
                        <a:latin typeface="Arial-BoldItalicMT"/>
                        <a:cs typeface="Arial-BoldItalic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i="1" spc="-5" dirty="0">
                          <a:latin typeface="Arial-BoldItalicMT"/>
                          <a:cs typeface="Arial-BoldItalicMT"/>
                        </a:rPr>
                        <a:t>C/0</a:t>
                      </a:r>
                      <a:endParaRPr sz="1400">
                        <a:latin typeface="Arial-BoldItalicMT"/>
                        <a:cs typeface="Arial-BoldItalic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i="1" spc="-5" dirty="0">
                          <a:latin typeface="Arial-BoldItalicMT"/>
                          <a:cs typeface="Arial-BoldItalicMT"/>
                        </a:rPr>
                        <a:t>B/0</a:t>
                      </a:r>
                      <a:endParaRPr sz="1400">
                        <a:latin typeface="Arial-BoldItalicMT"/>
                        <a:cs typeface="Arial-BoldItalic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i="1" spc="-5" dirty="0">
                          <a:latin typeface="Arial-BoldItalicMT"/>
                          <a:cs typeface="Arial-BoldItalicMT"/>
                        </a:rPr>
                        <a:t>A/1</a:t>
                      </a:r>
                      <a:endParaRPr sz="1400">
                        <a:latin typeface="Arial-BoldItalicMT"/>
                        <a:cs typeface="Arial-BoldItalic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i="1" spc="-5" dirty="0">
                          <a:latin typeface="Arial-BoldItalicMT"/>
                          <a:cs typeface="Arial-BoldItalicMT"/>
                        </a:rPr>
                        <a:t>C/1</a:t>
                      </a:r>
                      <a:endParaRPr sz="1400">
                        <a:latin typeface="Arial-BoldItalicMT"/>
                        <a:cs typeface="Arial-BoldItalic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i="1" spc="-5" dirty="0">
                          <a:latin typeface="Arial-BoldItalicMT"/>
                          <a:cs typeface="Arial-BoldItalicMT"/>
                        </a:rPr>
                        <a:t>B/1</a:t>
                      </a:r>
                      <a:endParaRPr sz="1400">
                        <a:latin typeface="Arial-BoldItalicMT"/>
                        <a:cs typeface="Arial-BoldItalic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1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7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1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1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/>
      <p:bldP spid="11" grpId="0" animBg="1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00246" y="164414"/>
            <a:ext cx="10160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Q</a:t>
            </a:r>
            <a:r>
              <a:rPr spc="-15" dirty="0"/>
              <a:t>u</a:t>
            </a:r>
            <a:r>
              <a:rPr dirty="0"/>
              <a:t>iz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4508" y="1007363"/>
            <a:ext cx="8676640" cy="2948243"/>
          </a:xfrm>
          <a:prstGeom prst="rect">
            <a:avLst/>
          </a:prstGeom>
          <a:solidFill>
            <a:srgbClr val="66FF66"/>
          </a:solidFill>
        </p:spPr>
        <p:txBody>
          <a:bodyPr vert="horz" wrap="square" lIns="0" tIns="3937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945"/>
              </a:spcBef>
            </a:pPr>
            <a:r>
              <a:rPr lang="en-US" sz="2000" b="1" dirty="0">
                <a:latin typeface="Helvetica"/>
                <a:cs typeface="Helvetica"/>
              </a:rPr>
              <a:t>Q: Is dominance relation</a:t>
            </a:r>
            <a:r>
              <a:rPr lang="en-US" sz="2000" b="1" spc="-95" dirty="0">
                <a:latin typeface="Helvetica"/>
                <a:cs typeface="Helvetica"/>
              </a:rPr>
              <a:t> </a:t>
            </a:r>
            <a:r>
              <a:rPr lang="en-US" sz="2000" b="1" spc="-5" dirty="0">
                <a:latin typeface="Helvetica"/>
                <a:cs typeface="Helvetica"/>
              </a:rPr>
              <a:t>symmetric?</a:t>
            </a:r>
            <a:endParaRPr lang="en-US" sz="2000" dirty="0">
              <a:latin typeface="Helvetica"/>
              <a:cs typeface="Helvetica"/>
            </a:endParaRPr>
          </a:p>
          <a:p>
            <a:pPr marL="440055">
              <a:lnSpc>
                <a:spcPct val="100000"/>
              </a:lnSpc>
            </a:pPr>
            <a:r>
              <a:rPr lang="en-US" sz="2000" b="1" dirty="0">
                <a:latin typeface="Helvetica"/>
                <a:cs typeface="Helvetica"/>
              </a:rPr>
              <a:t>if </a:t>
            </a:r>
            <a:r>
              <a:rPr lang="en-US" sz="2000" b="1" i="1" spc="-40" dirty="0">
                <a:latin typeface="HelveticaNeue-BoldItalic"/>
                <a:cs typeface="HelveticaNeue-BoldItalic"/>
              </a:rPr>
              <a:t>f </a:t>
            </a:r>
            <a:r>
              <a:rPr lang="en-US" sz="2000" b="1" dirty="0">
                <a:latin typeface="Helvetica"/>
                <a:cs typeface="Helvetica"/>
              </a:rPr>
              <a:t>dominates </a:t>
            </a:r>
            <a:r>
              <a:rPr lang="en-US" sz="2000" b="1" i="1" spc="-5" dirty="0">
                <a:latin typeface="HelveticaNeue-BoldItalic"/>
                <a:cs typeface="HelveticaNeue-BoldItalic"/>
              </a:rPr>
              <a:t>g</a:t>
            </a:r>
            <a:r>
              <a:rPr lang="en-US" sz="2000" b="1" spc="-5" dirty="0">
                <a:latin typeface="Helvetica"/>
                <a:cs typeface="Helvetica"/>
              </a:rPr>
              <a:t>, </a:t>
            </a:r>
            <a:r>
              <a:rPr lang="en-US" sz="2000" b="1" dirty="0">
                <a:latin typeface="Helvetica"/>
                <a:cs typeface="Helvetica"/>
              </a:rPr>
              <a:t>then </a:t>
            </a:r>
            <a:r>
              <a:rPr lang="en-US" sz="2000" b="1" i="1" dirty="0">
                <a:latin typeface="HelveticaNeue-BoldItalic"/>
                <a:cs typeface="HelveticaNeue-BoldItalic"/>
              </a:rPr>
              <a:t>g </a:t>
            </a:r>
            <a:r>
              <a:rPr lang="en-US" sz="2000" b="1" dirty="0">
                <a:latin typeface="Helvetica"/>
                <a:cs typeface="Helvetica"/>
              </a:rPr>
              <a:t>dominates</a:t>
            </a:r>
            <a:r>
              <a:rPr lang="en-US" sz="2000" b="1" spc="-75" dirty="0">
                <a:latin typeface="Helvetica"/>
                <a:cs typeface="Helvetica"/>
              </a:rPr>
              <a:t> </a:t>
            </a:r>
            <a:r>
              <a:rPr lang="en-US" sz="2000" b="1" i="1" spc="-20" dirty="0">
                <a:latin typeface="HelveticaNeue-BoldItalic"/>
                <a:cs typeface="HelveticaNeue-BoldItalic"/>
              </a:rPr>
              <a:t>f</a:t>
            </a:r>
            <a:r>
              <a:rPr lang="en-US" sz="2000" b="1" spc="-20" dirty="0">
                <a:latin typeface="Helvetica"/>
                <a:cs typeface="Helvetica"/>
              </a:rPr>
              <a:t>?</a:t>
            </a:r>
            <a:endParaRPr lang="en-US" sz="2000" dirty="0">
              <a:latin typeface="Helvetica"/>
              <a:cs typeface="Helvetica"/>
            </a:endParaRPr>
          </a:p>
          <a:p>
            <a:pPr marL="90805">
              <a:lnSpc>
                <a:spcPct val="100000"/>
              </a:lnSpc>
            </a:pPr>
            <a:r>
              <a:rPr lang="en-US" sz="2000" b="1" spc="5" dirty="0">
                <a:latin typeface="Helvetica"/>
                <a:cs typeface="Helvetica"/>
              </a:rPr>
              <a:t>A:</a:t>
            </a:r>
            <a:endParaRPr lang="en-US" sz="2000" dirty="0">
              <a:latin typeface="Helvetica"/>
              <a:cs typeface="Helvetica"/>
            </a:endParaRPr>
          </a:p>
          <a:p>
            <a:pPr marL="90805">
              <a:lnSpc>
                <a:spcPct val="100000"/>
              </a:lnSpc>
              <a:spcBef>
                <a:spcPts val="310"/>
              </a:spcBef>
            </a:pPr>
            <a:endParaRPr lang="en-US" sz="2000" b="1" dirty="0">
              <a:latin typeface="Helvetica"/>
              <a:cs typeface="Helvetica"/>
            </a:endParaRPr>
          </a:p>
          <a:p>
            <a:pPr marL="90805">
              <a:lnSpc>
                <a:spcPct val="100000"/>
              </a:lnSpc>
              <a:spcBef>
                <a:spcPts val="310"/>
              </a:spcBef>
            </a:pPr>
            <a:r>
              <a:rPr sz="2000" b="1" dirty="0">
                <a:latin typeface="Helvetica"/>
                <a:cs typeface="Helvetica"/>
              </a:rPr>
              <a:t>Q: Is dominance relation</a:t>
            </a:r>
            <a:r>
              <a:rPr sz="2000" b="1" spc="-95" dirty="0">
                <a:latin typeface="Helvetica"/>
                <a:cs typeface="Helvetica"/>
              </a:rPr>
              <a:t> </a:t>
            </a:r>
            <a:r>
              <a:rPr sz="2000" b="1" dirty="0">
                <a:latin typeface="Helvetica"/>
                <a:cs typeface="Helvetica"/>
              </a:rPr>
              <a:t>transitive?</a:t>
            </a:r>
            <a:endParaRPr sz="2000" dirty="0">
              <a:latin typeface="Helvetica"/>
              <a:cs typeface="Helvetica"/>
            </a:endParaRPr>
          </a:p>
          <a:p>
            <a:pPr marL="440055">
              <a:lnSpc>
                <a:spcPct val="100000"/>
              </a:lnSpc>
            </a:pPr>
            <a:r>
              <a:rPr sz="2000" b="1" dirty="0">
                <a:latin typeface="Helvetica"/>
                <a:cs typeface="Helvetica"/>
              </a:rPr>
              <a:t>if </a:t>
            </a:r>
            <a:r>
              <a:rPr sz="2000" b="1" i="1" spc="-40" dirty="0">
                <a:latin typeface="HelveticaNeue-BoldItalic"/>
                <a:cs typeface="HelveticaNeue-BoldItalic"/>
              </a:rPr>
              <a:t>f </a:t>
            </a:r>
            <a:r>
              <a:rPr sz="2000" b="1" dirty="0">
                <a:latin typeface="Helvetica"/>
                <a:cs typeface="Helvetica"/>
              </a:rPr>
              <a:t>dominates </a:t>
            </a:r>
            <a:r>
              <a:rPr sz="2000" b="1" i="1" spc="-5" dirty="0">
                <a:latin typeface="HelveticaNeue-BoldItalic"/>
                <a:cs typeface="HelveticaNeue-BoldItalic"/>
              </a:rPr>
              <a:t>g</a:t>
            </a:r>
            <a:r>
              <a:rPr sz="2000" b="1" spc="-5" dirty="0">
                <a:latin typeface="Helvetica"/>
                <a:cs typeface="Helvetica"/>
              </a:rPr>
              <a:t>, </a:t>
            </a:r>
            <a:r>
              <a:rPr sz="2000" b="1" dirty="0">
                <a:latin typeface="Helvetica"/>
                <a:cs typeface="Helvetica"/>
              </a:rPr>
              <a:t>and g dominates </a:t>
            </a:r>
            <a:r>
              <a:rPr sz="2000" b="1" i="1" spc="-5" dirty="0">
                <a:latin typeface="HelveticaNeue-BoldItalic"/>
                <a:cs typeface="HelveticaNeue-BoldItalic"/>
              </a:rPr>
              <a:t>h</a:t>
            </a:r>
            <a:r>
              <a:rPr sz="2000" b="1" spc="-5" dirty="0">
                <a:latin typeface="Helvetica"/>
                <a:cs typeface="Helvetica"/>
              </a:rPr>
              <a:t>, </a:t>
            </a:r>
            <a:r>
              <a:rPr sz="2000" b="1" dirty="0">
                <a:latin typeface="Helvetica"/>
                <a:cs typeface="Helvetica"/>
              </a:rPr>
              <a:t>then </a:t>
            </a:r>
            <a:r>
              <a:rPr sz="2000" b="1" i="1" spc="-40" dirty="0">
                <a:latin typeface="HelveticaNeue-BoldItalic"/>
                <a:cs typeface="HelveticaNeue-BoldItalic"/>
              </a:rPr>
              <a:t>f </a:t>
            </a:r>
            <a:r>
              <a:rPr sz="2000" b="1" dirty="0">
                <a:latin typeface="Helvetica"/>
                <a:cs typeface="Helvetica"/>
              </a:rPr>
              <a:t>dominates</a:t>
            </a:r>
            <a:r>
              <a:rPr sz="2000" b="1" spc="-85" dirty="0">
                <a:latin typeface="Helvetica"/>
                <a:cs typeface="Helvetica"/>
              </a:rPr>
              <a:t> </a:t>
            </a:r>
            <a:r>
              <a:rPr sz="2000" b="1" i="1" spc="-5" dirty="0">
                <a:latin typeface="HelveticaNeue-BoldItalic"/>
                <a:cs typeface="HelveticaNeue-BoldItalic"/>
              </a:rPr>
              <a:t>h</a:t>
            </a:r>
            <a:r>
              <a:rPr sz="2000" b="1" spc="-5" dirty="0">
                <a:latin typeface="Helvetica"/>
                <a:cs typeface="Helvetica"/>
              </a:rPr>
              <a:t>?</a:t>
            </a:r>
            <a:endParaRPr sz="2000" dirty="0">
              <a:latin typeface="Helvetica"/>
              <a:cs typeface="Helvetica"/>
            </a:endParaRPr>
          </a:p>
          <a:p>
            <a:pPr marL="90805">
              <a:lnSpc>
                <a:spcPct val="100000"/>
              </a:lnSpc>
            </a:pPr>
            <a:r>
              <a:rPr sz="2000" b="1" spc="5" dirty="0">
                <a:latin typeface="Helvetica"/>
                <a:cs typeface="Helvetica"/>
              </a:rPr>
              <a:t>A:</a:t>
            </a:r>
            <a:endParaRPr sz="2000" dirty="0">
              <a:latin typeface="Helvetica"/>
              <a:cs typeface="Helvetica"/>
            </a:endParaRPr>
          </a:p>
          <a:p>
            <a:pPr>
              <a:lnSpc>
                <a:spcPct val="100000"/>
              </a:lnSpc>
            </a:pPr>
            <a:endParaRPr sz="2400" dirty="0">
              <a:latin typeface="Helvetica"/>
              <a:cs typeface="Helvetica"/>
            </a:endParaRPr>
          </a:p>
          <a:p>
            <a:pPr marL="90805">
              <a:lnSpc>
                <a:spcPct val="100000"/>
              </a:lnSpc>
            </a:pPr>
            <a:endParaRPr sz="2000" dirty="0">
              <a:latin typeface="Helvetica"/>
              <a:cs typeface="Helvetic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9423" y="6447452"/>
            <a:ext cx="652577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4</a:t>
            </a:fld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3671" y="164414"/>
            <a:ext cx="736663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Arial-BoldItalicMT"/>
                <a:cs typeface="Arial-BoldItalicMT"/>
              </a:rPr>
              <a:t>Dominance Fault Collapsing,</a:t>
            </a:r>
            <a:r>
              <a:rPr spc="15" dirty="0">
                <a:latin typeface="Arial-BoldItalicMT"/>
                <a:cs typeface="Arial-BoldItalicMT"/>
              </a:rPr>
              <a:t> </a:t>
            </a:r>
            <a:r>
              <a:rPr dirty="0">
                <a:latin typeface="Arial-BoldItalicMT"/>
                <a:cs typeface="Arial-BoldItalicMT"/>
              </a:rPr>
              <a:t>DFC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00785"/>
            <a:ext cx="8580755" cy="2485296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DFC reduces fault </a:t>
            </a:r>
            <a:r>
              <a:rPr sz="2000" b="1" spc="-5" dirty="0">
                <a:latin typeface="Arial"/>
                <a:cs typeface="Arial"/>
              </a:rPr>
              <a:t>list </a:t>
            </a:r>
            <a:r>
              <a:rPr sz="2000" b="1" dirty="0">
                <a:latin typeface="Arial"/>
                <a:cs typeface="Arial"/>
              </a:rPr>
              <a:t>using fault dominance</a:t>
            </a:r>
            <a:r>
              <a:rPr sz="2000" b="1" spc="-1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relation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If a test pattern detects a </a:t>
            </a:r>
            <a:r>
              <a:rPr sz="2000" b="1" i="1" dirty="0">
                <a:latin typeface="Arial-BoldItalicMT"/>
                <a:cs typeface="Arial-BoldItalicMT"/>
              </a:rPr>
              <a:t>dominated fault</a:t>
            </a:r>
            <a:r>
              <a:rPr sz="2000" b="1" dirty="0">
                <a:latin typeface="Arial"/>
                <a:cs typeface="Arial"/>
              </a:rPr>
              <a:t>, then it must detect</a:t>
            </a:r>
            <a:r>
              <a:rPr sz="2000" b="1" spc="-2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its</a:t>
            </a:r>
            <a:endParaRPr sz="2000" dirty="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</a:pPr>
            <a:r>
              <a:rPr sz="2000" b="1" i="1" dirty="0">
                <a:latin typeface="Arial-BoldItalicMT"/>
                <a:cs typeface="Arial-BoldItalicMT"/>
              </a:rPr>
              <a:t>dominating fault. </a:t>
            </a:r>
            <a:r>
              <a:rPr sz="2000" b="1" dirty="0">
                <a:latin typeface="Arial"/>
                <a:cs typeface="Arial"/>
              </a:rPr>
              <a:t>So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dominating faults can be removed </a:t>
            </a:r>
            <a:r>
              <a:rPr sz="2000" b="1" dirty="0">
                <a:latin typeface="Arial"/>
                <a:cs typeface="Arial"/>
              </a:rPr>
              <a:t>for</a:t>
            </a:r>
            <a:r>
              <a:rPr sz="2000" b="1" spc="-18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ATPG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Example: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SzPct val="75000"/>
              <a:buFont typeface="Arial"/>
              <a:buChar char="◆"/>
              <a:tabLst>
                <a:tab pos="756285" algn="l"/>
                <a:tab pos="756920" algn="l"/>
                <a:tab pos="3968750" algn="l"/>
              </a:tabLst>
            </a:pP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C/1 </a:t>
            </a:r>
            <a:r>
              <a:rPr sz="2000" b="1" dirty="0">
                <a:latin typeface="Arial"/>
                <a:cs typeface="Arial"/>
              </a:rPr>
              <a:t>fault can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be</a:t>
            </a:r>
            <a:r>
              <a:rPr sz="2000" b="1" spc="1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removed.	</a:t>
            </a:r>
            <a:r>
              <a:rPr lang="en-US" sz="2000" b="1" spc="-5" dirty="0">
                <a:latin typeface="Arial"/>
                <a:cs typeface="Arial"/>
              </a:rPr>
              <a:t>Additionally</a:t>
            </a:r>
            <a:r>
              <a:rPr sz="2000" b="1" spc="-5" dirty="0">
                <a:latin typeface="Arial"/>
                <a:cs typeface="Arial"/>
              </a:rPr>
              <a:t>,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A/0, B/0 </a:t>
            </a:r>
            <a:r>
              <a:rPr sz="2000" b="1" dirty="0">
                <a:latin typeface="Arial"/>
                <a:cs typeface="Arial"/>
              </a:rPr>
              <a:t>also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removed</a:t>
            </a:r>
            <a:r>
              <a:rPr lang="en-US" sz="2000" b="1" spc="-5" dirty="0">
                <a:latin typeface="Arial"/>
                <a:cs typeface="Arial"/>
              </a:rPr>
              <a:t> due to equivalence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  <a:tab pos="2010410" algn="l"/>
              </a:tabLst>
            </a:pPr>
            <a:r>
              <a:rPr sz="2000" b="1" dirty="0">
                <a:latin typeface="Arial"/>
                <a:cs typeface="Arial"/>
              </a:rPr>
              <a:t>Minimum	{A/1, B/1, C/0} 3 faults remains after</a:t>
            </a:r>
            <a:r>
              <a:rPr sz="2000" b="1" spc="-19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DFC</a:t>
            </a:r>
            <a:endParaRPr sz="2000" dirty="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38137" y="3471671"/>
          <a:ext cx="4255767" cy="19451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7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35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29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29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35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21131">
                <a:tc gridSpan="2"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Input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990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7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Output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990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i="1" dirty="0">
                          <a:latin typeface="Arial-BoldItalicMT"/>
                          <a:cs typeface="Arial-BoldItalicMT"/>
                        </a:rPr>
                        <a:t>A</a:t>
                      </a:r>
                      <a:endParaRPr sz="1400">
                        <a:latin typeface="Arial-BoldItalicMT"/>
                        <a:cs typeface="Arial-BoldItalic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i="1" dirty="0">
                          <a:latin typeface="Arial-BoldItalicMT"/>
                          <a:cs typeface="Arial-BoldItalicMT"/>
                        </a:rPr>
                        <a:t>B</a:t>
                      </a:r>
                      <a:endParaRPr sz="1400">
                        <a:latin typeface="Arial-BoldItalicMT"/>
                        <a:cs typeface="Arial-BoldItalic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L="1778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Good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i="1" spc="-5" dirty="0">
                          <a:solidFill>
                            <a:srgbClr val="0000FF"/>
                          </a:solidFill>
                          <a:latin typeface="Arial-BoldItalicMT"/>
                          <a:cs typeface="Arial-BoldItalicMT"/>
                        </a:rPr>
                        <a:t>A/0</a:t>
                      </a:r>
                      <a:endParaRPr sz="1400">
                        <a:latin typeface="Arial-BoldItalicMT"/>
                        <a:cs typeface="Arial-BoldItalic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i="1" spc="-5" dirty="0">
                          <a:solidFill>
                            <a:srgbClr val="0000FF"/>
                          </a:solidFill>
                          <a:latin typeface="Arial-BoldItalicMT"/>
                          <a:cs typeface="Arial-BoldItalicMT"/>
                        </a:rPr>
                        <a:t>C/0</a:t>
                      </a:r>
                      <a:endParaRPr sz="1400">
                        <a:latin typeface="Arial-BoldItalicMT"/>
                        <a:cs typeface="Arial-BoldItalic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i="1" spc="-5" dirty="0">
                          <a:solidFill>
                            <a:srgbClr val="0000FF"/>
                          </a:solidFill>
                          <a:latin typeface="Arial-BoldItalicMT"/>
                          <a:cs typeface="Arial-BoldItalicMT"/>
                        </a:rPr>
                        <a:t>B/0</a:t>
                      </a:r>
                      <a:endParaRPr sz="1400">
                        <a:latin typeface="Arial-BoldItalicMT"/>
                        <a:cs typeface="Arial-BoldItalic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i="1" spc="-5" dirty="0">
                          <a:solidFill>
                            <a:srgbClr val="FF0000"/>
                          </a:solidFill>
                          <a:latin typeface="Arial-BoldItalicMT"/>
                          <a:cs typeface="Arial-BoldItalicMT"/>
                        </a:rPr>
                        <a:t>A/1</a:t>
                      </a:r>
                      <a:endParaRPr sz="1400">
                        <a:latin typeface="Arial-BoldItalicMT"/>
                        <a:cs typeface="Arial-BoldItalic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i="1" spc="-5" dirty="0">
                          <a:solidFill>
                            <a:srgbClr val="FF0000"/>
                          </a:solidFill>
                          <a:latin typeface="Arial-BoldItalicMT"/>
                          <a:cs typeface="Arial-BoldItalicMT"/>
                        </a:rPr>
                        <a:t>C/1</a:t>
                      </a:r>
                      <a:endParaRPr sz="1400">
                        <a:latin typeface="Arial-BoldItalicMT"/>
                        <a:cs typeface="Arial-BoldItalic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i="1" spc="-5" dirty="0">
                          <a:solidFill>
                            <a:srgbClr val="FF0000"/>
                          </a:solidFill>
                          <a:latin typeface="Arial-BoldItalicMT"/>
                          <a:cs typeface="Arial-BoldItalicMT"/>
                        </a:rPr>
                        <a:t>B/1</a:t>
                      </a:r>
                      <a:endParaRPr sz="1400">
                        <a:latin typeface="Arial-BoldItalicMT"/>
                        <a:cs typeface="Arial-BoldItalic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u="sng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u="sng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u="sng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5442253" y="4384403"/>
            <a:ext cx="323850" cy="0"/>
          </a:xfrm>
          <a:custGeom>
            <a:avLst/>
            <a:gdLst/>
            <a:ahLst/>
            <a:cxnLst/>
            <a:rect l="l" t="t" r="r" b="b"/>
            <a:pathLst>
              <a:path w="323850">
                <a:moveTo>
                  <a:pt x="0" y="0"/>
                </a:moveTo>
                <a:lnTo>
                  <a:pt x="323449" y="0"/>
                </a:lnTo>
              </a:path>
            </a:pathLst>
          </a:custGeom>
          <a:ln w="272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442253" y="4621525"/>
            <a:ext cx="323850" cy="0"/>
          </a:xfrm>
          <a:custGeom>
            <a:avLst/>
            <a:gdLst/>
            <a:ahLst/>
            <a:cxnLst/>
            <a:rect l="l" t="t" r="r" b="b"/>
            <a:pathLst>
              <a:path w="323850">
                <a:moveTo>
                  <a:pt x="0" y="0"/>
                </a:moveTo>
                <a:lnTo>
                  <a:pt x="323449" y="0"/>
                </a:lnTo>
              </a:path>
            </a:pathLst>
          </a:custGeom>
          <a:ln w="272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917376" y="4502964"/>
            <a:ext cx="323850" cy="0"/>
          </a:xfrm>
          <a:custGeom>
            <a:avLst/>
            <a:gdLst/>
            <a:ahLst/>
            <a:cxnLst/>
            <a:rect l="l" t="t" r="r" b="b"/>
            <a:pathLst>
              <a:path w="323850">
                <a:moveTo>
                  <a:pt x="323411" y="0"/>
                </a:moveTo>
                <a:lnTo>
                  <a:pt x="0" y="0"/>
                </a:lnTo>
              </a:path>
            </a:pathLst>
          </a:custGeom>
          <a:ln w="272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366416" y="4334403"/>
            <a:ext cx="100188" cy="100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41351" y="4334403"/>
            <a:ext cx="100330" cy="100330"/>
          </a:xfrm>
          <a:custGeom>
            <a:avLst/>
            <a:gdLst/>
            <a:ahLst/>
            <a:cxnLst/>
            <a:rect l="l" t="t" r="r" b="b"/>
            <a:pathLst>
              <a:path w="100329" h="100329">
                <a:moveTo>
                  <a:pt x="0" y="0"/>
                </a:moveTo>
                <a:lnTo>
                  <a:pt x="8866" y="24479"/>
                </a:lnTo>
                <a:lnTo>
                  <a:pt x="11821" y="50004"/>
                </a:lnTo>
                <a:lnTo>
                  <a:pt x="8866" y="75527"/>
                </a:lnTo>
                <a:lnTo>
                  <a:pt x="0" y="100000"/>
                </a:lnTo>
                <a:lnTo>
                  <a:pt x="100188" y="50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366416" y="4571525"/>
            <a:ext cx="100188" cy="100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741351" y="4571525"/>
            <a:ext cx="100330" cy="100330"/>
          </a:xfrm>
          <a:custGeom>
            <a:avLst/>
            <a:gdLst/>
            <a:ahLst/>
            <a:cxnLst/>
            <a:rect l="l" t="t" r="r" b="b"/>
            <a:pathLst>
              <a:path w="100329" h="100329">
                <a:moveTo>
                  <a:pt x="0" y="0"/>
                </a:moveTo>
                <a:lnTo>
                  <a:pt x="8866" y="24478"/>
                </a:lnTo>
                <a:lnTo>
                  <a:pt x="11821" y="50000"/>
                </a:lnTo>
                <a:lnTo>
                  <a:pt x="8866" y="75522"/>
                </a:lnTo>
                <a:lnTo>
                  <a:pt x="0" y="100000"/>
                </a:lnTo>
                <a:lnTo>
                  <a:pt x="100188" y="50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216500" y="4452964"/>
            <a:ext cx="100188" cy="100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841539" y="4452964"/>
            <a:ext cx="100330" cy="100330"/>
          </a:xfrm>
          <a:custGeom>
            <a:avLst/>
            <a:gdLst/>
            <a:ahLst/>
            <a:cxnLst/>
            <a:rect l="l" t="t" r="r" b="b"/>
            <a:pathLst>
              <a:path w="100329" h="100329">
                <a:moveTo>
                  <a:pt x="100188" y="0"/>
                </a:moveTo>
                <a:lnTo>
                  <a:pt x="0" y="50000"/>
                </a:lnTo>
                <a:lnTo>
                  <a:pt x="100188" y="100000"/>
                </a:lnTo>
                <a:lnTo>
                  <a:pt x="91315" y="75522"/>
                </a:lnTo>
                <a:lnTo>
                  <a:pt x="88357" y="50000"/>
                </a:lnTo>
                <a:lnTo>
                  <a:pt x="91315" y="24478"/>
                </a:lnTo>
                <a:lnTo>
                  <a:pt x="1001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532701" y="4265855"/>
            <a:ext cx="617855" cy="474345"/>
          </a:xfrm>
          <a:custGeom>
            <a:avLst/>
            <a:gdLst/>
            <a:ahLst/>
            <a:cxnLst/>
            <a:rect l="l" t="t" r="r" b="b"/>
            <a:pathLst>
              <a:path w="617854" h="474345">
                <a:moveTo>
                  <a:pt x="185298" y="0"/>
                </a:moveTo>
                <a:lnTo>
                  <a:pt x="0" y="0"/>
                </a:lnTo>
                <a:lnTo>
                  <a:pt x="28446" y="41532"/>
                </a:lnTo>
                <a:lnTo>
                  <a:pt x="51204" y="84012"/>
                </a:lnTo>
                <a:lnTo>
                  <a:pt x="68272" y="127229"/>
                </a:lnTo>
                <a:lnTo>
                  <a:pt x="79651" y="170973"/>
                </a:lnTo>
                <a:lnTo>
                  <a:pt x="85340" y="215032"/>
                </a:lnTo>
                <a:lnTo>
                  <a:pt x="85340" y="259197"/>
                </a:lnTo>
                <a:lnTo>
                  <a:pt x="79651" y="303257"/>
                </a:lnTo>
                <a:lnTo>
                  <a:pt x="68272" y="347001"/>
                </a:lnTo>
                <a:lnTo>
                  <a:pt x="51204" y="390218"/>
                </a:lnTo>
                <a:lnTo>
                  <a:pt x="28446" y="432698"/>
                </a:lnTo>
                <a:lnTo>
                  <a:pt x="0" y="474230"/>
                </a:lnTo>
                <a:lnTo>
                  <a:pt x="185298" y="474230"/>
                </a:lnTo>
                <a:lnTo>
                  <a:pt x="243491" y="462927"/>
                </a:lnTo>
                <a:lnTo>
                  <a:pt x="299158" y="448429"/>
                </a:lnTo>
                <a:lnTo>
                  <a:pt x="351999" y="430901"/>
                </a:lnTo>
                <a:lnTo>
                  <a:pt x="401715" y="410507"/>
                </a:lnTo>
                <a:lnTo>
                  <a:pt x="448008" y="387410"/>
                </a:lnTo>
                <a:lnTo>
                  <a:pt x="490578" y="361776"/>
                </a:lnTo>
                <a:lnTo>
                  <a:pt x="529128" y="333766"/>
                </a:lnTo>
                <a:lnTo>
                  <a:pt x="563358" y="303547"/>
                </a:lnTo>
                <a:lnTo>
                  <a:pt x="592969" y="271282"/>
                </a:lnTo>
                <a:lnTo>
                  <a:pt x="617664" y="237134"/>
                </a:lnTo>
                <a:lnTo>
                  <a:pt x="593287" y="202835"/>
                </a:lnTo>
                <a:lnTo>
                  <a:pt x="563897" y="170438"/>
                </a:lnTo>
                <a:lnTo>
                  <a:pt x="529803" y="140111"/>
                </a:lnTo>
                <a:lnTo>
                  <a:pt x="491312" y="112024"/>
                </a:lnTo>
                <a:lnTo>
                  <a:pt x="448733" y="86346"/>
                </a:lnTo>
                <a:lnTo>
                  <a:pt x="402374" y="63245"/>
                </a:lnTo>
                <a:lnTo>
                  <a:pt x="352543" y="42891"/>
                </a:lnTo>
                <a:lnTo>
                  <a:pt x="299548" y="25453"/>
                </a:lnTo>
                <a:lnTo>
                  <a:pt x="243697" y="11099"/>
                </a:lnTo>
                <a:lnTo>
                  <a:pt x="18529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532701" y="4265855"/>
            <a:ext cx="617855" cy="474345"/>
          </a:xfrm>
          <a:custGeom>
            <a:avLst/>
            <a:gdLst/>
            <a:ahLst/>
            <a:cxnLst/>
            <a:rect l="l" t="t" r="r" b="b"/>
            <a:pathLst>
              <a:path w="617854" h="474345">
                <a:moveTo>
                  <a:pt x="617664" y="237134"/>
                </a:moveTo>
                <a:lnTo>
                  <a:pt x="592969" y="271282"/>
                </a:lnTo>
                <a:lnTo>
                  <a:pt x="563358" y="303547"/>
                </a:lnTo>
                <a:lnTo>
                  <a:pt x="529128" y="333766"/>
                </a:lnTo>
                <a:lnTo>
                  <a:pt x="490578" y="361776"/>
                </a:lnTo>
                <a:lnTo>
                  <a:pt x="448008" y="387410"/>
                </a:lnTo>
                <a:lnTo>
                  <a:pt x="401715" y="410507"/>
                </a:lnTo>
                <a:lnTo>
                  <a:pt x="351999" y="430901"/>
                </a:lnTo>
                <a:lnTo>
                  <a:pt x="299158" y="448429"/>
                </a:lnTo>
                <a:lnTo>
                  <a:pt x="243491" y="462927"/>
                </a:lnTo>
                <a:lnTo>
                  <a:pt x="185298" y="474230"/>
                </a:lnTo>
                <a:lnTo>
                  <a:pt x="0" y="474230"/>
                </a:lnTo>
                <a:lnTo>
                  <a:pt x="28446" y="432698"/>
                </a:lnTo>
                <a:lnTo>
                  <a:pt x="51204" y="390218"/>
                </a:lnTo>
                <a:lnTo>
                  <a:pt x="68272" y="347001"/>
                </a:lnTo>
                <a:lnTo>
                  <a:pt x="79651" y="303257"/>
                </a:lnTo>
                <a:lnTo>
                  <a:pt x="85340" y="259197"/>
                </a:lnTo>
                <a:lnTo>
                  <a:pt x="85340" y="215032"/>
                </a:lnTo>
                <a:lnTo>
                  <a:pt x="79651" y="170973"/>
                </a:lnTo>
                <a:lnTo>
                  <a:pt x="68272" y="127229"/>
                </a:lnTo>
                <a:lnTo>
                  <a:pt x="51204" y="84012"/>
                </a:lnTo>
                <a:lnTo>
                  <a:pt x="28446" y="41532"/>
                </a:lnTo>
                <a:lnTo>
                  <a:pt x="0" y="0"/>
                </a:lnTo>
                <a:lnTo>
                  <a:pt x="185298" y="0"/>
                </a:lnTo>
                <a:lnTo>
                  <a:pt x="243697" y="11099"/>
                </a:lnTo>
                <a:lnTo>
                  <a:pt x="299548" y="25453"/>
                </a:lnTo>
                <a:lnTo>
                  <a:pt x="352543" y="42891"/>
                </a:lnTo>
                <a:lnTo>
                  <a:pt x="402374" y="63245"/>
                </a:lnTo>
                <a:lnTo>
                  <a:pt x="448733" y="86346"/>
                </a:lnTo>
                <a:lnTo>
                  <a:pt x="491312" y="112024"/>
                </a:lnTo>
                <a:lnTo>
                  <a:pt x="529803" y="140111"/>
                </a:lnTo>
                <a:lnTo>
                  <a:pt x="563897" y="170438"/>
                </a:lnTo>
                <a:lnTo>
                  <a:pt x="593287" y="202835"/>
                </a:lnTo>
                <a:lnTo>
                  <a:pt x="617664" y="237134"/>
                </a:lnTo>
                <a:close/>
              </a:path>
            </a:pathLst>
          </a:custGeom>
          <a:ln w="272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532701" y="4265855"/>
            <a:ext cx="617855" cy="474345"/>
          </a:xfrm>
          <a:custGeom>
            <a:avLst/>
            <a:gdLst/>
            <a:ahLst/>
            <a:cxnLst/>
            <a:rect l="l" t="t" r="r" b="b"/>
            <a:pathLst>
              <a:path w="617854" h="474345">
                <a:moveTo>
                  <a:pt x="380108" y="0"/>
                </a:moveTo>
                <a:lnTo>
                  <a:pt x="0" y="0"/>
                </a:lnTo>
                <a:lnTo>
                  <a:pt x="0" y="474230"/>
                </a:lnTo>
                <a:lnTo>
                  <a:pt x="380108" y="474230"/>
                </a:lnTo>
                <a:lnTo>
                  <a:pt x="427983" y="469413"/>
                </a:lnTo>
                <a:lnTo>
                  <a:pt x="472574" y="455596"/>
                </a:lnTo>
                <a:lnTo>
                  <a:pt x="512926" y="433734"/>
                </a:lnTo>
                <a:lnTo>
                  <a:pt x="548084" y="404779"/>
                </a:lnTo>
                <a:lnTo>
                  <a:pt x="577092" y="369686"/>
                </a:lnTo>
                <a:lnTo>
                  <a:pt x="598995" y="329408"/>
                </a:lnTo>
                <a:lnTo>
                  <a:pt x="612837" y="284897"/>
                </a:lnTo>
                <a:lnTo>
                  <a:pt x="617664" y="237109"/>
                </a:lnTo>
                <a:lnTo>
                  <a:pt x="612837" y="189324"/>
                </a:lnTo>
                <a:lnTo>
                  <a:pt x="598995" y="144817"/>
                </a:lnTo>
                <a:lnTo>
                  <a:pt x="577092" y="104541"/>
                </a:lnTo>
                <a:lnTo>
                  <a:pt x="548084" y="69449"/>
                </a:lnTo>
                <a:lnTo>
                  <a:pt x="512926" y="40495"/>
                </a:lnTo>
                <a:lnTo>
                  <a:pt x="472574" y="18633"/>
                </a:lnTo>
                <a:lnTo>
                  <a:pt x="427983" y="4817"/>
                </a:lnTo>
                <a:lnTo>
                  <a:pt x="3801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532701" y="4265855"/>
            <a:ext cx="617855" cy="474345"/>
          </a:xfrm>
          <a:custGeom>
            <a:avLst/>
            <a:gdLst/>
            <a:ahLst/>
            <a:cxnLst/>
            <a:rect l="l" t="t" r="r" b="b"/>
            <a:pathLst>
              <a:path w="617854" h="474345">
                <a:moveTo>
                  <a:pt x="380108" y="474230"/>
                </a:moveTo>
                <a:lnTo>
                  <a:pt x="0" y="474230"/>
                </a:lnTo>
                <a:lnTo>
                  <a:pt x="0" y="0"/>
                </a:lnTo>
                <a:lnTo>
                  <a:pt x="380108" y="0"/>
                </a:lnTo>
                <a:lnTo>
                  <a:pt x="427983" y="4817"/>
                </a:lnTo>
                <a:lnTo>
                  <a:pt x="472574" y="18633"/>
                </a:lnTo>
                <a:lnTo>
                  <a:pt x="512926" y="40495"/>
                </a:lnTo>
                <a:lnTo>
                  <a:pt x="548084" y="69449"/>
                </a:lnTo>
                <a:lnTo>
                  <a:pt x="577092" y="104541"/>
                </a:lnTo>
                <a:lnTo>
                  <a:pt x="598995" y="144817"/>
                </a:lnTo>
                <a:lnTo>
                  <a:pt x="612837" y="189324"/>
                </a:lnTo>
                <a:lnTo>
                  <a:pt x="617664" y="237109"/>
                </a:lnTo>
                <a:lnTo>
                  <a:pt x="612837" y="284897"/>
                </a:lnTo>
                <a:lnTo>
                  <a:pt x="598995" y="329408"/>
                </a:lnTo>
                <a:lnTo>
                  <a:pt x="577092" y="369686"/>
                </a:lnTo>
                <a:lnTo>
                  <a:pt x="548084" y="404779"/>
                </a:lnTo>
                <a:lnTo>
                  <a:pt x="512926" y="433734"/>
                </a:lnTo>
                <a:lnTo>
                  <a:pt x="472574" y="455596"/>
                </a:lnTo>
                <a:lnTo>
                  <a:pt x="427983" y="469413"/>
                </a:lnTo>
                <a:lnTo>
                  <a:pt x="380108" y="474230"/>
                </a:lnTo>
                <a:close/>
              </a:path>
            </a:pathLst>
          </a:custGeom>
          <a:ln w="272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938275" y="4404529"/>
            <a:ext cx="132306" cy="22372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316688" y="4502964"/>
            <a:ext cx="314325" cy="0"/>
          </a:xfrm>
          <a:custGeom>
            <a:avLst/>
            <a:gdLst/>
            <a:ahLst/>
            <a:cxnLst/>
            <a:rect l="l" t="t" r="r" b="b"/>
            <a:pathLst>
              <a:path w="314325">
                <a:moveTo>
                  <a:pt x="0" y="0"/>
                </a:moveTo>
                <a:lnTo>
                  <a:pt x="313721" y="0"/>
                </a:lnTo>
              </a:path>
            </a:pathLst>
          </a:custGeom>
          <a:ln w="272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124370" y="4621525"/>
            <a:ext cx="242570" cy="0"/>
          </a:xfrm>
          <a:custGeom>
            <a:avLst/>
            <a:gdLst/>
            <a:ahLst/>
            <a:cxnLst/>
            <a:rect l="l" t="t" r="r" b="b"/>
            <a:pathLst>
              <a:path w="242570">
                <a:moveTo>
                  <a:pt x="242046" y="0"/>
                </a:moveTo>
                <a:lnTo>
                  <a:pt x="0" y="0"/>
                </a:lnTo>
              </a:path>
            </a:pathLst>
          </a:custGeom>
          <a:ln w="272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124370" y="4384403"/>
            <a:ext cx="242570" cy="0"/>
          </a:xfrm>
          <a:custGeom>
            <a:avLst/>
            <a:gdLst/>
            <a:ahLst/>
            <a:cxnLst/>
            <a:rect l="l" t="t" r="r" b="b"/>
            <a:pathLst>
              <a:path w="242570">
                <a:moveTo>
                  <a:pt x="242046" y="0"/>
                </a:moveTo>
                <a:lnTo>
                  <a:pt x="0" y="0"/>
                </a:lnTo>
              </a:path>
            </a:pathLst>
          </a:custGeom>
          <a:ln w="272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182168" y="4379953"/>
            <a:ext cx="35877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5" dirty="0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sz="1400" b="1" spc="28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FF0000"/>
                </a:solidFill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60183" y="4272579"/>
            <a:ext cx="32321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5" dirty="0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sz="1400" b="1" spc="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FF0000"/>
                </a:solidFill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160183" y="4487326"/>
            <a:ext cx="32321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5" dirty="0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sz="1400" b="1" spc="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FF0000"/>
                </a:solidFill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488540" y="3976269"/>
            <a:ext cx="982344" cy="361315"/>
          </a:xfrm>
          <a:custGeom>
            <a:avLst/>
            <a:gdLst/>
            <a:ahLst/>
            <a:cxnLst/>
            <a:rect l="l" t="t" r="r" b="b"/>
            <a:pathLst>
              <a:path w="982345" h="361314">
                <a:moveTo>
                  <a:pt x="980455" y="361164"/>
                </a:moveTo>
                <a:lnTo>
                  <a:pt x="982218" y="320849"/>
                </a:lnTo>
                <a:lnTo>
                  <a:pt x="980973" y="282865"/>
                </a:lnTo>
                <a:lnTo>
                  <a:pt x="976790" y="247222"/>
                </a:lnTo>
                <a:lnTo>
                  <a:pt x="959875" y="183004"/>
                </a:lnTo>
                <a:lnTo>
                  <a:pt x="932015" y="128279"/>
                </a:lnTo>
                <a:lnTo>
                  <a:pt x="893751" y="83131"/>
                </a:lnTo>
                <a:lnTo>
                  <a:pt x="845624" y="47645"/>
                </a:lnTo>
                <a:lnTo>
                  <a:pt x="788175" y="21905"/>
                </a:lnTo>
                <a:lnTo>
                  <a:pt x="721946" y="5995"/>
                </a:lnTo>
                <a:lnTo>
                  <a:pt x="647478" y="0"/>
                </a:lnTo>
                <a:lnTo>
                  <a:pt x="607324" y="746"/>
                </a:lnTo>
                <a:lnTo>
                  <a:pt x="565313" y="4003"/>
                </a:lnTo>
                <a:lnTo>
                  <a:pt x="521513" y="9781"/>
                </a:lnTo>
                <a:lnTo>
                  <a:pt x="475991" y="18090"/>
                </a:lnTo>
                <a:lnTo>
                  <a:pt x="428816" y="28942"/>
                </a:lnTo>
                <a:lnTo>
                  <a:pt x="380054" y="42345"/>
                </a:lnTo>
                <a:lnTo>
                  <a:pt x="329775" y="58312"/>
                </a:lnTo>
                <a:lnTo>
                  <a:pt x="278044" y="76852"/>
                </a:lnTo>
                <a:lnTo>
                  <a:pt x="224931" y="97976"/>
                </a:lnTo>
                <a:lnTo>
                  <a:pt x="170502" y="121695"/>
                </a:lnTo>
                <a:lnTo>
                  <a:pt x="114825" y="148019"/>
                </a:lnTo>
                <a:lnTo>
                  <a:pt x="57969" y="176959"/>
                </a:lnTo>
                <a:lnTo>
                  <a:pt x="0" y="208525"/>
                </a:lnTo>
              </a:path>
            </a:pathLst>
          </a:custGeom>
          <a:ln w="2727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411235" y="4119302"/>
            <a:ext cx="132079" cy="11075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237562" y="3907938"/>
            <a:ext cx="998219" cy="342265"/>
          </a:xfrm>
          <a:custGeom>
            <a:avLst/>
            <a:gdLst/>
            <a:ahLst/>
            <a:cxnLst/>
            <a:rect l="l" t="t" r="r" b="b"/>
            <a:pathLst>
              <a:path w="998220" h="342264">
                <a:moveTo>
                  <a:pt x="0" y="232841"/>
                </a:moveTo>
                <a:lnTo>
                  <a:pt x="11919" y="167714"/>
                </a:lnTo>
                <a:lnTo>
                  <a:pt x="29397" y="111189"/>
                </a:lnTo>
                <a:lnTo>
                  <a:pt x="51580" y="64711"/>
                </a:lnTo>
                <a:lnTo>
                  <a:pt x="77613" y="29723"/>
                </a:lnTo>
                <a:lnTo>
                  <a:pt x="137809" y="0"/>
                </a:lnTo>
                <a:lnTo>
                  <a:pt x="199782" y="1059"/>
                </a:lnTo>
                <a:lnTo>
                  <a:pt x="260735" y="4196"/>
                </a:lnTo>
                <a:lnTo>
                  <a:pt x="320505" y="9345"/>
                </a:lnTo>
                <a:lnTo>
                  <a:pt x="378931" y="16441"/>
                </a:lnTo>
                <a:lnTo>
                  <a:pt x="435848" y="25419"/>
                </a:lnTo>
                <a:lnTo>
                  <a:pt x="491094" y="36215"/>
                </a:lnTo>
                <a:lnTo>
                  <a:pt x="544507" y="48764"/>
                </a:lnTo>
                <a:lnTo>
                  <a:pt x="595923" y="63000"/>
                </a:lnTo>
                <a:lnTo>
                  <a:pt x="645180" y="78861"/>
                </a:lnTo>
                <a:lnTo>
                  <a:pt x="692114" y="96280"/>
                </a:lnTo>
                <a:lnTo>
                  <a:pt x="736563" y="115193"/>
                </a:lnTo>
                <a:lnTo>
                  <a:pt x="778365" y="135534"/>
                </a:lnTo>
                <a:lnTo>
                  <a:pt x="817356" y="157241"/>
                </a:lnTo>
                <a:lnTo>
                  <a:pt x="853373" y="180246"/>
                </a:lnTo>
                <a:lnTo>
                  <a:pt x="886253" y="204487"/>
                </a:lnTo>
                <a:lnTo>
                  <a:pt x="915835" y="229897"/>
                </a:lnTo>
                <a:lnTo>
                  <a:pt x="964449" y="283970"/>
                </a:lnTo>
                <a:lnTo>
                  <a:pt x="983156" y="312502"/>
                </a:lnTo>
                <a:lnTo>
                  <a:pt x="997912" y="341945"/>
                </a:lnTo>
              </a:path>
            </a:pathLst>
          </a:custGeom>
          <a:ln w="27278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180283" y="4108405"/>
            <a:ext cx="118164" cy="12165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171605" y="4209618"/>
            <a:ext cx="115861" cy="12781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237562" y="4782889"/>
            <a:ext cx="998219" cy="342265"/>
          </a:xfrm>
          <a:custGeom>
            <a:avLst/>
            <a:gdLst/>
            <a:ahLst/>
            <a:cxnLst/>
            <a:rect l="l" t="t" r="r" b="b"/>
            <a:pathLst>
              <a:path w="998220" h="342264">
                <a:moveTo>
                  <a:pt x="0" y="109103"/>
                </a:moveTo>
                <a:lnTo>
                  <a:pt x="11919" y="174234"/>
                </a:lnTo>
                <a:lnTo>
                  <a:pt x="29397" y="230761"/>
                </a:lnTo>
                <a:lnTo>
                  <a:pt x="51580" y="277239"/>
                </a:lnTo>
                <a:lnTo>
                  <a:pt x="77613" y="312225"/>
                </a:lnTo>
                <a:lnTo>
                  <a:pt x="137809" y="341947"/>
                </a:lnTo>
                <a:lnTo>
                  <a:pt x="199782" y="340887"/>
                </a:lnTo>
                <a:lnTo>
                  <a:pt x="260735" y="337751"/>
                </a:lnTo>
                <a:lnTo>
                  <a:pt x="320505" y="332602"/>
                </a:lnTo>
                <a:lnTo>
                  <a:pt x="378931" y="325507"/>
                </a:lnTo>
                <a:lnTo>
                  <a:pt x="435848" y="316529"/>
                </a:lnTo>
                <a:lnTo>
                  <a:pt x="491094" y="305734"/>
                </a:lnTo>
                <a:lnTo>
                  <a:pt x="544507" y="293185"/>
                </a:lnTo>
                <a:lnTo>
                  <a:pt x="595923" y="278949"/>
                </a:lnTo>
                <a:lnTo>
                  <a:pt x="645180" y="263089"/>
                </a:lnTo>
                <a:lnTo>
                  <a:pt x="692114" y="245670"/>
                </a:lnTo>
                <a:lnTo>
                  <a:pt x="736563" y="226758"/>
                </a:lnTo>
                <a:lnTo>
                  <a:pt x="778365" y="206416"/>
                </a:lnTo>
                <a:lnTo>
                  <a:pt x="817356" y="184710"/>
                </a:lnTo>
                <a:lnTo>
                  <a:pt x="853373" y="161704"/>
                </a:lnTo>
                <a:lnTo>
                  <a:pt x="886253" y="137463"/>
                </a:lnTo>
                <a:lnTo>
                  <a:pt x="915835" y="112052"/>
                </a:lnTo>
                <a:lnTo>
                  <a:pt x="964449" y="57978"/>
                </a:lnTo>
                <a:lnTo>
                  <a:pt x="983156" y="29444"/>
                </a:lnTo>
                <a:lnTo>
                  <a:pt x="997912" y="0"/>
                </a:lnTo>
              </a:path>
            </a:pathLst>
          </a:custGeom>
          <a:ln w="27278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180283" y="4802712"/>
            <a:ext cx="118164" cy="12165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171605" y="4695338"/>
            <a:ext cx="115861" cy="1278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488540" y="4695338"/>
            <a:ext cx="982344" cy="361315"/>
          </a:xfrm>
          <a:custGeom>
            <a:avLst/>
            <a:gdLst/>
            <a:ahLst/>
            <a:cxnLst/>
            <a:rect l="l" t="t" r="r" b="b"/>
            <a:pathLst>
              <a:path w="982345" h="361314">
                <a:moveTo>
                  <a:pt x="980455" y="0"/>
                </a:moveTo>
                <a:lnTo>
                  <a:pt x="982218" y="40315"/>
                </a:lnTo>
                <a:lnTo>
                  <a:pt x="980973" y="78299"/>
                </a:lnTo>
                <a:lnTo>
                  <a:pt x="976790" y="113942"/>
                </a:lnTo>
                <a:lnTo>
                  <a:pt x="959875" y="178160"/>
                </a:lnTo>
                <a:lnTo>
                  <a:pt x="932015" y="232884"/>
                </a:lnTo>
                <a:lnTo>
                  <a:pt x="893751" y="278032"/>
                </a:lnTo>
                <a:lnTo>
                  <a:pt x="845624" y="313517"/>
                </a:lnTo>
                <a:lnTo>
                  <a:pt x="788175" y="339257"/>
                </a:lnTo>
                <a:lnTo>
                  <a:pt x="721946" y="355166"/>
                </a:lnTo>
                <a:lnTo>
                  <a:pt x="647478" y="361161"/>
                </a:lnTo>
                <a:lnTo>
                  <a:pt x="607324" y="360414"/>
                </a:lnTo>
                <a:lnTo>
                  <a:pt x="565313" y="357157"/>
                </a:lnTo>
                <a:lnTo>
                  <a:pt x="521513" y="351379"/>
                </a:lnTo>
                <a:lnTo>
                  <a:pt x="475991" y="343070"/>
                </a:lnTo>
                <a:lnTo>
                  <a:pt x="428816" y="332218"/>
                </a:lnTo>
                <a:lnTo>
                  <a:pt x="380054" y="318815"/>
                </a:lnTo>
                <a:lnTo>
                  <a:pt x="329775" y="302849"/>
                </a:lnTo>
                <a:lnTo>
                  <a:pt x="278044" y="284309"/>
                </a:lnTo>
                <a:lnTo>
                  <a:pt x="224931" y="263185"/>
                </a:lnTo>
                <a:lnTo>
                  <a:pt x="170502" y="239466"/>
                </a:lnTo>
                <a:lnTo>
                  <a:pt x="114825" y="213143"/>
                </a:lnTo>
                <a:lnTo>
                  <a:pt x="57969" y="184204"/>
                </a:lnTo>
                <a:lnTo>
                  <a:pt x="0" y="152639"/>
                </a:lnTo>
              </a:path>
            </a:pathLst>
          </a:custGeom>
          <a:ln w="2727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411235" y="4802712"/>
            <a:ext cx="132079" cy="11077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756048" y="4384403"/>
            <a:ext cx="475615" cy="0"/>
          </a:xfrm>
          <a:custGeom>
            <a:avLst/>
            <a:gdLst/>
            <a:ahLst/>
            <a:cxnLst/>
            <a:rect l="l" t="t" r="r" b="b"/>
            <a:pathLst>
              <a:path w="475615">
                <a:moveTo>
                  <a:pt x="0" y="0"/>
                </a:moveTo>
                <a:lnTo>
                  <a:pt x="475123" y="0"/>
                </a:lnTo>
              </a:path>
            </a:pathLst>
          </a:custGeom>
          <a:ln w="272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756048" y="4621525"/>
            <a:ext cx="475615" cy="0"/>
          </a:xfrm>
          <a:custGeom>
            <a:avLst/>
            <a:gdLst/>
            <a:ahLst/>
            <a:cxnLst/>
            <a:rect l="l" t="t" r="r" b="b"/>
            <a:pathLst>
              <a:path w="475615">
                <a:moveTo>
                  <a:pt x="0" y="0"/>
                </a:moveTo>
                <a:lnTo>
                  <a:pt x="475123" y="0"/>
                </a:lnTo>
              </a:path>
            </a:pathLst>
          </a:custGeom>
          <a:ln w="272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231171" y="4502964"/>
            <a:ext cx="475615" cy="0"/>
          </a:xfrm>
          <a:custGeom>
            <a:avLst/>
            <a:gdLst/>
            <a:ahLst/>
            <a:cxnLst/>
            <a:rect l="l" t="t" r="r" b="b"/>
            <a:pathLst>
              <a:path w="475615">
                <a:moveTo>
                  <a:pt x="475148" y="0"/>
                </a:moveTo>
                <a:lnTo>
                  <a:pt x="0" y="0"/>
                </a:lnTo>
              </a:path>
            </a:pathLst>
          </a:custGeom>
          <a:ln w="272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922332" y="4265855"/>
            <a:ext cx="617855" cy="474345"/>
          </a:xfrm>
          <a:custGeom>
            <a:avLst/>
            <a:gdLst/>
            <a:ahLst/>
            <a:cxnLst/>
            <a:rect l="l" t="t" r="r" b="b"/>
            <a:pathLst>
              <a:path w="617854" h="474345">
                <a:moveTo>
                  <a:pt x="185298" y="0"/>
                </a:moveTo>
                <a:lnTo>
                  <a:pt x="0" y="0"/>
                </a:lnTo>
                <a:lnTo>
                  <a:pt x="28446" y="41532"/>
                </a:lnTo>
                <a:lnTo>
                  <a:pt x="51204" y="84012"/>
                </a:lnTo>
                <a:lnTo>
                  <a:pt x="68272" y="127229"/>
                </a:lnTo>
                <a:lnTo>
                  <a:pt x="79651" y="170973"/>
                </a:lnTo>
                <a:lnTo>
                  <a:pt x="85340" y="215032"/>
                </a:lnTo>
                <a:lnTo>
                  <a:pt x="85340" y="259197"/>
                </a:lnTo>
                <a:lnTo>
                  <a:pt x="79651" y="303257"/>
                </a:lnTo>
                <a:lnTo>
                  <a:pt x="68272" y="347001"/>
                </a:lnTo>
                <a:lnTo>
                  <a:pt x="51204" y="390218"/>
                </a:lnTo>
                <a:lnTo>
                  <a:pt x="28447" y="432698"/>
                </a:lnTo>
                <a:lnTo>
                  <a:pt x="0" y="474230"/>
                </a:lnTo>
                <a:lnTo>
                  <a:pt x="185298" y="474230"/>
                </a:lnTo>
                <a:lnTo>
                  <a:pt x="243492" y="462927"/>
                </a:lnTo>
                <a:lnTo>
                  <a:pt x="299158" y="448429"/>
                </a:lnTo>
                <a:lnTo>
                  <a:pt x="351999" y="430901"/>
                </a:lnTo>
                <a:lnTo>
                  <a:pt x="401715" y="410507"/>
                </a:lnTo>
                <a:lnTo>
                  <a:pt x="448008" y="387410"/>
                </a:lnTo>
                <a:lnTo>
                  <a:pt x="490578" y="361776"/>
                </a:lnTo>
                <a:lnTo>
                  <a:pt x="529128" y="333766"/>
                </a:lnTo>
                <a:lnTo>
                  <a:pt x="563358" y="303547"/>
                </a:lnTo>
                <a:lnTo>
                  <a:pt x="592969" y="271282"/>
                </a:lnTo>
                <a:lnTo>
                  <a:pt x="617664" y="237134"/>
                </a:lnTo>
                <a:lnTo>
                  <a:pt x="593287" y="202835"/>
                </a:lnTo>
                <a:lnTo>
                  <a:pt x="563897" y="170438"/>
                </a:lnTo>
                <a:lnTo>
                  <a:pt x="529803" y="140111"/>
                </a:lnTo>
                <a:lnTo>
                  <a:pt x="491312" y="112024"/>
                </a:lnTo>
                <a:lnTo>
                  <a:pt x="448733" y="86346"/>
                </a:lnTo>
                <a:lnTo>
                  <a:pt x="402374" y="63245"/>
                </a:lnTo>
                <a:lnTo>
                  <a:pt x="352543" y="42891"/>
                </a:lnTo>
                <a:lnTo>
                  <a:pt x="299548" y="25453"/>
                </a:lnTo>
                <a:lnTo>
                  <a:pt x="243697" y="11099"/>
                </a:lnTo>
                <a:lnTo>
                  <a:pt x="18529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922332" y="4265855"/>
            <a:ext cx="617855" cy="474345"/>
          </a:xfrm>
          <a:custGeom>
            <a:avLst/>
            <a:gdLst/>
            <a:ahLst/>
            <a:cxnLst/>
            <a:rect l="l" t="t" r="r" b="b"/>
            <a:pathLst>
              <a:path w="617854" h="474345">
                <a:moveTo>
                  <a:pt x="617664" y="237134"/>
                </a:moveTo>
                <a:lnTo>
                  <a:pt x="592969" y="271282"/>
                </a:lnTo>
                <a:lnTo>
                  <a:pt x="563358" y="303547"/>
                </a:lnTo>
                <a:lnTo>
                  <a:pt x="529128" y="333766"/>
                </a:lnTo>
                <a:lnTo>
                  <a:pt x="490578" y="361776"/>
                </a:lnTo>
                <a:lnTo>
                  <a:pt x="448008" y="387410"/>
                </a:lnTo>
                <a:lnTo>
                  <a:pt x="401715" y="410507"/>
                </a:lnTo>
                <a:lnTo>
                  <a:pt x="351999" y="430901"/>
                </a:lnTo>
                <a:lnTo>
                  <a:pt x="299158" y="448429"/>
                </a:lnTo>
                <a:lnTo>
                  <a:pt x="243492" y="462927"/>
                </a:lnTo>
                <a:lnTo>
                  <a:pt x="185298" y="474230"/>
                </a:lnTo>
                <a:lnTo>
                  <a:pt x="0" y="474230"/>
                </a:lnTo>
                <a:lnTo>
                  <a:pt x="28447" y="432698"/>
                </a:lnTo>
                <a:lnTo>
                  <a:pt x="51204" y="390218"/>
                </a:lnTo>
                <a:lnTo>
                  <a:pt x="68272" y="347001"/>
                </a:lnTo>
                <a:lnTo>
                  <a:pt x="79651" y="303257"/>
                </a:lnTo>
                <a:lnTo>
                  <a:pt x="85340" y="259197"/>
                </a:lnTo>
                <a:lnTo>
                  <a:pt x="85340" y="215032"/>
                </a:lnTo>
                <a:lnTo>
                  <a:pt x="79651" y="170973"/>
                </a:lnTo>
                <a:lnTo>
                  <a:pt x="68272" y="127229"/>
                </a:lnTo>
                <a:lnTo>
                  <a:pt x="51204" y="84012"/>
                </a:lnTo>
                <a:lnTo>
                  <a:pt x="28446" y="41532"/>
                </a:lnTo>
                <a:lnTo>
                  <a:pt x="0" y="0"/>
                </a:lnTo>
                <a:lnTo>
                  <a:pt x="185298" y="0"/>
                </a:lnTo>
                <a:lnTo>
                  <a:pt x="243697" y="11099"/>
                </a:lnTo>
                <a:lnTo>
                  <a:pt x="299548" y="25453"/>
                </a:lnTo>
                <a:lnTo>
                  <a:pt x="352543" y="42891"/>
                </a:lnTo>
                <a:lnTo>
                  <a:pt x="402374" y="63245"/>
                </a:lnTo>
                <a:lnTo>
                  <a:pt x="448733" y="86346"/>
                </a:lnTo>
                <a:lnTo>
                  <a:pt x="491312" y="112024"/>
                </a:lnTo>
                <a:lnTo>
                  <a:pt x="529803" y="140111"/>
                </a:lnTo>
                <a:lnTo>
                  <a:pt x="563897" y="170438"/>
                </a:lnTo>
                <a:lnTo>
                  <a:pt x="593287" y="202835"/>
                </a:lnTo>
                <a:lnTo>
                  <a:pt x="617664" y="237134"/>
                </a:lnTo>
                <a:close/>
              </a:path>
            </a:pathLst>
          </a:custGeom>
          <a:ln w="272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922332" y="4265855"/>
            <a:ext cx="617855" cy="474345"/>
          </a:xfrm>
          <a:custGeom>
            <a:avLst/>
            <a:gdLst/>
            <a:ahLst/>
            <a:cxnLst/>
            <a:rect l="l" t="t" r="r" b="b"/>
            <a:pathLst>
              <a:path w="617854" h="474345">
                <a:moveTo>
                  <a:pt x="380108" y="0"/>
                </a:moveTo>
                <a:lnTo>
                  <a:pt x="0" y="0"/>
                </a:lnTo>
                <a:lnTo>
                  <a:pt x="0" y="474230"/>
                </a:lnTo>
                <a:lnTo>
                  <a:pt x="380109" y="474230"/>
                </a:lnTo>
                <a:lnTo>
                  <a:pt x="427983" y="469413"/>
                </a:lnTo>
                <a:lnTo>
                  <a:pt x="472574" y="455596"/>
                </a:lnTo>
                <a:lnTo>
                  <a:pt x="512926" y="433734"/>
                </a:lnTo>
                <a:lnTo>
                  <a:pt x="548084" y="404779"/>
                </a:lnTo>
                <a:lnTo>
                  <a:pt x="577092" y="369686"/>
                </a:lnTo>
                <a:lnTo>
                  <a:pt x="598995" y="329408"/>
                </a:lnTo>
                <a:lnTo>
                  <a:pt x="612837" y="284897"/>
                </a:lnTo>
                <a:lnTo>
                  <a:pt x="617664" y="237109"/>
                </a:lnTo>
                <a:lnTo>
                  <a:pt x="612837" y="189324"/>
                </a:lnTo>
                <a:lnTo>
                  <a:pt x="598995" y="144817"/>
                </a:lnTo>
                <a:lnTo>
                  <a:pt x="577092" y="104541"/>
                </a:lnTo>
                <a:lnTo>
                  <a:pt x="548084" y="69449"/>
                </a:lnTo>
                <a:lnTo>
                  <a:pt x="512926" y="40495"/>
                </a:lnTo>
                <a:lnTo>
                  <a:pt x="472574" y="18633"/>
                </a:lnTo>
                <a:lnTo>
                  <a:pt x="427983" y="4817"/>
                </a:lnTo>
                <a:lnTo>
                  <a:pt x="3801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922332" y="4265855"/>
            <a:ext cx="617855" cy="474345"/>
          </a:xfrm>
          <a:custGeom>
            <a:avLst/>
            <a:gdLst/>
            <a:ahLst/>
            <a:cxnLst/>
            <a:rect l="l" t="t" r="r" b="b"/>
            <a:pathLst>
              <a:path w="617854" h="474345">
                <a:moveTo>
                  <a:pt x="380109" y="474230"/>
                </a:moveTo>
                <a:lnTo>
                  <a:pt x="0" y="474230"/>
                </a:lnTo>
                <a:lnTo>
                  <a:pt x="0" y="0"/>
                </a:lnTo>
                <a:lnTo>
                  <a:pt x="380108" y="0"/>
                </a:lnTo>
                <a:lnTo>
                  <a:pt x="427983" y="4817"/>
                </a:lnTo>
                <a:lnTo>
                  <a:pt x="472574" y="18633"/>
                </a:lnTo>
                <a:lnTo>
                  <a:pt x="512926" y="40495"/>
                </a:lnTo>
                <a:lnTo>
                  <a:pt x="548084" y="69449"/>
                </a:lnTo>
                <a:lnTo>
                  <a:pt x="577092" y="104541"/>
                </a:lnTo>
                <a:lnTo>
                  <a:pt x="598995" y="144817"/>
                </a:lnTo>
                <a:lnTo>
                  <a:pt x="612837" y="189324"/>
                </a:lnTo>
                <a:lnTo>
                  <a:pt x="617664" y="237109"/>
                </a:lnTo>
                <a:lnTo>
                  <a:pt x="612837" y="284897"/>
                </a:lnTo>
                <a:lnTo>
                  <a:pt x="598995" y="329408"/>
                </a:lnTo>
                <a:lnTo>
                  <a:pt x="577092" y="369686"/>
                </a:lnTo>
                <a:lnTo>
                  <a:pt x="548084" y="404779"/>
                </a:lnTo>
                <a:lnTo>
                  <a:pt x="512926" y="433734"/>
                </a:lnTo>
                <a:lnTo>
                  <a:pt x="472574" y="455596"/>
                </a:lnTo>
                <a:lnTo>
                  <a:pt x="427983" y="469413"/>
                </a:lnTo>
                <a:lnTo>
                  <a:pt x="380109" y="474230"/>
                </a:lnTo>
                <a:close/>
              </a:path>
            </a:pathLst>
          </a:custGeom>
          <a:ln w="272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327906" y="4404529"/>
            <a:ext cx="132307" cy="22372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706320" y="4502964"/>
            <a:ext cx="314325" cy="0"/>
          </a:xfrm>
          <a:custGeom>
            <a:avLst/>
            <a:gdLst/>
            <a:ahLst/>
            <a:cxnLst/>
            <a:rect l="l" t="t" r="r" b="b"/>
            <a:pathLst>
              <a:path w="314325">
                <a:moveTo>
                  <a:pt x="0" y="0"/>
                </a:moveTo>
                <a:lnTo>
                  <a:pt x="313721" y="0"/>
                </a:lnTo>
              </a:path>
            </a:pathLst>
          </a:custGeom>
          <a:ln w="272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514001" y="4621525"/>
            <a:ext cx="242570" cy="0"/>
          </a:xfrm>
          <a:custGeom>
            <a:avLst/>
            <a:gdLst/>
            <a:ahLst/>
            <a:cxnLst/>
            <a:rect l="l" t="t" r="r" b="b"/>
            <a:pathLst>
              <a:path w="242570">
                <a:moveTo>
                  <a:pt x="242046" y="0"/>
                </a:moveTo>
                <a:lnTo>
                  <a:pt x="0" y="0"/>
                </a:lnTo>
              </a:path>
            </a:pathLst>
          </a:custGeom>
          <a:ln w="272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514001" y="4384403"/>
            <a:ext cx="242570" cy="0"/>
          </a:xfrm>
          <a:custGeom>
            <a:avLst/>
            <a:gdLst/>
            <a:ahLst/>
            <a:cxnLst/>
            <a:rect l="l" t="t" r="r" b="b"/>
            <a:pathLst>
              <a:path w="242570">
                <a:moveTo>
                  <a:pt x="242046" y="0"/>
                </a:moveTo>
                <a:lnTo>
                  <a:pt x="0" y="0"/>
                </a:lnTo>
              </a:path>
            </a:pathLst>
          </a:custGeom>
          <a:ln w="272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8571800" y="4379953"/>
            <a:ext cx="35877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5" dirty="0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sz="1400" b="1" spc="28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A6A6A6"/>
                </a:solidFill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549815" y="4272579"/>
            <a:ext cx="32321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5" dirty="0">
                <a:solidFill>
                  <a:srgbClr val="A6A6A6"/>
                </a:solidFill>
                <a:latin typeface="Arial"/>
                <a:cs typeface="Arial"/>
              </a:rPr>
              <a:t>X</a:t>
            </a:r>
            <a:r>
              <a:rPr sz="1400" b="1" spc="1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FF0000"/>
                </a:solidFill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549815" y="4487326"/>
            <a:ext cx="32321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5" dirty="0">
                <a:solidFill>
                  <a:srgbClr val="A6A6A6"/>
                </a:solidFill>
                <a:latin typeface="Arial"/>
                <a:cs typeface="Arial"/>
              </a:rPr>
              <a:t>X</a:t>
            </a:r>
            <a:r>
              <a:rPr sz="1400" b="1" spc="1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FF0000"/>
                </a:solidFill>
                <a:latin typeface="Arial"/>
                <a:cs typeface="Arial"/>
              </a:rPr>
              <a:t>X</a:t>
            </a:r>
            <a:endParaRPr sz="140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7878171" y="3976269"/>
            <a:ext cx="982344" cy="361315"/>
          </a:xfrm>
          <a:custGeom>
            <a:avLst/>
            <a:gdLst/>
            <a:ahLst/>
            <a:cxnLst/>
            <a:rect l="l" t="t" r="r" b="b"/>
            <a:pathLst>
              <a:path w="982345" h="361314">
                <a:moveTo>
                  <a:pt x="980455" y="361164"/>
                </a:moveTo>
                <a:lnTo>
                  <a:pt x="982218" y="320849"/>
                </a:lnTo>
                <a:lnTo>
                  <a:pt x="980974" y="282865"/>
                </a:lnTo>
                <a:lnTo>
                  <a:pt x="976790" y="247222"/>
                </a:lnTo>
                <a:lnTo>
                  <a:pt x="959875" y="183004"/>
                </a:lnTo>
                <a:lnTo>
                  <a:pt x="932015" y="128279"/>
                </a:lnTo>
                <a:lnTo>
                  <a:pt x="893751" y="83131"/>
                </a:lnTo>
                <a:lnTo>
                  <a:pt x="845624" y="47645"/>
                </a:lnTo>
                <a:lnTo>
                  <a:pt x="788175" y="21905"/>
                </a:lnTo>
                <a:lnTo>
                  <a:pt x="721946" y="5995"/>
                </a:lnTo>
                <a:lnTo>
                  <a:pt x="647478" y="0"/>
                </a:lnTo>
                <a:lnTo>
                  <a:pt x="607324" y="746"/>
                </a:lnTo>
                <a:lnTo>
                  <a:pt x="565313" y="4003"/>
                </a:lnTo>
                <a:lnTo>
                  <a:pt x="521512" y="9781"/>
                </a:lnTo>
                <a:lnTo>
                  <a:pt x="475991" y="18090"/>
                </a:lnTo>
                <a:lnTo>
                  <a:pt x="428816" y="28942"/>
                </a:lnTo>
                <a:lnTo>
                  <a:pt x="380054" y="42345"/>
                </a:lnTo>
                <a:lnTo>
                  <a:pt x="329775" y="58312"/>
                </a:lnTo>
                <a:lnTo>
                  <a:pt x="278044" y="76852"/>
                </a:lnTo>
                <a:lnTo>
                  <a:pt x="224931" y="97976"/>
                </a:lnTo>
                <a:lnTo>
                  <a:pt x="170502" y="121695"/>
                </a:lnTo>
                <a:lnTo>
                  <a:pt x="114825" y="148019"/>
                </a:lnTo>
                <a:lnTo>
                  <a:pt x="57969" y="176959"/>
                </a:lnTo>
                <a:lnTo>
                  <a:pt x="0" y="208525"/>
                </a:lnTo>
              </a:path>
            </a:pathLst>
          </a:custGeom>
          <a:ln w="27278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800867" y="4119302"/>
            <a:ext cx="132079" cy="11075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7627194" y="3907938"/>
            <a:ext cx="998219" cy="342265"/>
          </a:xfrm>
          <a:custGeom>
            <a:avLst/>
            <a:gdLst/>
            <a:ahLst/>
            <a:cxnLst/>
            <a:rect l="l" t="t" r="r" b="b"/>
            <a:pathLst>
              <a:path w="998220" h="342264">
                <a:moveTo>
                  <a:pt x="0" y="232841"/>
                </a:moveTo>
                <a:lnTo>
                  <a:pt x="11919" y="167714"/>
                </a:lnTo>
                <a:lnTo>
                  <a:pt x="29397" y="111189"/>
                </a:lnTo>
                <a:lnTo>
                  <a:pt x="51580" y="64711"/>
                </a:lnTo>
                <a:lnTo>
                  <a:pt x="77613" y="29723"/>
                </a:lnTo>
                <a:lnTo>
                  <a:pt x="137809" y="0"/>
                </a:lnTo>
                <a:lnTo>
                  <a:pt x="199782" y="1059"/>
                </a:lnTo>
                <a:lnTo>
                  <a:pt x="260735" y="4196"/>
                </a:lnTo>
                <a:lnTo>
                  <a:pt x="320505" y="9345"/>
                </a:lnTo>
                <a:lnTo>
                  <a:pt x="378930" y="16441"/>
                </a:lnTo>
                <a:lnTo>
                  <a:pt x="435848" y="25419"/>
                </a:lnTo>
                <a:lnTo>
                  <a:pt x="491094" y="36215"/>
                </a:lnTo>
                <a:lnTo>
                  <a:pt x="544507" y="48764"/>
                </a:lnTo>
                <a:lnTo>
                  <a:pt x="595923" y="63000"/>
                </a:lnTo>
                <a:lnTo>
                  <a:pt x="645180" y="78861"/>
                </a:lnTo>
                <a:lnTo>
                  <a:pt x="692114" y="96280"/>
                </a:lnTo>
                <a:lnTo>
                  <a:pt x="736563" y="115193"/>
                </a:lnTo>
                <a:lnTo>
                  <a:pt x="778365" y="135534"/>
                </a:lnTo>
                <a:lnTo>
                  <a:pt x="817356" y="157241"/>
                </a:lnTo>
                <a:lnTo>
                  <a:pt x="853373" y="180246"/>
                </a:lnTo>
                <a:lnTo>
                  <a:pt x="886253" y="204487"/>
                </a:lnTo>
                <a:lnTo>
                  <a:pt x="915835" y="229897"/>
                </a:lnTo>
                <a:lnTo>
                  <a:pt x="964449" y="283970"/>
                </a:lnTo>
                <a:lnTo>
                  <a:pt x="983156" y="312502"/>
                </a:lnTo>
                <a:lnTo>
                  <a:pt x="997912" y="341945"/>
                </a:lnTo>
              </a:path>
            </a:pathLst>
          </a:custGeom>
          <a:ln w="27278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569914" y="4108405"/>
            <a:ext cx="118164" cy="12165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8561236" y="4209618"/>
            <a:ext cx="115861" cy="12781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7627194" y="4782889"/>
            <a:ext cx="998219" cy="342265"/>
          </a:xfrm>
          <a:custGeom>
            <a:avLst/>
            <a:gdLst/>
            <a:ahLst/>
            <a:cxnLst/>
            <a:rect l="l" t="t" r="r" b="b"/>
            <a:pathLst>
              <a:path w="998220" h="342264">
                <a:moveTo>
                  <a:pt x="0" y="109103"/>
                </a:moveTo>
                <a:lnTo>
                  <a:pt x="11919" y="174234"/>
                </a:lnTo>
                <a:lnTo>
                  <a:pt x="29397" y="230761"/>
                </a:lnTo>
                <a:lnTo>
                  <a:pt x="51580" y="277239"/>
                </a:lnTo>
                <a:lnTo>
                  <a:pt x="77613" y="312225"/>
                </a:lnTo>
                <a:lnTo>
                  <a:pt x="137809" y="341947"/>
                </a:lnTo>
                <a:lnTo>
                  <a:pt x="199782" y="340887"/>
                </a:lnTo>
                <a:lnTo>
                  <a:pt x="260735" y="337751"/>
                </a:lnTo>
                <a:lnTo>
                  <a:pt x="320505" y="332602"/>
                </a:lnTo>
                <a:lnTo>
                  <a:pt x="378931" y="325507"/>
                </a:lnTo>
                <a:lnTo>
                  <a:pt x="435848" y="316529"/>
                </a:lnTo>
                <a:lnTo>
                  <a:pt x="491094" y="305734"/>
                </a:lnTo>
                <a:lnTo>
                  <a:pt x="544507" y="293185"/>
                </a:lnTo>
                <a:lnTo>
                  <a:pt x="595923" y="278949"/>
                </a:lnTo>
                <a:lnTo>
                  <a:pt x="645180" y="263089"/>
                </a:lnTo>
                <a:lnTo>
                  <a:pt x="692114" y="245670"/>
                </a:lnTo>
                <a:lnTo>
                  <a:pt x="736563" y="226758"/>
                </a:lnTo>
                <a:lnTo>
                  <a:pt x="778365" y="206416"/>
                </a:lnTo>
                <a:lnTo>
                  <a:pt x="817356" y="184710"/>
                </a:lnTo>
                <a:lnTo>
                  <a:pt x="853373" y="161704"/>
                </a:lnTo>
                <a:lnTo>
                  <a:pt x="886253" y="137463"/>
                </a:lnTo>
                <a:lnTo>
                  <a:pt x="915835" y="112052"/>
                </a:lnTo>
                <a:lnTo>
                  <a:pt x="964449" y="57978"/>
                </a:lnTo>
                <a:lnTo>
                  <a:pt x="983156" y="29444"/>
                </a:lnTo>
                <a:lnTo>
                  <a:pt x="997912" y="0"/>
                </a:lnTo>
              </a:path>
            </a:pathLst>
          </a:custGeom>
          <a:ln w="27278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7569915" y="4802712"/>
            <a:ext cx="118164" cy="12165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8561237" y="4695338"/>
            <a:ext cx="115861" cy="12781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878171" y="4695338"/>
            <a:ext cx="982344" cy="361315"/>
          </a:xfrm>
          <a:custGeom>
            <a:avLst/>
            <a:gdLst/>
            <a:ahLst/>
            <a:cxnLst/>
            <a:rect l="l" t="t" r="r" b="b"/>
            <a:pathLst>
              <a:path w="982345" h="361314">
                <a:moveTo>
                  <a:pt x="980455" y="0"/>
                </a:moveTo>
                <a:lnTo>
                  <a:pt x="982218" y="40315"/>
                </a:lnTo>
                <a:lnTo>
                  <a:pt x="980973" y="78299"/>
                </a:lnTo>
                <a:lnTo>
                  <a:pt x="976790" y="113942"/>
                </a:lnTo>
                <a:lnTo>
                  <a:pt x="959875" y="178160"/>
                </a:lnTo>
                <a:lnTo>
                  <a:pt x="932015" y="232884"/>
                </a:lnTo>
                <a:lnTo>
                  <a:pt x="893751" y="278032"/>
                </a:lnTo>
                <a:lnTo>
                  <a:pt x="845624" y="313517"/>
                </a:lnTo>
                <a:lnTo>
                  <a:pt x="788175" y="339257"/>
                </a:lnTo>
                <a:lnTo>
                  <a:pt x="721946" y="355166"/>
                </a:lnTo>
                <a:lnTo>
                  <a:pt x="647478" y="361161"/>
                </a:lnTo>
                <a:lnTo>
                  <a:pt x="607324" y="360414"/>
                </a:lnTo>
                <a:lnTo>
                  <a:pt x="565313" y="357157"/>
                </a:lnTo>
                <a:lnTo>
                  <a:pt x="521513" y="351379"/>
                </a:lnTo>
                <a:lnTo>
                  <a:pt x="475991" y="343070"/>
                </a:lnTo>
                <a:lnTo>
                  <a:pt x="428816" y="332218"/>
                </a:lnTo>
                <a:lnTo>
                  <a:pt x="380055" y="318815"/>
                </a:lnTo>
                <a:lnTo>
                  <a:pt x="329775" y="302849"/>
                </a:lnTo>
                <a:lnTo>
                  <a:pt x="278044" y="284309"/>
                </a:lnTo>
                <a:lnTo>
                  <a:pt x="224931" y="263185"/>
                </a:lnTo>
                <a:lnTo>
                  <a:pt x="170502" y="239466"/>
                </a:lnTo>
                <a:lnTo>
                  <a:pt x="114825" y="213143"/>
                </a:lnTo>
                <a:lnTo>
                  <a:pt x="57969" y="184204"/>
                </a:lnTo>
                <a:lnTo>
                  <a:pt x="0" y="152639"/>
                </a:lnTo>
              </a:path>
            </a:pathLst>
          </a:custGeom>
          <a:ln w="27278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7800867" y="4802712"/>
            <a:ext cx="132079" cy="110770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255322" y="5849629"/>
            <a:ext cx="5535878" cy="528990"/>
          </a:xfrm>
          <a:prstGeom prst="rect">
            <a:avLst/>
          </a:prstGeom>
          <a:ln w="9144">
            <a:solidFill>
              <a:srgbClr val="FF0000"/>
            </a:solidFill>
          </a:ln>
        </p:spPr>
        <p:txBody>
          <a:bodyPr vert="horz" wrap="square" lIns="0" tIns="36194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84"/>
              </a:spcBef>
            </a:pPr>
            <a:r>
              <a:rPr sz="3200" b="1" dirty="0">
                <a:solidFill>
                  <a:srgbClr val="FF0000"/>
                </a:solidFill>
                <a:latin typeface="Helvetica"/>
                <a:cs typeface="Helvetica"/>
              </a:rPr>
              <a:t>Minimum 3 faults after</a:t>
            </a:r>
            <a:r>
              <a:rPr sz="3200" b="1" spc="-135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3200" b="1" dirty="0">
                <a:solidFill>
                  <a:srgbClr val="FF0000"/>
                </a:solidFill>
                <a:latin typeface="Helvetica"/>
                <a:cs typeface="Helvetica"/>
              </a:rPr>
              <a:t>DFC</a:t>
            </a:r>
            <a:endParaRPr sz="3200" dirty="0">
              <a:latin typeface="Helvetica"/>
              <a:cs typeface="Helvetic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7319009" y="5186248"/>
            <a:ext cx="79057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solidFill>
                  <a:srgbClr val="0000FF"/>
                </a:solidFill>
                <a:latin typeface="Helvetica"/>
                <a:cs typeface="Helvetica"/>
              </a:rPr>
              <a:t>blue</a:t>
            </a:r>
            <a:r>
              <a:rPr sz="1400" b="1" spc="-100" dirty="0">
                <a:solidFill>
                  <a:srgbClr val="0000FF"/>
                </a:solidFill>
                <a:latin typeface="Helvetica"/>
                <a:cs typeface="Helvetica"/>
              </a:rPr>
              <a:t> </a:t>
            </a:r>
            <a:r>
              <a:rPr sz="1400" b="1" spc="-15" dirty="0">
                <a:solidFill>
                  <a:srgbClr val="0000FF"/>
                </a:solidFill>
                <a:latin typeface="Helvetica"/>
                <a:cs typeface="Helvetica"/>
              </a:rPr>
              <a:t>SA0</a:t>
            </a:r>
            <a:endParaRPr sz="140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tabLst>
                <a:tab pos="435609" algn="l"/>
              </a:tabLst>
            </a:pPr>
            <a:r>
              <a:rPr sz="1400" b="1" dirty="0">
                <a:solidFill>
                  <a:srgbClr val="FF0000"/>
                </a:solidFill>
                <a:latin typeface="Helvetica"/>
                <a:cs typeface="Helvetica"/>
              </a:rPr>
              <a:t>red	S</a:t>
            </a:r>
            <a:r>
              <a:rPr sz="1400" b="1" spc="-45" dirty="0">
                <a:solidFill>
                  <a:srgbClr val="FF0000"/>
                </a:solidFill>
                <a:latin typeface="Helvetica"/>
                <a:cs typeface="Helvetica"/>
              </a:rPr>
              <a:t>A</a:t>
            </a:r>
            <a:r>
              <a:rPr sz="1400" b="1" dirty="0">
                <a:solidFill>
                  <a:srgbClr val="FF0000"/>
                </a:solidFill>
                <a:latin typeface="Helvetica"/>
                <a:cs typeface="Helvetica"/>
              </a:rPr>
              <a:t>1</a:t>
            </a:r>
            <a:endParaRPr sz="1400">
              <a:latin typeface="Helvetica"/>
              <a:cs typeface="Helvetica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6875526" y="4374641"/>
            <a:ext cx="321945" cy="222885"/>
          </a:xfrm>
          <a:custGeom>
            <a:avLst/>
            <a:gdLst/>
            <a:ahLst/>
            <a:cxnLst/>
            <a:rect l="l" t="t" r="r" b="b"/>
            <a:pathLst>
              <a:path w="321945" h="222885">
                <a:moveTo>
                  <a:pt x="210312" y="0"/>
                </a:moveTo>
                <a:lnTo>
                  <a:pt x="210312" y="55625"/>
                </a:lnTo>
                <a:lnTo>
                  <a:pt x="0" y="55625"/>
                </a:lnTo>
                <a:lnTo>
                  <a:pt x="0" y="166877"/>
                </a:lnTo>
                <a:lnTo>
                  <a:pt x="210312" y="166877"/>
                </a:lnTo>
                <a:lnTo>
                  <a:pt x="210312" y="222503"/>
                </a:lnTo>
                <a:lnTo>
                  <a:pt x="321564" y="111251"/>
                </a:lnTo>
                <a:lnTo>
                  <a:pt x="2103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6875526" y="4374641"/>
            <a:ext cx="321945" cy="222885"/>
          </a:xfrm>
          <a:custGeom>
            <a:avLst/>
            <a:gdLst/>
            <a:ahLst/>
            <a:cxnLst/>
            <a:rect l="l" t="t" r="r" b="b"/>
            <a:pathLst>
              <a:path w="321945" h="222885">
                <a:moveTo>
                  <a:pt x="210312" y="222503"/>
                </a:moveTo>
                <a:lnTo>
                  <a:pt x="210312" y="166877"/>
                </a:lnTo>
                <a:lnTo>
                  <a:pt x="0" y="166877"/>
                </a:lnTo>
                <a:lnTo>
                  <a:pt x="0" y="55625"/>
                </a:lnTo>
                <a:lnTo>
                  <a:pt x="210312" y="55625"/>
                </a:lnTo>
                <a:lnTo>
                  <a:pt x="210312" y="0"/>
                </a:lnTo>
                <a:lnTo>
                  <a:pt x="321564" y="111251"/>
                </a:lnTo>
                <a:lnTo>
                  <a:pt x="210312" y="222503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109423" y="6447452"/>
            <a:ext cx="576377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5</a:t>
            </a:fld>
            <a:endParaRPr sz="2400" dirty="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object 33">
                <a:extLst>
                  <a:ext uri="{FF2B5EF4-FFF2-40B4-BE49-F238E27FC236}">
                    <a16:creationId xmlns:a16="http://schemas.microsoft.com/office/drawing/2014/main" id="{83F019BA-950F-862F-2167-732D6D37F62B}"/>
                  </a:ext>
                </a:extLst>
              </p:cNvPr>
              <p:cNvSpPr txBox="1"/>
              <p:nvPr/>
            </p:nvSpPr>
            <p:spPr>
              <a:xfrm>
                <a:off x="6172200" y="5701788"/>
                <a:ext cx="2910994" cy="775212"/>
              </a:xfrm>
              <a:prstGeom prst="rect">
                <a:avLst/>
              </a:prstGeom>
              <a:ln w="9144">
                <a:solidFill>
                  <a:srgbClr val="FF0000"/>
                </a:solidFill>
              </a:ln>
            </p:spPr>
            <p:txBody>
              <a:bodyPr vert="horz" wrap="square" lIns="0" tIns="36195" rIns="0" bIns="0" rtlCol="0">
                <a:spAutoFit/>
              </a:bodyPr>
              <a:lstStyle/>
              <a:p>
                <a:pPr marL="92075">
                  <a:lnSpc>
                    <a:spcPct val="100000"/>
                  </a:lnSpc>
                  <a:spcBef>
                    <a:spcPts val="285"/>
                  </a:spcBef>
                </a:pPr>
                <a:r>
                  <a:rPr lang="en-US" sz="2400" b="1" i="1" spc="-55" dirty="0">
                    <a:solidFill>
                      <a:srgbClr val="FF0000"/>
                    </a:solidFill>
                    <a:latin typeface="HelveticaNeue-BoldItalic"/>
                    <a:cs typeface="HelveticaNeue-BoldItalic"/>
                  </a:rPr>
                  <a:t>f </a:t>
                </a:r>
                <a14:m>
                  <m:oMath xmlns:m="http://schemas.openxmlformats.org/officeDocument/2006/math">
                    <m:r>
                      <a:rPr lang="en-US" sz="2400" b="1" i="1" spc="-55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Neue-BoldItalic"/>
                      </a:rPr>
                      <m:t>↔</m:t>
                    </m:r>
                  </m:oMath>
                </a14:m>
                <a:r>
                  <a:rPr lang="en-US" sz="2400" b="1" spc="30" dirty="0">
                    <a:solidFill>
                      <a:srgbClr val="FF0000"/>
                    </a:solidFill>
                    <a:latin typeface="Arial"/>
                    <a:cs typeface="Arial"/>
                  </a:rPr>
                  <a:t> </a:t>
                </a:r>
                <a:r>
                  <a:rPr lang="en-US" sz="2400" b="1" i="1" spc="-5" dirty="0">
                    <a:solidFill>
                      <a:srgbClr val="FF0000"/>
                    </a:solidFill>
                    <a:latin typeface="HelveticaNeue-BoldItalic"/>
                    <a:cs typeface="HelveticaNeue-BoldItalic"/>
                  </a:rPr>
                  <a:t>g</a:t>
                </a:r>
                <a:r>
                  <a:rPr lang="en-US" sz="2400" b="1" spc="-5" dirty="0">
                    <a:solidFill>
                      <a:srgbClr val="FF0000"/>
                    </a:solidFill>
                    <a:latin typeface="Helvetica"/>
                    <a:cs typeface="Helvetica"/>
                  </a:rPr>
                  <a:t>: equivalence</a:t>
                </a:r>
                <a:endParaRPr lang="en-US" sz="2400" dirty="0">
                  <a:solidFill>
                    <a:srgbClr val="FF0000"/>
                  </a:solidFill>
                  <a:latin typeface="Helvetica"/>
                  <a:cs typeface="Helvetica"/>
                </a:endParaRPr>
              </a:p>
              <a:p>
                <a:pPr marL="92075">
                  <a:lnSpc>
                    <a:spcPct val="100000"/>
                  </a:lnSpc>
                  <a:spcBef>
                    <a:spcPts val="5"/>
                  </a:spcBef>
                </a:pPr>
                <a:r>
                  <a:rPr lang="en-US" sz="2400" b="1" i="1" spc="-55" dirty="0">
                    <a:solidFill>
                      <a:srgbClr val="FF0000"/>
                    </a:solidFill>
                    <a:latin typeface="HelveticaNeue-BoldItalic"/>
                    <a:cs typeface="HelveticaNeue-BoldItalic"/>
                  </a:rPr>
                  <a:t>f </a:t>
                </a:r>
                <a:r>
                  <a:rPr lang="en-US" sz="2400" b="1" spc="-45" dirty="0">
                    <a:solidFill>
                      <a:srgbClr val="FF0000"/>
                    </a:solidFill>
                    <a:latin typeface="Arial"/>
                    <a:cs typeface="Arial"/>
                  </a:rPr>
                  <a:t>→ </a:t>
                </a:r>
                <a:r>
                  <a:rPr lang="en-US" sz="2400" b="1" i="1" spc="-5" dirty="0">
                    <a:solidFill>
                      <a:srgbClr val="FF0000"/>
                    </a:solidFill>
                    <a:latin typeface="HelveticaNeue-BoldItalic"/>
                    <a:cs typeface="HelveticaNeue-BoldItalic"/>
                  </a:rPr>
                  <a:t>g</a:t>
                </a:r>
                <a:r>
                  <a:rPr lang="en-US" sz="2400" b="1" spc="-5" dirty="0">
                    <a:solidFill>
                      <a:srgbClr val="FF0000"/>
                    </a:solidFill>
                    <a:latin typeface="Helvetica"/>
                    <a:cs typeface="Helvetica"/>
                  </a:rPr>
                  <a:t>:</a:t>
                </a:r>
                <a:r>
                  <a:rPr lang="en-US" sz="2400" b="1" spc="80" dirty="0">
                    <a:solidFill>
                      <a:srgbClr val="FF0000"/>
                    </a:solidFill>
                    <a:latin typeface="Helvetica"/>
                    <a:cs typeface="Helvetica"/>
                  </a:rPr>
                  <a:t> </a:t>
                </a:r>
                <a:r>
                  <a:rPr lang="en-US" sz="2400" b="1" spc="-5" dirty="0">
                    <a:solidFill>
                      <a:srgbClr val="FF0000"/>
                    </a:solidFill>
                    <a:latin typeface="Helvetica"/>
                    <a:cs typeface="Helvetica"/>
                  </a:rPr>
                  <a:t>dominance</a:t>
                </a:r>
                <a:endParaRPr lang="en-US" sz="2400" dirty="0">
                  <a:solidFill>
                    <a:srgbClr val="FF0000"/>
                  </a:solidFill>
                  <a:latin typeface="Helvetica"/>
                  <a:cs typeface="Helvetica"/>
                </a:endParaRPr>
              </a:p>
            </p:txBody>
          </p:sp>
        </mc:Choice>
        <mc:Fallback xmlns="">
          <p:sp>
            <p:nvSpPr>
              <p:cNvPr id="64" name="object 33">
                <a:extLst>
                  <a:ext uri="{FF2B5EF4-FFF2-40B4-BE49-F238E27FC236}">
                    <a16:creationId xmlns:a16="http://schemas.microsoft.com/office/drawing/2014/main" id="{83F019BA-950F-862F-2167-732D6D37F6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5701788"/>
                <a:ext cx="2910994" cy="775212"/>
              </a:xfrm>
              <a:prstGeom prst="rect">
                <a:avLst/>
              </a:prstGeom>
              <a:blipFill>
                <a:blip r:embed="rId18"/>
                <a:stretch>
                  <a:fillRect l="-3030" t="-9524" r="-433" b="-22222"/>
                </a:stretch>
              </a:blipFill>
              <a:ln w="9144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/>
      <p:bldP spid="23" grpId="0"/>
      <p:bldP spid="24" grpId="0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/>
      <p:bldP spid="47" grpId="0"/>
      <p:bldP spid="48" grpId="0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/>
      <p:bldP spid="61" grpId="0" animBg="1"/>
      <p:bldP spid="62" grpId="0" animBg="1"/>
      <p:bldP spid="6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8525" y="4577334"/>
            <a:ext cx="7678420" cy="1031875"/>
          </a:xfrm>
          <a:custGeom>
            <a:avLst/>
            <a:gdLst/>
            <a:ahLst/>
            <a:cxnLst/>
            <a:rect l="l" t="t" r="r" b="b"/>
            <a:pathLst>
              <a:path w="7678420" h="1031875">
                <a:moveTo>
                  <a:pt x="0" y="1031747"/>
                </a:moveTo>
                <a:lnTo>
                  <a:pt x="7677911" y="1031747"/>
                </a:lnTo>
                <a:lnTo>
                  <a:pt x="7677911" y="0"/>
                </a:lnTo>
                <a:lnTo>
                  <a:pt x="0" y="0"/>
                </a:lnTo>
                <a:lnTo>
                  <a:pt x="0" y="1031747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3" name="object 3"/>
          <p:cNvSpPr/>
          <p:nvPr/>
        </p:nvSpPr>
        <p:spPr>
          <a:xfrm>
            <a:off x="398525" y="4577334"/>
            <a:ext cx="7678420" cy="1031875"/>
          </a:xfrm>
          <a:custGeom>
            <a:avLst/>
            <a:gdLst/>
            <a:ahLst/>
            <a:cxnLst/>
            <a:rect l="l" t="t" r="r" b="b"/>
            <a:pathLst>
              <a:path w="7678420" h="1031875">
                <a:moveTo>
                  <a:pt x="0" y="1031747"/>
                </a:moveTo>
                <a:lnTo>
                  <a:pt x="7677911" y="1031747"/>
                </a:lnTo>
                <a:lnTo>
                  <a:pt x="7677911" y="0"/>
                </a:lnTo>
                <a:lnTo>
                  <a:pt x="0" y="0"/>
                </a:lnTo>
                <a:lnTo>
                  <a:pt x="0" y="1031747"/>
                </a:lnTo>
                <a:close/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86305" y="164414"/>
            <a:ext cx="56407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DFC on Elementary</a:t>
            </a:r>
            <a:r>
              <a:rPr spc="-105" dirty="0"/>
              <a:t> </a:t>
            </a:r>
            <a:r>
              <a:rPr dirty="0"/>
              <a:t>Gates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30225" y="900785"/>
            <a:ext cx="7858125" cy="148907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2-input AND/OR/NAND/NOR elementary</a:t>
            </a:r>
            <a:r>
              <a:rPr sz="2000" b="1" spc="-10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gates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Originally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6 </a:t>
            </a:r>
            <a:r>
              <a:rPr sz="2000" b="1" dirty="0">
                <a:latin typeface="Arial"/>
                <a:cs typeface="Arial"/>
              </a:rPr>
              <a:t>faults </a:t>
            </a:r>
            <a:r>
              <a:rPr sz="2000" spc="-40" dirty="0">
                <a:latin typeface="Arial"/>
                <a:cs typeface="Arial"/>
              </a:rPr>
              <a:t>→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4 </a:t>
            </a:r>
            <a:r>
              <a:rPr sz="2000" b="1" dirty="0">
                <a:latin typeface="Arial"/>
                <a:cs typeface="Arial"/>
              </a:rPr>
              <a:t>faults after EFC </a:t>
            </a:r>
            <a:r>
              <a:rPr sz="2000" spc="-40" dirty="0">
                <a:latin typeface="Arial"/>
                <a:cs typeface="Arial"/>
              </a:rPr>
              <a:t>→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3 </a:t>
            </a:r>
            <a:r>
              <a:rPr sz="2000" b="1" dirty="0">
                <a:latin typeface="Arial"/>
                <a:cs typeface="Arial"/>
              </a:rPr>
              <a:t>faults after</a:t>
            </a:r>
            <a:r>
              <a:rPr sz="2000" b="1" spc="-204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DFC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spc="-5" dirty="0">
                <a:latin typeface="Arial"/>
                <a:cs typeface="Arial"/>
              </a:rPr>
              <a:t>For </a:t>
            </a:r>
            <a:r>
              <a:rPr sz="2000" b="1" i="1" dirty="0">
                <a:latin typeface="Arial-BoldItalicMT"/>
                <a:cs typeface="Arial-BoldItalicMT"/>
              </a:rPr>
              <a:t>n</a:t>
            </a:r>
            <a:r>
              <a:rPr sz="2000" b="1" dirty="0">
                <a:latin typeface="Arial"/>
                <a:cs typeface="Arial"/>
              </a:rPr>
              <a:t>-input elementary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gate,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i="1" dirty="0">
                <a:solidFill>
                  <a:srgbClr val="0000FF"/>
                </a:solidFill>
                <a:latin typeface="Arial-BoldItalicMT"/>
                <a:cs typeface="Arial-BoldItalicMT"/>
              </a:rPr>
              <a:t>n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+1 </a:t>
            </a:r>
            <a:r>
              <a:rPr sz="2000" b="1" dirty="0">
                <a:latin typeface="Arial"/>
                <a:cs typeface="Arial"/>
              </a:rPr>
              <a:t>stuck-at faults after</a:t>
            </a:r>
            <a:r>
              <a:rPr sz="2000" b="1" spc="-1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DFC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83741" y="5228082"/>
            <a:ext cx="478790" cy="1905"/>
          </a:xfrm>
          <a:custGeom>
            <a:avLst/>
            <a:gdLst/>
            <a:ahLst/>
            <a:cxnLst/>
            <a:rect l="l" t="t" r="r" b="b"/>
            <a:pathLst>
              <a:path w="478790" h="1904">
                <a:moveTo>
                  <a:pt x="478536" y="0"/>
                </a:moveTo>
                <a:lnTo>
                  <a:pt x="0" y="1524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7" name="object 7"/>
          <p:cNvSpPr/>
          <p:nvPr/>
        </p:nvSpPr>
        <p:spPr>
          <a:xfrm>
            <a:off x="1703070" y="5042153"/>
            <a:ext cx="477520" cy="1905"/>
          </a:xfrm>
          <a:custGeom>
            <a:avLst/>
            <a:gdLst/>
            <a:ahLst/>
            <a:cxnLst/>
            <a:rect l="l" t="t" r="r" b="b"/>
            <a:pathLst>
              <a:path w="477519" h="1904">
                <a:moveTo>
                  <a:pt x="477012" y="0"/>
                </a:moveTo>
                <a:lnTo>
                  <a:pt x="0" y="1524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9" name="object 9"/>
          <p:cNvSpPr/>
          <p:nvPr/>
        </p:nvSpPr>
        <p:spPr>
          <a:xfrm>
            <a:off x="1224533" y="4712970"/>
            <a:ext cx="655320" cy="645160"/>
          </a:xfrm>
          <a:custGeom>
            <a:avLst/>
            <a:gdLst/>
            <a:ahLst/>
            <a:cxnLst/>
            <a:rect l="l" t="t" r="r" b="b"/>
            <a:pathLst>
              <a:path w="655319" h="645160">
                <a:moveTo>
                  <a:pt x="0" y="0"/>
                </a:moveTo>
                <a:lnTo>
                  <a:pt x="327659" y="0"/>
                </a:lnTo>
                <a:lnTo>
                  <a:pt x="376082" y="3493"/>
                </a:lnTo>
                <a:lnTo>
                  <a:pt x="422297" y="13643"/>
                </a:lnTo>
                <a:lnTo>
                  <a:pt x="465798" y="29951"/>
                </a:lnTo>
                <a:lnTo>
                  <a:pt x="506080" y="51919"/>
                </a:lnTo>
                <a:lnTo>
                  <a:pt x="542634" y="79048"/>
                </a:lnTo>
                <a:lnTo>
                  <a:pt x="574955" y="110840"/>
                </a:lnTo>
                <a:lnTo>
                  <a:pt x="602535" y="146799"/>
                </a:lnTo>
                <a:lnTo>
                  <a:pt x="624868" y="186424"/>
                </a:lnTo>
                <a:lnTo>
                  <a:pt x="641448" y="229220"/>
                </a:lnTo>
                <a:lnTo>
                  <a:pt x="651767" y="274686"/>
                </a:lnTo>
                <a:lnTo>
                  <a:pt x="655320" y="322325"/>
                </a:lnTo>
                <a:lnTo>
                  <a:pt x="651767" y="369965"/>
                </a:lnTo>
                <a:lnTo>
                  <a:pt x="641448" y="415431"/>
                </a:lnTo>
                <a:lnTo>
                  <a:pt x="624868" y="458227"/>
                </a:lnTo>
                <a:lnTo>
                  <a:pt x="602535" y="497852"/>
                </a:lnTo>
                <a:lnTo>
                  <a:pt x="574955" y="533811"/>
                </a:lnTo>
                <a:lnTo>
                  <a:pt x="542634" y="565603"/>
                </a:lnTo>
                <a:lnTo>
                  <a:pt x="506080" y="592732"/>
                </a:lnTo>
                <a:lnTo>
                  <a:pt x="465798" y="614700"/>
                </a:lnTo>
                <a:lnTo>
                  <a:pt x="422297" y="631008"/>
                </a:lnTo>
                <a:lnTo>
                  <a:pt x="376082" y="641158"/>
                </a:lnTo>
                <a:lnTo>
                  <a:pt x="327659" y="644651"/>
                </a:lnTo>
                <a:lnTo>
                  <a:pt x="0" y="644651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10" name="object 10"/>
          <p:cNvSpPr txBox="1"/>
          <p:nvPr/>
        </p:nvSpPr>
        <p:spPr>
          <a:xfrm>
            <a:off x="772058" y="5194553"/>
            <a:ext cx="37909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b="1" i="1" spc="-5" dirty="0">
                <a:latin typeface="TimesNewRomanPS-BoldItalicMT"/>
                <a:cs typeface="TimesNewRomanPS-BoldItalicMT"/>
              </a:rPr>
              <a:t>B/1</a:t>
            </a:r>
            <a:endParaRPr sz="1600">
              <a:latin typeface="TimesNewRomanPS-BoldItalicMT"/>
              <a:cs typeface="TimesNewRomanPS-BoldItalic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2058" y="4560189"/>
            <a:ext cx="72199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708660" algn="l"/>
              </a:tabLst>
            </a:pPr>
            <a:r>
              <a:rPr sz="1600" b="1" i="1" spc="-5" dirty="0">
                <a:latin typeface="TimesNewRomanPS-BoldItalicMT"/>
                <a:cs typeface="TimesNewRomanPS-BoldItalicMT"/>
              </a:rPr>
              <a:t>A</a:t>
            </a:r>
            <a:r>
              <a:rPr sz="1600" b="1" i="1" u="heavy" spc="-5" dirty="0">
                <a:uFill>
                  <a:solidFill>
                    <a:srgbClr val="000000"/>
                  </a:solidFill>
                </a:uFill>
                <a:latin typeface="TimesNewRomanPS-BoldItalicMT"/>
                <a:cs typeface="TimesNewRomanPS-BoldItalicMT"/>
              </a:rPr>
              <a:t>/1	</a:t>
            </a:r>
            <a:endParaRPr sz="1600">
              <a:latin typeface="TimesNewRomanPS-BoldItalicMT"/>
              <a:cs typeface="TimesNewRomanPS-BoldItalic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13889" y="5062473"/>
            <a:ext cx="37909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b="1" i="1" spc="-5" dirty="0">
                <a:latin typeface="TimesNewRomanPS-BoldItalicMT"/>
                <a:cs typeface="TimesNewRomanPS-BoldItalicMT"/>
              </a:rPr>
              <a:t>C/0</a:t>
            </a:r>
            <a:endParaRPr sz="1600">
              <a:latin typeface="TimesNewRomanPS-BoldItalicMT"/>
              <a:cs typeface="TimesNewRomanPS-BoldItalic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881122" y="5238750"/>
            <a:ext cx="478790" cy="1905"/>
          </a:xfrm>
          <a:custGeom>
            <a:avLst/>
            <a:gdLst/>
            <a:ahLst/>
            <a:cxnLst/>
            <a:rect l="l" t="t" r="r" b="b"/>
            <a:pathLst>
              <a:path w="478789" h="1904">
                <a:moveTo>
                  <a:pt x="478536" y="0"/>
                </a:moveTo>
                <a:lnTo>
                  <a:pt x="0" y="1524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14" name="object 14"/>
          <p:cNvSpPr/>
          <p:nvPr/>
        </p:nvSpPr>
        <p:spPr>
          <a:xfrm>
            <a:off x="3600450" y="5052821"/>
            <a:ext cx="477520" cy="1905"/>
          </a:xfrm>
          <a:custGeom>
            <a:avLst/>
            <a:gdLst/>
            <a:ahLst/>
            <a:cxnLst/>
            <a:rect l="l" t="t" r="r" b="b"/>
            <a:pathLst>
              <a:path w="477520" h="1904">
                <a:moveTo>
                  <a:pt x="477012" y="0"/>
                </a:moveTo>
                <a:lnTo>
                  <a:pt x="0" y="1523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16" name="object 16"/>
          <p:cNvSpPr/>
          <p:nvPr/>
        </p:nvSpPr>
        <p:spPr>
          <a:xfrm>
            <a:off x="3121914" y="4723638"/>
            <a:ext cx="655320" cy="645160"/>
          </a:xfrm>
          <a:custGeom>
            <a:avLst/>
            <a:gdLst/>
            <a:ahLst/>
            <a:cxnLst/>
            <a:rect l="l" t="t" r="r" b="b"/>
            <a:pathLst>
              <a:path w="655320" h="645160">
                <a:moveTo>
                  <a:pt x="0" y="0"/>
                </a:moveTo>
                <a:lnTo>
                  <a:pt x="327660" y="0"/>
                </a:lnTo>
                <a:lnTo>
                  <a:pt x="376082" y="3493"/>
                </a:lnTo>
                <a:lnTo>
                  <a:pt x="422297" y="13643"/>
                </a:lnTo>
                <a:lnTo>
                  <a:pt x="465798" y="29951"/>
                </a:lnTo>
                <a:lnTo>
                  <a:pt x="506080" y="51919"/>
                </a:lnTo>
                <a:lnTo>
                  <a:pt x="542634" y="79048"/>
                </a:lnTo>
                <a:lnTo>
                  <a:pt x="574955" y="110840"/>
                </a:lnTo>
                <a:lnTo>
                  <a:pt x="602535" y="146799"/>
                </a:lnTo>
                <a:lnTo>
                  <a:pt x="624868" y="186424"/>
                </a:lnTo>
                <a:lnTo>
                  <a:pt x="641448" y="229220"/>
                </a:lnTo>
                <a:lnTo>
                  <a:pt x="651767" y="274686"/>
                </a:lnTo>
                <a:lnTo>
                  <a:pt x="655320" y="322325"/>
                </a:lnTo>
                <a:lnTo>
                  <a:pt x="651767" y="369965"/>
                </a:lnTo>
                <a:lnTo>
                  <a:pt x="641448" y="415431"/>
                </a:lnTo>
                <a:lnTo>
                  <a:pt x="624868" y="458227"/>
                </a:lnTo>
                <a:lnTo>
                  <a:pt x="602535" y="497852"/>
                </a:lnTo>
                <a:lnTo>
                  <a:pt x="574955" y="533811"/>
                </a:lnTo>
                <a:lnTo>
                  <a:pt x="542634" y="565603"/>
                </a:lnTo>
                <a:lnTo>
                  <a:pt x="506080" y="592732"/>
                </a:lnTo>
                <a:lnTo>
                  <a:pt x="465798" y="614700"/>
                </a:lnTo>
                <a:lnTo>
                  <a:pt x="422297" y="631008"/>
                </a:lnTo>
                <a:lnTo>
                  <a:pt x="376082" y="641158"/>
                </a:lnTo>
                <a:lnTo>
                  <a:pt x="327660" y="644652"/>
                </a:lnTo>
                <a:lnTo>
                  <a:pt x="0" y="644652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17" name="object 17"/>
          <p:cNvSpPr txBox="1"/>
          <p:nvPr/>
        </p:nvSpPr>
        <p:spPr>
          <a:xfrm>
            <a:off x="2669794" y="5205222"/>
            <a:ext cx="37909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b="1" i="1" spc="-5" dirty="0">
                <a:latin typeface="TimesNewRomanPS-BoldItalicMT"/>
                <a:cs typeface="TimesNewRomanPS-BoldItalicMT"/>
              </a:rPr>
              <a:t>B/1</a:t>
            </a:r>
            <a:endParaRPr sz="1600">
              <a:latin typeface="TimesNewRomanPS-BoldItalicMT"/>
              <a:cs typeface="TimesNewRomanPS-BoldItalic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69794" y="4570857"/>
            <a:ext cx="72199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708660" algn="l"/>
              </a:tabLst>
            </a:pPr>
            <a:r>
              <a:rPr sz="1600" b="1" i="1" spc="-5" dirty="0">
                <a:latin typeface="TimesNewRomanPS-BoldItalicMT"/>
                <a:cs typeface="TimesNewRomanPS-BoldItalicMT"/>
              </a:rPr>
              <a:t>A</a:t>
            </a:r>
            <a:r>
              <a:rPr sz="1600" b="1" i="1" u="heavy" spc="-5" dirty="0">
                <a:uFill>
                  <a:solidFill>
                    <a:srgbClr val="000000"/>
                  </a:solidFill>
                </a:uFill>
                <a:latin typeface="TimesNewRomanPS-BoldItalicMT"/>
                <a:cs typeface="TimesNewRomanPS-BoldItalicMT"/>
              </a:rPr>
              <a:t>/1	</a:t>
            </a:r>
            <a:endParaRPr sz="1600">
              <a:latin typeface="TimesNewRomanPS-BoldItalicMT"/>
              <a:cs typeface="TimesNewRomanPS-BoldItalic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764279" y="5000244"/>
            <a:ext cx="132587" cy="1234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20" name="object 20"/>
          <p:cNvSpPr/>
          <p:nvPr/>
        </p:nvSpPr>
        <p:spPr>
          <a:xfrm>
            <a:off x="4926329" y="5260085"/>
            <a:ext cx="478790" cy="1905"/>
          </a:xfrm>
          <a:custGeom>
            <a:avLst/>
            <a:gdLst/>
            <a:ahLst/>
            <a:cxnLst/>
            <a:rect l="l" t="t" r="r" b="b"/>
            <a:pathLst>
              <a:path w="478789" h="1904">
                <a:moveTo>
                  <a:pt x="478536" y="0"/>
                </a:moveTo>
                <a:lnTo>
                  <a:pt x="0" y="1523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21" name="object 21"/>
          <p:cNvSpPr/>
          <p:nvPr/>
        </p:nvSpPr>
        <p:spPr>
          <a:xfrm>
            <a:off x="5645658" y="5074158"/>
            <a:ext cx="477520" cy="1905"/>
          </a:xfrm>
          <a:custGeom>
            <a:avLst/>
            <a:gdLst/>
            <a:ahLst/>
            <a:cxnLst/>
            <a:rect l="l" t="t" r="r" b="b"/>
            <a:pathLst>
              <a:path w="477520" h="1904">
                <a:moveTo>
                  <a:pt x="477012" y="0"/>
                </a:moveTo>
                <a:lnTo>
                  <a:pt x="0" y="1524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22" name="object 22"/>
          <p:cNvSpPr txBox="1"/>
          <p:nvPr/>
        </p:nvSpPr>
        <p:spPr>
          <a:xfrm>
            <a:off x="4694173" y="5226177"/>
            <a:ext cx="36703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b="1" i="1" spc="-300" dirty="0">
                <a:latin typeface="TimesNewRomanPS-BoldItalicMT"/>
                <a:cs typeface="TimesNewRomanPS-BoldItalicMT"/>
              </a:rPr>
              <a:t>B/0</a:t>
            </a:r>
            <a:endParaRPr sz="1600">
              <a:latin typeface="TimesNewRomanPS-BoldItalicMT"/>
              <a:cs typeface="TimesNewRomanPS-BoldItalic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94173" y="4591939"/>
            <a:ext cx="74295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729615" algn="l"/>
              </a:tabLst>
            </a:pPr>
            <a:r>
              <a:rPr sz="1600" b="1" i="1" spc="-5" dirty="0">
                <a:latin typeface="TimesNewRomanPS-BoldItalicMT"/>
                <a:cs typeface="TimesNewRomanPS-BoldItalicMT"/>
              </a:rPr>
              <a:t>A/</a:t>
            </a:r>
            <a:r>
              <a:rPr sz="1600" b="1" i="1" u="heavy" spc="-5" dirty="0">
                <a:uFill>
                  <a:solidFill>
                    <a:srgbClr val="000000"/>
                  </a:solidFill>
                </a:uFill>
                <a:latin typeface="TimesNewRomanPS-BoldItalicMT"/>
                <a:cs typeface="TimesNewRomanPS-BoldItalicMT"/>
              </a:rPr>
              <a:t>0	</a:t>
            </a:r>
            <a:endParaRPr sz="1600">
              <a:latin typeface="TimesNewRomanPS-BoldItalicMT"/>
              <a:cs typeface="TimesNewRomanPS-BoldItalicM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071109" y="4712970"/>
            <a:ext cx="721360" cy="719455"/>
          </a:xfrm>
          <a:custGeom>
            <a:avLst/>
            <a:gdLst/>
            <a:ahLst/>
            <a:cxnLst/>
            <a:rect l="l" t="t" r="r" b="b"/>
            <a:pathLst>
              <a:path w="721360" h="719454">
                <a:moveTo>
                  <a:pt x="0" y="0"/>
                </a:moveTo>
                <a:lnTo>
                  <a:pt x="27101" y="44000"/>
                </a:lnTo>
                <a:lnTo>
                  <a:pt x="50589" y="88384"/>
                </a:lnTo>
                <a:lnTo>
                  <a:pt x="70464" y="133096"/>
                </a:lnTo>
                <a:lnTo>
                  <a:pt x="86725" y="178081"/>
                </a:lnTo>
                <a:lnTo>
                  <a:pt x="99372" y="223285"/>
                </a:lnTo>
                <a:lnTo>
                  <a:pt x="108406" y="268654"/>
                </a:lnTo>
                <a:lnTo>
                  <a:pt x="113826" y="314131"/>
                </a:lnTo>
                <a:lnTo>
                  <a:pt x="115633" y="359663"/>
                </a:lnTo>
                <a:lnTo>
                  <a:pt x="113826" y="405196"/>
                </a:lnTo>
                <a:lnTo>
                  <a:pt x="108406" y="450673"/>
                </a:lnTo>
                <a:lnTo>
                  <a:pt x="99372" y="496042"/>
                </a:lnTo>
                <a:lnTo>
                  <a:pt x="86725" y="541246"/>
                </a:lnTo>
                <a:lnTo>
                  <a:pt x="70464" y="586231"/>
                </a:lnTo>
                <a:lnTo>
                  <a:pt x="50589" y="630943"/>
                </a:lnTo>
                <a:lnTo>
                  <a:pt x="27101" y="675327"/>
                </a:lnTo>
                <a:lnTo>
                  <a:pt x="0" y="719327"/>
                </a:lnTo>
                <a:lnTo>
                  <a:pt x="62202" y="718007"/>
                </a:lnTo>
                <a:lnTo>
                  <a:pt x="122933" y="714118"/>
                </a:lnTo>
                <a:lnTo>
                  <a:pt x="181979" y="707769"/>
                </a:lnTo>
                <a:lnTo>
                  <a:pt x="239122" y="699067"/>
                </a:lnTo>
                <a:lnTo>
                  <a:pt x="294145" y="688121"/>
                </a:lnTo>
                <a:lnTo>
                  <a:pt x="346834" y="675038"/>
                </a:lnTo>
                <a:lnTo>
                  <a:pt x="396971" y="659926"/>
                </a:lnTo>
                <a:lnTo>
                  <a:pt x="444340" y="642894"/>
                </a:lnTo>
                <a:lnTo>
                  <a:pt x="488724" y="624049"/>
                </a:lnTo>
                <a:lnTo>
                  <a:pt x="529908" y="603500"/>
                </a:lnTo>
                <a:lnTo>
                  <a:pt x="567676" y="581354"/>
                </a:lnTo>
                <a:lnTo>
                  <a:pt x="601810" y="557719"/>
                </a:lnTo>
                <a:lnTo>
                  <a:pt x="632094" y="532704"/>
                </a:lnTo>
                <a:lnTo>
                  <a:pt x="680250" y="478963"/>
                </a:lnTo>
                <a:lnTo>
                  <a:pt x="710413" y="420995"/>
                </a:lnTo>
                <a:lnTo>
                  <a:pt x="720851" y="359663"/>
                </a:lnTo>
                <a:lnTo>
                  <a:pt x="718206" y="328632"/>
                </a:lnTo>
                <a:lnTo>
                  <a:pt x="697689" y="268874"/>
                </a:lnTo>
                <a:lnTo>
                  <a:pt x="658313" y="212912"/>
                </a:lnTo>
                <a:lnTo>
                  <a:pt x="601810" y="161608"/>
                </a:lnTo>
                <a:lnTo>
                  <a:pt x="567676" y="137973"/>
                </a:lnTo>
                <a:lnTo>
                  <a:pt x="529908" y="115827"/>
                </a:lnTo>
                <a:lnTo>
                  <a:pt x="488724" y="95278"/>
                </a:lnTo>
                <a:lnTo>
                  <a:pt x="444340" y="76433"/>
                </a:lnTo>
                <a:lnTo>
                  <a:pt x="396971" y="59401"/>
                </a:lnTo>
                <a:lnTo>
                  <a:pt x="346834" y="44289"/>
                </a:lnTo>
                <a:lnTo>
                  <a:pt x="294145" y="31206"/>
                </a:lnTo>
                <a:lnTo>
                  <a:pt x="239122" y="20260"/>
                </a:lnTo>
                <a:lnTo>
                  <a:pt x="181979" y="11558"/>
                </a:lnTo>
                <a:lnTo>
                  <a:pt x="122933" y="5209"/>
                </a:lnTo>
                <a:lnTo>
                  <a:pt x="62202" y="13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25" name="object 25"/>
          <p:cNvSpPr/>
          <p:nvPr/>
        </p:nvSpPr>
        <p:spPr>
          <a:xfrm>
            <a:off x="5071109" y="4712970"/>
            <a:ext cx="721360" cy="719455"/>
          </a:xfrm>
          <a:custGeom>
            <a:avLst/>
            <a:gdLst/>
            <a:ahLst/>
            <a:cxnLst/>
            <a:rect l="l" t="t" r="r" b="b"/>
            <a:pathLst>
              <a:path w="721360" h="719454">
                <a:moveTo>
                  <a:pt x="0" y="719327"/>
                </a:moveTo>
                <a:lnTo>
                  <a:pt x="62202" y="718007"/>
                </a:lnTo>
                <a:lnTo>
                  <a:pt x="122933" y="714118"/>
                </a:lnTo>
                <a:lnTo>
                  <a:pt x="181979" y="707769"/>
                </a:lnTo>
                <a:lnTo>
                  <a:pt x="239122" y="699067"/>
                </a:lnTo>
                <a:lnTo>
                  <a:pt x="294145" y="688121"/>
                </a:lnTo>
                <a:lnTo>
                  <a:pt x="346834" y="675038"/>
                </a:lnTo>
                <a:lnTo>
                  <a:pt x="396971" y="659926"/>
                </a:lnTo>
                <a:lnTo>
                  <a:pt x="444340" y="642894"/>
                </a:lnTo>
                <a:lnTo>
                  <a:pt x="488724" y="624049"/>
                </a:lnTo>
                <a:lnTo>
                  <a:pt x="529908" y="603500"/>
                </a:lnTo>
                <a:lnTo>
                  <a:pt x="567676" y="581354"/>
                </a:lnTo>
                <a:lnTo>
                  <a:pt x="601810" y="557719"/>
                </a:lnTo>
                <a:lnTo>
                  <a:pt x="632094" y="532704"/>
                </a:lnTo>
                <a:lnTo>
                  <a:pt x="680250" y="478963"/>
                </a:lnTo>
                <a:lnTo>
                  <a:pt x="710413" y="420995"/>
                </a:lnTo>
                <a:lnTo>
                  <a:pt x="720851" y="359663"/>
                </a:lnTo>
                <a:lnTo>
                  <a:pt x="718206" y="328632"/>
                </a:lnTo>
                <a:lnTo>
                  <a:pt x="697689" y="268874"/>
                </a:lnTo>
                <a:lnTo>
                  <a:pt x="658313" y="212912"/>
                </a:lnTo>
                <a:lnTo>
                  <a:pt x="601810" y="161608"/>
                </a:lnTo>
                <a:lnTo>
                  <a:pt x="567676" y="137973"/>
                </a:lnTo>
                <a:lnTo>
                  <a:pt x="529908" y="115827"/>
                </a:lnTo>
                <a:lnTo>
                  <a:pt x="488724" y="95278"/>
                </a:lnTo>
                <a:lnTo>
                  <a:pt x="444340" y="76433"/>
                </a:lnTo>
                <a:lnTo>
                  <a:pt x="396971" y="59401"/>
                </a:lnTo>
                <a:lnTo>
                  <a:pt x="346834" y="44289"/>
                </a:lnTo>
                <a:lnTo>
                  <a:pt x="294145" y="31206"/>
                </a:lnTo>
                <a:lnTo>
                  <a:pt x="239122" y="20260"/>
                </a:lnTo>
                <a:lnTo>
                  <a:pt x="181979" y="11558"/>
                </a:lnTo>
                <a:lnTo>
                  <a:pt x="122933" y="5209"/>
                </a:lnTo>
                <a:lnTo>
                  <a:pt x="62202" y="1320"/>
                </a:lnTo>
                <a:lnTo>
                  <a:pt x="0" y="0"/>
                </a:lnTo>
                <a:lnTo>
                  <a:pt x="27101" y="44000"/>
                </a:lnTo>
                <a:lnTo>
                  <a:pt x="50589" y="88384"/>
                </a:lnTo>
                <a:lnTo>
                  <a:pt x="70464" y="133096"/>
                </a:lnTo>
                <a:lnTo>
                  <a:pt x="86725" y="178081"/>
                </a:lnTo>
                <a:lnTo>
                  <a:pt x="99372" y="223285"/>
                </a:lnTo>
                <a:lnTo>
                  <a:pt x="108406" y="268654"/>
                </a:lnTo>
                <a:lnTo>
                  <a:pt x="113826" y="314131"/>
                </a:lnTo>
                <a:lnTo>
                  <a:pt x="115633" y="359663"/>
                </a:lnTo>
                <a:lnTo>
                  <a:pt x="113826" y="405196"/>
                </a:lnTo>
                <a:lnTo>
                  <a:pt x="108406" y="450673"/>
                </a:lnTo>
                <a:lnTo>
                  <a:pt x="99372" y="496042"/>
                </a:lnTo>
                <a:lnTo>
                  <a:pt x="86725" y="541246"/>
                </a:lnTo>
                <a:lnTo>
                  <a:pt x="70464" y="586231"/>
                </a:lnTo>
                <a:lnTo>
                  <a:pt x="50589" y="630943"/>
                </a:lnTo>
                <a:lnTo>
                  <a:pt x="27101" y="675327"/>
                </a:lnTo>
                <a:lnTo>
                  <a:pt x="0" y="719327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26" name="object 26"/>
          <p:cNvSpPr/>
          <p:nvPr/>
        </p:nvSpPr>
        <p:spPr>
          <a:xfrm>
            <a:off x="6660642" y="5249417"/>
            <a:ext cx="477520" cy="1905"/>
          </a:xfrm>
          <a:custGeom>
            <a:avLst/>
            <a:gdLst/>
            <a:ahLst/>
            <a:cxnLst/>
            <a:rect l="l" t="t" r="r" b="b"/>
            <a:pathLst>
              <a:path w="477520" h="1904">
                <a:moveTo>
                  <a:pt x="477011" y="0"/>
                </a:moveTo>
                <a:lnTo>
                  <a:pt x="0" y="1523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27" name="object 27"/>
          <p:cNvSpPr/>
          <p:nvPr/>
        </p:nvSpPr>
        <p:spPr>
          <a:xfrm>
            <a:off x="7378445" y="5063490"/>
            <a:ext cx="478790" cy="1905"/>
          </a:xfrm>
          <a:custGeom>
            <a:avLst/>
            <a:gdLst/>
            <a:ahLst/>
            <a:cxnLst/>
            <a:rect l="l" t="t" r="r" b="b"/>
            <a:pathLst>
              <a:path w="478790" h="1904">
                <a:moveTo>
                  <a:pt x="478535" y="0"/>
                </a:moveTo>
                <a:lnTo>
                  <a:pt x="0" y="1524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28" name="object 28"/>
          <p:cNvSpPr txBox="1"/>
          <p:nvPr/>
        </p:nvSpPr>
        <p:spPr>
          <a:xfrm>
            <a:off x="6427978" y="5215890"/>
            <a:ext cx="36703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b="1" i="1" spc="-200" dirty="0">
                <a:latin typeface="TimesNewRomanPS-BoldItalicMT"/>
                <a:cs typeface="TimesNewRomanPS-BoldItalicMT"/>
              </a:rPr>
              <a:t>B/0</a:t>
            </a:r>
            <a:endParaRPr sz="1600">
              <a:latin typeface="TimesNewRomanPS-BoldItalicMT"/>
              <a:cs typeface="TimesNewRomanPS-BoldItalic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427978" y="4581271"/>
            <a:ext cx="74168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728345" algn="l"/>
              </a:tabLst>
            </a:pPr>
            <a:r>
              <a:rPr sz="1600" b="1" i="1" spc="-5" dirty="0">
                <a:latin typeface="TimesNewRomanPS-BoldItalicMT"/>
                <a:cs typeface="TimesNewRomanPS-BoldItalicMT"/>
              </a:rPr>
              <a:t>A/</a:t>
            </a:r>
            <a:r>
              <a:rPr sz="1600" b="1" i="1" u="heavy" spc="-5" dirty="0">
                <a:uFill>
                  <a:solidFill>
                    <a:srgbClr val="000000"/>
                  </a:solidFill>
                </a:uFill>
                <a:latin typeface="TimesNewRomanPS-BoldItalicMT"/>
                <a:cs typeface="TimesNewRomanPS-BoldItalicMT"/>
              </a:rPr>
              <a:t>0	</a:t>
            </a:r>
            <a:endParaRPr sz="1600">
              <a:latin typeface="TimesNewRomanPS-BoldItalicMT"/>
              <a:cs typeface="TimesNewRomanPS-BoldItalic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591043" y="5083555"/>
            <a:ext cx="37909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b="1" i="1" spc="-5" dirty="0">
                <a:latin typeface="TimesNewRomanPS-BoldItalicMT"/>
                <a:cs typeface="TimesNewRomanPS-BoldItalicMT"/>
              </a:rPr>
              <a:t>C/0</a:t>
            </a:r>
            <a:endParaRPr sz="1600">
              <a:latin typeface="TimesNewRomanPS-BoldItalicMT"/>
              <a:cs typeface="TimesNewRomanPS-BoldItalicMT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803897" y="4702302"/>
            <a:ext cx="722630" cy="719455"/>
          </a:xfrm>
          <a:custGeom>
            <a:avLst/>
            <a:gdLst/>
            <a:ahLst/>
            <a:cxnLst/>
            <a:rect l="l" t="t" r="r" b="b"/>
            <a:pathLst>
              <a:path w="722629" h="719454">
                <a:moveTo>
                  <a:pt x="0" y="0"/>
                </a:moveTo>
                <a:lnTo>
                  <a:pt x="27146" y="44000"/>
                </a:lnTo>
                <a:lnTo>
                  <a:pt x="50673" y="88384"/>
                </a:lnTo>
                <a:lnTo>
                  <a:pt x="70580" y="133096"/>
                </a:lnTo>
                <a:lnTo>
                  <a:pt x="86868" y="178081"/>
                </a:lnTo>
                <a:lnTo>
                  <a:pt x="99536" y="223285"/>
                </a:lnTo>
                <a:lnTo>
                  <a:pt x="108584" y="268654"/>
                </a:lnTo>
                <a:lnTo>
                  <a:pt x="114014" y="314131"/>
                </a:lnTo>
                <a:lnTo>
                  <a:pt x="115824" y="359664"/>
                </a:lnTo>
                <a:lnTo>
                  <a:pt x="114014" y="405196"/>
                </a:lnTo>
                <a:lnTo>
                  <a:pt x="108584" y="450673"/>
                </a:lnTo>
                <a:lnTo>
                  <a:pt x="99536" y="496042"/>
                </a:lnTo>
                <a:lnTo>
                  <a:pt x="86868" y="541246"/>
                </a:lnTo>
                <a:lnTo>
                  <a:pt x="70580" y="586231"/>
                </a:lnTo>
                <a:lnTo>
                  <a:pt x="50673" y="630943"/>
                </a:lnTo>
                <a:lnTo>
                  <a:pt x="27146" y="675327"/>
                </a:lnTo>
                <a:lnTo>
                  <a:pt x="0" y="719328"/>
                </a:lnTo>
                <a:lnTo>
                  <a:pt x="62322" y="718007"/>
                </a:lnTo>
                <a:lnTo>
                  <a:pt x="123173" y="714118"/>
                </a:lnTo>
                <a:lnTo>
                  <a:pt x="182337" y="707769"/>
                </a:lnTo>
                <a:lnTo>
                  <a:pt x="239596" y="699067"/>
                </a:lnTo>
                <a:lnTo>
                  <a:pt x="294733" y="688121"/>
                </a:lnTo>
                <a:lnTo>
                  <a:pt x="347532" y="675038"/>
                </a:lnTo>
                <a:lnTo>
                  <a:pt x="397775" y="659926"/>
                </a:lnTo>
                <a:lnTo>
                  <a:pt x="445245" y="642894"/>
                </a:lnTo>
                <a:lnTo>
                  <a:pt x="489726" y="624049"/>
                </a:lnTo>
                <a:lnTo>
                  <a:pt x="531000" y="603500"/>
                </a:lnTo>
                <a:lnTo>
                  <a:pt x="568851" y="581354"/>
                </a:lnTo>
                <a:lnTo>
                  <a:pt x="603062" y="557719"/>
                </a:lnTo>
                <a:lnTo>
                  <a:pt x="633414" y="532704"/>
                </a:lnTo>
                <a:lnTo>
                  <a:pt x="681680" y="478963"/>
                </a:lnTo>
                <a:lnTo>
                  <a:pt x="711912" y="420995"/>
                </a:lnTo>
                <a:lnTo>
                  <a:pt x="722376" y="359664"/>
                </a:lnTo>
                <a:lnTo>
                  <a:pt x="719724" y="328632"/>
                </a:lnTo>
                <a:lnTo>
                  <a:pt x="699159" y="268874"/>
                </a:lnTo>
                <a:lnTo>
                  <a:pt x="659693" y="212912"/>
                </a:lnTo>
                <a:lnTo>
                  <a:pt x="603062" y="161608"/>
                </a:lnTo>
                <a:lnTo>
                  <a:pt x="568851" y="137973"/>
                </a:lnTo>
                <a:lnTo>
                  <a:pt x="531000" y="115827"/>
                </a:lnTo>
                <a:lnTo>
                  <a:pt x="489726" y="95278"/>
                </a:lnTo>
                <a:lnTo>
                  <a:pt x="445245" y="76433"/>
                </a:lnTo>
                <a:lnTo>
                  <a:pt x="397775" y="59401"/>
                </a:lnTo>
                <a:lnTo>
                  <a:pt x="347532" y="44289"/>
                </a:lnTo>
                <a:lnTo>
                  <a:pt x="294733" y="31206"/>
                </a:lnTo>
                <a:lnTo>
                  <a:pt x="239596" y="20260"/>
                </a:lnTo>
                <a:lnTo>
                  <a:pt x="182337" y="11558"/>
                </a:lnTo>
                <a:lnTo>
                  <a:pt x="123173" y="5209"/>
                </a:lnTo>
                <a:lnTo>
                  <a:pt x="62322" y="13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32" name="object 32"/>
          <p:cNvSpPr/>
          <p:nvPr/>
        </p:nvSpPr>
        <p:spPr>
          <a:xfrm>
            <a:off x="6803897" y="4702302"/>
            <a:ext cx="722630" cy="719455"/>
          </a:xfrm>
          <a:custGeom>
            <a:avLst/>
            <a:gdLst/>
            <a:ahLst/>
            <a:cxnLst/>
            <a:rect l="l" t="t" r="r" b="b"/>
            <a:pathLst>
              <a:path w="722629" h="719454">
                <a:moveTo>
                  <a:pt x="0" y="719328"/>
                </a:moveTo>
                <a:lnTo>
                  <a:pt x="62322" y="718007"/>
                </a:lnTo>
                <a:lnTo>
                  <a:pt x="123173" y="714118"/>
                </a:lnTo>
                <a:lnTo>
                  <a:pt x="182337" y="707769"/>
                </a:lnTo>
                <a:lnTo>
                  <a:pt x="239596" y="699067"/>
                </a:lnTo>
                <a:lnTo>
                  <a:pt x="294733" y="688121"/>
                </a:lnTo>
                <a:lnTo>
                  <a:pt x="347532" y="675038"/>
                </a:lnTo>
                <a:lnTo>
                  <a:pt x="397775" y="659926"/>
                </a:lnTo>
                <a:lnTo>
                  <a:pt x="445245" y="642894"/>
                </a:lnTo>
                <a:lnTo>
                  <a:pt x="489726" y="624049"/>
                </a:lnTo>
                <a:lnTo>
                  <a:pt x="531000" y="603500"/>
                </a:lnTo>
                <a:lnTo>
                  <a:pt x="568851" y="581354"/>
                </a:lnTo>
                <a:lnTo>
                  <a:pt x="603062" y="557719"/>
                </a:lnTo>
                <a:lnTo>
                  <a:pt x="633414" y="532704"/>
                </a:lnTo>
                <a:lnTo>
                  <a:pt x="681680" y="478963"/>
                </a:lnTo>
                <a:lnTo>
                  <a:pt x="711912" y="420995"/>
                </a:lnTo>
                <a:lnTo>
                  <a:pt x="722376" y="359664"/>
                </a:lnTo>
                <a:lnTo>
                  <a:pt x="719724" y="328632"/>
                </a:lnTo>
                <a:lnTo>
                  <a:pt x="699159" y="268874"/>
                </a:lnTo>
                <a:lnTo>
                  <a:pt x="659693" y="212912"/>
                </a:lnTo>
                <a:lnTo>
                  <a:pt x="603062" y="161608"/>
                </a:lnTo>
                <a:lnTo>
                  <a:pt x="568851" y="137973"/>
                </a:lnTo>
                <a:lnTo>
                  <a:pt x="531000" y="115827"/>
                </a:lnTo>
                <a:lnTo>
                  <a:pt x="489726" y="95278"/>
                </a:lnTo>
                <a:lnTo>
                  <a:pt x="445245" y="76433"/>
                </a:lnTo>
                <a:lnTo>
                  <a:pt x="397775" y="59401"/>
                </a:lnTo>
                <a:lnTo>
                  <a:pt x="347532" y="44289"/>
                </a:lnTo>
                <a:lnTo>
                  <a:pt x="294733" y="31206"/>
                </a:lnTo>
                <a:lnTo>
                  <a:pt x="239596" y="20260"/>
                </a:lnTo>
                <a:lnTo>
                  <a:pt x="182337" y="11558"/>
                </a:lnTo>
                <a:lnTo>
                  <a:pt x="123173" y="5209"/>
                </a:lnTo>
                <a:lnTo>
                  <a:pt x="62322" y="1320"/>
                </a:lnTo>
                <a:lnTo>
                  <a:pt x="0" y="0"/>
                </a:lnTo>
                <a:lnTo>
                  <a:pt x="27146" y="44000"/>
                </a:lnTo>
                <a:lnTo>
                  <a:pt x="50673" y="88384"/>
                </a:lnTo>
                <a:lnTo>
                  <a:pt x="70580" y="133096"/>
                </a:lnTo>
                <a:lnTo>
                  <a:pt x="86868" y="178081"/>
                </a:lnTo>
                <a:lnTo>
                  <a:pt x="99536" y="223285"/>
                </a:lnTo>
                <a:lnTo>
                  <a:pt x="108584" y="268654"/>
                </a:lnTo>
                <a:lnTo>
                  <a:pt x="114014" y="314131"/>
                </a:lnTo>
                <a:lnTo>
                  <a:pt x="115824" y="359663"/>
                </a:lnTo>
                <a:lnTo>
                  <a:pt x="114014" y="405196"/>
                </a:lnTo>
                <a:lnTo>
                  <a:pt x="108584" y="450673"/>
                </a:lnTo>
                <a:lnTo>
                  <a:pt x="99536" y="496042"/>
                </a:lnTo>
                <a:lnTo>
                  <a:pt x="86868" y="541246"/>
                </a:lnTo>
                <a:lnTo>
                  <a:pt x="70580" y="586231"/>
                </a:lnTo>
                <a:lnTo>
                  <a:pt x="50673" y="630943"/>
                </a:lnTo>
                <a:lnTo>
                  <a:pt x="27146" y="675327"/>
                </a:lnTo>
                <a:lnTo>
                  <a:pt x="0" y="719328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33" name="object 33"/>
          <p:cNvSpPr/>
          <p:nvPr/>
        </p:nvSpPr>
        <p:spPr>
          <a:xfrm>
            <a:off x="7516368" y="5010911"/>
            <a:ext cx="132587" cy="1234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34" name="object 34"/>
          <p:cNvSpPr txBox="1"/>
          <p:nvPr/>
        </p:nvSpPr>
        <p:spPr>
          <a:xfrm>
            <a:off x="1982470" y="4896739"/>
            <a:ext cx="16573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000FF"/>
                </a:solidFill>
                <a:latin typeface="Helvetica"/>
                <a:cs typeface="Helvetica"/>
              </a:rPr>
              <a:t>X</a:t>
            </a:r>
            <a:endParaRPr sz="1400">
              <a:latin typeface="Helvetica"/>
              <a:cs typeface="Helvetic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23518" y="4735478"/>
            <a:ext cx="174625" cy="522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8890">
              <a:lnSpc>
                <a:spcPct val="121600"/>
              </a:lnSpc>
              <a:spcBef>
                <a:spcPts val="100"/>
              </a:spcBef>
            </a:pPr>
            <a:r>
              <a:rPr sz="1400" b="1" dirty="0">
                <a:solidFill>
                  <a:srgbClr val="FF0000"/>
                </a:solidFill>
                <a:latin typeface="Helvetica"/>
                <a:cs typeface="Helvetica"/>
              </a:rPr>
              <a:t>X  X</a:t>
            </a:r>
            <a:endParaRPr sz="1400" dirty="0">
              <a:latin typeface="Helvetica"/>
              <a:cs typeface="Helvetic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821938" y="4687061"/>
            <a:ext cx="379730" cy="533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115"/>
              </a:lnSpc>
              <a:spcBef>
                <a:spcPts val="100"/>
              </a:spcBef>
            </a:pPr>
            <a:r>
              <a:rPr sz="1600" b="1" i="1" spc="-5" dirty="0">
                <a:latin typeface="TimesNewRomanPS-BoldItalicMT"/>
                <a:cs typeface="TimesNewRomanPS-BoldItalicMT"/>
              </a:rPr>
              <a:t>C/1</a:t>
            </a:r>
            <a:endParaRPr sz="1600">
              <a:latin typeface="TimesNewRomanPS-BoldItalicMT"/>
              <a:cs typeface="TimesNewRomanPS-BoldItalicMT"/>
            </a:endParaRPr>
          </a:p>
          <a:p>
            <a:pPr marL="99060">
              <a:lnSpc>
                <a:spcPts val="1875"/>
              </a:lnSpc>
            </a:pPr>
            <a:r>
              <a:rPr sz="1400" b="1" dirty="0">
                <a:solidFill>
                  <a:srgbClr val="FF0000"/>
                </a:solidFill>
                <a:latin typeface="Helvetica"/>
                <a:cs typeface="Helvetica"/>
              </a:rPr>
              <a:t>X</a:t>
            </a:r>
            <a:endParaRPr sz="1400">
              <a:latin typeface="Helvetica"/>
              <a:cs typeface="Helvetic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928873" y="4735478"/>
            <a:ext cx="174625" cy="522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8890">
              <a:lnSpc>
                <a:spcPct val="121600"/>
              </a:lnSpc>
              <a:spcBef>
                <a:spcPts val="100"/>
              </a:spcBef>
            </a:pPr>
            <a:r>
              <a:rPr sz="1400" b="1" dirty="0">
                <a:solidFill>
                  <a:srgbClr val="FF0000"/>
                </a:solidFill>
                <a:latin typeface="Helvetica"/>
                <a:cs typeface="Helvetica"/>
              </a:rPr>
              <a:t>X  X</a:t>
            </a:r>
            <a:endParaRPr sz="1400" dirty="0">
              <a:latin typeface="Helvetica"/>
              <a:cs typeface="Helvetic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815329" y="4708397"/>
            <a:ext cx="431165" cy="518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069">
              <a:lnSpc>
                <a:spcPts val="2060"/>
              </a:lnSpc>
              <a:spcBef>
                <a:spcPts val="100"/>
              </a:spcBef>
            </a:pPr>
            <a:r>
              <a:rPr sz="1600" b="1" i="1" spc="-5" dirty="0">
                <a:latin typeface="TimesNewRomanPS-BoldItalicMT"/>
                <a:cs typeface="TimesNewRomanPS-BoldItalicMT"/>
              </a:rPr>
              <a:t>C/1</a:t>
            </a:r>
            <a:endParaRPr sz="1600">
              <a:latin typeface="TimesNewRomanPS-BoldItalicMT"/>
              <a:cs typeface="TimesNewRomanPS-BoldItalicMT"/>
            </a:endParaRPr>
          </a:p>
          <a:p>
            <a:pPr>
              <a:lnSpc>
                <a:spcPts val="1820"/>
              </a:lnSpc>
            </a:pPr>
            <a:r>
              <a:rPr sz="1400" b="1" dirty="0">
                <a:solidFill>
                  <a:srgbClr val="FF0000"/>
                </a:solidFill>
                <a:latin typeface="Helvetica"/>
                <a:cs typeface="Helvetica"/>
              </a:rPr>
              <a:t>X</a:t>
            </a:r>
            <a:endParaRPr sz="1400">
              <a:latin typeface="Helvetica"/>
              <a:cs typeface="Helvetic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948428" y="4812319"/>
            <a:ext cx="175260" cy="5216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indent="8890">
              <a:lnSpc>
                <a:spcPct val="121600"/>
              </a:lnSpc>
              <a:spcBef>
                <a:spcPts val="95"/>
              </a:spcBef>
            </a:pPr>
            <a:r>
              <a:rPr sz="1400" b="1" dirty="0">
                <a:solidFill>
                  <a:srgbClr val="0000FF"/>
                </a:solidFill>
                <a:latin typeface="Helvetica"/>
                <a:cs typeface="Helvetica"/>
              </a:rPr>
              <a:t>X  X</a:t>
            </a:r>
            <a:endParaRPr sz="1400" dirty="0">
              <a:latin typeface="Helvetica"/>
              <a:cs typeface="Helvetic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679435" y="4927219"/>
            <a:ext cx="16573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000FF"/>
                </a:solidFill>
                <a:latin typeface="Helvetica"/>
                <a:cs typeface="Helvetica"/>
              </a:rPr>
              <a:t>X</a:t>
            </a:r>
            <a:endParaRPr sz="1400">
              <a:latin typeface="Helvetica"/>
              <a:cs typeface="Helvetic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720205" y="4769670"/>
            <a:ext cx="175260" cy="43114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indent="9525">
              <a:lnSpc>
                <a:spcPct val="121600"/>
              </a:lnSpc>
              <a:spcBef>
                <a:spcPts val="95"/>
              </a:spcBef>
            </a:pPr>
            <a:r>
              <a:rPr sz="1400" b="1" dirty="0">
                <a:solidFill>
                  <a:srgbClr val="0000FF"/>
                </a:solidFill>
                <a:latin typeface="Helvetica"/>
                <a:cs typeface="Helvetica"/>
              </a:rPr>
              <a:t>X  X</a:t>
            </a:r>
            <a:endParaRPr sz="1400" dirty="0">
              <a:latin typeface="Helvetica"/>
              <a:cs typeface="Helvetica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983741" y="3553205"/>
            <a:ext cx="478790" cy="1905"/>
          </a:xfrm>
          <a:custGeom>
            <a:avLst/>
            <a:gdLst/>
            <a:ahLst/>
            <a:cxnLst/>
            <a:rect l="l" t="t" r="r" b="b"/>
            <a:pathLst>
              <a:path w="478790" h="1904">
                <a:moveTo>
                  <a:pt x="478536" y="0"/>
                </a:moveTo>
                <a:lnTo>
                  <a:pt x="0" y="1524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43" name="object 43"/>
          <p:cNvSpPr/>
          <p:nvPr/>
        </p:nvSpPr>
        <p:spPr>
          <a:xfrm>
            <a:off x="1703070" y="3367278"/>
            <a:ext cx="477520" cy="1905"/>
          </a:xfrm>
          <a:custGeom>
            <a:avLst/>
            <a:gdLst/>
            <a:ahLst/>
            <a:cxnLst/>
            <a:rect l="l" t="t" r="r" b="b"/>
            <a:pathLst>
              <a:path w="477519" h="1904">
                <a:moveTo>
                  <a:pt x="477012" y="0"/>
                </a:moveTo>
                <a:lnTo>
                  <a:pt x="0" y="1524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45" name="object 45"/>
          <p:cNvSpPr/>
          <p:nvPr/>
        </p:nvSpPr>
        <p:spPr>
          <a:xfrm>
            <a:off x="1224533" y="3036570"/>
            <a:ext cx="655320" cy="645160"/>
          </a:xfrm>
          <a:custGeom>
            <a:avLst/>
            <a:gdLst/>
            <a:ahLst/>
            <a:cxnLst/>
            <a:rect l="l" t="t" r="r" b="b"/>
            <a:pathLst>
              <a:path w="655319" h="645160">
                <a:moveTo>
                  <a:pt x="0" y="0"/>
                </a:moveTo>
                <a:lnTo>
                  <a:pt x="327659" y="0"/>
                </a:lnTo>
                <a:lnTo>
                  <a:pt x="376082" y="3493"/>
                </a:lnTo>
                <a:lnTo>
                  <a:pt x="422297" y="13643"/>
                </a:lnTo>
                <a:lnTo>
                  <a:pt x="465798" y="29951"/>
                </a:lnTo>
                <a:lnTo>
                  <a:pt x="506080" y="51919"/>
                </a:lnTo>
                <a:lnTo>
                  <a:pt x="542634" y="79048"/>
                </a:lnTo>
                <a:lnTo>
                  <a:pt x="574955" y="110840"/>
                </a:lnTo>
                <a:lnTo>
                  <a:pt x="602535" y="146799"/>
                </a:lnTo>
                <a:lnTo>
                  <a:pt x="624868" y="186424"/>
                </a:lnTo>
                <a:lnTo>
                  <a:pt x="641448" y="229220"/>
                </a:lnTo>
                <a:lnTo>
                  <a:pt x="651767" y="274686"/>
                </a:lnTo>
                <a:lnTo>
                  <a:pt x="655320" y="322325"/>
                </a:lnTo>
                <a:lnTo>
                  <a:pt x="651767" y="369965"/>
                </a:lnTo>
                <a:lnTo>
                  <a:pt x="641448" y="415431"/>
                </a:lnTo>
                <a:lnTo>
                  <a:pt x="624868" y="458227"/>
                </a:lnTo>
                <a:lnTo>
                  <a:pt x="602535" y="497852"/>
                </a:lnTo>
                <a:lnTo>
                  <a:pt x="574955" y="533811"/>
                </a:lnTo>
                <a:lnTo>
                  <a:pt x="542634" y="565603"/>
                </a:lnTo>
                <a:lnTo>
                  <a:pt x="506080" y="592732"/>
                </a:lnTo>
                <a:lnTo>
                  <a:pt x="465798" y="614700"/>
                </a:lnTo>
                <a:lnTo>
                  <a:pt x="422297" y="631008"/>
                </a:lnTo>
                <a:lnTo>
                  <a:pt x="376082" y="641158"/>
                </a:lnTo>
                <a:lnTo>
                  <a:pt x="327659" y="644651"/>
                </a:lnTo>
                <a:lnTo>
                  <a:pt x="0" y="644651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46" name="object 46"/>
          <p:cNvSpPr txBox="1"/>
          <p:nvPr/>
        </p:nvSpPr>
        <p:spPr>
          <a:xfrm>
            <a:off x="348183" y="2940714"/>
            <a:ext cx="1146175" cy="2596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32840" algn="l"/>
              </a:tabLst>
            </a:pPr>
            <a:r>
              <a:rPr sz="1600" b="1" i="1" spc="-5" dirty="0">
                <a:latin typeface="TimesNewRomanPS-BoldItalicMT"/>
                <a:cs typeface="TimesNewRomanPS-BoldItalicMT"/>
              </a:rPr>
              <a:t>A/1</a:t>
            </a:r>
            <a:r>
              <a:rPr sz="1600" b="1" i="1" spc="-155" dirty="0">
                <a:latin typeface="TimesNewRomanPS-BoldItalicMT"/>
                <a:cs typeface="TimesNewRomanPS-BoldItalicMT"/>
              </a:rPr>
              <a:t> </a:t>
            </a:r>
            <a:r>
              <a:rPr sz="1600" b="1" i="1" spc="-5" dirty="0">
                <a:latin typeface="TimesNewRomanPS-BoldItalicMT"/>
                <a:cs typeface="TimesNewRomanPS-BoldItalicMT"/>
              </a:rPr>
              <a:t>A</a:t>
            </a:r>
            <a:r>
              <a:rPr sz="1600" b="1" i="1" u="heavy" spc="-5" dirty="0">
                <a:uFill>
                  <a:solidFill>
                    <a:srgbClr val="000000"/>
                  </a:solidFill>
                </a:uFill>
                <a:latin typeface="TimesNewRomanPS-BoldItalicMT"/>
                <a:cs typeface="TimesNewRomanPS-BoldItalicMT"/>
              </a:rPr>
              <a:t>/0	</a:t>
            </a:r>
            <a:endParaRPr sz="1600" dirty="0">
              <a:latin typeface="TimesNewRomanPS-BoldItalicMT"/>
              <a:cs typeface="TimesNewRomanPS-BoldItalic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69519" y="3527552"/>
            <a:ext cx="822325" cy="2596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i="1" spc="-5" dirty="0">
                <a:latin typeface="TimesNewRomanPS-BoldItalicMT"/>
                <a:cs typeface="TimesNewRomanPS-BoldItalicMT"/>
              </a:rPr>
              <a:t>B/1</a:t>
            </a:r>
            <a:r>
              <a:rPr sz="1600" b="1" i="1" spc="-65" dirty="0">
                <a:latin typeface="TimesNewRomanPS-BoldItalicMT"/>
                <a:cs typeface="TimesNewRomanPS-BoldItalicMT"/>
              </a:rPr>
              <a:t> </a:t>
            </a:r>
            <a:r>
              <a:rPr sz="1600" b="1" i="1" spc="-5" dirty="0">
                <a:latin typeface="TimesNewRomanPS-BoldItalicMT"/>
                <a:cs typeface="TimesNewRomanPS-BoldItalicMT"/>
              </a:rPr>
              <a:t>B/0</a:t>
            </a:r>
            <a:endParaRPr sz="1600">
              <a:latin typeface="TimesNewRomanPS-BoldItalicMT"/>
              <a:cs typeface="TimesNewRomanPS-BoldItalic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911857" y="2999994"/>
            <a:ext cx="391795" cy="2596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i="1" spc="-5" dirty="0">
                <a:latin typeface="TimesNewRomanPS-BoldItalicMT"/>
                <a:cs typeface="TimesNewRomanPS-BoldItalicMT"/>
              </a:rPr>
              <a:t>C/1</a:t>
            </a:r>
            <a:endParaRPr sz="1600">
              <a:latin typeface="TimesNewRomanPS-BoldItalicMT"/>
              <a:cs typeface="TimesNewRomanPS-BoldItalic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901189" y="3327907"/>
            <a:ext cx="391795" cy="2596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i="1" spc="-5" dirty="0">
                <a:latin typeface="TimesNewRomanPS-BoldItalicMT"/>
                <a:cs typeface="TimesNewRomanPS-BoldItalicMT"/>
              </a:rPr>
              <a:t>C/0</a:t>
            </a:r>
            <a:endParaRPr sz="1600">
              <a:latin typeface="TimesNewRomanPS-BoldItalicMT"/>
              <a:cs typeface="TimesNewRomanPS-BoldItalicMT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2881122" y="3219450"/>
            <a:ext cx="478790" cy="1905"/>
          </a:xfrm>
          <a:custGeom>
            <a:avLst/>
            <a:gdLst/>
            <a:ahLst/>
            <a:cxnLst/>
            <a:rect l="l" t="t" r="r" b="b"/>
            <a:pathLst>
              <a:path w="478789" h="1905">
                <a:moveTo>
                  <a:pt x="478536" y="0"/>
                </a:moveTo>
                <a:lnTo>
                  <a:pt x="0" y="1524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51" name="object 51"/>
          <p:cNvSpPr/>
          <p:nvPr/>
        </p:nvSpPr>
        <p:spPr>
          <a:xfrm>
            <a:off x="2881122" y="3563873"/>
            <a:ext cx="478790" cy="1905"/>
          </a:xfrm>
          <a:custGeom>
            <a:avLst/>
            <a:gdLst/>
            <a:ahLst/>
            <a:cxnLst/>
            <a:rect l="l" t="t" r="r" b="b"/>
            <a:pathLst>
              <a:path w="478789" h="1904">
                <a:moveTo>
                  <a:pt x="478536" y="0"/>
                </a:moveTo>
                <a:lnTo>
                  <a:pt x="0" y="1524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52" name="object 52"/>
          <p:cNvSpPr/>
          <p:nvPr/>
        </p:nvSpPr>
        <p:spPr>
          <a:xfrm>
            <a:off x="3600450" y="3377946"/>
            <a:ext cx="477520" cy="1905"/>
          </a:xfrm>
          <a:custGeom>
            <a:avLst/>
            <a:gdLst/>
            <a:ahLst/>
            <a:cxnLst/>
            <a:rect l="l" t="t" r="r" b="b"/>
            <a:pathLst>
              <a:path w="477520" h="1904">
                <a:moveTo>
                  <a:pt x="477012" y="0"/>
                </a:moveTo>
                <a:lnTo>
                  <a:pt x="0" y="1524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53" name="object 53"/>
          <p:cNvSpPr/>
          <p:nvPr/>
        </p:nvSpPr>
        <p:spPr>
          <a:xfrm>
            <a:off x="3121914" y="3047238"/>
            <a:ext cx="655320" cy="645160"/>
          </a:xfrm>
          <a:custGeom>
            <a:avLst/>
            <a:gdLst/>
            <a:ahLst/>
            <a:cxnLst/>
            <a:rect l="l" t="t" r="r" b="b"/>
            <a:pathLst>
              <a:path w="655320" h="645160">
                <a:moveTo>
                  <a:pt x="327660" y="0"/>
                </a:moveTo>
                <a:lnTo>
                  <a:pt x="0" y="0"/>
                </a:lnTo>
                <a:lnTo>
                  <a:pt x="0" y="644651"/>
                </a:lnTo>
                <a:lnTo>
                  <a:pt x="327660" y="644651"/>
                </a:lnTo>
                <a:lnTo>
                  <a:pt x="376082" y="641158"/>
                </a:lnTo>
                <a:lnTo>
                  <a:pt x="422297" y="631008"/>
                </a:lnTo>
                <a:lnTo>
                  <a:pt x="465798" y="614700"/>
                </a:lnTo>
                <a:lnTo>
                  <a:pt x="506080" y="592732"/>
                </a:lnTo>
                <a:lnTo>
                  <a:pt x="542634" y="565603"/>
                </a:lnTo>
                <a:lnTo>
                  <a:pt x="574955" y="533811"/>
                </a:lnTo>
                <a:lnTo>
                  <a:pt x="602535" y="497852"/>
                </a:lnTo>
                <a:lnTo>
                  <a:pt x="624868" y="458227"/>
                </a:lnTo>
                <a:lnTo>
                  <a:pt x="641448" y="415431"/>
                </a:lnTo>
                <a:lnTo>
                  <a:pt x="651767" y="369965"/>
                </a:lnTo>
                <a:lnTo>
                  <a:pt x="655320" y="322325"/>
                </a:lnTo>
                <a:lnTo>
                  <a:pt x="651767" y="274686"/>
                </a:lnTo>
                <a:lnTo>
                  <a:pt x="641448" y="229220"/>
                </a:lnTo>
                <a:lnTo>
                  <a:pt x="624868" y="186424"/>
                </a:lnTo>
                <a:lnTo>
                  <a:pt x="602535" y="146799"/>
                </a:lnTo>
                <a:lnTo>
                  <a:pt x="574955" y="110840"/>
                </a:lnTo>
                <a:lnTo>
                  <a:pt x="542634" y="79048"/>
                </a:lnTo>
                <a:lnTo>
                  <a:pt x="506080" y="51919"/>
                </a:lnTo>
                <a:lnTo>
                  <a:pt x="465798" y="29951"/>
                </a:lnTo>
                <a:lnTo>
                  <a:pt x="422297" y="13643"/>
                </a:lnTo>
                <a:lnTo>
                  <a:pt x="376082" y="3493"/>
                </a:lnTo>
                <a:lnTo>
                  <a:pt x="3276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54" name="object 54"/>
          <p:cNvSpPr/>
          <p:nvPr/>
        </p:nvSpPr>
        <p:spPr>
          <a:xfrm>
            <a:off x="3121914" y="3047238"/>
            <a:ext cx="655320" cy="645160"/>
          </a:xfrm>
          <a:custGeom>
            <a:avLst/>
            <a:gdLst/>
            <a:ahLst/>
            <a:cxnLst/>
            <a:rect l="l" t="t" r="r" b="b"/>
            <a:pathLst>
              <a:path w="655320" h="645160">
                <a:moveTo>
                  <a:pt x="0" y="0"/>
                </a:moveTo>
                <a:lnTo>
                  <a:pt x="327660" y="0"/>
                </a:lnTo>
                <a:lnTo>
                  <a:pt x="376082" y="3493"/>
                </a:lnTo>
                <a:lnTo>
                  <a:pt x="422297" y="13643"/>
                </a:lnTo>
                <a:lnTo>
                  <a:pt x="465798" y="29951"/>
                </a:lnTo>
                <a:lnTo>
                  <a:pt x="506080" y="51919"/>
                </a:lnTo>
                <a:lnTo>
                  <a:pt x="542634" y="79048"/>
                </a:lnTo>
                <a:lnTo>
                  <a:pt x="574955" y="110840"/>
                </a:lnTo>
                <a:lnTo>
                  <a:pt x="602535" y="146799"/>
                </a:lnTo>
                <a:lnTo>
                  <a:pt x="624868" y="186424"/>
                </a:lnTo>
                <a:lnTo>
                  <a:pt x="641448" y="229220"/>
                </a:lnTo>
                <a:lnTo>
                  <a:pt x="651767" y="274686"/>
                </a:lnTo>
                <a:lnTo>
                  <a:pt x="655320" y="322325"/>
                </a:lnTo>
                <a:lnTo>
                  <a:pt x="651767" y="369965"/>
                </a:lnTo>
                <a:lnTo>
                  <a:pt x="641448" y="415431"/>
                </a:lnTo>
                <a:lnTo>
                  <a:pt x="624868" y="458227"/>
                </a:lnTo>
                <a:lnTo>
                  <a:pt x="602535" y="497852"/>
                </a:lnTo>
                <a:lnTo>
                  <a:pt x="574955" y="533811"/>
                </a:lnTo>
                <a:lnTo>
                  <a:pt x="542634" y="565603"/>
                </a:lnTo>
                <a:lnTo>
                  <a:pt x="506080" y="592732"/>
                </a:lnTo>
                <a:lnTo>
                  <a:pt x="465798" y="614700"/>
                </a:lnTo>
                <a:lnTo>
                  <a:pt x="422297" y="631008"/>
                </a:lnTo>
                <a:lnTo>
                  <a:pt x="376082" y="641158"/>
                </a:lnTo>
                <a:lnTo>
                  <a:pt x="327660" y="644651"/>
                </a:lnTo>
                <a:lnTo>
                  <a:pt x="0" y="644651"/>
                </a:lnTo>
                <a:lnTo>
                  <a:pt x="0" y="0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55" name="object 55"/>
          <p:cNvSpPr/>
          <p:nvPr/>
        </p:nvSpPr>
        <p:spPr>
          <a:xfrm>
            <a:off x="3764279" y="3323844"/>
            <a:ext cx="132587" cy="1234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56" name="object 56"/>
          <p:cNvSpPr/>
          <p:nvPr/>
        </p:nvSpPr>
        <p:spPr>
          <a:xfrm>
            <a:off x="4926329" y="3240785"/>
            <a:ext cx="478790" cy="1905"/>
          </a:xfrm>
          <a:custGeom>
            <a:avLst/>
            <a:gdLst/>
            <a:ahLst/>
            <a:cxnLst/>
            <a:rect l="l" t="t" r="r" b="b"/>
            <a:pathLst>
              <a:path w="478789" h="1905">
                <a:moveTo>
                  <a:pt x="478536" y="0"/>
                </a:moveTo>
                <a:lnTo>
                  <a:pt x="0" y="1524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57" name="object 57"/>
          <p:cNvSpPr/>
          <p:nvPr/>
        </p:nvSpPr>
        <p:spPr>
          <a:xfrm>
            <a:off x="4926329" y="3583685"/>
            <a:ext cx="478790" cy="1905"/>
          </a:xfrm>
          <a:custGeom>
            <a:avLst/>
            <a:gdLst/>
            <a:ahLst/>
            <a:cxnLst/>
            <a:rect l="l" t="t" r="r" b="b"/>
            <a:pathLst>
              <a:path w="478789" h="1904">
                <a:moveTo>
                  <a:pt x="478536" y="0"/>
                </a:moveTo>
                <a:lnTo>
                  <a:pt x="0" y="1524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58" name="object 58"/>
          <p:cNvSpPr/>
          <p:nvPr/>
        </p:nvSpPr>
        <p:spPr>
          <a:xfrm>
            <a:off x="5645658" y="3397758"/>
            <a:ext cx="477520" cy="1905"/>
          </a:xfrm>
          <a:custGeom>
            <a:avLst/>
            <a:gdLst/>
            <a:ahLst/>
            <a:cxnLst/>
            <a:rect l="l" t="t" r="r" b="b"/>
            <a:pathLst>
              <a:path w="477520" h="1904">
                <a:moveTo>
                  <a:pt x="477012" y="0"/>
                </a:moveTo>
                <a:lnTo>
                  <a:pt x="0" y="1524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59" name="object 59"/>
          <p:cNvSpPr/>
          <p:nvPr/>
        </p:nvSpPr>
        <p:spPr>
          <a:xfrm>
            <a:off x="5071109" y="3036570"/>
            <a:ext cx="721360" cy="719455"/>
          </a:xfrm>
          <a:custGeom>
            <a:avLst/>
            <a:gdLst/>
            <a:ahLst/>
            <a:cxnLst/>
            <a:rect l="l" t="t" r="r" b="b"/>
            <a:pathLst>
              <a:path w="721360" h="719454">
                <a:moveTo>
                  <a:pt x="0" y="0"/>
                </a:moveTo>
                <a:lnTo>
                  <a:pt x="27101" y="44000"/>
                </a:lnTo>
                <a:lnTo>
                  <a:pt x="50589" y="88384"/>
                </a:lnTo>
                <a:lnTo>
                  <a:pt x="70464" y="133096"/>
                </a:lnTo>
                <a:lnTo>
                  <a:pt x="86725" y="178081"/>
                </a:lnTo>
                <a:lnTo>
                  <a:pt x="99372" y="223285"/>
                </a:lnTo>
                <a:lnTo>
                  <a:pt x="108406" y="268654"/>
                </a:lnTo>
                <a:lnTo>
                  <a:pt x="113826" y="314131"/>
                </a:lnTo>
                <a:lnTo>
                  <a:pt x="115633" y="359663"/>
                </a:lnTo>
                <a:lnTo>
                  <a:pt x="113826" y="405196"/>
                </a:lnTo>
                <a:lnTo>
                  <a:pt x="108406" y="450673"/>
                </a:lnTo>
                <a:lnTo>
                  <a:pt x="99372" y="496042"/>
                </a:lnTo>
                <a:lnTo>
                  <a:pt x="86725" y="541246"/>
                </a:lnTo>
                <a:lnTo>
                  <a:pt x="70464" y="586231"/>
                </a:lnTo>
                <a:lnTo>
                  <a:pt x="50589" y="630943"/>
                </a:lnTo>
                <a:lnTo>
                  <a:pt x="27101" y="675327"/>
                </a:lnTo>
                <a:lnTo>
                  <a:pt x="0" y="719327"/>
                </a:lnTo>
                <a:lnTo>
                  <a:pt x="62202" y="718007"/>
                </a:lnTo>
                <a:lnTo>
                  <a:pt x="122933" y="714118"/>
                </a:lnTo>
                <a:lnTo>
                  <a:pt x="181979" y="707769"/>
                </a:lnTo>
                <a:lnTo>
                  <a:pt x="239122" y="699067"/>
                </a:lnTo>
                <a:lnTo>
                  <a:pt x="294145" y="688121"/>
                </a:lnTo>
                <a:lnTo>
                  <a:pt x="346834" y="675038"/>
                </a:lnTo>
                <a:lnTo>
                  <a:pt x="396971" y="659926"/>
                </a:lnTo>
                <a:lnTo>
                  <a:pt x="444340" y="642894"/>
                </a:lnTo>
                <a:lnTo>
                  <a:pt x="488724" y="624049"/>
                </a:lnTo>
                <a:lnTo>
                  <a:pt x="529908" y="603500"/>
                </a:lnTo>
                <a:lnTo>
                  <a:pt x="567676" y="581354"/>
                </a:lnTo>
                <a:lnTo>
                  <a:pt x="601810" y="557719"/>
                </a:lnTo>
                <a:lnTo>
                  <a:pt x="632094" y="532704"/>
                </a:lnTo>
                <a:lnTo>
                  <a:pt x="680250" y="478963"/>
                </a:lnTo>
                <a:lnTo>
                  <a:pt x="710413" y="420995"/>
                </a:lnTo>
                <a:lnTo>
                  <a:pt x="720851" y="359663"/>
                </a:lnTo>
                <a:lnTo>
                  <a:pt x="718206" y="328632"/>
                </a:lnTo>
                <a:lnTo>
                  <a:pt x="697689" y="268874"/>
                </a:lnTo>
                <a:lnTo>
                  <a:pt x="658313" y="212912"/>
                </a:lnTo>
                <a:lnTo>
                  <a:pt x="601810" y="161608"/>
                </a:lnTo>
                <a:lnTo>
                  <a:pt x="567676" y="137973"/>
                </a:lnTo>
                <a:lnTo>
                  <a:pt x="529908" y="115827"/>
                </a:lnTo>
                <a:lnTo>
                  <a:pt x="488724" y="95278"/>
                </a:lnTo>
                <a:lnTo>
                  <a:pt x="444340" y="76433"/>
                </a:lnTo>
                <a:lnTo>
                  <a:pt x="396971" y="59401"/>
                </a:lnTo>
                <a:lnTo>
                  <a:pt x="346834" y="44289"/>
                </a:lnTo>
                <a:lnTo>
                  <a:pt x="294145" y="31206"/>
                </a:lnTo>
                <a:lnTo>
                  <a:pt x="239122" y="20260"/>
                </a:lnTo>
                <a:lnTo>
                  <a:pt x="181979" y="11558"/>
                </a:lnTo>
                <a:lnTo>
                  <a:pt x="122933" y="5209"/>
                </a:lnTo>
                <a:lnTo>
                  <a:pt x="62202" y="13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60" name="object 60"/>
          <p:cNvSpPr/>
          <p:nvPr/>
        </p:nvSpPr>
        <p:spPr>
          <a:xfrm>
            <a:off x="5071109" y="3036570"/>
            <a:ext cx="721360" cy="719455"/>
          </a:xfrm>
          <a:custGeom>
            <a:avLst/>
            <a:gdLst/>
            <a:ahLst/>
            <a:cxnLst/>
            <a:rect l="l" t="t" r="r" b="b"/>
            <a:pathLst>
              <a:path w="721360" h="719454">
                <a:moveTo>
                  <a:pt x="0" y="719327"/>
                </a:moveTo>
                <a:lnTo>
                  <a:pt x="62202" y="718007"/>
                </a:lnTo>
                <a:lnTo>
                  <a:pt x="122933" y="714118"/>
                </a:lnTo>
                <a:lnTo>
                  <a:pt x="181979" y="707769"/>
                </a:lnTo>
                <a:lnTo>
                  <a:pt x="239122" y="699067"/>
                </a:lnTo>
                <a:lnTo>
                  <a:pt x="294145" y="688121"/>
                </a:lnTo>
                <a:lnTo>
                  <a:pt x="346834" y="675038"/>
                </a:lnTo>
                <a:lnTo>
                  <a:pt x="396971" y="659926"/>
                </a:lnTo>
                <a:lnTo>
                  <a:pt x="444340" y="642894"/>
                </a:lnTo>
                <a:lnTo>
                  <a:pt x="488724" y="624049"/>
                </a:lnTo>
                <a:lnTo>
                  <a:pt x="529908" y="603500"/>
                </a:lnTo>
                <a:lnTo>
                  <a:pt x="567676" y="581354"/>
                </a:lnTo>
                <a:lnTo>
                  <a:pt x="601810" y="557719"/>
                </a:lnTo>
                <a:lnTo>
                  <a:pt x="632094" y="532704"/>
                </a:lnTo>
                <a:lnTo>
                  <a:pt x="680250" y="478963"/>
                </a:lnTo>
                <a:lnTo>
                  <a:pt x="710413" y="420995"/>
                </a:lnTo>
                <a:lnTo>
                  <a:pt x="720851" y="359663"/>
                </a:lnTo>
                <a:lnTo>
                  <a:pt x="718206" y="328632"/>
                </a:lnTo>
                <a:lnTo>
                  <a:pt x="697689" y="268874"/>
                </a:lnTo>
                <a:lnTo>
                  <a:pt x="658313" y="212912"/>
                </a:lnTo>
                <a:lnTo>
                  <a:pt x="601810" y="161608"/>
                </a:lnTo>
                <a:lnTo>
                  <a:pt x="567676" y="137973"/>
                </a:lnTo>
                <a:lnTo>
                  <a:pt x="529908" y="115827"/>
                </a:lnTo>
                <a:lnTo>
                  <a:pt x="488724" y="95278"/>
                </a:lnTo>
                <a:lnTo>
                  <a:pt x="444340" y="76433"/>
                </a:lnTo>
                <a:lnTo>
                  <a:pt x="396971" y="59401"/>
                </a:lnTo>
                <a:lnTo>
                  <a:pt x="346834" y="44289"/>
                </a:lnTo>
                <a:lnTo>
                  <a:pt x="294145" y="31206"/>
                </a:lnTo>
                <a:lnTo>
                  <a:pt x="239122" y="20260"/>
                </a:lnTo>
                <a:lnTo>
                  <a:pt x="181979" y="11558"/>
                </a:lnTo>
                <a:lnTo>
                  <a:pt x="122933" y="5209"/>
                </a:lnTo>
                <a:lnTo>
                  <a:pt x="62202" y="1320"/>
                </a:lnTo>
                <a:lnTo>
                  <a:pt x="0" y="0"/>
                </a:lnTo>
                <a:lnTo>
                  <a:pt x="27101" y="44000"/>
                </a:lnTo>
                <a:lnTo>
                  <a:pt x="50589" y="88384"/>
                </a:lnTo>
                <a:lnTo>
                  <a:pt x="70464" y="133096"/>
                </a:lnTo>
                <a:lnTo>
                  <a:pt x="86725" y="178081"/>
                </a:lnTo>
                <a:lnTo>
                  <a:pt x="99372" y="223285"/>
                </a:lnTo>
                <a:lnTo>
                  <a:pt x="108406" y="268654"/>
                </a:lnTo>
                <a:lnTo>
                  <a:pt x="113826" y="314131"/>
                </a:lnTo>
                <a:lnTo>
                  <a:pt x="115633" y="359663"/>
                </a:lnTo>
                <a:lnTo>
                  <a:pt x="113826" y="405196"/>
                </a:lnTo>
                <a:lnTo>
                  <a:pt x="108406" y="450673"/>
                </a:lnTo>
                <a:lnTo>
                  <a:pt x="99372" y="496042"/>
                </a:lnTo>
                <a:lnTo>
                  <a:pt x="86725" y="541246"/>
                </a:lnTo>
                <a:lnTo>
                  <a:pt x="70464" y="586231"/>
                </a:lnTo>
                <a:lnTo>
                  <a:pt x="50589" y="630943"/>
                </a:lnTo>
                <a:lnTo>
                  <a:pt x="27101" y="675327"/>
                </a:lnTo>
                <a:lnTo>
                  <a:pt x="0" y="719327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61" name="object 61"/>
          <p:cNvSpPr/>
          <p:nvPr/>
        </p:nvSpPr>
        <p:spPr>
          <a:xfrm>
            <a:off x="6660642" y="3230117"/>
            <a:ext cx="477520" cy="1905"/>
          </a:xfrm>
          <a:custGeom>
            <a:avLst/>
            <a:gdLst/>
            <a:ahLst/>
            <a:cxnLst/>
            <a:rect l="l" t="t" r="r" b="b"/>
            <a:pathLst>
              <a:path w="477520" h="1905">
                <a:moveTo>
                  <a:pt x="477011" y="0"/>
                </a:moveTo>
                <a:lnTo>
                  <a:pt x="0" y="1524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62" name="object 62"/>
          <p:cNvSpPr/>
          <p:nvPr/>
        </p:nvSpPr>
        <p:spPr>
          <a:xfrm>
            <a:off x="6660642" y="3574541"/>
            <a:ext cx="477520" cy="1905"/>
          </a:xfrm>
          <a:custGeom>
            <a:avLst/>
            <a:gdLst/>
            <a:ahLst/>
            <a:cxnLst/>
            <a:rect l="l" t="t" r="r" b="b"/>
            <a:pathLst>
              <a:path w="477520" h="1904">
                <a:moveTo>
                  <a:pt x="477011" y="0"/>
                </a:moveTo>
                <a:lnTo>
                  <a:pt x="0" y="1524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63" name="object 63"/>
          <p:cNvSpPr/>
          <p:nvPr/>
        </p:nvSpPr>
        <p:spPr>
          <a:xfrm>
            <a:off x="7378445" y="3387090"/>
            <a:ext cx="478790" cy="1905"/>
          </a:xfrm>
          <a:custGeom>
            <a:avLst/>
            <a:gdLst/>
            <a:ahLst/>
            <a:cxnLst/>
            <a:rect l="l" t="t" r="r" b="b"/>
            <a:pathLst>
              <a:path w="478790" h="1904">
                <a:moveTo>
                  <a:pt x="478535" y="0"/>
                </a:moveTo>
                <a:lnTo>
                  <a:pt x="0" y="1524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64" name="object 64"/>
          <p:cNvSpPr/>
          <p:nvPr/>
        </p:nvSpPr>
        <p:spPr>
          <a:xfrm>
            <a:off x="6803897" y="3025901"/>
            <a:ext cx="722630" cy="719455"/>
          </a:xfrm>
          <a:custGeom>
            <a:avLst/>
            <a:gdLst/>
            <a:ahLst/>
            <a:cxnLst/>
            <a:rect l="l" t="t" r="r" b="b"/>
            <a:pathLst>
              <a:path w="722629" h="719454">
                <a:moveTo>
                  <a:pt x="0" y="0"/>
                </a:moveTo>
                <a:lnTo>
                  <a:pt x="27146" y="44000"/>
                </a:lnTo>
                <a:lnTo>
                  <a:pt x="50673" y="88384"/>
                </a:lnTo>
                <a:lnTo>
                  <a:pt x="70580" y="133096"/>
                </a:lnTo>
                <a:lnTo>
                  <a:pt x="86868" y="178081"/>
                </a:lnTo>
                <a:lnTo>
                  <a:pt x="99536" y="223285"/>
                </a:lnTo>
                <a:lnTo>
                  <a:pt x="108584" y="268654"/>
                </a:lnTo>
                <a:lnTo>
                  <a:pt x="114014" y="314131"/>
                </a:lnTo>
                <a:lnTo>
                  <a:pt x="115824" y="359663"/>
                </a:lnTo>
                <a:lnTo>
                  <a:pt x="114014" y="405196"/>
                </a:lnTo>
                <a:lnTo>
                  <a:pt x="108584" y="450673"/>
                </a:lnTo>
                <a:lnTo>
                  <a:pt x="99536" y="496042"/>
                </a:lnTo>
                <a:lnTo>
                  <a:pt x="86868" y="541246"/>
                </a:lnTo>
                <a:lnTo>
                  <a:pt x="70580" y="586231"/>
                </a:lnTo>
                <a:lnTo>
                  <a:pt x="50673" y="630943"/>
                </a:lnTo>
                <a:lnTo>
                  <a:pt x="27146" y="675327"/>
                </a:lnTo>
                <a:lnTo>
                  <a:pt x="0" y="719328"/>
                </a:lnTo>
                <a:lnTo>
                  <a:pt x="62322" y="718007"/>
                </a:lnTo>
                <a:lnTo>
                  <a:pt x="123173" y="714118"/>
                </a:lnTo>
                <a:lnTo>
                  <a:pt x="182337" y="707769"/>
                </a:lnTo>
                <a:lnTo>
                  <a:pt x="239596" y="699067"/>
                </a:lnTo>
                <a:lnTo>
                  <a:pt x="294733" y="688121"/>
                </a:lnTo>
                <a:lnTo>
                  <a:pt x="347532" y="675038"/>
                </a:lnTo>
                <a:lnTo>
                  <a:pt x="397775" y="659926"/>
                </a:lnTo>
                <a:lnTo>
                  <a:pt x="445245" y="642894"/>
                </a:lnTo>
                <a:lnTo>
                  <a:pt x="489726" y="624049"/>
                </a:lnTo>
                <a:lnTo>
                  <a:pt x="531000" y="603500"/>
                </a:lnTo>
                <a:lnTo>
                  <a:pt x="568851" y="581354"/>
                </a:lnTo>
                <a:lnTo>
                  <a:pt x="603062" y="557719"/>
                </a:lnTo>
                <a:lnTo>
                  <a:pt x="633414" y="532704"/>
                </a:lnTo>
                <a:lnTo>
                  <a:pt x="681680" y="478963"/>
                </a:lnTo>
                <a:lnTo>
                  <a:pt x="711912" y="420995"/>
                </a:lnTo>
                <a:lnTo>
                  <a:pt x="722376" y="359663"/>
                </a:lnTo>
                <a:lnTo>
                  <a:pt x="719724" y="328632"/>
                </a:lnTo>
                <a:lnTo>
                  <a:pt x="699159" y="268874"/>
                </a:lnTo>
                <a:lnTo>
                  <a:pt x="659693" y="212912"/>
                </a:lnTo>
                <a:lnTo>
                  <a:pt x="603062" y="161608"/>
                </a:lnTo>
                <a:lnTo>
                  <a:pt x="568851" y="137973"/>
                </a:lnTo>
                <a:lnTo>
                  <a:pt x="531000" y="115827"/>
                </a:lnTo>
                <a:lnTo>
                  <a:pt x="489726" y="95278"/>
                </a:lnTo>
                <a:lnTo>
                  <a:pt x="445245" y="76433"/>
                </a:lnTo>
                <a:lnTo>
                  <a:pt x="397775" y="59401"/>
                </a:lnTo>
                <a:lnTo>
                  <a:pt x="347532" y="44289"/>
                </a:lnTo>
                <a:lnTo>
                  <a:pt x="294733" y="31206"/>
                </a:lnTo>
                <a:lnTo>
                  <a:pt x="239596" y="20260"/>
                </a:lnTo>
                <a:lnTo>
                  <a:pt x="182337" y="11558"/>
                </a:lnTo>
                <a:lnTo>
                  <a:pt x="123173" y="5209"/>
                </a:lnTo>
                <a:lnTo>
                  <a:pt x="62322" y="13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65" name="object 65"/>
          <p:cNvSpPr/>
          <p:nvPr/>
        </p:nvSpPr>
        <p:spPr>
          <a:xfrm>
            <a:off x="6803897" y="3025901"/>
            <a:ext cx="722630" cy="719455"/>
          </a:xfrm>
          <a:custGeom>
            <a:avLst/>
            <a:gdLst/>
            <a:ahLst/>
            <a:cxnLst/>
            <a:rect l="l" t="t" r="r" b="b"/>
            <a:pathLst>
              <a:path w="722629" h="719454">
                <a:moveTo>
                  <a:pt x="0" y="719328"/>
                </a:moveTo>
                <a:lnTo>
                  <a:pt x="62322" y="718007"/>
                </a:lnTo>
                <a:lnTo>
                  <a:pt x="123173" y="714118"/>
                </a:lnTo>
                <a:lnTo>
                  <a:pt x="182337" y="707769"/>
                </a:lnTo>
                <a:lnTo>
                  <a:pt x="239596" y="699067"/>
                </a:lnTo>
                <a:lnTo>
                  <a:pt x="294733" y="688121"/>
                </a:lnTo>
                <a:lnTo>
                  <a:pt x="347532" y="675038"/>
                </a:lnTo>
                <a:lnTo>
                  <a:pt x="397775" y="659926"/>
                </a:lnTo>
                <a:lnTo>
                  <a:pt x="445245" y="642894"/>
                </a:lnTo>
                <a:lnTo>
                  <a:pt x="489726" y="624049"/>
                </a:lnTo>
                <a:lnTo>
                  <a:pt x="531000" y="603500"/>
                </a:lnTo>
                <a:lnTo>
                  <a:pt x="568851" y="581354"/>
                </a:lnTo>
                <a:lnTo>
                  <a:pt x="603062" y="557719"/>
                </a:lnTo>
                <a:lnTo>
                  <a:pt x="633414" y="532704"/>
                </a:lnTo>
                <a:lnTo>
                  <a:pt x="681680" y="478963"/>
                </a:lnTo>
                <a:lnTo>
                  <a:pt x="711912" y="420995"/>
                </a:lnTo>
                <a:lnTo>
                  <a:pt x="722376" y="359663"/>
                </a:lnTo>
                <a:lnTo>
                  <a:pt x="719724" y="328632"/>
                </a:lnTo>
                <a:lnTo>
                  <a:pt x="699159" y="268874"/>
                </a:lnTo>
                <a:lnTo>
                  <a:pt x="659693" y="212912"/>
                </a:lnTo>
                <a:lnTo>
                  <a:pt x="603062" y="161608"/>
                </a:lnTo>
                <a:lnTo>
                  <a:pt x="568851" y="137973"/>
                </a:lnTo>
                <a:lnTo>
                  <a:pt x="531000" y="115827"/>
                </a:lnTo>
                <a:lnTo>
                  <a:pt x="489726" y="95278"/>
                </a:lnTo>
                <a:lnTo>
                  <a:pt x="445245" y="76433"/>
                </a:lnTo>
                <a:lnTo>
                  <a:pt x="397775" y="59401"/>
                </a:lnTo>
                <a:lnTo>
                  <a:pt x="347532" y="44289"/>
                </a:lnTo>
                <a:lnTo>
                  <a:pt x="294733" y="31206"/>
                </a:lnTo>
                <a:lnTo>
                  <a:pt x="239596" y="20260"/>
                </a:lnTo>
                <a:lnTo>
                  <a:pt x="182337" y="11558"/>
                </a:lnTo>
                <a:lnTo>
                  <a:pt x="123173" y="5209"/>
                </a:lnTo>
                <a:lnTo>
                  <a:pt x="62322" y="1320"/>
                </a:lnTo>
                <a:lnTo>
                  <a:pt x="0" y="0"/>
                </a:lnTo>
                <a:lnTo>
                  <a:pt x="27146" y="44000"/>
                </a:lnTo>
                <a:lnTo>
                  <a:pt x="50673" y="88384"/>
                </a:lnTo>
                <a:lnTo>
                  <a:pt x="70580" y="133096"/>
                </a:lnTo>
                <a:lnTo>
                  <a:pt x="86868" y="178081"/>
                </a:lnTo>
                <a:lnTo>
                  <a:pt x="99536" y="223285"/>
                </a:lnTo>
                <a:lnTo>
                  <a:pt x="108584" y="268654"/>
                </a:lnTo>
                <a:lnTo>
                  <a:pt x="114014" y="314131"/>
                </a:lnTo>
                <a:lnTo>
                  <a:pt x="115824" y="359663"/>
                </a:lnTo>
                <a:lnTo>
                  <a:pt x="114014" y="405196"/>
                </a:lnTo>
                <a:lnTo>
                  <a:pt x="108584" y="450673"/>
                </a:lnTo>
                <a:lnTo>
                  <a:pt x="99536" y="496042"/>
                </a:lnTo>
                <a:lnTo>
                  <a:pt x="86868" y="541246"/>
                </a:lnTo>
                <a:lnTo>
                  <a:pt x="70580" y="586231"/>
                </a:lnTo>
                <a:lnTo>
                  <a:pt x="50673" y="630943"/>
                </a:lnTo>
                <a:lnTo>
                  <a:pt x="27146" y="675327"/>
                </a:lnTo>
                <a:lnTo>
                  <a:pt x="0" y="719328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66" name="object 66"/>
          <p:cNvSpPr/>
          <p:nvPr/>
        </p:nvSpPr>
        <p:spPr>
          <a:xfrm>
            <a:off x="7516368" y="3334511"/>
            <a:ext cx="132587" cy="1234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67" name="object 67"/>
          <p:cNvSpPr txBox="1"/>
          <p:nvPr/>
        </p:nvSpPr>
        <p:spPr>
          <a:xfrm>
            <a:off x="1877695" y="3198114"/>
            <a:ext cx="33083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FF0000"/>
                </a:solidFill>
                <a:latin typeface="Helvetica"/>
                <a:cs typeface="Helvetica"/>
              </a:rPr>
              <a:t>X</a:t>
            </a:r>
            <a:r>
              <a:rPr sz="1400" b="1" dirty="0">
                <a:solidFill>
                  <a:srgbClr val="0000FF"/>
                </a:solidFill>
                <a:latin typeface="Helvetica"/>
                <a:cs typeface="Helvetica"/>
              </a:rPr>
              <a:t>X</a:t>
            </a:r>
            <a:endParaRPr sz="1400">
              <a:latin typeface="Helvetica"/>
              <a:cs typeface="Helvetica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887069" y="3124532"/>
            <a:ext cx="31115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55" dirty="0">
                <a:solidFill>
                  <a:srgbClr val="FF0000"/>
                </a:solidFill>
                <a:latin typeface="Helvetica"/>
                <a:cs typeface="Helvetica"/>
              </a:rPr>
              <a:t>X</a:t>
            </a:r>
            <a:r>
              <a:rPr sz="1400" b="1" dirty="0">
                <a:solidFill>
                  <a:srgbClr val="0000FF"/>
                </a:solidFill>
                <a:latin typeface="Helvetica"/>
                <a:cs typeface="Helvetica"/>
              </a:rPr>
              <a:t>X</a:t>
            </a:r>
            <a:endParaRPr sz="1400" dirty="0">
              <a:latin typeface="Helvetica"/>
              <a:cs typeface="Helvetica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877316" y="3388614"/>
            <a:ext cx="31178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50" dirty="0">
                <a:solidFill>
                  <a:srgbClr val="FF0000"/>
                </a:solidFill>
                <a:latin typeface="Helvetica"/>
                <a:cs typeface="Helvetica"/>
              </a:rPr>
              <a:t>X</a:t>
            </a:r>
            <a:r>
              <a:rPr sz="1400" b="1" dirty="0">
                <a:solidFill>
                  <a:srgbClr val="0000FF"/>
                </a:solidFill>
                <a:latin typeface="Helvetica"/>
                <a:cs typeface="Helvetica"/>
              </a:rPr>
              <a:t>X</a:t>
            </a:r>
            <a:endParaRPr sz="1400">
              <a:latin typeface="Helvetica"/>
              <a:cs typeface="Helvetic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830573" y="3207511"/>
            <a:ext cx="33083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FF0000"/>
                </a:solidFill>
                <a:latin typeface="Helvetica"/>
                <a:cs typeface="Helvetica"/>
              </a:rPr>
              <a:t>X</a:t>
            </a:r>
            <a:r>
              <a:rPr sz="1400" b="1" dirty="0">
                <a:solidFill>
                  <a:srgbClr val="0000FF"/>
                </a:solidFill>
                <a:latin typeface="Helvetica"/>
                <a:cs typeface="Helvetica"/>
              </a:rPr>
              <a:t>X</a:t>
            </a:r>
            <a:endParaRPr sz="1400">
              <a:latin typeface="Helvetica"/>
              <a:cs typeface="Helvetic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2839973" y="3064509"/>
            <a:ext cx="31115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55" dirty="0">
                <a:solidFill>
                  <a:srgbClr val="FF0000"/>
                </a:solidFill>
                <a:latin typeface="Helvetica"/>
                <a:cs typeface="Helvetica"/>
              </a:rPr>
              <a:t>X</a:t>
            </a:r>
            <a:r>
              <a:rPr sz="1400" b="1" dirty="0">
                <a:solidFill>
                  <a:srgbClr val="0000FF"/>
                </a:solidFill>
                <a:latin typeface="Helvetica"/>
                <a:cs typeface="Helvetica"/>
              </a:rPr>
              <a:t>X</a:t>
            </a:r>
            <a:endParaRPr sz="1400">
              <a:latin typeface="Helvetica"/>
              <a:cs typeface="Helvetic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2830448" y="3398011"/>
            <a:ext cx="31115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55" dirty="0">
                <a:solidFill>
                  <a:srgbClr val="FF0000"/>
                </a:solidFill>
                <a:latin typeface="Helvetica"/>
                <a:cs typeface="Helvetica"/>
              </a:rPr>
              <a:t>X</a:t>
            </a:r>
            <a:r>
              <a:rPr sz="1400" b="1" dirty="0">
                <a:solidFill>
                  <a:srgbClr val="0000FF"/>
                </a:solidFill>
                <a:latin typeface="Helvetica"/>
                <a:cs typeface="Helvetica"/>
              </a:rPr>
              <a:t>X</a:t>
            </a:r>
            <a:endParaRPr sz="1400">
              <a:latin typeface="Helvetica"/>
              <a:cs typeface="Helvetica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5821807" y="3216909"/>
            <a:ext cx="33083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FF0000"/>
                </a:solidFill>
                <a:latin typeface="Helvetica"/>
                <a:cs typeface="Helvetica"/>
              </a:rPr>
              <a:t>X</a:t>
            </a:r>
            <a:r>
              <a:rPr sz="1400" b="1" dirty="0">
                <a:solidFill>
                  <a:srgbClr val="0000FF"/>
                </a:solidFill>
                <a:latin typeface="Helvetica"/>
                <a:cs typeface="Helvetica"/>
              </a:rPr>
              <a:t>X</a:t>
            </a:r>
            <a:endParaRPr sz="1400">
              <a:latin typeface="Helvetica"/>
              <a:cs typeface="Helvetica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4830826" y="3073730"/>
            <a:ext cx="31178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55" dirty="0">
                <a:solidFill>
                  <a:srgbClr val="FF0000"/>
                </a:solidFill>
                <a:latin typeface="Helvetica"/>
                <a:cs typeface="Helvetica"/>
              </a:rPr>
              <a:t>X</a:t>
            </a:r>
            <a:r>
              <a:rPr sz="1400" b="1" dirty="0">
                <a:solidFill>
                  <a:srgbClr val="0000FF"/>
                </a:solidFill>
                <a:latin typeface="Helvetica"/>
                <a:cs typeface="Helvetica"/>
              </a:rPr>
              <a:t>X</a:t>
            </a:r>
            <a:endParaRPr sz="1400">
              <a:latin typeface="Helvetica"/>
              <a:cs typeface="Helvetica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4821428" y="3407105"/>
            <a:ext cx="31178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55" dirty="0">
                <a:solidFill>
                  <a:srgbClr val="FF0000"/>
                </a:solidFill>
                <a:latin typeface="Helvetica"/>
                <a:cs typeface="Helvetica"/>
              </a:rPr>
              <a:t>X</a:t>
            </a:r>
            <a:r>
              <a:rPr sz="1400" b="1" dirty="0">
                <a:solidFill>
                  <a:srgbClr val="0000FF"/>
                </a:solidFill>
                <a:latin typeface="Helvetica"/>
                <a:cs typeface="Helvetica"/>
              </a:rPr>
              <a:t>X</a:t>
            </a:r>
            <a:endParaRPr sz="1400">
              <a:latin typeface="Helvetica"/>
              <a:cs typeface="Helvetica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7612760" y="3226689"/>
            <a:ext cx="33083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FF0000"/>
                </a:solidFill>
                <a:latin typeface="Helvetica"/>
                <a:cs typeface="Helvetica"/>
              </a:rPr>
              <a:t>X</a:t>
            </a:r>
            <a:r>
              <a:rPr sz="1400" b="1" dirty="0">
                <a:solidFill>
                  <a:srgbClr val="0000FF"/>
                </a:solidFill>
                <a:latin typeface="Helvetica"/>
                <a:cs typeface="Helvetica"/>
              </a:rPr>
              <a:t>X</a:t>
            </a:r>
            <a:endParaRPr sz="1400">
              <a:latin typeface="Helvetica"/>
              <a:cs typeface="Helvetica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6621906" y="3083814"/>
            <a:ext cx="31178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50" dirty="0">
                <a:solidFill>
                  <a:srgbClr val="FF0000"/>
                </a:solidFill>
                <a:latin typeface="Helvetica"/>
                <a:cs typeface="Helvetica"/>
              </a:rPr>
              <a:t>X</a:t>
            </a:r>
            <a:r>
              <a:rPr sz="1400" b="1" dirty="0">
                <a:solidFill>
                  <a:srgbClr val="0000FF"/>
                </a:solidFill>
                <a:latin typeface="Helvetica"/>
                <a:cs typeface="Helvetica"/>
              </a:rPr>
              <a:t>X</a:t>
            </a:r>
            <a:endParaRPr sz="1400">
              <a:latin typeface="Helvetica"/>
              <a:cs typeface="Helvetic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6612381" y="3417189"/>
            <a:ext cx="31115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55" dirty="0">
                <a:solidFill>
                  <a:srgbClr val="FF0000"/>
                </a:solidFill>
                <a:latin typeface="Helvetica"/>
                <a:cs typeface="Helvetica"/>
              </a:rPr>
              <a:t>X</a:t>
            </a:r>
            <a:r>
              <a:rPr sz="1400" b="1" dirty="0">
                <a:solidFill>
                  <a:srgbClr val="0000FF"/>
                </a:solidFill>
                <a:latin typeface="Helvetica"/>
                <a:cs typeface="Helvetica"/>
              </a:rPr>
              <a:t>X</a:t>
            </a:r>
            <a:endParaRPr sz="1400">
              <a:latin typeface="Helvetica"/>
              <a:cs typeface="Helvetica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1201363" y="3875705"/>
            <a:ext cx="441959" cy="497205"/>
          </a:xfrm>
          <a:custGeom>
            <a:avLst/>
            <a:gdLst/>
            <a:ahLst/>
            <a:cxnLst/>
            <a:rect l="l" t="t" r="r" b="b"/>
            <a:pathLst>
              <a:path w="441960" h="497204">
                <a:moveTo>
                  <a:pt x="441959" y="275844"/>
                </a:moveTo>
                <a:lnTo>
                  <a:pt x="0" y="275844"/>
                </a:lnTo>
                <a:lnTo>
                  <a:pt x="220979" y="496824"/>
                </a:lnTo>
                <a:lnTo>
                  <a:pt x="441959" y="275844"/>
                </a:lnTo>
                <a:close/>
              </a:path>
              <a:path w="441960" h="497204">
                <a:moveTo>
                  <a:pt x="331469" y="0"/>
                </a:moveTo>
                <a:lnTo>
                  <a:pt x="110489" y="0"/>
                </a:lnTo>
                <a:lnTo>
                  <a:pt x="110489" y="275844"/>
                </a:lnTo>
                <a:lnTo>
                  <a:pt x="331469" y="275844"/>
                </a:lnTo>
                <a:lnTo>
                  <a:pt x="3314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81" name="object 81"/>
          <p:cNvSpPr txBox="1"/>
          <p:nvPr/>
        </p:nvSpPr>
        <p:spPr>
          <a:xfrm>
            <a:off x="109423" y="6447452"/>
            <a:ext cx="66263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6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224533" y="4712970"/>
            <a:ext cx="655320" cy="645160"/>
          </a:xfrm>
          <a:custGeom>
            <a:avLst/>
            <a:gdLst/>
            <a:ahLst/>
            <a:cxnLst/>
            <a:rect l="l" t="t" r="r" b="b"/>
            <a:pathLst>
              <a:path w="655319" h="645160">
                <a:moveTo>
                  <a:pt x="327659" y="0"/>
                </a:moveTo>
                <a:lnTo>
                  <a:pt x="0" y="0"/>
                </a:lnTo>
                <a:lnTo>
                  <a:pt x="0" y="644651"/>
                </a:lnTo>
                <a:lnTo>
                  <a:pt x="327659" y="644651"/>
                </a:lnTo>
                <a:lnTo>
                  <a:pt x="376082" y="641158"/>
                </a:lnTo>
                <a:lnTo>
                  <a:pt x="422297" y="631008"/>
                </a:lnTo>
                <a:lnTo>
                  <a:pt x="465798" y="614700"/>
                </a:lnTo>
                <a:lnTo>
                  <a:pt x="506080" y="592732"/>
                </a:lnTo>
                <a:lnTo>
                  <a:pt x="542634" y="565603"/>
                </a:lnTo>
                <a:lnTo>
                  <a:pt x="574955" y="533811"/>
                </a:lnTo>
                <a:lnTo>
                  <a:pt x="602535" y="497852"/>
                </a:lnTo>
                <a:lnTo>
                  <a:pt x="624868" y="458227"/>
                </a:lnTo>
                <a:lnTo>
                  <a:pt x="641448" y="415431"/>
                </a:lnTo>
                <a:lnTo>
                  <a:pt x="651767" y="369965"/>
                </a:lnTo>
                <a:lnTo>
                  <a:pt x="655320" y="322325"/>
                </a:lnTo>
                <a:lnTo>
                  <a:pt x="651767" y="274686"/>
                </a:lnTo>
                <a:lnTo>
                  <a:pt x="641448" y="229220"/>
                </a:lnTo>
                <a:lnTo>
                  <a:pt x="624868" y="186424"/>
                </a:lnTo>
                <a:lnTo>
                  <a:pt x="602535" y="146799"/>
                </a:lnTo>
                <a:lnTo>
                  <a:pt x="574955" y="110840"/>
                </a:lnTo>
                <a:lnTo>
                  <a:pt x="542634" y="79048"/>
                </a:lnTo>
                <a:lnTo>
                  <a:pt x="506080" y="51919"/>
                </a:lnTo>
                <a:lnTo>
                  <a:pt x="465798" y="29951"/>
                </a:lnTo>
                <a:lnTo>
                  <a:pt x="422297" y="13643"/>
                </a:lnTo>
                <a:lnTo>
                  <a:pt x="376082" y="3493"/>
                </a:lnTo>
                <a:lnTo>
                  <a:pt x="3276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15" name="object 15"/>
          <p:cNvSpPr/>
          <p:nvPr/>
        </p:nvSpPr>
        <p:spPr>
          <a:xfrm>
            <a:off x="3121914" y="4723638"/>
            <a:ext cx="655320" cy="645160"/>
          </a:xfrm>
          <a:custGeom>
            <a:avLst/>
            <a:gdLst/>
            <a:ahLst/>
            <a:cxnLst/>
            <a:rect l="l" t="t" r="r" b="b"/>
            <a:pathLst>
              <a:path w="655320" h="645160">
                <a:moveTo>
                  <a:pt x="327660" y="0"/>
                </a:moveTo>
                <a:lnTo>
                  <a:pt x="0" y="0"/>
                </a:lnTo>
                <a:lnTo>
                  <a:pt x="0" y="644652"/>
                </a:lnTo>
                <a:lnTo>
                  <a:pt x="327660" y="644652"/>
                </a:lnTo>
                <a:lnTo>
                  <a:pt x="376082" y="641158"/>
                </a:lnTo>
                <a:lnTo>
                  <a:pt x="422297" y="631008"/>
                </a:lnTo>
                <a:lnTo>
                  <a:pt x="465798" y="614700"/>
                </a:lnTo>
                <a:lnTo>
                  <a:pt x="506080" y="592732"/>
                </a:lnTo>
                <a:lnTo>
                  <a:pt x="542634" y="565603"/>
                </a:lnTo>
                <a:lnTo>
                  <a:pt x="574955" y="533811"/>
                </a:lnTo>
                <a:lnTo>
                  <a:pt x="602535" y="497852"/>
                </a:lnTo>
                <a:lnTo>
                  <a:pt x="624868" y="458227"/>
                </a:lnTo>
                <a:lnTo>
                  <a:pt x="641448" y="415431"/>
                </a:lnTo>
                <a:lnTo>
                  <a:pt x="651767" y="369965"/>
                </a:lnTo>
                <a:lnTo>
                  <a:pt x="655320" y="322325"/>
                </a:lnTo>
                <a:lnTo>
                  <a:pt x="651767" y="274686"/>
                </a:lnTo>
                <a:lnTo>
                  <a:pt x="641448" y="229220"/>
                </a:lnTo>
                <a:lnTo>
                  <a:pt x="624868" y="186424"/>
                </a:lnTo>
                <a:lnTo>
                  <a:pt x="602535" y="146799"/>
                </a:lnTo>
                <a:lnTo>
                  <a:pt x="574955" y="110840"/>
                </a:lnTo>
                <a:lnTo>
                  <a:pt x="542634" y="79048"/>
                </a:lnTo>
                <a:lnTo>
                  <a:pt x="506080" y="51919"/>
                </a:lnTo>
                <a:lnTo>
                  <a:pt x="465798" y="29951"/>
                </a:lnTo>
                <a:lnTo>
                  <a:pt x="422297" y="13643"/>
                </a:lnTo>
                <a:lnTo>
                  <a:pt x="376082" y="3493"/>
                </a:lnTo>
                <a:lnTo>
                  <a:pt x="3276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44" name="object 44"/>
          <p:cNvSpPr/>
          <p:nvPr/>
        </p:nvSpPr>
        <p:spPr>
          <a:xfrm>
            <a:off x="1224533" y="3036570"/>
            <a:ext cx="655320" cy="645160"/>
          </a:xfrm>
          <a:custGeom>
            <a:avLst/>
            <a:gdLst/>
            <a:ahLst/>
            <a:cxnLst/>
            <a:rect l="l" t="t" r="r" b="b"/>
            <a:pathLst>
              <a:path w="655319" h="645160">
                <a:moveTo>
                  <a:pt x="327659" y="0"/>
                </a:moveTo>
                <a:lnTo>
                  <a:pt x="0" y="0"/>
                </a:lnTo>
                <a:lnTo>
                  <a:pt x="0" y="644651"/>
                </a:lnTo>
                <a:lnTo>
                  <a:pt x="327659" y="644651"/>
                </a:lnTo>
                <a:lnTo>
                  <a:pt x="376082" y="641158"/>
                </a:lnTo>
                <a:lnTo>
                  <a:pt x="422297" y="631008"/>
                </a:lnTo>
                <a:lnTo>
                  <a:pt x="465798" y="614700"/>
                </a:lnTo>
                <a:lnTo>
                  <a:pt x="506080" y="592732"/>
                </a:lnTo>
                <a:lnTo>
                  <a:pt x="542634" y="565603"/>
                </a:lnTo>
                <a:lnTo>
                  <a:pt x="574955" y="533811"/>
                </a:lnTo>
                <a:lnTo>
                  <a:pt x="602535" y="497852"/>
                </a:lnTo>
                <a:lnTo>
                  <a:pt x="624868" y="458227"/>
                </a:lnTo>
                <a:lnTo>
                  <a:pt x="641448" y="415431"/>
                </a:lnTo>
                <a:lnTo>
                  <a:pt x="651767" y="369965"/>
                </a:lnTo>
                <a:lnTo>
                  <a:pt x="655320" y="322325"/>
                </a:lnTo>
                <a:lnTo>
                  <a:pt x="651767" y="274686"/>
                </a:lnTo>
                <a:lnTo>
                  <a:pt x="641448" y="229220"/>
                </a:lnTo>
                <a:lnTo>
                  <a:pt x="624868" y="186424"/>
                </a:lnTo>
                <a:lnTo>
                  <a:pt x="602535" y="146799"/>
                </a:lnTo>
                <a:lnTo>
                  <a:pt x="574955" y="110840"/>
                </a:lnTo>
                <a:lnTo>
                  <a:pt x="542634" y="79048"/>
                </a:lnTo>
                <a:lnTo>
                  <a:pt x="506080" y="51919"/>
                </a:lnTo>
                <a:lnTo>
                  <a:pt x="465798" y="29951"/>
                </a:lnTo>
                <a:lnTo>
                  <a:pt x="422297" y="13643"/>
                </a:lnTo>
                <a:lnTo>
                  <a:pt x="376082" y="3493"/>
                </a:lnTo>
                <a:lnTo>
                  <a:pt x="3276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82" name="object 60">
            <a:extLst>
              <a:ext uri="{FF2B5EF4-FFF2-40B4-BE49-F238E27FC236}">
                <a16:creationId xmlns:a16="http://schemas.microsoft.com/office/drawing/2014/main" id="{5B44790A-331C-F2AB-996E-72ED5219DF18}"/>
              </a:ext>
            </a:extLst>
          </p:cNvPr>
          <p:cNvSpPr txBox="1"/>
          <p:nvPr/>
        </p:nvSpPr>
        <p:spPr>
          <a:xfrm>
            <a:off x="7319009" y="5795010"/>
            <a:ext cx="79057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solidFill>
                  <a:srgbClr val="0000FF"/>
                </a:solidFill>
                <a:latin typeface="Helvetica"/>
                <a:cs typeface="Helvetica"/>
              </a:rPr>
              <a:t>blue</a:t>
            </a:r>
            <a:r>
              <a:rPr sz="1400" b="1" spc="-100" dirty="0">
                <a:solidFill>
                  <a:srgbClr val="0000FF"/>
                </a:solidFill>
                <a:latin typeface="Helvetica"/>
                <a:cs typeface="Helvetica"/>
              </a:rPr>
              <a:t> </a:t>
            </a:r>
            <a:r>
              <a:rPr sz="1400" b="1" spc="-15" dirty="0">
                <a:solidFill>
                  <a:srgbClr val="0000FF"/>
                </a:solidFill>
                <a:latin typeface="Helvetica"/>
                <a:cs typeface="Helvetica"/>
              </a:rPr>
              <a:t>SA0</a:t>
            </a:r>
            <a:endParaRPr sz="140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tabLst>
                <a:tab pos="435609" algn="l"/>
              </a:tabLst>
            </a:pPr>
            <a:r>
              <a:rPr sz="1400" b="1" dirty="0">
                <a:solidFill>
                  <a:srgbClr val="FF0000"/>
                </a:solidFill>
                <a:latin typeface="Helvetica"/>
                <a:cs typeface="Helvetica"/>
              </a:rPr>
              <a:t>red	S</a:t>
            </a:r>
            <a:r>
              <a:rPr sz="1400" b="1" spc="-45" dirty="0">
                <a:solidFill>
                  <a:srgbClr val="FF0000"/>
                </a:solidFill>
                <a:latin typeface="Helvetica"/>
                <a:cs typeface="Helvetica"/>
              </a:rPr>
              <a:t>A</a:t>
            </a:r>
            <a:r>
              <a:rPr sz="1400" b="1" dirty="0">
                <a:solidFill>
                  <a:srgbClr val="FF0000"/>
                </a:solidFill>
                <a:latin typeface="Helvetica"/>
                <a:cs typeface="Helvetica"/>
              </a:rPr>
              <a:t>1</a:t>
            </a:r>
            <a:endParaRPr sz="1400">
              <a:latin typeface="Helvetica"/>
              <a:cs typeface="Helvetica"/>
            </a:endParaRPr>
          </a:p>
        </p:txBody>
      </p:sp>
      <p:sp>
        <p:nvSpPr>
          <p:cNvPr id="83" name="object 79">
            <a:extLst>
              <a:ext uri="{FF2B5EF4-FFF2-40B4-BE49-F238E27FC236}">
                <a16:creationId xmlns:a16="http://schemas.microsoft.com/office/drawing/2014/main" id="{328105B1-C8E6-8CB7-8CA2-8EA84D86FD2B}"/>
              </a:ext>
            </a:extLst>
          </p:cNvPr>
          <p:cNvSpPr/>
          <p:nvPr/>
        </p:nvSpPr>
        <p:spPr>
          <a:xfrm>
            <a:off x="3170809" y="3862793"/>
            <a:ext cx="441959" cy="497205"/>
          </a:xfrm>
          <a:custGeom>
            <a:avLst/>
            <a:gdLst/>
            <a:ahLst/>
            <a:cxnLst/>
            <a:rect l="l" t="t" r="r" b="b"/>
            <a:pathLst>
              <a:path w="441960" h="497204">
                <a:moveTo>
                  <a:pt x="441959" y="275844"/>
                </a:moveTo>
                <a:lnTo>
                  <a:pt x="0" y="275844"/>
                </a:lnTo>
                <a:lnTo>
                  <a:pt x="220979" y="496824"/>
                </a:lnTo>
                <a:lnTo>
                  <a:pt x="441959" y="275844"/>
                </a:lnTo>
                <a:close/>
              </a:path>
              <a:path w="441960" h="497204">
                <a:moveTo>
                  <a:pt x="331469" y="0"/>
                </a:moveTo>
                <a:lnTo>
                  <a:pt x="110489" y="0"/>
                </a:lnTo>
                <a:lnTo>
                  <a:pt x="110489" y="275844"/>
                </a:lnTo>
                <a:lnTo>
                  <a:pt x="331469" y="275844"/>
                </a:lnTo>
                <a:lnTo>
                  <a:pt x="3314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84" name="object 79">
            <a:extLst>
              <a:ext uri="{FF2B5EF4-FFF2-40B4-BE49-F238E27FC236}">
                <a16:creationId xmlns:a16="http://schemas.microsoft.com/office/drawing/2014/main" id="{456CB46F-2B76-4050-C677-FC1BF26D5464}"/>
              </a:ext>
            </a:extLst>
          </p:cNvPr>
          <p:cNvSpPr/>
          <p:nvPr/>
        </p:nvSpPr>
        <p:spPr>
          <a:xfrm>
            <a:off x="5165724" y="3934235"/>
            <a:ext cx="441959" cy="497205"/>
          </a:xfrm>
          <a:custGeom>
            <a:avLst/>
            <a:gdLst/>
            <a:ahLst/>
            <a:cxnLst/>
            <a:rect l="l" t="t" r="r" b="b"/>
            <a:pathLst>
              <a:path w="441960" h="497204">
                <a:moveTo>
                  <a:pt x="441959" y="275844"/>
                </a:moveTo>
                <a:lnTo>
                  <a:pt x="0" y="275844"/>
                </a:lnTo>
                <a:lnTo>
                  <a:pt x="220979" y="496824"/>
                </a:lnTo>
                <a:lnTo>
                  <a:pt x="441959" y="275844"/>
                </a:lnTo>
                <a:close/>
              </a:path>
              <a:path w="441960" h="497204">
                <a:moveTo>
                  <a:pt x="331469" y="0"/>
                </a:moveTo>
                <a:lnTo>
                  <a:pt x="110489" y="0"/>
                </a:lnTo>
                <a:lnTo>
                  <a:pt x="110489" y="275844"/>
                </a:lnTo>
                <a:lnTo>
                  <a:pt x="331469" y="275844"/>
                </a:lnTo>
                <a:lnTo>
                  <a:pt x="3314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85" name="object 79">
            <a:extLst>
              <a:ext uri="{FF2B5EF4-FFF2-40B4-BE49-F238E27FC236}">
                <a16:creationId xmlns:a16="http://schemas.microsoft.com/office/drawing/2014/main" id="{E7DFFC40-D4F6-AA40-FD3F-B620115B4B5D}"/>
              </a:ext>
            </a:extLst>
          </p:cNvPr>
          <p:cNvSpPr/>
          <p:nvPr/>
        </p:nvSpPr>
        <p:spPr>
          <a:xfrm>
            <a:off x="7084568" y="3961701"/>
            <a:ext cx="441959" cy="497205"/>
          </a:xfrm>
          <a:custGeom>
            <a:avLst/>
            <a:gdLst/>
            <a:ahLst/>
            <a:cxnLst/>
            <a:rect l="l" t="t" r="r" b="b"/>
            <a:pathLst>
              <a:path w="441960" h="497204">
                <a:moveTo>
                  <a:pt x="441959" y="275844"/>
                </a:moveTo>
                <a:lnTo>
                  <a:pt x="0" y="275844"/>
                </a:lnTo>
                <a:lnTo>
                  <a:pt x="220979" y="496824"/>
                </a:lnTo>
                <a:lnTo>
                  <a:pt x="441959" y="275844"/>
                </a:lnTo>
                <a:close/>
              </a:path>
              <a:path w="441960" h="497204">
                <a:moveTo>
                  <a:pt x="331469" y="0"/>
                </a:moveTo>
                <a:lnTo>
                  <a:pt x="110489" y="0"/>
                </a:lnTo>
                <a:lnTo>
                  <a:pt x="110489" y="275844"/>
                </a:lnTo>
                <a:lnTo>
                  <a:pt x="331469" y="275844"/>
                </a:lnTo>
                <a:lnTo>
                  <a:pt x="3314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object 40"/>
          <p:cNvSpPr txBox="1"/>
          <p:nvPr/>
        </p:nvSpPr>
        <p:spPr>
          <a:xfrm>
            <a:off x="3505199" y="990600"/>
            <a:ext cx="2573765" cy="2095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Helvetica"/>
                <a:cs typeface="Helvetica"/>
              </a:rPr>
              <a:t>push to</a:t>
            </a:r>
            <a:r>
              <a:rPr sz="1200" b="1" spc="-75" dirty="0">
                <a:latin typeface="Helvetica"/>
                <a:cs typeface="Helvetica"/>
              </a:rPr>
              <a:t> </a:t>
            </a:r>
            <a:r>
              <a:rPr sz="1200" b="1" dirty="0">
                <a:latin typeface="Helvetica"/>
                <a:cs typeface="Helvetica"/>
              </a:rPr>
              <a:t>P</a:t>
            </a:r>
            <a:r>
              <a:rPr lang="en-US" sz="1200" b="1" dirty="0">
                <a:latin typeface="Helvetica"/>
                <a:cs typeface="Helvetica"/>
              </a:rPr>
              <a:t>I (move from right to left)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1200" b="1" dirty="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1200" b="1" dirty="0">
              <a:latin typeface="Helvetica"/>
              <a:cs typeface="Helvetica"/>
            </a:endParaRPr>
          </a:p>
          <a:p>
            <a:pPr marL="241300" indent="-228600">
              <a:lnSpc>
                <a:spcPct val="100000"/>
              </a:lnSpc>
              <a:spcBef>
                <a:spcPts val="100"/>
              </a:spcBef>
              <a:buAutoNum type="arabicParenBoth"/>
            </a:pPr>
            <a:r>
              <a:rPr lang="en-US" sz="1200" b="1" dirty="0">
                <a:latin typeface="Helvetica"/>
                <a:cs typeface="Helvetica"/>
              </a:rPr>
              <a:t>For EFC, remove SSF at gate output (determined when gate input is stuck at controlling value)</a:t>
            </a:r>
          </a:p>
          <a:p>
            <a:pPr marL="241300" indent="-228600">
              <a:lnSpc>
                <a:spcPct val="100000"/>
              </a:lnSpc>
              <a:spcBef>
                <a:spcPts val="100"/>
              </a:spcBef>
              <a:buAutoNum type="arabicParenBoth"/>
            </a:pPr>
            <a:r>
              <a:rPr lang="en-US" sz="1200" b="1" dirty="0">
                <a:latin typeface="Helvetica"/>
                <a:cs typeface="Helvetica"/>
              </a:rPr>
              <a:t>For DFC,  remove the “other” SSF at gate output (determined when gate input is stuck at non-controlling value) </a:t>
            </a:r>
            <a:endParaRPr sz="1200" dirty="0">
              <a:latin typeface="Helvetica"/>
              <a:cs typeface="Helvetica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0" y="1094232"/>
            <a:ext cx="3528060" cy="1473835"/>
          </a:xfrm>
          <a:custGeom>
            <a:avLst/>
            <a:gdLst/>
            <a:ahLst/>
            <a:cxnLst/>
            <a:rect l="l" t="t" r="r" b="b"/>
            <a:pathLst>
              <a:path w="3528060" h="1473835">
                <a:moveTo>
                  <a:pt x="0" y="1473708"/>
                </a:moveTo>
                <a:lnTo>
                  <a:pt x="3528060" y="1473708"/>
                </a:lnTo>
                <a:lnTo>
                  <a:pt x="3528060" y="0"/>
                </a:lnTo>
                <a:lnTo>
                  <a:pt x="0" y="0"/>
                </a:lnTo>
                <a:lnTo>
                  <a:pt x="0" y="1473708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 txBox="1"/>
          <p:nvPr/>
        </p:nvSpPr>
        <p:spPr>
          <a:xfrm>
            <a:off x="823455" y="1517996"/>
            <a:ext cx="746125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732790" algn="l"/>
              </a:tabLst>
            </a:pPr>
            <a:r>
              <a:rPr sz="1150" b="1" u="heavy" spc="10" dirty="0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	</a:t>
            </a:r>
            <a:endParaRPr sz="1150" dirty="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543935" y="1186336"/>
            <a:ext cx="425450" cy="363220"/>
          </a:xfrm>
          <a:custGeom>
            <a:avLst/>
            <a:gdLst/>
            <a:ahLst/>
            <a:cxnLst/>
            <a:rect l="l" t="t" r="r" b="b"/>
            <a:pathLst>
              <a:path w="425450" h="363219">
                <a:moveTo>
                  <a:pt x="243840" y="0"/>
                </a:moveTo>
                <a:lnTo>
                  <a:pt x="243840" y="90678"/>
                </a:lnTo>
                <a:lnTo>
                  <a:pt x="0" y="90678"/>
                </a:lnTo>
                <a:lnTo>
                  <a:pt x="0" y="272034"/>
                </a:lnTo>
                <a:lnTo>
                  <a:pt x="243840" y="272034"/>
                </a:lnTo>
                <a:lnTo>
                  <a:pt x="243840" y="362712"/>
                </a:lnTo>
                <a:lnTo>
                  <a:pt x="425196" y="181356"/>
                </a:lnTo>
                <a:lnTo>
                  <a:pt x="2438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 txBox="1"/>
          <p:nvPr/>
        </p:nvSpPr>
        <p:spPr>
          <a:xfrm>
            <a:off x="6859270" y="3181223"/>
            <a:ext cx="1903730" cy="13439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Helvetica"/>
                <a:cs typeface="Helvetica"/>
              </a:rPr>
              <a:t>all-PI </a:t>
            </a:r>
            <a:r>
              <a:rPr sz="1200" b="1" spc="-5" dirty="0">
                <a:latin typeface="Helvetica"/>
                <a:cs typeface="Helvetica"/>
              </a:rPr>
              <a:t>gates reduce</a:t>
            </a:r>
            <a:r>
              <a:rPr sz="1200" b="1" spc="-50" dirty="0">
                <a:latin typeface="Helvetica"/>
                <a:cs typeface="Helvetica"/>
              </a:rPr>
              <a:t> </a:t>
            </a:r>
            <a:r>
              <a:rPr sz="1200" b="1" spc="-5" dirty="0">
                <a:latin typeface="Helvetica"/>
                <a:cs typeface="Helvetica"/>
              </a:rPr>
              <a:t>further</a:t>
            </a:r>
            <a:endParaRPr lang="en-US" sz="1200" b="1" spc="-5" dirty="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b="1" spc="-5" dirty="0">
                <a:latin typeface="Helvetica"/>
                <a:cs typeface="Helvetica"/>
              </a:rPr>
              <a:t>using EFC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1200" b="1" spc="-5" dirty="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b="1" spc="-5" dirty="0">
                <a:latin typeface="Helvetica"/>
                <a:cs typeface="Helvetica"/>
              </a:rPr>
              <a:t>For all-PI gate, reduce from 4 SSF at inputs to 3 SSFs (2 at gate inputs and 1 at gate output)</a:t>
            </a:r>
            <a:endParaRPr sz="1200" dirty="0">
              <a:latin typeface="Helvetica"/>
              <a:cs typeface="Helvetica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229911" y="1218842"/>
            <a:ext cx="405130" cy="0"/>
          </a:xfrm>
          <a:custGeom>
            <a:avLst/>
            <a:gdLst/>
            <a:ahLst/>
            <a:cxnLst/>
            <a:rect l="l" t="t" r="r" b="b"/>
            <a:pathLst>
              <a:path w="405130">
                <a:moveTo>
                  <a:pt x="0" y="0"/>
                </a:moveTo>
                <a:lnTo>
                  <a:pt x="404668" y="0"/>
                </a:lnTo>
              </a:path>
            </a:pathLst>
          </a:custGeom>
          <a:ln w="23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634580" y="1319806"/>
            <a:ext cx="405130" cy="0"/>
          </a:xfrm>
          <a:custGeom>
            <a:avLst/>
            <a:gdLst/>
            <a:ahLst/>
            <a:cxnLst/>
            <a:rect l="l" t="t" r="r" b="b"/>
            <a:pathLst>
              <a:path w="405130">
                <a:moveTo>
                  <a:pt x="404668" y="0"/>
                </a:moveTo>
                <a:lnTo>
                  <a:pt x="0" y="0"/>
                </a:lnTo>
              </a:path>
            </a:pathLst>
          </a:custGeom>
          <a:ln w="23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371549" y="1117877"/>
            <a:ext cx="526415" cy="404495"/>
          </a:xfrm>
          <a:custGeom>
            <a:avLst/>
            <a:gdLst/>
            <a:ahLst/>
            <a:cxnLst/>
            <a:rect l="l" t="t" r="r" b="b"/>
            <a:pathLst>
              <a:path w="526415" h="404494">
                <a:moveTo>
                  <a:pt x="157820" y="0"/>
                </a:moveTo>
                <a:lnTo>
                  <a:pt x="0" y="0"/>
                </a:lnTo>
                <a:lnTo>
                  <a:pt x="28954" y="43365"/>
                </a:lnTo>
                <a:lnTo>
                  <a:pt x="50670" y="87869"/>
                </a:lnTo>
                <a:lnTo>
                  <a:pt x="65148" y="133187"/>
                </a:lnTo>
                <a:lnTo>
                  <a:pt x="72386" y="178991"/>
                </a:lnTo>
                <a:lnTo>
                  <a:pt x="72386" y="224955"/>
                </a:lnTo>
                <a:lnTo>
                  <a:pt x="65148" y="270753"/>
                </a:lnTo>
                <a:lnTo>
                  <a:pt x="50670" y="316060"/>
                </a:lnTo>
                <a:lnTo>
                  <a:pt x="28954" y="360547"/>
                </a:lnTo>
                <a:lnTo>
                  <a:pt x="0" y="403890"/>
                </a:lnTo>
                <a:lnTo>
                  <a:pt x="157820" y="403890"/>
                </a:lnTo>
                <a:lnTo>
                  <a:pt x="212761" y="393020"/>
                </a:lnTo>
                <a:lnTo>
                  <a:pt x="265010" y="378810"/>
                </a:lnTo>
                <a:lnTo>
                  <a:pt x="314219" y="361451"/>
                </a:lnTo>
                <a:lnTo>
                  <a:pt x="360039" y="341135"/>
                </a:lnTo>
                <a:lnTo>
                  <a:pt x="402119" y="318055"/>
                </a:lnTo>
                <a:lnTo>
                  <a:pt x="440111" y="292403"/>
                </a:lnTo>
                <a:lnTo>
                  <a:pt x="473665" y="264369"/>
                </a:lnTo>
                <a:lnTo>
                  <a:pt x="502431" y="234147"/>
                </a:lnTo>
                <a:lnTo>
                  <a:pt x="526061" y="201929"/>
                </a:lnTo>
                <a:lnTo>
                  <a:pt x="502723" y="169577"/>
                </a:lnTo>
                <a:lnTo>
                  <a:pt x="474151" y="139246"/>
                </a:lnTo>
                <a:lnTo>
                  <a:pt x="440705" y="111131"/>
                </a:lnTo>
                <a:lnTo>
                  <a:pt x="402743" y="85430"/>
                </a:lnTo>
                <a:lnTo>
                  <a:pt x="360628" y="62338"/>
                </a:lnTo>
                <a:lnTo>
                  <a:pt x="314717" y="42053"/>
                </a:lnTo>
                <a:lnTo>
                  <a:pt x="265373" y="24771"/>
                </a:lnTo>
                <a:lnTo>
                  <a:pt x="212954" y="10687"/>
                </a:lnTo>
                <a:lnTo>
                  <a:pt x="1578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371549" y="1117877"/>
            <a:ext cx="526415" cy="404495"/>
          </a:xfrm>
          <a:custGeom>
            <a:avLst/>
            <a:gdLst/>
            <a:ahLst/>
            <a:cxnLst/>
            <a:rect l="l" t="t" r="r" b="b"/>
            <a:pathLst>
              <a:path w="526415" h="404494">
                <a:moveTo>
                  <a:pt x="526061" y="201929"/>
                </a:moveTo>
                <a:lnTo>
                  <a:pt x="502431" y="234147"/>
                </a:lnTo>
                <a:lnTo>
                  <a:pt x="473665" y="264369"/>
                </a:lnTo>
                <a:lnTo>
                  <a:pt x="440111" y="292403"/>
                </a:lnTo>
                <a:lnTo>
                  <a:pt x="402119" y="318055"/>
                </a:lnTo>
                <a:lnTo>
                  <a:pt x="360039" y="341135"/>
                </a:lnTo>
                <a:lnTo>
                  <a:pt x="314219" y="361451"/>
                </a:lnTo>
                <a:lnTo>
                  <a:pt x="265010" y="378810"/>
                </a:lnTo>
                <a:lnTo>
                  <a:pt x="212761" y="393020"/>
                </a:lnTo>
                <a:lnTo>
                  <a:pt x="157820" y="403890"/>
                </a:lnTo>
                <a:lnTo>
                  <a:pt x="0" y="403890"/>
                </a:lnTo>
                <a:lnTo>
                  <a:pt x="28954" y="360547"/>
                </a:lnTo>
                <a:lnTo>
                  <a:pt x="50670" y="316060"/>
                </a:lnTo>
                <a:lnTo>
                  <a:pt x="65148" y="270753"/>
                </a:lnTo>
                <a:lnTo>
                  <a:pt x="72386" y="224955"/>
                </a:lnTo>
                <a:lnTo>
                  <a:pt x="72386" y="178991"/>
                </a:lnTo>
                <a:lnTo>
                  <a:pt x="65148" y="133187"/>
                </a:lnTo>
                <a:lnTo>
                  <a:pt x="50670" y="87869"/>
                </a:lnTo>
                <a:lnTo>
                  <a:pt x="28954" y="43365"/>
                </a:lnTo>
                <a:lnTo>
                  <a:pt x="0" y="0"/>
                </a:lnTo>
                <a:lnTo>
                  <a:pt x="157820" y="0"/>
                </a:lnTo>
                <a:lnTo>
                  <a:pt x="212954" y="10687"/>
                </a:lnTo>
                <a:lnTo>
                  <a:pt x="265373" y="24771"/>
                </a:lnTo>
                <a:lnTo>
                  <a:pt x="314717" y="42053"/>
                </a:lnTo>
                <a:lnTo>
                  <a:pt x="360628" y="62338"/>
                </a:lnTo>
                <a:lnTo>
                  <a:pt x="402743" y="85430"/>
                </a:lnTo>
                <a:lnTo>
                  <a:pt x="440705" y="111131"/>
                </a:lnTo>
                <a:lnTo>
                  <a:pt x="474151" y="139246"/>
                </a:lnTo>
                <a:lnTo>
                  <a:pt x="502723" y="169577"/>
                </a:lnTo>
                <a:lnTo>
                  <a:pt x="526061" y="201929"/>
                </a:lnTo>
                <a:close/>
              </a:path>
            </a:pathLst>
          </a:custGeom>
          <a:ln w="232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371549" y="1117877"/>
            <a:ext cx="526415" cy="404495"/>
          </a:xfrm>
          <a:custGeom>
            <a:avLst/>
            <a:gdLst/>
            <a:ahLst/>
            <a:cxnLst/>
            <a:rect l="l" t="t" r="r" b="b"/>
            <a:pathLst>
              <a:path w="526415" h="404494">
                <a:moveTo>
                  <a:pt x="323732" y="403890"/>
                </a:moveTo>
                <a:lnTo>
                  <a:pt x="0" y="403890"/>
                </a:lnTo>
                <a:lnTo>
                  <a:pt x="0" y="0"/>
                </a:lnTo>
                <a:lnTo>
                  <a:pt x="323732" y="0"/>
                </a:lnTo>
                <a:lnTo>
                  <a:pt x="370123" y="5334"/>
                </a:lnTo>
                <a:lnTo>
                  <a:pt x="412710" y="20527"/>
                </a:lnTo>
                <a:lnTo>
                  <a:pt x="450277" y="44368"/>
                </a:lnTo>
                <a:lnTo>
                  <a:pt x="481610" y="75641"/>
                </a:lnTo>
                <a:lnTo>
                  <a:pt x="505495" y="113134"/>
                </a:lnTo>
                <a:lnTo>
                  <a:pt x="520717" y="155635"/>
                </a:lnTo>
                <a:lnTo>
                  <a:pt x="526061" y="201929"/>
                </a:lnTo>
                <a:lnTo>
                  <a:pt x="520717" y="248225"/>
                </a:lnTo>
                <a:lnTo>
                  <a:pt x="505495" y="290729"/>
                </a:lnTo>
                <a:lnTo>
                  <a:pt x="481610" y="328229"/>
                </a:lnTo>
                <a:lnTo>
                  <a:pt x="450277" y="359509"/>
                </a:lnTo>
                <a:lnTo>
                  <a:pt x="412710" y="383356"/>
                </a:lnTo>
                <a:lnTo>
                  <a:pt x="370123" y="398554"/>
                </a:lnTo>
                <a:lnTo>
                  <a:pt x="323732" y="403890"/>
                </a:lnTo>
                <a:close/>
              </a:path>
            </a:pathLst>
          </a:custGeom>
          <a:ln w="232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23758" y="1218842"/>
            <a:ext cx="206375" cy="0"/>
          </a:xfrm>
          <a:custGeom>
            <a:avLst/>
            <a:gdLst/>
            <a:ahLst/>
            <a:cxnLst/>
            <a:rect l="l" t="t" r="r" b="b"/>
            <a:pathLst>
              <a:path w="206375">
                <a:moveTo>
                  <a:pt x="206153" y="0"/>
                </a:moveTo>
                <a:lnTo>
                  <a:pt x="0" y="0"/>
                </a:lnTo>
              </a:path>
            </a:pathLst>
          </a:custGeom>
          <a:ln w="23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 txBox="1"/>
          <p:nvPr/>
        </p:nvSpPr>
        <p:spPr>
          <a:xfrm>
            <a:off x="922793" y="1213241"/>
            <a:ext cx="309880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b="1" spc="25" dirty="0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sz="1150" b="1" spc="2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50" b="1" spc="25" dirty="0">
                <a:solidFill>
                  <a:srgbClr val="FF0000"/>
                </a:solidFill>
                <a:latin typeface="Arial"/>
                <a:cs typeface="Arial"/>
              </a:rPr>
              <a:t>X</a:t>
            </a:r>
            <a:endParaRPr sz="1150">
              <a:latin typeface="Arial"/>
              <a:cs typeface="Arial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52376" y="1121739"/>
            <a:ext cx="278765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b="1" spc="25" dirty="0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sz="1150" b="1" spc="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50" b="1" spc="25" dirty="0">
                <a:solidFill>
                  <a:srgbClr val="FF0000"/>
                </a:solidFill>
                <a:latin typeface="Arial"/>
                <a:cs typeface="Arial"/>
              </a:rPr>
              <a:t>X</a:t>
            </a:r>
            <a:endParaRPr sz="1150">
              <a:latin typeface="Arial"/>
              <a:cs typeface="Arial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15875" y="1304637"/>
            <a:ext cx="768985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755650" algn="l"/>
              </a:tabLst>
            </a:pPr>
            <a:r>
              <a:rPr sz="1150" b="1" strike="sngStrike" spc="-10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50" b="1" strike="sngStrike" spc="25" dirty="0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sz="1150" b="1" strike="sngStrike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50" b="1" strike="sngStrike" spc="25" dirty="0">
                <a:solidFill>
                  <a:srgbClr val="FF0000"/>
                </a:solidFill>
                <a:latin typeface="Arial"/>
                <a:cs typeface="Arial"/>
              </a:rPr>
              <a:t>X	</a:t>
            </a:r>
            <a:endParaRPr sz="1150" dirty="0">
              <a:latin typeface="Arial"/>
              <a:cs typeface="Arial"/>
            </a:endParaRPr>
          </a:p>
        </p:txBody>
      </p:sp>
      <p:sp>
        <p:nvSpPr>
          <p:cNvPr id="103" name="object 103"/>
          <p:cNvSpPr/>
          <p:nvPr/>
        </p:nvSpPr>
        <p:spPr>
          <a:xfrm>
            <a:off x="1325552" y="1516047"/>
            <a:ext cx="405130" cy="0"/>
          </a:xfrm>
          <a:custGeom>
            <a:avLst/>
            <a:gdLst/>
            <a:ahLst/>
            <a:cxnLst/>
            <a:rect l="l" t="t" r="r" b="b"/>
            <a:pathLst>
              <a:path w="405130">
                <a:moveTo>
                  <a:pt x="0" y="0"/>
                </a:moveTo>
                <a:lnTo>
                  <a:pt x="404679" y="0"/>
                </a:lnTo>
              </a:path>
            </a:pathLst>
          </a:custGeom>
          <a:ln w="23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1730231" y="1617012"/>
            <a:ext cx="405130" cy="0"/>
          </a:xfrm>
          <a:custGeom>
            <a:avLst/>
            <a:gdLst/>
            <a:ahLst/>
            <a:cxnLst/>
            <a:rect l="l" t="t" r="r" b="b"/>
            <a:pathLst>
              <a:path w="405130">
                <a:moveTo>
                  <a:pt x="404679" y="0"/>
                </a:moveTo>
                <a:lnTo>
                  <a:pt x="0" y="0"/>
                </a:lnTo>
              </a:path>
            </a:pathLst>
          </a:custGeom>
          <a:ln w="23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1467232" y="1415072"/>
            <a:ext cx="526415" cy="403860"/>
          </a:xfrm>
          <a:custGeom>
            <a:avLst/>
            <a:gdLst/>
            <a:ahLst/>
            <a:cxnLst/>
            <a:rect l="l" t="t" r="r" b="b"/>
            <a:pathLst>
              <a:path w="526414" h="403860">
                <a:moveTo>
                  <a:pt x="157842" y="0"/>
                </a:moveTo>
                <a:lnTo>
                  <a:pt x="0" y="0"/>
                </a:lnTo>
                <a:lnTo>
                  <a:pt x="28954" y="43347"/>
                </a:lnTo>
                <a:lnTo>
                  <a:pt x="50670" y="87839"/>
                </a:lnTo>
                <a:lnTo>
                  <a:pt x="65148" y="133149"/>
                </a:lnTo>
                <a:lnTo>
                  <a:pt x="72386" y="178951"/>
                </a:lnTo>
                <a:lnTo>
                  <a:pt x="72386" y="224915"/>
                </a:lnTo>
                <a:lnTo>
                  <a:pt x="65148" y="270715"/>
                </a:lnTo>
                <a:lnTo>
                  <a:pt x="50670" y="316024"/>
                </a:lnTo>
                <a:lnTo>
                  <a:pt x="28954" y="360514"/>
                </a:lnTo>
                <a:lnTo>
                  <a:pt x="0" y="403858"/>
                </a:lnTo>
                <a:lnTo>
                  <a:pt x="157842" y="403858"/>
                </a:lnTo>
                <a:lnTo>
                  <a:pt x="212780" y="392993"/>
                </a:lnTo>
                <a:lnTo>
                  <a:pt x="265023" y="378789"/>
                </a:lnTo>
                <a:lnTo>
                  <a:pt x="314223" y="361437"/>
                </a:lnTo>
                <a:lnTo>
                  <a:pt x="360031" y="341131"/>
                </a:lnTo>
                <a:lnTo>
                  <a:pt x="402099" y="318060"/>
                </a:lnTo>
                <a:lnTo>
                  <a:pt x="440078" y="292416"/>
                </a:lnTo>
                <a:lnTo>
                  <a:pt x="473620" y="264390"/>
                </a:lnTo>
                <a:lnTo>
                  <a:pt x="502375" y="234175"/>
                </a:lnTo>
                <a:lnTo>
                  <a:pt x="525996" y="201961"/>
                </a:lnTo>
                <a:lnTo>
                  <a:pt x="502677" y="169605"/>
                </a:lnTo>
                <a:lnTo>
                  <a:pt x="474116" y="139269"/>
                </a:lnTo>
                <a:lnTo>
                  <a:pt x="440677" y="111150"/>
                </a:lnTo>
                <a:lnTo>
                  <a:pt x="402720" y="85444"/>
                </a:lnTo>
                <a:lnTo>
                  <a:pt x="360608" y="62348"/>
                </a:lnTo>
                <a:lnTo>
                  <a:pt x="314702" y="42059"/>
                </a:lnTo>
                <a:lnTo>
                  <a:pt x="265365" y="24773"/>
                </a:lnTo>
                <a:lnTo>
                  <a:pt x="212957" y="10688"/>
                </a:lnTo>
                <a:lnTo>
                  <a:pt x="15784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1467232" y="1415072"/>
            <a:ext cx="526415" cy="403860"/>
          </a:xfrm>
          <a:custGeom>
            <a:avLst/>
            <a:gdLst/>
            <a:ahLst/>
            <a:cxnLst/>
            <a:rect l="l" t="t" r="r" b="b"/>
            <a:pathLst>
              <a:path w="526414" h="403860">
                <a:moveTo>
                  <a:pt x="525996" y="201961"/>
                </a:moveTo>
                <a:lnTo>
                  <a:pt x="502375" y="234175"/>
                </a:lnTo>
                <a:lnTo>
                  <a:pt x="473620" y="264390"/>
                </a:lnTo>
                <a:lnTo>
                  <a:pt x="440078" y="292416"/>
                </a:lnTo>
                <a:lnTo>
                  <a:pt x="402099" y="318060"/>
                </a:lnTo>
                <a:lnTo>
                  <a:pt x="360031" y="341131"/>
                </a:lnTo>
                <a:lnTo>
                  <a:pt x="314223" y="361438"/>
                </a:lnTo>
                <a:lnTo>
                  <a:pt x="265023" y="378789"/>
                </a:lnTo>
                <a:lnTo>
                  <a:pt x="212780" y="392993"/>
                </a:lnTo>
                <a:lnTo>
                  <a:pt x="157842" y="403858"/>
                </a:lnTo>
                <a:lnTo>
                  <a:pt x="0" y="403858"/>
                </a:lnTo>
                <a:lnTo>
                  <a:pt x="28954" y="360514"/>
                </a:lnTo>
                <a:lnTo>
                  <a:pt x="50670" y="316024"/>
                </a:lnTo>
                <a:lnTo>
                  <a:pt x="65148" y="270715"/>
                </a:lnTo>
                <a:lnTo>
                  <a:pt x="72386" y="224915"/>
                </a:lnTo>
                <a:lnTo>
                  <a:pt x="72386" y="178951"/>
                </a:lnTo>
                <a:lnTo>
                  <a:pt x="65148" y="133149"/>
                </a:lnTo>
                <a:lnTo>
                  <a:pt x="50670" y="87839"/>
                </a:lnTo>
                <a:lnTo>
                  <a:pt x="28954" y="43347"/>
                </a:lnTo>
                <a:lnTo>
                  <a:pt x="0" y="0"/>
                </a:lnTo>
                <a:lnTo>
                  <a:pt x="157842" y="0"/>
                </a:lnTo>
                <a:lnTo>
                  <a:pt x="212957" y="10688"/>
                </a:lnTo>
                <a:lnTo>
                  <a:pt x="265365" y="24773"/>
                </a:lnTo>
                <a:lnTo>
                  <a:pt x="314702" y="42059"/>
                </a:lnTo>
                <a:lnTo>
                  <a:pt x="360608" y="62348"/>
                </a:lnTo>
                <a:lnTo>
                  <a:pt x="402720" y="85444"/>
                </a:lnTo>
                <a:lnTo>
                  <a:pt x="440677" y="111150"/>
                </a:lnTo>
                <a:lnTo>
                  <a:pt x="474116" y="139269"/>
                </a:lnTo>
                <a:lnTo>
                  <a:pt x="502677" y="169605"/>
                </a:lnTo>
                <a:lnTo>
                  <a:pt x="525996" y="201961"/>
                </a:lnTo>
                <a:close/>
              </a:path>
            </a:pathLst>
          </a:custGeom>
          <a:ln w="232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1467232" y="1415072"/>
            <a:ext cx="526415" cy="403860"/>
          </a:xfrm>
          <a:custGeom>
            <a:avLst/>
            <a:gdLst/>
            <a:ahLst/>
            <a:cxnLst/>
            <a:rect l="l" t="t" r="r" b="b"/>
            <a:pathLst>
              <a:path w="526414" h="403860">
                <a:moveTo>
                  <a:pt x="323657" y="0"/>
                </a:moveTo>
                <a:lnTo>
                  <a:pt x="0" y="0"/>
                </a:lnTo>
                <a:lnTo>
                  <a:pt x="0" y="403858"/>
                </a:lnTo>
                <a:lnTo>
                  <a:pt x="323657" y="403858"/>
                </a:lnTo>
                <a:lnTo>
                  <a:pt x="370079" y="398525"/>
                </a:lnTo>
                <a:lnTo>
                  <a:pt x="412679" y="383334"/>
                </a:lnTo>
                <a:lnTo>
                  <a:pt x="450247" y="359497"/>
                </a:lnTo>
                <a:lnTo>
                  <a:pt x="481572" y="328228"/>
                </a:lnTo>
                <a:lnTo>
                  <a:pt x="505446" y="290736"/>
                </a:lnTo>
                <a:lnTo>
                  <a:pt x="520657" y="248236"/>
                </a:lnTo>
                <a:lnTo>
                  <a:pt x="525996" y="201939"/>
                </a:lnTo>
                <a:lnTo>
                  <a:pt x="520657" y="155638"/>
                </a:lnTo>
                <a:lnTo>
                  <a:pt x="505446" y="113134"/>
                </a:lnTo>
                <a:lnTo>
                  <a:pt x="481572" y="75638"/>
                </a:lnTo>
                <a:lnTo>
                  <a:pt x="450247" y="44365"/>
                </a:lnTo>
                <a:lnTo>
                  <a:pt x="412679" y="20526"/>
                </a:lnTo>
                <a:lnTo>
                  <a:pt x="370079" y="5333"/>
                </a:lnTo>
                <a:lnTo>
                  <a:pt x="3236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 txBox="1"/>
          <p:nvPr/>
        </p:nvSpPr>
        <p:spPr>
          <a:xfrm>
            <a:off x="2018455" y="1517996"/>
            <a:ext cx="309880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b="1" spc="25" dirty="0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sz="1150" b="1" spc="2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50" b="1" spc="25" dirty="0">
                <a:solidFill>
                  <a:srgbClr val="FF0000"/>
                </a:solidFill>
                <a:latin typeface="Arial"/>
                <a:cs typeface="Arial"/>
              </a:rPr>
              <a:t>X</a:t>
            </a:r>
            <a:endParaRPr sz="1150">
              <a:latin typeface="Arial"/>
              <a:cs typeface="Arial"/>
            </a:endParaRPr>
          </a:p>
        </p:txBody>
      </p:sp>
      <p:sp>
        <p:nvSpPr>
          <p:cNvPr id="111" name="object 111"/>
          <p:cNvSpPr/>
          <p:nvPr/>
        </p:nvSpPr>
        <p:spPr>
          <a:xfrm>
            <a:off x="1039248" y="1319806"/>
            <a:ext cx="286385" cy="196850"/>
          </a:xfrm>
          <a:custGeom>
            <a:avLst/>
            <a:gdLst/>
            <a:ahLst/>
            <a:cxnLst/>
            <a:rect l="l" t="t" r="r" b="b"/>
            <a:pathLst>
              <a:path w="286384" h="196850">
                <a:moveTo>
                  <a:pt x="0" y="0"/>
                </a:moveTo>
                <a:lnTo>
                  <a:pt x="218317" y="0"/>
                </a:lnTo>
                <a:lnTo>
                  <a:pt x="218317" y="196241"/>
                </a:lnTo>
                <a:lnTo>
                  <a:pt x="286303" y="196241"/>
                </a:lnTo>
              </a:path>
            </a:pathLst>
          </a:custGeom>
          <a:ln w="232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2421181" y="1858940"/>
            <a:ext cx="405130" cy="0"/>
          </a:xfrm>
          <a:custGeom>
            <a:avLst/>
            <a:gdLst/>
            <a:ahLst/>
            <a:cxnLst/>
            <a:rect l="l" t="t" r="r" b="b"/>
            <a:pathLst>
              <a:path w="405130">
                <a:moveTo>
                  <a:pt x="0" y="0"/>
                </a:moveTo>
                <a:lnTo>
                  <a:pt x="404679" y="0"/>
                </a:lnTo>
              </a:path>
            </a:pathLst>
          </a:custGeom>
          <a:ln w="23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2421181" y="2060858"/>
            <a:ext cx="405130" cy="0"/>
          </a:xfrm>
          <a:custGeom>
            <a:avLst/>
            <a:gdLst/>
            <a:ahLst/>
            <a:cxnLst/>
            <a:rect l="l" t="t" r="r" b="b"/>
            <a:pathLst>
              <a:path w="405130">
                <a:moveTo>
                  <a:pt x="0" y="0"/>
                </a:moveTo>
                <a:lnTo>
                  <a:pt x="404679" y="0"/>
                </a:lnTo>
              </a:path>
            </a:pathLst>
          </a:custGeom>
          <a:ln w="23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2562862" y="1757976"/>
            <a:ext cx="526415" cy="403860"/>
          </a:xfrm>
          <a:custGeom>
            <a:avLst/>
            <a:gdLst/>
            <a:ahLst/>
            <a:cxnLst/>
            <a:rect l="l" t="t" r="r" b="b"/>
            <a:pathLst>
              <a:path w="526414" h="403860">
                <a:moveTo>
                  <a:pt x="157842" y="0"/>
                </a:moveTo>
                <a:lnTo>
                  <a:pt x="0" y="0"/>
                </a:lnTo>
                <a:lnTo>
                  <a:pt x="28954" y="43343"/>
                </a:lnTo>
                <a:lnTo>
                  <a:pt x="50670" y="87833"/>
                </a:lnTo>
                <a:lnTo>
                  <a:pt x="65148" y="133142"/>
                </a:lnTo>
                <a:lnTo>
                  <a:pt x="72386" y="178942"/>
                </a:lnTo>
                <a:lnTo>
                  <a:pt x="72386" y="224905"/>
                </a:lnTo>
                <a:lnTo>
                  <a:pt x="65148" y="270705"/>
                </a:lnTo>
                <a:lnTo>
                  <a:pt x="50670" y="316013"/>
                </a:lnTo>
                <a:lnTo>
                  <a:pt x="28954" y="360503"/>
                </a:lnTo>
                <a:lnTo>
                  <a:pt x="0" y="403847"/>
                </a:lnTo>
                <a:lnTo>
                  <a:pt x="157842" y="403847"/>
                </a:lnTo>
                <a:lnTo>
                  <a:pt x="212780" y="392982"/>
                </a:lnTo>
                <a:lnTo>
                  <a:pt x="265025" y="378778"/>
                </a:lnTo>
                <a:lnTo>
                  <a:pt x="314227" y="361427"/>
                </a:lnTo>
                <a:lnTo>
                  <a:pt x="360041" y="341120"/>
                </a:lnTo>
                <a:lnTo>
                  <a:pt x="402118" y="318049"/>
                </a:lnTo>
                <a:lnTo>
                  <a:pt x="440110" y="292405"/>
                </a:lnTo>
                <a:lnTo>
                  <a:pt x="473670" y="264380"/>
                </a:lnTo>
                <a:lnTo>
                  <a:pt x="502451" y="234164"/>
                </a:lnTo>
                <a:lnTo>
                  <a:pt x="526104" y="201950"/>
                </a:lnTo>
                <a:lnTo>
                  <a:pt x="502756" y="169594"/>
                </a:lnTo>
                <a:lnTo>
                  <a:pt x="474179" y="139256"/>
                </a:lnTo>
                <a:lnTo>
                  <a:pt x="440733" y="111135"/>
                </a:lnTo>
                <a:lnTo>
                  <a:pt x="402774" y="85427"/>
                </a:lnTo>
                <a:lnTo>
                  <a:pt x="360662" y="62331"/>
                </a:lnTo>
                <a:lnTo>
                  <a:pt x="314754" y="42042"/>
                </a:lnTo>
                <a:lnTo>
                  <a:pt x="265409" y="24759"/>
                </a:lnTo>
                <a:lnTo>
                  <a:pt x="212986" y="10679"/>
                </a:lnTo>
                <a:lnTo>
                  <a:pt x="15784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2562862" y="1757975"/>
            <a:ext cx="526415" cy="403860"/>
          </a:xfrm>
          <a:custGeom>
            <a:avLst/>
            <a:gdLst/>
            <a:ahLst/>
            <a:cxnLst/>
            <a:rect l="l" t="t" r="r" b="b"/>
            <a:pathLst>
              <a:path w="526414" h="403860">
                <a:moveTo>
                  <a:pt x="526104" y="201950"/>
                </a:moveTo>
                <a:lnTo>
                  <a:pt x="502451" y="234164"/>
                </a:lnTo>
                <a:lnTo>
                  <a:pt x="473670" y="264380"/>
                </a:lnTo>
                <a:lnTo>
                  <a:pt x="440110" y="292405"/>
                </a:lnTo>
                <a:lnTo>
                  <a:pt x="402118" y="318049"/>
                </a:lnTo>
                <a:lnTo>
                  <a:pt x="360041" y="341120"/>
                </a:lnTo>
                <a:lnTo>
                  <a:pt x="314227" y="361427"/>
                </a:lnTo>
                <a:lnTo>
                  <a:pt x="265025" y="378778"/>
                </a:lnTo>
                <a:lnTo>
                  <a:pt x="212780" y="392982"/>
                </a:lnTo>
                <a:lnTo>
                  <a:pt x="157842" y="403847"/>
                </a:lnTo>
                <a:lnTo>
                  <a:pt x="0" y="403847"/>
                </a:lnTo>
                <a:lnTo>
                  <a:pt x="28954" y="360503"/>
                </a:lnTo>
                <a:lnTo>
                  <a:pt x="50670" y="316013"/>
                </a:lnTo>
                <a:lnTo>
                  <a:pt x="65148" y="270705"/>
                </a:lnTo>
                <a:lnTo>
                  <a:pt x="72386" y="224905"/>
                </a:lnTo>
                <a:lnTo>
                  <a:pt x="72386" y="178942"/>
                </a:lnTo>
                <a:lnTo>
                  <a:pt x="65148" y="133142"/>
                </a:lnTo>
                <a:lnTo>
                  <a:pt x="50670" y="87833"/>
                </a:lnTo>
                <a:lnTo>
                  <a:pt x="28954" y="43343"/>
                </a:lnTo>
                <a:lnTo>
                  <a:pt x="0" y="0"/>
                </a:lnTo>
                <a:lnTo>
                  <a:pt x="157842" y="0"/>
                </a:lnTo>
                <a:lnTo>
                  <a:pt x="212986" y="10679"/>
                </a:lnTo>
                <a:lnTo>
                  <a:pt x="265409" y="24759"/>
                </a:lnTo>
                <a:lnTo>
                  <a:pt x="314754" y="42042"/>
                </a:lnTo>
                <a:lnTo>
                  <a:pt x="360662" y="62331"/>
                </a:lnTo>
                <a:lnTo>
                  <a:pt x="402774" y="85427"/>
                </a:lnTo>
                <a:lnTo>
                  <a:pt x="440733" y="111135"/>
                </a:lnTo>
                <a:lnTo>
                  <a:pt x="474179" y="139256"/>
                </a:lnTo>
                <a:lnTo>
                  <a:pt x="502756" y="169594"/>
                </a:lnTo>
                <a:lnTo>
                  <a:pt x="526104" y="201950"/>
                </a:lnTo>
                <a:close/>
              </a:path>
            </a:pathLst>
          </a:custGeom>
          <a:ln w="232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2562862" y="1757975"/>
            <a:ext cx="526415" cy="403860"/>
          </a:xfrm>
          <a:custGeom>
            <a:avLst/>
            <a:gdLst/>
            <a:ahLst/>
            <a:cxnLst/>
            <a:rect l="l" t="t" r="r" b="b"/>
            <a:pathLst>
              <a:path w="526414" h="403860">
                <a:moveTo>
                  <a:pt x="323765" y="403847"/>
                </a:moveTo>
                <a:lnTo>
                  <a:pt x="0" y="403847"/>
                </a:lnTo>
                <a:lnTo>
                  <a:pt x="0" y="0"/>
                </a:lnTo>
                <a:lnTo>
                  <a:pt x="323765" y="0"/>
                </a:lnTo>
                <a:lnTo>
                  <a:pt x="370153" y="5333"/>
                </a:lnTo>
                <a:lnTo>
                  <a:pt x="412739" y="20524"/>
                </a:lnTo>
                <a:lnTo>
                  <a:pt x="450309" y="44361"/>
                </a:lnTo>
                <a:lnTo>
                  <a:pt x="481646" y="75632"/>
                </a:lnTo>
                <a:lnTo>
                  <a:pt x="505535" y="113125"/>
                </a:lnTo>
                <a:lnTo>
                  <a:pt x="520759" y="155628"/>
                </a:lnTo>
                <a:lnTo>
                  <a:pt x="526104" y="201929"/>
                </a:lnTo>
                <a:lnTo>
                  <a:pt x="520759" y="248226"/>
                </a:lnTo>
                <a:lnTo>
                  <a:pt x="505535" y="290726"/>
                </a:lnTo>
                <a:lnTo>
                  <a:pt x="481646" y="328217"/>
                </a:lnTo>
                <a:lnTo>
                  <a:pt x="450309" y="359487"/>
                </a:lnTo>
                <a:lnTo>
                  <a:pt x="412739" y="383323"/>
                </a:lnTo>
                <a:lnTo>
                  <a:pt x="370153" y="398514"/>
                </a:lnTo>
                <a:lnTo>
                  <a:pt x="323765" y="403847"/>
                </a:lnTo>
                <a:close/>
              </a:path>
            </a:pathLst>
          </a:custGeom>
          <a:ln w="232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 txBox="1"/>
          <p:nvPr/>
        </p:nvSpPr>
        <p:spPr>
          <a:xfrm>
            <a:off x="2813160" y="1853265"/>
            <a:ext cx="697865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13055" algn="l"/>
              </a:tabLst>
            </a:pPr>
            <a:r>
              <a:rPr sz="1150" b="1" strike="sngStrike" spc="10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1150" b="1" strike="sngStrike" spc="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50" b="1" strike="noStrike" dirty="0">
                <a:solidFill>
                  <a:srgbClr val="0000FF"/>
                </a:solidFill>
                <a:latin typeface="Arial"/>
                <a:cs typeface="Arial"/>
              </a:rPr>
              <a:t>	</a:t>
            </a:r>
            <a:r>
              <a:rPr sz="1150" b="1" strike="sngStrike" spc="25" dirty="0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sz="1150" b="1" strike="sngStrike" spc="28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50" b="1" strike="sngStrike" spc="25" dirty="0">
                <a:solidFill>
                  <a:srgbClr val="FF0000"/>
                </a:solidFill>
                <a:latin typeface="Arial"/>
                <a:cs typeface="Arial"/>
              </a:rPr>
              <a:t>X</a:t>
            </a:r>
            <a:r>
              <a:rPr sz="1150" b="1" strike="sngStrike" spc="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endParaRPr sz="1150">
              <a:latin typeface="Arial"/>
              <a:cs typeface="Arial"/>
            </a:endParaRPr>
          </a:p>
        </p:txBody>
      </p:sp>
      <p:sp>
        <p:nvSpPr>
          <p:cNvPr id="119" name="object 119"/>
          <p:cNvSpPr/>
          <p:nvPr/>
        </p:nvSpPr>
        <p:spPr>
          <a:xfrm>
            <a:off x="2134910" y="1617012"/>
            <a:ext cx="286385" cy="241935"/>
          </a:xfrm>
          <a:custGeom>
            <a:avLst/>
            <a:gdLst/>
            <a:ahLst/>
            <a:cxnLst/>
            <a:rect l="l" t="t" r="r" b="b"/>
            <a:pathLst>
              <a:path w="286385" h="241935">
                <a:moveTo>
                  <a:pt x="286270" y="241927"/>
                </a:moveTo>
                <a:lnTo>
                  <a:pt x="171740" y="241927"/>
                </a:lnTo>
                <a:lnTo>
                  <a:pt x="171740" y="0"/>
                </a:lnTo>
                <a:lnTo>
                  <a:pt x="0" y="0"/>
                </a:lnTo>
              </a:path>
            </a:pathLst>
          </a:custGeom>
          <a:ln w="232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1340851" y="2232305"/>
            <a:ext cx="405130" cy="0"/>
          </a:xfrm>
          <a:custGeom>
            <a:avLst/>
            <a:gdLst/>
            <a:ahLst/>
            <a:cxnLst/>
            <a:rect l="l" t="t" r="r" b="b"/>
            <a:pathLst>
              <a:path w="405130">
                <a:moveTo>
                  <a:pt x="0" y="0"/>
                </a:moveTo>
                <a:lnTo>
                  <a:pt x="404679" y="0"/>
                </a:lnTo>
              </a:path>
            </a:pathLst>
          </a:custGeom>
          <a:ln w="23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1745530" y="2333269"/>
            <a:ext cx="405130" cy="0"/>
          </a:xfrm>
          <a:custGeom>
            <a:avLst/>
            <a:gdLst/>
            <a:ahLst/>
            <a:cxnLst/>
            <a:rect l="l" t="t" r="r" b="b"/>
            <a:pathLst>
              <a:path w="405130">
                <a:moveTo>
                  <a:pt x="404679" y="0"/>
                </a:moveTo>
                <a:lnTo>
                  <a:pt x="0" y="0"/>
                </a:lnTo>
              </a:path>
            </a:pathLst>
          </a:custGeom>
          <a:ln w="23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1482424" y="2131351"/>
            <a:ext cx="526415" cy="403860"/>
          </a:xfrm>
          <a:custGeom>
            <a:avLst/>
            <a:gdLst/>
            <a:ahLst/>
            <a:cxnLst/>
            <a:rect l="l" t="t" r="r" b="b"/>
            <a:pathLst>
              <a:path w="526414" h="403860">
                <a:moveTo>
                  <a:pt x="157842" y="0"/>
                </a:moveTo>
                <a:lnTo>
                  <a:pt x="0" y="0"/>
                </a:lnTo>
                <a:lnTo>
                  <a:pt x="28954" y="43343"/>
                </a:lnTo>
                <a:lnTo>
                  <a:pt x="50670" y="87833"/>
                </a:lnTo>
                <a:lnTo>
                  <a:pt x="65148" y="133142"/>
                </a:lnTo>
                <a:lnTo>
                  <a:pt x="72386" y="178941"/>
                </a:lnTo>
                <a:lnTo>
                  <a:pt x="72386" y="224904"/>
                </a:lnTo>
                <a:lnTo>
                  <a:pt x="65148" y="270703"/>
                </a:lnTo>
                <a:lnTo>
                  <a:pt x="50670" y="316011"/>
                </a:lnTo>
                <a:lnTo>
                  <a:pt x="28954" y="360500"/>
                </a:lnTo>
                <a:lnTo>
                  <a:pt x="0" y="403843"/>
                </a:lnTo>
                <a:lnTo>
                  <a:pt x="157842" y="403843"/>
                </a:lnTo>
                <a:lnTo>
                  <a:pt x="212784" y="392977"/>
                </a:lnTo>
                <a:lnTo>
                  <a:pt x="265037" y="378772"/>
                </a:lnTo>
                <a:lnTo>
                  <a:pt x="314251" y="361420"/>
                </a:lnTo>
                <a:lnTo>
                  <a:pt x="360076" y="341112"/>
                </a:lnTo>
                <a:lnTo>
                  <a:pt x="402162" y="318040"/>
                </a:lnTo>
                <a:lnTo>
                  <a:pt x="440158" y="292395"/>
                </a:lnTo>
                <a:lnTo>
                  <a:pt x="473714" y="264369"/>
                </a:lnTo>
                <a:lnTo>
                  <a:pt x="502479" y="234154"/>
                </a:lnTo>
                <a:lnTo>
                  <a:pt x="526104" y="201939"/>
                </a:lnTo>
                <a:lnTo>
                  <a:pt x="502784" y="169583"/>
                </a:lnTo>
                <a:lnTo>
                  <a:pt x="474223" y="139246"/>
                </a:lnTo>
                <a:lnTo>
                  <a:pt x="440780" y="111125"/>
                </a:lnTo>
                <a:lnTo>
                  <a:pt x="402818" y="85418"/>
                </a:lnTo>
                <a:lnTo>
                  <a:pt x="360697" y="62322"/>
                </a:lnTo>
                <a:lnTo>
                  <a:pt x="314778" y="42034"/>
                </a:lnTo>
                <a:lnTo>
                  <a:pt x="265422" y="24753"/>
                </a:lnTo>
                <a:lnTo>
                  <a:pt x="212989" y="10676"/>
                </a:lnTo>
                <a:lnTo>
                  <a:pt x="15784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1482424" y="2131351"/>
            <a:ext cx="526415" cy="403860"/>
          </a:xfrm>
          <a:custGeom>
            <a:avLst/>
            <a:gdLst/>
            <a:ahLst/>
            <a:cxnLst/>
            <a:rect l="l" t="t" r="r" b="b"/>
            <a:pathLst>
              <a:path w="526414" h="403860">
                <a:moveTo>
                  <a:pt x="526104" y="201939"/>
                </a:moveTo>
                <a:lnTo>
                  <a:pt x="502479" y="234154"/>
                </a:lnTo>
                <a:lnTo>
                  <a:pt x="473714" y="264369"/>
                </a:lnTo>
                <a:lnTo>
                  <a:pt x="440158" y="292395"/>
                </a:lnTo>
                <a:lnTo>
                  <a:pt x="402162" y="318040"/>
                </a:lnTo>
                <a:lnTo>
                  <a:pt x="360076" y="341112"/>
                </a:lnTo>
                <a:lnTo>
                  <a:pt x="314251" y="361420"/>
                </a:lnTo>
                <a:lnTo>
                  <a:pt x="265037" y="378772"/>
                </a:lnTo>
                <a:lnTo>
                  <a:pt x="212784" y="392977"/>
                </a:lnTo>
                <a:lnTo>
                  <a:pt x="157842" y="403843"/>
                </a:lnTo>
                <a:lnTo>
                  <a:pt x="0" y="403843"/>
                </a:lnTo>
                <a:lnTo>
                  <a:pt x="28954" y="360500"/>
                </a:lnTo>
                <a:lnTo>
                  <a:pt x="50670" y="316011"/>
                </a:lnTo>
                <a:lnTo>
                  <a:pt x="65148" y="270703"/>
                </a:lnTo>
                <a:lnTo>
                  <a:pt x="72386" y="224904"/>
                </a:lnTo>
                <a:lnTo>
                  <a:pt x="72386" y="178941"/>
                </a:lnTo>
                <a:lnTo>
                  <a:pt x="65148" y="133142"/>
                </a:lnTo>
                <a:lnTo>
                  <a:pt x="50670" y="87833"/>
                </a:lnTo>
                <a:lnTo>
                  <a:pt x="28954" y="43343"/>
                </a:lnTo>
                <a:lnTo>
                  <a:pt x="0" y="0"/>
                </a:lnTo>
                <a:lnTo>
                  <a:pt x="157842" y="0"/>
                </a:lnTo>
                <a:lnTo>
                  <a:pt x="212989" y="10676"/>
                </a:lnTo>
                <a:lnTo>
                  <a:pt x="265422" y="24753"/>
                </a:lnTo>
                <a:lnTo>
                  <a:pt x="314778" y="42034"/>
                </a:lnTo>
                <a:lnTo>
                  <a:pt x="360697" y="62322"/>
                </a:lnTo>
                <a:lnTo>
                  <a:pt x="402818" y="85418"/>
                </a:lnTo>
                <a:lnTo>
                  <a:pt x="440780" y="111125"/>
                </a:lnTo>
                <a:lnTo>
                  <a:pt x="474223" y="139246"/>
                </a:lnTo>
                <a:lnTo>
                  <a:pt x="502784" y="169583"/>
                </a:lnTo>
                <a:lnTo>
                  <a:pt x="526104" y="201939"/>
                </a:lnTo>
                <a:close/>
              </a:path>
            </a:pathLst>
          </a:custGeom>
          <a:ln w="232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1482424" y="2131351"/>
            <a:ext cx="526415" cy="403860"/>
          </a:xfrm>
          <a:custGeom>
            <a:avLst/>
            <a:gdLst/>
            <a:ahLst/>
            <a:cxnLst/>
            <a:rect l="l" t="t" r="r" b="b"/>
            <a:pathLst>
              <a:path w="526414" h="403860">
                <a:moveTo>
                  <a:pt x="323765" y="403843"/>
                </a:moveTo>
                <a:lnTo>
                  <a:pt x="0" y="403843"/>
                </a:lnTo>
                <a:lnTo>
                  <a:pt x="0" y="0"/>
                </a:lnTo>
                <a:lnTo>
                  <a:pt x="323765" y="0"/>
                </a:lnTo>
                <a:lnTo>
                  <a:pt x="370153" y="5332"/>
                </a:lnTo>
                <a:lnTo>
                  <a:pt x="412739" y="20522"/>
                </a:lnTo>
                <a:lnTo>
                  <a:pt x="450309" y="44357"/>
                </a:lnTo>
                <a:lnTo>
                  <a:pt x="481646" y="75625"/>
                </a:lnTo>
                <a:lnTo>
                  <a:pt x="505535" y="113116"/>
                </a:lnTo>
                <a:lnTo>
                  <a:pt x="520759" y="155618"/>
                </a:lnTo>
                <a:lnTo>
                  <a:pt x="526104" y="201918"/>
                </a:lnTo>
                <a:lnTo>
                  <a:pt x="520759" y="248219"/>
                </a:lnTo>
                <a:lnTo>
                  <a:pt x="505535" y="290721"/>
                </a:lnTo>
                <a:lnTo>
                  <a:pt x="481646" y="328213"/>
                </a:lnTo>
                <a:lnTo>
                  <a:pt x="450309" y="359483"/>
                </a:lnTo>
                <a:lnTo>
                  <a:pt x="412739" y="383320"/>
                </a:lnTo>
                <a:lnTo>
                  <a:pt x="370153" y="398510"/>
                </a:lnTo>
                <a:lnTo>
                  <a:pt x="323765" y="403843"/>
                </a:lnTo>
                <a:close/>
              </a:path>
            </a:pathLst>
          </a:custGeom>
          <a:ln w="232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2150210" y="2060858"/>
            <a:ext cx="271145" cy="272415"/>
          </a:xfrm>
          <a:custGeom>
            <a:avLst/>
            <a:gdLst/>
            <a:ahLst/>
            <a:cxnLst/>
            <a:rect l="l" t="t" r="r" b="b"/>
            <a:pathLst>
              <a:path w="271144" h="272414">
                <a:moveTo>
                  <a:pt x="270971" y="0"/>
                </a:moveTo>
                <a:lnTo>
                  <a:pt x="156441" y="0"/>
                </a:lnTo>
                <a:lnTo>
                  <a:pt x="156441" y="272410"/>
                </a:lnTo>
                <a:lnTo>
                  <a:pt x="0" y="272410"/>
                </a:lnTo>
              </a:path>
            </a:pathLst>
          </a:custGeom>
          <a:ln w="232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 txBox="1"/>
          <p:nvPr/>
        </p:nvSpPr>
        <p:spPr>
          <a:xfrm>
            <a:off x="2008354" y="2219017"/>
            <a:ext cx="344805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725" b="1" spc="37" baseline="-4830" dirty="0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sz="1725" b="1" spc="217" baseline="-48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50" b="1" spc="25" dirty="0">
                <a:solidFill>
                  <a:srgbClr val="FF0000"/>
                </a:solidFill>
                <a:latin typeface="Arial"/>
                <a:cs typeface="Arial"/>
              </a:rPr>
              <a:t>X</a:t>
            </a:r>
            <a:endParaRPr sz="1150">
              <a:latin typeface="Arial"/>
              <a:cs typeface="Arial"/>
            </a:endParaRPr>
          </a:p>
        </p:txBody>
      </p:sp>
      <p:sp>
        <p:nvSpPr>
          <p:cNvPr id="128" name="object 128"/>
          <p:cNvSpPr/>
          <p:nvPr/>
        </p:nvSpPr>
        <p:spPr>
          <a:xfrm>
            <a:off x="833095" y="2232305"/>
            <a:ext cx="508000" cy="13335"/>
          </a:xfrm>
          <a:custGeom>
            <a:avLst/>
            <a:gdLst/>
            <a:ahLst/>
            <a:cxnLst/>
            <a:rect l="l" t="t" r="r" b="b"/>
            <a:pathLst>
              <a:path w="508000" h="13335">
                <a:moveTo>
                  <a:pt x="507756" y="0"/>
                </a:moveTo>
                <a:lnTo>
                  <a:pt x="0" y="13332"/>
                </a:lnTo>
              </a:path>
            </a:pathLst>
          </a:custGeom>
          <a:ln w="23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 txBox="1"/>
          <p:nvPr/>
        </p:nvSpPr>
        <p:spPr>
          <a:xfrm>
            <a:off x="922793" y="1609434"/>
            <a:ext cx="309880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b="1" spc="25" dirty="0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sz="1150" b="1" spc="2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50" b="1" spc="25" dirty="0">
                <a:solidFill>
                  <a:srgbClr val="FF0000"/>
                </a:solidFill>
                <a:latin typeface="Arial"/>
                <a:cs typeface="Arial"/>
              </a:rPr>
              <a:t>X</a:t>
            </a:r>
            <a:endParaRPr sz="1150">
              <a:latin typeface="Arial"/>
              <a:cs typeface="Arial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938071" y="2127579"/>
            <a:ext cx="278765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b="1" spc="25" dirty="0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sz="1150" b="1" spc="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50" b="1" spc="25" dirty="0">
                <a:solidFill>
                  <a:srgbClr val="FF0000"/>
                </a:solidFill>
                <a:latin typeface="Arial"/>
                <a:cs typeface="Arial"/>
              </a:rPr>
              <a:t>X</a:t>
            </a:r>
            <a:endParaRPr sz="1150">
              <a:latin typeface="Arial"/>
              <a:cs typeface="Arial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764346" y="2340929"/>
            <a:ext cx="994410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981075" algn="l"/>
              </a:tabLst>
            </a:pPr>
            <a:r>
              <a:rPr sz="1150" b="1" strike="sngStrike" spc="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50" b="1" strike="sngStrike" spc="25" dirty="0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sz="1150" b="1" strike="sngStrike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50" b="1" strike="sngStrike" spc="25" dirty="0">
                <a:solidFill>
                  <a:srgbClr val="FF0000"/>
                </a:solidFill>
                <a:latin typeface="Arial"/>
                <a:cs typeface="Arial"/>
              </a:rPr>
              <a:t>X	</a:t>
            </a:r>
            <a:endParaRPr sz="1150">
              <a:latin typeface="Arial"/>
              <a:cs typeface="Arial"/>
            </a:endParaRPr>
          </a:p>
        </p:txBody>
      </p:sp>
      <p:sp>
        <p:nvSpPr>
          <p:cNvPr id="132" name="object 132"/>
          <p:cNvSpPr txBox="1">
            <a:spLocks noGrp="1"/>
          </p:cNvSpPr>
          <p:nvPr>
            <p:ph type="title"/>
          </p:nvPr>
        </p:nvSpPr>
        <p:spPr>
          <a:xfrm>
            <a:off x="1445513" y="164414"/>
            <a:ext cx="61233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DFC on Fanout-free</a:t>
            </a:r>
            <a:r>
              <a:rPr spc="-95" dirty="0"/>
              <a:t> </a:t>
            </a:r>
            <a:r>
              <a:rPr dirty="0"/>
              <a:t>Circuits</a:t>
            </a:r>
          </a:p>
        </p:txBody>
      </p:sp>
      <p:sp>
        <p:nvSpPr>
          <p:cNvPr id="135" name="object 135"/>
          <p:cNvSpPr txBox="1"/>
          <p:nvPr/>
        </p:nvSpPr>
        <p:spPr>
          <a:xfrm>
            <a:off x="31496" y="2647569"/>
            <a:ext cx="79057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tabLst>
                <a:tab pos="435609" algn="l"/>
              </a:tabLst>
            </a:pPr>
            <a:r>
              <a:rPr sz="1400" b="1" spc="-5" dirty="0">
                <a:solidFill>
                  <a:srgbClr val="0000FF"/>
                </a:solidFill>
                <a:latin typeface="Helvetica"/>
                <a:cs typeface="Helvetica"/>
              </a:rPr>
              <a:t>blue </a:t>
            </a:r>
            <a:r>
              <a:rPr sz="1400" b="1" spc="-15" dirty="0">
                <a:solidFill>
                  <a:srgbClr val="0000FF"/>
                </a:solidFill>
                <a:latin typeface="Helvetica"/>
                <a:cs typeface="Helvetica"/>
              </a:rPr>
              <a:t>SA0  </a:t>
            </a:r>
            <a:r>
              <a:rPr sz="1400" b="1" dirty="0">
                <a:solidFill>
                  <a:srgbClr val="FF0000"/>
                </a:solidFill>
                <a:latin typeface="Helvetica"/>
                <a:cs typeface="Helvetica"/>
              </a:rPr>
              <a:t>red	S</a:t>
            </a:r>
            <a:r>
              <a:rPr sz="1400" b="1" spc="-45" dirty="0">
                <a:solidFill>
                  <a:srgbClr val="FF0000"/>
                </a:solidFill>
                <a:latin typeface="Helvetica"/>
                <a:cs typeface="Helvetica"/>
              </a:rPr>
              <a:t>A</a:t>
            </a:r>
            <a:r>
              <a:rPr sz="1400" b="1" dirty="0">
                <a:solidFill>
                  <a:srgbClr val="FF0000"/>
                </a:solidFill>
                <a:latin typeface="Helvetica"/>
                <a:cs typeface="Helvetica"/>
              </a:rPr>
              <a:t>1</a:t>
            </a:r>
            <a:endParaRPr sz="1400">
              <a:latin typeface="Helvetica"/>
              <a:cs typeface="Helvetica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109423" y="6447452"/>
            <a:ext cx="652577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7</a:t>
            </a:fld>
            <a:endParaRPr sz="2400">
              <a:latin typeface="Arial"/>
              <a:cs typeface="Arial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371549" y="1117877"/>
            <a:ext cx="526415" cy="404495"/>
          </a:xfrm>
          <a:custGeom>
            <a:avLst/>
            <a:gdLst/>
            <a:ahLst/>
            <a:cxnLst/>
            <a:rect l="l" t="t" r="r" b="b"/>
            <a:pathLst>
              <a:path w="526415" h="404494">
                <a:moveTo>
                  <a:pt x="323732" y="0"/>
                </a:moveTo>
                <a:lnTo>
                  <a:pt x="0" y="0"/>
                </a:lnTo>
                <a:lnTo>
                  <a:pt x="0" y="403890"/>
                </a:lnTo>
                <a:lnTo>
                  <a:pt x="323732" y="403890"/>
                </a:lnTo>
                <a:lnTo>
                  <a:pt x="370123" y="398554"/>
                </a:lnTo>
                <a:lnTo>
                  <a:pt x="412710" y="383356"/>
                </a:lnTo>
                <a:lnTo>
                  <a:pt x="450277" y="359509"/>
                </a:lnTo>
                <a:lnTo>
                  <a:pt x="481610" y="328229"/>
                </a:lnTo>
                <a:lnTo>
                  <a:pt x="505495" y="290729"/>
                </a:lnTo>
                <a:lnTo>
                  <a:pt x="520717" y="248225"/>
                </a:lnTo>
                <a:lnTo>
                  <a:pt x="526061" y="201929"/>
                </a:lnTo>
                <a:lnTo>
                  <a:pt x="520717" y="155635"/>
                </a:lnTo>
                <a:lnTo>
                  <a:pt x="505495" y="113134"/>
                </a:lnTo>
                <a:lnTo>
                  <a:pt x="481610" y="75641"/>
                </a:lnTo>
                <a:lnTo>
                  <a:pt x="450277" y="44368"/>
                </a:lnTo>
                <a:lnTo>
                  <a:pt x="412710" y="20527"/>
                </a:lnTo>
                <a:lnTo>
                  <a:pt x="370123" y="5334"/>
                </a:lnTo>
                <a:lnTo>
                  <a:pt x="32373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1482424" y="2131351"/>
            <a:ext cx="526415" cy="403860"/>
          </a:xfrm>
          <a:custGeom>
            <a:avLst/>
            <a:gdLst/>
            <a:ahLst/>
            <a:cxnLst/>
            <a:rect l="l" t="t" r="r" b="b"/>
            <a:pathLst>
              <a:path w="526414" h="403860">
                <a:moveTo>
                  <a:pt x="323765" y="0"/>
                </a:moveTo>
                <a:lnTo>
                  <a:pt x="0" y="0"/>
                </a:lnTo>
                <a:lnTo>
                  <a:pt x="0" y="403843"/>
                </a:lnTo>
                <a:lnTo>
                  <a:pt x="323765" y="403843"/>
                </a:lnTo>
                <a:lnTo>
                  <a:pt x="370153" y="398510"/>
                </a:lnTo>
                <a:lnTo>
                  <a:pt x="412739" y="383320"/>
                </a:lnTo>
                <a:lnTo>
                  <a:pt x="450309" y="359483"/>
                </a:lnTo>
                <a:lnTo>
                  <a:pt x="481646" y="328213"/>
                </a:lnTo>
                <a:lnTo>
                  <a:pt x="505535" y="290721"/>
                </a:lnTo>
                <a:lnTo>
                  <a:pt x="520759" y="248219"/>
                </a:lnTo>
                <a:lnTo>
                  <a:pt x="526104" y="201918"/>
                </a:lnTo>
                <a:lnTo>
                  <a:pt x="520759" y="155618"/>
                </a:lnTo>
                <a:lnTo>
                  <a:pt x="505535" y="113116"/>
                </a:lnTo>
                <a:lnTo>
                  <a:pt x="481646" y="75625"/>
                </a:lnTo>
                <a:lnTo>
                  <a:pt x="450309" y="44357"/>
                </a:lnTo>
                <a:lnTo>
                  <a:pt x="412739" y="20522"/>
                </a:lnTo>
                <a:lnTo>
                  <a:pt x="370153" y="5332"/>
                </a:lnTo>
                <a:lnTo>
                  <a:pt x="32376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2562862" y="1757976"/>
            <a:ext cx="526415" cy="403860"/>
          </a:xfrm>
          <a:custGeom>
            <a:avLst/>
            <a:gdLst/>
            <a:ahLst/>
            <a:cxnLst/>
            <a:rect l="l" t="t" r="r" b="b"/>
            <a:pathLst>
              <a:path w="526414" h="403860">
                <a:moveTo>
                  <a:pt x="323765" y="0"/>
                </a:moveTo>
                <a:lnTo>
                  <a:pt x="0" y="0"/>
                </a:lnTo>
                <a:lnTo>
                  <a:pt x="0" y="403847"/>
                </a:lnTo>
                <a:lnTo>
                  <a:pt x="323765" y="403847"/>
                </a:lnTo>
                <a:lnTo>
                  <a:pt x="370153" y="398514"/>
                </a:lnTo>
                <a:lnTo>
                  <a:pt x="412739" y="383323"/>
                </a:lnTo>
                <a:lnTo>
                  <a:pt x="450309" y="359487"/>
                </a:lnTo>
                <a:lnTo>
                  <a:pt x="481646" y="328217"/>
                </a:lnTo>
                <a:lnTo>
                  <a:pt x="505535" y="290726"/>
                </a:lnTo>
                <a:lnTo>
                  <a:pt x="520759" y="248226"/>
                </a:lnTo>
                <a:lnTo>
                  <a:pt x="526104" y="201929"/>
                </a:lnTo>
                <a:lnTo>
                  <a:pt x="520759" y="155628"/>
                </a:lnTo>
                <a:lnTo>
                  <a:pt x="505535" y="113125"/>
                </a:lnTo>
                <a:lnTo>
                  <a:pt x="481646" y="75632"/>
                </a:lnTo>
                <a:lnTo>
                  <a:pt x="450309" y="44361"/>
                </a:lnTo>
                <a:lnTo>
                  <a:pt x="412739" y="20524"/>
                </a:lnTo>
                <a:lnTo>
                  <a:pt x="370153" y="5333"/>
                </a:lnTo>
                <a:lnTo>
                  <a:pt x="32376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8F89A43-9379-0248-BDB7-2057E1D6D63C}"/>
              </a:ext>
            </a:extLst>
          </p:cNvPr>
          <p:cNvGrpSpPr/>
          <p:nvPr/>
        </p:nvGrpSpPr>
        <p:grpSpPr>
          <a:xfrm>
            <a:off x="2977261" y="3082925"/>
            <a:ext cx="3689985" cy="1946275"/>
            <a:chOff x="2977261" y="3082925"/>
            <a:chExt cx="3689985" cy="1946275"/>
          </a:xfrm>
        </p:grpSpPr>
        <p:sp>
          <p:nvSpPr>
            <p:cNvPr id="41" name="object 41"/>
            <p:cNvSpPr/>
            <p:nvPr/>
          </p:nvSpPr>
          <p:spPr>
            <a:xfrm>
              <a:off x="2977261" y="3082925"/>
              <a:ext cx="3689985" cy="1946275"/>
            </a:xfrm>
            <a:custGeom>
              <a:avLst/>
              <a:gdLst/>
              <a:ahLst/>
              <a:cxnLst/>
              <a:rect l="l" t="t" r="r" b="b"/>
              <a:pathLst>
                <a:path w="3689985" h="1946275">
                  <a:moveTo>
                    <a:pt x="0" y="1946148"/>
                  </a:moveTo>
                  <a:lnTo>
                    <a:pt x="3689604" y="1946148"/>
                  </a:lnTo>
                  <a:lnTo>
                    <a:pt x="3689604" y="0"/>
                  </a:lnTo>
                  <a:lnTo>
                    <a:pt x="0" y="0"/>
                  </a:lnTo>
                  <a:lnTo>
                    <a:pt x="0" y="1946148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369245" y="3207649"/>
              <a:ext cx="405130" cy="0"/>
            </a:xfrm>
            <a:custGeom>
              <a:avLst/>
              <a:gdLst/>
              <a:ahLst/>
              <a:cxnLst/>
              <a:rect l="l" t="t" r="r" b="b"/>
              <a:pathLst>
                <a:path w="405130">
                  <a:moveTo>
                    <a:pt x="0" y="0"/>
                  </a:moveTo>
                  <a:lnTo>
                    <a:pt x="404608" y="0"/>
                  </a:lnTo>
                </a:path>
              </a:pathLst>
            </a:custGeom>
            <a:ln w="232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773853" y="3308618"/>
              <a:ext cx="405130" cy="0"/>
            </a:xfrm>
            <a:custGeom>
              <a:avLst/>
              <a:gdLst/>
              <a:ahLst/>
              <a:cxnLst/>
              <a:rect l="l" t="t" r="r" b="b"/>
              <a:pathLst>
                <a:path w="405129">
                  <a:moveTo>
                    <a:pt x="404662" y="0"/>
                  </a:moveTo>
                  <a:lnTo>
                    <a:pt x="0" y="0"/>
                  </a:lnTo>
                </a:path>
              </a:pathLst>
            </a:custGeom>
            <a:ln w="232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510861" y="3106680"/>
              <a:ext cx="526415" cy="404495"/>
            </a:xfrm>
            <a:custGeom>
              <a:avLst/>
              <a:gdLst/>
              <a:ahLst/>
              <a:cxnLst/>
              <a:rect l="l" t="t" r="r" b="b"/>
              <a:pathLst>
                <a:path w="526414" h="404495">
                  <a:moveTo>
                    <a:pt x="157797" y="0"/>
                  </a:moveTo>
                  <a:lnTo>
                    <a:pt x="0" y="0"/>
                  </a:lnTo>
                  <a:lnTo>
                    <a:pt x="28950" y="43335"/>
                  </a:lnTo>
                  <a:lnTo>
                    <a:pt x="50663" y="87817"/>
                  </a:lnTo>
                  <a:lnTo>
                    <a:pt x="65138" y="133120"/>
                  </a:lnTo>
                  <a:lnTo>
                    <a:pt x="72376" y="178916"/>
                  </a:lnTo>
                  <a:lnTo>
                    <a:pt x="72376" y="224880"/>
                  </a:lnTo>
                  <a:lnTo>
                    <a:pt x="65138" y="270684"/>
                  </a:lnTo>
                  <a:lnTo>
                    <a:pt x="50663" y="316003"/>
                  </a:lnTo>
                  <a:lnTo>
                    <a:pt x="28950" y="360509"/>
                  </a:lnTo>
                  <a:lnTo>
                    <a:pt x="0" y="403876"/>
                  </a:lnTo>
                  <a:lnTo>
                    <a:pt x="157797" y="403876"/>
                  </a:lnTo>
                  <a:lnTo>
                    <a:pt x="212729" y="393004"/>
                  </a:lnTo>
                  <a:lnTo>
                    <a:pt x="264971" y="378794"/>
                  </a:lnTo>
                  <a:lnTo>
                    <a:pt x="314173" y="361438"/>
                  </a:lnTo>
                  <a:lnTo>
                    <a:pt x="359986" y="341127"/>
                  </a:lnTo>
                  <a:lnTo>
                    <a:pt x="402060" y="318053"/>
                  </a:lnTo>
                  <a:lnTo>
                    <a:pt x="440046" y="292405"/>
                  </a:lnTo>
                  <a:lnTo>
                    <a:pt x="473595" y="264376"/>
                  </a:lnTo>
                  <a:lnTo>
                    <a:pt x="502357" y="234157"/>
                  </a:lnTo>
                  <a:lnTo>
                    <a:pt x="525983" y="201938"/>
                  </a:lnTo>
                  <a:lnTo>
                    <a:pt x="502649" y="169581"/>
                  </a:lnTo>
                  <a:lnTo>
                    <a:pt x="474081" y="139239"/>
                  </a:lnTo>
                  <a:lnTo>
                    <a:pt x="440639" y="111112"/>
                  </a:lnTo>
                  <a:lnTo>
                    <a:pt x="402684" y="85398"/>
                  </a:lnTo>
                  <a:lnTo>
                    <a:pt x="360574" y="62297"/>
                  </a:lnTo>
                  <a:lnTo>
                    <a:pt x="314671" y="42007"/>
                  </a:lnTo>
                  <a:lnTo>
                    <a:pt x="265333" y="24728"/>
                  </a:lnTo>
                  <a:lnTo>
                    <a:pt x="212922" y="10659"/>
                  </a:lnTo>
                  <a:lnTo>
                    <a:pt x="1577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510861" y="3106680"/>
              <a:ext cx="526415" cy="404495"/>
            </a:xfrm>
            <a:custGeom>
              <a:avLst/>
              <a:gdLst/>
              <a:ahLst/>
              <a:cxnLst/>
              <a:rect l="l" t="t" r="r" b="b"/>
              <a:pathLst>
                <a:path w="526414" h="404495">
                  <a:moveTo>
                    <a:pt x="525983" y="201938"/>
                  </a:moveTo>
                  <a:lnTo>
                    <a:pt x="502357" y="234157"/>
                  </a:lnTo>
                  <a:lnTo>
                    <a:pt x="473595" y="264376"/>
                  </a:lnTo>
                  <a:lnTo>
                    <a:pt x="440046" y="292405"/>
                  </a:lnTo>
                  <a:lnTo>
                    <a:pt x="402060" y="318053"/>
                  </a:lnTo>
                  <a:lnTo>
                    <a:pt x="359986" y="341127"/>
                  </a:lnTo>
                  <a:lnTo>
                    <a:pt x="314173" y="361438"/>
                  </a:lnTo>
                  <a:lnTo>
                    <a:pt x="264971" y="378794"/>
                  </a:lnTo>
                  <a:lnTo>
                    <a:pt x="212729" y="393004"/>
                  </a:lnTo>
                  <a:lnTo>
                    <a:pt x="157797" y="403876"/>
                  </a:lnTo>
                  <a:lnTo>
                    <a:pt x="0" y="403876"/>
                  </a:lnTo>
                  <a:lnTo>
                    <a:pt x="28950" y="360509"/>
                  </a:lnTo>
                  <a:lnTo>
                    <a:pt x="50663" y="316003"/>
                  </a:lnTo>
                  <a:lnTo>
                    <a:pt x="65138" y="270684"/>
                  </a:lnTo>
                  <a:lnTo>
                    <a:pt x="72376" y="224880"/>
                  </a:lnTo>
                  <a:lnTo>
                    <a:pt x="72376" y="178916"/>
                  </a:lnTo>
                  <a:lnTo>
                    <a:pt x="65138" y="133120"/>
                  </a:lnTo>
                  <a:lnTo>
                    <a:pt x="50663" y="87817"/>
                  </a:lnTo>
                  <a:lnTo>
                    <a:pt x="28950" y="43335"/>
                  </a:lnTo>
                  <a:lnTo>
                    <a:pt x="0" y="0"/>
                  </a:lnTo>
                  <a:lnTo>
                    <a:pt x="157797" y="0"/>
                  </a:lnTo>
                  <a:lnTo>
                    <a:pt x="212922" y="10659"/>
                  </a:lnTo>
                  <a:lnTo>
                    <a:pt x="265334" y="24728"/>
                  </a:lnTo>
                  <a:lnTo>
                    <a:pt x="314671" y="42007"/>
                  </a:lnTo>
                  <a:lnTo>
                    <a:pt x="360574" y="62297"/>
                  </a:lnTo>
                  <a:lnTo>
                    <a:pt x="402684" y="85398"/>
                  </a:lnTo>
                  <a:lnTo>
                    <a:pt x="440640" y="111112"/>
                  </a:lnTo>
                  <a:lnTo>
                    <a:pt x="474081" y="139239"/>
                  </a:lnTo>
                  <a:lnTo>
                    <a:pt x="502649" y="169581"/>
                  </a:lnTo>
                  <a:lnTo>
                    <a:pt x="525983" y="201938"/>
                  </a:lnTo>
                  <a:close/>
                </a:path>
              </a:pathLst>
            </a:custGeom>
            <a:ln w="232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10861" y="3106680"/>
              <a:ext cx="526415" cy="404495"/>
            </a:xfrm>
            <a:custGeom>
              <a:avLst/>
              <a:gdLst/>
              <a:ahLst/>
              <a:cxnLst/>
              <a:rect l="l" t="t" r="r" b="b"/>
              <a:pathLst>
                <a:path w="526414" h="404495">
                  <a:moveTo>
                    <a:pt x="323684" y="403876"/>
                  </a:moveTo>
                  <a:lnTo>
                    <a:pt x="0" y="403876"/>
                  </a:lnTo>
                  <a:lnTo>
                    <a:pt x="0" y="0"/>
                  </a:lnTo>
                  <a:lnTo>
                    <a:pt x="323684" y="0"/>
                  </a:lnTo>
                  <a:lnTo>
                    <a:pt x="370068" y="5328"/>
                  </a:lnTo>
                  <a:lnTo>
                    <a:pt x="412649" y="20510"/>
                  </a:lnTo>
                  <a:lnTo>
                    <a:pt x="450210" y="44336"/>
                  </a:lnTo>
                  <a:lnTo>
                    <a:pt x="481539" y="75599"/>
                  </a:lnTo>
                  <a:lnTo>
                    <a:pt x="505421" y="113092"/>
                  </a:lnTo>
                  <a:lnTo>
                    <a:pt x="520640" y="155608"/>
                  </a:lnTo>
                  <a:lnTo>
                    <a:pt x="525983" y="201938"/>
                  </a:lnTo>
                  <a:lnTo>
                    <a:pt x="520641" y="248234"/>
                  </a:lnTo>
                  <a:lnTo>
                    <a:pt x="505423" y="290736"/>
                  </a:lnTo>
                  <a:lnTo>
                    <a:pt x="481543" y="328231"/>
                  </a:lnTo>
                  <a:lnTo>
                    <a:pt x="450215" y="359506"/>
                  </a:lnTo>
                  <a:lnTo>
                    <a:pt x="412653" y="383347"/>
                  </a:lnTo>
                  <a:lnTo>
                    <a:pt x="370072" y="398542"/>
                  </a:lnTo>
                  <a:lnTo>
                    <a:pt x="323684" y="403876"/>
                  </a:lnTo>
                  <a:close/>
                </a:path>
              </a:pathLst>
            </a:custGeom>
            <a:ln w="232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163121" y="3207649"/>
              <a:ext cx="206375" cy="0"/>
            </a:xfrm>
            <a:custGeom>
              <a:avLst/>
              <a:gdLst/>
              <a:ahLst/>
              <a:cxnLst/>
              <a:rect l="l" t="t" r="r" b="b"/>
              <a:pathLst>
                <a:path w="206375">
                  <a:moveTo>
                    <a:pt x="206123" y="0"/>
                  </a:moveTo>
                  <a:lnTo>
                    <a:pt x="0" y="0"/>
                  </a:lnTo>
                </a:path>
              </a:pathLst>
            </a:custGeom>
            <a:ln w="232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 txBox="1"/>
            <p:nvPr/>
          </p:nvSpPr>
          <p:spPr>
            <a:xfrm>
              <a:off x="4062076" y="3201942"/>
              <a:ext cx="309245" cy="206375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sz="1150" b="1" spc="25" dirty="0">
                  <a:solidFill>
                    <a:srgbClr val="0000FF"/>
                  </a:solidFill>
                  <a:latin typeface="Arial"/>
                  <a:cs typeface="Arial"/>
                </a:rPr>
                <a:t>X</a:t>
              </a:r>
              <a:r>
                <a:rPr sz="1150" b="1" spc="240" dirty="0">
                  <a:solidFill>
                    <a:srgbClr val="0000FF"/>
                  </a:solidFill>
                  <a:latin typeface="Arial"/>
                  <a:cs typeface="Arial"/>
                </a:rPr>
                <a:t> </a:t>
              </a:r>
              <a:r>
                <a:rPr sz="1150" b="1" spc="25" dirty="0">
                  <a:solidFill>
                    <a:srgbClr val="A6A6A6"/>
                  </a:solidFill>
                  <a:latin typeface="Arial"/>
                  <a:cs typeface="Arial"/>
                </a:rPr>
                <a:t>X</a:t>
              </a:r>
              <a:endParaRPr sz="1150">
                <a:latin typeface="Arial"/>
                <a:cs typeface="Arial"/>
              </a:endParaRPr>
            </a:p>
          </p:txBody>
        </p:sp>
        <p:sp>
          <p:nvSpPr>
            <p:cNvPr id="50" name="object 50"/>
            <p:cNvSpPr txBox="1"/>
            <p:nvPr/>
          </p:nvSpPr>
          <p:spPr>
            <a:xfrm>
              <a:off x="3191734" y="3110543"/>
              <a:ext cx="278765" cy="206375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sz="1150" b="1" spc="25" dirty="0">
                  <a:solidFill>
                    <a:srgbClr val="A6A6A6"/>
                  </a:solidFill>
                  <a:latin typeface="Arial"/>
                  <a:cs typeface="Arial"/>
                </a:rPr>
                <a:t>X</a:t>
              </a:r>
              <a:r>
                <a:rPr sz="1150" b="1" spc="5" dirty="0">
                  <a:solidFill>
                    <a:srgbClr val="A6A6A6"/>
                  </a:solidFill>
                  <a:latin typeface="Arial"/>
                  <a:cs typeface="Arial"/>
                </a:rPr>
                <a:t> </a:t>
              </a:r>
              <a:r>
                <a:rPr sz="1150" b="1" spc="25" dirty="0">
                  <a:solidFill>
                    <a:srgbClr val="FF0000"/>
                  </a:solidFill>
                  <a:latin typeface="Arial"/>
                  <a:cs typeface="Arial"/>
                </a:rPr>
                <a:t>X</a:t>
              </a:r>
              <a:endParaRPr sz="1150">
                <a:latin typeface="Arial"/>
                <a:cs typeface="Arial"/>
              </a:endParaRPr>
            </a:p>
          </p:txBody>
        </p:sp>
        <p:sp>
          <p:nvSpPr>
            <p:cNvPr id="51" name="object 51"/>
            <p:cNvSpPr txBox="1"/>
            <p:nvPr/>
          </p:nvSpPr>
          <p:spPr>
            <a:xfrm>
              <a:off x="3018036" y="3293341"/>
              <a:ext cx="768985" cy="206375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  <a:tabLst>
                  <a:tab pos="755650" algn="l"/>
                </a:tabLst>
              </a:pPr>
              <a:r>
                <a:rPr sz="1150" b="1" strike="sngStrike" spc="-1040" dirty="0">
                  <a:solidFill>
                    <a:srgbClr val="A6A6A6"/>
                  </a:solidFill>
                  <a:latin typeface="Arial"/>
                  <a:cs typeface="Arial"/>
                </a:rPr>
                <a:t> </a:t>
              </a:r>
              <a:r>
                <a:rPr sz="1150" b="1" strike="sngStrike" spc="25" dirty="0">
                  <a:solidFill>
                    <a:srgbClr val="A6A6A6"/>
                  </a:solidFill>
                  <a:latin typeface="Arial"/>
                  <a:cs typeface="Arial"/>
                </a:rPr>
                <a:t>X</a:t>
              </a:r>
              <a:r>
                <a:rPr sz="1150" b="1" strike="sngStrike" spc="-10" dirty="0">
                  <a:solidFill>
                    <a:srgbClr val="A6A6A6"/>
                  </a:solidFill>
                  <a:latin typeface="Arial"/>
                  <a:cs typeface="Arial"/>
                </a:rPr>
                <a:t> </a:t>
              </a:r>
              <a:r>
                <a:rPr sz="1150" b="1" strike="sngStrike" spc="25" dirty="0">
                  <a:solidFill>
                    <a:srgbClr val="FF0000"/>
                  </a:solidFill>
                  <a:latin typeface="Arial"/>
                  <a:cs typeface="Arial"/>
                </a:rPr>
                <a:t>X	</a:t>
              </a:r>
              <a:endParaRPr sz="1150">
                <a:latin typeface="Arial"/>
                <a:cs typeface="Arial"/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4464745" y="3504750"/>
              <a:ext cx="405130" cy="0"/>
            </a:xfrm>
            <a:custGeom>
              <a:avLst/>
              <a:gdLst/>
              <a:ahLst/>
              <a:cxnLst/>
              <a:rect l="l" t="t" r="r" b="b"/>
              <a:pathLst>
                <a:path w="405129">
                  <a:moveTo>
                    <a:pt x="0" y="0"/>
                  </a:moveTo>
                  <a:lnTo>
                    <a:pt x="404619" y="0"/>
                  </a:lnTo>
                </a:path>
              </a:pathLst>
            </a:custGeom>
            <a:ln w="232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869364" y="3605719"/>
              <a:ext cx="405130" cy="0"/>
            </a:xfrm>
            <a:custGeom>
              <a:avLst/>
              <a:gdLst/>
              <a:ahLst/>
              <a:cxnLst/>
              <a:rect l="l" t="t" r="r" b="b"/>
              <a:pathLst>
                <a:path w="405129">
                  <a:moveTo>
                    <a:pt x="404619" y="0"/>
                  </a:moveTo>
                  <a:lnTo>
                    <a:pt x="0" y="0"/>
                  </a:lnTo>
                </a:path>
              </a:pathLst>
            </a:custGeom>
            <a:ln w="232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606404" y="3403781"/>
              <a:ext cx="526415" cy="404495"/>
            </a:xfrm>
            <a:custGeom>
              <a:avLst/>
              <a:gdLst/>
              <a:ahLst/>
              <a:cxnLst/>
              <a:rect l="l" t="t" r="r" b="b"/>
              <a:pathLst>
                <a:path w="526414" h="404495">
                  <a:moveTo>
                    <a:pt x="157711" y="0"/>
                  </a:moveTo>
                  <a:lnTo>
                    <a:pt x="0" y="0"/>
                  </a:lnTo>
                  <a:lnTo>
                    <a:pt x="28950" y="43367"/>
                  </a:lnTo>
                  <a:lnTo>
                    <a:pt x="50663" y="87873"/>
                  </a:lnTo>
                  <a:lnTo>
                    <a:pt x="65138" y="133191"/>
                  </a:lnTo>
                  <a:lnTo>
                    <a:pt x="72376" y="178996"/>
                  </a:lnTo>
                  <a:lnTo>
                    <a:pt x="72376" y="224960"/>
                  </a:lnTo>
                  <a:lnTo>
                    <a:pt x="65138" y="270756"/>
                  </a:lnTo>
                  <a:lnTo>
                    <a:pt x="50663" y="316059"/>
                  </a:lnTo>
                  <a:lnTo>
                    <a:pt x="28950" y="360541"/>
                  </a:lnTo>
                  <a:lnTo>
                    <a:pt x="0" y="403876"/>
                  </a:lnTo>
                  <a:lnTo>
                    <a:pt x="157711" y="403876"/>
                  </a:lnTo>
                  <a:lnTo>
                    <a:pt x="212645" y="393032"/>
                  </a:lnTo>
                  <a:lnTo>
                    <a:pt x="264890" y="378839"/>
                  </a:lnTo>
                  <a:lnTo>
                    <a:pt x="314097" y="361490"/>
                  </a:lnTo>
                  <a:lnTo>
                    <a:pt x="359916" y="341181"/>
                  </a:lnTo>
                  <a:lnTo>
                    <a:pt x="401995" y="318106"/>
                  </a:lnTo>
                  <a:lnTo>
                    <a:pt x="439985" y="292461"/>
                  </a:lnTo>
                  <a:lnTo>
                    <a:pt x="473536" y="264439"/>
                  </a:lnTo>
                  <a:lnTo>
                    <a:pt x="502297" y="234236"/>
                  </a:lnTo>
                  <a:lnTo>
                    <a:pt x="525919" y="202045"/>
                  </a:lnTo>
                  <a:lnTo>
                    <a:pt x="502602" y="169688"/>
                  </a:lnTo>
                  <a:lnTo>
                    <a:pt x="474045" y="139346"/>
                  </a:lnTo>
                  <a:lnTo>
                    <a:pt x="440608" y="111216"/>
                  </a:lnTo>
                  <a:lnTo>
                    <a:pt x="402651" y="85496"/>
                  </a:lnTo>
                  <a:lnTo>
                    <a:pt x="360536" y="62386"/>
                  </a:lnTo>
                  <a:lnTo>
                    <a:pt x="314624" y="42083"/>
                  </a:lnTo>
                  <a:lnTo>
                    <a:pt x="265275" y="24785"/>
                  </a:lnTo>
                  <a:lnTo>
                    <a:pt x="212850" y="10691"/>
                  </a:lnTo>
                  <a:lnTo>
                    <a:pt x="1577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606404" y="3403781"/>
              <a:ext cx="526415" cy="404495"/>
            </a:xfrm>
            <a:custGeom>
              <a:avLst/>
              <a:gdLst/>
              <a:ahLst/>
              <a:cxnLst/>
              <a:rect l="l" t="t" r="r" b="b"/>
              <a:pathLst>
                <a:path w="526414" h="404495">
                  <a:moveTo>
                    <a:pt x="525919" y="202045"/>
                  </a:moveTo>
                  <a:lnTo>
                    <a:pt x="502297" y="234236"/>
                  </a:lnTo>
                  <a:lnTo>
                    <a:pt x="473536" y="264439"/>
                  </a:lnTo>
                  <a:lnTo>
                    <a:pt x="439985" y="292461"/>
                  </a:lnTo>
                  <a:lnTo>
                    <a:pt x="401995" y="318106"/>
                  </a:lnTo>
                  <a:lnTo>
                    <a:pt x="359916" y="341181"/>
                  </a:lnTo>
                  <a:lnTo>
                    <a:pt x="314097" y="361490"/>
                  </a:lnTo>
                  <a:lnTo>
                    <a:pt x="264890" y="378839"/>
                  </a:lnTo>
                  <a:lnTo>
                    <a:pt x="212645" y="393032"/>
                  </a:lnTo>
                  <a:lnTo>
                    <a:pt x="157711" y="403876"/>
                  </a:lnTo>
                  <a:lnTo>
                    <a:pt x="0" y="403876"/>
                  </a:lnTo>
                  <a:lnTo>
                    <a:pt x="28950" y="360541"/>
                  </a:lnTo>
                  <a:lnTo>
                    <a:pt x="50663" y="316059"/>
                  </a:lnTo>
                  <a:lnTo>
                    <a:pt x="65138" y="270756"/>
                  </a:lnTo>
                  <a:lnTo>
                    <a:pt x="72376" y="224960"/>
                  </a:lnTo>
                  <a:lnTo>
                    <a:pt x="72376" y="178996"/>
                  </a:lnTo>
                  <a:lnTo>
                    <a:pt x="65138" y="133191"/>
                  </a:lnTo>
                  <a:lnTo>
                    <a:pt x="50663" y="87873"/>
                  </a:lnTo>
                  <a:lnTo>
                    <a:pt x="28950" y="43367"/>
                  </a:lnTo>
                  <a:lnTo>
                    <a:pt x="0" y="0"/>
                  </a:lnTo>
                  <a:lnTo>
                    <a:pt x="157711" y="0"/>
                  </a:lnTo>
                  <a:lnTo>
                    <a:pt x="212850" y="10691"/>
                  </a:lnTo>
                  <a:lnTo>
                    <a:pt x="265275" y="24785"/>
                  </a:lnTo>
                  <a:lnTo>
                    <a:pt x="314624" y="42083"/>
                  </a:lnTo>
                  <a:lnTo>
                    <a:pt x="360536" y="62386"/>
                  </a:lnTo>
                  <a:lnTo>
                    <a:pt x="402651" y="85496"/>
                  </a:lnTo>
                  <a:lnTo>
                    <a:pt x="440608" y="111216"/>
                  </a:lnTo>
                  <a:lnTo>
                    <a:pt x="474045" y="139346"/>
                  </a:lnTo>
                  <a:lnTo>
                    <a:pt x="502602" y="169688"/>
                  </a:lnTo>
                  <a:lnTo>
                    <a:pt x="525919" y="202045"/>
                  </a:lnTo>
                  <a:close/>
                </a:path>
              </a:pathLst>
            </a:custGeom>
            <a:ln w="232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606404" y="3403781"/>
              <a:ext cx="526415" cy="404495"/>
            </a:xfrm>
            <a:custGeom>
              <a:avLst/>
              <a:gdLst/>
              <a:ahLst/>
              <a:cxnLst/>
              <a:rect l="l" t="t" r="r" b="b"/>
              <a:pathLst>
                <a:path w="526414" h="404495">
                  <a:moveTo>
                    <a:pt x="323609" y="403876"/>
                  </a:moveTo>
                  <a:lnTo>
                    <a:pt x="0" y="403876"/>
                  </a:lnTo>
                  <a:lnTo>
                    <a:pt x="0" y="0"/>
                  </a:lnTo>
                  <a:lnTo>
                    <a:pt x="323609" y="0"/>
                  </a:lnTo>
                  <a:lnTo>
                    <a:pt x="369990" y="5334"/>
                  </a:lnTo>
                  <a:lnTo>
                    <a:pt x="412571" y="20528"/>
                  </a:lnTo>
                  <a:lnTo>
                    <a:pt x="450135" y="44370"/>
                  </a:lnTo>
                  <a:lnTo>
                    <a:pt x="481467" y="75644"/>
                  </a:lnTo>
                  <a:lnTo>
                    <a:pt x="505352" y="113139"/>
                  </a:lnTo>
                  <a:lnTo>
                    <a:pt x="520575" y="155642"/>
                  </a:lnTo>
                  <a:lnTo>
                    <a:pt x="525919" y="201938"/>
                  </a:lnTo>
                  <a:lnTo>
                    <a:pt x="520575" y="248268"/>
                  </a:lnTo>
                  <a:lnTo>
                    <a:pt x="505352" y="290783"/>
                  </a:lnTo>
                  <a:lnTo>
                    <a:pt x="481467" y="328276"/>
                  </a:lnTo>
                  <a:lnTo>
                    <a:pt x="450135" y="359540"/>
                  </a:lnTo>
                  <a:lnTo>
                    <a:pt x="412571" y="383366"/>
                  </a:lnTo>
                  <a:lnTo>
                    <a:pt x="369990" y="398547"/>
                  </a:lnTo>
                  <a:lnTo>
                    <a:pt x="323609" y="403876"/>
                  </a:lnTo>
                  <a:close/>
                </a:path>
              </a:pathLst>
            </a:custGeom>
            <a:ln w="232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 txBox="1"/>
            <p:nvPr/>
          </p:nvSpPr>
          <p:spPr>
            <a:xfrm>
              <a:off x="5157543" y="3506785"/>
              <a:ext cx="309245" cy="206375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sz="1150" b="1" spc="25" dirty="0">
                  <a:solidFill>
                    <a:srgbClr val="A6A6A6"/>
                  </a:solidFill>
                  <a:latin typeface="Arial"/>
                  <a:cs typeface="Arial"/>
                </a:rPr>
                <a:t>X</a:t>
              </a:r>
              <a:r>
                <a:rPr sz="1150" b="1" spc="240" dirty="0">
                  <a:solidFill>
                    <a:srgbClr val="A6A6A6"/>
                  </a:solidFill>
                  <a:latin typeface="Arial"/>
                  <a:cs typeface="Arial"/>
                </a:rPr>
                <a:t> </a:t>
              </a:r>
              <a:r>
                <a:rPr sz="1150" b="1" spc="25" dirty="0">
                  <a:solidFill>
                    <a:srgbClr val="A6A6A6"/>
                  </a:solidFill>
                  <a:latin typeface="Arial"/>
                  <a:cs typeface="Arial"/>
                </a:rPr>
                <a:t>X</a:t>
              </a:r>
              <a:endParaRPr sz="1150">
                <a:latin typeface="Arial"/>
                <a:cs typeface="Arial"/>
              </a:endParaRPr>
            </a:p>
          </p:txBody>
        </p:sp>
        <p:sp>
          <p:nvSpPr>
            <p:cNvPr id="59" name="object 59"/>
            <p:cNvSpPr/>
            <p:nvPr/>
          </p:nvSpPr>
          <p:spPr>
            <a:xfrm>
              <a:off x="4178516" y="3308618"/>
              <a:ext cx="286385" cy="196215"/>
            </a:xfrm>
            <a:custGeom>
              <a:avLst/>
              <a:gdLst/>
              <a:ahLst/>
              <a:cxnLst/>
              <a:rect l="l" t="t" r="r" b="b"/>
              <a:pathLst>
                <a:path w="286385" h="196214">
                  <a:moveTo>
                    <a:pt x="0" y="0"/>
                  </a:moveTo>
                  <a:lnTo>
                    <a:pt x="218253" y="0"/>
                  </a:lnTo>
                  <a:lnTo>
                    <a:pt x="218253" y="196131"/>
                  </a:lnTo>
                  <a:lnTo>
                    <a:pt x="286228" y="196131"/>
                  </a:lnTo>
                </a:path>
              </a:pathLst>
            </a:custGeom>
            <a:ln w="23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560212" y="3847658"/>
              <a:ext cx="405130" cy="0"/>
            </a:xfrm>
            <a:custGeom>
              <a:avLst/>
              <a:gdLst/>
              <a:ahLst/>
              <a:cxnLst/>
              <a:rect l="l" t="t" r="r" b="b"/>
              <a:pathLst>
                <a:path w="405129">
                  <a:moveTo>
                    <a:pt x="0" y="0"/>
                  </a:moveTo>
                  <a:lnTo>
                    <a:pt x="404619" y="0"/>
                  </a:lnTo>
                </a:path>
              </a:pathLst>
            </a:custGeom>
            <a:ln w="232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560212" y="4049629"/>
              <a:ext cx="405130" cy="0"/>
            </a:xfrm>
            <a:custGeom>
              <a:avLst/>
              <a:gdLst/>
              <a:ahLst/>
              <a:cxnLst/>
              <a:rect l="l" t="t" r="r" b="b"/>
              <a:pathLst>
                <a:path w="405129">
                  <a:moveTo>
                    <a:pt x="0" y="0"/>
                  </a:moveTo>
                  <a:lnTo>
                    <a:pt x="404619" y="0"/>
                  </a:lnTo>
                </a:path>
              </a:pathLst>
            </a:custGeom>
            <a:ln w="232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701872" y="3746689"/>
              <a:ext cx="526415" cy="404495"/>
            </a:xfrm>
            <a:custGeom>
              <a:avLst/>
              <a:gdLst/>
              <a:ahLst/>
              <a:cxnLst/>
              <a:rect l="l" t="t" r="r" b="b"/>
              <a:pathLst>
                <a:path w="526414" h="404495">
                  <a:moveTo>
                    <a:pt x="157818" y="0"/>
                  </a:moveTo>
                  <a:lnTo>
                    <a:pt x="0" y="0"/>
                  </a:lnTo>
                  <a:lnTo>
                    <a:pt x="28950" y="43367"/>
                  </a:lnTo>
                  <a:lnTo>
                    <a:pt x="50663" y="87873"/>
                  </a:lnTo>
                  <a:lnTo>
                    <a:pt x="65138" y="133193"/>
                  </a:lnTo>
                  <a:lnTo>
                    <a:pt x="72376" y="178999"/>
                  </a:lnTo>
                  <a:lnTo>
                    <a:pt x="72376" y="224965"/>
                  </a:lnTo>
                  <a:lnTo>
                    <a:pt x="65138" y="270766"/>
                  </a:lnTo>
                  <a:lnTo>
                    <a:pt x="50663" y="316074"/>
                  </a:lnTo>
                  <a:lnTo>
                    <a:pt x="28950" y="360564"/>
                  </a:lnTo>
                  <a:lnTo>
                    <a:pt x="0" y="403908"/>
                  </a:lnTo>
                  <a:lnTo>
                    <a:pt x="157818" y="403908"/>
                  </a:lnTo>
                  <a:lnTo>
                    <a:pt x="212749" y="393043"/>
                  </a:lnTo>
                  <a:lnTo>
                    <a:pt x="264985" y="378838"/>
                  </a:lnTo>
                  <a:lnTo>
                    <a:pt x="314181" y="361488"/>
                  </a:lnTo>
                  <a:lnTo>
                    <a:pt x="359988" y="341182"/>
                  </a:lnTo>
                  <a:lnTo>
                    <a:pt x="402058" y="318114"/>
                  </a:lnTo>
                  <a:lnTo>
                    <a:pt x="440045" y="292474"/>
                  </a:lnTo>
                  <a:lnTo>
                    <a:pt x="473600" y="264455"/>
                  </a:lnTo>
                  <a:lnTo>
                    <a:pt x="502377" y="234248"/>
                  </a:lnTo>
                  <a:lnTo>
                    <a:pt x="526026" y="202045"/>
                  </a:lnTo>
                  <a:lnTo>
                    <a:pt x="502678" y="169660"/>
                  </a:lnTo>
                  <a:lnTo>
                    <a:pt x="474097" y="139302"/>
                  </a:lnTo>
                  <a:lnTo>
                    <a:pt x="440643" y="111168"/>
                  </a:lnTo>
                  <a:lnTo>
                    <a:pt x="402679" y="85452"/>
                  </a:lnTo>
                  <a:lnTo>
                    <a:pt x="360564" y="62351"/>
                  </a:lnTo>
                  <a:lnTo>
                    <a:pt x="314660" y="42059"/>
                  </a:lnTo>
                  <a:lnTo>
                    <a:pt x="265327" y="24773"/>
                  </a:lnTo>
                  <a:lnTo>
                    <a:pt x="212926" y="10688"/>
                  </a:lnTo>
                  <a:lnTo>
                    <a:pt x="1578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701872" y="3746689"/>
              <a:ext cx="526415" cy="404495"/>
            </a:xfrm>
            <a:custGeom>
              <a:avLst/>
              <a:gdLst/>
              <a:ahLst/>
              <a:cxnLst/>
              <a:rect l="l" t="t" r="r" b="b"/>
              <a:pathLst>
                <a:path w="526414" h="404495">
                  <a:moveTo>
                    <a:pt x="526026" y="202045"/>
                  </a:moveTo>
                  <a:lnTo>
                    <a:pt x="502377" y="234248"/>
                  </a:lnTo>
                  <a:lnTo>
                    <a:pt x="473600" y="264455"/>
                  </a:lnTo>
                  <a:lnTo>
                    <a:pt x="440045" y="292474"/>
                  </a:lnTo>
                  <a:lnTo>
                    <a:pt x="402058" y="318114"/>
                  </a:lnTo>
                  <a:lnTo>
                    <a:pt x="359988" y="341182"/>
                  </a:lnTo>
                  <a:lnTo>
                    <a:pt x="314181" y="361488"/>
                  </a:lnTo>
                  <a:lnTo>
                    <a:pt x="264985" y="378838"/>
                  </a:lnTo>
                  <a:lnTo>
                    <a:pt x="212749" y="393043"/>
                  </a:lnTo>
                  <a:lnTo>
                    <a:pt x="157818" y="403908"/>
                  </a:lnTo>
                  <a:lnTo>
                    <a:pt x="0" y="403908"/>
                  </a:lnTo>
                  <a:lnTo>
                    <a:pt x="28950" y="360564"/>
                  </a:lnTo>
                  <a:lnTo>
                    <a:pt x="50663" y="316074"/>
                  </a:lnTo>
                  <a:lnTo>
                    <a:pt x="65138" y="270766"/>
                  </a:lnTo>
                  <a:lnTo>
                    <a:pt x="72376" y="224965"/>
                  </a:lnTo>
                  <a:lnTo>
                    <a:pt x="72376" y="178999"/>
                  </a:lnTo>
                  <a:lnTo>
                    <a:pt x="65138" y="133193"/>
                  </a:lnTo>
                  <a:lnTo>
                    <a:pt x="50663" y="87873"/>
                  </a:lnTo>
                  <a:lnTo>
                    <a:pt x="28950" y="43367"/>
                  </a:lnTo>
                  <a:lnTo>
                    <a:pt x="0" y="0"/>
                  </a:lnTo>
                  <a:lnTo>
                    <a:pt x="157818" y="0"/>
                  </a:lnTo>
                  <a:lnTo>
                    <a:pt x="212926" y="10688"/>
                  </a:lnTo>
                  <a:lnTo>
                    <a:pt x="265327" y="24773"/>
                  </a:lnTo>
                  <a:lnTo>
                    <a:pt x="314660" y="42059"/>
                  </a:lnTo>
                  <a:lnTo>
                    <a:pt x="360564" y="62351"/>
                  </a:lnTo>
                  <a:lnTo>
                    <a:pt x="402679" y="85452"/>
                  </a:lnTo>
                  <a:lnTo>
                    <a:pt x="440644" y="111168"/>
                  </a:lnTo>
                  <a:lnTo>
                    <a:pt x="474097" y="139302"/>
                  </a:lnTo>
                  <a:lnTo>
                    <a:pt x="502678" y="169660"/>
                  </a:lnTo>
                  <a:lnTo>
                    <a:pt x="526026" y="202045"/>
                  </a:lnTo>
                  <a:close/>
                </a:path>
              </a:pathLst>
            </a:custGeom>
            <a:ln w="232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701872" y="3746689"/>
              <a:ext cx="526415" cy="404495"/>
            </a:xfrm>
            <a:custGeom>
              <a:avLst/>
              <a:gdLst/>
              <a:ahLst/>
              <a:cxnLst/>
              <a:rect l="l" t="t" r="r" b="b"/>
              <a:pathLst>
                <a:path w="526414" h="404495">
                  <a:moveTo>
                    <a:pt x="323717" y="403908"/>
                  </a:moveTo>
                  <a:lnTo>
                    <a:pt x="0" y="403908"/>
                  </a:lnTo>
                  <a:lnTo>
                    <a:pt x="0" y="0"/>
                  </a:lnTo>
                  <a:lnTo>
                    <a:pt x="323717" y="0"/>
                  </a:lnTo>
                  <a:lnTo>
                    <a:pt x="370098" y="5334"/>
                  </a:lnTo>
                  <a:lnTo>
                    <a:pt x="412678" y="20528"/>
                  </a:lnTo>
                  <a:lnTo>
                    <a:pt x="450243" y="44370"/>
                  </a:lnTo>
                  <a:lnTo>
                    <a:pt x="481575" y="75644"/>
                  </a:lnTo>
                  <a:lnTo>
                    <a:pt x="505460" y="113139"/>
                  </a:lnTo>
                  <a:lnTo>
                    <a:pt x="520682" y="155642"/>
                  </a:lnTo>
                  <a:lnTo>
                    <a:pt x="526026" y="201938"/>
                  </a:lnTo>
                  <a:lnTo>
                    <a:pt x="520682" y="248253"/>
                  </a:lnTo>
                  <a:lnTo>
                    <a:pt x="505460" y="290766"/>
                  </a:lnTo>
                  <a:lnTo>
                    <a:pt x="481575" y="328267"/>
                  </a:lnTo>
                  <a:lnTo>
                    <a:pt x="450243" y="359543"/>
                  </a:lnTo>
                  <a:lnTo>
                    <a:pt x="412678" y="383383"/>
                  </a:lnTo>
                  <a:lnTo>
                    <a:pt x="370098" y="398575"/>
                  </a:lnTo>
                  <a:lnTo>
                    <a:pt x="323717" y="403908"/>
                  </a:lnTo>
                  <a:close/>
                </a:path>
              </a:pathLst>
            </a:custGeom>
            <a:ln w="232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 txBox="1"/>
            <p:nvPr/>
          </p:nvSpPr>
          <p:spPr>
            <a:xfrm>
              <a:off x="5952132" y="3842026"/>
              <a:ext cx="697230" cy="206375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  <a:tabLst>
                  <a:tab pos="313055" algn="l"/>
                </a:tabLst>
              </a:pPr>
              <a:r>
                <a:rPr sz="1150" b="1" strike="sngStrike" spc="10" dirty="0">
                  <a:solidFill>
                    <a:srgbClr val="A6A6A6"/>
                  </a:solidFill>
                  <a:latin typeface="Arial"/>
                  <a:cs typeface="Arial"/>
                </a:rPr>
                <a:t>  </a:t>
              </a:r>
              <a:r>
                <a:rPr sz="1150" b="1" strike="sngStrike" spc="30" dirty="0">
                  <a:solidFill>
                    <a:srgbClr val="A6A6A6"/>
                  </a:solidFill>
                  <a:latin typeface="Arial"/>
                  <a:cs typeface="Arial"/>
                </a:rPr>
                <a:t> </a:t>
              </a:r>
              <a:r>
                <a:rPr sz="1150" b="1" strike="noStrike" dirty="0">
                  <a:solidFill>
                    <a:srgbClr val="A6A6A6"/>
                  </a:solidFill>
                  <a:latin typeface="Arial"/>
                  <a:cs typeface="Arial"/>
                </a:rPr>
                <a:t>	</a:t>
              </a:r>
              <a:r>
                <a:rPr sz="1150" b="1" strike="sngStrike" spc="25" dirty="0">
                  <a:solidFill>
                    <a:srgbClr val="A6A6A6"/>
                  </a:solidFill>
                  <a:latin typeface="Arial"/>
                  <a:cs typeface="Arial"/>
                </a:rPr>
                <a:t>X</a:t>
              </a:r>
              <a:r>
                <a:rPr sz="1150" b="1" strike="sngStrike" spc="280" dirty="0">
                  <a:solidFill>
                    <a:srgbClr val="A6A6A6"/>
                  </a:solidFill>
                  <a:latin typeface="Arial"/>
                  <a:cs typeface="Arial"/>
                </a:rPr>
                <a:t> </a:t>
              </a:r>
              <a:r>
                <a:rPr sz="1150" b="1" strike="sngStrike" spc="25" dirty="0">
                  <a:solidFill>
                    <a:srgbClr val="A6A6A6"/>
                  </a:solidFill>
                  <a:latin typeface="Arial"/>
                  <a:cs typeface="Arial"/>
                </a:rPr>
                <a:t>X</a:t>
              </a:r>
              <a:r>
                <a:rPr sz="1150" b="1" strike="sngStrike" spc="45" dirty="0">
                  <a:solidFill>
                    <a:srgbClr val="A6A6A6"/>
                  </a:solidFill>
                  <a:latin typeface="Arial"/>
                  <a:cs typeface="Arial"/>
                </a:rPr>
                <a:t> </a:t>
              </a:r>
              <a:endParaRPr sz="1150">
                <a:latin typeface="Arial"/>
                <a:cs typeface="Arial"/>
              </a:endParaRPr>
            </a:p>
          </p:txBody>
        </p:sp>
        <p:sp>
          <p:nvSpPr>
            <p:cNvPr id="67" name="object 67"/>
            <p:cNvSpPr/>
            <p:nvPr/>
          </p:nvSpPr>
          <p:spPr>
            <a:xfrm>
              <a:off x="5273984" y="3605719"/>
              <a:ext cx="286385" cy="241935"/>
            </a:xfrm>
            <a:custGeom>
              <a:avLst/>
              <a:gdLst/>
              <a:ahLst/>
              <a:cxnLst/>
              <a:rect l="l" t="t" r="r" b="b"/>
              <a:pathLst>
                <a:path w="286385" h="241935">
                  <a:moveTo>
                    <a:pt x="286228" y="241938"/>
                  </a:moveTo>
                  <a:lnTo>
                    <a:pt x="171715" y="241938"/>
                  </a:lnTo>
                  <a:lnTo>
                    <a:pt x="171715" y="0"/>
                  </a:lnTo>
                  <a:lnTo>
                    <a:pt x="0" y="0"/>
                  </a:lnTo>
                </a:path>
              </a:pathLst>
            </a:custGeom>
            <a:ln w="232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480042" y="4221083"/>
              <a:ext cx="405130" cy="0"/>
            </a:xfrm>
            <a:custGeom>
              <a:avLst/>
              <a:gdLst/>
              <a:ahLst/>
              <a:cxnLst/>
              <a:rect l="l" t="t" r="r" b="b"/>
              <a:pathLst>
                <a:path w="405129">
                  <a:moveTo>
                    <a:pt x="0" y="0"/>
                  </a:moveTo>
                  <a:lnTo>
                    <a:pt x="404619" y="0"/>
                  </a:lnTo>
                </a:path>
              </a:pathLst>
            </a:custGeom>
            <a:ln w="232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884661" y="4322052"/>
              <a:ext cx="405130" cy="0"/>
            </a:xfrm>
            <a:custGeom>
              <a:avLst/>
              <a:gdLst/>
              <a:ahLst/>
              <a:cxnLst/>
              <a:rect l="l" t="t" r="r" b="b"/>
              <a:pathLst>
                <a:path w="405129">
                  <a:moveTo>
                    <a:pt x="404619" y="0"/>
                  </a:moveTo>
                  <a:lnTo>
                    <a:pt x="0" y="0"/>
                  </a:lnTo>
                </a:path>
              </a:pathLst>
            </a:custGeom>
            <a:ln w="232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621594" y="4120113"/>
              <a:ext cx="526415" cy="404495"/>
            </a:xfrm>
            <a:custGeom>
              <a:avLst/>
              <a:gdLst/>
              <a:ahLst/>
              <a:cxnLst/>
              <a:rect l="l" t="t" r="r" b="b"/>
              <a:pathLst>
                <a:path w="526414" h="404495">
                  <a:moveTo>
                    <a:pt x="157818" y="0"/>
                  </a:moveTo>
                  <a:lnTo>
                    <a:pt x="0" y="0"/>
                  </a:lnTo>
                  <a:lnTo>
                    <a:pt x="28950" y="43348"/>
                  </a:lnTo>
                  <a:lnTo>
                    <a:pt x="50663" y="87842"/>
                  </a:lnTo>
                  <a:lnTo>
                    <a:pt x="65138" y="133153"/>
                  </a:lnTo>
                  <a:lnTo>
                    <a:pt x="72376" y="178955"/>
                  </a:lnTo>
                  <a:lnTo>
                    <a:pt x="72376" y="224921"/>
                  </a:lnTo>
                  <a:lnTo>
                    <a:pt x="65138" y="270723"/>
                  </a:lnTo>
                  <a:lnTo>
                    <a:pt x="50663" y="316034"/>
                  </a:lnTo>
                  <a:lnTo>
                    <a:pt x="28950" y="360527"/>
                  </a:lnTo>
                  <a:lnTo>
                    <a:pt x="0" y="403876"/>
                  </a:lnTo>
                  <a:lnTo>
                    <a:pt x="157818" y="403876"/>
                  </a:lnTo>
                  <a:lnTo>
                    <a:pt x="212752" y="393007"/>
                  </a:lnTo>
                  <a:lnTo>
                    <a:pt x="264998" y="378800"/>
                  </a:lnTo>
                  <a:lnTo>
                    <a:pt x="314205" y="361446"/>
                  </a:lnTo>
                  <a:lnTo>
                    <a:pt x="360023" y="341137"/>
                  </a:lnTo>
                  <a:lnTo>
                    <a:pt x="402103" y="318064"/>
                  </a:lnTo>
                  <a:lnTo>
                    <a:pt x="440093" y="292419"/>
                  </a:lnTo>
                  <a:lnTo>
                    <a:pt x="473644" y="264392"/>
                  </a:lnTo>
                  <a:lnTo>
                    <a:pt x="502405" y="234175"/>
                  </a:lnTo>
                  <a:lnTo>
                    <a:pt x="526026" y="201959"/>
                  </a:lnTo>
                  <a:lnTo>
                    <a:pt x="502682" y="169601"/>
                  </a:lnTo>
                  <a:lnTo>
                    <a:pt x="474109" y="139263"/>
                  </a:lnTo>
                  <a:lnTo>
                    <a:pt x="440667" y="111140"/>
                  </a:lnTo>
                  <a:lnTo>
                    <a:pt x="402714" y="85431"/>
                  </a:lnTo>
                  <a:lnTo>
                    <a:pt x="360608" y="62333"/>
                  </a:lnTo>
                  <a:lnTo>
                    <a:pt x="314708" y="42044"/>
                  </a:lnTo>
                  <a:lnTo>
                    <a:pt x="265370" y="24760"/>
                  </a:lnTo>
                  <a:lnTo>
                    <a:pt x="212954" y="10680"/>
                  </a:lnTo>
                  <a:lnTo>
                    <a:pt x="1578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621594" y="4120113"/>
              <a:ext cx="526415" cy="404495"/>
            </a:xfrm>
            <a:custGeom>
              <a:avLst/>
              <a:gdLst/>
              <a:ahLst/>
              <a:cxnLst/>
              <a:rect l="l" t="t" r="r" b="b"/>
              <a:pathLst>
                <a:path w="526414" h="404495">
                  <a:moveTo>
                    <a:pt x="526026" y="201959"/>
                  </a:moveTo>
                  <a:lnTo>
                    <a:pt x="502405" y="234175"/>
                  </a:lnTo>
                  <a:lnTo>
                    <a:pt x="473644" y="264392"/>
                  </a:lnTo>
                  <a:lnTo>
                    <a:pt x="440093" y="292419"/>
                  </a:lnTo>
                  <a:lnTo>
                    <a:pt x="402103" y="318064"/>
                  </a:lnTo>
                  <a:lnTo>
                    <a:pt x="360023" y="341137"/>
                  </a:lnTo>
                  <a:lnTo>
                    <a:pt x="314205" y="361446"/>
                  </a:lnTo>
                  <a:lnTo>
                    <a:pt x="264998" y="378800"/>
                  </a:lnTo>
                  <a:lnTo>
                    <a:pt x="212752" y="393007"/>
                  </a:lnTo>
                  <a:lnTo>
                    <a:pt x="157818" y="403876"/>
                  </a:lnTo>
                  <a:lnTo>
                    <a:pt x="0" y="403876"/>
                  </a:lnTo>
                  <a:lnTo>
                    <a:pt x="28950" y="360527"/>
                  </a:lnTo>
                  <a:lnTo>
                    <a:pt x="50663" y="316034"/>
                  </a:lnTo>
                  <a:lnTo>
                    <a:pt x="65138" y="270723"/>
                  </a:lnTo>
                  <a:lnTo>
                    <a:pt x="72376" y="224921"/>
                  </a:lnTo>
                  <a:lnTo>
                    <a:pt x="72376" y="178955"/>
                  </a:lnTo>
                  <a:lnTo>
                    <a:pt x="65138" y="133153"/>
                  </a:lnTo>
                  <a:lnTo>
                    <a:pt x="50663" y="87842"/>
                  </a:lnTo>
                  <a:lnTo>
                    <a:pt x="28950" y="43348"/>
                  </a:lnTo>
                  <a:lnTo>
                    <a:pt x="0" y="0"/>
                  </a:lnTo>
                  <a:lnTo>
                    <a:pt x="157818" y="0"/>
                  </a:lnTo>
                  <a:lnTo>
                    <a:pt x="212954" y="10680"/>
                  </a:lnTo>
                  <a:lnTo>
                    <a:pt x="265370" y="24760"/>
                  </a:lnTo>
                  <a:lnTo>
                    <a:pt x="314708" y="42044"/>
                  </a:lnTo>
                  <a:lnTo>
                    <a:pt x="360608" y="62333"/>
                  </a:lnTo>
                  <a:lnTo>
                    <a:pt x="402714" y="85431"/>
                  </a:lnTo>
                  <a:lnTo>
                    <a:pt x="440667" y="111140"/>
                  </a:lnTo>
                  <a:lnTo>
                    <a:pt x="474109" y="139263"/>
                  </a:lnTo>
                  <a:lnTo>
                    <a:pt x="502682" y="169601"/>
                  </a:lnTo>
                  <a:lnTo>
                    <a:pt x="526026" y="201959"/>
                  </a:lnTo>
                  <a:close/>
                </a:path>
              </a:pathLst>
            </a:custGeom>
            <a:ln w="232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621594" y="4120113"/>
              <a:ext cx="526415" cy="404495"/>
            </a:xfrm>
            <a:custGeom>
              <a:avLst/>
              <a:gdLst/>
              <a:ahLst/>
              <a:cxnLst/>
              <a:rect l="l" t="t" r="r" b="b"/>
              <a:pathLst>
                <a:path w="526414" h="404495">
                  <a:moveTo>
                    <a:pt x="323717" y="403876"/>
                  </a:moveTo>
                  <a:lnTo>
                    <a:pt x="0" y="403876"/>
                  </a:lnTo>
                  <a:lnTo>
                    <a:pt x="0" y="0"/>
                  </a:lnTo>
                  <a:lnTo>
                    <a:pt x="323717" y="0"/>
                  </a:lnTo>
                  <a:lnTo>
                    <a:pt x="370098" y="5333"/>
                  </a:lnTo>
                  <a:lnTo>
                    <a:pt x="412678" y="20525"/>
                  </a:lnTo>
                  <a:lnTo>
                    <a:pt x="450243" y="44363"/>
                  </a:lnTo>
                  <a:lnTo>
                    <a:pt x="481575" y="75635"/>
                  </a:lnTo>
                  <a:lnTo>
                    <a:pt x="505460" y="113130"/>
                  </a:lnTo>
                  <a:lnTo>
                    <a:pt x="520682" y="155635"/>
                  </a:lnTo>
                  <a:lnTo>
                    <a:pt x="526026" y="201938"/>
                  </a:lnTo>
                  <a:lnTo>
                    <a:pt x="520682" y="248241"/>
                  </a:lnTo>
                  <a:lnTo>
                    <a:pt x="505460" y="290746"/>
                  </a:lnTo>
                  <a:lnTo>
                    <a:pt x="481575" y="328240"/>
                  </a:lnTo>
                  <a:lnTo>
                    <a:pt x="450243" y="359513"/>
                  </a:lnTo>
                  <a:lnTo>
                    <a:pt x="412678" y="383351"/>
                  </a:lnTo>
                  <a:lnTo>
                    <a:pt x="370098" y="398543"/>
                  </a:lnTo>
                  <a:lnTo>
                    <a:pt x="323717" y="403876"/>
                  </a:lnTo>
                  <a:close/>
                </a:path>
              </a:pathLst>
            </a:custGeom>
            <a:ln w="232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5289281" y="4049629"/>
              <a:ext cx="271145" cy="273050"/>
            </a:xfrm>
            <a:custGeom>
              <a:avLst/>
              <a:gdLst/>
              <a:ahLst/>
              <a:cxnLst/>
              <a:rect l="l" t="t" r="r" b="b"/>
              <a:pathLst>
                <a:path w="271145" h="273050">
                  <a:moveTo>
                    <a:pt x="270931" y="0"/>
                  </a:moveTo>
                  <a:lnTo>
                    <a:pt x="156418" y="0"/>
                  </a:lnTo>
                  <a:lnTo>
                    <a:pt x="156418" y="272423"/>
                  </a:lnTo>
                  <a:lnTo>
                    <a:pt x="0" y="272423"/>
                  </a:lnTo>
                </a:path>
              </a:pathLst>
            </a:custGeom>
            <a:ln w="232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 txBox="1"/>
            <p:nvPr/>
          </p:nvSpPr>
          <p:spPr>
            <a:xfrm>
              <a:off x="5147440" y="4207795"/>
              <a:ext cx="344805" cy="206375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35"/>
                </a:spcBef>
              </a:pPr>
              <a:r>
                <a:rPr sz="1725" b="1" spc="37" baseline="-4830" dirty="0">
                  <a:solidFill>
                    <a:srgbClr val="0000FF"/>
                  </a:solidFill>
                  <a:latin typeface="Arial"/>
                  <a:cs typeface="Arial"/>
                </a:rPr>
                <a:t>X</a:t>
              </a:r>
              <a:r>
                <a:rPr sz="1725" b="1" spc="217" baseline="-4830" dirty="0">
                  <a:solidFill>
                    <a:srgbClr val="0000FF"/>
                  </a:solidFill>
                  <a:latin typeface="Arial"/>
                  <a:cs typeface="Arial"/>
                </a:rPr>
                <a:t> </a:t>
              </a:r>
              <a:r>
                <a:rPr sz="1150" b="1" spc="25" dirty="0">
                  <a:solidFill>
                    <a:srgbClr val="A6A6A6"/>
                  </a:solidFill>
                  <a:latin typeface="Arial"/>
                  <a:cs typeface="Arial"/>
                </a:rPr>
                <a:t>X</a:t>
              </a:r>
              <a:endParaRPr sz="1150">
                <a:latin typeface="Arial"/>
                <a:cs typeface="Arial"/>
              </a:endParaRPr>
            </a:p>
          </p:txBody>
        </p:sp>
        <p:sp>
          <p:nvSpPr>
            <p:cNvPr id="76" name="object 76"/>
            <p:cNvSpPr/>
            <p:nvPr/>
          </p:nvSpPr>
          <p:spPr>
            <a:xfrm>
              <a:off x="3972339" y="4221083"/>
              <a:ext cx="508000" cy="13335"/>
            </a:xfrm>
            <a:custGeom>
              <a:avLst/>
              <a:gdLst/>
              <a:ahLst/>
              <a:cxnLst/>
              <a:rect l="l" t="t" r="r" b="b"/>
              <a:pathLst>
                <a:path w="508000" h="13335">
                  <a:moveTo>
                    <a:pt x="507702" y="0"/>
                  </a:moveTo>
                  <a:lnTo>
                    <a:pt x="0" y="13333"/>
                  </a:lnTo>
                </a:path>
              </a:pathLst>
            </a:custGeom>
            <a:ln w="232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 txBox="1"/>
            <p:nvPr/>
          </p:nvSpPr>
          <p:spPr>
            <a:xfrm>
              <a:off x="3888377" y="3598184"/>
              <a:ext cx="993775" cy="206375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  <a:tabLst>
                  <a:tab pos="980440" algn="l"/>
                </a:tabLst>
              </a:pPr>
              <a:r>
                <a:rPr sz="1150" b="1" strike="sngStrike" spc="-125" dirty="0">
                  <a:solidFill>
                    <a:srgbClr val="A6A6A6"/>
                  </a:solidFill>
                  <a:latin typeface="Arial"/>
                  <a:cs typeface="Arial"/>
                </a:rPr>
                <a:t> </a:t>
              </a:r>
              <a:r>
                <a:rPr sz="1150" b="1" strike="sngStrike" spc="25" dirty="0">
                  <a:solidFill>
                    <a:srgbClr val="A6A6A6"/>
                  </a:solidFill>
                  <a:latin typeface="Arial"/>
                  <a:cs typeface="Arial"/>
                </a:rPr>
                <a:t>X</a:t>
              </a:r>
              <a:r>
                <a:rPr sz="1150" b="1" strike="sngStrike" spc="225" dirty="0">
                  <a:solidFill>
                    <a:srgbClr val="A6A6A6"/>
                  </a:solidFill>
                  <a:latin typeface="Arial"/>
                  <a:cs typeface="Arial"/>
                </a:rPr>
                <a:t> </a:t>
              </a:r>
              <a:r>
                <a:rPr sz="1150" b="1" strike="sngStrike" spc="25" dirty="0">
                  <a:solidFill>
                    <a:srgbClr val="FF0000"/>
                  </a:solidFill>
                  <a:latin typeface="Arial"/>
                  <a:cs typeface="Arial"/>
                </a:rPr>
                <a:t>X	</a:t>
              </a:r>
              <a:endParaRPr sz="1150">
                <a:latin typeface="Arial"/>
                <a:cs typeface="Arial"/>
              </a:endParaRPr>
            </a:p>
          </p:txBody>
        </p:sp>
        <p:sp>
          <p:nvSpPr>
            <p:cNvPr id="78" name="object 78"/>
            <p:cNvSpPr txBox="1"/>
            <p:nvPr/>
          </p:nvSpPr>
          <p:spPr>
            <a:xfrm>
              <a:off x="4077265" y="4116353"/>
              <a:ext cx="278765" cy="206375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sz="1150" b="1" spc="25" dirty="0">
                  <a:solidFill>
                    <a:srgbClr val="A6A6A6"/>
                  </a:solidFill>
                  <a:latin typeface="Arial"/>
                  <a:cs typeface="Arial"/>
                </a:rPr>
                <a:t>X</a:t>
              </a:r>
              <a:r>
                <a:rPr sz="1150" b="1" spc="5" dirty="0">
                  <a:solidFill>
                    <a:srgbClr val="A6A6A6"/>
                  </a:solidFill>
                  <a:latin typeface="Arial"/>
                  <a:cs typeface="Arial"/>
                </a:rPr>
                <a:t> </a:t>
              </a:r>
              <a:r>
                <a:rPr sz="1150" b="1" spc="25" dirty="0">
                  <a:solidFill>
                    <a:srgbClr val="FF0000"/>
                  </a:solidFill>
                  <a:latin typeface="Arial"/>
                  <a:cs typeface="Arial"/>
                </a:rPr>
                <a:t>X</a:t>
              </a:r>
              <a:endParaRPr sz="1150">
                <a:latin typeface="Arial"/>
                <a:cs typeface="Arial"/>
              </a:endParaRPr>
            </a:p>
          </p:txBody>
        </p:sp>
        <p:sp>
          <p:nvSpPr>
            <p:cNvPr id="79" name="object 79"/>
            <p:cNvSpPr txBox="1"/>
            <p:nvPr/>
          </p:nvSpPr>
          <p:spPr>
            <a:xfrm>
              <a:off x="3903567" y="4329710"/>
              <a:ext cx="994410" cy="206375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  <a:tabLst>
                  <a:tab pos="980440" algn="l"/>
                </a:tabLst>
              </a:pPr>
              <a:r>
                <a:rPr sz="1150" b="1" strike="sngStrike" spc="20" dirty="0">
                  <a:solidFill>
                    <a:srgbClr val="A6A6A6"/>
                  </a:solidFill>
                  <a:latin typeface="Arial"/>
                  <a:cs typeface="Arial"/>
                </a:rPr>
                <a:t> </a:t>
              </a:r>
              <a:r>
                <a:rPr sz="1150" b="1" strike="sngStrike" spc="25" dirty="0">
                  <a:solidFill>
                    <a:srgbClr val="A6A6A6"/>
                  </a:solidFill>
                  <a:latin typeface="Arial"/>
                  <a:cs typeface="Arial"/>
                </a:rPr>
                <a:t>X</a:t>
              </a:r>
              <a:r>
                <a:rPr sz="1150" b="1" strike="sngStrike" spc="-10" dirty="0">
                  <a:solidFill>
                    <a:srgbClr val="A6A6A6"/>
                  </a:solidFill>
                  <a:latin typeface="Arial"/>
                  <a:cs typeface="Arial"/>
                </a:rPr>
                <a:t> </a:t>
              </a:r>
              <a:r>
                <a:rPr sz="1150" b="1" strike="sngStrike" spc="25" dirty="0">
                  <a:solidFill>
                    <a:srgbClr val="FF0000"/>
                  </a:solidFill>
                  <a:latin typeface="Arial"/>
                  <a:cs typeface="Arial"/>
                </a:rPr>
                <a:t>X	</a:t>
              </a:r>
              <a:endParaRPr sz="1150">
                <a:latin typeface="Arial"/>
                <a:cs typeface="Arial"/>
              </a:endParaRPr>
            </a:p>
          </p:txBody>
        </p:sp>
        <p:sp>
          <p:nvSpPr>
            <p:cNvPr id="80" name="object 80"/>
            <p:cNvSpPr/>
            <p:nvPr/>
          </p:nvSpPr>
          <p:spPr>
            <a:xfrm>
              <a:off x="3326887" y="3547331"/>
              <a:ext cx="708660" cy="117475"/>
            </a:xfrm>
            <a:custGeom>
              <a:avLst/>
              <a:gdLst/>
              <a:ahLst/>
              <a:cxnLst/>
              <a:rect l="l" t="t" r="r" b="b"/>
              <a:pathLst>
                <a:path w="708660" h="117475">
                  <a:moveTo>
                    <a:pt x="708202" y="0"/>
                  </a:moveTo>
                  <a:lnTo>
                    <a:pt x="673484" y="46530"/>
                  </a:lnTo>
                  <a:lnTo>
                    <a:pt x="619802" y="81454"/>
                  </a:lnTo>
                  <a:lnTo>
                    <a:pt x="548953" y="104666"/>
                  </a:lnTo>
                  <a:lnTo>
                    <a:pt x="507650" y="111848"/>
                  </a:lnTo>
                  <a:lnTo>
                    <a:pt x="462729" y="116063"/>
                  </a:lnTo>
                  <a:lnTo>
                    <a:pt x="414413" y="117298"/>
                  </a:lnTo>
                  <a:lnTo>
                    <a:pt x="362927" y="115539"/>
                  </a:lnTo>
                  <a:lnTo>
                    <a:pt x="308495" y="110774"/>
                  </a:lnTo>
                  <a:lnTo>
                    <a:pt x="251342" y="102990"/>
                  </a:lnTo>
                  <a:lnTo>
                    <a:pt x="191691" y="92173"/>
                  </a:lnTo>
                  <a:lnTo>
                    <a:pt x="129768" y="78311"/>
                  </a:lnTo>
                  <a:lnTo>
                    <a:pt x="65796" y="61390"/>
                  </a:lnTo>
                  <a:lnTo>
                    <a:pt x="0" y="41398"/>
                  </a:lnTo>
                </a:path>
              </a:pathLst>
            </a:custGeom>
            <a:ln w="23227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3981119" y="3472384"/>
              <a:ext cx="99258" cy="1080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3254732" y="3549052"/>
              <a:ext cx="111755" cy="9516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4198984" y="4554367"/>
              <a:ext cx="1075055" cy="445134"/>
            </a:xfrm>
            <a:custGeom>
              <a:avLst/>
              <a:gdLst/>
              <a:ahLst/>
              <a:cxnLst/>
              <a:rect l="l" t="t" r="r" b="b"/>
              <a:pathLst>
                <a:path w="1075054" h="445135">
                  <a:moveTo>
                    <a:pt x="1074676" y="0"/>
                  </a:moveTo>
                  <a:lnTo>
                    <a:pt x="1074041" y="45016"/>
                  </a:lnTo>
                  <a:lnTo>
                    <a:pt x="1071281" y="87650"/>
                  </a:lnTo>
                  <a:lnTo>
                    <a:pt x="1066438" y="127898"/>
                  </a:lnTo>
                  <a:lnTo>
                    <a:pt x="1059551" y="165757"/>
                  </a:lnTo>
                  <a:lnTo>
                    <a:pt x="1039807" y="234293"/>
                  </a:lnTo>
                  <a:lnTo>
                    <a:pt x="1012368" y="293229"/>
                  </a:lnTo>
                  <a:lnTo>
                    <a:pt x="977557" y="342538"/>
                  </a:lnTo>
                  <a:lnTo>
                    <a:pt x="935693" y="382190"/>
                  </a:lnTo>
                  <a:lnTo>
                    <a:pt x="887098" y="412159"/>
                  </a:lnTo>
                  <a:lnTo>
                    <a:pt x="832092" y="432415"/>
                  </a:lnTo>
                  <a:lnTo>
                    <a:pt x="770996" y="442930"/>
                  </a:lnTo>
                  <a:lnTo>
                    <a:pt x="738264" y="444526"/>
                  </a:lnTo>
                  <a:lnTo>
                    <a:pt x="704130" y="443677"/>
                  </a:lnTo>
                  <a:lnTo>
                    <a:pt x="631816" y="434626"/>
                  </a:lnTo>
                  <a:lnTo>
                    <a:pt x="593716" y="426418"/>
                  </a:lnTo>
                  <a:lnTo>
                    <a:pt x="554374" y="415750"/>
                  </a:lnTo>
                  <a:lnTo>
                    <a:pt x="513831" y="402619"/>
                  </a:lnTo>
                  <a:lnTo>
                    <a:pt x="472125" y="387021"/>
                  </a:lnTo>
                  <a:lnTo>
                    <a:pt x="429298" y="368952"/>
                  </a:lnTo>
                  <a:lnTo>
                    <a:pt x="385390" y="348410"/>
                  </a:lnTo>
                  <a:lnTo>
                    <a:pt x="340440" y="325389"/>
                  </a:lnTo>
                  <a:lnTo>
                    <a:pt x="294489" y="299888"/>
                  </a:lnTo>
                  <a:lnTo>
                    <a:pt x="247577" y="271902"/>
                  </a:lnTo>
                  <a:lnTo>
                    <a:pt x="199743" y="241429"/>
                  </a:lnTo>
                  <a:lnTo>
                    <a:pt x="151029" y="208463"/>
                  </a:lnTo>
                  <a:lnTo>
                    <a:pt x="101473" y="173002"/>
                  </a:lnTo>
                  <a:lnTo>
                    <a:pt x="51117" y="135043"/>
                  </a:lnTo>
                  <a:lnTo>
                    <a:pt x="0" y="94581"/>
                  </a:lnTo>
                </a:path>
              </a:pathLst>
            </a:custGeom>
            <a:ln w="23232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5224430" y="4478269"/>
              <a:ext cx="100723" cy="10284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4140273" y="4600185"/>
              <a:ext cx="109772" cy="10308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2989380" y="3224746"/>
              <a:ext cx="112670" cy="19054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3829139" y="4230599"/>
              <a:ext cx="112670" cy="190529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4198876" y="3850024"/>
              <a:ext cx="999490" cy="120014"/>
            </a:xfrm>
            <a:custGeom>
              <a:avLst/>
              <a:gdLst/>
              <a:ahLst/>
              <a:cxnLst/>
              <a:rect l="l" t="t" r="r" b="b"/>
              <a:pathLst>
                <a:path w="999489" h="120014">
                  <a:moveTo>
                    <a:pt x="999160" y="0"/>
                  </a:moveTo>
                  <a:lnTo>
                    <a:pt x="962562" y="37767"/>
                  </a:lnTo>
                  <a:lnTo>
                    <a:pt x="910307" y="68469"/>
                  </a:lnTo>
                  <a:lnTo>
                    <a:pt x="843569" y="92062"/>
                  </a:lnTo>
                  <a:lnTo>
                    <a:pt x="805137" y="101178"/>
                  </a:lnTo>
                  <a:lnTo>
                    <a:pt x="763525" y="108500"/>
                  </a:lnTo>
                  <a:lnTo>
                    <a:pt x="718879" y="114022"/>
                  </a:lnTo>
                  <a:lnTo>
                    <a:pt x="671348" y="117738"/>
                  </a:lnTo>
                  <a:lnTo>
                    <a:pt x="621076" y="119644"/>
                  </a:lnTo>
                  <a:lnTo>
                    <a:pt x="568212" y="119732"/>
                  </a:lnTo>
                  <a:lnTo>
                    <a:pt x="512903" y="117999"/>
                  </a:lnTo>
                  <a:lnTo>
                    <a:pt x="455294" y="114437"/>
                  </a:lnTo>
                  <a:lnTo>
                    <a:pt x="395534" y="109041"/>
                  </a:lnTo>
                  <a:lnTo>
                    <a:pt x="333768" y="101807"/>
                  </a:lnTo>
                  <a:lnTo>
                    <a:pt x="270144" y="92728"/>
                  </a:lnTo>
                  <a:lnTo>
                    <a:pt x="204808" y="81798"/>
                  </a:lnTo>
                  <a:lnTo>
                    <a:pt x="137907" y="69012"/>
                  </a:lnTo>
                  <a:lnTo>
                    <a:pt x="69589" y="54364"/>
                  </a:lnTo>
                  <a:lnTo>
                    <a:pt x="0" y="37849"/>
                  </a:lnTo>
                </a:path>
              </a:pathLst>
            </a:custGeom>
            <a:ln w="23226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5142558" y="3777227"/>
              <a:ext cx="96414" cy="110969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4124976" y="3845400"/>
              <a:ext cx="110311" cy="9742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510861" y="3106680"/>
              <a:ext cx="526415" cy="404495"/>
            </a:xfrm>
            <a:custGeom>
              <a:avLst/>
              <a:gdLst/>
              <a:ahLst/>
              <a:cxnLst/>
              <a:rect l="l" t="t" r="r" b="b"/>
              <a:pathLst>
                <a:path w="526414" h="404495">
                  <a:moveTo>
                    <a:pt x="323684" y="0"/>
                  </a:moveTo>
                  <a:lnTo>
                    <a:pt x="0" y="0"/>
                  </a:lnTo>
                  <a:lnTo>
                    <a:pt x="0" y="403876"/>
                  </a:lnTo>
                  <a:lnTo>
                    <a:pt x="323684" y="403876"/>
                  </a:lnTo>
                  <a:lnTo>
                    <a:pt x="370072" y="398542"/>
                  </a:lnTo>
                  <a:lnTo>
                    <a:pt x="412653" y="383347"/>
                  </a:lnTo>
                  <a:lnTo>
                    <a:pt x="450215" y="359506"/>
                  </a:lnTo>
                  <a:lnTo>
                    <a:pt x="481543" y="328231"/>
                  </a:lnTo>
                  <a:lnTo>
                    <a:pt x="505423" y="290736"/>
                  </a:lnTo>
                  <a:lnTo>
                    <a:pt x="520641" y="248234"/>
                  </a:lnTo>
                  <a:lnTo>
                    <a:pt x="525983" y="201938"/>
                  </a:lnTo>
                  <a:lnTo>
                    <a:pt x="520640" y="155608"/>
                  </a:lnTo>
                  <a:lnTo>
                    <a:pt x="505421" y="113092"/>
                  </a:lnTo>
                  <a:lnTo>
                    <a:pt x="481539" y="75599"/>
                  </a:lnTo>
                  <a:lnTo>
                    <a:pt x="450210" y="44336"/>
                  </a:lnTo>
                  <a:lnTo>
                    <a:pt x="412649" y="20510"/>
                  </a:lnTo>
                  <a:lnTo>
                    <a:pt x="370068" y="5328"/>
                  </a:lnTo>
                  <a:lnTo>
                    <a:pt x="3236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606404" y="3403781"/>
              <a:ext cx="526415" cy="404495"/>
            </a:xfrm>
            <a:custGeom>
              <a:avLst/>
              <a:gdLst/>
              <a:ahLst/>
              <a:cxnLst/>
              <a:rect l="l" t="t" r="r" b="b"/>
              <a:pathLst>
                <a:path w="526414" h="404495">
                  <a:moveTo>
                    <a:pt x="323609" y="0"/>
                  </a:moveTo>
                  <a:lnTo>
                    <a:pt x="0" y="0"/>
                  </a:lnTo>
                  <a:lnTo>
                    <a:pt x="0" y="403876"/>
                  </a:lnTo>
                  <a:lnTo>
                    <a:pt x="323609" y="403876"/>
                  </a:lnTo>
                  <a:lnTo>
                    <a:pt x="369990" y="398547"/>
                  </a:lnTo>
                  <a:lnTo>
                    <a:pt x="412571" y="383366"/>
                  </a:lnTo>
                  <a:lnTo>
                    <a:pt x="450135" y="359540"/>
                  </a:lnTo>
                  <a:lnTo>
                    <a:pt x="481467" y="328276"/>
                  </a:lnTo>
                  <a:lnTo>
                    <a:pt x="505352" y="290783"/>
                  </a:lnTo>
                  <a:lnTo>
                    <a:pt x="520575" y="248268"/>
                  </a:lnTo>
                  <a:lnTo>
                    <a:pt x="525919" y="201938"/>
                  </a:lnTo>
                  <a:lnTo>
                    <a:pt x="520575" y="155642"/>
                  </a:lnTo>
                  <a:lnTo>
                    <a:pt x="505352" y="113139"/>
                  </a:lnTo>
                  <a:lnTo>
                    <a:pt x="481467" y="75644"/>
                  </a:lnTo>
                  <a:lnTo>
                    <a:pt x="450135" y="44370"/>
                  </a:lnTo>
                  <a:lnTo>
                    <a:pt x="412571" y="20528"/>
                  </a:lnTo>
                  <a:lnTo>
                    <a:pt x="369990" y="5334"/>
                  </a:lnTo>
                  <a:lnTo>
                    <a:pt x="3236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4621594" y="4120113"/>
              <a:ext cx="526415" cy="404495"/>
            </a:xfrm>
            <a:custGeom>
              <a:avLst/>
              <a:gdLst/>
              <a:ahLst/>
              <a:cxnLst/>
              <a:rect l="l" t="t" r="r" b="b"/>
              <a:pathLst>
                <a:path w="526414" h="404495">
                  <a:moveTo>
                    <a:pt x="323717" y="0"/>
                  </a:moveTo>
                  <a:lnTo>
                    <a:pt x="0" y="0"/>
                  </a:lnTo>
                  <a:lnTo>
                    <a:pt x="0" y="403876"/>
                  </a:lnTo>
                  <a:lnTo>
                    <a:pt x="323717" y="403876"/>
                  </a:lnTo>
                  <a:lnTo>
                    <a:pt x="370098" y="398543"/>
                  </a:lnTo>
                  <a:lnTo>
                    <a:pt x="412678" y="383351"/>
                  </a:lnTo>
                  <a:lnTo>
                    <a:pt x="450243" y="359513"/>
                  </a:lnTo>
                  <a:lnTo>
                    <a:pt x="481575" y="328240"/>
                  </a:lnTo>
                  <a:lnTo>
                    <a:pt x="505460" y="290746"/>
                  </a:lnTo>
                  <a:lnTo>
                    <a:pt x="520682" y="248241"/>
                  </a:lnTo>
                  <a:lnTo>
                    <a:pt x="526026" y="201938"/>
                  </a:lnTo>
                  <a:lnTo>
                    <a:pt x="520682" y="155635"/>
                  </a:lnTo>
                  <a:lnTo>
                    <a:pt x="505460" y="113130"/>
                  </a:lnTo>
                  <a:lnTo>
                    <a:pt x="481575" y="75635"/>
                  </a:lnTo>
                  <a:lnTo>
                    <a:pt x="450242" y="44363"/>
                  </a:lnTo>
                  <a:lnTo>
                    <a:pt x="412678" y="20525"/>
                  </a:lnTo>
                  <a:lnTo>
                    <a:pt x="370098" y="5333"/>
                  </a:lnTo>
                  <a:lnTo>
                    <a:pt x="3237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701872" y="3746689"/>
              <a:ext cx="526415" cy="404495"/>
            </a:xfrm>
            <a:custGeom>
              <a:avLst/>
              <a:gdLst/>
              <a:ahLst/>
              <a:cxnLst/>
              <a:rect l="l" t="t" r="r" b="b"/>
              <a:pathLst>
                <a:path w="526414" h="404495">
                  <a:moveTo>
                    <a:pt x="323717" y="0"/>
                  </a:moveTo>
                  <a:lnTo>
                    <a:pt x="0" y="0"/>
                  </a:lnTo>
                  <a:lnTo>
                    <a:pt x="0" y="403908"/>
                  </a:lnTo>
                  <a:lnTo>
                    <a:pt x="323717" y="403908"/>
                  </a:lnTo>
                  <a:lnTo>
                    <a:pt x="370098" y="398575"/>
                  </a:lnTo>
                  <a:lnTo>
                    <a:pt x="412678" y="383383"/>
                  </a:lnTo>
                  <a:lnTo>
                    <a:pt x="450243" y="359543"/>
                  </a:lnTo>
                  <a:lnTo>
                    <a:pt x="481575" y="328267"/>
                  </a:lnTo>
                  <a:lnTo>
                    <a:pt x="505460" y="290766"/>
                  </a:lnTo>
                  <a:lnTo>
                    <a:pt x="520682" y="248253"/>
                  </a:lnTo>
                  <a:lnTo>
                    <a:pt x="526026" y="201938"/>
                  </a:lnTo>
                  <a:lnTo>
                    <a:pt x="520682" y="155642"/>
                  </a:lnTo>
                  <a:lnTo>
                    <a:pt x="505460" y="113139"/>
                  </a:lnTo>
                  <a:lnTo>
                    <a:pt x="481575" y="75644"/>
                  </a:lnTo>
                  <a:lnTo>
                    <a:pt x="450242" y="44370"/>
                  </a:lnTo>
                  <a:lnTo>
                    <a:pt x="412678" y="20528"/>
                  </a:lnTo>
                  <a:lnTo>
                    <a:pt x="370098" y="5334"/>
                  </a:lnTo>
                  <a:lnTo>
                    <a:pt x="3237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8" name="object 108"/>
          <p:cNvSpPr/>
          <p:nvPr/>
        </p:nvSpPr>
        <p:spPr>
          <a:xfrm>
            <a:off x="1467232" y="1415072"/>
            <a:ext cx="526415" cy="403860"/>
          </a:xfrm>
          <a:custGeom>
            <a:avLst/>
            <a:gdLst/>
            <a:ahLst/>
            <a:cxnLst/>
            <a:rect l="l" t="t" r="r" b="b"/>
            <a:pathLst>
              <a:path w="526414" h="403860">
                <a:moveTo>
                  <a:pt x="323657" y="403858"/>
                </a:moveTo>
                <a:lnTo>
                  <a:pt x="0" y="403858"/>
                </a:lnTo>
                <a:lnTo>
                  <a:pt x="0" y="0"/>
                </a:lnTo>
                <a:lnTo>
                  <a:pt x="323657" y="0"/>
                </a:lnTo>
                <a:lnTo>
                  <a:pt x="370079" y="5333"/>
                </a:lnTo>
                <a:lnTo>
                  <a:pt x="412679" y="20526"/>
                </a:lnTo>
                <a:lnTo>
                  <a:pt x="450247" y="44365"/>
                </a:lnTo>
                <a:lnTo>
                  <a:pt x="481572" y="75638"/>
                </a:lnTo>
                <a:lnTo>
                  <a:pt x="505446" y="113134"/>
                </a:lnTo>
                <a:lnTo>
                  <a:pt x="520657" y="155638"/>
                </a:lnTo>
                <a:lnTo>
                  <a:pt x="525996" y="201939"/>
                </a:lnTo>
                <a:lnTo>
                  <a:pt x="520657" y="248236"/>
                </a:lnTo>
                <a:lnTo>
                  <a:pt x="505446" y="290736"/>
                </a:lnTo>
                <a:lnTo>
                  <a:pt x="481572" y="328228"/>
                </a:lnTo>
                <a:lnTo>
                  <a:pt x="450247" y="359498"/>
                </a:lnTo>
                <a:lnTo>
                  <a:pt x="412679" y="383334"/>
                </a:lnTo>
                <a:lnTo>
                  <a:pt x="370079" y="398525"/>
                </a:lnTo>
                <a:lnTo>
                  <a:pt x="323657" y="403858"/>
                </a:lnTo>
                <a:close/>
              </a:path>
            </a:pathLst>
          </a:custGeom>
          <a:ln w="232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0" name="Picture 139" descr="Diagram&#10;&#10;Description automatically generated">
            <a:extLst>
              <a:ext uri="{FF2B5EF4-FFF2-40B4-BE49-F238E27FC236}">
                <a16:creationId xmlns:a16="http://schemas.microsoft.com/office/drawing/2014/main" id="{0F8ED251-93D8-6028-FF94-CFB462D1900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143733"/>
            <a:ext cx="2991516" cy="20566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3" grpId="0" animBg="1"/>
      <p:bldP spid="9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3755" y="164414"/>
            <a:ext cx="75469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DFC </a:t>
            </a:r>
            <a:r>
              <a:rPr spc="-5" dirty="0"/>
              <a:t>Rules </a:t>
            </a:r>
            <a:r>
              <a:rPr dirty="0"/>
              <a:t>for </a:t>
            </a:r>
            <a:r>
              <a:rPr spc="-5" dirty="0"/>
              <a:t>Fanout-free</a:t>
            </a:r>
            <a:r>
              <a:rPr spc="-15" dirty="0"/>
              <a:t> </a:t>
            </a:r>
            <a:r>
              <a:rPr dirty="0"/>
              <a:t>Circuits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7398" y="899922"/>
            <a:ext cx="7222490" cy="1221105"/>
          </a:xfrm>
          <a:prstGeom prst="rect">
            <a:avLst/>
          </a:prstGeom>
          <a:solidFill>
            <a:srgbClr val="FFBEBE"/>
          </a:solidFill>
          <a:ln w="28955">
            <a:solidFill>
              <a:srgbClr val="FF0000"/>
            </a:solidFill>
          </a:ln>
        </p:spPr>
        <p:txBody>
          <a:bodyPr vert="horz" wrap="square" lIns="0" tIns="74295" rIns="0" bIns="0" rtlCol="0">
            <a:spAutoFit/>
          </a:bodyPr>
          <a:lstStyle/>
          <a:p>
            <a:pPr marL="144145">
              <a:lnSpc>
                <a:spcPct val="100000"/>
              </a:lnSpc>
              <a:spcBef>
                <a:spcPts val="585"/>
              </a:spcBef>
            </a:pPr>
            <a:r>
              <a:rPr sz="2000" b="1" dirty="0">
                <a:latin typeface="Arial"/>
                <a:cs typeface="Arial"/>
              </a:rPr>
              <a:t>DFC Rules</a:t>
            </a:r>
            <a:endParaRPr sz="2000" dirty="0">
              <a:latin typeface="Arial"/>
              <a:cs typeface="Arial"/>
            </a:endParaRPr>
          </a:p>
          <a:p>
            <a:pPr marL="561975" indent="-380365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AutoNum type="arabicParenBoth"/>
              <a:tabLst>
                <a:tab pos="562610" algn="l"/>
              </a:tabLst>
            </a:pP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one </a:t>
            </a:r>
            <a:r>
              <a:rPr sz="2000" b="1" dirty="0">
                <a:latin typeface="Arial"/>
                <a:cs typeface="Arial"/>
              </a:rPr>
              <a:t>DFC collapsed fault for </a:t>
            </a:r>
            <a:r>
              <a:rPr sz="2000" b="1" spc="-5" dirty="0">
                <a:solidFill>
                  <a:srgbClr val="0000FF"/>
                </a:solidFill>
                <a:latin typeface="Arial"/>
                <a:cs typeface="Arial"/>
              </a:rPr>
              <a:t>every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primary</a:t>
            </a:r>
            <a:r>
              <a:rPr sz="2000" b="1" spc="-11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input</a:t>
            </a:r>
            <a:endParaRPr sz="2000" dirty="0">
              <a:latin typeface="Arial"/>
              <a:cs typeface="Arial"/>
            </a:endParaRPr>
          </a:p>
          <a:p>
            <a:pPr marL="561975" indent="-380365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AutoNum type="arabicParenBoth"/>
              <a:tabLst>
                <a:tab pos="562610" algn="l"/>
              </a:tabLst>
            </a:pP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one </a:t>
            </a:r>
            <a:r>
              <a:rPr sz="2000" b="1" dirty="0">
                <a:latin typeface="Arial"/>
                <a:cs typeface="Arial"/>
              </a:rPr>
              <a:t>DFC collapsed fault for each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all-PI gate</a:t>
            </a:r>
            <a:r>
              <a:rPr sz="2000" b="1" spc="-1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output*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0225" y="3461740"/>
            <a:ext cx="7789545" cy="75692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Example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Original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14 </a:t>
            </a:r>
            <a:r>
              <a:rPr sz="2000" b="1" dirty="0">
                <a:latin typeface="Arial"/>
                <a:cs typeface="Arial"/>
              </a:rPr>
              <a:t>faults </a:t>
            </a:r>
            <a:r>
              <a:rPr sz="2000" spc="-40" dirty="0">
                <a:latin typeface="Arial"/>
                <a:cs typeface="Arial"/>
              </a:rPr>
              <a:t>→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8 </a:t>
            </a:r>
            <a:r>
              <a:rPr sz="2000" b="1" dirty="0">
                <a:latin typeface="Arial"/>
                <a:cs typeface="Arial"/>
              </a:rPr>
              <a:t>faults after EFC </a:t>
            </a:r>
            <a:r>
              <a:rPr sz="2000" spc="-40" dirty="0">
                <a:latin typeface="Arial"/>
                <a:cs typeface="Arial"/>
              </a:rPr>
              <a:t>→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5 </a:t>
            </a:r>
            <a:r>
              <a:rPr sz="2000" b="1" dirty="0">
                <a:latin typeface="Arial"/>
                <a:cs typeface="Arial"/>
              </a:rPr>
              <a:t>faults after</a:t>
            </a:r>
            <a:r>
              <a:rPr sz="2000" b="1" spc="-19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DFC</a:t>
            </a:r>
            <a:endParaRPr sz="20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666869" y="2148077"/>
            <a:ext cx="290576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Helvetica"/>
                <a:cs typeface="Helvetica"/>
              </a:rPr>
              <a:t>*all-PI </a:t>
            </a:r>
            <a:r>
              <a:rPr sz="1400" b="1" spc="-5" dirty="0">
                <a:latin typeface="Helvetica"/>
                <a:cs typeface="Helvetica"/>
              </a:rPr>
              <a:t>gate </a:t>
            </a:r>
            <a:r>
              <a:rPr sz="1400" b="1" dirty="0">
                <a:latin typeface="Helvetica"/>
                <a:cs typeface="Helvetica"/>
              </a:rPr>
              <a:t>= </a:t>
            </a:r>
            <a:r>
              <a:rPr sz="1400" b="1" spc="-5" dirty="0">
                <a:latin typeface="Helvetica"/>
                <a:cs typeface="Helvetica"/>
              </a:rPr>
              <a:t>gate inputs </a:t>
            </a:r>
            <a:r>
              <a:rPr sz="1400" b="1" dirty="0">
                <a:latin typeface="Helvetica"/>
                <a:cs typeface="Helvetica"/>
              </a:rPr>
              <a:t>are </a:t>
            </a:r>
            <a:r>
              <a:rPr sz="1400" b="1" i="1" spc="-10" dirty="0">
                <a:latin typeface="HelveticaNeue-BoldItalic"/>
                <a:cs typeface="HelveticaNeue-BoldItalic"/>
              </a:rPr>
              <a:t>all</a:t>
            </a:r>
            <a:r>
              <a:rPr sz="1400" b="1" i="1" spc="-100" dirty="0">
                <a:latin typeface="HelveticaNeue-BoldItalic"/>
                <a:cs typeface="HelveticaNeue-BoldItalic"/>
              </a:rPr>
              <a:t> </a:t>
            </a:r>
            <a:r>
              <a:rPr sz="1400" b="1" spc="-5" dirty="0">
                <a:latin typeface="Helvetica"/>
                <a:cs typeface="Helvetica"/>
              </a:rPr>
              <a:t>PI</a:t>
            </a:r>
            <a:endParaRPr sz="1400">
              <a:latin typeface="Helvetica"/>
              <a:cs typeface="Helvetic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193291" y="2427732"/>
            <a:ext cx="6757416" cy="11414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09423" y="6447452"/>
            <a:ext cx="624332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8</a:t>
            </a:fld>
            <a:endParaRPr sz="2400" dirty="0">
              <a:latin typeface="Arial"/>
              <a:cs typeface="Arial"/>
            </a:endParaRPr>
          </a:p>
        </p:txBody>
      </p:sp>
      <p:pic>
        <p:nvPicPr>
          <p:cNvPr id="33" name="Picture 32" descr="Diagram, schematic&#10;&#10;Description automatically generated">
            <a:extLst>
              <a:ext uri="{FF2B5EF4-FFF2-40B4-BE49-F238E27FC236}">
                <a16:creationId xmlns:a16="http://schemas.microsoft.com/office/drawing/2014/main" id="{BC3ED6D6-BF20-09D5-6953-1D94478EBC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757368"/>
            <a:ext cx="3440224" cy="9906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52C0CC9-6562-5825-BA82-B2E82695A0F1}"/>
              </a:ext>
            </a:extLst>
          </p:cNvPr>
          <p:cNvSpPr txBox="1"/>
          <p:nvPr/>
        </p:nvSpPr>
        <p:spPr>
          <a:xfrm>
            <a:off x="2522846" y="4575486"/>
            <a:ext cx="601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E/1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DE9CC47-2530-3A6A-59AF-E190B308B3C5}"/>
              </a:ext>
            </a:extLst>
          </p:cNvPr>
          <p:cNvSpPr txBox="1"/>
          <p:nvPr/>
        </p:nvSpPr>
        <p:spPr>
          <a:xfrm>
            <a:off x="2514600" y="5226236"/>
            <a:ext cx="601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F/1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7E820E0-B071-C0D5-1334-A222E5E5F5DE}"/>
              </a:ext>
            </a:extLst>
          </p:cNvPr>
          <p:cNvSpPr txBox="1"/>
          <p:nvPr/>
        </p:nvSpPr>
        <p:spPr>
          <a:xfrm>
            <a:off x="1684646" y="4528768"/>
            <a:ext cx="601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C/0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E66E747-0EFD-6529-724A-39C6451387C3}"/>
              </a:ext>
            </a:extLst>
          </p:cNvPr>
          <p:cNvSpPr txBox="1"/>
          <p:nvPr/>
        </p:nvSpPr>
        <p:spPr>
          <a:xfrm>
            <a:off x="1600200" y="5062168"/>
            <a:ext cx="601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D/0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B74006B-8817-87B9-94D9-7D5474E2F47A}"/>
              </a:ext>
            </a:extLst>
          </p:cNvPr>
          <p:cNvSpPr txBox="1"/>
          <p:nvPr/>
        </p:nvSpPr>
        <p:spPr>
          <a:xfrm>
            <a:off x="457200" y="4528768"/>
            <a:ext cx="601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A/1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B7C9216-1ABD-88AF-7609-03E2707A61B9}"/>
              </a:ext>
            </a:extLst>
          </p:cNvPr>
          <p:cNvSpPr txBox="1"/>
          <p:nvPr/>
        </p:nvSpPr>
        <p:spPr>
          <a:xfrm>
            <a:off x="381000" y="5302436"/>
            <a:ext cx="601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B/1</a:t>
            </a:r>
          </a:p>
        </p:txBody>
      </p:sp>
      <p:pic>
        <p:nvPicPr>
          <p:cNvPr id="41" name="Picture 40" descr="A black line with letters and numbers&#10;&#10;Description automatically generated">
            <a:extLst>
              <a:ext uri="{FF2B5EF4-FFF2-40B4-BE49-F238E27FC236}">
                <a16:creationId xmlns:a16="http://schemas.microsoft.com/office/drawing/2014/main" id="{1C54B678-EBA3-DC2F-8AF5-EE965A3698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8999" y="4707753"/>
            <a:ext cx="3440224" cy="1047742"/>
          </a:xfrm>
          <a:prstGeom prst="rect">
            <a:avLst/>
          </a:prstGeom>
        </p:spPr>
      </p:pic>
      <p:sp>
        <p:nvSpPr>
          <p:cNvPr id="42" name="object 3">
            <a:extLst>
              <a:ext uri="{FF2B5EF4-FFF2-40B4-BE49-F238E27FC236}">
                <a16:creationId xmlns:a16="http://schemas.microsoft.com/office/drawing/2014/main" id="{AA7572FF-9438-61DB-7DE3-705BEE29B465}"/>
              </a:ext>
            </a:extLst>
          </p:cNvPr>
          <p:cNvSpPr/>
          <p:nvPr/>
        </p:nvSpPr>
        <p:spPr>
          <a:xfrm>
            <a:off x="4571999" y="4939216"/>
            <a:ext cx="425450" cy="363220"/>
          </a:xfrm>
          <a:custGeom>
            <a:avLst/>
            <a:gdLst/>
            <a:ahLst/>
            <a:cxnLst/>
            <a:rect l="l" t="t" r="r" b="b"/>
            <a:pathLst>
              <a:path w="425450" h="363219">
                <a:moveTo>
                  <a:pt x="243840" y="0"/>
                </a:moveTo>
                <a:lnTo>
                  <a:pt x="243840" y="90678"/>
                </a:lnTo>
                <a:lnTo>
                  <a:pt x="0" y="90678"/>
                </a:lnTo>
                <a:lnTo>
                  <a:pt x="0" y="272034"/>
                </a:lnTo>
                <a:lnTo>
                  <a:pt x="243840" y="272034"/>
                </a:lnTo>
                <a:lnTo>
                  <a:pt x="243840" y="362712"/>
                </a:lnTo>
                <a:lnTo>
                  <a:pt x="425196" y="181356"/>
                </a:lnTo>
                <a:lnTo>
                  <a:pt x="2438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09423" y="6447452"/>
            <a:ext cx="500177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9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16783" y="164414"/>
            <a:ext cx="35807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Fault</a:t>
            </a:r>
            <a:r>
              <a:rPr spc="-80" dirty="0"/>
              <a:t> </a:t>
            </a:r>
            <a:r>
              <a:rPr dirty="0"/>
              <a:t>Collapsing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61136"/>
            <a:ext cx="3898265" cy="3267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Introduction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spc="-5" dirty="0">
                <a:solidFill>
                  <a:srgbClr val="A6A6A6"/>
                </a:solidFill>
                <a:latin typeface="Arial"/>
                <a:cs typeface="Arial"/>
              </a:rPr>
              <a:t>Equivalence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Fault</a:t>
            </a:r>
            <a:r>
              <a:rPr sz="2000" b="1" spc="-4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Collapsing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Fanout-free</a:t>
            </a:r>
            <a:r>
              <a:rPr sz="2000" b="1" spc="-65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circuits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Fanout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Dominance Fault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Collapsing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Fanout-free</a:t>
            </a:r>
            <a:r>
              <a:rPr sz="2000" b="1" spc="-125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circuits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Circuits with</a:t>
            </a:r>
            <a:r>
              <a:rPr sz="2000" b="1" u="sng" spc="-1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fanout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Checkpoint</a:t>
            </a:r>
            <a:r>
              <a:rPr sz="2000" b="1" spc="-35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Theorem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Conclusion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3905" y="164414"/>
            <a:ext cx="59467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Fanout </a:t>
            </a:r>
            <a:r>
              <a:rPr dirty="0"/>
              <a:t>Stem and</a:t>
            </a:r>
            <a:r>
              <a:rPr spc="-60" dirty="0"/>
              <a:t> </a:t>
            </a:r>
            <a:r>
              <a:rPr dirty="0"/>
              <a:t>Branches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822705"/>
            <a:ext cx="7926070" cy="967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FF0000"/>
              </a:buClr>
              <a:buSzPct val="119444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800" b="1" dirty="0">
                <a:latin typeface="Arial"/>
                <a:cs typeface="Arial"/>
              </a:rPr>
              <a:t>Fanout </a:t>
            </a:r>
            <a:r>
              <a:rPr sz="1800" b="1" spc="-5" dirty="0">
                <a:latin typeface="Arial"/>
                <a:cs typeface="Arial"/>
              </a:rPr>
              <a:t>branch faults </a:t>
            </a:r>
            <a:r>
              <a:rPr sz="1800" b="1" dirty="0">
                <a:solidFill>
                  <a:srgbClr val="0000FF"/>
                </a:solidFill>
                <a:latin typeface="Arial"/>
                <a:cs typeface="Arial"/>
              </a:rPr>
              <a:t>do NOT always dominate </a:t>
            </a:r>
            <a:r>
              <a:rPr sz="1800" b="1" dirty="0">
                <a:latin typeface="Arial"/>
                <a:cs typeface="Arial"/>
              </a:rPr>
              <a:t>fanout </a:t>
            </a:r>
            <a:r>
              <a:rPr sz="1800" b="1" spc="-5" dirty="0">
                <a:latin typeface="Arial"/>
                <a:cs typeface="Arial"/>
              </a:rPr>
              <a:t>stem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faults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34"/>
              </a:spcBef>
              <a:buClr>
                <a:srgbClr val="FF0000"/>
              </a:buClr>
              <a:buSzPct val="119444"/>
              <a:buFont typeface="Arial"/>
              <a:buChar char="•"/>
              <a:tabLst>
                <a:tab pos="354965" algn="l"/>
                <a:tab pos="355600" algn="l"/>
                <a:tab pos="1498600" algn="l"/>
              </a:tabLst>
            </a:pPr>
            <a:r>
              <a:rPr sz="1800" b="1" spc="-5" dirty="0">
                <a:latin typeface="Arial"/>
                <a:cs typeface="Arial"/>
              </a:rPr>
              <a:t>Example:	</a:t>
            </a:r>
            <a:r>
              <a:rPr sz="1800" b="1" i="1" dirty="0">
                <a:solidFill>
                  <a:srgbClr val="0000FF"/>
                </a:solidFill>
                <a:latin typeface="Arial-BoldItalicMT"/>
                <a:cs typeface="Arial-BoldItalicMT"/>
              </a:rPr>
              <a:t>F/1 </a:t>
            </a:r>
            <a:r>
              <a:rPr sz="1800" b="1" dirty="0">
                <a:latin typeface="Arial"/>
                <a:cs typeface="Arial"/>
              </a:rPr>
              <a:t>fault </a:t>
            </a:r>
            <a:r>
              <a:rPr sz="1800" b="1" spc="-5" dirty="0">
                <a:latin typeface="Arial"/>
                <a:cs typeface="Arial"/>
              </a:rPr>
              <a:t>dominates </a:t>
            </a:r>
            <a:r>
              <a:rPr sz="1800" b="1" i="1" spc="-5" dirty="0">
                <a:solidFill>
                  <a:srgbClr val="0000FF"/>
                </a:solidFill>
                <a:latin typeface="Arial-BoldItalicMT"/>
                <a:cs typeface="Arial-BoldItalicMT"/>
              </a:rPr>
              <a:t>E/1</a:t>
            </a:r>
            <a:r>
              <a:rPr sz="1800" b="1" spc="-5" dirty="0">
                <a:latin typeface="Arial"/>
                <a:cs typeface="Arial"/>
              </a:rPr>
              <a:t>. </a:t>
            </a:r>
            <a:r>
              <a:rPr sz="1800" b="1" dirty="0">
                <a:latin typeface="Arial"/>
                <a:cs typeface="Arial"/>
              </a:rPr>
              <a:t>but </a:t>
            </a:r>
            <a:r>
              <a:rPr sz="1800" b="1" i="1" dirty="0">
                <a:solidFill>
                  <a:srgbClr val="0000FF"/>
                </a:solidFill>
                <a:latin typeface="Arial-BoldItalicMT"/>
                <a:cs typeface="Arial-BoldItalicMT"/>
              </a:rPr>
              <a:t>L/1 </a:t>
            </a:r>
            <a:r>
              <a:rPr sz="1800" b="1" dirty="0">
                <a:latin typeface="Arial"/>
                <a:cs typeface="Arial"/>
              </a:rPr>
              <a:t>fault does not dominate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0000FF"/>
                </a:solidFill>
                <a:latin typeface="Arial-BoldItalicMT"/>
                <a:cs typeface="Arial-BoldItalicMT"/>
              </a:rPr>
              <a:t>E/1</a:t>
            </a:r>
            <a:endParaRPr sz="1800">
              <a:latin typeface="Arial-BoldItalicMT"/>
              <a:cs typeface="Arial-BoldItalicMT"/>
            </a:endParaRPr>
          </a:p>
          <a:p>
            <a:pPr marL="355600" indent="-342900">
              <a:lnSpc>
                <a:spcPct val="100000"/>
              </a:lnSpc>
              <a:spcBef>
                <a:spcPts val="430"/>
              </a:spcBef>
              <a:buSzPct val="119444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800" b="1" i="1" spc="-5" dirty="0">
                <a:solidFill>
                  <a:srgbClr val="FF0000"/>
                </a:solidFill>
                <a:latin typeface="Arial-BoldItalicMT"/>
                <a:cs typeface="Arial-BoldItalicMT"/>
              </a:rPr>
              <a:t>Stem analysis </a:t>
            </a:r>
            <a:r>
              <a:rPr sz="1800" b="1" dirty="0">
                <a:latin typeface="Arial"/>
                <a:cs typeface="Arial"/>
              </a:rPr>
              <a:t>of </a:t>
            </a:r>
            <a:r>
              <a:rPr sz="1800" b="1" spc="-5" dirty="0">
                <a:latin typeface="Arial"/>
                <a:cs typeface="Arial"/>
              </a:rPr>
              <a:t>fanout faults </a:t>
            </a:r>
            <a:r>
              <a:rPr sz="1800" b="1" dirty="0">
                <a:latin typeface="Arial"/>
                <a:cs typeface="Arial"/>
              </a:rPr>
              <a:t>is time</a:t>
            </a:r>
            <a:r>
              <a:rPr sz="1800" b="1" spc="2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consuming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34607" y="2069210"/>
          <a:ext cx="4072884" cy="31036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76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30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30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30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30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306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30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10388">
                <a:tc gridSpan="3"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Input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7"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Output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388"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i="1" dirty="0">
                          <a:latin typeface="Arial-BoldItalicMT"/>
                          <a:cs typeface="Arial-BoldItalicMT"/>
                        </a:rPr>
                        <a:t>A</a:t>
                      </a:r>
                      <a:endParaRPr sz="1600">
                        <a:latin typeface="Arial-BoldItalicMT"/>
                        <a:cs typeface="Arial-BoldItalicMT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i="1" dirty="0">
                          <a:latin typeface="Arial-BoldItalicMT"/>
                          <a:cs typeface="Arial-BoldItalicMT"/>
                        </a:rPr>
                        <a:t>B</a:t>
                      </a:r>
                      <a:endParaRPr sz="1600">
                        <a:latin typeface="Arial-BoldItalicMT"/>
                        <a:cs typeface="Arial-BoldItalicMT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i="1" dirty="0">
                          <a:latin typeface="Arial-BoldItalicMT"/>
                          <a:cs typeface="Arial-BoldItalicMT"/>
                        </a:rPr>
                        <a:t>C</a:t>
                      </a:r>
                      <a:endParaRPr sz="1600">
                        <a:latin typeface="Arial-BoldItalicMT"/>
                        <a:cs typeface="Arial-BoldItalicMT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good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i="1" spc="-5" dirty="0">
                          <a:latin typeface="Arial-BoldItalicMT"/>
                          <a:cs typeface="Arial-BoldItalicMT"/>
                        </a:rPr>
                        <a:t>E/0</a:t>
                      </a:r>
                      <a:endParaRPr sz="1600">
                        <a:latin typeface="Arial-BoldItalicMT"/>
                        <a:cs typeface="Arial-BoldItalicMT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i="1" spc="-5" dirty="0">
                          <a:latin typeface="Arial-BoldItalicMT"/>
                          <a:cs typeface="Arial-BoldItalicMT"/>
                        </a:rPr>
                        <a:t>F/0</a:t>
                      </a:r>
                      <a:endParaRPr sz="1600">
                        <a:latin typeface="Arial-BoldItalicMT"/>
                        <a:cs typeface="Arial-BoldItalicMT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1885"/>
                        </a:lnSpc>
                      </a:pPr>
                      <a:r>
                        <a:rPr sz="1600" b="1" i="1" spc="-5" dirty="0">
                          <a:latin typeface="Arial-BoldItalicMT"/>
                          <a:cs typeface="Arial-BoldItalicMT"/>
                        </a:rPr>
                        <a:t>L/0</a:t>
                      </a:r>
                      <a:endParaRPr sz="1600">
                        <a:latin typeface="Arial-BoldItalicMT"/>
                        <a:cs typeface="Arial-BoldItalic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i="1" spc="-5" dirty="0">
                          <a:latin typeface="Arial-BoldItalicMT"/>
                          <a:cs typeface="Arial-BoldItalicMT"/>
                        </a:rPr>
                        <a:t>E/1</a:t>
                      </a:r>
                      <a:endParaRPr sz="1600">
                        <a:latin typeface="Arial-BoldItalicMT"/>
                        <a:cs typeface="Arial-BoldItalicMT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i="1" spc="-5" dirty="0">
                          <a:latin typeface="Arial-BoldItalicMT"/>
                          <a:cs typeface="Arial-BoldItalicMT"/>
                        </a:rPr>
                        <a:t>F/1</a:t>
                      </a:r>
                      <a:endParaRPr sz="1600">
                        <a:latin typeface="Arial-BoldItalicMT"/>
                        <a:cs typeface="Arial-BoldItalicMT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885"/>
                        </a:lnSpc>
                      </a:pPr>
                      <a:r>
                        <a:rPr sz="1600" b="1" i="1" spc="-5" dirty="0">
                          <a:latin typeface="Arial-BoldItalicMT"/>
                          <a:cs typeface="Arial-BoldItalicMT"/>
                        </a:rPr>
                        <a:t>L/1</a:t>
                      </a:r>
                      <a:endParaRPr sz="1600">
                        <a:latin typeface="Arial-BoldItalicMT"/>
                        <a:cs typeface="Arial-BoldItalic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261"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1885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6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6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885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388"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1885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885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388"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1885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885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388"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1889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889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261"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1885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885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388"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1889"/>
                        </a:lnSpc>
                      </a:pPr>
                      <a:r>
                        <a:rPr sz="16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889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388"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1889"/>
                        </a:lnSpc>
                      </a:pPr>
                      <a:r>
                        <a:rPr sz="16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889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388"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1889"/>
                        </a:lnSpc>
                      </a:pPr>
                      <a:r>
                        <a:rPr sz="16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889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4769660" y="2784117"/>
            <a:ext cx="3918304" cy="132413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488186" y="2698113"/>
            <a:ext cx="19812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b="1" i="1" spc="20" dirty="0">
                <a:latin typeface="TimesNewRomanPS-BoldItalicMT"/>
                <a:cs typeface="TimesNewRomanPS-BoldItalicMT"/>
              </a:rPr>
              <a:t>A</a:t>
            </a:r>
            <a:endParaRPr sz="2000">
              <a:latin typeface="TimesNewRomanPS-BoldItalicMT"/>
              <a:cs typeface="TimesNewRomanPS-BoldItalicMT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xfrm>
            <a:off x="109423" y="6447452"/>
            <a:ext cx="500177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10</a:t>
            </a:fld>
            <a:endParaRPr spc="-5" dirty="0"/>
          </a:p>
        </p:txBody>
      </p:sp>
      <p:sp>
        <p:nvSpPr>
          <p:cNvPr id="7" name="object 7"/>
          <p:cNvSpPr txBox="1"/>
          <p:nvPr/>
        </p:nvSpPr>
        <p:spPr>
          <a:xfrm>
            <a:off x="4506716" y="3495268"/>
            <a:ext cx="203835" cy="678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" marR="5080" indent="-6350">
              <a:lnSpc>
                <a:spcPct val="107000"/>
              </a:lnSpc>
              <a:spcBef>
                <a:spcPts val="95"/>
              </a:spcBef>
            </a:pPr>
            <a:r>
              <a:rPr sz="2000" b="1" i="1" spc="15" dirty="0">
                <a:latin typeface="TimesNewRomanPS-BoldItalicMT"/>
                <a:cs typeface="TimesNewRomanPS-BoldItalicMT"/>
              </a:rPr>
              <a:t>B  C</a:t>
            </a:r>
            <a:endParaRPr sz="2000">
              <a:latin typeface="TimesNewRomanPS-BoldItalicMT"/>
              <a:cs typeface="TimesNewRomanPS-BoldItalic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33512" y="3811519"/>
            <a:ext cx="19812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b="1" i="1" spc="20" dirty="0">
                <a:latin typeface="TimesNewRomanPS-BoldItalicMT"/>
                <a:cs typeface="TimesNewRomanPS-BoldItalicMT"/>
              </a:rPr>
              <a:t>E</a:t>
            </a:r>
            <a:endParaRPr sz="2000">
              <a:latin typeface="TimesNewRomanPS-BoldItalicMT"/>
              <a:cs typeface="TimesNewRomanPS-BoldItalic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10182" y="3828491"/>
            <a:ext cx="19812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b="1" i="1" spc="20" dirty="0">
                <a:latin typeface="TimesNewRomanPS-BoldItalicMT"/>
                <a:cs typeface="TimesNewRomanPS-BoldItalicMT"/>
              </a:rPr>
              <a:t>F</a:t>
            </a:r>
            <a:endParaRPr sz="2000">
              <a:latin typeface="TimesNewRomanPS-BoldItalicMT"/>
              <a:cs typeface="TimesNewRomanPS-BoldItalic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42280" y="3195257"/>
            <a:ext cx="18351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b="1" i="1" spc="20" dirty="0">
                <a:latin typeface="TimesNewRomanPS-BoldItalicMT"/>
                <a:cs typeface="TimesNewRomanPS-BoldItalicMT"/>
              </a:rPr>
              <a:t>L</a:t>
            </a:r>
            <a:endParaRPr sz="2000">
              <a:latin typeface="TimesNewRomanPS-BoldItalicMT"/>
              <a:cs typeface="TimesNewRomanPS-BoldItalic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26117" y="3581615"/>
            <a:ext cx="15494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b="1" i="1" spc="15" dirty="0">
                <a:latin typeface="TimesNewRomanPS-BoldItalicMT"/>
                <a:cs typeface="TimesNewRomanPS-BoldItalicMT"/>
              </a:rPr>
              <a:t>J</a:t>
            </a:r>
            <a:endParaRPr sz="2000">
              <a:latin typeface="TimesNewRomanPS-BoldItalicMT"/>
              <a:cs typeface="TimesNewRomanPS-BoldItalic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270092" y="2704286"/>
            <a:ext cx="22669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b="1" i="1" spc="25" dirty="0">
                <a:latin typeface="TimesNewRomanPS-BoldItalicMT"/>
                <a:cs typeface="TimesNewRomanPS-BoldItalicMT"/>
              </a:rPr>
              <a:t>H</a:t>
            </a:r>
            <a:endParaRPr sz="2000">
              <a:latin typeface="TimesNewRomanPS-BoldItalicMT"/>
              <a:cs typeface="TimesNewRomanPS-BoldItalic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561640" y="2823094"/>
            <a:ext cx="19812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b="1" i="1" spc="20" dirty="0">
                <a:latin typeface="TimesNewRomanPS-BoldItalicMT"/>
                <a:cs typeface="TimesNewRomanPS-BoldItalicMT"/>
              </a:rPr>
              <a:t>K</a:t>
            </a:r>
            <a:endParaRPr sz="2000">
              <a:latin typeface="TimesNewRomanPS-BoldItalicMT"/>
              <a:cs typeface="TimesNewRomanPS-BoldItalic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90549" y="2895416"/>
            <a:ext cx="1835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G</a:t>
            </a:r>
            <a:endParaRPr sz="1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948436" y="2994434"/>
            <a:ext cx="99060" cy="1835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00" b="1" spc="20" dirty="0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107970" y="3010359"/>
            <a:ext cx="3079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b="1" spc="10" dirty="0">
                <a:latin typeface="Arial"/>
                <a:cs typeface="Arial"/>
              </a:rPr>
              <a:t>G</a:t>
            </a:r>
            <a:r>
              <a:rPr sz="1500" b="1" spc="15" baseline="-11111" dirty="0">
                <a:latin typeface="Arial"/>
                <a:cs typeface="Arial"/>
              </a:rPr>
              <a:t>4</a:t>
            </a:r>
            <a:endParaRPr sz="1500" baseline="-11111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717167" y="3948948"/>
            <a:ext cx="3079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b="1" spc="10" dirty="0">
                <a:latin typeface="Arial"/>
                <a:cs typeface="Arial"/>
              </a:rPr>
              <a:t>G</a:t>
            </a:r>
            <a:r>
              <a:rPr sz="1500" b="1" spc="15" baseline="-11111" dirty="0">
                <a:latin typeface="Arial"/>
                <a:cs typeface="Arial"/>
              </a:rPr>
              <a:t>3</a:t>
            </a:r>
            <a:endParaRPr sz="1500" baseline="-11111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064000" y="3699940"/>
            <a:ext cx="1835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G</a:t>
            </a:r>
            <a:endParaRPr sz="1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21894" y="3798924"/>
            <a:ext cx="99060" cy="1835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00" b="1" spc="20" dirty="0"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12420" y="5788152"/>
            <a:ext cx="8519160" cy="462280"/>
          </a:xfrm>
          <a:prstGeom prst="rect">
            <a:avLst/>
          </a:prstGeom>
          <a:ln w="9144">
            <a:solidFill>
              <a:srgbClr val="FF0000"/>
            </a:solidFill>
          </a:ln>
        </p:spPr>
        <p:txBody>
          <a:bodyPr vert="horz" wrap="square" lIns="0" tIns="39369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09"/>
              </a:spcBef>
            </a:pPr>
            <a:r>
              <a:rPr sz="2400" b="1" spc="-5" dirty="0">
                <a:solidFill>
                  <a:srgbClr val="FF0000"/>
                </a:solidFill>
                <a:latin typeface="Helvetica"/>
                <a:cs typeface="Helvetica"/>
              </a:rPr>
              <a:t>Hard </a:t>
            </a:r>
            <a:r>
              <a:rPr sz="2400" b="1" dirty="0">
                <a:solidFill>
                  <a:srgbClr val="FF0000"/>
                </a:solidFill>
                <a:latin typeface="Helvetica"/>
                <a:cs typeface="Helvetica"/>
              </a:rPr>
              <a:t>to </a:t>
            </a:r>
            <a:r>
              <a:rPr sz="2400" b="1" spc="-10" dirty="0">
                <a:solidFill>
                  <a:srgbClr val="FF0000"/>
                </a:solidFill>
                <a:latin typeface="Helvetica"/>
                <a:cs typeface="Helvetica"/>
              </a:rPr>
              <a:t>Analyze </a:t>
            </a:r>
            <a:r>
              <a:rPr sz="2400" b="1" spc="-5" dirty="0">
                <a:solidFill>
                  <a:srgbClr val="FF0000"/>
                </a:solidFill>
                <a:latin typeface="Helvetica"/>
                <a:cs typeface="Helvetica"/>
              </a:rPr>
              <a:t>Dominance </a:t>
            </a:r>
            <a:r>
              <a:rPr sz="2400" b="1" dirty="0">
                <a:solidFill>
                  <a:srgbClr val="FF0000"/>
                </a:solidFill>
                <a:latin typeface="Helvetica"/>
                <a:cs typeface="Helvetica"/>
              </a:rPr>
              <a:t>between </a:t>
            </a:r>
            <a:r>
              <a:rPr sz="2400" b="1" spc="-5" dirty="0">
                <a:solidFill>
                  <a:srgbClr val="FF0000"/>
                </a:solidFill>
                <a:latin typeface="Helvetica"/>
                <a:cs typeface="Helvetica"/>
              </a:rPr>
              <a:t>Stem </a:t>
            </a:r>
            <a:r>
              <a:rPr sz="2400" b="1" dirty="0">
                <a:solidFill>
                  <a:srgbClr val="FF0000"/>
                </a:solidFill>
                <a:latin typeface="Helvetica"/>
                <a:cs typeface="Helvetica"/>
              </a:rPr>
              <a:t>and</a:t>
            </a:r>
            <a:r>
              <a:rPr sz="2400" b="1" spc="-6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Helvetica"/>
                <a:cs typeface="Helvetica"/>
              </a:rPr>
              <a:t>Branches</a:t>
            </a:r>
            <a:endParaRPr sz="24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9993" y="161366"/>
            <a:ext cx="78244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 to </a:t>
            </a:r>
            <a:r>
              <a:rPr spc="-5" dirty="0"/>
              <a:t>Handle </a:t>
            </a:r>
            <a:r>
              <a:rPr dirty="0"/>
              <a:t>Circuits </a:t>
            </a:r>
            <a:r>
              <a:rPr spc="-10" dirty="0"/>
              <a:t>w/</a:t>
            </a:r>
            <a:r>
              <a:rPr spc="-20" dirty="0"/>
              <a:t> </a:t>
            </a:r>
            <a:r>
              <a:rPr spc="-5" dirty="0"/>
              <a:t>Fanouts?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7525" y="900785"/>
            <a:ext cx="8376284" cy="2613536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sz="2000" b="1" dirty="0">
                <a:latin typeface="Arial"/>
                <a:cs typeface="Arial"/>
              </a:rPr>
              <a:t>Approximate solution: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Partition </a:t>
            </a:r>
            <a:r>
              <a:rPr sz="2000" b="1" dirty="0">
                <a:latin typeface="Arial"/>
                <a:cs typeface="Arial"/>
              </a:rPr>
              <a:t>circuit into fanout-free</a:t>
            </a:r>
            <a:r>
              <a:rPr sz="2000" b="1" spc="-1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subcircuits</a:t>
            </a:r>
            <a:endParaRPr sz="2000" dirty="0">
              <a:latin typeface="Arial"/>
              <a:cs typeface="Arial"/>
            </a:endParaRPr>
          </a:p>
          <a:p>
            <a:pPr marL="7689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68985" algn="l"/>
                <a:tab pos="769620" algn="l"/>
              </a:tabLst>
            </a:pPr>
            <a:r>
              <a:rPr sz="2000" b="1" dirty="0">
                <a:latin typeface="Arial"/>
                <a:cs typeface="Arial"/>
              </a:rPr>
              <a:t>DFC each subcircuit</a:t>
            </a:r>
            <a:r>
              <a:rPr sz="2000" b="1" spc="-60" dirty="0"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independently</a:t>
            </a:r>
            <a:endParaRPr sz="2000" dirty="0">
              <a:latin typeface="Arial"/>
              <a:cs typeface="Arial"/>
            </a:endParaRPr>
          </a:p>
          <a:p>
            <a:pPr marL="3683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sz="2000" b="1" dirty="0">
                <a:latin typeface="Arial"/>
                <a:cs typeface="Arial"/>
              </a:rPr>
              <a:t>Example:</a:t>
            </a:r>
            <a:endParaRPr sz="2000" dirty="0">
              <a:latin typeface="Arial"/>
              <a:cs typeface="Arial"/>
            </a:endParaRPr>
          </a:p>
          <a:p>
            <a:pPr marL="7689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68985" algn="l"/>
                <a:tab pos="769620" algn="l"/>
              </a:tabLst>
            </a:pPr>
            <a:r>
              <a:rPr sz="2000" b="1" i="1" dirty="0">
                <a:latin typeface="Arial-BoldItalicMT"/>
                <a:cs typeface="Arial-BoldItalicMT"/>
              </a:rPr>
              <a:t>J </a:t>
            </a:r>
            <a:r>
              <a:rPr sz="2000" b="1" dirty="0">
                <a:latin typeface="Arial"/>
                <a:cs typeface="Arial"/>
              </a:rPr>
              <a:t>is consider</a:t>
            </a:r>
            <a:r>
              <a:rPr lang="en-US" sz="2000" b="1" dirty="0">
                <a:latin typeface="Arial"/>
                <a:cs typeface="Arial"/>
              </a:rPr>
              <a:t>ed</a:t>
            </a:r>
            <a:r>
              <a:rPr sz="2000" b="1" dirty="0">
                <a:latin typeface="Arial"/>
                <a:cs typeface="Arial"/>
              </a:rPr>
              <a:t> input because </a:t>
            </a:r>
            <a:r>
              <a:rPr sz="2000" b="1" spc="-5" dirty="0">
                <a:latin typeface="Arial"/>
                <a:cs typeface="Arial"/>
              </a:rPr>
              <a:t>inverter </a:t>
            </a:r>
            <a:r>
              <a:rPr sz="2000" b="1" i="1" spc="10" dirty="0">
                <a:solidFill>
                  <a:srgbClr val="0000FF"/>
                </a:solidFill>
                <a:latin typeface="Arial-BoldItalicMT"/>
                <a:cs typeface="Arial-BoldItalicMT"/>
              </a:rPr>
              <a:t>G</a:t>
            </a:r>
            <a:r>
              <a:rPr sz="1950" b="1" i="1" spc="15" baseline="-21367" dirty="0">
                <a:solidFill>
                  <a:srgbClr val="0000FF"/>
                </a:solidFill>
                <a:latin typeface="Arial-BoldItalicMT"/>
                <a:cs typeface="Arial-BoldItalicMT"/>
              </a:rPr>
              <a:t>3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is</a:t>
            </a:r>
            <a:r>
              <a:rPr sz="2000" b="1" spc="-3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ignored</a:t>
            </a:r>
            <a:endParaRPr sz="2000" dirty="0">
              <a:latin typeface="Arial"/>
              <a:cs typeface="Arial"/>
            </a:endParaRPr>
          </a:p>
          <a:p>
            <a:pPr marL="7689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68985" algn="l"/>
                <a:tab pos="769620" algn="l"/>
              </a:tabLst>
            </a:pPr>
            <a:r>
              <a:rPr sz="2000" b="1" dirty="0">
                <a:latin typeface="Arial"/>
                <a:cs typeface="Arial"/>
              </a:rPr>
              <a:t>Original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18 </a:t>
            </a:r>
            <a:r>
              <a:rPr sz="2000" b="1" dirty="0">
                <a:latin typeface="Arial"/>
                <a:cs typeface="Arial"/>
              </a:rPr>
              <a:t>faults, </a:t>
            </a:r>
            <a:r>
              <a:rPr sz="2000" spc="-40" dirty="0">
                <a:latin typeface="Arial"/>
                <a:cs typeface="Arial"/>
              </a:rPr>
              <a:t>→ </a:t>
            </a:r>
            <a:r>
              <a:rPr sz="2000" b="1" dirty="0">
                <a:latin typeface="Arial"/>
                <a:cs typeface="Arial"/>
              </a:rPr>
              <a:t>after EFC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10 </a:t>
            </a:r>
            <a:r>
              <a:rPr sz="2000" b="1" dirty="0">
                <a:latin typeface="Arial"/>
                <a:cs typeface="Arial"/>
              </a:rPr>
              <a:t>faults </a:t>
            </a:r>
            <a:r>
              <a:rPr sz="2000" spc="-40" dirty="0">
                <a:latin typeface="Arial"/>
                <a:cs typeface="Arial"/>
              </a:rPr>
              <a:t>→ </a:t>
            </a:r>
            <a:r>
              <a:rPr sz="2000" b="1" dirty="0">
                <a:latin typeface="Arial"/>
                <a:cs typeface="Arial"/>
              </a:rPr>
              <a:t>after DFC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7</a:t>
            </a:r>
            <a:r>
              <a:rPr sz="2000" b="1" spc="-15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faults</a:t>
            </a:r>
            <a:endParaRPr sz="2000" dirty="0">
              <a:latin typeface="Arial"/>
              <a:cs typeface="Arial"/>
            </a:endParaRPr>
          </a:p>
          <a:p>
            <a:pPr marL="7689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68985" algn="l"/>
                <a:tab pos="769620" algn="l"/>
              </a:tabLst>
            </a:pPr>
            <a:r>
              <a:rPr sz="2000" b="1" dirty="0">
                <a:latin typeface="Arial"/>
                <a:cs typeface="Arial"/>
              </a:rPr>
              <a:t>NOTE: this solution is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NOT</a:t>
            </a:r>
            <a:r>
              <a:rPr sz="2000" b="1" spc="-1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optimal</a:t>
            </a:r>
            <a:endParaRPr sz="2000" dirty="0">
              <a:latin typeface="Arial"/>
              <a:cs typeface="Arial"/>
            </a:endParaRPr>
          </a:p>
          <a:p>
            <a:pPr marL="939800">
              <a:lnSpc>
                <a:spcPct val="100000"/>
              </a:lnSpc>
              <a:spcBef>
                <a:spcPts val="48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latin typeface="Arial-BoldItalicMT"/>
                <a:cs typeface="Arial-BoldItalicMT"/>
              </a:rPr>
              <a:t>J/0 </a:t>
            </a:r>
            <a:r>
              <a:rPr sz="2000" b="1" dirty="0">
                <a:latin typeface="Arial"/>
                <a:cs typeface="Arial"/>
              </a:rPr>
              <a:t>is </a:t>
            </a:r>
            <a:r>
              <a:rPr sz="2000" b="1" spc="-5" dirty="0">
                <a:latin typeface="Arial"/>
                <a:cs typeface="Arial"/>
              </a:rPr>
              <a:t>equivalent </a:t>
            </a:r>
            <a:r>
              <a:rPr sz="2000" b="1" dirty="0">
                <a:latin typeface="Arial"/>
                <a:cs typeface="Arial"/>
              </a:rPr>
              <a:t>to </a:t>
            </a:r>
            <a:r>
              <a:rPr sz="2000" b="1" i="1" dirty="0">
                <a:latin typeface="Arial-BoldItalicMT"/>
                <a:cs typeface="Arial-BoldItalicMT"/>
              </a:rPr>
              <a:t>F/1</a:t>
            </a:r>
            <a:r>
              <a:rPr sz="2000" b="1" dirty="0">
                <a:latin typeface="Arial"/>
                <a:cs typeface="Arial"/>
              </a:rPr>
              <a:t>,which dominates</a:t>
            </a:r>
            <a:r>
              <a:rPr sz="2000" b="1" spc="-125" dirty="0">
                <a:latin typeface="Arial"/>
                <a:cs typeface="Arial"/>
              </a:rPr>
              <a:t> </a:t>
            </a:r>
            <a:r>
              <a:rPr sz="2000" b="1" i="1" spc="-5" dirty="0">
                <a:latin typeface="Arial-BoldItalicMT"/>
                <a:cs typeface="Arial-BoldItalicMT"/>
              </a:rPr>
              <a:t>E/</a:t>
            </a:r>
            <a:r>
              <a:rPr sz="2000" b="1" spc="-5" dirty="0">
                <a:latin typeface="Arial"/>
                <a:cs typeface="Arial"/>
              </a:rPr>
              <a:t>1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20611" y="4943855"/>
            <a:ext cx="422275" cy="1905"/>
          </a:xfrm>
          <a:custGeom>
            <a:avLst/>
            <a:gdLst/>
            <a:ahLst/>
            <a:cxnLst/>
            <a:rect l="l" t="t" r="r" b="b"/>
            <a:pathLst>
              <a:path w="422275" h="1904">
                <a:moveTo>
                  <a:pt x="422147" y="0"/>
                </a:moveTo>
                <a:lnTo>
                  <a:pt x="0" y="152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345680" y="4707635"/>
            <a:ext cx="203200" cy="0"/>
          </a:xfrm>
          <a:custGeom>
            <a:avLst/>
            <a:gdLst/>
            <a:ahLst/>
            <a:cxnLst/>
            <a:rect l="l" t="t" r="r" b="b"/>
            <a:pathLst>
              <a:path w="203200">
                <a:moveTo>
                  <a:pt x="202692" y="0"/>
                </a:move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30923" y="4349496"/>
            <a:ext cx="640080" cy="715010"/>
          </a:xfrm>
          <a:custGeom>
            <a:avLst/>
            <a:gdLst/>
            <a:ahLst/>
            <a:cxnLst/>
            <a:rect l="l" t="t" r="r" b="b"/>
            <a:pathLst>
              <a:path w="640079" h="715010">
                <a:moveTo>
                  <a:pt x="0" y="0"/>
                </a:moveTo>
                <a:lnTo>
                  <a:pt x="24065" y="43734"/>
                </a:lnTo>
                <a:lnTo>
                  <a:pt x="44922" y="87844"/>
                </a:lnTo>
                <a:lnTo>
                  <a:pt x="62570" y="132275"/>
                </a:lnTo>
                <a:lnTo>
                  <a:pt x="77009" y="176974"/>
                </a:lnTo>
                <a:lnTo>
                  <a:pt x="88240" y="221887"/>
                </a:lnTo>
                <a:lnTo>
                  <a:pt x="96262" y="266961"/>
                </a:lnTo>
                <a:lnTo>
                  <a:pt x="101075" y="312143"/>
                </a:lnTo>
                <a:lnTo>
                  <a:pt x="102679" y="357377"/>
                </a:lnTo>
                <a:lnTo>
                  <a:pt x="101075" y="402612"/>
                </a:lnTo>
                <a:lnTo>
                  <a:pt x="96262" y="447794"/>
                </a:lnTo>
                <a:lnTo>
                  <a:pt x="88240" y="492868"/>
                </a:lnTo>
                <a:lnTo>
                  <a:pt x="77009" y="537781"/>
                </a:lnTo>
                <a:lnTo>
                  <a:pt x="62570" y="582480"/>
                </a:lnTo>
                <a:lnTo>
                  <a:pt x="44922" y="626911"/>
                </a:lnTo>
                <a:lnTo>
                  <a:pt x="24065" y="671021"/>
                </a:lnTo>
                <a:lnTo>
                  <a:pt x="0" y="714755"/>
                </a:lnTo>
                <a:lnTo>
                  <a:pt x="61653" y="713119"/>
                </a:lnTo>
                <a:lnTo>
                  <a:pt x="121647" y="708311"/>
                </a:lnTo>
                <a:lnTo>
                  <a:pt x="179712" y="700480"/>
                </a:lnTo>
                <a:lnTo>
                  <a:pt x="235581" y="689776"/>
                </a:lnTo>
                <a:lnTo>
                  <a:pt x="288986" y="676349"/>
                </a:lnTo>
                <a:lnTo>
                  <a:pt x="339658" y="660349"/>
                </a:lnTo>
                <a:lnTo>
                  <a:pt x="387331" y="641926"/>
                </a:lnTo>
                <a:lnTo>
                  <a:pt x="431735" y="621230"/>
                </a:lnTo>
                <a:lnTo>
                  <a:pt x="472603" y="598410"/>
                </a:lnTo>
                <a:lnTo>
                  <a:pt x="509666" y="573616"/>
                </a:lnTo>
                <a:lnTo>
                  <a:pt x="542658" y="546998"/>
                </a:lnTo>
                <a:lnTo>
                  <a:pt x="571309" y="518706"/>
                </a:lnTo>
                <a:lnTo>
                  <a:pt x="595352" y="488889"/>
                </a:lnTo>
                <a:lnTo>
                  <a:pt x="628540" y="425283"/>
                </a:lnTo>
                <a:lnTo>
                  <a:pt x="640079" y="357377"/>
                </a:lnTo>
                <a:lnTo>
                  <a:pt x="637150" y="322962"/>
                </a:lnTo>
                <a:lnTo>
                  <a:pt x="614518" y="257056"/>
                </a:lnTo>
                <a:lnTo>
                  <a:pt x="571309" y="196049"/>
                </a:lnTo>
                <a:lnTo>
                  <a:pt x="542658" y="167757"/>
                </a:lnTo>
                <a:lnTo>
                  <a:pt x="509666" y="141139"/>
                </a:lnTo>
                <a:lnTo>
                  <a:pt x="472603" y="116345"/>
                </a:lnTo>
                <a:lnTo>
                  <a:pt x="431735" y="93525"/>
                </a:lnTo>
                <a:lnTo>
                  <a:pt x="387331" y="72829"/>
                </a:lnTo>
                <a:lnTo>
                  <a:pt x="339658" y="54406"/>
                </a:lnTo>
                <a:lnTo>
                  <a:pt x="288986" y="38406"/>
                </a:lnTo>
                <a:lnTo>
                  <a:pt x="235581" y="24979"/>
                </a:lnTo>
                <a:lnTo>
                  <a:pt x="179712" y="14275"/>
                </a:lnTo>
                <a:lnTo>
                  <a:pt x="121647" y="6444"/>
                </a:lnTo>
                <a:lnTo>
                  <a:pt x="61653" y="16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266431" y="4654296"/>
            <a:ext cx="123444" cy="1127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686300" y="4259579"/>
            <a:ext cx="417830" cy="0"/>
          </a:xfrm>
          <a:custGeom>
            <a:avLst/>
            <a:gdLst/>
            <a:ahLst/>
            <a:cxnLst/>
            <a:rect l="l" t="t" r="r" b="b"/>
            <a:pathLst>
              <a:path w="417829">
                <a:moveTo>
                  <a:pt x="417575" y="0"/>
                </a:move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686300" y="4678679"/>
            <a:ext cx="417830" cy="1905"/>
          </a:xfrm>
          <a:custGeom>
            <a:avLst/>
            <a:gdLst/>
            <a:ahLst/>
            <a:cxnLst/>
            <a:rect l="l" t="t" r="r" b="b"/>
            <a:pathLst>
              <a:path w="417829" h="1904">
                <a:moveTo>
                  <a:pt x="417575" y="0"/>
                </a:moveTo>
                <a:lnTo>
                  <a:pt x="0" y="152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896611" y="4155947"/>
            <a:ext cx="628015" cy="626745"/>
          </a:xfrm>
          <a:custGeom>
            <a:avLst/>
            <a:gdLst/>
            <a:ahLst/>
            <a:cxnLst/>
            <a:rect l="l" t="t" r="r" b="b"/>
            <a:pathLst>
              <a:path w="628014" h="626745">
                <a:moveTo>
                  <a:pt x="313943" y="0"/>
                </a:moveTo>
                <a:lnTo>
                  <a:pt x="0" y="0"/>
                </a:lnTo>
                <a:lnTo>
                  <a:pt x="0" y="626363"/>
                </a:lnTo>
                <a:lnTo>
                  <a:pt x="313943" y="626363"/>
                </a:lnTo>
                <a:lnTo>
                  <a:pt x="360329" y="622968"/>
                </a:lnTo>
                <a:lnTo>
                  <a:pt x="404603" y="613104"/>
                </a:lnTo>
                <a:lnTo>
                  <a:pt x="446281" y="597257"/>
                </a:lnTo>
                <a:lnTo>
                  <a:pt x="484875" y="575910"/>
                </a:lnTo>
                <a:lnTo>
                  <a:pt x="519901" y="549548"/>
                </a:lnTo>
                <a:lnTo>
                  <a:pt x="550872" y="518655"/>
                </a:lnTo>
                <a:lnTo>
                  <a:pt x="577301" y="483716"/>
                </a:lnTo>
                <a:lnTo>
                  <a:pt x="598704" y="445215"/>
                </a:lnTo>
                <a:lnTo>
                  <a:pt x="614593" y="403636"/>
                </a:lnTo>
                <a:lnTo>
                  <a:pt x="624483" y="359463"/>
                </a:lnTo>
                <a:lnTo>
                  <a:pt x="627888" y="313181"/>
                </a:lnTo>
                <a:lnTo>
                  <a:pt x="624483" y="266900"/>
                </a:lnTo>
                <a:lnTo>
                  <a:pt x="614593" y="222727"/>
                </a:lnTo>
                <a:lnTo>
                  <a:pt x="598704" y="181148"/>
                </a:lnTo>
                <a:lnTo>
                  <a:pt x="577301" y="142647"/>
                </a:lnTo>
                <a:lnTo>
                  <a:pt x="550872" y="107708"/>
                </a:lnTo>
                <a:lnTo>
                  <a:pt x="519901" y="76815"/>
                </a:lnTo>
                <a:lnTo>
                  <a:pt x="484875" y="50453"/>
                </a:lnTo>
                <a:lnTo>
                  <a:pt x="446281" y="29106"/>
                </a:lnTo>
                <a:lnTo>
                  <a:pt x="404603" y="13259"/>
                </a:lnTo>
                <a:lnTo>
                  <a:pt x="360329" y="3395"/>
                </a:lnTo>
                <a:lnTo>
                  <a:pt x="31394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742944" y="4678679"/>
            <a:ext cx="944880" cy="1000125"/>
          </a:xfrm>
          <a:custGeom>
            <a:avLst/>
            <a:gdLst/>
            <a:ahLst/>
            <a:cxnLst/>
            <a:rect l="l" t="t" r="r" b="b"/>
            <a:pathLst>
              <a:path w="944879" h="1000125">
                <a:moveTo>
                  <a:pt x="0" y="1000125"/>
                </a:moveTo>
                <a:lnTo>
                  <a:pt x="0" y="0"/>
                </a:lnTo>
                <a:lnTo>
                  <a:pt x="944626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135879" y="5663184"/>
            <a:ext cx="111252" cy="1158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610100" y="5414771"/>
            <a:ext cx="528955" cy="599440"/>
          </a:xfrm>
          <a:custGeom>
            <a:avLst/>
            <a:gdLst/>
            <a:ahLst/>
            <a:cxnLst/>
            <a:rect l="l" t="t" r="r" b="b"/>
            <a:pathLst>
              <a:path w="528954" h="599439">
                <a:moveTo>
                  <a:pt x="0" y="0"/>
                </a:moveTo>
                <a:lnTo>
                  <a:pt x="0" y="598931"/>
                </a:lnTo>
                <a:lnTo>
                  <a:pt x="528827" y="2994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610100" y="5414771"/>
            <a:ext cx="528955" cy="599440"/>
          </a:xfrm>
          <a:custGeom>
            <a:avLst/>
            <a:gdLst/>
            <a:ahLst/>
            <a:cxnLst/>
            <a:rect l="l" t="t" r="r" b="b"/>
            <a:pathLst>
              <a:path w="528954" h="599439">
                <a:moveTo>
                  <a:pt x="0" y="0"/>
                </a:moveTo>
                <a:lnTo>
                  <a:pt x="528827" y="299465"/>
                </a:lnTo>
                <a:lnTo>
                  <a:pt x="0" y="598931"/>
                </a:lnTo>
                <a:lnTo>
                  <a:pt x="0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323844" y="5713476"/>
            <a:ext cx="1285875" cy="1905"/>
          </a:xfrm>
          <a:custGeom>
            <a:avLst/>
            <a:gdLst/>
            <a:ahLst/>
            <a:cxnLst/>
            <a:rect l="l" t="t" r="r" b="b"/>
            <a:pathLst>
              <a:path w="1285875" h="1904">
                <a:moveTo>
                  <a:pt x="0" y="0"/>
                </a:moveTo>
                <a:lnTo>
                  <a:pt x="1285875" y="1587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242559" y="4945379"/>
            <a:ext cx="1177925" cy="776605"/>
          </a:xfrm>
          <a:custGeom>
            <a:avLst/>
            <a:gdLst/>
            <a:ahLst/>
            <a:cxnLst/>
            <a:rect l="l" t="t" r="r" b="b"/>
            <a:pathLst>
              <a:path w="1177925" h="776604">
                <a:moveTo>
                  <a:pt x="0" y="776287"/>
                </a:moveTo>
                <a:lnTo>
                  <a:pt x="588899" y="776287"/>
                </a:lnTo>
                <a:lnTo>
                  <a:pt x="588899" y="0"/>
                </a:lnTo>
                <a:lnTo>
                  <a:pt x="1177925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278379" y="5486400"/>
            <a:ext cx="419100" cy="1905"/>
          </a:xfrm>
          <a:custGeom>
            <a:avLst/>
            <a:gdLst/>
            <a:ahLst/>
            <a:cxnLst/>
            <a:rect l="l" t="t" r="r" b="b"/>
            <a:pathLst>
              <a:path w="419100" h="1904">
                <a:moveTo>
                  <a:pt x="419100" y="0"/>
                </a:moveTo>
                <a:lnTo>
                  <a:pt x="0" y="152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278379" y="5926835"/>
            <a:ext cx="419100" cy="0"/>
          </a:xfrm>
          <a:custGeom>
            <a:avLst/>
            <a:gdLst/>
            <a:ahLst/>
            <a:cxnLst/>
            <a:rect l="l" t="t" r="r" b="b"/>
            <a:pathLst>
              <a:path w="419100">
                <a:moveTo>
                  <a:pt x="419100" y="0"/>
                </a:move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906267" y="5715000"/>
            <a:ext cx="417830" cy="1905"/>
          </a:xfrm>
          <a:custGeom>
            <a:avLst/>
            <a:gdLst/>
            <a:ahLst/>
            <a:cxnLst/>
            <a:rect l="l" t="t" r="r" b="b"/>
            <a:pathLst>
              <a:path w="417829" h="1904">
                <a:moveTo>
                  <a:pt x="417576" y="0"/>
                </a:moveTo>
                <a:lnTo>
                  <a:pt x="0" y="152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485644" y="5401055"/>
            <a:ext cx="631190" cy="628015"/>
          </a:xfrm>
          <a:custGeom>
            <a:avLst/>
            <a:gdLst/>
            <a:ahLst/>
            <a:cxnLst/>
            <a:rect l="l" t="t" r="r" b="b"/>
            <a:pathLst>
              <a:path w="631189" h="628014">
                <a:moveTo>
                  <a:pt x="0" y="0"/>
                </a:moveTo>
                <a:lnTo>
                  <a:pt x="26837" y="43930"/>
                </a:lnTo>
                <a:lnTo>
                  <a:pt x="49545" y="88285"/>
                </a:lnTo>
                <a:lnTo>
                  <a:pt x="68125" y="132993"/>
                </a:lnTo>
                <a:lnTo>
                  <a:pt x="82575" y="177983"/>
                </a:lnTo>
                <a:lnTo>
                  <a:pt x="92897" y="223186"/>
                </a:lnTo>
                <a:lnTo>
                  <a:pt x="99091" y="268529"/>
                </a:lnTo>
                <a:lnTo>
                  <a:pt x="101155" y="313944"/>
                </a:lnTo>
                <a:lnTo>
                  <a:pt x="99091" y="359358"/>
                </a:lnTo>
                <a:lnTo>
                  <a:pt x="92897" y="404701"/>
                </a:lnTo>
                <a:lnTo>
                  <a:pt x="82575" y="449904"/>
                </a:lnTo>
                <a:lnTo>
                  <a:pt x="68125" y="494894"/>
                </a:lnTo>
                <a:lnTo>
                  <a:pt x="49545" y="539602"/>
                </a:lnTo>
                <a:lnTo>
                  <a:pt x="26837" y="583957"/>
                </a:lnTo>
                <a:lnTo>
                  <a:pt x="0" y="627888"/>
                </a:lnTo>
                <a:lnTo>
                  <a:pt x="64514" y="626267"/>
                </a:lnTo>
                <a:lnTo>
                  <a:pt x="127164" y="621509"/>
                </a:lnTo>
                <a:lnTo>
                  <a:pt x="187632" y="613773"/>
                </a:lnTo>
                <a:lnTo>
                  <a:pt x="245602" y="603215"/>
                </a:lnTo>
                <a:lnTo>
                  <a:pt x="300755" y="589995"/>
                </a:lnTo>
                <a:lnTo>
                  <a:pt x="352776" y="574269"/>
                </a:lnTo>
                <a:lnTo>
                  <a:pt x="401347" y="556196"/>
                </a:lnTo>
                <a:lnTo>
                  <a:pt x="446151" y="535933"/>
                </a:lnTo>
                <a:lnTo>
                  <a:pt x="486871" y="513639"/>
                </a:lnTo>
                <a:lnTo>
                  <a:pt x="523190" y="489470"/>
                </a:lnTo>
                <a:lnTo>
                  <a:pt x="554791" y="463585"/>
                </a:lnTo>
                <a:lnTo>
                  <a:pt x="581358" y="436142"/>
                </a:lnTo>
                <a:lnTo>
                  <a:pt x="618118" y="377212"/>
                </a:lnTo>
                <a:lnTo>
                  <a:pt x="630936" y="313944"/>
                </a:lnTo>
                <a:lnTo>
                  <a:pt x="627678" y="281850"/>
                </a:lnTo>
                <a:lnTo>
                  <a:pt x="602573" y="220598"/>
                </a:lnTo>
                <a:lnTo>
                  <a:pt x="554791" y="164313"/>
                </a:lnTo>
                <a:lnTo>
                  <a:pt x="523190" y="138428"/>
                </a:lnTo>
                <a:lnTo>
                  <a:pt x="486871" y="114259"/>
                </a:lnTo>
                <a:lnTo>
                  <a:pt x="446150" y="91963"/>
                </a:lnTo>
                <a:lnTo>
                  <a:pt x="401347" y="71699"/>
                </a:lnTo>
                <a:lnTo>
                  <a:pt x="352776" y="53625"/>
                </a:lnTo>
                <a:lnTo>
                  <a:pt x="300755" y="37897"/>
                </a:lnTo>
                <a:lnTo>
                  <a:pt x="245602" y="24675"/>
                </a:lnTo>
                <a:lnTo>
                  <a:pt x="187632" y="14116"/>
                </a:lnTo>
                <a:lnTo>
                  <a:pt x="127164" y="6379"/>
                </a:lnTo>
                <a:lnTo>
                  <a:pt x="64514" y="162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485644" y="5401055"/>
            <a:ext cx="631190" cy="628015"/>
          </a:xfrm>
          <a:custGeom>
            <a:avLst/>
            <a:gdLst/>
            <a:ahLst/>
            <a:cxnLst/>
            <a:rect l="l" t="t" r="r" b="b"/>
            <a:pathLst>
              <a:path w="631189" h="628014">
                <a:moveTo>
                  <a:pt x="0" y="627888"/>
                </a:moveTo>
                <a:lnTo>
                  <a:pt x="64514" y="626267"/>
                </a:lnTo>
                <a:lnTo>
                  <a:pt x="127164" y="621509"/>
                </a:lnTo>
                <a:lnTo>
                  <a:pt x="187632" y="613773"/>
                </a:lnTo>
                <a:lnTo>
                  <a:pt x="245602" y="603215"/>
                </a:lnTo>
                <a:lnTo>
                  <a:pt x="300755" y="589995"/>
                </a:lnTo>
                <a:lnTo>
                  <a:pt x="352776" y="574269"/>
                </a:lnTo>
                <a:lnTo>
                  <a:pt x="401347" y="556196"/>
                </a:lnTo>
                <a:lnTo>
                  <a:pt x="446151" y="535933"/>
                </a:lnTo>
                <a:lnTo>
                  <a:pt x="486871" y="513639"/>
                </a:lnTo>
                <a:lnTo>
                  <a:pt x="523190" y="489470"/>
                </a:lnTo>
                <a:lnTo>
                  <a:pt x="554791" y="463585"/>
                </a:lnTo>
                <a:lnTo>
                  <a:pt x="581358" y="436142"/>
                </a:lnTo>
                <a:lnTo>
                  <a:pt x="618118" y="377212"/>
                </a:lnTo>
                <a:lnTo>
                  <a:pt x="630936" y="313944"/>
                </a:lnTo>
                <a:lnTo>
                  <a:pt x="627678" y="281850"/>
                </a:lnTo>
                <a:lnTo>
                  <a:pt x="602573" y="220598"/>
                </a:lnTo>
                <a:lnTo>
                  <a:pt x="554791" y="164313"/>
                </a:lnTo>
                <a:lnTo>
                  <a:pt x="523190" y="138428"/>
                </a:lnTo>
                <a:lnTo>
                  <a:pt x="486871" y="114259"/>
                </a:lnTo>
                <a:lnTo>
                  <a:pt x="446150" y="91963"/>
                </a:lnTo>
                <a:lnTo>
                  <a:pt x="401347" y="71699"/>
                </a:lnTo>
                <a:lnTo>
                  <a:pt x="352776" y="53625"/>
                </a:lnTo>
                <a:lnTo>
                  <a:pt x="300755" y="37897"/>
                </a:lnTo>
                <a:lnTo>
                  <a:pt x="245602" y="24675"/>
                </a:lnTo>
                <a:lnTo>
                  <a:pt x="187632" y="14116"/>
                </a:lnTo>
                <a:lnTo>
                  <a:pt x="127164" y="6379"/>
                </a:lnTo>
                <a:lnTo>
                  <a:pt x="64514" y="1621"/>
                </a:lnTo>
                <a:lnTo>
                  <a:pt x="0" y="0"/>
                </a:lnTo>
                <a:lnTo>
                  <a:pt x="26837" y="43930"/>
                </a:lnTo>
                <a:lnTo>
                  <a:pt x="49545" y="88285"/>
                </a:lnTo>
                <a:lnTo>
                  <a:pt x="68125" y="132993"/>
                </a:lnTo>
                <a:lnTo>
                  <a:pt x="82575" y="177983"/>
                </a:lnTo>
                <a:lnTo>
                  <a:pt x="92897" y="223186"/>
                </a:lnTo>
                <a:lnTo>
                  <a:pt x="99091" y="268529"/>
                </a:lnTo>
                <a:lnTo>
                  <a:pt x="101155" y="313944"/>
                </a:lnTo>
                <a:lnTo>
                  <a:pt x="99091" y="359358"/>
                </a:lnTo>
                <a:lnTo>
                  <a:pt x="92897" y="404701"/>
                </a:lnTo>
                <a:lnTo>
                  <a:pt x="82575" y="449904"/>
                </a:lnTo>
                <a:lnTo>
                  <a:pt x="68125" y="494894"/>
                </a:lnTo>
                <a:lnTo>
                  <a:pt x="49545" y="539602"/>
                </a:lnTo>
                <a:lnTo>
                  <a:pt x="26837" y="583957"/>
                </a:lnTo>
                <a:lnTo>
                  <a:pt x="0" y="627888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607691" y="5536488"/>
            <a:ext cx="1835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Times New Roman"/>
                <a:cs typeface="Times New Roman"/>
              </a:rPr>
              <a:t>G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764663" y="5652312"/>
            <a:ext cx="93980" cy="1885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50" b="1" spc="10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920360" y="4270959"/>
            <a:ext cx="301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Times New Roman"/>
                <a:cs typeface="Times New Roman"/>
              </a:rPr>
              <a:t>G</a:t>
            </a:r>
            <a:r>
              <a:rPr sz="1575" b="1" spc="-7" baseline="-21164" dirty="0">
                <a:latin typeface="Times New Roman"/>
                <a:cs typeface="Times New Roman"/>
              </a:rPr>
              <a:t>2</a:t>
            </a:r>
            <a:endParaRPr sz="1575" baseline="-21164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608321" y="5533745"/>
            <a:ext cx="1835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Times New Roman"/>
                <a:cs typeface="Times New Roman"/>
              </a:rPr>
              <a:t>G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765294" y="5649569"/>
            <a:ext cx="93345" cy="1885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50" b="1" spc="5" dirty="0">
                <a:latin typeface="Times New Roman"/>
                <a:cs typeface="Times New Roman"/>
              </a:rPr>
              <a:t>3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703320" y="5675376"/>
            <a:ext cx="74676" cy="777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299716" y="4259579"/>
            <a:ext cx="2383790" cy="0"/>
          </a:xfrm>
          <a:custGeom>
            <a:avLst/>
            <a:gdLst/>
            <a:ahLst/>
            <a:cxnLst/>
            <a:rect l="l" t="t" r="r" b="b"/>
            <a:pathLst>
              <a:path w="2383790">
                <a:moveTo>
                  <a:pt x="0" y="0"/>
                </a:moveTo>
                <a:lnTo>
                  <a:pt x="2383535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894713" y="5330444"/>
            <a:ext cx="3187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spc="-5" dirty="0">
                <a:latin typeface="TimesNewRomanPS-BoldItalicMT"/>
                <a:cs typeface="TimesNewRomanPS-BoldItalicMT"/>
              </a:rPr>
              <a:t>B/0</a:t>
            </a:r>
            <a:endParaRPr sz="1600">
              <a:latin typeface="TimesNewRomanPS-BoldItalicMT"/>
              <a:cs typeface="TimesNewRomanPS-BoldItalic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894713" y="5773318"/>
            <a:ext cx="3187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spc="-5" dirty="0">
                <a:latin typeface="TimesNewRomanPS-BoldItalicMT"/>
                <a:cs typeface="TimesNewRomanPS-BoldItalicMT"/>
              </a:rPr>
              <a:t>C/0</a:t>
            </a:r>
            <a:endParaRPr sz="1600">
              <a:latin typeface="TimesNewRomanPS-BoldItalicMT"/>
              <a:cs typeface="TimesNewRomanPS-BoldItalic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387341" y="4213986"/>
            <a:ext cx="3194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spc="-5" dirty="0">
                <a:latin typeface="TimesNewRomanPS-BoldItalicMT"/>
                <a:cs typeface="TimesNewRomanPS-BoldItalicMT"/>
              </a:rPr>
              <a:t>A/1</a:t>
            </a:r>
            <a:endParaRPr sz="1600">
              <a:latin typeface="TimesNewRomanPS-BoldItalicMT"/>
              <a:cs typeface="TimesNewRomanPS-BoldItalicMT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097529" y="4053078"/>
            <a:ext cx="666115" cy="1995170"/>
          </a:xfrm>
          <a:custGeom>
            <a:avLst/>
            <a:gdLst/>
            <a:ahLst/>
            <a:cxnLst/>
            <a:rect l="l" t="t" r="r" b="b"/>
            <a:pathLst>
              <a:path w="666114" h="1995170">
                <a:moveTo>
                  <a:pt x="0" y="0"/>
                </a:moveTo>
                <a:lnTo>
                  <a:pt x="665987" y="1994916"/>
                </a:lnTo>
              </a:path>
            </a:pathLst>
          </a:custGeom>
          <a:ln w="28956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4387341" y="4712589"/>
            <a:ext cx="3073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spc="-5" dirty="0">
                <a:latin typeface="TimesNewRomanPS-BoldItalicMT"/>
                <a:cs typeface="TimesNewRomanPS-BoldItalicMT"/>
              </a:rPr>
              <a:t>L/1</a:t>
            </a:r>
            <a:endParaRPr sz="1600">
              <a:latin typeface="TimesNewRomanPS-BoldItalicMT"/>
              <a:cs typeface="TimesNewRomanPS-BoldItalicMT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sldNum" sz="quarter" idx="7"/>
          </p:nvPr>
        </p:nvSpPr>
        <p:spPr>
          <a:xfrm>
            <a:off x="109423" y="6447452"/>
            <a:ext cx="550570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11</a:t>
            </a:fld>
            <a:endParaRPr spc="-5" dirty="0"/>
          </a:p>
        </p:txBody>
      </p:sp>
      <p:sp>
        <p:nvSpPr>
          <p:cNvPr id="36" name="object 36"/>
          <p:cNvSpPr txBox="1"/>
          <p:nvPr/>
        </p:nvSpPr>
        <p:spPr>
          <a:xfrm>
            <a:off x="3102991" y="5319521"/>
            <a:ext cx="3187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spc="-5" dirty="0">
                <a:latin typeface="TimesNewRomanPS-BoldItalicMT"/>
                <a:cs typeface="TimesNewRomanPS-BoldItalicMT"/>
              </a:rPr>
              <a:t>E/1</a:t>
            </a:r>
            <a:endParaRPr sz="1600">
              <a:latin typeface="TimesNewRomanPS-BoldItalicMT"/>
              <a:cs typeface="TimesNewRomanPS-BoldItalic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260972" y="4942408"/>
            <a:ext cx="2857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spc="-5" dirty="0">
                <a:latin typeface="TimesNewRomanPS-BoldItalicMT"/>
                <a:cs typeface="TimesNewRomanPS-BoldItalicMT"/>
              </a:rPr>
              <a:t>J/0</a:t>
            </a:r>
            <a:endParaRPr sz="1600">
              <a:latin typeface="TimesNewRomanPS-BoldItalicMT"/>
              <a:cs typeface="TimesNewRomanPS-BoldItalic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277611" y="4131462"/>
            <a:ext cx="1773555" cy="67691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45"/>
              </a:spcBef>
              <a:tabLst>
                <a:tab pos="332105" algn="l"/>
                <a:tab pos="1564640" algn="l"/>
              </a:tabLst>
            </a:pPr>
            <a:r>
              <a:rPr sz="1600" b="1" i="1" u="sng" spc="-5" dirty="0">
                <a:uFill>
                  <a:solidFill>
                    <a:srgbClr val="000000"/>
                  </a:solidFill>
                </a:uFill>
                <a:latin typeface="TimesNewRomanPS-BoldItalicMT"/>
                <a:cs typeface="TimesNewRomanPS-BoldItalicMT"/>
              </a:rPr>
              <a:t> 	</a:t>
            </a:r>
            <a:r>
              <a:rPr sz="1600" b="1" i="1" u="sng" spc="-10" dirty="0">
                <a:uFill>
                  <a:solidFill>
                    <a:srgbClr val="000000"/>
                  </a:solidFill>
                </a:uFill>
                <a:latin typeface="TimesNewRomanPS-BoldItalicMT"/>
                <a:cs typeface="TimesNewRomanPS-BoldItalicMT"/>
              </a:rPr>
              <a:t>H/0	</a:t>
            </a:r>
            <a:endParaRPr sz="1600">
              <a:latin typeface="TimesNewRomanPS-BoldItalicMT"/>
              <a:cs typeface="TimesNewRomanPS-BoldItalicMT"/>
            </a:endParaRPr>
          </a:p>
          <a:p>
            <a:pPr marR="30480" algn="r">
              <a:lnSpc>
                <a:spcPct val="100000"/>
              </a:lnSpc>
              <a:spcBef>
                <a:spcPts val="645"/>
              </a:spcBef>
            </a:pPr>
            <a:r>
              <a:rPr sz="1600" b="1" spc="-15" dirty="0">
                <a:latin typeface="Times New Roman"/>
                <a:cs typeface="Times New Roman"/>
              </a:rPr>
              <a:t>G</a:t>
            </a:r>
            <a:r>
              <a:rPr sz="1575" b="1" spc="7" baseline="-21164" dirty="0">
                <a:latin typeface="Times New Roman"/>
                <a:cs typeface="Times New Roman"/>
              </a:rPr>
              <a:t>4</a:t>
            </a:r>
            <a:endParaRPr sz="1575" baseline="-21164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935095" y="5441391"/>
            <a:ext cx="1606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spc="-5" dirty="0">
                <a:solidFill>
                  <a:srgbClr val="999999"/>
                </a:solidFill>
                <a:latin typeface="TimesNewRomanPS-BoldItalicMT"/>
                <a:cs typeface="TimesNewRomanPS-BoldItalicMT"/>
              </a:rPr>
              <a:t>F</a:t>
            </a:r>
            <a:endParaRPr sz="1600">
              <a:latin typeface="TimesNewRomanPS-BoldItalicMT"/>
              <a:cs typeface="TimesNewRomanPS-BoldItalic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380478" y="4380103"/>
            <a:ext cx="1606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spc="-5" dirty="0">
                <a:solidFill>
                  <a:srgbClr val="999999"/>
                </a:solidFill>
                <a:latin typeface="TimesNewRomanPS-BoldItalicMT"/>
                <a:cs typeface="TimesNewRomanPS-BoldItalicMT"/>
              </a:rPr>
              <a:t>K</a:t>
            </a:r>
            <a:endParaRPr sz="1600">
              <a:latin typeface="TimesNewRomanPS-BoldItalicMT"/>
              <a:cs typeface="TimesNewRomanPS-BoldItalic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630923" y="4349496"/>
            <a:ext cx="640080" cy="715010"/>
          </a:xfrm>
          <a:custGeom>
            <a:avLst/>
            <a:gdLst/>
            <a:ahLst/>
            <a:cxnLst/>
            <a:rect l="l" t="t" r="r" b="b"/>
            <a:pathLst>
              <a:path w="640079" h="715010">
                <a:moveTo>
                  <a:pt x="0" y="714755"/>
                </a:moveTo>
                <a:lnTo>
                  <a:pt x="61653" y="713119"/>
                </a:lnTo>
                <a:lnTo>
                  <a:pt x="121647" y="708311"/>
                </a:lnTo>
                <a:lnTo>
                  <a:pt x="179712" y="700480"/>
                </a:lnTo>
                <a:lnTo>
                  <a:pt x="235581" y="689776"/>
                </a:lnTo>
                <a:lnTo>
                  <a:pt x="288986" y="676349"/>
                </a:lnTo>
                <a:lnTo>
                  <a:pt x="339658" y="660349"/>
                </a:lnTo>
                <a:lnTo>
                  <a:pt x="387331" y="641926"/>
                </a:lnTo>
                <a:lnTo>
                  <a:pt x="431735" y="621230"/>
                </a:lnTo>
                <a:lnTo>
                  <a:pt x="472603" y="598410"/>
                </a:lnTo>
                <a:lnTo>
                  <a:pt x="509666" y="573616"/>
                </a:lnTo>
                <a:lnTo>
                  <a:pt x="542658" y="546998"/>
                </a:lnTo>
                <a:lnTo>
                  <a:pt x="571309" y="518706"/>
                </a:lnTo>
                <a:lnTo>
                  <a:pt x="595352" y="488889"/>
                </a:lnTo>
                <a:lnTo>
                  <a:pt x="628540" y="425283"/>
                </a:lnTo>
                <a:lnTo>
                  <a:pt x="640079" y="357377"/>
                </a:lnTo>
                <a:lnTo>
                  <a:pt x="637150" y="322962"/>
                </a:lnTo>
                <a:lnTo>
                  <a:pt x="614518" y="257056"/>
                </a:lnTo>
                <a:lnTo>
                  <a:pt x="571309" y="196049"/>
                </a:lnTo>
                <a:lnTo>
                  <a:pt x="542658" y="167757"/>
                </a:lnTo>
                <a:lnTo>
                  <a:pt x="509666" y="141139"/>
                </a:lnTo>
                <a:lnTo>
                  <a:pt x="472603" y="116345"/>
                </a:lnTo>
                <a:lnTo>
                  <a:pt x="431735" y="93525"/>
                </a:lnTo>
                <a:lnTo>
                  <a:pt x="387331" y="72829"/>
                </a:lnTo>
                <a:lnTo>
                  <a:pt x="339658" y="54406"/>
                </a:lnTo>
                <a:lnTo>
                  <a:pt x="288986" y="38406"/>
                </a:lnTo>
                <a:lnTo>
                  <a:pt x="235581" y="24979"/>
                </a:lnTo>
                <a:lnTo>
                  <a:pt x="179712" y="14275"/>
                </a:lnTo>
                <a:lnTo>
                  <a:pt x="121647" y="6444"/>
                </a:lnTo>
                <a:lnTo>
                  <a:pt x="61653" y="1636"/>
                </a:lnTo>
                <a:lnTo>
                  <a:pt x="0" y="0"/>
                </a:lnTo>
                <a:lnTo>
                  <a:pt x="24065" y="43734"/>
                </a:lnTo>
                <a:lnTo>
                  <a:pt x="44922" y="87844"/>
                </a:lnTo>
                <a:lnTo>
                  <a:pt x="62570" y="132275"/>
                </a:lnTo>
                <a:lnTo>
                  <a:pt x="77009" y="176974"/>
                </a:lnTo>
                <a:lnTo>
                  <a:pt x="88240" y="221887"/>
                </a:lnTo>
                <a:lnTo>
                  <a:pt x="96262" y="266961"/>
                </a:lnTo>
                <a:lnTo>
                  <a:pt x="101075" y="312143"/>
                </a:lnTo>
                <a:lnTo>
                  <a:pt x="102679" y="357377"/>
                </a:lnTo>
                <a:lnTo>
                  <a:pt x="101075" y="402612"/>
                </a:lnTo>
                <a:lnTo>
                  <a:pt x="96262" y="447794"/>
                </a:lnTo>
                <a:lnTo>
                  <a:pt x="88240" y="492868"/>
                </a:lnTo>
                <a:lnTo>
                  <a:pt x="77009" y="537781"/>
                </a:lnTo>
                <a:lnTo>
                  <a:pt x="62570" y="582480"/>
                </a:lnTo>
                <a:lnTo>
                  <a:pt x="44922" y="626911"/>
                </a:lnTo>
                <a:lnTo>
                  <a:pt x="24065" y="671021"/>
                </a:lnTo>
                <a:lnTo>
                  <a:pt x="0" y="714755"/>
                </a:lnTo>
                <a:close/>
              </a:path>
            </a:pathLst>
          </a:custGeom>
          <a:solidFill>
            <a:schemeClr val="bg1"/>
          </a:solidFill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896611" y="4155947"/>
            <a:ext cx="628015" cy="626745"/>
          </a:xfrm>
          <a:custGeom>
            <a:avLst/>
            <a:gdLst/>
            <a:ahLst/>
            <a:cxnLst/>
            <a:rect l="l" t="t" r="r" b="b"/>
            <a:pathLst>
              <a:path w="628014" h="626745">
                <a:moveTo>
                  <a:pt x="0" y="0"/>
                </a:moveTo>
                <a:lnTo>
                  <a:pt x="313943" y="0"/>
                </a:lnTo>
                <a:lnTo>
                  <a:pt x="360329" y="3395"/>
                </a:lnTo>
                <a:lnTo>
                  <a:pt x="404603" y="13259"/>
                </a:lnTo>
                <a:lnTo>
                  <a:pt x="446281" y="29106"/>
                </a:lnTo>
                <a:lnTo>
                  <a:pt x="484875" y="50453"/>
                </a:lnTo>
                <a:lnTo>
                  <a:pt x="519901" y="76815"/>
                </a:lnTo>
                <a:lnTo>
                  <a:pt x="550872" y="107708"/>
                </a:lnTo>
                <a:lnTo>
                  <a:pt x="577301" y="142647"/>
                </a:lnTo>
                <a:lnTo>
                  <a:pt x="598704" y="181148"/>
                </a:lnTo>
                <a:lnTo>
                  <a:pt x="614593" y="222727"/>
                </a:lnTo>
                <a:lnTo>
                  <a:pt x="624483" y="266900"/>
                </a:lnTo>
                <a:lnTo>
                  <a:pt x="627888" y="313181"/>
                </a:lnTo>
                <a:lnTo>
                  <a:pt x="624483" y="359463"/>
                </a:lnTo>
                <a:lnTo>
                  <a:pt x="614593" y="403636"/>
                </a:lnTo>
                <a:lnTo>
                  <a:pt x="598704" y="445215"/>
                </a:lnTo>
                <a:lnTo>
                  <a:pt x="577301" y="483716"/>
                </a:lnTo>
                <a:lnTo>
                  <a:pt x="550872" y="518655"/>
                </a:lnTo>
                <a:lnTo>
                  <a:pt x="519901" y="549548"/>
                </a:lnTo>
                <a:lnTo>
                  <a:pt x="484875" y="575910"/>
                </a:lnTo>
                <a:lnTo>
                  <a:pt x="446281" y="597257"/>
                </a:lnTo>
                <a:lnTo>
                  <a:pt x="404603" y="613104"/>
                </a:lnTo>
                <a:lnTo>
                  <a:pt x="360329" y="622968"/>
                </a:lnTo>
                <a:lnTo>
                  <a:pt x="313943" y="626363"/>
                </a:lnTo>
                <a:lnTo>
                  <a:pt x="0" y="62636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9423" y="6447452"/>
            <a:ext cx="500177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12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16783" y="164414"/>
            <a:ext cx="35807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Fault</a:t>
            </a:r>
            <a:r>
              <a:rPr spc="-80" dirty="0"/>
              <a:t> </a:t>
            </a:r>
            <a:r>
              <a:rPr dirty="0"/>
              <a:t>Collapsing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61136"/>
            <a:ext cx="3898265" cy="3267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Introduction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spc="-5" dirty="0">
                <a:solidFill>
                  <a:srgbClr val="A6A6A6"/>
                </a:solidFill>
                <a:latin typeface="Arial"/>
                <a:cs typeface="Arial"/>
              </a:rPr>
              <a:t>Equivalence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Fault</a:t>
            </a:r>
            <a:r>
              <a:rPr sz="2000" b="1" spc="-4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Collapsing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Fanout-free</a:t>
            </a:r>
            <a:r>
              <a:rPr sz="2000" b="1" spc="-65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circuits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Fanout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Dominance Fault</a:t>
            </a:r>
            <a:r>
              <a:rPr sz="2000" b="1" spc="-65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Collapsing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Fanout-free</a:t>
            </a:r>
            <a:r>
              <a:rPr sz="2000" b="1" spc="-125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circuits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Circuits with</a:t>
            </a:r>
            <a:r>
              <a:rPr sz="2000" b="1" spc="-12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fanout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Checkpoint</a:t>
            </a:r>
            <a:r>
              <a:rPr sz="2000" b="1" u="sng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Theorem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Conclusion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0225" y="1692656"/>
            <a:ext cx="7647940" cy="1428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Checkpoints =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primary inputs </a:t>
            </a:r>
            <a:r>
              <a:rPr sz="2000" b="1" dirty="0">
                <a:latin typeface="Arial"/>
                <a:cs typeface="Arial"/>
              </a:rPr>
              <a:t>+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fanout</a:t>
            </a:r>
            <a:r>
              <a:rPr sz="2000" b="1" spc="-1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branches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Example: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10 </a:t>
            </a:r>
            <a:r>
              <a:rPr sz="2000" b="1" dirty="0">
                <a:latin typeface="Arial"/>
                <a:cs typeface="Arial"/>
              </a:rPr>
              <a:t>faults on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checkpoints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Originally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18 </a:t>
            </a:r>
            <a:r>
              <a:rPr sz="2000" b="1" dirty="0">
                <a:latin typeface="Arial"/>
                <a:cs typeface="Arial"/>
              </a:rPr>
              <a:t>faults, after EFC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10 </a:t>
            </a:r>
            <a:r>
              <a:rPr sz="2000" b="1" dirty="0">
                <a:latin typeface="Arial"/>
                <a:cs typeface="Arial"/>
              </a:rPr>
              <a:t>faults, after DFC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7</a:t>
            </a:r>
            <a:r>
              <a:rPr sz="2000" b="1" spc="-2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faults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51254" y="909066"/>
            <a:ext cx="5843270" cy="707390"/>
          </a:xfrm>
          <a:prstGeom prst="rect">
            <a:avLst/>
          </a:prstGeom>
          <a:solidFill>
            <a:srgbClr val="FFBEBE"/>
          </a:solidFill>
          <a:ln w="28955">
            <a:solidFill>
              <a:srgbClr val="FF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440055" marR="356870" indent="-79375">
              <a:lnSpc>
                <a:spcPct val="100000"/>
              </a:lnSpc>
              <a:spcBef>
                <a:spcPts val="300"/>
              </a:spcBef>
            </a:pPr>
            <a:r>
              <a:rPr sz="2000" b="1" dirty="0">
                <a:latin typeface="Helvetica"/>
                <a:cs typeface="Helvetica"/>
              </a:rPr>
              <a:t>If a test detects all </a:t>
            </a:r>
            <a:r>
              <a:rPr sz="2000" b="1" spc="-5" dirty="0">
                <a:latin typeface="Helvetica"/>
                <a:cs typeface="Helvetica"/>
              </a:rPr>
              <a:t>SSF </a:t>
            </a:r>
            <a:r>
              <a:rPr sz="2000" b="1" dirty="0">
                <a:latin typeface="Helvetica"/>
                <a:cs typeface="Helvetica"/>
              </a:rPr>
              <a:t>on </a:t>
            </a:r>
            <a:r>
              <a:rPr sz="2000" b="1" spc="-5" dirty="0">
                <a:latin typeface="Helvetica"/>
                <a:cs typeface="Helvetica"/>
              </a:rPr>
              <a:t>all</a:t>
            </a:r>
            <a:r>
              <a:rPr sz="2000" b="1" spc="-155" dirty="0">
                <a:latin typeface="Helvetica"/>
                <a:cs typeface="Helvetica"/>
              </a:rPr>
              <a:t> </a:t>
            </a:r>
            <a:r>
              <a:rPr sz="2000" b="1" dirty="0">
                <a:latin typeface="Helvetica"/>
                <a:cs typeface="Helvetica"/>
              </a:rPr>
              <a:t>checkpoints,  this test detects all </a:t>
            </a:r>
            <a:r>
              <a:rPr sz="2000" b="1" spc="-5" dirty="0">
                <a:latin typeface="Helvetica"/>
                <a:cs typeface="Helvetica"/>
              </a:rPr>
              <a:t>SSF </a:t>
            </a:r>
            <a:r>
              <a:rPr sz="2000" b="1" dirty="0">
                <a:latin typeface="Helvetica"/>
                <a:cs typeface="Helvetica"/>
              </a:rPr>
              <a:t>in the</a:t>
            </a:r>
            <a:r>
              <a:rPr sz="2000" b="1" spc="-135" dirty="0">
                <a:latin typeface="Helvetica"/>
                <a:cs typeface="Helvetica"/>
              </a:rPr>
              <a:t> </a:t>
            </a:r>
            <a:r>
              <a:rPr sz="2000" b="1" dirty="0">
                <a:latin typeface="Helvetica"/>
                <a:cs typeface="Helvetica"/>
              </a:rPr>
              <a:t>circuit.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Checkpoint Theorem </a:t>
            </a:r>
            <a:r>
              <a:rPr sz="1800" spc="-5" dirty="0"/>
              <a:t>[Breuer</a:t>
            </a:r>
            <a:r>
              <a:rPr sz="1800" spc="15" dirty="0"/>
              <a:t> </a:t>
            </a:r>
            <a:r>
              <a:rPr sz="1800" spc="-10" dirty="0"/>
              <a:t>76]</a:t>
            </a:r>
            <a:endParaRPr sz="1800"/>
          </a:p>
        </p:txBody>
      </p:sp>
      <p:sp>
        <p:nvSpPr>
          <p:cNvPr id="5" name="object 5"/>
          <p:cNvSpPr/>
          <p:nvPr/>
        </p:nvSpPr>
        <p:spPr>
          <a:xfrm>
            <a:off x="6309359" y="3918203"/>
            <a:ext cx="422275" cy="0"/>
          </a:xfrm>
          <a:custGeom>
            <a:avLst/>
            <a:gdLst/>
            <a:ahLst/>
            <a:cxnLst/>
            <a:rect l="l" t="t" r="r" b="b"/>
            <a:pathLst>
              <a:path w="422275">
                <a:moveTo>
                  <a:pt x="422147" y="0"/>
                </a:move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309359" y="4393691"/>
            <a:ext cx="422275" cy="1905"/>
          </a:xfrm>
          <a:custGeom>
            <a:avLst/>
            <a:gdLst/>
            <a:ahLst/>
            <a:cxnLst/>
            <a:rect l="l" t="t" r="r" b="b"/>
            <a:pathLst>
              <a:path w="422275" h="1904">
                <a:moveTo>
                  <a:pt x="422147" y="0"/>
                </a:moveTo>
                <a:lnTo>
                  <a:pt x="0" y="1523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234428" y="4157471"/>
            <a:ext cx="204470" cy="0"/>
          </a:xfrm>
          <a:custGeom>
            <a:avLst/>
            <a:gdLst/>
            <a:ahLst/>
            <a:cxnLst/>
            <a:rect l="l" t="t" r="r" b="b"/>
            <a:pathLst>
              <a:path w="204470">
                <a:moveTo>
                  <a:pt x="204216" y="0"/>
                </a:move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521195" y="3799332"/>
            <a:ext cx="638810" cy="715010"/>
          </a:xfrm>
          <a:custGeom>
            <a:avLst/>
            <a:gdLst/>
            <a:ahLst/>
            <a:cxnLst/>
            <a:rect l="l" t="t" r="r" b="b"/>
            <a:pathLst>
              <a:path w="638809" h="715010">
                <a:moveTo>
                  <a:pt x="0" y="0"/>
                </a:moveTo>
                <a:lnTo>
                  <a:pt x="23998" y="43734"/>
                </a:lnTo>
                <a:lnTo>
                  <a:pt x="44797" y="87844"/>
                </a:lnTo>
                <a:lnTo>
                  <a:pt x="62396" y="132275"/>
                </a:lnTo>
                <a:lnTo>
                  <a:pt x="76795" y="176974"/>
                </a:lnTo>
                <a:lnTo>
                  <a:pt x="87994" y="221887"/>
                </a:lnTo>
                <a:lnTo>
                  <a:pt x="95994" y="266961"/>
                </a:lnTo>
                <a:lnTo>
                  <a:pt x="100793" y="312143"/>
                </a:lnTo>
                <a:lnTo>
                  <a:pt x="102393" y="357378"/>
                </a:lnTo>
                <a:lnTo>
                  <a:pt x="100793" y="402612"/>
                </a:lnTo>
                <a:lnTo>
                  <a:pt x="95994" y="447794"/>
                </a:lnTo>
                <a:lnTo>
                  <a:pt x="87994" y="492868"/>
                </a:lnTo>
                <a:lnTo>
                  <a:pt x="76795" y="537781"/>
                </a:lnTo>
                <a:lnTo>
                  <a:pt x="62396" y="582480"/>
                </a:lnTo>
                <a:lnTo>
                  <a:pt x="44797" y="626911"/>
                </a:lnTo>
                <a:lnTo>
                  <a:pt x="23998" y="671021"/>
                </a:lnTo>
                <a:lnTo>
                  <a:pt x="0" y="714756"/>
                </a:lnTo>
                <a:lnTo>
                  <a:pt x="61499" y="713119"/>
                </a:lnTo>
                <a:lnTo>
                  <a:pt x="121344" y="708311"/>
                </a:lnTo>
                <a:lnTo>
                  <a:pt x="179267" y="700480"/>
                </a:lnTo>
                <a:lnTo>
                  <a:pt x="235000" y="689776"/>
                </a:lnTo>
                <a:lnTo>
                  <a:pt x="288277" y="676349"/>
                </a:lnTo>
                <a:lnTo>
                  <a:pt x="338829" y="660349"/>
                </a:lnTo>
                <a:lnTo>
                  <a:pt x="386388" y="641926"/>
                </a:lnTo>
                <a:lnTo>
                  <a:pt x="430688" y="621230"/>
                </a:lnTo>
                <a:lnTo>
                  <a:pt x="471461" y="598410"/>
                </a:lnTo>
                <a:lnTo>
                  <a:pt x="508439" y="573616"/>
                </a:lnTo>
                <a:lnTo>
                  <a:pt x="541354" y="546998"/>
                </a:lnTo>
                <a:lnTo>
                  <a:pt x="569940" y="518706"/>
                </a:lnTo>
                <a:lnTo>
                  <a:pt x="593928" y="488889"/>
                </a:lnTo>
                <a:lnTo>
                  <a:pt x="627042" y="425283"/>
                </a:lnTo>
                <a:lnTo>
                  <a:pt x="638555" y="357378"/>
                </a:lnTo>
                <a:lnTo>
                  <a:pt x="635633" y="322962"/>
                </a:lnTo>
                <a:lnTo>
                  <a:pt x="613051" y="257056"/>
                </a:lnTo>
                <a:lnTo>
                  <a:pt x="569940" y="196049"/>
                </a:lnTo>
                <a:lnTo>
                  <a:pt x="541354" y="167757"/>
                </a:lnTo>
                <a:lnTo>
                  <a:pt x="508439" y="141139"/>
                </a:lnTo>
                <a:lnTo>
                  <a:pt x="471461" y="116345"/>
                </a:lnTo>
                <a:lnTo>
                  <a:pt x="430688" y="93525"/>
                </a:lnTo>
                <a:lnTo>
                  <a:pt x="386388" y="72829"/>
                </a:lnTo>
                <a:lnTo>
                  <a:pt x="338829" y="54406"/>
                </a:lnTo>
                <a:lnTo>
                  <a:pt x="288277" y="38406"/>
                </a:lnTo>
                <a:lnTo>
                  <a:pt x="235000" y="24979"/>
                </a:lnTo>
                <a:lnTo>
                  <a:pt x="179267" y="14275"/>
                </a:lnTo>
                <a:lnTo>
                  <a:pt x="121344" y="6444"/>
                </a:lnTo>
                <a:lnTo>
                  <a:pt x="61499" y="16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521195" y="3799332"/>
            <a:ext cx="638810" cy="715010"/>
          </a:xfrm>
          <a:custGeom>
            <a:avLst/>
            <a:gdLst/>
            <a:ahLst/>
            <a:cxnLst/>
            <a:rect l="l" t="t" r="r" b="b"/>
            <a:pathLst>
              <a:path w="638809" h="715010">
                <a:moveTo>
                  <a:pt x="0" y="714756"/>
                </a:moveTo>
                <a:lnTo>
                  <a:pt x="61499" y="713119"/>
                </a:lnTo>
                <a:lnTo>
                  <a:pt x="121344" y="708311"/>
                </a:lnTo>
                <a:lnTo>
                  <a:pt x="179267" y="700480"/>
                </a:lnTo>
                <a:lnTo>
                  <a:pt x="235000" y="689776"/>
                </a:lnTo>
                <a:lnTo>
                  <a:pt x="288277" y="676349"/>
                </a:lnTo>
                <a:lnTo>
                  <a:pt x="338829" y="660349"/>
                </a:lnTo>
                <a:lnTo>
                  <a:pt x="386388" y="641926"/>
                </a:lnTo>
                <a:lnTo>
                  <a:pt x="430688" y="621230"/>
                </a:lnTo>
                <a:lnTo>
                  <a:pt x="471461" y="598410"/>
                </a:lnTo>
                <a:lnTo>
                  <a:pt x="508439" y="573616"/>
                </a:lnTo>
                <a:lnTo>
                  <a:pt x="541354" y="546998"/>
                </a:lnTo>
                <a:lnTo>
                  <a:pt x="569940" y="518706"/>
                </a:lnTo>
                <a:lnTo>
                  <a:pt x="593928" y="488889"/>
                </a:lnTo>
                <a:lnTo>
                  <a:pt x="627042" y="425283"/>
                </a:lnTo>
                <a:lnTo>
                  <a:pt x="638555" y="357378"/>
                </a:lnTo>
                <a:lnTo>
                  <a:pt x="635633" y="322962"/>
                </a:lnTo>
                <a:lnTo>
                  <a:pt x="613051" y="257056"/>
                </a:lnTo>
                <a:lnTo>
                  <a:pt x="569940" y="196049"/>
                </a:lnTo>
                <a:lnTo>
                  <a:pt x="541354" y="167757"/>
                </a:lnTo>
                <a:lnTo>
                  <a:pt x="508439" y="141139"/>
                </a:lnTo>
                <a:lnTo>
                  <a:pt x="471461" y="116345"/>
                </a:lnTo>
                <a:lnTo>
                  <a:pt x="430688" y="93525"/>
                </a:lnTo>
                <a:lnTo>
                  <a:pt x="386388" y="72829"/>
                </a:lnTo>
                <a:lnTo>
                  <a:pt x="338829" y="54406"/>
                </a:lnTo>
                <a:lnTo>
                  <a:pt x="288277" y="38406"/>
                </a:lnTo>
                <a:lnTo>
                  <a:pt x="235000" y="24979"/>
                </a:lnTo>
                <a:lnTo>
                  <a:pt x="179267" y="14275"/>
                </a:lnTo>
                <a:lnTo>
                  <a:pt x="121344" y="6444"/>
                </a:lnTo>
                <a:lnTo>
                  <a:pt x="61499" y="1636"/>
                </a:lnTo>
                <a:lnTo>
                  <a:pt x="0" y="0"/>
                </a:lnTo>
                <a:lnTo>
                  <a:pt x="23998" y="43734"/>
                </a:lnTo>
                <a:lnTo>
                  <a:pt x="44797" y="87844"/>
                </a:lnTo>
                <a:lnTo>
                  <a:pt x="62396" y="132275"/>
                </a:lnTo>
                <a:lnTo>
                  <a:pt x="76795" y="176974"/>
                </a:lnTo>
                <a:lnTo>
                  <a:pt x="87994" y="221887"/>
                </a:lnTo>
                <a:lnTo>
                  <a:pt x="95994" y="266961"/>
                </a:lnTo>
                <a:lnTo>
                  <a:pt x="100793" y="312143"/>
                </a:lnTo>
                <a:lnTo>
                  <a:pt x="102393" y="357378"/>
                </a:lnTo>
                <a:lnTo>
                  <a:pt x="100793" y="402612"/>
                </a:lnTo>
                <a:lnTo>
                  <a:pt x="95994" y="447794"/>
                </a:lnTo>
                <a:lnTo>
                  <a:pt x="87994" y="492868"/>
                </a:lnTo>
                <a:lnTo>
                  <a:pt x="76795" y="537781"/>
                </a:lnTo>
                <a:lnTo>
                  <a:pt x="62396" y="582480"/>
                </a:lnTo>
                <a:lnTo>
                  <a:pt x="44797" y="626911"/>
                </a:lnTo>
                <a:lnTo>
                  <a:pt x="23998" y="671021"/>
                </a:lnTo>
                <a:lnTo>
                  <a:pt x="0" y="714756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155180" y="4104132"/>
            <a:ext cx="123444" cy="1127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576571" y="3709415"/>
            <a:ext cx="417830" cy="0"/>
          </a:xfrm>
          <a:custGeom>
            <a:avLst/>
            <a:gdLst/>
            <a:ahLst/>
            <a:cxnLst/>
            <a:rect l="l" t="t" r="r" b="b"/>
            <a:pathLst>
              <a:path w="417829">
                <a:moveTo>
                  <a:pt x="417575" y="0"/>
                </a:move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76571" y="4128515"/>
            <a:ext cx="417830" cy="1905"/>
          </a:xfrm>
          <a:custGeom>
            <a:avLst/>
            <a:gdLst/>
            <a:ahLst/>
            <a:cxnLst/>
            <a:rect l="l" t="t" r="r" b="b"/>
            <a:pathLst>
              <a:path w="417829" h="1904">
                <a:moveTo>
                  <a:pt x="417575" y="0"/>
                </a:moveTo>
                <a:lnTo>
                  <a:pt x="0" y="1523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204459" y="3919728"/>
            <a:ext cx="417830" cy="0"/>
          </a:xfrm>
          <a:custGeom>
            <a:avLst/>
            <a:gdLst/>
            <a:ahLst/>
            <a:cxnLst/>
            <a:rect l="l" t="t" r="r" b="b"/>
            <a:pathLst>
              <a:path w="417829">
                <a:moveTo>
                  <a:pt x="417575" y="0"/>
                </a:move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785359" y="3605784"/>
            <a:ext cx="629920" cy="626745"/>
          </a:xfrm>
          <a:custGeom>
            <a:avLst/>
            <a:gdLst/>
            <a:ahLst/>
            <a:cxnLst/>
            <a:rect l="l" t="t" r="r" b="b"/>
            <a:pathLst>
              <a:path w="629920" h="626745">
                <a:moveTo>
                  <a:pt x="314705" y="0"/>
                </a:moveTo>
                <a:lnTo>
                  <a:pt x="0" y="0"/>
                </a:lnTo>
                <a:lnTo>
                  <a:pt x="0" y="626363"/>
                </a:lnTo>
                <a:lnTo>
                  <a:pt x="314705" y="626363"/>
                </a:lnTo>
                <a:lnTo>
                  <a:pt x="361223" y="622968"/>
                </a:lnTo>
                <a:lnTo>
                  <a:pt x="405617" y="613104"/>
                </a:lnTo>
                <a:lnTo>
                  <a:pt x="447402" y="597257"/>
                </a:lnTo>
                <a:lnTo>
                  <a:pt x="486091" y="575910"/>
                </a:lnTo>
                <a:lnTo>
                  <a:pt x="521198" y="549548"/>
                </a:lnTo>
                <a:lnTo>
                  <a:pt x="552238" y="518655"/>
                </a:lnTo>
                <a:lnTo>
                  <a:pt x="578724" y="483716"/>
                </a:lnTo>
                <a:lnTo>
                  <a:pt x="600171" y="445215"/>
                </a:lnTo>
                <a:lnTo>
                  <a:pt x="616092" y="403636"/>
                </a:lnTo>
                <a:lnTo>
                  <a:pt x="626001" y="359463"/>
                </a:lnTo>
                <a:lnTo>
                  <a:pt x="629412" y="313181"/>
                </a:lnTo>
                <a:lnTo>
                  <a:pt x="626001" y="266900"/>
                </a:lnTo>
                <a:lnTo>
                  <a:pt x="616092" y="222727"/>
                </a:lnTo>
                <a:lnTo>
                  <a:pt x="600171" y="181148"/>
                </a:lnTo>
                <a:lnTo>
                  <a:pt x="578724" y="142647"/>
                </a:lnTo>
                <a:lnTo>
                  <a:pt x="552238" y="107708"/>
                </a:lnTo>
                <a:lnTo>
                  <a:pt x="521198" y="76815"/>
                </a:lnTo>
                <a:lnTo>
                  <a:pt x="486091" y="50453"/>
                </a:lnTo>
                <a:lnTo>
                  <a:pt x="447402" y="29106"/>
                </a:lnTo>
                <a:lnTo>
                  <a:pt x="405617" y="13259"/>
                </a:lnTo>
                <a:lnTo>
                  <a:pt x="361223" y="3395"/>
                </a:lnTo>
                <a:lnTo>
                  <a:pt x="31470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785359" y="3605784"/>
            <a:ext cx="629920" cy="626745"/>
          </a:xfrm>
          <a:custGeom>
            <a:avLst/>
            <a:gdLst/>
            <a:ahLst/>
            <a:cxnLst/>
            <a:rect l="l" t="t" r="r" b="b"/>
            <a:pathLst>
              <a:path w="629920" h="626745">
                <a:moveTo>
                  <a:pt x="0" y="0"/>
                </a:moveTo>
                <a:lnTo>
                  <a:pt x="314705" y="0"/>
                </a:lnTo>
                <a:lnTo>
                  <a:pt x="361223" y="3395"/>
                </a:lnTo>
                <a:lnTo>
                  <a:pt x="405617" y="13259"/>
                </a:lnTo>
                <a:lnTo>
                  <a:pt x="447402" y="29106"/>
                </a:lnTo>
                <a:lnTo>
                  <a:pt x="486091" y="50453"/>
                </a:lnTo>
                <a:lnTo>
                  <a:pt x="521198" y="76815"/>
                </a:lnTo>
                <a:lnTo>
                  <a:pt x="552238" y="107708"/>
                </a:lnTo>
                <a:lnTo>
                  <a:pt x="578724" y="142647"/>
                </a:lnTo>
                <a:lnTo>
                  <a:pt x="600171" y="181148"/>
                </a:lnTo>
                <a:lnTo>
                  <a:pt x="616092" y="222727"/>
                </a:lnTo>
                <a:lnTo>
                  <a:pt x="626001" y="266900"/>
                </a:lnTo>
                <a:lnTo>
                  <a:pt x="629412" y="313181"/>
                </a:lnTo>
                <a:lnTo>
                  <a:pt x="626001" y="359463"/>
                </a:lnTo>
                <a:lnTo>
                  <a:pt x="616092" y="403636"/>
                </a:lnTo>
                <a:lnTo>
                  <a:pt x="600171" y="445215"/>
                </a:lnTo>
                <a:lnTo>
                  <a:pt x="578724" y="483716"/>
                </a:lnTo>
                <a:lnTo>
                  <a:pt x="552238" y="518655"/>
                </a:lnTo>
                <a:lnTo>
                  <a:pt x="521198" y="549548"/>
                </a:lnTo>
                <a:lnTo>
                  <a:pt x="486091" y="575910"/>
                </a:lnTo>
                <a:lnTo>
                  <a:pt x="447402" y="597257"/>
                </a:lnTo>
                <a:lnTo>
                  <a:pt x="405617" y="613104"/>
                </a:lnTo>
                <a:lnTo>
                  <a:pt x="361223" y="622968"/>
                </a:lnTo>
                <a:lnTo>
                  <a:pt x="314705" y="626363"/>
                </a:lnTo>
                <a:lnTo>
                  <a:pt x="0" y="626363"/>
                </a:lnTo>
                <a:lnTo>
                  <a:pt x="0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631691" y="4128515"/>
            <a:ext cx="944880" cy="1000125"/>
          </a:xfrm>
          <a:custGeom>
            <a:avLst/>
            <a:gdLst/>
            <a:ahLst/>
            <a:cxnLst/>
            <a:rect l="l" t="t" r="r" b="b"/>
            <a:pathLst>
              <a:path w="944879" h="1000125">
                <a:moveTo>
                  <a:pt x="0" y="1000124"/>
                </a:moveTo>
                <a:lnTo>
                  <a:pt x="0" y="0"/>
                </a:lnTo>
                <a:lnTo>
                  <a:pt x="944626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026152" y="5113020"/>
            <a:ext cx="109728" cy="1158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500371" y="4864608"/>
            <a:ext cx="527685" cy="599440"/>
          </a:xfrm>
          <a:custGeom>
            <a:avLst/>
            <a:gdLst/>
            <a:ahLst/>
            <a:cxnLst/>
            <a:rect l="l" t="t" r="r" b="b"/>
            <a:pathLst>
              <a:path w="527685" h="599439">
                <a:moveTo>
                  <a:pt x="0" y="0"/>
                </a:moveTo>
                <a:lnTo>
                  <a:pt x="0" y="598932"/>
                </a:lnTo>
                <a:lnTo>
                  <a:pt x="527303" y="2994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500371" y="4864608"/>
            <a:ext cx="527685" cy="599440"/>
          </a:xfrm>
          <a:custGeom>
            <a:avLst/>
            <a:gdLst/>
            <a:ahLst/>
            <a:cxnLst/>
            <a:rect l="l" t="t" r="r" b="b"/>
            <a:pathLst>
              <a:path w="527685" h="599439">
                <a:moveTo>
                  <a:pt x="0" y="0"/>
                </a:moveTo>
                <a:lnTo>
                  <a:pt x="527303" y="299466"/>
                </a:lnTo>
                <a:lnTo>
                  <a:pt x="0" y="598932"/>
                </a:lnTo>
                <a:lnTo>
                  <a:pt x="0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214116" y="5172455"/>
            <a:ext cx="1285875" cy="1905"/>
          </a:xfrm>
          <a:custGeom>
            <a:avLst/>
            <a:gdLst/>
            <a:ahLst/>
            <a:cxnLst/>
            <a:rect l="l" t="t" r="r" b="b"/>
            <a:pathLst>
              <a:path w="1285875" h="1904">
                <a:moveTo>
                  <a:pt x="0" y="0"/>
                </a:moveTo>
                <a:lnTo>
                  <a:pt x="1285874" y="152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622035" y="3918203"/>
            <a:ext cx="687705" cy="0"/>
          </a:xfrm>
          <a:custGeom>
            <a:avLst/>
            <a:gdLst/>
            <a:ahLst/>
            <a:cxnLst/>
            <a:rect l="l" t="t" r="r" b="b"/>
            <a:pathLst>
              <a:path w="687704">
                <a:moveTo>
                  <a:pt x="0" y="0"/>
                </a:moveTo>
                <a:lnTo>
                  <a:pt x="343280" y="0"/>
                </a:lnTo>
                <a:lnTo>
                  <a:pt x="687324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131308" y="4395215"/>
            <a:ext cx="1177925" cy="776605"/>
          </a:xfrm>
          <a:custGeom>
            <a:avLst/>
            <a:gdLst/>
            <a:ahLst/>
            <a:cxnLst/>
            <a:rect l="l" t="t" r="r" b="b"/>
            <a:pathLst>
              <a:path w="1177925" h="776604">
                <a:moveTo>
                  <a:pt x="0" y="776223"/>
                </a:moveTo>
                <a:lnTo>
                  <a:pt x="588899" y="776223"/>
                </a:lnTo>
                <a:lnTo>
                  <a:pt x="588899" y="0"/>
                </a:lnTo>
                <a:lnTo>
                  <a:pt x="1177925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167127" y="4936235"/>
            <a:ext cx="419100" cy="1905"/>
          </a:xfrm>
          <a:custGeom>
            <a:avLst/>
            <a:gdLst/>
            <a:ahLst/>
            <a:cxnLst/>
            <a:rect l="l" t="t" r="r" b="b"/>
            <a:pathLst>
              <a:path w="419100" h="1904">
                <a:moveTo>
                  <a:pt x="419100" y="0"/>
                </a:moveTo>
                <a:lnTo>
                  <a:pt x="0" y="152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167127" y="5376671"/>
            <a:ext cx="419100" cy="0"/>
          </a:xfrm>
          <a:custGeom>
            <a:avLst/>
            <a:gdLst/>
            <a:ahLst/>
            <a:cxnLst/>
            <a:rect l="l" t="t" r="r" b="b"/>
            <a:pathLst>
              <a:path w="419100">
                <a:moveTo>
                  <a:pt x="419100" y="0"/>
                </a:move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796539" y="5164835"/>
            <a:ext cx="417830" cy="1905"/>
          </a:xfrm>
          <a:custGeom>
            <a:avLst/>
            <a:gdLst/>
            <a:ahLst/>
            <a:cxnLst/>
            <a:rect l="l" t="t" r="r" b="b"/>
            <a:pathLst>
              <a:path w="417830" h="1904">
                <a:moveTo>
                  <a:pt x="417576" y="0"/>
                </a:moveTo>
                <a:lnTo>
                  <a:pt x="0" y="152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375916" y="4850891"/>
            <a:ext cx="629920" cy="628015"/>
          </a:xfrm>
          <a:custGeom>
            <a:avLst/>
            <a:gdLst/>
            <a:ahLst/>
            <a:cxnLst/>
            <a:rect l="l" t="t" r="r" b="b"/>
            <a:pathLst>
              <a:path w="629919" h="628014">
                <a:moveTo>
                  <a:pt x="0" y="0"/>
                </a:moveTo>
                <a:lnTo>
                  <a:pt x="26786" y="43939"/>
                </a:lnTo>
                <a:lnTo>
                  <a:pt x="49452" y="88298"/>
                </a:lnTo>
                <a:lnTo>
                  <a:pt x="67996" y="133007"/>
                </a:lnTo>
                <a:lnTo>
                  <a:pt x="82420" y="177996"/>
                </a:lnTo>
                <a:lnTo>
                  <a:pt x="92722" y="223196"/>
                </a:lnTo>
                <a:lnTo>
                  <a:pt x="98904" y="268535"/>
                </a:lnTo>
                <a:lnTo>
                  <a:pt x="100964" y="313943"/>
                </a:lnTo>
                <a:lnTo>
                  <a:pt x="98904" y="359352"/>
                </a:lnTo>
                <a:lnTo>
                  <a:pt x="92722" y="404691"/>
                </a:lnTo>
                <a:lnTo>
                  <a:pt x="82420" y="449891"/>
                </a:lnTo>
                <a:lnTo>
                  <a:pt x="67996" y="494880"/>
                </a:lnTo>
                <a:lnTo>
                  <a:pt x="49452" y="539589"/>
                </a:lnTo>
                <a:lnTo>
                  <a:pt x="26786" y="583948"/>
                </a:lnTo>
                <a:lnTo>
                  <a:pt x="0" y="627887"/>
                </a:lnTo>
                <a:lnTo>
                  <a:pt x="64351" y="626266"/>
                </a:lnTo>
                <a:lnTo>
                  <a:pt x="126843" y="621508"/>
                </a:lnTo>
                <a:lnTo>
                  <a:pt x="187162" y="613771"/>
                </a:lnTo>
                <a:lnTo>
                  <a:pt x="244988" y="603212"/>
                </a:lnTo>
                <a:lnTo>
                  <a:pt x="300008" y="589990"/>
                </a:lnTo>
                <a:lnTo>
                  <a:pt x="351903" y="574262"/>
                </a:lnTo>
                <a:lnTo>
                  <a:pt x="400357" y="556188"/>
                </a:lnTo>
                <a:lnTo>
                  <a:pt x="445055" y="535924"/>
                </a:lnTo>
                <a:lnTo>
                  <a:pt x="485679" y="513628"/>
                </a:lnTo>
                <a:lnTo>
                  <a:pt x="521914" y="489459"/>
                </a:lnTo>
                <a:lnTo>
                  <a:pt x="553442" y="463574"/>
                </a:lnTo>
                <a:lnTo>
                  <a:pt x="579947" y="436131"/>
                </a:lnTo>
                <a:lnTo>
                  <a:pt x="616623" y="377205"/>
                </a:lnTo>
                <a:lnTo>
                  <a:pt x="629411" y="313943"/>
                </a:lnTo>
                <a:lnTo>
                  <a:pt x="626162" y="281850"/>
                </a:lnTo>
                <a:lnTo>
                  <a:pt x="601113" y="220598"/>
                </a:lnTo>
                <a:lnTo>
                  <a:pt x="553442" y="164313"/>
                </a:lnTo>
                <a:lnTo>
                  <a:pt x="521914" y="138428"/>
                </a:lnTo>
                <a:lnTo>
                  <a:pt x="485679" y="114259"/>
                </a:lnTo>
                <a:lnTo>
                  <a:pt x="445055" y="91963"/>
                </a:lnTo>
                <a:lnTo>
                  <a:pt x="400357" y="71699"/>
                </a:lnTo>
                <a:lnTo>
                  <a:pt x="351903" y="53625"/>
                </a:lnTo>
                <a:lnTo>
                  <a:pt x="300008" y="37897"/>
                </a:lnTo>
                <a:lnTo>
                  <a:pt x="244988" y="24675"/>
                </a:lnTo>
                <a:lnTo>
                  <a:pt x="187162" y="14116"/>
                </a:lnTo>
                <a:lnTo>
                  <a:pt x="126843" y="6379"/>
                </a:lnTo>
                <a:lnTo>
                  <a:pt x="64351" y="162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375916" y="4850891"/>
            <a:ext cx="629920" cy="628015"/>
          </a:xfrm>
          <a:custGeom>
            <a:avLst/>
            <a:gdLst/>
            <a:ahLst/>
            <a:cxnLst/>
            <a:rect l="l" t="t" r="r" b="b"/>
            <a:pathLst>
              <a:path w="629919" h="628014">
                <a:moveTo>
                  <a:pt x="0" y="627887"/>
                </a:moveTo>
                <a:lnTo>
                  <a:pt x="64351" y="626266"/>
                </a:lnTo>
                <a:lnTo>
                  <a:pt x="126843" y="621508"/>
                </a:lnTo>
                <a:lnTo>
                  <a:pt x="187162" y="613771"/>
                </a:lnTo>
                <a:lnTo>
                  <a:pt x="244988" y="603212"/>
                </a:lnTo>
                <a:lnTo>
                  <a:pt x="300008" y="589990"/>
                </a:lnTo>
                <a:lnTo>
                  <a:pt x="351903" y="574262"/>
                </a:lnTo>
                <a:lnTo>
                  <a:pt x="400357" y="556188"/>
                </a:lnTo>
                <a:lnTo>
                  <a:pt x="445055" y="535924"/>
                </a:lnTo>
                <a:lnTo>
                  <a:pt x="485679" y="513628"/>
                </a:lnTo>
                <a:lnTo>
                  <a:pt x="521914" y="489459"/>
                </a:lnTo>
                <a:lnTo>
                  <a:pt x="553442" y="463574"/>
                </a:lnTo>
                <a:lnTo>
                  <a:pt x="579947" y="436131"/>
                </a:lnTo>
                <a:lnTo>
                  <a:pt x="616623" y="377205"/>
                </a:lnTo>
                <a:lnTo>
                  <a:pt x="629411" y="313943"/>
                </a:lnTo>
                <a:lnTo>
                  <a:pt x="626162" y="281850"/>
                </a:lnTo>
                <a:lnTo>
                  <a:pt x="601113" y="220598"/>
                </a:lnTo>
                <a:lnTo>
                  <a:pt x="553442" y="164313"/>
                </a:lnTo>
                <a:lnTo>
                  <a:pt x="521914" y="138428"/>
                </a:lnTo>
                <a:lnTo>
                  <a:pt x="485679" y="114259"/>
                </a:lnTo>
                <a:lnTo>
                  <a:pt x="445055" y="91963"/>
                </a:lnTo>
                <a:lnTo>
                  <a:pt x="400357" y="71699"/>
                </a:lnTo>
                <a:lnTo>
                  <a:pt x="351903" y="53625"/>
                </a:lnTo>
                <a:lnTo>
                  <a:pt x="300008" y="37897"/>
                </a:lnTo>
                <a:lnTo>
                  <a:pt x="244988" y="24675"/>
                </a:lnTo>
                <a:lnTo>
                  <a:pt x="187162" y="14116"/>
                </a:lnTo>
                <a:lnTo>
                  <a:pt x="126843" y="6379"/>
                </a:lnTo>
                <a:lnTo>
                  <a:pt x="64351" y="1621"/>
                </a:lnTo>
                <a:lnTo>
                  <a:pt x="0" y="0"/>
                </a:lnTo>
                <a:lnTo>
                  <a:pt x="26786" y="43939"/>
                </a:lnTo>
                <a:lnTo>
                  <a:pt x="49452" y="88298"/>
                </a:lnTo>
                <a:lnTo>
                  <a:pt x="67996" y="133007"/>
                </a:lnTo>
                <a:lnTo>
                  <a:pt x="82420" y="177996"/>
                </a:lnTo>
                <a:lnTo>
                  <a:pt x="92722" y="223196"/>
                </a:lnTo>
                <a:lnTo>
                  <a:pt x="98904" y="268535"/>
                </a:lnTo>
                <a:lnTo>
                  <a:pt x="100964" y="313943"/>
                </a:lnTo>
                <a:lnTo>
                  <a:pt x="98904" y="359352"/>
                </a:lnTo>
                <a:lnTo>
                  <a:pt x="92722" y="404691"/>
                </a:lnTo>
                <a:lnTo>
                  <a:pt x="82420" y="449891"/>
                </a:lnTo>
                <a:lnTo>
                  <a:pt x="67996" y="494880"/>
                </a:lnTo>
                <a:lnTo>
                  <a:pt x="49452" y="539589"/>
                </a:lnTo>
                <a:lnTo>
                  <a:pt x="26786" y="583948"/>
                </a:lnTo>
                <a:lnTo>
                  <a:pt x="0" y="627887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471927" y="4986654"/>
            <a:ext cx="3009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Times New Roman"/>
                <a:cs typeface="Times New Roman"/>
              </a:rPr>
              <a:t>G</a:t>
            </a:r>
            <a:r>
              <a:rPr sz="1575" b="1" spc="-7" baseline="-21164" dirty="0">
                <a:latin typeface="Times New Roman"/>
                <a:cs typeface="Times New Roman"/>
              </a:rPr>
              <a:t>1</a:t>
            </a:r>
            <a:endParaRPr sz="1575" baseline="-21164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809997" y="3721100"/>
            <a:ext cx="3009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Times New Roman"/>
                <a:cs typeface="Times New Roman"/>
              </a:rPr>
              <a:t>G</a:t>
            </a:r>
            <a:r>
              <a:rPr sz="1575" b="1" spc="-7" baseline="-21164" dirty="0">
                <a:latin typeface="Times New Roman"/>
                <a:cs typeface="Times New Roman"/>
              </a:rPr>
              <a:t>2</a:t>
            </a:r>
            <a:endParaRPr sz="1575" baseline="-21164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639814" y="3989019"/>
            <a:ext cx="301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Times New Roman"/>
                <a:cs typeface="Times New Roman"/>
              </a:rPr>
              <a:t>G</a:t>
            </a:r>
            <a:r>
              <a:rPr sz="1575" b="1" spc="-7" baseline="-21164" dirty="0">
                <a:latin typeface="Times New Roman"/>
                <a:cs typeface="Times New Roman"/>
              </a:rPr>
              <a:t>4</a:t>
            </a:r>
            <a:endParaRPr sz="1575" baseline="-21164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472685" y="4983607"/>
            <a:ext cx="3009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Times New Roman"/>
                <a:cs typeface="Times New Roman"/>
              </a:rPr>
              <a:t>G</a:t>
            </a:r>
            <a:r>
              <a:rPr sz="1575" b="1" spc="-7" baseline="-21164" dirty="0">
                <a:latin typeface="Times New Roman"/>
                <a:cs typeface="Times New Roman"/>
              </a:rPr>
              <a:t>3</a:t>
            </a:r>
            <a:endParaRPr sz="1575" baseline="-21164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593591" y="5125211"/>
            <a:ext cx="74676" cy="777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189988" y="3709415"/>
            <a:ext cx="2383790" cy="0"/>
          </a:xfrm>
          <a:custGeom>
            <a:avLst/>
            <a:gdLst/>
            <a:ahLst/>
            <a:cxnLst/>
            <a:rect l="l" t="t" r="r" b="b"/>
            <a:pathLst>
              <a:path w="2383790">
                <a:moveTo>
                  <a:pt x="0" y="0"/>
                </a:moveTo>
                <a:lnTo>
                  <a:pt x="2383536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1784350" y="4658105"/>
            <a:ext cx="318770" cy="10452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spc="-5" dirty="0">
                <a:latin typeface="TimesNewRomanPS-BoldItalicMT"/>
                <a:cs typeface="TimesNewRomanPS-BoldItalicMT"/>
              </a:rPr>
              <a:t>B/0</a:t>
            </a:r>
            <a:endParaRPr sz="1600">
              <a:latin typeface="TimesNewRomanPS-BoldItalicMT"/>
              <a:cs typeface="TimesNewRomanPS-BoldItalicMT"/>
            </a:endParaRPr>
          </a:p>
          <a:p>
            <a:pPr marL="12700">
              <a:lnSpc>
                <a:spcPct val="100000"/>
              </a:lnSpc>
            </a:pPr>
            <a:r>
              <a:rPr sz="1600" b="1" i="1" spc="-5" dirty="0">
                <a:latin typeface="TimesNewRomanPS-BoldItalicMT"/>
                <a:cs typeface="TimesNewRomanPS-BoldItalicMT"/>
              </a:rPr>
              <a:t>B/1</a:t>
            </a:r>
            <a:endParaRPr sz="1600">
              <a:latin typeface="TimesNewRomanPS-BoldItalicMT"/>
              <a:cs typeface="TimesNewRomanPS-BoldItalicMT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600" b="1" i="1" spc="-5" dirty="0">
                <a:latin typeface="TimesNewRomanPS-BoldItalicMT"/>
                <a:cs typeface="TimesNewRomanPS-BoldItalicMT"/>
              </a:rPr>
              <a:t>C/0</a:t>
            </a:r>
            <a:endParaRPr sz="1600">
              <a:latin typeface="TimesNewRomanPS-BoldItalicMT"/>
              <a:cs typeface="TimesNewRomanPS-BoldItalic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b="1" i="1" spc="-5" dirty="0">
                <a:latin typeface="TimesNewRomanPS-BoldItalicMT"/>
                <a:cs typeface="TimesNewRomanPS-BoldItalicMT"/>
              </a:rPr>
              <a:t>C/1</a:t>
            </a:r>
            <a:endParaRPr sz="1600">
              <a:latin typeface="TimesNewRomanPS-BoldItalicMT"/>
              <a:cs typeface="TimesNewRomanPS-BoldItalicMT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xfrm>
            <a:off x="109423" y="6447452"/>
            <a:ext cx="53883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13</a:t>
            </a:fld>
            <a:endParaRPr spc="-5" dirty="0"/>
          </a:p>
        </p:txBody>
      </p:sp>
      <p:sp>
        <p:nvSpPr>
          <p:cNvPr id="35" name="object 35"/>
          <p:cNvSpPr txBox="1"/>
          <p:nvPr/>
        </p:nvSpPr>
        <p:spPr>
          <a:xfrm>
            <a:off x="1732026" y="3541903"/>
            <a:ext cx="31877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i="1" spc="-5" dirty="0">
                <a:latin typeface="TimesNewRomanPS-BoldItalicMT"/>
                <a:cs typeface="TimesNewRomanPS-BoldItalicMT"/>
              </a:rPr>
              <a:t>A/0  A/1</a:t>
            </a:r>
            <a:endParaRPr sz="1600">
              <a:latin typeface="TimesNewRomanPS-BoldItalicMT"/>
              <a:cs typeface="TimesNewRomanPS-BoldItalic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821429" y="4096003"/>
            <a:ext cx="30734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i="1" spc="-5" dirty="0">
                <a:latin typeface="TimesNewRomanPS-BoldItalicMT"/>
                <a:cs typeface="TimesNewRomanPS-BoldItalicMT"/>
              </a:rPr>
              <a:t>L/0  L/1</a:t>
            </a:r>
            <a:endParaRPr sz="1600">
              <a:latin typeface="TimesNewRomanPS-BoldItalicMT"/>
              <a:cs typeface="TimesNewRomanPS-BoldItalic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824732" y="5158232"/>
            <a:ext cx="31877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spc="-5" dirty="0">
                <a:latin typeface="TimesNewRomanPS-BoldItalicMT"/>
                <a:cs typeface="TimesNewRomanPS-BoldItalicMT"/>
              </a:rPr>
              <a:t>F/0</a:t>
            </a:r>
            <a:endParaRPr sz="1600">
              <a:latin typeface="TimesNewRomanPS-BoldItalicMT"/>
              <a:cs typeface="TimesNewRomanPS-BoldItalicMT"/>
            </a:endParaRPr>
          </a:p>
          <a:p>
            <a:pPr marL="12700">
              <a:lnSpc>
                <a:spcPct val="100000"/>
              </a:lnSpc>
            </a:pPr>
            <a:r>
              <a:rPr sz="1600" b="1" i="1" spc="-5" dirty="0">
                <a:latin typeface="TimesNewRomanPS-BoldItalicMT"/>
                <a:cs typeface="TimesNewRomanPS-BoldItalicMT"/>
              </a:rPr>
              <a:t>F/1</a:t>
            </a:r>
            <a:endParaRPr sz="1600">
              <a:latin typeface="TimesNewRomanPS-BoldItalicMT"/>
              <a:cs typeface="TimesNewRomanPS-BoldItalicM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bject 38"/>
              <p:cNvSpPr txBox="1"/>
              <p:nvPr/>
            </p:nvSpPr>
            <p:spPr>
              <a:xfrm>
                <a:off x="2209800" y="5760720"/>
                <a:ext cx="4975860" cy="529632"/>
              </a:xfrm>
              <a:prstGeom prst="rect">
                <a:avLst/>
              </a:prstGeom>
              <a:ln w="9144">
                <a:solidFill>
                  <a:srgbClr val="FF0000"/>
                </a:solidFill>
              </a:ln>
            </p:spPr>
            <p:txBody>
              <a:bodyPr vert="horz" wrap="square" lIns="0" tIns="36830" rIns="0" bIns="0" rtlCol="0">
                <a:spAutoFit/>
              </a:bodyPr>
              <a:lstStyle/>
              <a:p>
                <a:pPr marL="90805">
                  <a:lnSpc>
                    <a:spcPct val="100000"/>
                  </a:lnSpc>
                  <a:spcBef>
                    <a:spcPts val="290"/>
                  </a:spcBef>
                  <a:tabLst>
                    <a:tab pos="3436620" algn="l"/>
                  </a:tabLst>
                </a:pPr>
                <a:r>
                  <a:rPr lang="en-US" sz="3200" b="1" dirty="0">
                    <a:solidFill>
                      <a:srgbClr val="FF0000"/>
                    </a:solidFill>
                    <a:latin typeface="Helvetica"/>
                    <a:cs typeface="Helvetica"/>
                  </a:rPr>
                  <a:t>|CHKPT|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/>
                      </a:rPr>
                      <m:t>≥</m:t>
                    </m:r>
                  </m:oMath>
                </a14:m>
                <a:r>
                  <a:rPr lang="en-US" sz="3200" b="1" dirty="0">
                    <a:solidFill>
                      <a:srgbClr val="FF0000"/>
                    </a:solidFill>
                    <a:latin typeface="Helvetica"/>
                    <a:cs typeface="Helvetica"/>
                  </a:rPr>
                  <a:t> |EFC|	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/>
                      </a:rPr>
                      <m:t>≥ </m:t>
                    </m:r>
                  </m:oMath>
                </a14:m>
                <a:r>
                  <a:rPr lang="en-US" sz="3200" b="1" dirty="0">
                    <a:solidFill>
                      <a:srgbClr val="FF0000"/>
                    </a:solidFill>
                    <a:latin typeface="Helvetica"/>
                    <a:cs typeface="Helvetica"/>
                  </a:rPr>
                  <a:t>|DFC|</a:t>
                </a:r>
                <a:endParaRPr sz="3200" dirty="0">
                  <a:latin typeface="Helvetica"/>
                  <a:cs typeface="Helvetica"/>
                </a:endParaRPr>
              </a:p>
            </p:txBody>
          </p:sp>
        </mc:Choice>
        <mc:Fallback xmlns="">
          <p:sp>
            <p:nvSpPr>
              <p:cNvPr id="38" name="object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5760720"/>
                <a:ext cx="4975860" cy="529632"/>
              </a:xfrm>
              <a:prstGeom prst="rect">
                <a:avLst/>
              </a:prstGeom>
              <a:blipFill>
                <a:blip r:embed="rId5"/>
                <a:stretch>
                  <a:fillRect l="-3046" t="-16279" r="-3046" b="-44186"/>
                </a:stretch>
              </a:blipFill>
              <a:ln w="9144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9423" y="6447452"/>
            <a:ext cx="500177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14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16783" y="164414"/>
            <a:ext cx="35807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Fault</a:t>
            </a:r>
            <a:r>
              <a:rPr spc="-80" dirty="0"/>
              <a:t> </a:t>
            </a:r>
            <a:r>
              <a:rPr dirty="0"/>
              <a:t>Collapsing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61136"/>
            <a:ext cx="3898265" cy="3267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Introduction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spc="-5" dirty="0">
                <a:solidFill>
                  <a:srgbClr val="A6A6A6"/>
                </a:solidFill>
                <a:latin typeface="Arial"/>
                <a:cs typeface="Arial"/>
              </a:rPr>
              <a:t>Equivalence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Fault</a:t>
            </a:r>
            <a:r>
              <a:rPr sz="2000" b="1" spc="-4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Collapsing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Fanout-free</a:t>
            </a:r>
            <a:r>
              <a:rPr sz="2000" b="1" spc="-65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circuits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Fanout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Dominance Fault</a:t>
            </a:r>
            <a:r>
              <a:rPr sz="2000" b="1" spc="-65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Collapsing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Fanout-free</a:t>
            </a:r>
            <a:r>
              <a:rPr sz="2000" b="1" spc="-125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circuits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Circuits with</a:t>
            </a:r>
            <a:r>
              <a:rPr sz="2000" b="1" spc="-12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fanout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Checkpoint</a:t>
            </a:r>
            <a:r>
              <a:rPr sz="2000" b="1" spc="-35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Theorem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Conclusion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5114" y="164414"/>
            <a:ext cx="49066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 ATPG</a:t>
            </a:r>
            <a:r>
              <a:rPr spc="-75" dirty="0"/>
              <a:t> </a:t>
            </a:r>
            <a:r>
              <a:rPr dirty="0"/>
              <a:t>Report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8697915"/>
              </p:ext>
            </p:extLst>
          </p:nvPr>
        </p:nvGraphicFramePr>
        <p:xfrm>
          <a:off x="286626" y="1477962"/>
          <a:ext cx="5137784" cy="39211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94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9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4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4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lang="en-US" sz="1800" b="1" dirty="0" err="1">
                          <a:latin typeface="Arial"/>
                          <a:cs typeface="Arial"/>
                        </a:rPr>
                        <a:t>U</a:t>
                      </a:r>
                      <a:r>
                        <a:rPr sz="1800" b="1" dirty="0" err="1">
                          <a:latin typeface="Arial"/>
                          <a:cs typeface="Arial"/>
                        </a:rPr>
                        <a:t>ncollapsed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Collapsed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(typically</a:t>
                      </a:r>
                      <a:r>
                        <a:rPr sz="14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EFC)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4651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Total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Faults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R="81915" algn="r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1,234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797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800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797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176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Detected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 faults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R="81915" algn="r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1,000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80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700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80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452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Untestable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faults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230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797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98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797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6176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Aborted</a:t>
                      </a:r>
                      <a:r>
                        <a:rPr sz="1800" b="1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faults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07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Fault</a:t>
                      </a:r>
                      <a:r>
                        <a:rPr sz="18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Coverage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FF"/>
                    </a:solidFill>
                  </a:tcPr>
                </a:tc>
                <a:tc>
                  <a:txBody>
                    <a:bodyPr/>
                    <a:lstStyle/>
                    <a:p>
                      <a:pPr marR="37465" algn="r">
                        <a:lnSpc>
                          <a:spcPct val="100000"/>
                        </a:lnSpc>
                        <a:spcBef>
                          <a:spcPts val="1614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1,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/1,2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051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1614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700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/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800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2051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5611367" y="1266444"/>
            <a:ext cx="3154680" cy="1330960"/>
          </a:xfrm>
          <a:custGeom>
            <a:avLst/>
            <a:gdLst/>
            <a:ahLst/>
            <a:cxnLst/>
            <a:rect l="l" t="t" r="r" b="b"/>
            <a:pathLst>
              <a:path w="3154679" h="1330960">
                <a:moveTo>
                  <a:pt x="0" y="1330452"/>
                </a:moveTo>
                <a:lnTo>
                  <a:pt x="3154680" y="1330452"/>
                </a:lnTo>
                <a:lnTo>
                  <a:pt x="3154680" y="0"/>
                </a:lnTo>
                <a:lnTo>
                  <a:pt x="0" y="0"/>
                </a:lnTo>
                <a:lnTo>
                  <a:pt x="0" y="1330452"/>
                </a:lnTo>
                <a:close/>
              </a:path>
            </a:pathLst>
          </a:custGeom>
          <a:solidFill>
            <a:srgbClr val="FF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95141" y="1820726"/>
            <a:ext cx="2334260" cy="0"/>
          </a:xfrm>
          <a:custGeom>
            <a:avLst/>
            <a:gdLst/>
            <a:ahLst/>
            <a:cxnLst/>
            <a:rect l="l" t="t" r="r" b="b"/>
            <a:pathLst>
              <a:path w="2334259">
                <a:moveTo>
                  <a:pt x="0" y="0"/>
                </a:moveTo>
                <a:lnTo>
                  <a:pt x="2334228" y="0"/>
                </a:lnTo>
              </a:path>
            </a:pathLst>
          </a:custGeom>
          <a:ln w="79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95141" y="2367603"/>
            <a:ext cx="384175" cy="0"/>
          </a:xfrm>
          <a:custGeom>
            <a:avLst/>
            <a:gdLst/>
            <a:ahLst/>
            <a:cxnLst/>
            <a:rect l="l" t="t" r="r" b="b"/>
            <a:pathLst>
              <a:path w="384175">
                <a:moveTo>
                  <a:pt x="0" y="0"/>
                </a:moveTo>
                <a:lnTo>
                  <a:pt x="383930" y="0"/>
                </a:lnTo>
              </a:path>
            </a:pathLst>
          </a:custGeom>
          <a:ln w="79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89703" y="2359957"/>
            <a:ext cx="393700" cy="253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500" spc="-5" dirty="0">
                <a:latin typeface="Times New Roman"/>
                <a:cs typeface="Times New Roman"/>
              </a:rPr>
              <a:t>1234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82200" y="1237508"/>
            <a:ext cx="1100455" cy="253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500" i="1" spc="-5" dirty="0">
                <a:latin typeface="Times New Roman"/>
                <a:cs typeface="Times New Roman"/>
              </a:rPr>
              <a:t>CollapseRatio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08529" y="1508500"/>
            <a:ext cx="2324735" cy="558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93980">
              <a:lnSpc>
                <a:spcPct val="116500"/>
              </a:lnSpc>
              <a:spcBef>
                <a:spcPts val="100"/>
              </a:spcBef>
            </a:pPr>
            <a:r>
              <a:rPr sz="1500" spc="-5" dirty="0">
                <a:latin typeface="Times New Roman"/>
                <a:cs typeface="Times New Roman"/>
              </a:rPr>
              <a:t>number </a:t>
            </a:r>
            <a:r>
              <a:rPr sz="1500" spc="-15" dirty="0">
                <a:latin typeface="Times New Roman"/>
                <a:cs typeface="Times New Roman"/>
              </a:rPr>
              <a:t>of </a:t>
            </a:r>
            <a:r>
              <a:rPr sz="1500" i="1" spc="-5" dirty="0">
                <a:latin typeface="Times New Roman"/>
                <a:cs typeface="Times New Roman"/>
              </a:rPr>
              <a:t>collapsed </a:t>
            </a:r>
            <a:r>
              <a:rPr sz="1500" spc="-5" dirty="0">
                <a:latin typeface="Times New Roman"/>
                <a:cs typeface="Times New Roman"/>
              </a:rPr>
              <a:t>faults  number </a:t>
            </a:r>
            <a:r>
              <a:rPr sz="1500" spc="-15" dirty="0">
                <a:latin typeface="Times New Roman"/>
                <a:cs typeface="Times New Roman"/>
              </a:rPr>
              <a:t>of </a:t>
            </a:r>
            <a:r>
              <a:rPr sz="1500" i="1" spc="-5" dirty="0">
                <a:latin typeface="Times New Roman"/>
                <a:cs typeface="Times New Roman"/>
              </a:rPr>
              <a:t>uncollapsed</a:t>
            </a:r>
            <a:r>
              <a:rPr sz="1500" i="1" spc="-3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faults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40599" y="1665593"/>
            <a:ext cx="117475" cy="253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500" spc="-55" dirty="0">
                <a:latin typeface="Arial"/>
                <a:cs typeface="Arial"/>
              </a:rPr>
              <a:t>=</a:t>
            </a:r>
            <a:endParaRPr sz="15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64562" y="1665593"/>
            <a:ext cx="798011" cy="2430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US" sz="1500" spc="-5" dirty="0">
                <a:latin typeface="Times New Roman"/>
                <a:cs typeface="Times New Roman"/>
              </a:rPr>
              <a:t>X</a:t>
            </a:r>
            <a:r>
              <a:rPr sz="1500" spc="-5" dirty="0">
                <a:latin typeface="Times New Roman"/>
                <a:cs typeface="Times New Roman"/>
              </a:rPr>
              <a:t>100%</a:t>
            </a:r>
            <a:endParaRPr sz="1500" dirty="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2"/>
              <p:cNvSpPr txBox="1"/>
              <p:nvPr/>
            </p:nvSpPr>
            <p:spPr>
              <a:xfrm>
                <a:off x="5615200" y="2212470"/>
                <a:ext cx="1290320" cy="243015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254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1500" spc="-55" dirty="0">
                    <a:latin typeface="Arial"/>
                    <a:cs typeface="Arial"/>
                  </a:rPr>
                  <a:t>= </a:t>
                </a:r>
                <a:r>
                  <a:rPr sz="2250" spc="-7" baseline="35185" dirty="0">
                    <a:latin typeface="Times New Roman"/>
                    <a:cs typeface="Times New Roman"/>
                  </a:rPr>
                  <a:t>800</a:t>
                </a:r>
                <a:r>
                  <a:rPr sz="2250" spc="75" baseline="35185" dirty="0">
                    <a:latin typeface="Times New Roman"/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r>
                      <a:rPr lang="en-US" sz="1500" i="1" spc="-5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≈</m:t>
                    </m:r>
                  </m:oMath>
                </a14:m>
                <a:r>
                  <a:rPr lang="en-US" sz="1500" spc="-5" dirty="0">
                    <a:latin typeface="Times New Roman"/>
                    <a:cs typeface="Times New Roman"/>
                  </a:rPr>
                  <a:t>64</a:t>
                </a:r>
                <a:r>
                  <a:rPr sz="1500" spc="-5" dirty="0">
                    <a:latin typeface="Times New Roman"/>
                    <a:cs typeface="Times New Roman"/>
                  </a:rPr>
                  <a:t>.8%</a:t>
                </a:r>
                <a:endParaRPr sz="1500" dirty="0">
                  <a:latin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12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5200" y="2212470"/>
                <a:ext cx="1290320" cy="243015"/>
              </a:xfrm>
              <a:prstGeom prst="rect">
                <a:avLst/>
              </a:prstGeom>
              <a:blipFill>
                <a:blip r:embed="rId3"/>
                <a:stretch>
                  <a:fillRect l="-7843" t="-55000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bject 13"/>
          <p:cNvSpPr/>
          <p:nvPr/>
        </p:nvSpPr>
        <p:spPr>
          <a:xfrm>
            <a:off x="5606796" y="1261872"/>
            <a:ext cx="3164205" cy="1339850"/>
          </a:xfrm>
          <a:custGeom>
            <a:avLst/>
            <a:gdLst/>
            <a:ahLst/>
            <a:cxnLst/>
            <a:rect l="l" t="t" r="r" b="b"/>
            <a:pathLst>
              <a:path w="3164204" h="1339850">
                <a:moveTo>
                  <a:pt x="0" y="1339596"/>
                </a:moveTo>
                <a:lnTo>
                  <a:pt x="3163824" y="1339596"/>
                </a:lnTo>
                <a:lnTo>
                  <a:pt x="3163824" y="0"/>
                </a:lnTo>
                <a:lnTo>
                  <a:pt x="0" y="0"/>
                </a:lnTo>
                <a:lnTo>
                  <a:pt x="0" y="1339596"/>
                </a:lnTo>
                <a:close/>
              </a:path>
            </a:pathLst>
          </a:custGeom>
          <a:ln w="9143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715005" y="2180082"/>
            <a:ext cx="2723515" cy="646430"/>
          </a:xfrm>
          <a:custGeom>
            <a:avLst/>
            <a:gdLst/>
            <a:ahLst/>
            <a:cxnLst/>
            <a:rect l="l" t="t" r="r" b="b"/>
            <a:pathLst>
              <a:path w="2723515" h="646430">
                <a:moveTo>
                  <a:pt x="0" y="323088"/>
                </a:moveTo>
                <a:lnTo>
                  <a:pt x="16703" y="272333"/>
                </a:lnTo>
                <a:lnTo>
                  <a:pt x="45615" y="239850"/>
                </a:lnTo>
                <a:lnTo>
                  <a:pt x="87869" y="208656"/>
                </a:lnTo>
                <a:lnTo>
                  <a:pt x="142714" y="178932"/>
                </a:lnTo>
                <a:lnTo>
                  <a:pt x="209395" y="150855"/>
                </a:lnTo>
                <a:lnTo>
                  <a:pt x="246940" y="137490"/>
                </a:lnTo>
                <a:lnTo>
                  <a:pt x="287162" y="124604"/>
                </a:lnTo>
                <a:lnTo>
                  <a:pt x="329967" y="112219"/>
                </a:lnTo>
                <a:lnTo>
                  <a:pt x="375260" y="100358"/>
                </a:lnTo>
                <a:lnTo>
                  <a:pt x="422949" y="89042"/>
                </a:lnTo>
                <a:lnTo>
                  <a:pt x="472939" y="78295"/>
                </a:lnTo>
                <a:lnTo>
                  <a:pt x="525135" y="68138"/>
                </a:lnTo>
                <a:lnTo>
                  <a:pt x="579444" y="58595"/>
                </a:lnTo>
                <a:lnTo>
                  <a:pt x="635771" y="49686"/>
                </a:lnTo>
                <a:lnTo>
                  <a:pt x="694023" y="41435"/>
                </a:lnTo>
                <a:lnTo>
                  <a:pt x="754105" y="33864"/>
                </a:lnTo>
                <a:lnTo>
                  <a:pt x="815924" y="26995"/>
                </a:lnTo>
                <a:lnTo>
                  <a:pt x="879385" y="20850"/>
                </a:lnTo>
                <a:lnTo>
                  <a:pt x="944394" y="15452"/>
                </a:lnTo>
                <a:lnTo>
                  <a:pt x="1010858" y="10824"/>
                </a:lnTo>
                <a:lnTo>
                  <a:pt x="1078681" y="6986"/>
                </a:lnTo>
                <a:lnTo>
                  <a:pt x="1147770" y="3963"/>
                </a:lnTo>
                <a:lnTo>
                  <a:pt x="1218032" y="1776"/>
                </a:lnTo>
                <a:lnTo>
                  <a:pt x="1289371" y="447"/>
                </a:lnTo>
                <a:lnTo>
                  <a:pt x="1361694" y="0"/>
                </a:lnTo>
                <a:lnTo>
                  <a:pt x="1434016" y="447"/>
                </a:lnTo>
                <a:lnTo>
                  <a:pt x="1505355" y="1776"/>
                </a:lnTo>
                <a:lnTo>
                  <a:pt x="1575617" y="3963"/>
                </a:lnTo>
                <a:lnTo>
                  <a:pt x="1644706" y="6986"/>
                </a:lnTo>
                <a:lnTo>
                  <a:pt x="1712529" y="10824"/>
                </a:lnTo>
                <a:lnTo>
                  <a:pt x="1778993" y="15452"/>
                </a:lnTo>
                <a:lnTo>
                  <a:pt x="1844002" y="20850"/>
                </a:lnTo>
                <a:lnTo>
                  <a:pt x="1907463" y="26995"/>
                </a:lnTo>
                <a:lnTo>
                  <a:pt x="1969282" y="33864"/>
                </a:lnTo>
                <a:lnTo>
                  <a:pt x="2029364" y="41435"/>
                </a:lnTo>
                <a:lnTo>
                  <a:pt x="2087616" y="49686"/>
                </a:lnTo>
                <a:lnTo>
                  <a:pt x="2143943" y="58595"/>
                </a:lnTo>
                <a:lnTo>
                  <a:pt x="2198252" y="68138"/>
                </a:lnTo>
                <a:lnTo>
                  <a:pt x="2250448" y="78295"/>
                </a:lnTo>
                <a:lnTo>
                  <a:pt x="2300438" y="89042"/>
                </a:lnTo>
                <a:lnTo>
                  <a:pt x="2348127" y="100358"/>
                </a:lnTo>
                <a:lnTo>
                  <a:pt x="2393420" y="112219"/>
                </a:lnTo>
                <a:lnTo>
                  <a:pt x="2436225" y="124604"/>
                </a:lnTo>
                <a:lnTo>
                  <a:pt x="2476447" y="137490"/>
                </a:lnTo>
                <a:lnTo>
                  <a:pt x="2513992" y="150855"/>
                </a:lnTo>
                <a:lnTo>
                  <a:pt x="2580673" y="178932"/>
                </a:lnTo>
                <a:lnTo>
                  <a:pt x="2635518" y="208656"/>
                </a:lnTo>
                <a:lnTo>
                  <a:pt x="2677772" y="239850"/>
                </a:lnTo>
                <a:lnTo>
                  <a:pt x="2706684" y="272333"/>
                </a:lnTo>
                <a:lnTo>
                  <a:pt x="2723388" y="323088"/>
                </a:lnTo>
                <a:lnTo>
                  <a:pt x="2721500" y="340246"/>
                </a:lnTo>
                <a:lnTo>
                  <a:pt x="2693943" y="390234"/>
                </a:lnTo>
                <a:lnTo>
                  <a:pt x="2658266" y="422095"/>
                </a:lnTo>
                <a:lnTo>
                  <a:pt x="2609622" y="452576"/>
                </a:lnTo>
                <a:lnTo>
                  <a:pt x="2548765" y="481499"/>
                </a:lnTo>
                <a:lnTo>
                  <a:pt x="2476447" y="508685"/>
                </a:lnTo>
                <a:lnTo>
                  <a:pt x="2436225" y="521571"/>
                </a:lnTo>
                <a:lnTo>
                  <a:pt x="2393420" y="533956"/>
                </a:lnTo>
                <a:lnTo>
                  <a:pt x="2348127" y="545817"/>
                </a:lnTo>
                <a:lnTo>
                  <a:pt x="2300438" y="557133"/>
                </a:lnTo>
                <a:lnTo>
                  <a:pt x="2250448" y="567880"/>
                </a:lnTo>
                <a:lnTo>
                  <a:pt x="2198252" y="578037"/>
                </a:lnTo>
                <a:lnTo>
                  <a:pt x="2143943" y="587580"/>
                </a:lnTo>
                <a:lnTo>
                  <a:pt x="2087616" y="596489"/>
                </a:lnTo>
                <a:lnTo>
                  <a:pt x="2029364" y="604740"/>
                </a:lnTo>
                <a:lnTo>
                  <a:pt x="1969282" y="612311"/>
                </a:lnTo>
                <a:lnTo>
                  <a:pt x="1907463" y="619180"/>
                </a:lnTo>
                <a:lnTo>
                  <a:pt x="1844002" y="625325"/>
                </a:lnTo>
                <a:lnTo>
                  <a:pt x="1778993" y="630723"/>
                </a:lnTo>
                <a:lnTo>
                  <a:pt x="1712529" y="635351"/>
                </a:lnTo>
                <a:lnTo>
                  <a:pt x="1644706" y="639189"/>
                </a:lnTo>
                <a:lnTo>
                  <a:pt x="1575617" y="642212"/>
                </a:lnTo>
                <a:lnTo>
                  <a:pt x="1505355" y="644399"/>
                </a:lnTo>
                <a:lnTo>
                  <a:pt x="1434016" y="645728"/>
                </a:lnTo>
                <a:lnTo>
                  <a:pt x="1361694" y="646176"/>
                </a:lnTo>
                <a:lnTo>
                  <a:pt x="1289371" y="645728"/>
                </a:lnTo>
                <a:lnTo>
                  <a:pt x="1218032" y="644399"/>
                </a:lnTo>
                <a:lnTo>
                  <a:pt x="1147770" y="642212"/>
                </a:lnTo>
                <a:lnTo>
                  <a:pt x="1078681" y="639189"/>
                </a:lnTo>
                <a:lnTo>
                  <a:pt x="1010858" y="635351"/>
                </a:lnTo>
                <a:lnTo>
                  <a:pt x="944394" y="630723"/>
                </a:lnTo>
                <a:lnTo>
                  <a:pt x="879385" y="625325"/>
                </a:lnTo>
                <a:lnTo>
                  <a:pt x="815924" y="619180"/>
                </a:lnTo>
                <a:lnTo>
                  <a:pt x="754105" y="612311"/>
                </a:lnTo>
                <a:lnTo>
                  <a:pt x="694023" y="604740"/>
                </a:lnTo>
                <a:lnTo>
                  <a:pt x="635771" y="596489"/>
                </a:lnTo>
                <a:lnTo>
                  <a:pt x="579444" y="587580"/>
                </a:lnTo>
                <a:lnTo>
                  <a:pt x="525135" y="578037"/>
                </a:lnTo>
                <a:lnTo>
                  <a:pt x="472939" y="567880"/>
                </a:lnTo>
                <a:lnTo>
                  <a:pt x="422949" y="557133"/>
                </a:lnTo>
                <a:lnTo>
                  <a:pt x="375260" y="545817"/>
                </a:lnTo>
                <a:lnTo>
                  <a:pt x="329967" y="533956"/>
                </a:lnTo>
                <a:lnTo>
                  <a:pt x="287162" y="521571"/>
                </a:lnTo>
                <a:lnTo>
                  <a:pt x="246940" y="508685"/>
                </a:lnTo>
                <a:lnTo>
                  <a:pt x="209395" y="495320"/>
                </a:lnTo>
                <a:lnTo>
                  <a:pt x="142714" y="467243"/>
                </a:lnTo>
                <a:lnTo>
                  <a:pt x="87869" y="437519"/>
                </a:lnTo>
                <a:lnTo>
                  <a:pt x="45615" y="406325"/>
                </a:lnTo>
                <a:lnTo>
                  <a:pt x="16703" y="373842"/>
                </a:lnTo>
                <a:lnTo>
                  <a:pt x="0" y="323088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620511" y="3633215"/>
            <a:ext cx="3190240" cy="928369"/>
          </a:xfrm>
          <a:custGeom>
            <a:avLst/>
            <a:gdLst/>
            <a:ahLst/>
            <a:cxnLst/>
            <a:rect l="l" t="t" r="r" b="b"/>
            <a:pathLst>
              <a:path w="3190240" h="928370">
                <a:moveTo>
                  <a:pt x="0" y="928116"/>
                </a:moveTo>
                <a:lnTo>
                  <a:pt x="3189732" y="928116"/>
                </a:lnTo>
                <a:lnTo>
                  <a:pt x="3189732" y="0"/>
                </a:lnTo>
                <a:lnTo>
                  <a:pt x="0" y="0"/>
                </a:lnTo>
                <a:lnTo>
                  <a:pt x="0" y="928116"/>
                </a:lnTo>
                <a:close/>
              </a:path>
            </a:pathLst>
          </a:custGeom>
          <a:solidFill>
            <a:srgbClr val="FF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819340" y="4268168"/>
            <a:ext cx="2317750" cy="0"/>
          </a:xfrm>
          <a:custGeom>
            <a:avLst/>
            <a:gdLst/>
            <a:ahLst/>
            <a:cxnLst/>
            <a:rect l="l" t="t" r="r" b="b"/>
            <a:pathLst>
              <a:path w="2317750">
                <a:moveTo>
                  <a:pt x="0" y="0"/>
                </a:moveTo>
                <a:lnTo>
                  <a:pt x="2317443" y="0"/>
                </a:lnTo>
              </a:path>
            </a:pathLst>
          </a:custGeom>
          <a:ln w="85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601332" y="3547873"/>
            <a:ext cx="3242945" cy="962956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815"/>
              </a:spcBef>
            </a:pPr>
            <a:r>
              <a:rPr sz="1600" i="1" spc="5" dirty="0">
                <a:latin typeface="Times New Roman"/>
                <a:cs typeface="Times New Roman"/>
              </a:rPr>
              <a:t>uncollapsed</a:t>
            </a:r>
            <a:r>
              <a:rPr sz="1600" i="1" spc="345" dirty="0">
                <a:latin typeface="Times New Roman"/>
                <a:cs typeface="Times New Roman"/>
              </a:rPr>
              <a:t> </a:t>
            </a:r>
            <a:r>
              <a:rPr sz="1600" i="1" spc="30" dirty="0">
                <a:latin typeface="Times New Roman"/>
                <a:cs typeface="Times New Roman"/>
              </a:rPr>
              <a:t>F</a:t>
            </a:r>
            <a:r>
              <a:rPr sz="1600" spc="30" dirty="0">
                <a:latin typeface="Times New Roman"/>
                <a:cs typeface="Times New Roman"/>
              </a:rPr>
              <a:t>.</a:t>
            </a:r>
            <a:r>
              <a:rPr sz="1600" i="1" spc="30" dirty="0">
                <a:latin typeface="Times New Roman"/>
                <a:cs typeface="Times New Roman"/>
              </a:rPr>
              <a:t>C</a:t>
            </a:r>
            <a:r>
              <a:rPr sz="1600" spc="30" dirty="0">
                <a:latin typeface="Times New Roman"/>
                <a:cs typeface="Times New Roman"/>
              </a:rPr>
              <a:t>.</a:t>
            </a:r>
            <a:endParaRPr sz="1600" dirty="0">
              <a:latin typeface="Times New Roman"/>
              <a:cs typeface="Times New Roman"/>
            </a:endParaRPr>
          </a:p>
          <a:p>
            <a:pPr marL="396240" marR="55880" indent="-346075">
              <a:lnSpc>
                <a:spcPct val="118500"/>
              </a:lnSpc>
              <a:spcBef>
                <a:spcPts val="370"/>
              </a:spcBef>
            </a:pPr>
            <a:r>
              <a:rPr sz="2400" spc="-67" baseline="-34722" dirty="0">
                <a:latin typeface="Arial"/>
                <a:cs typeface="Arial"/>
              </a:rPr>
              <a:t>= </a:t>
            </a:r>
            <a:r>
              <a:rPr sz="1600" spc="10" dirty="0">
                <a:latin typeface="Times New Roman"/>
                <a:cs typeface="Times New Roman"/>
              </a:rPr>
              <a:t>detected </a:t>
            </a:r>
            <a:r>
              <a:rPr sz="1600" i="1" spc="5" dirty="0">
                <a:latin typeface="Times New Roman"/>
                <a:cs typeface="Times New Roman"/>
              </a:rPr>
              <a:t>uncollapsed </a:t>
            </a:r>
            <a:r>
              <a:rPr sz="1600" spc="5" dirty="0">
                <a:latin typeface="Times New Roman"/>
                <a:cs typeface="Times New Roman"/>
              </a:rPr>
              <a:t>faults </a:t>
            </a:r>
            <a:r>
              <a:rPr lang="en-US" sz="1600" spc="5" dirty="0">
                <a:latin typeface="Times New Roman"/>
                <a:cs typeface="Times New Roman"/>
              </a:rPr>
              <a:t> </a:t>
            </a:r>
            <a:r>
              <a:rPr lang="en-US" sz="2400" spc="-172" baseline="-34722" dirty="0">
                <a:latin typeface="Times New Roman"/>
                <a:cs typeface="Times New Roman"/>
              </a:rPr>
              <a:t>X 10</a:t>
            </a:r>
            <a:r>
              <a:rPr sz="2400" spc="-172" baseline="-34722" dirty="0">
                <a:latin typeface="Times New Roman"/>
                <a:cs typeface="Times New Roman"/>
              </a:rPr>
              <a:t>0%  </a:t>
            </a:r>
            <a:r>
              <a:rPr sz="1600" dirty="0">
                <a:latin typeface="Times New Roman"/>
                <a:cs typeface="Times New Roman"/>
              </a:rPr>
              <a:t>total </a:t>
            </a:r>
            <a:r>
              <a:rPr sz="1600" i="1" spc="5" dirty="0">
                <a:latin typeface="Times New Roman"/>
                <a:cs typeface="Times New Roman"/>
              </a:rPr>
              <a:t>uncollapsed</a:t>
            </a:r>
            <a:r>
              <a:rPr sz="1600" i="1" spc="380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faults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615940" y="3628644"/>
            <a:ext cx="3199130" cy="937260"/>
          </a:xfrm>
          <a:custGeom>
            <a:avLst/>
            <a:gdLst/>
            <a:ahLst/>
            <a:cxnLst/>
            <a:rect l="l" t="t" r="r" b="b"/>
            <a:pathLst>
              <a:path w="3199129" h="937260">
                <a:moveTo>
                  <a:pt x="0" y="937259"/>
                </a:moveTo>
                <a:lnTo>
                  <a:pt x="3198875" y="937259"/>
                </a:lnTo>
                <a:lnTo>
                  <a:pt x="3198875" y="0"/>
                </a:lnTo>
                <a:lnTo>
                  <a:pt x="0" y="0"/>
                </a:lnTo>
                <a:lnTo>
                  <a:pt x="0" y="937259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620511" y="5324855"/>
            <a:ext cx="2999740" cy="925194"/>
          </a:xfrm>
          <a:custGeom>
            <a:avLst/>
            <a:gdLst/>
            <a:ahLst/>
            <a:cxnLst/>
            <a:rect l="l" t="t" r="r" b="b"/>
            <a:pathLst>
              <a:path w="2999740" h="925195">
                <a:moveTo>
                  <a:pt x="0" y="925068"/>
                </a:moveTo>
                <a:lnTo>
                  <a:pt x="2999232" y="925068"/>
                </a:lnTo>
                <a:lnTo>
                  <a:pt x="2999232" y="0"/>
                </a:lnTo>
                <a:lnTo>
                  <a:pt x="0" y="0"/>
                </a:lnTo>
                <a:lnTo>
                  <a:pt x="0" y="925068"/>
                </a:lnTo>
                <a:close/>
              </a:path>
            </a:pathLst>
          </a:custGeom>
          <a:solidFill>
            <a:srgbClr val="FF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819216" y="5957713"/>
            <a:ext cx="2112645" cy="0"/>
          </a:xfrm>
          <a:custGeom>
            <a:avLst/>
            <a:gdLst/>
            <a:ahLst/>
            <a:cxnLst/>
            <a:rect l="l" t="t" r="r" b="b"/>
            <a:pathLst>
              <a:path w="2112645">
                <a:moveTo>
                  <a:pt x="0" y="0"/>
                </a:moveTo>
                <a:lnTo>
                  <a:pt x="2112488" y="0"/>
                </a:lnTo>
              </a:path>
            </a:pathLst>
          </a:custGeom>
          <a:ln w="8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601312" y="5239719"/>
            <a:ext cx="3037205" cy="98298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810"/>
              </a:spcBef>
            </a:pPr>
            <a:r>
              <a:rPr sz="1600" i="1" spc="5" dirty="0">
                <a:latin typeface="Times New Roman"/>
                <a:cs typeface="Times New Roman"/>
              </a:rPr>
              <a:t>Collapsed</a:t>
            </a:r>
            <a:r>
              <a:rPr sz="1600" i="1" spc="345" dirty="0">
                <a:latin typeface="Times New Roman"/>
                <a:cs typeface="Times New Roman"/>
              </a:rPr>
              <a:t> </a:t>
            </a:r>
            <a:r>
              <a:rPr sz="1600" i="1" spc="30" dirty="0">
                <a:latin typeface="Times New Roman"/>
                <a:cs typeface="Times New Roman"/>
              </a:rPr>
              <a:t>F</a:t>
            </a:r>
            <a:r>
              <a:rPr sz="1600" spc="30" dirty="0">
                <a:latin typeface="Times New Roman"/>
                <a:cs typeface="Times New Roman"/>
              </a:rPr>
              <a:t>.</a:t>
            </a:r>
            <a:r>
              <a:rPr sz="1600" i="1" spc="30" dirty="0">
                <a:latin typeface="Times New Roman"/>
                <a:cs typeface="Times New Roman"/>
              </a:rPr>
              <a:t>C</a:t>
            </a:r>
            <a:r>
              <a:rPr sz="1600" spc="30" dirty="0">
                <a:latin typeface="Times New Roman"/>
                <a:cs typeface="Times New Roman"/>
              </a:rPr>
              <a:t>.</a:t>
            </a:r>
            <a:endParaRPr sz="1600" dirty="0">
              <a:latin typeface="Times New Roman"/>
              <a:cs typeface="Times New Roman"/>
            </a:endParaRPr>
          </a:p>
          <a:p>
            <a:pPr marL="396240" marR="55880" indent="-346075">
              <a:lnSpc>
                <a:spcPct val="118100"/>
              </a:lnSpc>
              <a:spcBef>
                <a:spcPts val="365"/>
              </a:spcBef>
            </a:pPr>
            <a:r>
              <a:rPr sz="2400" spc="-75" baseline="-34722" dirty="0">
                <a:latin typeface="Arial"/>
                <a:cs typeface="Arial"/>
              </a:rPr>
              <a:t>= </a:t>
            </a:r>
            <a:r>
              <a:rPr sz="1600" spc="10" dirty="0">
                <a:latin typeface="Times New Roman"/>
                <a:cs typeface="Times New Roman"/>
              </a:rPr>
              <a:t>detected </a:t>
            </a:r>
            <a:r>
              <a:rPr sz="1600" i="1" spc="5" dirty="0">
                <a:latin typeface="Times New Roman"/>
                <a:cs typeface="Times New Roman"/>
              </a:rPr>
              <a:t>collapsed </a:t>
            </a:r>
            <a:r>
              <a:rPr sz="1600" spc="5" dirty="0">
                <a:latin typeface="Times New Roman"/>
                <a:cs typeface="Times New Roman"/>
              </a:rPr>
              <a:t>faults </a:t>
            </a:r>
            <a:r>
              <a:rPr lang="en-US" sz="2400" spc="-172" baseline="-34722" dirty="0">
                <a:latin typeface="Times New Roman"/>
                <a:cs typeface="Times New Roman"/>
              </a:rPr>
              <a:t> X 1</a:t>
            </a:r>
            <a:r>
              <a:rPr sz="2400" spc="-172" baseline="-34722" dirty="0">
                <a:latin typeface="Times New Roman"/>
                <a:cs typeface="Times New Roman"/>
              </a:rPr>
              <a:t>00%  </a:t>
            </a:r>
            <a:r>
              <a:rPr sz="1600" dirty="0">
                <a:latin typeface="Times New Roman"/>
                <a:cs typeface="Times New Roman"/>
              </a:rPr>
              <a:t>total </a:t>
            </a:r>
            <a:r>
              <a:rPr sz="1600" i="1" spc="5" dirty="0">
                <a:latin typeface="Times New Roman"/>
                <a:cs typeface="Times New Roman"/>
              </a:rPr>
              <a:t>collapsed</a:t>
            </a:r>
            <a:r>
              <a:rPr sz="1600" i="1" spc="-15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faults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615940" y="5320284"/>
            <a:ext cx="3008630" cy="934719"/>
          </a:xfrm>
          <a:custGeom>
            <a:avLst/>
            <a:gdLst/>
            <a:ahLst/>
            <a:cxnLst/>
            <a:rect l="l" t="t" r="r" b="b"/>
            <a:pathLst>
              <a:path w="3008629" h="934720">
                <a:moveTo>
                  <a:pt x="0" y="934212"/>
                </a:moveTo>
                <a:lnTo>
                  <a:pt x="3008375" y="934212"/>
                </a:lnTo>
                <a:lnTo>
                  <a:pt x="3008375" y="0"/>
                </a:lnTo>
                <a:lnTo>
                  <a:pt x="0" y="0"/>
                </a:lnTo>
                <a:lnTo>
                  <a:pt x="0" y="934212"/>
                </a:lnTo>
                <a:close/>
              </a:path>
            </a:pathLst>
          </a:custGeom>
          <a:ln w="9143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405378" y="4085209"/>
            <a:ext cx="2220595" cy="861694"/>
          </a:xfrm>
          <a:custGeom>
            <a:avLst/>
            <a:gdLst/>
            <a:ahLst/>
            <a:cxnLst/>
            <a:rect l="l" t="t" r="r" b="b"/>
            <a:pathLst>
              <a:path w="2220595" h="861695">
                <a:moveTo>
                  <a:pt x="93599" y="734314"/>
                </a:moveTo>
                <a:lnTo>
                  <a:pt x="84455" y="735330"/>
                </a:lnTo>
                <a:lnTo>
                  <a:pt x="79375" y="741426"/>
                </a:lnTo>
                <a:lnTo>
                  <a:pt x="0" y="838454"/>
                </a:lnTo>
                <a:lnTo>
                  <a:pt x="123444" y="859917"/>
                </a:lnTo>
                <a:lnTo>
                  <a:pt x="131318" y="861187"/>
                </a:lnTo>
                <a:lnTo>
                  <a:pt x="138811" y="855980"/>
                </a:lnTo>
                <a:lnTo>
                  <a:pt x="141289" y="842010"/>
                </a:lnTo>
                <a:lnTo>
                  <a:pt x="31876" y="842010"/>
                </a:lnTo>
                <a:lnTo>
                  <a:pt x="21844" y="814832"/>
                </a:lnTo>
                <a:lnTo>
                  <a:pt x="71988" y="796159"/>
                </a:lnTo>
                <a:lnTo>
                  <a:pt x="106807" y="753618"/>
                </a:lnTo>
                <a:lnTo>
                  <a:pt x="105918" y="744474"/>
                </a:lnTo>
                <a:lnTo>
                  <a:pt x="99822" y="739394"/>
                </a:lnTo>
                <a:lnTo>
                  <a:pt x="93599" y="734314"/>
                </a:lnTo>
                <a:close/>
              </a:path>
              <a:path w="2220595" h="861695">
                <a:moveTo>
                  <a:pt x="71988" y="796159"/>
                </a:moveTo>
                <a:lnTo>
                  <a:pt x="21844" y="814832"/>
                </a:lnTo>
                <a:lnTo>
                  <a:pt x="31876" y="842010"/>
                </a:lnTo>
                <a:lnTo>
                  <a:pt x="43813" y="837565"/>
                </a:lnTo>
                <a:lnTo>
                  <a:pt x="38100" y="837565"/>
                </a:lnTo>
                <a:lnTo>
                  <a:pt x="29337" y="814197"/>
                </a:lnTo>
                <a:lnTo>
                  <a:pt x="57225" y="814197"/>
                </a:lnTo>
                <a:lnTo>
                  <a:pt x="71988" y="796159"/>
                </a:lnTo>
                <a:close/>
              </a:path>
              <a:path w="2220595" h="861695">
                <a:moveTo>
                  <a:pt x="82061" y="823322"/>
                </a:moveTo>
                <a:lnTo>
                  <a:pt x="31876" y="842010"/>
                </a:lnTo>
                <a:lnTo>
                  <a:pt x="141289" y="842010"/>
                </a:lnTo>
                <a:lnTo>
                  <a:pt x="141605" y="840232"/>
                </a:lnTo>
                <a:lnTo>
                  <a:pt x="136271" y="832739"/>
                </a:lnTo>
                <a:lnTo>
                  <a:pt x="82061" y="823322"/>
                </a:lnTo>
                <a:close/>
              </a:path>
              <a:path w="2220595" h="861695">
                <a:moveTo>
                  <a:pt x="29337" y="814197"/>
                </a:moveTo>
                <a:lnTo>
                  <a:pt x="38100" y="837565"/>
                </a:lnTo>
                <a:lnTo>
                  <a:pt x="53765" y="818424"/>
                </a:lnTo>
                <a:lnTo>
                  <a:pt x="29337" y="814197"/>
                </a:lnTo>
                <a:close/>
              </a:path>
              <a:path w="2220595" h="861695">
                <a:moveTo>
                  <a:pt x="53765" y="818424"/>
                </a:moveTo>
                <a:lnTo>
                  <a:pt x="38100" y="837565"/>
                </a:lnTo>
                <a:lnTo>
                  <a:pt x="43813" y="837565"/>
                </a:lnTo>
                <a:lnTo>
                  <a:pt x="82061" y="823322"/>
                </a:lnTo>
                <a:lnTo>
                  <a:pt x="53765" y="818424"/>
                </a:lnTo>
                <a:close/>
              </a:path>
              <a:path w="2220595" h="861695">
                <a:moveTo>
                  <a:pt x="2210054" y="0"/>
                </a:moveTo>
                <a:lnTo>
                  <a:pt x="71988" y="796159"/>
                </a:lnTo>
                <a:lnTo>
                  <a:pt x="53765" y="818424"/>
                </a:lnTo>
                <a:lnTo>
                  <a:pt x="82061" y="823322"/>
                </a:lnTo>
                <a:lnTo>
                  <a:pt x="2220087" y="27178"/>
                </a:lnTo>
                <a:lnTo>
                  <a:pt x="2210054" y="0"/>
                </a:lnTo>
                <a:close/>
              </a:path>
              <a:path w="2220595" h="861695">
                <a:moveTo>
                  <a:pt x="57225" y="814197"/>
                </a:moveTo>
                <a:lnTo>
                  <a:pt x="29337" y="814197"/>
                </a:lnTo>
                <a:lnTo>
                  <a:pt x="53765" y="818424"/>
                </a:lnTo>
                <a:lnTo>
                  <a:pt x="57225" y="81419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670297" y="5277611"/>
            <a:ext cx="957580" cy="523240"/>
          </a:xfrm>
          <a:custGeom>
            <a:avLst/>
            <a:gdLst/>
            <a:ahLst/>
            <a:cxnLst/>
            <a:rect l="l" t="t" r="r" b="b"/>
            <a:pathLst>
              <a:path w="957579" h="523239">
                <a:moveTo>
                  <a:pt x="79434" y="31108"/>
                </a:moveTo>
                <a:lnTo>
                  <a:pt x="50663" y="32272"/>
                </a:lnTo>
                <a:lnTo>
                  <a:pt x="65830" y="56749"/>
                </a:lnTo>
                <a:lnTo>
                  <a:pt x="943737" y="523227"/>
                </a:lnTo>
                <a:lnTo>
                  <a:pt x="957326" y="497662"/>
                </a:lnTo>
                <a:lnTo>
                  <a:pt x="79434" y="31108"/>
                </a:lnTo>
                <a:close/>
              </a:path>
              <a:path w="957579" h="523239">
                <a:moveTo>
                  <a:pt x="133223" y="0"/>
                </a:moveTo>
                <a:lnTo>
                  <a:pt x="0" y="5334"/>
                </a:lnTo>
                <a:lnTo>
                  <a:pt x="65912" y="111887"/>
                </a:lnTo>
                <a:lnTo>
                  <a:pt x="70103" y="118744"/>
                </a:lnTo>
                <a:lnTo>
                  <a:pt x="79121" y="120776"/>
                </a:lnTo>
                <a:lnTo>
                  <a:pt x="85851" y="116585"/>
                </a:lnTo>
                <a:lnTo>
                  <a:pt x="92710" y="112394"/>
                </a:lnTo>
                <a:lnTo>
                  <a:pt x="94741" y="103504"/>
                </a:lnTo>
                <a:lnTo>
                  <a:pt x="90550" y="96647"/>
                </a:lnTo>
                <a:lnTo>
                  <a:pt x="65830" y="56749"/>
                </a:lnTo>
                <a:lnTo>
                  <a:pt x="18541" y="31622"/>
                </a:lnTo>
                <a:lnTo>
                  <a:pt x="32130" y="5968"/>
                </a:lnTo>
                <a:lnTo>
                  <a:pt x="139679" y="5968"/>
                </a:lnTo>
                <a:lnTo>
                  <a:pt x="133223" y="0"/>
                </a:lnTo>
                <a:close/>
              </a:path>
              <a:path w="957579" h="523239">
                <a:moveTo>
                  <a:pt x="32130" y="5968"/>
                </a:moveTo>
                <a:lnTo>
                  <a:pt x="18541" y="31622"/>
                </a:lnTo>
                <a:lnTo>
                  <a:pt x="65830" y="56749"/>
                </a:lnTo>
                <a:lnTo>
                  <a:pt x="51284" y="33274"/>
                </a:lnTo>
                <a:lnTo>
                  <a:pt x="25907" y="33274"/>
                </a:lnTo>
                <a:lnTo>
                  <a:pt x="37591" y="11175"/>
                </a:lnTo>
                <a:lnTo>
                  <a:pt x="41928" y="11175"/>
                </a:lnTo>
                <a:lnTo>
                  <a:pt x="32130" y="5968"/>
                </a:lnTo>
                <a:close/>
              </a:path>
              <a:path w="957579" h="523239">
                <a:moveTo>
                  <a:pt x="37591" y="11175"/>
                </a:moveTo>
                <a:lnTo>
                  <a:pt x="25907" y="33274"/>
                </a:lnTo>
                <a:lnTo>
                  <a:pt x="50663" y="32272"/>
                </a:lnTo>
                <a:lnTo>
                  <a:pt x="37591" y="11175"/>
                </a:lnTo>
                <a:close/>
              </a:path>
              <a:path w="957579" h="523239">
                <a:moveTo>
                  <a:pt x="50663" y="32272"/>
                </a:moveTo>
                <a:lnTo>
                  <a:pt x="25907" y="33274"/>
                </a:lnTo>
                <a:lnTo>
                  <a:pt x="51284" y="33274"/>
                </a:lnTo>
                <a:lnTo>
                  <a:pt x="50663" y="32272"/>
                </a:lnTo>
                <a:close/>
              </a:path>
              <a:path w="957579" h="523239">
                <a:moveTo>
                  <a:pt x="41928" y="11175"/>
                </a:moveTo>
                <a:lnTo>
                  <a:pt x="37591" y="11175"/>
                </a:lnTo>
                <a:lnTo>
                  <a:pt x="50663" y="32272"/>
                </a:lnTo>
                <a:lnTo>
                  <a:pt x="79434" y="31108"/>
                </a:lnTo>
                <a:lnTo>
                  <a:pt x="41928" y="11175"/>
                </a:lnTo>
                <a:close/>
              </a:path>
              <a:path w="957579" h="523239">
                <a:moveTo>
                  <a:pt x="139679" y="5968"/>
                </a:moveTo>
                <a:lnTo>
                  <a:pt x="32130" y="5968"/>
                </a:lnTo>
                <a:lnTo>
                  <a:pt x="79434" y="31108"/>
                </a:lnTo>
                <a:lnTo>
                  <a:pt x="134365" y="28956"/>
                </a:lnTo>
                <a:lnTo>
                  <a:pt x="140588" y="22225"/>
                </a:lnTo>
                <a:lnTo>
                  <a:pt x="140207" y="14224"/>
                </a:lnTo>
                <a:lnTo>
                  <a:pt x="139953" y="6222"/>
                </a:lnTo>
                <a:lnTo>
                  <a:pt x="139679" y="596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234051" y="1919223"/>
            <a:ext cx="382905" cy="149225"/>
          </a:xfrm>
          <a:custGeom>
            <a:avLst/>
            <a:gdLst/>
            <a:ahLst/>
            <a:cxnLst/>
            <a:rect l="l" t="t" r="r" b="b"/>
            <a:pathLst>
              <a:path w="382904" h="149225">
                <a:moveTo>
                  <a:pt x="103632" y="18923"/>
                </a:moveTo>
                <a:lnTo>
                  <a:pt x="94487" y="18923"/>
                </a:lnTo>
                <a:lnTo>
                  <a:pt x="0" y="113156"/>
                </a:lnTo>
                <a:lnTo>
                  <a:pt x="128524" y="148971"/>
                </a:lnTo>
                <a:lnTo>
                  <a:pt x="136525" y="144525"/>
                </a:lnTo>
                <a:lnTo>
                  <a:pt x="140843" y="129031"/>
                </a:lnTo>
                <a:lnTo>
                  <a:pt x="136271" y="121030"/>
                </a:lnTo>
                <a:lnTo>
                  <a:pt x="131984" y="119887"/>
                </a:lnTo>
                <a:lnTo>
                  <a:pt x="31496" y="119887"/>
                </a:lnTo>
                <a:lnTo>
                  <a:pt x="24129" y="91821"/>
                </a:lnTo>
                <a:lnTo>
                  <a:pt x="75996" y="78248"/>
                </a:lnTo>
                <a:lnTo>
                  <a:pt x="109220" y="45085"/>
                </a:lnTo>
                <a:lnTo>
                  <a:pt x="114935" y="39497"/>
                </a:lnTo>
                <a:lnTo>
                  <a:pt x="114935" y="30225"/>
                </a:lnTo>
                <a:lnTo>
                  <a:pt x="103632" y="18923"/>
                </a:lnTo>
                <a:close/>
              </a:path>
              <a:path w="382904" h="149225">
                <a:moveTo>
                  <a:pt x="75996" y="78248"/>
                </a:moveTo>
                <a:lnTo>
                  <a:pt x="24129" y="91821"/>
                </a:lnTo>
                <a:lnTo>
                  <a:pt x="31496" y="119887"/>
                </a:lnTo>
                <a:lnTo>
                  <a:pt x="46036" y="116077"/>
                </a:lnTo>
                <a:lnTo>
                  <a:pt x="38100" y="116077"/>
                </a:lnTo>
                <a:lnTo>
                  <a:pt x="31750" y="91948"/>
                </a:lnTo>
                <a:lnTo>
                  <a:pt x="62273" y="91948"/>
                </a:lnTo>
                <a:lnTo>
                  <a:pt x="75996" y="78248"/>
                </a:lnTo>
                <a:close/>
              </a:path>
              <a:path w="382904" h="149225">
                <a:moveTo>
                  <a:pt x="83253" y="106325"/>
                </a:moveTo>
                <a:lnTo>
                  <a:pt x="31496" y="119887"/>
                </a:lnTo>
                <a:lnTo>
                  <a:pt x="131984" y="119887"/>
                </a:lnTo>
                <a:lnTo>
                  <a:pt x="128650" y="118999"/>
                </a:lnTo>
                <a:lnTo>
                  <a:pt x="83253" y="106325"/>
                </a:lnTo>
                <a:close/>
              </a:path>
              <a:path w="382904" h="149225">
                <a:moveTo>
                  <a:pt x="31750" y="91948"/>
                </a:moveTo>
                <a:lnTo>
                  <a:pt x="38100" y="116077"/>
                </a:lnTo>
                <a:lnTo>
                  <a:pt x="55602" y="98606"/>
                </a:lnTo>
                <a:lnTo>
                  <a:pt x="31750" y="91948"/>
                </a:lnTo>
                <a:close/>
              </a:path>
              <a:path w="382904" h="149225">
                <a:moveTo>
                  <a:pt x="55602" y="98606"/>
                </a:moveTo>
                <a:lnTo>
                  <a:pt x="38100" y="116077"/>
                </a:lnTo>
                <a:lnTo>
                  <a:pt x="46036" y="116077"/>
                </a:lnTo>
                <a:lnTo>
                  <a:pt x="83253" y="106325"/>
                </a:lnTo>
                <a:lnTo>
                  <a:pt x="55602" y="98606"/>
                </a:lnTo>
                <a:close/>
              </a:path>
              <a:path w="382904" h="149225">
                <a:moveTo>
                  <a:pt x="375031" y="0"/>
                </a:moveTo>
                <a:lnTo>
                  <a:pt x="75996" y="78248"/>
                </a:lnTo>
                <a:lnTo>
                  <a:pt x="55602" y="98606"/>
                </a:lnTo>
                <a:lnTo>
                  <a:pt x="83253" y="106325"/>
                </a:lnTo>
                <a:lnTo>
                  <a:pt x="382397" y="27939"/>
                </a:lnTo>
                <a:lnTo>
                  <a:pt x="375031" y="0"/>
                </a:lnTo>
                <a:close/>
              </a:path>
              <a:path w="382904" h="149225">
                <a:moveTo>
                  <a:pt x="62273" y="91948"/>
                </a:moveTo>
                <a:lnTo>
                  <a:pt x="31750" y="91948"/>
                </a:lnTo>
                <a:lnTo>
                  <a:pt x="55602" y="98606"/>
                </a:lnTo>
                <a:lnTo>
                  <a:pt x="62273" y="9194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xfrm>
            <a:off x="109423" y="6447452"/>
            <a:ext cx="500177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15</a:t>
            </a:fld>
            <a:endParaRPr spc="-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9423" y="6447452"/>
            <a:ext cx="576377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16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3692" y="164414"/>
            <a:ext cx="27679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Conclusions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00785"/>
            <a:ext cx="7292340" cy="373948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Fault collapsing reduces size of fault</a:t>
            </a:r>
            <a:r>
              <a:rPr sz="2000" b="1" spc="-12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list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Speed up ATPG, Shorten test</a:t>
            </a:r>
            <a:r>
              <a:rPr sz="2000" b="1" spc="-8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length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DFC Rules: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  <a:tab pos="3024505" algn="l"/>
              </a:tabLst>
            </a:pPr>
            <a:r>
              <a:rPr sz="2000" b="1" dirty="0">
                <a:latin typeface="Arial"/>
                <a:cs typeface="Arial"/>
              </a:rPr>
              <a:t>(1) one fault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on</a:t>
            </a:r>
            <a:r>
              <a:rPr sz="2000" b="1" spc="1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PI	</a:t>
            </a:r>
            <a:r>
              <a:rPr sz="2000" b="1" dirty="0">
                <a:latin typeface="Arial"/>
                <a:cs typeface="Arial"/>
              </a:rPr>
              <a:t>(2) one fault on output of all-PI</a:t>
            </a:r>
            <a:r>
              <a:rPr sz="2000" b="1" spc="-17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gate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DFC </a:t>
            </a:r>
            <a:r>
              <a:rPr sz="2000" b="1" spc="-5" dirty="0">
                <a:latin typeface="Arial"/>
                <a:cs typeface="Arial"/>
              </a:rPr>
              <a:t>is </a:t>
            </a:r>
            <a:r>
              <a:rPr sz="2000" b="1" dirty="0">
                <a:latin typeface="Arial"/>
                <a:cs typeface="Arial"/>
              </a:rPr>
              <a:t>more </a:t>
            </a:r>
            <a:r>
              <a:rPr sz="2000" b="1" spc="-5" dirty="0">
                <a:latin typeface="Arial"/>
                <a:cs typeface="Arial"/>
              </a:rPr>
              <a:t>aggressive </a:t>
            </a:r>
            <a:r>
              <a:rPr lang="en-US" sz="2000" b="1" dirty="0">
                <a:latin typeface="Arial"/>
                <a:cs typeface="Arial"/>
              </a:rPr>
              <a:t>than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EFC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FC </a:t>
            </a:r>
            <a:r>
              <a:rPr lang="en-US" sz="2000" b="1" dirty="0">
                <a:latin typeface="Arial"/>
                <a:cs typeface="Arial"/>
              </a:rPr>
              <a:t>of DFC </a:t>
            </a:r>
            <a:r>
              <a:rPr sz="2000" b="1" dirty="0">
                <a:latin typeface="Arial"/>
                <a:cs typeface="Arial"/>
              </a:rPr>
              <a:t>is</a:t>
            </a:r>
            <a:r>
              <a:rPr lang="en-US" sz="2000" b="1" spc="-125" dirty="0"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pessimistic</a:t>
            </a:r>
            <a:endParaRPr sz="20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Clr>
                <a:srgbClr val="FF0000"/>
              </a:buClr>
              <a:buFont typeface="Arial"/>
              <a:buChar char="◆"/>
            </a:pPr>
            <a:endParaRPr sz="29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Checkpoint</a:t>
            </a:r>
            <a:r>
              <a:rPr sz="20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Theorem: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Detecting all checkpoint faults is good</a:t>
            </a:r>
            <a:r>
              <a:rPr sz="2000" b="1" spc="-1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enough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  <a:tab pos="3630929" algn="l"/>
              </a:tabLst>
            </a:pPr>
            <a:r>
              <a:rPr sz="2000" b="1" dirty="0">
                <a:latin typeface="Arial"/>
                <a:cs typeface="Arial"/>
              </a:rPr>
              <a:t>Checkpoints are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(1)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Arial"/>
                <a:cs typeface="Arial"/>
              </a:rPr>
              <a:t>PI</a:t>
            </a:r>
            <a:r>
              <a:rPr sz="2000" b="1" spc="-5" dirty="0">
                <a:latin typeface="Arial"/>
                <a:cs typeface="Arial"/>
              </a:rPr>
              <a:t>,	</a:t>
            </a:r>
            <a:r>
              <a:rPr sz="2000" b="1" dirty="0">
                <a:latin typeface="Arial"/>
                <a:cs typeface="Arial"/>
              </a:rPr>
              <a:t>(2)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fanout</a:t>
            </a:r>
            <a:r>
              <a:rPr sz="2000" b="1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branches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9423" y="6447452"/>
            <a:ext cx="576377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17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60852" y="164414"/>
            <a:ext cx="24923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61136"/>
            <a:ext cx="8378825" cy="940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[Breuer 76] M. A. Breuer and A. D. Friedman, Diagnosis &amp;</a:t>
            </a:r>
            <a:r>
              <a:rPr sz="2000" b="1" spc="-19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Reliable  Design of Digital </a:t>
            </a:r>
            <a:r>
              <a:rPr sz="2000" b="1" spc="-5" dirty="0">
                <a:latin typeface="Arial"/>
                <a:cs typeface="Arial"/>
              </a:rPr>
              <a:t>Systems. </a:t>
            </a:r>
            <a:r>
              <a:rPr sz="2000" b="1" dirty="0">
                <a:latin typeface="Arial"/>
                <a:cs typeface="Arial"/>
              </a:rPr>
              <a:t>Woodland Hills, CA: Computer Science  Press,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1976.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14427</TotalTime>
  <Words>1497</Words>
  <Application>Microsoft Macintosh PowerPoint</Application>
  <PresentationFormat>On-screen Show (4:3)</PresentationFormat>
  <Paragraphs>487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Arial-BoldItalicMT</vt:lpstr>
      <vt:lpstr>Calibri</vt:lpstr>
      <vt:lpstr>Cambria Math</vt:lpstr>
      <vt:lpstr>Helvetica</vt:lpstr>
      <vt:lpstr>HelveticaNeue-BoldItalic</vt:lpstr>
      <vt:lpstr>Times New Roman</vt:lpstr>
      <vt:lpstr>TimesNewRomanPS-BoldItalicMT</vt:lpstr>
      <vt:lpstr>Office Theme</vt:lpstr>
      <vt:lpstr>ECE 553: TESTING AND TESTABLE DESIGN OF DIGITAL SYSTEMS</vt:lpstr>
      <vt:lpstr>Fault Collapsing</vt:lpstr>
      <vt:lpstr>Fault Dominance</vt:lpstr>
      <vt:lpstr>Quiz</vt:lpstr>
      <vt:lpstr>Dominance Fault Collapsing, DFC</vt:lpstr>
      <vt:lpstr>DFC on Elementary Gates</vt:lpstr>
      <vt:lpstr>DFC on Fanout-free Circuits</vt:lpstr>
      <vt:lpstr>DFC Rules for Fanout-free Circuits</vt:lpstr>
      <vt:lpstr>Fault Collapsing</vt:lpstr>
      <vt:lpstr>Fanout Stem and Branches</vt:lpstr>
      <vt:lpstr>How to Handle Circuits w/ Fanouts?</vt:lpstr>
      <vt:lpstr>Fault Collapsing</vt:lpstr>
      <vt:lpstr>Checkpoint Theorem [Breuer 76]</vt:lpstr>
      <vt:lpstr>Fault Collapsing</vt:lpstr>
      <vt:lpstr>Example ATPG Report</vt:lpstr>
      <vt:lpstr>Conclusions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user</dc:creator>
  <cp:lastModifiedBy>Azadeh Davoodi</cp:lastModifiedBy>
  <cp:revision>147</cp:revision>
  <cp:lastPrinted>2025-02-11T15:27:23Z</cp:lastPrinted>
  <dcterms:created xsi:type="dcterms:W3CDTF">2022-09-06T16:52:28Z</dcterms:created>
  <dcterms:modified xsi:type="dcterms:W3CDTF">2026-09-29T13:41:54Z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2021-02-19T00:00:00Z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2022-09-06T00:00:00Z</vt:filetime>
  </property>
</Properties>
</file>