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73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339" r:id="rId12"/>
    <p:sldId id="269" r:id="rId13"/>
    <p:sldId id="256" r:id="rId14"/>
    <p:sldId id="274" r:id="rId15"/>
    <p:sldId id="275" r:id="rId16"/>
    <p:sldId id="276" r:id="rId17"/>
    <p:sldId id="277" r:id="rId18"/>
    <p:sldId id="340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8" r:id="rId29"/>
    <p:sldId id="272" r:id="rId30"/>
    <p:sldId id="290" r:id="rId31"/>
    <p:sldId id="341" r:id="rId32"/>
    <p:sldId id="293" r:id="rId33"/>
    <p:sldId id="292" r:id="rId34"/>
    <p:sldId id="342" r:id="rId35"/>
    <p:sldId id="343" r:id="rId36"/>
    <p:sldId id="297" r:id="rId37"/>
    <p:sldId id="298" r:id="rId38"/>
    <p:sldId id="299" r:id="rId39"/>
    <p:sldId id="346" r:id="rId40"/>
    <p:sldId id="344" r:id="rId41"/>
    <p:sldId id="294" r:id="rId42"/>
    <p:sldId id="301" r:id="rId43"/>
    <p:sldId id="338" r:id="rId4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4"/>
    <p:restoredTop sz="84838"/>
  </p:normalViewPr>
  <p:slideViewPr>
    <p:cSldViewPr>
      <p:cViewPr varScale="1">
        <p:scale>
          <a:sx n="99" d="100"/>
          <a:sy n="99" d="100"/>
        </p:scale>
        <p:origin x="64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598F4-86C6-5E48-B35B-F78CA1AF451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0F664-4FA5-AA46-AAED-78E587DD1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 coverage 11/ 18</a:t>
            </a:r>
          </a:p>
          <a:p>
            <a:r>
              <a:rPr lang="en-US" dirty="0"/>
              <a:t>Slow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09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Fault coverage 11/ 18</a:t>
            </a:r>
          </a:p>
          <a:p>
            <a:r>
              <a:rPr lang="en-US" dirty="0"/>
              <a:t>Slow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5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28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1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66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 is modified to inject two faults (A SA1 and J SA0) show in grey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53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18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98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A29D-B0B9-FA46-601D-3A36F133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029CD-BBC6-9495-1658-97FD5DA06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1AE70-A1F6-E7E8-75C1-9CF6A207F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52B96-FF72-E289-50CE-9D6992631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56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6C6D-99D3-D31C-1C3E-2B50CDA7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E9735-BEB9-A47A-9BC9-09983001C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FC87E-043F-2BE2-E925-66964823F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ED943-03B4-5CD6-D8D2-43B98C4C0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1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8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0C27-8E5A-CA29-9A35-9FA0855E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AA54F-142D-21E1-0104-CA80B29ED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23AB2-A083-9126-7C51-071FE4C30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8FD8-1669-3C31-6658-40D417AA3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64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a=0 b=0 in AND </a:t>
            </a:r>
            <a:r>
              <a:rPr lang="en-US" dirty="0">
                <a:sym typeface="Wingdings" pitchFamily="2" charset="2"/>
              </a:rPr>
              <a:t> output fault list includes all faults that set a=1 (La) AND b=1 (</a:t>
            </a:r>
            <a:r>
              <a:rPr lang="en-US" dirty="0" err="1">
                <a:sym typeface="Wingdings" pitchFamily="2" charset="2"/>
              </a:rPr>
              <a:t>Lb</a:t>
            </a:r>
            <a:r>
              <a:rPr lang="en-US" dirty="0">
                <a:sym typeface="Wingdings" pitchFamily="2" charset="2"/>
              </a:rPr>
              <a:t>) at the same time (so intersection) </a:t>
            </a:r>
            <a:endParaRPr lang="en-US" dirty="0"/>
          </a:p>
          <a:p>
            <a:r>
              <a:rPr lang="en-US" dirty="0"/>
              <a:t>Example: a=0 b=1 in AND gate</a:t>
            </a:r>
          </a:p>
          <a:p>
            <a:r>
              <a:rPr lang="en-US" dirty="0"/>
              <a:t>Output fault list includes all faults that set a=1 (La) which are not setting b=0 (-</a:t>
            </a:r>
            <a:r>
              <a:rPr lang="en-US" dirty="0" err="1"/>
              <a:t>Lb</a:t>
            </a:r>
            <a:r>
              <a:rPr lang="en-US" dirty="0"/>
              <a:t>) . </a:t>
            </a:r>
          </a:p>
          <a:p>
            <a:r>
              <a:rPr lang="en-US" dirty="0"/>
              <a:t>Example: a=1 b=1 </a:t>
            </a:r>
            <a:r>
              <a:rPr lang="en-US" dirty="0">
                <a:sym typeface="Wingdings" pitchFamily="2" charset="2"/>
              </a:rPr>
              <a:t> output fault list includes all faults that set a=0 (La) AND/OR b=0 (</a:t>
            </a:r>
            <a:r>
              <a:rPr lang="en-US" dirty="0" err="1">
                <a:sym typeface="Wingdings" pitchFamily="2" charset="2"/>
              </a:rPr>
              <a:t>Lb</a:t>
            </a:r>
            <a:r>
              <a:rPr lang="en-US" dirty="0">
                <a:sym typeface="Wingdings" pitchFamily="2" charset="2"/>
              </a:rPr>
              <a:t>) (so union)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0F664-4FA5-AA46-AAED-78E587DD160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4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5.1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5.1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5.1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5.1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5.1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6446" y="164414"/>
            <a:ext cx="99110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33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94070" y="6560329"/>
            <a:ext cx="313245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B1B1B1"/>
                </a:solidFill>
                <a:latin typeface="Helvetica"/>
                <a:cs typeface="Helvetica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VLSI </a:t>
            </a:r>
            <a:r>
              <a:rPr spc="-25" dirty="0"/>
              <a:t>Test </a:t>
            </a:r>
            <a:r>
              <a:rPr dirty="0"/>
              <a:t>5.1 </a:t>
            </a:r>
            <a:r>
              <a:rPr spc="-285" dirty="0"/>
              <a:t>© </a:t>
            </a:r>
            <a:r>
              <a:rPr dirty="0"/>
              <a:t>National </a:t>
            </a:r>
            <a:r>
              <a:rPr spc="-15" dirty="0"/>
              <a:t>Taiwan</a:t>
            </a:r>
            <a:r>
              <a:rPr spc="-6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1538681"/>
            <a:ext cx="6491350" cy="16671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ts val="4305"/>
              </a:lnSpc>
              <a:spcBef>
                <a:spcPts val="100"/>
              </a:spcBef>
            </a:pPr>
            <a:r>
              <a:rPr lang="en-US" altLang="en-US" sz="3600" i="0" dirty="0">
                <a:solidFill>
                  <a:srgbClr val="00B050"/>
                </a:solidFill>
                <a:latin typeface="Arial"/>
                <a:cs typeface="Arial"/>
              </a:rPr>
              <a:t>ECE 553: TESTING AND TESTABLE DESIGN OF DIGITAL SYSTEMS</a:t>
            </a:r>
            <a:endParaRPr sz="3600" i="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04849" y="3419602"/>
            <a:ext cx="67343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149225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i="1" spc="-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Fault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574" y="637103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0079" y="164414"/>
            <a:ext cx="69348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0665" algn="l"/>
              </a:tabLst>
            </a:pPr>
            <a:r>
              <a:rPr dirty="0"/>
              <a:t>Course</a:t>
            </a:r>
            <a:r>
              <a:rPr spc="10" dirty="0"/>
              <a:t> </a:t>
            </a:r>
            <a:r>
              <a:rPr spc="-5" dirty="0"/>
              <a:t>Roadmap	</a:t>
            </a:r>
            <a:r>
              <a:rPr dirty="0"/>
              <a:t>(EDA</a:t>
            </a:r>
            <a:r>
              <a:rPr spc="-60" dirty="0"/>
              <a:t> </a:t>
            </a:r>
            <a:r>
              <a:rPr spc="-5" dirty="0"/>
              <a:t>Topics)</a:t>
            </a:r>
          </a:p>
        </p:txBody>
      </p:sp>
      <p:sp>
        <p:nvSpPr>
          <p:cNvPr id="5" name="object 5"/>
          <p:cNvSpPr/>
          <p:nvPr/>
        </p:nvSpPr>
        <p:spPr>
          <a:xfrm>
            <a:off x="2921507" y="952500"/>
            <a:ext cx="3403600" cy="579120"/>
          </a:xfrm>
          <a:custGeom>
            <a:avLst/>
            <a:gdLst/>
            <a:ahLst/>
            <a:cxnLst/>
            <a:rect l="l" t="t" r="r" b="b"/>
            <a:pathLst>
              <a:path w="3403600" h="579119">
                <a:moveTo>
                  <a:pt x="3306572" y="0"/>
                </a:moveTo>
                <a:lnTo>
                  <a:pt x="96519" y="0"/>
                </a:lnTo>
                <a:lnTo>
                  <a:pt x="58935" y="7580"/>
                </a:lnTo>
                <a:lnTo>
                  <a:pt x="28257" y="28257"/>
                </a:lnTo>
                <a:lnTo>
                  <a:pt x="7580" y="58935"/>
                </a:lnTo>
                <a:lnTo>
                  <a:pt x="0" y="96520"/>
                </a:lnTo>
                <a:lnTo>
                  <a:pt x="0" y="482600"/>
                </a:lnTo>
                <a:lnTo>
                  <a:pt x="7580" y="520184"/>
                </a:lnTo>
                <a:lnTo>
                  <a:pt x="28257" y="550862"/>
                </a:lnTo>
                <a:lnTo>
                  <a:pt x="58935" y="571539"/>
                </a:lnTo>
                <a:lnTo>
                  <a:pt x="96519" y="579120"/>
                </a:lnTo>
                <a:lnTo>
                  <a:pt x="3306572" y="579120"/>
                </a:lnTo>
                <a:lnTo>
                  <a:pt x="3344156" y="571539"/>
                </a:lnTo>
                <a:lnTo>
                  <a:pt x="3374834" y="550862"/>
                </a:lnTo>
                <a:lnTo>
                  <a:pt x="3395511" y="520184"/>
                </a:lnTo>
                <a:lnTo>
                  <a:pt x="3403092" y="482600"/>
                </a:lnTo>
                <a:lnTo>
                  <a:pt x="3403092" y="96520"/>
                </a:lnTo>
                <a:lnTo>
                  <a:pt x="3395511" y="58935"/>
                </a:lnTo>
                <a:lnTo>
                  <a:pt x="3374834" y="28257"/>
                </a:lnTo>
                <a:lnTo>
                  <a:pt x="3344156" y="7580"/>
                </a:lnTo>
                <a:lnTo>
                  <a:pt x="3306572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3191" y="167640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3"/>
                </a:moveTo>
                <a:lnTo>
                  <a:pt x="0" y="260603"/>
                </a:lnTo>
                <a:lnTo>
                  <a:pt x="425958" y="521208"/>
                </a:lnTo>
                <a:lnTo>
                  <a:pt x="851916" y="260603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3"/>
                </a:lnTo>
                <a:lnTo>
                  <a:pt x="638937" y="260603"/>
                </a:lnTo>
                <a:lnTo>
                  <a:pt x="638937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19627" y="2273807"/>
            <a:ext cx="3007360" cy="579120"/>
          </a:xfrm>
          <a:custGeom>
            <a:avLst/>
            <a:gdLst/>
            <a:ahLst/>
            <a:cxnLst/>
            <a:rect l="l" t="t" r="r" b="b"/>
            <a:pathLst>
              <a:path w="3007360" h="579119">
                <a:moveTo>
                  <a:pt x="2910332" y="0"/>
                </a:moveTo>
                <a:lnTo>
                  <a:pt x="96520" y="0"/>
                </a:lnTo>
                <a:lnTo>
                  <a:pt x="58935" y="7580"/>
                </a:lnTo>
                <a:lnTo>
                  <a:pt x="28257" y="28257"/>
                </a:lnTo>
                <a:lnTo>
                  <a:pt x="7580" y="58935"/>
                </a:lnTo>
                <a:lnTo>
                  <a:pt x="0" y="96519"/>
                </a:lnTo>
                <a:lnTo>
                  <a:pt x="0" y="482600"/>
                </a:lnTo>
                <a:lnTo>
                  <a:pt x="7580" y="520184"/>
                </a:lnTo>
                <a:lnTo>
                  <a:pt x="28257" y="550862"/>
                </a:lnTo>
                <a:lnTo>
                  <a:pt x="58935" y="571539"/>
                </a:lnTo>
                <a:lnTo>
                  <a:pt x="96520" y="579119"/>
                </a:lnTo>
                <a:lnTo>
                  <a:pt x="2910332" y="579119"/>
                </a:lnTo>
                <a:lnTo>
                  <a:pt x="2947916" y="571539"/>
                </a:lnTo>
                <a:lnTo>
                  <a:pt x="2978594" y="550862"/>
                </a:lnTo>
                <a:lnTo>
                  <a:pt x="2999271" y="520184"/>
                </a:lnTo>
                <a:lnTo>
                  <a:pt x="3006852" y="482600"/>
                </a:lnTo>
                <a:lnTo>
                  <a:pt x="3006852" y="96519"/>
                </a:lnTo>
                <a:lnTo>
                  <a:pt x="2999271" y="58935"/>
                </a:lnTo>
                <a:lnTo>
                  <a:pt x="2978594" y="28257"/>
                </a:lnTo>
                <a:lnTo>
                  <a:pt x="2947916" y="7580"/>
                </a:lnTo>
                <a:lnTo>
                  <a:pt x="2910332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28594" y="2326004"/>
            <a:ext cx="2790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2800" b="1" spc="-3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Simulation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41291" y="2997707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1507" y="3619500"/>
            <a:ext cx="3403600" cy="579120"/>
          </a:xfrm>
          <a:custGeom>
            <a:avLst/>
            <a:gdLst/>
            <a:ahLst/>
            <a:cxnLst/>
            <a:rect l="l" t="t" r="r" b="b"/>
            <a:pathLst>
              <a:path w="3403600" h="579120">
                <a:moveTo>
                  <a:pt x="3306572" y="0"/>
                </a:moveTo>
                <a:lnTo>
                  <a:pt x="96519" y="0"/>
                </a:lnTo>
                <a:lnTo>
                  <a:pt x="58935" y="7580"/>
                </a:lnTo>
                <a:lnTo>
                  <a:pt x="28257" y="28257"/>
                </a:lnTo>
                <a:lnTo>
                  <a:pt x="7580" y="58935"/>
                </a:lnTo>
                <a:lnTo>
                  <a:pt x="0" y="96519"/>
                </a:lnTo>
                <a:lnTo>
                  <a:pt x="0" y="482600"/>
                </a:lnTo>
                <a:lnTo>
                  <a:pt x="7580" y="520184"/>
                </a:lnTo>
                <a:lnTo>
                  <a:pt x="28257" y="550862"/>
                </a:lnTo>
                <a:lnTo>
                  <a:pt x="58935" y="571539"/>
                </a:lnTo>
                <a:lnTo>
                  <a:pt x="96519" y="579119"/>
                </a:lnTo>
                <a:lnTo>
                  <a:pt x="3306572" y="579119"/>
                </a:lnTo>
                <a:lnTo>
                  <a:pt x="3344156" y="571539"/>
                </a:lnTo>
                <a:lnTo>
                  <a:pt x="3374834" y="550862"/>
                </a:lnTo>
                <a:lnTo>
                  <a:pt x="3395511" y="520184"/>
                </a:lnTo>
                <a:lnTo>
                  <a:pt x="3403092" y="482600"/>
                </a:lnTo>
                <a:lnTo>
                  <a:pt x="3403092" y="96519"/>
                </a:lnTo>
                <a:lnTo>
                  <a:pt x="3395511" y="58935"/>
                </a:lnTo>
                <a:lnTo>
                  <a:pt x="3374834" y="28257"/>
                </a:lnTo>
                <a:lnTo>
                  <a:pt x="3344156" y="7580"/>
                </a:lnTo>
                <a:lnTo>
                  <a:pt x="330657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34917" y="3672585"/>
            <a:ext cx="2176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Comb.</a:t>
            </a:r>
            <a:r>
              <a:rPr sz="2800" b="1" spc="-16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28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79391" y="4343400"/>
            <a:ext cx="852169" cy="521334"/>
          </a:xfrm>
          <a:custGeom>
            <a:avLst/>
            <a:gdLst/>
            <a:ahLst/>
            <a:cxnLst/>
            <a:rect l="l" t="t" r="r" b="b"/>
            <a:pathLst>
              <a:path w="852170" h="521335">
                <a:moveTo>
                  <a:pt x="851916" y="260604"/>
                </a:moveTo>
                <a:lnTo>
                  <a:pt x="0" y="260604"/>
                </a:lnTo>
                <a:lnTo>
                  <a:pt x="425958" y="521207"/>
                </a:lnTo>
                <a:lnTo>
                  <a:pt x="851916" y="260604"/>
                </a:lnTo>
                <a:close/>
              </a:path>
              <a:path w="852170" h="521335">
                <a:moveTo>
                  <a:pt x="638937" y="0"/>
                </a:moveTo>
                <a:lnTo>
                  <a:pt x="212979" y="0"/>
                </a:lnTo>
                <a:lnTo>
                  <a:pt x="212979" y="260604"/>
                </a:lnTo>
                <a:lnTo>
                  <a:pt x="638937" y="260604"/>
                </a:lnTo>
                <a:lnTo>
                  <a:pt x="63893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21507" y="4940808"/>
            <a:ext cx="3403600" cy="579120"/>
          </a:xfrm>
          <a:custGeom>
            <a:avLst/>
            <a:gdLst/>
            <a:ahLst/>
            <a:cxnLst/>
            <a:rect l="l" t="t" r="r" b="b"/>
            <a:pathLst>
              <a:path w="3403600" h="579120">
                <a:moveTo>
                  <a:pt x="3306572" y="0"/>
                </a:moveTo>
                <a:lnTo>
                  <a:pt x="96519" y="0"/>
                </a:lnTo>
                <a:lnTo>
                  <a:pt x="58935" y="7580"/>
                </a:lnTo>
                <a:lnTo>
                  <a:pt x="28257" y="28257"/>
                </a:lnTo>
                <a:lnTo>
                  <a:pt x="7580" y="58935"/>
                </a:lnTo>
                <a:lnTo>
                  <a:pt x="0" y="96520"/>
                </a:lnTo>
                <a:lnTo>
                  <a:pt x="0" y="482600"/>
                </a:lnTo>
                <a:lnTo>
                  <a:pt x="7580" y="520184"/>
                </a:lnTo>
                <a:lnTo>
                  <a:pt x="28257" y="550862"/>
                </a:lnTo>
                <a:lnTo>
                  <a:pt x="58935" y="571539"/>
                </a:lnTo>
                <a:lnTo>
                  <a:pt x="96519" y="579120"/>
                </a:lnTo>
                <a:lnTo>
                  <a:pt x="3306572" y="579120"/>
                </a:lnTo>
                <a:lnTo>
                  <a:pt x="3344156" y="571539"/>
                </a:lnTo>
                <a:lnTo>
                  <a:pt x="3374834" y="550862"/>
                </a:lnTo>
                <a:lnTo>
                  <a:pt x="3395511" y="520184"/>
                </a:lnTo>
                <a:lnTo>
                  <a:pt x="3403092" y="482600"/>
                </a:lnTo>
                <a:lnTo>
                  <a:pt x="3403092" y="96520"/>
                </a:lnTo>
                <a:lnTo>
                  <a:pt x="3395511" y="58935"/>
                </a:lnTo>
                <a:lnTo>
                  <a:pt x="3374834" y="28257"/>
                </a:lnTo>
                <a:lnTo>
                  <a:pt x="3344156" y="7580"/>
                </a:lnTo>
                <a:lnTo>
                  <a:pt x="330657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713226" y="4993335"/>
            <a:ext cx="18218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Seq.</a:t>
            </a:r>
            <a:r>
              <a:rPr sz="2800" b="1" spc="-170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2800" b="1" spc="-60" dirty="0">
                <a:solidFill>
                  <a:srgbClr val="FFFFFF"/>
                </a:solidFill>
                <a:latin typeface="Helvetica"/>
                <a:cs typeface="Helvetica"/>
              </a:rPr>
              <a:t>ATPG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17491" y="5664708"/>
            <a:ext cx="852169" cy="520065"/>
          </a:xfrm>
          <a:custGeom>
            <a:avLst/>
            <a:gdLst/>
            <a:ahLst/>
            <a:cxnLst/>
            <a:rect l="l" t="t" r="r" b="b"/>
            <a:pathLst>
              <a:path w="852170" h="520064">
                <a:moveTo>
                  <a:pt x="851916" y="259841"/>
                </a:moveTo>
                <a:lnTo>
                  <a:pt x="0" y="259841"/>
                </a:lnTo>
                <a:lnTo>
                  <a:pt x="425958" y="519683"/>
                </a:lnTo>
                <a:lnTo>
                  <a:pt x="851916" y="259841"/>
                </a:lnTo>
                <a:close/>
              </a:path>
              <a:path w="852170" h="520064">
                <a:moveTo>
                  <a:pt x="638937" y="0"/>
                </a:moveTo>
                <a:lnTo>
                  <a:pt x="212979" y="0"/>
                </a:lnTo>
                <a:lnTo>
                  <a:pt x="212979" y="259841"/>
                </a:lnTo>
                <a:lnTo>
                  <a:pt x="638937" y="259841"/>
                </a:lnTo>
                <a:lnTo>
                  <a:pt x="638937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21507" y="6222491"/>
            <a:ext cx="3403600" cy="581025"/>
          </a:xfrm>
          <a:custGeom>
            <a:avLst/>
            <a:gdLst/>
            <a:ahLst/>
            <a:cxnLst/>
            <a:rect l="l" t="t" r="r" b="b"/>
            <a:pathLst>
              <a:path w="3403600" h="581025">
                <a:moveTo>
                  <a:pt x="3306318" y="0"/>
                </a:moveTo>
                <a:lnTo>
                  <a:pt x="96774" y="0"/>
                </a:lnTo>
                <a:lnTo>
                  <a:pt x="59096" y="7605"/>
                </a:lnTo>
                <a:lnTo>
                  <a:pt x="28336" y="28346"/>
                </a:lnTo>
                <a:lnTo>
                  <a:pt x="7602" y="59107"/>
                </a:lnTo>
                <a:lnTo>
                  <a:pt x="0" y="96774"/>
                </a:lnTo>
                <a:lnTo>
                  <a:pt x="0" y="483870"/>
                </a:lnTo>
                <a:lnTo>
                  <a:pt x="7602" y="521538"/>
                </a:lnTo>
                <a:lnTo>
                  <a:pt x="28336" y="552298"/>
                </a:lnTo>
                <a:lnTo>
                  <a:pt x="59096" y="573037"/>
                </a:lnTo>
                <a:lnTo>
                  <a:pt x="96774" y="580642"/>
                </a:lnTo>
                <a:lnTo>
                  <a:pt x="3306318" y="580642"/>
                </a:lnTo>
                <a:lnTo>
                  <a:pt x="3343995" y="573037"/>
                </a:lnTo>
                <a:lnTo>
                  <a:pt x="3374755" y="552298"/>
                </a:lnTo>
                <a:lnTo>
                  <a:pt x="3395489" y="521538"/>
                </a:lnTo>
                <a:lnTo>
                  <a:pt x="3403092" y="483870"/>
                </a:lnTo>
                <a:lnTo>
                  <a:pt x="3403092" y="96774"/>
                </a:lnTo>
                <a:lnTo>
                  <a:pt x="3395489" y="59107"/>
                </a:lnTo>
                <a:lnTo>
                  <a:pt x="3374755" y="28346"/>
                </a:lnTo>
                <a:lnTo>
                  <a:pt x="3343995" y="7605"/>
                </a:lnTo>
                <a:lnTo>
                  <a:pt x="330631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33038" y="6276847"/>
            <a:ext cx="1779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Delay</a:t>
            </a:r>
            <a:r>
              <a:rPr sz="2800" b="1" spc="-55" dirty="0">
                <a:solidFill>
                  <a:srgbClr val="FFFFFF"/>
                </a:solidFill>
                <a:latin typeface="Helvetica"/>
                <a:cs typeface="Helvetica"/>
              </a:rPr>
              <a:t> Test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68440" y="2286000"/>
            <a:ext cx="2296795" cy="579120"/>
          </a:xfrm>
          <a:custGeom>
            <a:avLst/>
            <a:gdLst/>
            <a:ahLst/>
            <a:cxnLst/>
            <a:rect l="l" t="t" r="r" b="b"/>
            <a:pathLst>
              <a:path w="2296795" h="579119">
                <a:moveTo>
                  <a:pt x="2200148" y="0"/>
                </a:moveTo>
                <a:lnTo>
                  <a:pt x="96519" y="0"/>
                </a:lnTo>
                <a:lnTo>
                  <a:pt x="58935" y="7580"/>
                </a:lnTo>
                <a:lnTo>
                  <a:pt x="28257" y="28257"/>
                </a:lnTo>
                <a:lnTo>
                  <a:pt x="7580" y="58935"/>
                </a:lnTo>
                <a:lnTo>
                  <a:pt x="0" y="96520"/>
                </a:lnTo>
                <a:lnTo>
                  <a:pt x="0" y="482600"/>
                </a:lnTo>
                <a:lnTo>
                  <a:pt x="7580" y="520184"/>
                </a:lnTo>
                <a:lnTo>
                  <a:pt x="28257" y="550862"/>
                </a:lnTo>
                <a:lnTo>
                  <a:pt x="58935" y="571539"/>
                </a:lnTo>
                <a:lnTo>
                  <a:pt x="96519" y="579120"/>
                </a:lnTo>
                <a:lnTo>
                  <a:pt x="2200148" y="579120"/>
                </a:lnTo>
                <a:lnTo>
                  <a:pt x="2237732" y="571539"/>
                </a:lnTo>
                <a:lnTo>
                  <a:pt x="2268410" y="550862"/>
                </a:lnTo>
                <a:lnTo>
                  <a:pt x="2289087" y="520184"/>
                </a:lnTo>
                <a:lnTo>
                  <a:pt x="2296667" y="482600"/>
                </a:lnTo>
                <a:lnTo>
                  <a:pt x="2296667" y="96520"/>
                </a:lnTo>
                <a:lnTo>
                  <a:pt x="2289087" y="58935"/>
                </a:lnTo>
                <a:lnTo>
                  <a:pt x="2268410" y="28257"/>
                </a:lnTo>
                <a:lnTo>
                  <a:pt x="2237732" y="7580"/>
                </a:lnTo>
                <a:lnTo>
                  <a:pt x="22001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40473" y="2338831"/>
            <a:ext cx="17583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15" dirty="0">
                <a:solidFill>
                  <a:srgbClr val="FFFFFF"/>
                </a:solidFill>
                <a:latin typeface="Helvetica"/>
                <a:cs typeface="Helvetica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e</a:t>
            </a:r>
            <a:r>
              <a:rPr sz="2800" b="1" dirty="0">
                <a:solidFill>
                  <a:srgbClr val="FFFFFF"/>
                </a:solidFill>
                <a:latin typeface="Helvetica"/>
                <a:cs typeface="Helvetica"/>
              </a:rPr>
              <a:t>s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t</a:t>
            </a:r>
            <a:r>
              <a:rPr sz="2800" b="1" dirty="0">
                <a:solidFill>
                  <a:srgbClr val="FFFFFF"/>
                </a:solidFill>
                <a:latin typeface="Helvetica"/>
                <a:cs typeface="Helvetica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bili</a:t>
            </a:r>
            <a:r>
              <a:rPr sz="2800" b="1" dirty="0">
                <a:solidFill>
                  <a:srgbClr val="FFFFFF"/>
                </a:solidFill>
                <a:latin typeface="Helvetica"/>
                <a:cs typeface="Helvetica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y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4904" y="964691"/>
            <a:ext cx="2342515" cy="581025"/>
          </a:xfrm>
          <a:custGeom>
            <a:avLst/>
            <a:gdLst/>
            <a:ahLst/>
            <a:cxnLst/>
            <a:rect l="l" t="t" r="r" b="b"/>
            <a:pathLst>
              <a:path w="2342515" h="581025">
                <a:moveTo>
                  <a:pt x="2245614" y="0"/>
                </a:moveTo>
                <a:lnTo>
                  <a:pt x="96774" y="0"/>
                </a:lnTo>
                <a:lnTo>
                  <a:pt x="59107" y="7602"/>
                </a:lnTo>
                <a:lnTo>
                  <a:pt x="28346" y="28336"/>
                </a:lnTo>
                <a:lnTo>
                  <a:pt x="7605" y="59096"/>
                </a:lnTo>
                <a:lnTo>
                  <a:pt x="0" y="96774"/>
                </a:lnTo>
                <a:lnTo>
                  <a:pt x="0" y="483870"/>
                </a:lnTo>
                <a:lnTo>
                  <a:pt x="7605" y="521547"/>
                </a:lnTo>
                <a:lnTo>
                  <a:pt x="28346" y="552307"/>
                </a:lnTo>
                <a:lnTo>
                  <a:pt x="59107" y="573041"/>
                </a:lnTo>
                <a:lnTo>
                  <a:pt x="96774" y="580644"/>
                </a:lnTo>
                <a:lnTo>
                  <a:pt x="2245614" y="580644"/>
                </a:lnTo>
                <a:lnTo>
                  <a:pt x="2283291" y="573041"/>
                </a:lnTo>
                <a:lnTo>
                  <a:pt x="2314051" y="552307"/>
                </a:lnTo>
                <a:lnTo>
                  <a:pt x="2334785" y="521547"/>
                </a:lnTo>
                <a:lnTo>
                  <a:pt x="2342388" y="483870"/>
                </a:lnTo>
                <a:lnTo>
                  <a:pt x="2342388" y="96774"/>
                </a:lnTo>
                <a:lnTo>
                  <a:pt x="2334785" y="59096"/>
                </a:lnTo>
                <a:lnTo>
                  <a:pt x="2314051" y="28336"/>
                </a:lnTo>
                <a:lnTo>
                  <a:pt x="2283291" y="7602"/>
                </a:lnTo>
                <a:lnTo>
                  <a:pt x="2245614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4390" y="1005078"/>
            <a:ext cx="5255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4310" algn="l"/>
              </a:tabLst>
            </a:pPr>
            <a:r>
              <a:rPr sz="4200" b="1" spc="-7" baseline="-1984" dirty="0">
                <a:solidFill>
                  <a:srgbClr val="FFFFFF"/>
                </a:solidFill>
                <a:latin typeface="Helvetica"/>
                <a:cs typeface="Helvetica"/>
              </a:rPr>
              <a:t>Logic</a:t>
            </a:r>
            <a:r>
              <a:rPr sz="4200" b="1" spc="22" baseline="-1984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4200" b="1" spc="-7" baseline="-1984" dirty="0">
                <a:solidFill>
                  <a:srgbClr val="FFFFFF"/>
                </a:solidFill>
                <a:latin typeface="Helvetica"/>
                <a:cs typeface="Helvetica"/>
              </a:rPr>
              <a:t>Sim.	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Fault</a:t>
            </a:r>
            <a:r>
              <a:rPr sz="2800" b="1" spc="-45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Modeling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3055" y="1657985"/>
            <a:ext cx="678815" cy="593090"/>
          </a:xfrm>
          <a:custGeom>
            <a:avLst/>
            <a:gdLst/>
            <a:ahLst/>
            <a:cxnLst/>
            <a:rect l="l" t="t" r="r" b="b"/>
            <a:pathLst>
              <a:path w="678814" h="593089">
                <a:moveTo>
                  <a:pt x="351917" y="0"/>
                </a:moveTo>
                <a:lnTo>
                  <a:pt x="12573" y="256666"/>
                </a:lnTo>
                <a:lnTo>
                  <a:pt x="169671" y="464185"/>
                </a:lnTo>
                <a:lnTo>
                  <a:pt x="0" y="592581"/>
                </a:lnTo>
                <a:lnTo>
                  <a:pt x="496443" y="543560"/>
                </a:lnTo>
                <a:lnTo>
                  <a:pt x="628291" y="207644"/>
                </a:lnTo>
                <a:lnTo>
                  <a:pt x="509016" y="207644"/>
                </a:lnTo>
                <a:lnTo>
                  <a:pt x="351917" y="0"/>
                </a:lnTo>
                <a:close/>
              </a:path>
              <a:path w="678814" h="593089">
                <a:moveTo>
                  <a:pt x="678688" y="79248"/>
                </a:moveTo>
                <a:lnTo>
                  <a:pt x="509016" y="207644"/>
                </a:lnTo>
                <a:lnTo>
                  <a:pt x="628291" y="207644"/>
                </a:lnTo>
                <a:lnTo>
                  <a:pt x="678688" y="79248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46291" y="299605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5" h="558164">
                <a:moveTo>
                  <a:pt x="0" y="122046"/>
                </a:moveTo>
                <a:lnTo>
                  <a:pt x="242316" y="558038"/>
                </a:lnTo>
                <a:lnTo>
                  <a:pt x="740790" y="540638"/>
                </a:lnTo>
                <a:lnTo>
                  <a:pt x="555625" y="435990"/>
                </a:lnTo>
                <a:lnTo>
                  <a:pt x="673815" y="226694"/>
                </a:lnTo>
                <a:lnTo>
                  <a:pt x="185166" y="226694"/>
                </a:lnTo>
                <a:lnTo>
                  <a:pt x="0" y="122046"/>
                </a:lnTo>
                <a:close/>
              </a:path>
              <a:path w="741045" h="558164">
                <a:moveTo>
                  <a:pt x="313309" y="0"/>
                </a:moveTo>
                <a:lnTo>
                  <a:pt x="185166" y="226694"/>
                </a:lnTo>
                <a:lnTo>
                  <a:pt x="673815" y="226694"/>
                </a:lnTo>
                <a:lnTo>
                  <a:pt x="683640" y="209295"/>
                </a:lnTo>
                <a:lnTo>
                  <a:pt x="31330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2148" y="4940808"/>
            <a:ext cx="2295525" cy="579120"/>
          </a:xfrm>
          <a:custGeom>
            <a:avLst/>
            <a:gdLst/>
            <a:ahLst/>
            <a:cxnLst/>
            <a:rect l="l" t="t" r="r" b="b"/>
            <a:pathLst>
              <a:path w="2295525" h="579120">
                <a:moveTo>
                  <a:pt x="2198624" y="0"/>
                </a:moveTo>
                <a:lnTo>
                  <a:pt x="96520" y="0"/>
                </a:lnTo>
                <a:lnTo>
                  <a:pt x="58952" y="7580"/>
                </a:lnTo>
                <a:lnTo>
                  <a:pt x="28271" y="28257"/>
                </a:lnTo>
                <a:lnTo>
                  <a:pt x="7585" y="58935"/>
                </a:lnTo>
                <a:lnTo>
                  <a:pt x="0" y="96520"/>
                </a:lnTo>
                <a:lnTo>
                  <a:pt x="0" y="482600"/>
                </a:lnTo>
                <a:lnTo>
                  <a:pt x="7585" y="520184"/>
                </a:lnTo>
                <a:lnTo>
                  <a:pt x="28271" y="550862"/>
                </a:lnTo>
                <a:lnTo>
                  <a:pt x="58952" y="571539"/>
                </a:lnTo>
                <a:lnTo>
                  <a:pt x="96520" y="579120"/>
                </a:lnTo>
                <a:lnTo>
                  <a:pt x="2198624" y="579120"/>
                </a:lnTo>
                <a:lnTo>
                  <a:pt x="2236208" y="571539"/>
                </a:lnTo>
                <a:lnTo>
                  <a:pt x="2266886" y="550862"/>
                </a:lnTo>
                <a:lnTo>
                  <a:pt x="2287563" y="520184"/>
                </a:lnTo>
                <a:lnTo>
                  <a:pt x="2295144" y="482600"/>
                </a:lnTo>
                <a:lnTo>
                  <a:pt x="2295144" y="96520"/>
                </a:lnTo>
                <a:lnTo>
                  <a:pt x="2287563" y="58935"/>
                </a:lnTo>
                <a:lnTo>
                  <a:pt x="2266886" y="28257"/>
                </a:lnTo>
                <a:lnTo>
                  <a:pt x="2236208" y="7580"/>
                </a:lnTo>
                <a:lnTo>
                  <a:pt x="219862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07847" y="4993335"/>
            <a:ext cx="1722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Diag</a:t>
            </a:r>
            <a:r>
              <a:rPr sz="2800" b="1" spc="-20" dirty="0">
                <a:solidFill>
                  <a:srgbClr val="FFFFFF"/>
                </a:solidFill>
                <a:latin typeface="Helvetica"/>
                <a:cs typeface="Helvetica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Helvetica"/>
                <a:cs typeface="Helvetica"/>
              </a:rPr>
              <a:t>osis</a:t>
            </a:r>
            <a:endParaRPr sz="2800">
              <a:latin typeface="Helvetica"/>
              <a:cs typeface="Helvetic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47341" y="4272407"/>
            <a:ext cx="741045" cy="558165"/>
          </a:xfrm>
          <a:custGeom>
            <a:avLst/>
            <a:gdLst/>
            <a:ahLst/>
            <a:cxnLst/>
            <a:rect l="l" t="t" r="r" b="b"/>
            <a:pathLst>
              <a:path w="741044" h="558164">
                <a:moveTo>
                  <a:pt x="0" y="122047"/>
                </a:moveTo>
                <a:lnTo>
                  <a:pt x="242442" y="558038"/>
                </a:lnTo>
                <a:lnTo>
                  <a:pt x="740917" y="540639"/>
                </a:lnTo>
                <a:lnTo>
                  <a:pt x="555625" y="435991"/>
                </a:lnTo>
                <a:lnTo>
                  <a:pt x="673932" y="226695"/>
                </a:lnTo>
                <a:lnTo>
                  <a:pt x="185292" y="226695"/>
                </a:lnTo>
                <a:lnTo>
                  <a:pt x="0" y="122047"/>
                </a:lnTo>
                <a:close/>
              </a:path>
              <a:path w="741044" h="558164">
                <a:moveTo>
                  <a:pt x="313308" y="0"/>
                </a:moveTo>
                <a:lnTo>
                  <a:pt x="185292" y="226695"/>
                </a:lnTo>
                <a:lnTo>
                  <a:pt x="673932" y="226695"/>
                </a:lnTo>
                <a:lnTo>
                  <a:pt x="683767" y="209296"/>
                </a:lnTo>
                <a:lnTo>
                  <a:pt x="31330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3883" y="164414"/>
            <a:ext cx="4267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Motivating</a:t>
            </a:r>
            <a:r>
              <a:rPr spc="-100" dirty="0"/>
              <a:t> </a:t>
            </a:r>
            <a:r>
              <a:rPr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525" y="862075"/>
            <a:ext cx="6271260" cy="7296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0"/>
              </a:spcBef>
              <a:buClr>
                <a:srgbClr val="FF0000"/>
              </a:buClr>
              <a:buSzPct val="119444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1800" b="1" spc="-10" dirty="0">
                <a:latin typeface="Arial"/>
                <a:cs typeface="Arial"/>
              </a:rPr>
              <a:t>Apply </a:t>
            </a:r>
            <a:r>
              <a:rPr sz="1800" b="1" spc="-5" dirty="0">
                <a:latin typeface="Arial"/>
                <a:cs typeface="Arial"/>
              </a:rPr>
              <a:t>3 test patterns: </a:t>
            </a:r>
            <a:r>
              <a:rPr sz="1800" b="1" i="1" spc="-5" dirty="0">
                <a:latin typeface="Arial-BoldItalicMT"/>
                <a:cs typeface="Arial-BoldItalicMT"/>
              </a:rPr>
              <a:t>P</a:t>
            </a:r>
            <a:r>
              <a:rPr sz="1800" b="1" i="1" spc="-7" baseline="-20833" dirty="0">
                <a:latin typeface="Arial-BoldItalicMT"/>
                <a:cs typeface="Arial-BoldItalicMT"/>
              </a:rPr>
              <a:t>1</a:t>
            </a:r>
            <a:r>
              <a:rPr sz="1800" b="1" i="1" spc="-5" dirty="0">
                <a:latin typeface="Arial-BoldItalicMT"/>
                <a:cs typeface="Arial-BoldItalicMT"/>
              </a:rPr>
              <a:t>, P</a:t>
            </a:r>
            <a:r>
              <a:rPr sz="1800" b="1" i="1" spc="-7" baseline="-20833" dirty="0">
                <a:latin typeface="Arial-BoldItalicMT"/>
                <a:cs typeface="Arial-BoldItalicMT"/>
              </a:rPr>
              <a:t>2</a:t>
            </a:r>
            <a:r>
              <a:rPr sz="1800" b="1" i="1" spc="-5" dirty="0">
                <a:latin typeface="Arial-BoldItalicMT"/>
                <a:cs typeface="Arial-BoldItalicMT"/>
              </a:rPr>
              <a:t>, P</a:t>
            </a:r>
            <a:r>
              <a:rPr sz="1800" b="1" i="1" spc="-7" baseline="-20833" dirty="0">
                <a:latin typeface="Arial-BoldItalicMT"/>
                <a:cs typeface="Arial-BoldItalicMT"/>
              </a:rPr>
              <a:t>3</a:t>
            </a:r>
            <a:r>
              <a:rPr sz="1800" b="1" spc="-5" dirty="0">
                <a:latin typeface="Arial"/>
                <a:cs typeface="Arial"/>
              </a:rPr>
              <a:t>: {0,1,0} {0,0,1}</a:t>
            </a:r>
            <a:r>
              <a:rPr sz="1800" b="1" spc="1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{1,0,0}</a:t>
            </a:r>
            <a:endParaRPr sz="180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3614420" algn="l"/>
              </a:tabLst>
            </a:pPr>
            <a:r>
              <a:rPr sz="1800" b="1" dirty="0">
                <a:latin typeface="Arial"/>
                <a:cs typeface="Arial"/>
              </a:rPr>
              <a:t>Your </a:t>
            </a:r>
            <a:r>
              <a:rPr sz="1800" b="1" spc="-5" dirty="0">
                <a:latin typeface="Arial"/>
                <a:cs typeface="Arial"/>
              </a:rPr>
              <a:t>manager asks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you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	</a:t>
            </a:r>
            <a:r>
              <a:rPr sz="1800" b="1" dirty="0">
                <a:solidFill>
                  <a:srgbClr val="3333FF"/>
                </a:solidFill>
                <a:latin typeface="Arial"/>
                <a:cs typeface="Arial"/>
              </a:rPr>
              <a:t>What is fault</a:t>
            </a:r>
            <a:r>
              <a:rPr sz="1800" b="1" spc="-70" dirty="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FF"/>
                </a:solidFill>
                <a:latin typeface="Arial"/>
                <a:cs typeface="Arial"/>
              </a:rPr>
              <a:t>coverage?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85335" y="2317724"/>
            <a:ext cx="6190054" cy="18586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5518150" cy="69313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 simulation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1592" y="3645408"/>
            <a:ext cx="3094944" cy="2014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01545" y="164414"/>
            <a:ext cx="561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Is </a:t>
            </a:r>
            <a:r>
              <a:rPr spc="-5" dirty="0"/>
              <a:t>Fault</a:t>
            </a:r>
            <a:r>
              <a:rPr spc="-35" dirty="0"/>
              <a:t> </a:t>
            </a:r>
            <a:r>
              <a:rPr spc="-5" dirty="0"/>
              <a:t>Simulation?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0225" y="900785"/>
            <a:ext cx="4972685" cy="2220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Given: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Circuit, fault model, test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Determine: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Output responses of faulty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Detected faults, Undetected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coverage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07731" y="3260324"/>
            <a:ext cx="1875155" cy="662305"/>
          </a:xfrm>
          <a:prstGeom prst="rect">
            <a:avLst/>
          </a:prstGeom>
          <a:ln w="7296">
            <a:solidFill>
              <a:srgbClr val="000000"/>
            </a:solidFill>
          </a:ln>
        </p:spPr>
        <p:txBody>
          <a:bodyPr vert="horz" wrap="square" lIns="0" tIns="162560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280"/>
              </a:spcBef>
            </a:pPr>
            <a:r>
              <a:rPr sz="1900" b="1" spc="55" dirty="0">
                <a:latin typeface="Arial"/>
                <a:cs typeface="Arial"/>
              </a:rPr>
              <a:t>Commands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7731" y="4620427"/>
            <a:ext cx="1875155" cy="662305"/>
          </a:xfrm>
          <a:prstGeom prst="rect">
            <a:avLst/>
          </a:prstGeom>
          <a:solidFill>
            <a:srgbClr val="FFC000"/>
          </a:solidFill>
          <a:ln w="7296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57505" marR="344805" indent="280035">
              <a:lnSpc>
                <a:spcPct val="100000"/>
              </a:lnSpc>
              <a:spcBef>
                <a:spcPts val="145"/>
              </a:spcBef>
            </a:pPr>
            <a:r>
              <a:rPr sz="1900" b="1" spc="40" dirty="0">
                <a:latin typeface="Arial"/>
                <a:cs typeface="Arial"/>
              </a:rPr>
              <a:t>Fault  </a:t>
            </a:r>
            <a:r>
              <a:rPr sz="1900" b="1" spc="35" dirty="0">
                <a:latin typeface="Arial"/>
                <a:cs typeface="Arial"/>
              </a:rPr>
              <a:t>S</a:t>
            </a:r>
            <a:r>
              <a:rPr sz="1900" b="1" spc="30" dirty="0">
                <a:latin typeface="Arial"/>
                <a:cs typeface="Arial"/>
              </a:rPr>
              <a:t>i</a:t>
            </a:r>
            <a:r>
              <a:rPr sz="1900" b="1" spc="65" dirty="0">
                <a:latin typeface="Arial"/>
                <a:cs typeface="Arial"/>
              </a:rPr>
              <a:t>m</a:t>
            </a:r>
            <a:r>
              <a:rPr sz="1900" b="1" spc="55" dirty="0">
                <a:latin typeface="Arial"/>
                <a:cs typeface="Arial"/>
              </a:rPr>
              <a:t>u</a:t>
            </a:r>
            <a:r>
              <a:rPr sz="1900" b="1" spc="30" dirty="0">
                <a:latin typeface="Arial"/>
                <a:cs typeface="Arial"/>
              </a:rPr>
              <a:t>l</a:t>
            </a:r>
            <a:r>
              <a:rPr sz="1900" b="1" spc="40" dirty="0">
                <a:latin typeface="Arial"/>
                <a:cs typeface="Arial"/>
              </a:rPr>
              <a:t>a</a:t>
            </a:r>
            <a:r>
              <a:rPr sz="1900" b="1" spc="20" dirty="0">
                <a:latin typeface="Arial"/>
                <a:cs typeface="Arial"/>
              </a:rPr>
              <a:t>t</a:t>
            </a:r>
            <a:r>
              <a:rPr sz="1900" b="1" spc="45" dirty="0">
                <a:latin typeface="Arial"/>
                <a:cs typeface="Arial"/>
              </a:rPr>
              <a:t>or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1207" y="4620427"/>
            <a:ext cx="1875155" cy="662305"/>
          </a:xfrm>
          <a:prstGeom prst="rect">
            <a:avLst/>
          </a:prstGeom>
          <a:ln w="7296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267970" marR="191135" indent="-62865">
              <a:lnSpc>
                <a:spcPct val="100000"/>
              </a:lnSpc>
              <a:spcBef>
                <a:spcPts val="145"/>
              </a:spcBef>
            </a:pPr>
            <a:r>
              <a:rPr sz="1900" b="1" spc="65" dirty="0">
                <a:latin typeface="Arial"/>
                <a:cs typeface="Arial"/>
              </a:rPr>
              <a:t>Go</a:t>
            </a:r>
            <a:r>
              <a:rPr sz="1900" b="1" spc="20" dirty="0">
                <a:latin typeface="Arial"/>
                <a:cs typeface="Arial"/>
              </a:rPr>
              <a:t>o</a:t>
            </a:r>
            <a:r>
              <a:rPr sz="1900" b="1" spc="55" dirty="0">
                <a:latin typeface="Arial"/>
                <a:cs typeface="Arial"/>
              </a:rPr>
              <a:t>d</a:t>
            </a:r>
            <a:r>
              <a:rPr sz="1900" b="1" spc="20" dirty="0">
                <a:latin typeface="Arial"/>
                <a:cs typeface="Arial"/>
              </a:rPr>
              <a:t>/</a:t>
            </a:r>
            <a:r>
              <a:rPr sz="1900" b="1" spc="55" dirty="0">
                <a:solidFill>
                  <a:srgbClr val="006FC0"/>
                </a:solidFill>
                <a:latin typeface="Arial"/>
                <a:cs typeface="Arial"/>
              </a:rPr>
              <a:t>F</a:t>
            </a:r>
            <a:r>
              <a:rPr sz="1900" b="1" spc="4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1900" b="1" spc="55" dirty="0">
                <a:solidFill>
                  <a:srgbClr val="006FC0"/>
                </a:solidFill>
                <a:latin typeface="Arial"/>
                <a:cs typeface="Arial"/>
              </a:rPr>
              <a:t>u</a:t>
            </a:r>
            <a:r>
              <a:rPr sz="1900" b="1" spc="5" dirty="0">
                <a:solidFill>
                  <a:srgbClr val="006FC0"/>
                </a:solidFill>
                <a:latin typeface="Arial"/>
                <a:cs typeface="Arial"/>
              </a:rPr>
              <a:t>l</a:t>
            </a:r>
            <a:r>
              <a:rPr sz="1900" b="1" spc="20" dirty="0">
                <a:solidFill>
                  <a:srgbClr val="006FC0"/>
                </a:solidFill>
                <a:latin typeface="Arial"/>
                <a:cs typeface="Arial"/>
              </a:rPr>
              <a:t>t</a:t>
            </a:r>
            <a:r>
              <a:rPr sz="1900" b="1" spc="35" dirty="0">
                <a:solidFill>
                  <a:srgbClr val="006FC0"/>
                </a:solidFill>
                <a:latin typeface="Arial"/>
                <a:cs typeface="Arial"/>
              </a:rPr>
              <a:t>y  </a:t>
            </a:r>
            <a:r>
              <a:rPr sz="1900" b="1" spc="50" dirty="0">
                <a:latin typeface="Arial"/>
                <a:cs typeface="Arial"/>
              </a:rPr>
              <a:t>Responses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7731" y="6066340"/>
            <a:ext cx="1875155" cy="662305"/>
          </a:xfrm>
          <a:prstGeom prst="rect">
            <a:avLst/>
          </a:prstGeom>
          <a:ln w="7296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40335" marR="128905" indent="363855">
              <a:lnSpc>
                <a:spcPct val="100000"/>
              </a:lnSpc>
              <a:spcBef>
                <a:spcPts val="160"/>
              </a:spcBef>
            </a:pPr>
            <a:r>
              <a:rPr sz="1900" b="1" spc="45" dirty="0">
                <a:latin typeface="Arial"/>
                <a:cs typeface="Arial"/>
              </a:rPr>
              <a:t>Models  </a:t>
            </a:r>
            <a:r>
              <a:rPr sz="1900" b="1" spc="30" dirty="0">
                <a:latin typeface="Arial"/>
                <a:cs typeface="Arial"/>
              </a:rPr>
              <a:t>(circuit,</a:t>
            </a:r>
            <a:r>
              <a:rPr sz="1900" b="1" spc="-30" dirty="0">
                <a:latin typeface="Arial"/>
                <a:cs typeface="Arial"/>
              </a:rPr>
              <a:t> </a:t>
            </a:r>
            <a:r>
              <a:rPr sz="1900" b="1" spc="30" dirty="0">
                <a:solidFill>
                  <a:srgbClr val="006FC0"/>
                </a:solidFill>
                <a:latin typeface="Arial"/>
                <a:cs typeface="Arial"/>
              </a:rPr>
              <a:t>fault</a:t>
            </a:r>
            <a:r>
              <a:rPr sz="1900" b="1" spc="3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506" y="4620427"/>
            <a:ext cx="1875155" cy="662305"/>
          </a:xfrm>
          <a:prstGeom prst="rect">
            <a:avLst/>
          </a:prstGeom>
          <a:ln w="7296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412115" marR="167640" indent="-238125">
              <a:lnSpc>
                <a:spcPct val="100000"/>
              </a:lnSpc>
              <a:spcBef>
                <a:spcPts val="145"/>
              </a:spcBef>
            </a:pPr>
            <a:r>
              <a:rPr sz="1900" b="1" spc="40" dirty="0">
                <a:latin typeface="Arial"/>
                <a:cs typeface="Arial"/>
              </a:rPr>
              <a:t>Input</a:t>
            </a:r>
            <a:r>
              <a:rPr sz="1900" b="1" spc="-90" dirty="0">
                <a:latin typeface="Arial"/>
                <a:cs typeface="Arial"/>
              </a:rPr>
              <a:t> </a:t>
            </a:r>
            <a:r>
              <a:rPr sz="1900" b="1" spc="40" dirty="0">
                <a:latin typeface="Arial"/>
                <a:cs typeface="Arial"/>
              </a:rPr>
              <a:t>Stimuli  </a:t>
            </a:r>
            <a:r>
              <a:rPr sz="1900" b="1" spc="30" dirty="0">
                <a:latin typeface="Arial"/>
                <a:cs typeface="Arial"/>
              </a:rPr>
              <a:t>(test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spc="35" dirty="0">
                <a:latin typeface="Arial"/>
                <a:cs typeface="Arial"/>
              </a:rPr>
              <a:t>set)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0232" y="3922435"/>
            <a:ext cx="250190" cy="698500"/>
          </a:xfrm>
          <a:custGeom>
            <a:avLst/>
            <a:gdLst/>
            <a:ahLst/>
            <a:cxnLst/>
            <a:rect l="l" t="t" r="r" b="b"/>
            <a:pathLst>
              <a:path w="250189" h="698500">
                <a:moveTo>
                  <a:pt x="249961" y="577948"/>
                </a:moveTo>
                <a:lnTo>
                  <a:pt x="0" y="577948"/>
                </a:lnTo>
                <a:lnTo>
                  <a:pt x="124980" y="697991"/>
                </a:lnTo>
                <a:lnTo>
                  <a:pt x="249961" y="577948"/>
                </a:lnTo>
                <a:close/>
              </a:path>
              <a:path w="250189" h="698500">
                <a:moveTo>
                  <a:pt x="167438" y="0"/>
                </a:moveTo>
                <a:lnTo>
                  <a:pt x="82459" y="0"/>
                </a:lnTo>
                <a:lnTo>
                  <a:pt x="82459" y="577948"/>
                </a:lnTo>
                <a:lnTo>
                  <a:pt x="167438" y="577948"/>
                </a:lnTo>
                <a:lnTo>
                  <a:pt x="167438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20232" y="3922436"/>
            <a:ext cx="250190" cy="698500"/>
          </a:xfrm>
          <a:custGeom>
            <a:avLst/>
            <a:gdLst/>
            <a:ahLst/>
            <a:cxnLst/>
            <a:rect l="l" t="t" r="r" b="b"/>
            <a:pathLst>
              <a:path w="250189" h="698500">
                <a:moveTo>
                  <a:pt x="124980" y="697991"/>
                </a:moveTo>
                <a:lnTo>
                  <a:pt x="249961" y="577948"/>
                </a:lnTo>
                <a:lnTo>
                  <a:pt x="167438" y="577948"/>
                </a:lnTo>
                <a:lnTo>
                  <a:pt x="167438" y="0"/>
                </a:lnTo>
                <a:lnTo>
                  <a:pt x="82459" y="0"/>
                </a:lnTo>
                <a:lnTo>
                  <a:pt x="82459" y="577948"/>
                </a:lnTo>
                <a:lnTo>
                  <a:pt x="0" y="577948"/>
                </a:lnTo>
                <a:lnTo>
                  <a:pt x="124980" y="697991"/>
                </a:lnTo>
                <a:close/>
              </a:path>
            </a:pathLst>
          </a:custGeom>
          <a:ln w="3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20232" y="5282539"/>
            <a:ext cx="250190" cy="784225"/>
          </a:xfrm>
          <a:custGeom>
            <a:avLst/>
            <a:gdLst/>
            <a:ahLst/>
            <a:cxnLst/>
            <a:rect l="l" t="t" r="r" b="b"/>
            <a:pathLst>
              <a:path w="250189" h="784225">
                <a:moveTo>
                  <a:pt x="167438" y="120103"/>
                </a:moveTo>
                <a:lnTo>
                  <a:pt x="82459" y="120103"/>
                </a:lnTo>
                <a:lnTo>
                  <a:pt x="82459" y="783788"/>
                </a:lnTo>
                <a:lnTo>
                  <a:pt x="167438" y="783788"/>
                </a:lnTo>
                <a:lnTo>
                  <a:pt x="167438" y="120103"/>
                </a:lnTo>
                <a:close/>
              </a:path>
              <a:path w="250189" h="784225">
                <a:moveTo>
                  <a:pt x="124980" y="0"/>
                </a:moveTo>
                <a:lnTo>
                  <a:pt x="0" y="120103"/>
                </a:lnTo>
                <a:lnTo>
                  <a:pt x="249961" y="120103"/>
                </a:lnTo>
                <a:lnTo>
                  <a:pt x="124980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20232" y="5282539"/>
            <a:ext cx="250190" cy="784225"/>
          </a:xfrm>
          <a:custGeom>
            <a:avLst/>
            <a:gdLst/>
            <a:ahLst/>
            <a:cxnLst/>
            <a:rect l="l" t="t" r="r" b="b"/>
            <a:pathLst>
              <a:path w="250189" h="784225">
                <a:moveTo>
                  <a:pt x="124980" y="0"/>
                </a:moveTo>
                <a:lnTo>
                  <a:pt x="249961" y="120103"/>
                </a:lnTo>
                <a:lnTo>
                  <a:pt x="167438" y="120103"/>
                </a:lnTo>
                <a:lnTo>
                  <a:pt x="167438" y="783788"/>
                </a:lnTo>
                <a:lnTo>
                  <a:pt x="82459" y="783788"/>
                </a:lnTo>
                <a:lnTo>
                  <a:pt x="82459" y="120103"/>
                </a:lnTo>
                <a:lnTo>
                  <a:pt x="0" y="120103"/>
                </a:lnTo>
                <a:lnTo>
                  <a:pt x="124980" y="0"/>
                </a:lnTo>
                <a:close/>
              </a:path>
            </a:pathLst>
          </a:custGeom>
          <a:ln w="3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93438" y="4831410"/>
            <a:ext cx="714375" cy="240665"/>
          </a:xfrm>
          <a:custGeom>
            <a:avLst/>
            <a:gdLst/>
            <a:ahLst/>
            <a:cxnLst/>
            <a:rect l="l" t="t" r="r" b="b"/>
            <a:pathLst>
              <a:path w="714375" h="240664">
                <a:moveTo>
                  <a:pt x="589312" y="0"/>
                </a:moveTo>
                <a:lnTo>
                  <a:pt x="589312" y="79262"/>
                </a:lnTo>
                <a:lnTo>
                  <a:pt x="0" y="79262"/>
                </a:lnTo>
                <a:lnTo>
                  <a:pt x="0" y="160884"/>
                </a:lnTo>
                <a:lnTo>
                  <a:pt x="589312" y="160884"/>
                </a:lnTo>
                <a:lnTo>
                  <a:pt x="589312" y="240146"/>
                </a:lnTo>
                <a:lnTo>
                  <a:pt x="714292" y="120103"/>
                </a:lnTo>
                <a:lnTo>
                  <a:pt x="589312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93438" y="4831410"/>
            <a:ext cx="714375" cy="240665"/>
          </a:xfrm>
          <a:custGeom>
            <a:avLst/>
            <a:gdLst/>
            <a:ahLst/>
            <a:cxnLst/>
            <a:rect l="l" t="t" r="r" b="b"/>
            <a:pathLst>
              <a:path w="714375" h="240664">
                <a:moveTo>
                  <a:pt x="714292" y="120103"/>
                </a:moveTo>
                <a:lnTo>
                  <a:pt x="589312" y="0"/>
                </a:lnTo>
                <a:lnTo>
                  <a:pt x="589312" y="79262"/>
                </a:lnTo>
                <a:lnTo>
                  <a:pt x="0" y="79262"/>
                </a:lnTo>
                <a:lnTo>
                  <a:pt x="0" y="160884"/>
                </a:lnTo>
                <a:lnTo>
                  <a:pt x="589312" y="160884"/>
                </a:lnTo>
                <a:lnTo>
                  <a:pt x="589312" y="240146"/>
                </a:lnTo>
                <a:lnTo>
                  <a:pt x="714292" y="120103"/>
                </a:lnTo>
                <a:close/>
              </a:path>
            </a:pathLst>
          </a:custGeom>
          <a:ln w="36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882694" y="4831410"/>
            <a:ext cx="678815" cy="240665"/>
          </a:xfrm>
          <a:custGeom>
            <a:avLst/>
            <a:gdLst/>
            <a:ahLst/>
            <a:cxnLst/>
            <a:rect l="l" t="t" r="r" b="b"/>
            <a:pathLst>
              <a:path w="678814" h="240664">
                <a:moveTo>
                  <a:pt x="553531" y="0"/>
                </a:moveTo>
                <a:lnTo>
                  <a:pt x="553531" y="79262"/>
                </a:lnTo>
                <a:lnTo>
                  <a:pt x="0" y="79262"/>
                </a:lnTo>
                <a:lnTo>
                  <a:pt x="0" y="160884"/>
                </a:lnTo>
                <a:lnTo>
                  <a:pt x="553531" y="160884"/>
                </a:lnTo>
                <a:lnTo>
                  <a:pt x="553531" y="240146"/>
                </a:lnTo>
                <a:lnTo>
                  <a:pt x="678512" y="120103"/>
                </a:lnTo>
                <a:lnTo>
                  <a:pt x="553531" y="0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82694" y="4831410"/>
            <a:ext cx="678815" cy="240665"/>
          </a:xfrm>
          <a:custGeom>
            <a:avLst/>
            <a:gdLst/>
            <a:ahLst/>
            <a:cxnLst/>
            <a:rect l="l" t="t" r="r" b="b"/>
            <a:pathLst>
              <a:path w="678814" h="240664">
                <a:moveTo>
                  <a:pt x="678512" y="120103"/>
                </a:moveTo>
                <a:lnTo>
                  <a:pt x="553531" y="0"/>
                </a:lnTo>
                <a:lnTo>
                  <a:pt x="553531" y="79262"/>
                </a:lnTo>
                <a:lnTo>
                  <a:pt x="0" y="79262"/>
                </a:lnTo>
                <a:lnTo>
                  <a:pt x="0" y="160884"/>
                </a:lnTo>
                <a:lnTo>
                  <a:pt x="553531" y="160884"/>
                </a:lnTo>
                <a:lnTo>
                  <a:pt x="553531" y="240146"/>
                </a:lnTo>
                <a:lnTo>
                  <a:pt x="678512" y="120103"/>
                </a:lnTo>
                <a:close/>
              </a:path>
            </a:pathLst>
          </a:custGeom>
          <a:ln w="36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10825" y="5718621"/>
            <a:ext cx="1875155" cy="577081"/>
          </a:xfrm>
          <a:prstGeom prst="rect">
            <a:avLst/>
          </a:prstGeom>
          <a:ln w="7296">
            <a:solidFill>
              <a:srgbClr val="00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40"/>
              </a:spcBef>
            </a:pPr>
            <a:r>
              <a:rPr sz="1900" b="1" spc="40" dirty="0">
                <a:solidFill>
                  <a:srgbClr val="006FC0"/>
                </a:solidFill>
                <a:latin typeface="Arial"/>
                <a:cs typeface="Arial"/>
              </a:rPr>
              <a:t>Fault</a:t>
            </a:r>
            <a:r>
              <a:rPr sz="19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900" b="1" spc="40" dirty="0">
                <a:solidFill>
                  <a:srgbClr val="006FC0"/>
                </a:solidFill>
                <a:latin typeface="Arial"/>
                <a:cs typeface="Arial"/>
              </a:rPr>
              <a:t>coverage</a:t>
            </a:r>
            <a:endParaRPr sz="1900" dirty="0">
              <a:latin typeface="Arial"/>
              <a:cs typeface="Arial"/>
            </a:endParaRPr>
          </a:p>
          <a:p>
            <a:pPr marL="84455">
              <a:lnSpc>
                <a:spcPct val="100000"/>
              </a:lnSpc>
              <a:spcBef>
                <a:spcPts val="80"/>
              </a:spcBef>
            </a:pPr>
            <a:r>
              <a:rPr sz="1400" b="1" spc="40" dirty="0">
                <a:solidFill>
                  <a:srgbClr val="006FC0"/>
                </a:solidFill>
                <a:latin typeface="Arial"/>
                <a:cs typeface="Arial"/>
              </a:rPr>
              <a:t>detected</a:t>
            </a:r>
            <a:r>
              <a:rPr sz="14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006FC0"/>
                </a:solidFill>
                <a:latin typeface="Arial"/>
                <a:cs typeface="Arial"/>
              </a:rPr>
              <a:t>faults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65049" y="5257671"/>
            <a:ext cx="406400" cy="461009"/>
          </a:xfrm>
          <a:custGeom>
            <a:avLst/>
            <a:gdLst/>
            <a:ahLst/>
            <a:cxnLst/>
            <a:rect l="l" t="t" r="r" b="b"/>
            <a:pathLst>
              <a:path w="406400" h="461010">
                <a:moveTo>
                  <a:pt x="67340" y="0"/>
                </a:moveTo>
                <a:lnTo>
                  <a:pt x="0" y="49796"/>
                </a:lnTo>
                <a:lnTo>
                  <a:pt x="273269" y="390684"/>
                </a:lnTo>
                <a:lnTo>
                  <a:pt x="207944" y="439028"/>
                </a:lnTo>
                <a:lnTo>
                  <a:pt x="383194" y="460931"/>
                </a:lnTo>
                <a:lnTo>
                  <a:pt x="399451" y="340888"/>
                </a:lnTo>
                <a:lnTo>
                  <a:pt x="340610" y="340888"/>
                </a:lnTo>
                <a:lnTo>
                  <a:pt x="67340" y="0"/>
                </a:lnTo>
                <a:close/>
              </a:path>
              <a:path w="406400" h="461010">
                <a:moveTo>
                  <a:pt x="405998" y="292544"/>
                </a:moveTo>
                <a:lnTo>
                  <a:pt x="340610" y="340888"/>
                </a:lnTo>
                <a:lnTo>
                  <a:pt x="399451" y="340888"/>
                </a:lnTo>
                <a:lnTo>
                  <a:pt x="405998" y="292544"/>
                </a:lnTo>
                <a:close/>
              </a:path>
            </a:pathLst>
          </a:custGeom>
          <a:solidFill>
            <a:srgbClr val="E8ED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65049" y="5257671"/>
            <a:ext cx="406400" cy="461009"/>
          </a:xfrm>
          <a:custGeom>
            <a:avLst/>
            <a:gdLst/>
            <a:ahLst/>
            <a:cxnLst/>
            <a:rect l="l" t="t" r="r" b="b"/>
            <a:pathLst>
              <a:path w="406400" h="461010">
                <a:moveTo>
                  <a:pt x="383194" y="460931"/>
                </a:moveTo>
                <a:lnTo>
                  <a:pt x="405998" y="292544"/>
                </a:lnTo>
                <a:lnTo>
                  <a:pt x="340610" y="340888"/>
                </a:lnTo>
                <a:lnTo>
                  <a:pt x="67340" y="0"/>
                </a:lnTo>
                <a:lnTo>
                  <a:pt x="0" y="49796"/>
                </a:lnTo>
                <a:lnTo>
                  <a:pt x="273269" y="390684"/>
                </a:lnTo>
                <a:lnTo>
                  <a:pt x="207944" y="439028"/>
                </a:lnTo>
                <a:lnTo>
                  <a:pt x="383194" y="460931"/>
                </a:lnTo>
                <a:close/>
              </a:path>
            </a:pathLst>
          </a:custGeom>
          <a:ln w="3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334066FF-A165-768B-DCA0-7750DAD28B5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415405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1979" y="164414"/>
            <a:ext cx="7009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Applications </a:t>
            </a:r>
            <a:r>
              <a:rPr dirty="0"/>
              <a:t>of Fault</a:t>
            </a:r>
            <a:r>
              <a:rPr spc="-5" dirty="0"/>
              <a:t> 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6445250" cy="522707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1. </a:t>
            </a:r>
            <a:r>
              <a:rPr sz="2000" b="1" spc="-5" dirty="0">
                <a:latin typeface="Arial"/>
                <a:cs typeface="Arial"/>
              </a:rPr>
              <a:t>Evaluate </a:t>
            </a:r>
            <a:r>
              <a:rPr sz="2000" b="1" dirty="0">
                <a:latin typeface="Arial"/>
                <a:cs typeface="Arial"/>
              </a:rPr>
              <a:t>quality of test sets (aka.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sz="2000" b="1" i="1" spc="-14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Grading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Determine fault </a:t>
            </a:r>
            <a:r>
              <a:rPr sz="2000" b="1" spc="-5" dirty="0">
                <a:latin typeface="Arial"/>
                <a:cs typeface="Arial"/>
              </a:rPr>
              <a:t>coverage </a:t>
            </a:r>
            <a:r>
              <a:rPr sz="2000" b="1" dirty="0">
                <a:latin typeface="Arial"/>
                <a:cs typeface="Arial"/>
              </a:rPr>
              <a:t>of a test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706755" algn="l"/>
              </a:tabLst>
            </a:pPr>
            <a:r>
              <a:rPr sz="2000" b="1" dirty="0">
                <a:latin typeface="Arial"/>
                <a:cs typeface="Arial"/>
              </a:rPr>
              <a:t>2.	Automatic Test Pattern Generation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ATPG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Identify detected faults and undetected</a:t>
            </a:r>
            <a:r>
              <a:rPr sz="2000" b="1" spc="-1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705485" algn="l"/>
                <a:tab pos="2060575" algn="l"/>
              </a:tabLst>
            </a:pPr>
            <a:r>
              <a:rPr sz="2000" b="1" dirty="0">
                <a:latin typeface="Arial"/>
                <a:cs typeface="Arial"/>
              </a:rPr>
              <a:t>3.	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Diagnosis	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Generate </a:t>
            </a:r>
            <a:r>
              <a:rPr sz="2000" b="1" i="1" dirty="0">
                <a:latin typeface="Arial-BoldItalicMT"/>
                <a:cs typeface="Arial-BoldItalicMT"/>
              </a:rPr>
              <a:t>fault</a:t>
            </a:r>
            <a:r>
              <a:rPr sz="2000" b="1" i="1" spc="-70" dirty="0">
                <a:latin typeface="Arial-BoldItalicMT"/>
                <a:cs typeface="Arial-BoldItalicMT"/>
              </a:rPr>
              <a:t> </a:t>
            </a:r>
            <a:r>
              <a:rPr sz="2000" b="1" i="1" dirty="0">
                <a:latin typeface="Arial-BoldItalicMT"/>
                <a:cs typeface="Arial-BoldItalicMT"/>
              </a:rPr>
              <a:t>dictionary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Find fault responsible for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failure</a:t>
            </a:r>
            <a:endParaRPr sz="20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Arial"/>
              <a:buChar char="◆"/>
            </a:pPr>
            <a:endParaRPr sz="2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Therefore, fault simulators can be used as</a:t>
            </a:r>
            <a:r>
              <a:rPr sz="2000" b="1" spc="-1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either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Stand alone tool,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or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grading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Embedded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tool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ATPG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Diagnosis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092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671" y="164414"/>
            <a:ext cx="66046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 </a:t>
            </a:r>
            <a:r>
              <a:rPr dirty="0"/>
              <a:t>Sim. </a:t>
            </a:r>
            <a:r>
              <a:rPr spc="-5" dirty="0"/>
              <a:t>Embedded </a:t>
            </a:r>
            <a:r>
              <a:rPr spc="-10" dirty="0"/>
              <a:t>in</a:t>
            </a:r>
            <a:r>
              <a:rPr spc="-15" dirty="0"/>
              <a:t> </a:t>
            </a:r>
            <a:r>
              <a:rPr dirty="0"/>
              <a:t>ATPG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827" y="958762"/>
            <a:ext cx="4523740" cy="248529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After each test pattern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generation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lang="en-US" sz="2000" b="1" dirty="0">
                <a:latin typeface="Arial"/>
                <a:cs typeface="Arial"/>
              </a:rPr>
              <a:t>F</a:t>
            </a:r>
            <a:r>
              <a:rPr sz="2000" b="1" dirty="0">
                <a:latin typeface="Arial"/>
                <a:cs typeface="Arial"/>
              </a:rPr>
              <a:t>ault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sz="2000" b="1" i="1" spc="-2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dropping</a:t>
            </a:r>
            <a:endParaRPr sz="2000" dirty="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Remove </a:t>
            </a:r>
            <a:r>
              <a:rPr sz="2000" b="1" dirty="0">
                <a:latin typeface="Arial"/>
                <a:cs typeface="Arial"/>
              </a:rPr>
              <a:t>detected faults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from</a:t>
            </a:r>
            <a:endParaRPr sz="20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fault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list</a:t>
            </a:r>
            <a:endParaRPr sz="2000" dirty="0">
              <a:latin typeface="Arial"/>
              <a:cs typeface="Arial"/>
            </a:endParaRPr>
          </a:p>
          <a:p>
            <a:pPr marL="756285" marR="18986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Prevent </a:t>
            </a:r>
            <a:r>
              <a:rPr sz="2000" b="1" dirty="0">
                <a:latin typeface="Arial"/>
                <a:cs typeface="Arial"/>
              </a:rPr>
              <a:t>repeated test  generation for detected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78938" y="1000800"/>
            <a:ext cx="1415415" cy="619760"/>
          </a:xfrm>
          <a:custGeom>
            <a:avLst/>
            <a:gdLst/>
            <a:ahLst/>
            <a:cxnLst/>
            <a:rect l="l" t="t" r="r" b="b"/>
            <a:pathLst>
              <a:path w="1415415" h="619760">
                <a:moveTo>
                  <a:pt x="0" y="619151"/>
                </a:moveTo>
                <a:lnTo>
                  <a:pt x="1414793" y="619151"/>
                </a:lnTo>
                <a:lnTo>
                  <a:pt x="1414793" y="0"/>
                </a:lnTo>
                <a:lnTo>
                  <a:pt x="0" y="0"/>
                </a:lnTo>
                <a:lnTo>
                  <a:pt x="0" y="619151"/>
                </a:lnTo>
                <a:close/>
              </a:path>
            </a:pathLst>
          </a:custGeom>
          <a:ln w="99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78938" y="1000800"/>
            <a:ext cx="1415415" cy="619760"/>
          </a:xfrm>
          <a:prstGeom prst="rect">
            <a:avLst/>
          </a:prstGeom>
          <a:ln w="9984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415"/>
              </a:spcBef>
            </a:pPr>
            <a:r>
              <a:rPr sz="1550" b="1" spc="10" dirty="0">
                <a:latin typeface="Arial"/>
                <a:cs typeface="Arial"/>
              </a:rPr>
              <a:t>Pick a</a:t>
            </a:r>
            <a:r>
              <a:rPr sz="1550" b="1" spc="-40" dirty="0">
                <a:latin typeface="Arial"/>
                <a:cs typeface="Arial"/>
              </a:rPr>
              <a:t> </a:t>
            </a:r>
            <a:r>
              <a:rPr sz="1550" b="1" spc="10" dirty="0">
                <a:latin typeface="Arial"/>
                <a:cs typeface="Arial"/>
              </a:rPr>
              <a:t>target</a:t>
            </a:r>
            <a:endParaRPr sz="1550">
              <a:latin typeface="Arial"/>
              <a:cs typeface="Arial"/>
            </a:endParaRPr>
          </a:p>
          <a:p>
            <a:pPr marL="6350" algn="ctr">
              <a:lnSpc>
                <a:spcPct val="100000"/>
              </a:lnSpc>
              <a:spcBef>
                <a:spcPts val="30"/>
              </a:spcBef>
            </a:pPr>
            <a:r>
              <a:rPr sz="1550" b="1" spc="5" dirty="0">
                <a:latin typeface="Arial"/>
                <a:cs typeface="Arial"/>
              </a:rPr>
              <a:t>fault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78938" y="1870586"/>
            <a:ext cx="1415415" cy="619760"/>
          </a:xfrm>
          <a:prstGeom prst="rect">
            <a:avLst/>
          </a:prstGeom>
          <a:ln w="9984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425"/>
              </a:spcBef>
            </a:pPr>
            <a:r>
              <a:rPr sz="1550" b="1" spc="10" dirty="0">
                <a:latin typeface="Arial"/>
                <a:cs typeface="Arial"/>
              </a:rPr>
              <a:t>Test</a:t>
            </a:r>
            <a:r>
              <a:rPr sz="1550" b="1" spc="-35" dirty="0">
                <a:latin typeface="Arial"/>
                <a:cs typeface="Arial"/>
              </a:rPr>
              <a:t> </a:t>
            </a:r>
            <a:r>
              <a:rPr sz="1550" b="1" spc="5" dirty="0">
                <a:latin typeface="Arial"/>
                <a:cs typeface="Arial"/>
              </a:rPr>
              <a:t>pattern</a:t>
            </a:r>
            <a:endParaRPr sz="1550">
              <a:latin typeface="Arial"/>
              <a:cs typeface="Arial"/>
            </a:endParaRPr>
          </a:p>
          <a:p>
            <a:pPr marL="199390">
              <a:lnSpc>
                <a:spcPct val="100000"/>
              </a:lnSpc>
              <a:spcBef>
                <a:spcPts val="30"/>
              </a:spcBef>
            </a:pPr>
            <a:r>
              <a:rPr sz="1550" b="1" spc="5" dirty="0">
                <a:latin typeface="Arial"/>
                <a:cs typeface="Arial"/>
              </a:rPr>
              <a:t>generation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8938" y="2769828"/>
            <a:ext cx="1415415" cy="619760"/>
          </a:xfrm>
          <a:prstGeom prst="rect">
            <a:avLst/>
          </a:prstGeom>
          <a:ln w="9984">
            <a:solidFill>
              <a:srgbClr val="000000"/>
            </a:solidFill>
          </a:ln>
        </p:spPr>
        <p:txBody>
          <a:bodyPr vert="horz" wrap="square" lIns="0" tIns="174625" rIns="0" bIns="0" rtlCol="0">
            <a:spAutoFit/>
          </a:bodyPr>
          <a:lstStyle/>
          <a:p>
            <a:pPr marL="232410">
              <a:lnSpc>
                <a:spcPct val="100000"/>
              </a:lnSpc>
              <a:spcBef>
                <a:spcPts val="1375"/>
              </a:spcBef>
            </a:pPr>
            <a:r>
              <a:rPr sz="1550" b="1" spc="5" dirty="0">
                <a:solidFill>
                  <a:srgbClr val="FF0000"/>
                </a:solidFill>
                <a:latin typeface="Arial"/>
                <a:cs typeface="Arial"/>
              </a:rPr>
              <a:t>Fault</a:t>
            </a:r>
            <a:r>
              <a:rPr sz="155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50" b="1" spc="5" dirty="0">
                <a:solidFill>
                  <a:srgbClr val="FF0000"/>
                </a:solidFill>
                <a:latin typeface="Arial"/>
                <a:cs typeface="Arial"/>
              </a:rPr>
              <a:t>Sim.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8938" y="3713338"/>
            <a:ext cx="1415415" cy="619760"/>
          </a:xfrm>
          <a:prstGeom prst="rect">
            <a:avLst/>
          </a:prstGeom>
          <a:ln w="9984">
            <a:solidFill>
              <a:srgbClr val="000000"/>
            </a:solidFill>
          </a:ln>
        </p:spPr>
        <p:txBody>
          <a:bodyPr vert="horz" wrap="square" lIns="0" tIns="51435" rIns="0" bIns="0" rtlCol="0">
            <a:spAutoFit/>
          </a:bodyPr>
          <a:lstStyle/>
          <a:p>
            <a:pPr marL="266065" marR="254000" indent="205104">
              <a:lnSpc>
                <a:spcPct val="101600"/>
              </a:lnSpc>
              <a:spcBef>
                <a:spcPts val="405"/>
              </a:spcBef>
            </a:pPr>
            <a:r>
              <a:rPr sz="1550" b="1" spc="5" dirty="0">
                <a:latin typeface="Arial"/>
                <a:cs typeface="Arial"/>
              </a:rPr>
              <a:t>Fault  </a:t>
            </a:r>
            <a:r>
              <a:rPr sz="1550" b="1" spc="15" dirty="0">
                <a:latin typeface="Arial"/>
                <a:cs typeface="Arial"/>
              </a:rPr>
              <a:t>D</a:t>
            </a:r>
            <a:r>
              <a:rPr sz="1550" b="1" spc="-20" dirty="0">
                <a:latin typeface="Arial"/>
                <a:cs typeface="Arial"/>
              </a:rPr>
              <a:t>r</a:t>
            </a:r>
            <a:r>
              <a:rPr sz="1550" b="1" spc="30" dirty="0">
                <a:latin typeface="Arial"/>
                <a:cs typeface="Arial"/>
              </a:rPr>
              <a:t>o</a:t>
            </a:r>
            <a:r>
              <a:rPr sz="1550" b="1" spc="-10" dirty="0">
                <a:latin typeface="Arial"/>
                <a:cs typeface="Arial"/>
              </a:rPr>
              <a:t>p</a:t>
            </a:r>
            <a:r>
              <a:rPr sz="1550" b="1" spc="30" dirty="0">
                <a:latin typeface="Arial"/>
                <a:cs typeface="Arial"/>
              </a:rPr>
              <a:t>p</a:t>
            </a:r>
            <a:r>
              <a:rPr sz="1550" b="1" spc="5" dirty="0">
                <a:latin typeface="Arial"/>
                <a:cs typeface="Arial"/>
              </a:rPr>
              <a:t>i</a:t>
            </a:r>
            <a:r>
              <a:rPr sz="1550" b="1" spc="-15" dirty="0">
                <a:latin typeface="Arial"/>
                <a:cs typeface="Arial"/>
              </a:rPr>
              <a:t>n</a:t>
            </a:r>
            <a:r>
              <a:rPr sz="1550" b="1" spc="10" dirty="0">
                <a:latin typeface="Arial"/>
                <a:cs typeface="Arial"/>
              </a:rPr>
              <a:t>g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8938" y="4627309"/>
            <a:ext cx="1415415" cy="619760"/>
          </a:xfrm>
          <a:prstGeom prst="rect">
            <a:avLst/>
          </a:prstGeom>
          <a:ln w="9984">
            <a:solidFill>
              <a:srgbClr val="000000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310515" marR="268605" indent="-27940">
              <a:lnSpc>
                <a:spcPct val="101600"/>
              </a:lnSpc>
              <a:spcBef>
                <a:spcPts val="415"/>
              </a:spcBef>
            </a:pPr>
            <a:r>
              <a:rPr sz="1550" b="1" spc="5" dirty="0">
                <a:latin typeface="Arial"/>
                <a:cs typeface="Arial"/>
              </a:rPr>
              <a:t>Any</a:t>
            </a:r>
            <a:r>
              <a:rPr sz="1550" b="1" spc="-45" dirty="0">
                <a:latin typeface="Arial"/>
                <a:cs typeface="Arial"/>
              </a:rPr>
              <a:t> </a:t>
            </a:r>
            <a:r>
              <a:rPr sz="1550" b="1" spc="5" dirty="0">
                <a:latin typeface="Arial"/>
                <a:cs typeface="Arial"/>
              </a:rPr>
              <a:t>fault  </a:t>
            </a:r>
            <a:r>
              <a:rPr sz="1550" b="1" spc="10" dirty="0">
                <a:latin typeface="Arial"/>
                <a:cs typeface="Arial"/>
              </a:rPr>
              <a:t>untried?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07326" y="1310413"/>
            <a:ext cx="471805" cy="3670935"/>
          </a:xfrm>
          <a:custGeom>
            <a:avLst/>
            <a:gdLst/>
            <a:ahLst/>
            <a:cxnLst/>
            <a:rect l="l" t="t" r="r" b="b"/>
            <a:pathLst>
              <a:path w="471804" h="3670935">
                <a:moveTo>
                  <a:pt x="471611" y="3626509"/>
                </a:moveTo>
                <a:lnTo>
                  <a:pt x="471611" y="3670693"/>
                </a:lnTo>
                <a:lnTo>
                  <a:pt x="0" y="3670693"/>
                </a:lnTo>
                <a:lnTo>
                  <a:pt x="0" y="0"/>
                </a:lnTo>
                <a:lnTo>
                  <a:pt x="417458" y="0"/>
                </a:lnTo>
              </a:path>
            </a:pathLst>
          </a:custGeom>
          <a:ln w="9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17049" y="1279459"/>
            <a:ext cx="62230" cy="62230"/>
          </a:xfrm>
          <a:custGeom>
            <a:avLst/>
            <a:gdLst/>
            <a:ahLst/>
            <a:cxnLst/>
            <a:rect l="l" t="t" r="r" b="b"/>
            <a:pathLst>
              <a:path w="62229" h="62230">
                <a:moveTo>
                  <a:pt x="0" y="0"/>
                </a:moveTo>
                <a:lnTo>
                  <a:pt x="0" y="61907"/>
                </a:lnTo>
                <a:lnTo>
                  <a:pt x="61888" y="3095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86334" y="4332490"/>
            <a:ext cx="0" cy="230504"/>
          </a:xfrm>
          <a:custGeom>
            <a:avLst/>
            <a:gdLst/>
            <a:ahLst/>
            <a:cxnLst/>
            <a:rect l="l" t="t" r="r" b="b"/>
            <a:pathLst>
              <a:path h="230504">
                <a:moveTo>
                  <a:pt x="0" y="0"/>
                </a:moveTo>
                <a:lnTo>
                  <a:pt x="0" y="230156"/>
                </a:lnTo>
              </a:path>
            </a:pathLst>
          </a:custGeom>
          <a:ln w="9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49401" y="4553410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73867" y="0"/>
                </a:moveTo>
                <a:lnTo>
                  <a:pt x="0" y="0"/>
                </a:lnTo>
                <a:lnTo>
                  <a:pt x="36933" y="73889"/>
                </a:lnTo>
                <a:lnTo>
                  <a:pt x="7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86334" y="3388980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696"/>
                </a:lnTo>
              </a:path>
            </a:pathLst>
          </a:custGeom>
          <a:ln w="9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49401" y="3639440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73867" y="0"/>
                </a:moveTo>
                <a:lnTo>
                  <a:pt x="0" y="0"/>
                </a:lnTo>
                <a:lnTo>
                  <a:pt x="36933" y="73889"/>
                </a:lnTo>
                <a:lnTo>
                  <a:pt x="7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86334" y="2475010"/>
            <a:ext cx="0" cy="230504"/>
          </a:xfrm>
          <a:custGeom>
            <a:avLst/>
            <a:gdLst/>
            <a:ahLst/>
            <a:cxnLst/>
            <a:rect l="l" t="t" r="r" b="b"/>
            <a:pathLst>
              <a:path h="230505">
                <a:moveTo>
                  <a:pt x="0" y="0"/>
                </a:moveTo>
                <a:lnTo>
                  <a:pt x="0" y="230156"/>
                </a:lnTo>
              </a:path>
            </a:pathLst>
          </a:custGeom>
          <a:ln w="9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49401" y="2695930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4">
                <a:moveTo>
                  <a:pt x="73867" y="0"/>
                </a:moveTo>
                <a:lnTo>
                  <a:pt x="0" y="0"/>
                </a:lnTo>
                <a:lnTo>
                  <a:pt x="36933" y="73889"/>
                </a:lnTo>
                <a:lnTo>
                  <a:pt x="7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86334" y="1575767"/>
            <a:ext cx="0" cy="230504"/>
          </a:xfrm>
          <a:custGeom>
            <a:avLst/>
            <a:gdLst/>
            <a:ahLst/>
            <a:cxnLst/>
            <a:rect l="l" t="t" r="r" b="b"/>
            <a:pathLst>
              <a:path h="230505">
                <a:moveTo>
                  <a:pt x="0" y="0"/>
                </a:moveTo>
                <a:lnTo>
                  <a:pt x="0" y="230156"/>
                </a:lnTo>
              </a:path>
            </a:pathLst>
          </a:custGeom>
          <a:ln w="9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49400" y="1796688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4">
                <a:moveTo>
                  <a:pt x="73867" y="0"/>
                </a:moveTo>
                <a:lnTo>
                  <a:pt x="0" y="0"/>
                </a:lnTo>
                <a:lnTo>
                  <a:pt x="36933" y="73889"/>
                </a:lnTo>
                <a:lnTo>
                  <a:pt x="7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1410" y="3563293"/>
            <a:ext cx="38163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25" dirty="0">
                <a:latin typeface="Arial"/>
                <a:cs typeface="Arial"/>
              </a:rPr>
              <a:t>Y</a:t>
            </a:r>
            <a:r>
              <a:rPr sz="1550" b="1" dirty="0">
                <a:latin typeface="Arial"/>
                <a:cs typeface="Arial"/>
              </a:rPr>
              <a:t>e</a:t>
            </a:r>
            <a:r>
              <a:rPr sz="1550" b="1" spc="10" dirty="0">
                <a:latin typeface="Arial"/>
                <a:cs typeface="Arial"/>
              </a:rPr>
              <a:t>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98148" y="5216203"/>
            <a:ext cx="29400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15" dirty="0">
                <a:latin typeface="Arial"/>
                <a:cs typeface="Arial"/>
              </a:rPr>
              <a:t>No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8938" y="5570797"/>
            <a:ext cx="1415415" cy="619760"/>
          </a:xfrm>
          <a:prstGeom prst="rect">
            <a:avLst/>
          </a:prstGeom>
          <a:ln w="9984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415925">
              <a:lnSpc>
                <a:spcPct val="100000"/>
              </a:lnSpc>
              <a:spcBef>
                <a:spcPts val="1395"/>
              </a:spcBef>
            </a:pPr>
            <a:r>
              <a:rPr sz="1550" b="1" spc="5" dirty="0">
                <a:latin typeface="Arial"/>
                <a:cs typeface="Arial"/>
              </a:rPr>
              <a:t>Finish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86334" y="5246460"/>
            <a:ext cx="0" cy="259715"/>
          </a:xfrm>
          <a:custGeom>
            <a:avLst/>
            <a:gdLst/>
            <a:ahLst/>
            <a:cxnLst/>
            <a:rect l="l" t="t" r="r" b="b"/>
            <a:pathLst>
              <a:path h="259714">
                <a:moveTo>
                  <a:pt x="0" y="0"/>
                </a:moveTo>
                <a:lnTo>
                  <a:pt x="0" y="259679"/>
                </a:lnTo>
              </a:path>
            </a:pathLst>
          </a:custGeom>
          <a:ln w="9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49401" y="5496904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73867" y="0"/>
                </a:moveTo>
                <a:lnTo>
                  <a:pt x="0" y="0"/>
                </a:lnTo>
                <a:lnTo>
                  <a:pt x="36933" y="73889"/>
                </a:lnTo>
                <a:lnTo>
                  <a:pt x="73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94715" y="5158740"/>
            <a:ext cx="5255260" cy="107950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758314" marR="167640" indent="-1581150">
              <a:lnSpc>
                <a:spcPct val="100000"/>
              </a:lnSpc>
              <a:spcBef>
                <a:spcPts val="280"/>
              </a:spcBef>
            </a:pP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Fault Sim. </a:t>
            </a:r>
            <a:r>
              <a:rPr sz="3200" b="1" spc="-45" dirty="0">
                <a:solidFill>
                  <a:srgbClr val="FF0000"/>
                </a:solidFill>
                <a:latin typeface="Helvetica"/>
                <a:cs typeface="Helvetica"/>
              </a:rPr>
              <a:t>Very</a:t>
            </a:r>
            <a:r>
              <a:rPr sz="3200" b="1" spc="-10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Important  for</a:t>
            </a:r>
            <a:r>
              <a:rPr sz="3200" b="1" spc="-14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spc="-60" dirty="0">
                <a:solidFill>
                  <a:srgbClr val="FF0000"/>
                </a:solidFill>
                <a:latin typeface="Helvetica"/>
                <a:cs typeface="Helvetica"/>
              </a:rPr>
              <a:t>ATPG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889500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 simulation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Serial fault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Parallel fault simulation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(1965)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PPSFP (1985)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latin typeface="Arial"/>
                <a:cs typeface="Arial"/>
              </a:rPr>
              <a:t>Deductive </a:t>
            </a:r>
            <a:r>
              <a:rPr sz="2000" b="1" dirty="0">
                <a:latin typeface="Arial"/>
                <a:cs typeface="Arial"/>
              </a:rPr>
              <a:t>fault simulation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(1972)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01592" y="3645408"/>
            <a:ext cx="3094944" cy="2014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0729" y="164414"/>
            <a:ext cx="4958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Arial-BoldItalicMT"/>
                <a:cs typeface="Arial-BoldItalicMT"/>
              </a:rPr>
              <a:t>Serial Fault</a:t>
            </a:r>
            <a:r>
              <a:rPr i="1" spc="-70" dirty="0">
                <a:latin typeface="Arial-BoldItalicMT"/>
                <a:cs typeface="Arial-BoldItalicMT"/>
              </a:rPr>
              <a:t> </a:t>
            </a:r>
            <a:r>
              <a:rPr i="1" dirty="0">
                <a:latin typeface="Arial-BoldItalicMT"/>
                <a:cs typeface="Arial-BoldItalicMT"/>
              </a:rPr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8326755" cy="37141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989455" algn="l"/>
              </a:tabLst>
            </a:pPr>
            <a:r>
              <a:rPr sz="2000" b="1" spc="-5" dirty="0">
                <a:latin typeface="Arial"/>
                <a:cs typeface="Arial"/>
              </a:rPr>
              <a:t>Simple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Idea:	</a:t>
            </a:r>
            <a:r>
              <a:rPr sz="2000" b="1" dirty="0">
                <a:latin typeface="Arial"/>
                <a:cs typeface="Arial"/>
              </a:rPr>
              <a:t>Run a fault-free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simulation, store good</a:t>
            </a:r>
            <a:r>
              <a:rPr sz="2000" b="1" spc="-1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For </a:t>
            </a:r>
            <a:r>
              <a:rPr sz="2000" b="1" spc="-5" dirty="0">
                <a:latin typeface="Arial"/>
                <a:cs typeface="Arial"/>
              </a:rPr>
              <a:t>every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Modify good circuit (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 injection</a:t>
            </a:r>
            <a:r>
              <a:rPr sz="2000" b="1" dirty="0">
                <a:latin typeface="Arial"/>
                <a:cs typeface="Arial"/>
              </a:rPr>
              <a:t>) to obtain a faulty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spc="-30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Run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simulation on faulty</a:t>
            </a:r>
            <a:r>
              <a:rPr sz="2000" b="1" spc="-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Compare faulty outputs </a:t>
            </a:r>
            <a:r>
              <a:rPr sz="2000" b="1" spc="5" dirty="0">
                <a:latin typeface="Arial"/>
                <a:cs typeface="Arial"/>
              </a:rPr>
              <a:t>with </a:t>
            </a:r>
            <a:r>
              <a:rPr sz="2000" b="1" dirty="0">
                <a:latin typeface="Arial"/>
                <a:cs typeface="Arial"/>
              </a:rPr>
              <a:t>stored good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outputs</a:t>
            </a:r>
            <a:endParaRPr sz="2000" dirty="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40"/>
              </a:spcBef>
              <a:tabLst>
                <a:tab pos="1612900" algn="l"/>
              </a:tabLst>
            </a:pPr>
            <a:r>
              <a:rPr sz="1400" spc="-50" dirty="0">
                <a:solidFill>
                  <a:srgbClr val="FF0000"/>
                </a:solidFill>
                <a:latin typeface="Arial"/>
                <a:cs typeface="Arial"/>
              </a:rPr>
              <a:t>−	</a:t>
            </a:r>
            <a:r>
              <a:rPr sz="2000" b="1" dirty="0">
                <a:latin typeface="Arial"/>
                <a:cs typeface="Arial"/>
              </a:rPr>
              <a:t>fault is detected if they are</a:t>
            </a:r>
            <a:r>
              <a:rPr sz="2000" b="1" spc="-13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3333FF"/>
                </a:solidFill>
                <a:latin typeface="Arial"/>
                <a:cs typeface="Arial"/>
              </a:rPr>
              <a:t>different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Advantages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Easy to implement (regular </a:t>
            </a:r>
            <a:r>
              <a:rPr sz="2000" b="1" spc="-5" dirty="0">
                <a:latin typeface="Arial"/>
                <a:cs typeface="Arial"/>
              </a:rPr>
              <a:t>logic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simulator).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Ability to simulate many fault models (stuck-at, </a:t>
            </a:r>
            <a:r>
              <a:rPr sz="2000" b="1" spc="-5" dirty="0">
                <a:latin typeface="Arial"/>
                <a:cs typeface="Arial"/>
              </a:rPr>
              <a:t>delay,</a:t>
            </a:r>
            <a:r>
              <a:rPr sz="2000" b="1" spc="-2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…)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Disadvantage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Long CPU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time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2CE2A98-4DE6-0A7B-19FD-EE51CFADA66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245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81928"/>
              </p:ext>
            </p:extLst>
          </p:nvPr>
        </p:nvGraphicFramePr>
        <p:xfrm>
          <a:off x="461962" y="4054475"/>
          <a:ext cx="5907400" cy="2392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1325">
                <a:tc rowSpan="2"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Pat.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Internal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800" b="1" dirty="0">
                          <a:latin typeface="Arial"/>
                          <a:cs typeface="Arial"/>
                        </a:rPr>
                        <a:t>Good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C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J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H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K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7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5462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5462">
                        <a:latin typeface="Arial-BoldItalicMT"/>
                        <a:cs typeface="Arial-BoldItalicMT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2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5462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5462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299">
                <a:tc>
                  <a:txBody>
                    <a:bodyPr/>
                    <a:lstStyle/>
                    <a:p>
                      <a:pPr marL="218440">
                        <a:lnSpc>
                          <a:spcPts val="1814"/>
                        </a:lnSpc>
                        <a:spcBef>
                          <a:spcPts val="32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5462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5462" dirty="0">
                        <a:latin typeface="Arial-BoldItalicMT"/>
                        <a:cs typeface="Arial-BoldItalicMT"/>
                      </a:endParaRPr>
                    </a:p>
                    <a:p>
                      <a:pPr>
                        <a:lnSpc>
                          <a:spcPts val="1240"/>
                        </a:lnSpc>
                      </a:pP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433818" y="1182647"/>
            <a:ext cx="211454" cy="543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600" b="1" spc="-5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15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42300"/>
              </a:lnSpc>
            </a:pPr>
            <a:r>
              <a:rPr sz="1600" b="1" spc="-5" dirty="0">
                <a:latin typeface="Arial"/>
                <a:cs typeface="Arial"/>
              </a:rPr>
              <a:t>-  P</a:t>
            </a:r>
            <a:r>
              <a:rPr sz="1575" b="1" spc="7" baseline="-21164" dirty="0">
                <a:latin typeface="Arial"/>
                <a:cs typeface="Arial"/>
              </a:rPr>
              <a:t>2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422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-  P</a:t>
            </a:r>
            <a:r>
              <a:rPr sz="1575" b="1" spc="7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 algn="just">
              <a:lnSpc>
                <a:spcPct val="142300"/>
              </a:lnSpc>
            </a:pP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3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1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15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42400"/>
              </a:lnSpc>
            </a:pPr>
            <a:r>
              <a:rPr sz="1600" b="1" spc="-5" dirty="0">
                <a:latin typeface="Arial"/>
                <a:cs typeface="Arial"/>
              </a:rPr>
              <a:t>-  P</a:t>
            </a:r>
            <a:r>
              <a:rPr sz="1575" b="1" spc="7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 algn="just">
              <a:lnSpc>
                <a:spcPct val="1423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3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3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r>
              <a:rPr sz="1600" b="1" spc="-5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r>
              <a:rPr sz="1600" b="1" spc="-5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831" y="912875"/>
            <a:ext cx="6120765" cy="1229183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  <a:tabLst>
                <a:tab pos="511175" algn="l"/>
              </a:tabLst>
            </a:pPr>
            <a:r>
              <a:rPr sz="2000" b="1" dirty="0">
                <a:latin typeface="Helvetica"/>
                <a:cs typeface="Helvetica"/>
              </a:rPr>
              <a:t>Q:	</a:t>
            </a:r>
            <a:r>
              <a:rPr sz="1800" b="1" spc="-10" dirty="0">
                <a:latin typeface="Arial"/>
                <a:cs typeface="Arial"/>
              </a:rPr>
              <a:t>Apply </a:t>
            </a:r>
            <a:r>
              <a:rPr sz="1800" b="1" spc="-5" dirty="0">
                <a:latin typeface="Arial"/>
                <a:cs typeface="Arial"/>
              </a:rPr>
              <a:t>3 test patterns: 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baseline="-20833" dirty="0">
                <a:latin typeface="Arial"/>
                <a:cs typeface="Arial"/>
              </a:rPr>
              <a:t>1</a:t>
            </a:r>
            <a:r>
              <a:rPr sz="1800" b="1" dirty="0">
                <a:latin typeface="Arial"/>
                <a:cs typeface="Arial"/>
              </a:rPr>
              <a:t>, </a:t>
            </a:r>
            <a:r>
              <a:rPr sz="1800" b="1" spc="-5" dirty="0">
                <a:latin typeface="Arial"/>
                <a:cs typeface="Arial"/>
              </a:rPr>
              <a:t>P</a:t>
            </a:r>
            <a:r>
              <a:rPr sz="1800" b="1" spc="-7" baseline="-20833" dirty="0">
                <a:latin typeface="Arial"/>
                <a:cs typeface="Arial"/>
              </a:rPr>
              <a:t>2</a:t>
            </a:r>
            <a:r>
              <a:rPr sz="1800" b="1" spc="-5" dirty="0">
                <a:latin typeface="Arial"/>
                <a:cs typeface="Arial"/>
              </a:rPr>
              <a:t>, P</a:t>
            </a:r>
            <a:r>
              <a:rPr sz="1800" b="1" spc="-7" baseline="-20833" dirty="0">
                <a:latin typeface="Arial"/>
                <a:cs typeface="Arial"/>
              </a:rPr>
              <a:t>3</a:t>
            </a:r>
            <a:r>
              <a:rPr sz="1800" b="1" spc="-5" dirty="0">
                <a:latin typeface="Arial"/>
                <a:cs typeface="Arial"/>
              </a:rPr>
              <a:t>: {0,1,0}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{0,0,1}</a:t>
            </a:r>
            <a:endParaRPr sz="1800" dirty="0">
              <a:latin typeface="Arial"/>
              <a:cs typeface="Arial"/>
            </a:endParaRPr>
          </a:p>
          <a:p>
            <a:pPr marL="90805" marR="18097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{1,0,0}. Please </a:t>
            </a:r>
            <a:r>
              <a:rPr sz="1800" b="1" dirty="0">
                <a:latin typeface="Arial"/>
                <a:cs typeface="Arial"/>
              </a:rPr>
              <a:t>use </a:t>
            </a:r>
            <a:r>
              <a:rPr sz="1800" b="1" spc="-5" dirty="0">
                <a:latin typeface="Arial"/>
                <a:cs typeface="Arial"/>
              </a:rPr>
              <a:t>serial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5" dirty="0">
                <a:latin typeface="Arial"/>
                <a:cs typeface="Arial"/>
              </a:rPr>
              <a:t>simulation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determine 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10" dirty="0">
                <a:latin typeface="Arial"/>
                <a:cs typeface="Arial"/>
              </a:rPr>
              <a:t>coverage </a:t>
            </a:r>
            <a:r>
              <a:rPr sz="1800" b="1" dirty="0">
                <a:latin typeface="Arial"/>
                <a:cs typeface="Arial"/>
              </a:rPr>
              <a:t>? Consider all </a:t>
            </a:r>
            <a:r>
              <a:rPr sz="1800" b="1" spc="-5" dirty="0">
                <a:latin typeface="Arial"/>
                <a:cs typeface="Arial"/>
              </a:rPr>
              <a:t>18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faults.</a:t>
            </a:r>
            <a:endParaRPr sz="180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434"/>
              </a:spcBef>
            </a:pPr>
            <a:r>
              <a:rPr sz="1800" b="1" spc="-55" dirty="0">
                <a:latin typeface="Arial"/>
                <a:cs typeface="Arial"/>
              </a:rPr>
              <a:t>A: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509091"/>
              </p:ext>
            </p:extLst>
          </p:nvPr>
        </p:nvGraphicFramePr>
        <p:xfrm>
          <a:off x="6581775" y="76200"/>
          <a:ext cx="1613218" cy="6519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fault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Det. by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A/1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575" b="1" baseline="-21164" dirty="0">
                          <a:latin typeface="Arial"/>
                          <a:cs typeface="Arial"/>
                        </a:rPr>
                        <a:t>1</a:t>
                      </a:r>
                      <a:endParaRPr sz="1575" baseline="-21164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A/0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-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B/1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AF5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5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B/0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090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964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H/1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H/0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090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J/1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964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J/0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6976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K/1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7002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K/0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47002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L/1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548">
                <a:tc rowSpan="2">
                  <a:txBody>
                    <a:bodyPr/>
                    <a:lstStyle/>
                    <a:p>
                      <a:pPr marL="45085" marR="0" lvl="0" indent="0" defTabSz="914400" eaLnBrk="1" fontAlgn="auto" latinLnBrk="0" hangingPunct="1">
                        <a:lnSpc>
                          <a:spcPts val="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spc="-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45085" marR="0" lvl="0" indent="0" defTabSz="914400" eaLnBrk="1" fontAlgn="auto" latinLnBrk="0" hangingPunct="1">
                        <a:lnSpc>
                          <a:spcPts val="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spc="-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45085" marR="0" lvl="0" indent="0" defTabSz="914400" eaLnBrk="1" fontAlgn="auto" latinLnBrk="0" hangingPunct="1">
                        <a:lnSpc>
                          <a:spcPts val="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600" b="1" spc="-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L/0</a:t>
                      </a: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27088E1-15C8-FA89-EB09-B7A579AE02A7}"/>
              </a:ext>
            </a:extLst>
          </p:cNvPr>
          <p:cNvSpPr txBox="1"/>
          <p:nvPr/>
        </p:nvSpPr>
        <p:spPr>
          <a:xfrm>
            <a:off x="7391400" y="1143000"/>
            <a:ext cx="719582" cy="542086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B0348D82-ECBD-1B51-B1CA-E026A18FF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33600"/>
            <a:ext cx="5562600" cy="1701800"/>
          </a:xfrm>
          <a:prstGeom prst="rect">
            <a:avLst/>
          </a:prstGeom>
        </p:spPr>
      </p:pic>
      <p:sp>
        <p:nvSpPr>
          <p:cNvPr id="4" name="object 5">
            <a:extLst>
              <a:ext uri="{FF2B5EF4-FFF2-40B4-BE49-F238E27FC236}">
                <a16:creationId xmlns:a16="http://schemas.microsoft.com/office/drawing/2014/main" id="{195D85DB-EFDB-141B-2F15-F78F36015DA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446671"/>
            <a:ext cx="43342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00246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1962" y="4359275"/>
          <a:ext cx="5907400" cy="2244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1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1325">
                <a:tc rowSpan="2"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Pat.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168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Input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Internal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Output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2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A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B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C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E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F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L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J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H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K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7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5462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5462">
                        <a:latin typeface="Arial-BoldItalicMT"/>
                        <a:cs typeface="Arial-BoldItalicMT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2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5462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5462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299">
                <a:tc>
                  <a:txBody>
                    <a:bodyPr/>
                    <a:lstStyle/>
                    <a:p>
                      <a:pPr marL="218440">
                        <a:lnSpc>
                          <a:spcPts val="1814"/>
                        </a:lnSpc>
                        <a:spcBef>
                          <a:spcPts val="32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5462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5462" dirty="0">
                        <a:latin typeface="Arial-BoldItalicMT"/>
                        <a:cs typeface="Arial-BoldItalicMT"/>
                      </a:endParaRPr>
                    </a:p>
                    <a:p>
                      <a:pPr>
                        <a:lnSpc>
                          <a:spcPts val="1240"/>
                        </a:lnSpc>
                      </a:pP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0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433818" y="1182647"/>
            <a:ext cx="211454" cy="543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600" b="1" spc="-5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15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42300"/>
              </a:lnSpc>
            </a:pPr>
            <a:r>
              <a:rPr sz="1600" b="1" spc="-5" dirty="0">
                <a:latin typeface="Arial"/>
                <a:cs typeface="Arial"/>
              </a:rPr>
              <a:t>-  P</a:t>
            </a:r>
            <a:r>
              <a:rPr sz="1575" b="1" spc="7" baseline="-21164" dirty="0">
                <a:latin typeface="Arial"/>
                <a:cs typeface="Arial"/>
              </a:rPr>
              <a:t>2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422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-  P</a:t>
            </a:r>
            <a:r>
              <a:rPr sz="1575" b="1" spc="7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 algn="just">
              <a:lnSpc>
                <a:spcPct val="142300"/>
              </a:lnSpc>
            </a:pP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3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1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15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42400"/>
              </a:lnSpc>
            </a:pPr>
            <a:r>
              <a:rPr sz="1600" b="1" spc="-5" dirty="0">
                <a:latin typeface="Arial"/>
                <a:cs typeface="Arial"/>
              </a:rPr>
              <a:t>-  P</a:t>
            </a:r>
            <a:r>
              <a:rPr sz="1575" b="1" spc="7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 algn="just">
              <a:lnSpc>
                <a:spcPct val="1423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3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3  </a:t>
            </a:r>
            <a:r>
              <a:rPr sz="1600" b="1" spc="-5" dirty="0">
                <a:latin typeface="Arial"/>
                <a:cs typeface="Arial"/>
              </a:rPr>
              <a:t>P</a:t>
            </a:r>
            <a:r>
              <a:rPr sz="1575" b="1" spc="7" baseline="-21164" dirty="0">
                <a:latin typeface="Arial"/>
                <a:cs typeface="Arial"/>
              </a:rPr>
              <a:t>1</a:t>
            </a:r>
            <a:endParaRPr sz="1575" baseline="-2116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r>
              <a:rPr sz="1600" b="1" spc="-5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r>
              <a:rPr sz="1600" b="1" spc="-5" dirty="0"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831" y="912875"/>
            <a:ext cx="6120765" cy="1229183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  <a:tabLst>
                <a:tab pos="511175" algn="l"/>
              </a:tabLst>
            </a:pPr>
            <a:r>
              <a:rPr sz="2000" b="1" dirty="0">
                <a:latin typeface="Helvetica"/>
                <a:cs typeface="Helvetica"/>
              </a:rPr>
              <a:t>Q:	</a:t>
            </a:r>
            <a:r>
              <a:rPr sz="1800" b="1" spc="-10" dirty="0">
                <a:latin typeface="Arial"/>
                <a:cs typeface="Arial"/>
              </a:rPr>
              <a:t>Apply </a:t>
            </a:r>
            <a:r>
              <a:rPr sz="1800" b="1" spc="-5" dirty="0">
                <a:latin typeface="Arial"/>
                <a:cs typeface="Arial"/>
              </a:rPr>
              <a:t>3 test patterns: </a:t>
            </a:r>
            <a:r>
              <a:rPr sz="1800" b="1" dirty="0">
                <a:latin typeface="Arial"/>
                <a:cs typeface="Arial"/>
              </a:rPr>
              <a:t>P</a:t>
            </a:r>
            <a:r>
              <a:rPr sz="1800" b="1" baseline="-20833" dirty="0">
                <a:latin typeface="Arial"/>
                <a:cs typeface="Arial"/>
              </a:rPr>
              <a:t>1</a:t>
            </a:r>
            <a:r>
              <a:rPr sz="1800" b="1" dirty="0">
                <a:latin typeface="Arial"/>
                <a:cs typeface="Arial"/>
              </a:rPr>
              <a:t>, </a:t>
            </a:r>
            <a:r>
              <a:rPr sz="1800" b="1" spc="-5" dirty="0">
                <a:latin typeface="Arial"/>
                <a:cs typeface="Arial"/>
              </a:rPr>
              <a:t>P</a:t>
            </a:r>
            <a:r>
              <a:rPr sz="1800" b="1" spc="-7" baseline="-20833" dirty="0">
                <a:latin typeface="Arial"/>
                <a:cs typeface="Arial"/>
              </a:rPr>
              <a:t>2</a:t>
            </a:r>
            <a:r>
              <a:rPr sz="1800" b="1" spc="-5" dirty="0">
                <a:latin typeface="Arial"/>
                <a:cs typeface="Arial"/>
              </a:rPr>
              <a:t>, P</a:t>
            </a:r>
            <a:r>
              <a:rPr sz="1800" b="1" spc="-7" baseline="-20833" dirty="0">
                <a:latin typeface="Arial"/>
                <a:cs typeface="Arial"/>
              </a:rPr>
              <a:t>3</a:t>
            </a:r>
            <a:r>
              <a:rPr sz="1800" b="1" spc="-5" dirty="0">
                <a:latin typeface="Arial"/>
                <a:cs typeface="Arial"/>
              </a:rPr>
              <a:t>: {0,1,0}</a:t>
            </a:r>
            <a:r>
              <a:rPr sz="1800" b="1" spc="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{0,0,1}</a:t>
            </a:r>
            <a:endParaRPr sz="1800" dirty="0">
              <a:latin typeface="Arial"/>
              <a:cs typeface="Arial"/>
            </a:endParaRPr>
          </a:p>
          <a:p>
            <a:pPr marL="90805" marR="18097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{1,0,0}. Please </a:t>
            </a:r>
            <a:r>
              <a:rPr sz="1800" b="1" dirty="0">
                <a:latin typeface="Arial"/>
                <a:cs typeface="Arial"/>
              </a:rPr>
              <a:t>use </a:t>
            </a:r>
            <a:r>
              <a:rPr sz="1800" b="1" spc="-5" dirty="0">
                <a:latin typeface="Arial"/>
                <a:cs typeface="Arial"/>
              </a:rPr>
              <a:t>serial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5" dirty="0">
                <a:latin typeface="Arial"/>
                <a:cs typeface="Arial"/>
              </a:rPr>
              <a:t>simulation </a:t>
            </a:r>
            <a:r>
              <a:rPr sz="1800" b="1" dirty="0">
                <a:latin typeface="Arial"/>
                <a:cs typeface="Arial"/>
              </a:rPr>
              <a:t>to </a:t>
            </a:r>
            <a:r>
              <a:rPr sz="1800" b="1" spc="-5" dirty="0">
                <a:latin typeface="Arial"/>
                <a:cs typeface="Arial"/>
              </a:rPr>
              <a:t>determine  </a:t>
            </a:r>
            <a:r>
              <a:rPr sz="1800" b="1" dirty="0">
                <a:latin typeface="Arial"/>
                <a:cs typeface="Arial"/>
              </a:rPr>
              <a:t>fault </a:t>
            </a:r>
            <a:r>
              <a:rPr sz="1800" b="1" spc="-10" dirty="0">
                <a:latin typeface="Arial"/>
                <a:cs typeface="Arial"/>
              </a:rPr>
              <a:t>coverage </a:t>
            </a:r>
            <a:r>
              <a:rPr sz="1800" b="1" dirty="0">
                <a:latin typeface="Arial"/>
                <a:cs typeface="Arial"/>
              </a:rPr>
              <a:t>? Consider all </a:t>
            </a:r>
            <a:r>
              <a:rPr sz="1800" b="1" spc="-5" dirty="0">
                <a:latin typeface="Arial"/>
                <a:cs typeface="Arial"/>
              </a:rPr>
              <a:t>18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faults.</a:t>
            </a:r>
            <a:endParaRPr sz="180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434"/>
              </a:spcBef>
            </a:pPr>
            <a:r>
              <a:rPr sz="1800" b="1" spc="-55" dirty="0">
                <a:latin typeface="Arial"/>
                <a:cs typeface="Arial"/>
              </a:rPr>
              <a:t>A: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558260"/>
              </p:ext>
            </p:extLst>
          </p:nvPr>
        </p:nvGraphicFramePr>
        <p:xfrm>
          <a:off x="6581775" y="110121"/>
          <a:ext cx="1613218" cy="6519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fault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Det. by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A/1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575" b="1" baseline="-21164" dirty="0">
                          <a:latin typeface="Arial"/>
                          <a:cs typeface="Arial"/>
                        </a:rPr>
                        <a:t>1</a:t>
                      </a:r>
                      <a:endParaRPr sz="1575" baseline="-21164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A/0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-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B/1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AF5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54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B/0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090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E/0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091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F/0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964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H/1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963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H/0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7090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J/1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964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J/0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6976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K/1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7002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K/0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47002">
                <a:tc>
                  <a:txBody>
                    <a:bodyPr/>
                    <a:lstStyle/>
                    <a:p>
                      <a:pPr marL="92075" marR="304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L/1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0548">
                <a:tc rowSpan="2">
                  <a:txBody>
                    <a:bodyPr/>
                    <a:lstStyle/>
                    <a:p>
                      <a:pPr marL="45085" marR="0" lvl="0" indent="0" defTabSz="914400" eaLnBrk="1" fontAlgn="auto" latinLnBrk="0" hangingPunct="1">
                        <a:lnSpc>
                          <a:spcPts val="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spc="-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45085" marR="0" lvl="0" indent="0" defTabSz="914400" eaLnBrk="1" fontAlgn="auto" latinLnBrk="0" hangingPunct="1">
                        <a:lnSpc>
                          <a:spcPts val="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spc="-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  <a:p>
                      <a:pPr marL="45085" marR="0" lvl="0" indent="0" defTabSz="914400" eaLnBrk="1" fontAlgn="auto" latinLnBrk="0" hangingPunct="1">
                        <a:lnSpc>
                          <a:spcPts val="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600" b="1" spc="-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L/0</a:t>
                      </a: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AF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AF5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1C2DA54-A030-E2BC-D5C1-3A812B757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38400"/>
            <a:ext cx="5562600" cy="1701800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0954C3C1-A343-0517-C414-142467E80D1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477000"/>
            <a:ext cx="43342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306516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12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2187" y="164414"/>
            <a:ext cx="6731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Complexity </a:t>
            </a:r>
            <a:r>
              <a:rPr spc="-10" dirty="0"/>
              <a:t>of </a:t>
            </a:r>
            <a:r>
              <a:rPr dirty="0"/>
              <a:t>Fault</a:t>
            </a:r>
            <a:r>
              <a:rPr spc="10" dirty="0"/>
              <a:t> </a:t>
            </a:r>
            <a:r>
              <a:rPr spc="-5"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825" y="900785"/>
            <a:ext cx="6737350" cy="305981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Fault </a:t>
            </a:r>
            <a:r>
              <a:rPr sz="2000" b="1" spc="-5" dirty="0">
                <a:latin typeface="Arial"/>
                <a:cs typeface="Arial"/>
              </a:rPr>
              <a:t>Simulation </a:t>
            </a:r>
            <a:r>
              <a:rPr sz="2000" b="1" dirty="0">
                <a:latin typeface="Arial"/>
                <a:cs typeface="Arial"/>
              </a:rPr>
              <a:t>Complexity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O(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FxPxG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F</a:t>
            </a:r>
            <a:r>
              <a:rPr sz="2000" b="1" dirty="0">
                <a:latin typeface="Arial"/>
                <a:cs typeface="Arial"/>
              </a:rPr>
              <a:t>: number of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i="1" spc="-5" dirty="0">
                <a:latin typeface="Arial-BoldItalicMT"/>
                <a:cs typeface="Arial-BoldItalicMT"/>
              </a:rPr>
              <a:t>P</a:t>
            </a:r>
            <a:r>
              <a:rPr sz="2000" b="1" spc="-5" dirty="0">
                <a:latin typeface="Arial"/>
                <a:cs typeface="Arial"/>
              </a:rPr>
              <a:t>: </a:t>
            </a:r>
            <a:r>
              <a:rPr sz="2000" b="1" dirty="0">
                <a:latin typeface="Arial"/>
                <a:cs typeface="Arial"/>
              </a:rPr>
              <a:t>number of test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</a:tabLst>
            </a:pPr>
            <a:r>
              <a:rPr sz="2000" b="1" i="1" dirty="0">
                <a:latin typeface="Arial-BoldItalicMT"/>
                <a:cs typeface="Arial-BoldItalicMT"/>
              </a:rPr>
              <a:t>G</a:t>
            </a:r>
            <a:r>
              <a:rPr sz="2000" b="1" dirty="0">
                <a:latin typeface="Arial"/>
                <a:cs typeface="Arial"/>
              </a:rPr>
              <a:t>: number of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gates</a:t>
            </a:r>
            <a:endParaRPr sz="2000" dirty="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000" b="1" dirty="0">
                <a:latin typeface="Arial"/>
                <a:cs typeface="Arial"/>
              </a:rPr>
              <a:t>Comparison</a:t>
            </a:r>
            <a:endParaRPr sz="2000" dirty="0">
              <a:latin typeface="Arial"/>
              <a:cs typeface="Arial"/>
            </a:endParaRPr>
          </a:p>
          <a:p>
            <a:pPr marL="781685" indent="-34353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781685" algn="l"/>
                <a:tab pos="782320" algn="l"/>
                <a:tab pos="3022600" algn="l"/>
              </a:tabLst>
            </a:pPr>
            <a:r>
              <a:rPr sz="2000" b="1" dirty="0">
                <a:latin typeface="Arial"/>
                <a:cs typeface="Arial"/>
              </a:rPr>
              <a:t>Logic simulation:	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O(G x</a:t>
            </a:r>
            <a:r>
              <a:rPr sz="20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P)</a:t>
            </a:r>
            <a:endParaRPr sz="2000" dirty="0">
              <a:latin typeface="Arial"/>
              <a:cs typeface="Arial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81685" algn="l"/>
                <a:tab pos="782320" algn="l"/>
                <a:tab pos="1712595" algn="l"/>
              </a:tabLst>
            </a:pPr>
            <a:r>
              <a:rPr sz="2000" b="1" dirty="0">
                <a:latin typeface="Arial"/>
                <a:cs typeface="Arial"/>
              </a:rPr>
              <a:t>ATPG:	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O(G x </a:t>
            </a:r>
            <a:r>
              <a:rPr sz="2000" b="1" spc="1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1950" b="1" spc="22" baseline="25641" dirty="0">
                <a:solidFill>
                  <a:srgbClr val="FF0000"/>
                </a:solidFill>
                <a:latin typeface="Arial"/>
                <a:cs typeface="Arial"/>
              </a:rPr>
              <a:t>number_of_PI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20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F)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0167" y="4593510"/>
            <a:ext cx="6035040" cy="58674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284"/>
              </a:spcBef>
            </a:pPr>
            <a:r>
              <a:rPr sz="3200" b="1" spc="-60" dirty="0">
                <a:solidFill>
                  <a:srgbClr val="FF0000"/>
                </a:solidFill>
                <a:latin typeface="Helvetica"/>
                <a:cs typeface="Helvetica"/>
              </a:rPr>
              <a:t>ATPG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&gt; 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Fault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Sim &gt; Logic</a:t>
            </a:r>
            <a:r>
              <a:rPr sz="3200" b="1" spc="-55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Sim</a:t>
            </a:r>
            <a:endParaRPr sz="32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889500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 simulation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Serial fault</a:t>
            </a:r>
            <a:r>
              <a:rPr sz="2000" b="1" spc="-6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Parallel fault simulation</a:t>
            </a:r>
            <a:r>
              <a:rPr sz="2000" b="1" u="sng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(1965)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latin typeface="Arial"/>
                <a:cs typeface="Arial"/>
              </a:rPr>
              <a:t>PPSFP (1985)</a:t>
            </a:r>
            <a:r>
              <a:rPr lang="en-US" sz="2000" b="1" u="sng" dirty="0">
                <a:latin typeface="Arial"/>
                <a:cs typeface="Arial"/>
              </a:rPr>
              <a:t> (parallel pattern)</a:t>
            </a:r>
            <a:endParaRPr sz="2000" u="sng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Deductive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 simulation</a:t>
            </a:r>
            <a:r>
              <a:rPr sz="2000" b="1" spc="-8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(1972)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8540" y="3863340"/>
            <a:ext cx="3096248" cy="2016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13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14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505" y="164414"/>
            <a:ext cx="5488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Two Types </a:t>
            </a:r>
            <a:r>
              <a:rPr spc="-10" dirty="0"/>
              <a:t>of</a:t>
            </a:r>
            <a:r>
              <a:rPr spc="-90" dirty="0"/>
              <a:t> </a:t>
            </a:r>
            <a:r>
              <a:rPr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656195" cy="21596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Exploit parallelism of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instructions (bit-wise</a:t>
            </a:r>
            <a:r>
              <a:rPr sz="2000" b="1" spc="-1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operations)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1. Parallelism in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i="1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i="1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Parallel </a:t>
            </a:r>
            <a:r>
              <a:rPr sz="2000" b="1" i="1" u="sng" dirty="0">
                <a:solidFill>
                  <a:srgbClr val="FF0000"/>
                </a:solidFill>
                <a:latin typeface="Arial-BoldItalicMT"/>
                <a:cs typeface="Arial-BoldItalicMT"/>
              </a:rPr>
              <a:t>Fault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spc="-5" dirty="0">
                <a:solidFill>
                  <a:srgbClr val="FF0000"/>
                </a:solidFill>
                <a:latin typeface="Arial-BoldItalicMT"/>
                <a:cs typeface="Arial-BoldItalicMT"/>
              </a:rPr>
              <a:t>Simulation </a:t>
            </a:r>
            <a:r>
              <a:rPr sz="2000" b="1" dirty="0">
                <a:latin typeface="Arial"/>
                <a:cs typeface="Arial"/>
              </a:rPr>
              <a:t>[Seshu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65]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2. Parallelism in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patterns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i="1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i="1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Parallel </a:t>
            </a:r>
            <a:r>
              <a:rPr sz="2000" b="1" i="1" u="sng" dirty="0">
                <a:solidFill>
                  <a:srgbClr val="FF0000"/>
                </a:solidFill>
                <a:latin typeface="Arial-BoldItalicMT"/>
                <a:cs typeface="Arial-BoldItalicMT"/>
              </a:rPr>
              <a:t>Pattern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 Single Fault Propagation,</a:t>
            </a:r>
            <a:r>
              <a:rPr sz="2000" b="1" i="1" spc="-145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PPSFP</a:t>
            </a:r>
            <a:endParaRPr sz="2000" dirty="0">
              <a:latin typeface="Arial-BoldItalicMT"/>
              <a:cs typeface="Arial-BoldItalicMT"/>
            </a:endParaRPr>
          </a:p>
          <a:p>
            <a:pPr marL="1155700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[Wacukauski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85]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094" y="164414"/>
            <a:ext cx="5334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Parallel </a:t>
            </a:r>
            <a:r>
              <a:rPr spc="-5" dirty="0"/>
              <a:t>Fault</a:t>
            </a:r>
            <a:r>
              <a:rPr spc="-90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23709" y="367106"/>
            <a:ext cx="13112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933FF"/>
                </a:solidFill>
                <a:latin typeface="Arial"/>
                <a:cs typeface="Arial"/>
              </a:rPr>
              <a:t>[Seshu</a:t>
            </a:r>
            <a:r>
              <a:rPr sz="2000" b="1" spc="-85" dirty="0">
                <a:solidFill>
                  <a:srgbClr val="9933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9933FF"/>
                </a:solidFill>
                <a:latin typeface="Arial"/>
                <a:cs typeface="Arial"/>
              </a:rPr>
              <a:t>65]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225" y="900785"/>
            <a:ext cx="8274684" cy="180562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Run parallel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simulation with </a:t>
            </a:r>
            <a:r>
              <a:rPr sz="2000" b="1" i="1" dirty="0">
                <a:latin typeface="Arial-BoldItalicMT"/>
                <a:cs typeface="Arial-BoldItalicMT"/>
              </a:rPr>
              <a:t>W</a:t>
            </a:r>
            <a:r>
              <a:rPr sz="2000" b="1" dirty="0">
                <a:latin typeface="Arial"/>
                <a:cs typeface="Arial"/>
              </a:rPr>
              <a:t>-1 faults </a:t>
            </a:r>
            <a:r>
              <a:rPr sz="2000" b="1" spc="5" dirty="0">
                <a:latin typeface="Arial"/>
                <a:cs typeface="Arial"/>
              </a:rPr>
              <a:t>(</a:t>
            </a: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W </a:t>
            </a:r>
            <a:r>
              <a:rPr lang="en-US" sz="2000" b="1" dirty="0">
                <a:latin typeface="Arial"/>
                <a:cs typeface="Arial"/>
              </a:rPr>
              <a:t>determined by platform</a:t>
            </a:r>
            <a:r>
              <a:rPr sz="2000" b="1" dirty="0"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one </a:t>
            </a:r>
            <a:r>
              <a:rPr sz="2000" b="1" spc="-5" dirty="0">
                <a:latin typeface="Arial"/>
                <a:cs typeface="Arial"/>
              </a:rPr>
              <a:t>bit </a:t>
            </a:r>
            <a:r>
              <a:rPr sz="2000" b="1" dirty="0">
                <a:latin typeface="Arial"/>
                <a:cs typeface="Arial"/>
              </a:rPr>
              <a:t>for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fault-free</a:t>
            </a:r>
            <a:r>
              <a:rPr sz="2000" b="1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W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-1 </a:t>
            </a:r>
            <a:r>
              <a:rPr sz="2000" b="1" dirty="0">
                <a:latin typeface="Arial"/>
                <a:cs typeface="Arial"/>
              </a:rPr>
              <a:t>bits for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faulty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r>
              <a:rPr lang="en-US" sz="2000" b="1" dirty="0">
                <a:latin typeface="Arial"/>
                <a:cs typeface="Arial"/>
              </a:rPr>
              <a:t>s assuming one fault in each circuit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(</a:t>
            </a: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W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-1</a:t>
            </a:r>
            <a:r>
              <a:rPr sz="2000" b="1" dirty="0">
                <a:latin typeface="Arial"/>
                <a:cs typeface="Arial"/>
              </a:rPr>
              <a:t>) times faster than serial fault simulation (w/o fault</a:t>
            </a:r>
            <a:r>
              <a:rPr sz="2000" b="1" spc="-2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dropping)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92618"/>
              </p:ext>
            </p:extLst>
          </p:nvPr>
        </p:nvGraphicFramePr>
        <p:xfrm>
          <a:off x="2119883" y="3902710"/>
          <a:ext cx="1619250" cy="646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93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3600" b="1" i="1" dirty="0">
                          <a:latin typeface="HelveticaNeue-BoldItalic"/>
                          <a:cs typeface="HelveticaNeue-BoldItalic"/>
                        </a:rPr>
                        <a:t>G</a:t>
                      </a:r>
                      <a:endParaRPr sz="3600">
                        <a:latin typeface="HelveticaNeue-BoldItalic"/>
                        <a:cs typeface="HelveticaNeue-BoldItalic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600" b="1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3600" b="1" baseline="-20833" dirty="0">
                          <a:latin typeface="Helvetica"/>
                          <a:cs typeface="Helvetica"/>
                        </a:rPr>
                        <a:t>1</a:t>
                      </a:r>
                      <a:endParaRPr sz="3600" baseline="-20833">
                        <a:latin typeface="Helvetica"/>
                        <a:cs typeface="Helvetic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3600" b="1" dirty="0">
                          <a:latin typeface="Helvetica"/>
                          <a:cs typeface="Helvetica"/>
                        </a:rPr>
                        <a:t>f</a:t>
                      </a:r>
                      <a:r>
                        <a:rPr sz="3600" b="1" baseline="-20833" dirty="0">
                          <a:latin typeface="Helvetica"/>
                          <a:cs typeface="Helvetica"/>
                        </a:rPr>
                        <a:t>2</a:t>
                      </a:r>
                      <a:endParaRPr sz="3600" baseline="-20833">
                        <a:latin typeface="Helvetica"/>
                        <a:cs typeface="Helvetica"/>
                      </a:endParaRPr>
                    </a:p>
                  </a:txBody>
                  <a:tcPr marL="0" marR="0" marT="330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283964" y="3906519"/>
            <a:ext cx="54102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23495">
              <a:lnSpc>
                <a:spcPts val="4230"/>
              </a:lnSpc>
              <a:spcBef>
                <a:spcPts val="855"/>
              </a:spcBef>
            </a:pPr>
            <a:r>
              <a:rPr sz="5400" b="1" baseline="9259" dirty="0">
                <a:latin typeface="Helvetica"/>
                <a:cs typeface="Helvetica"/>
              </a:rPr>
              <a:t>f</a:t>
            </a:r>
            <a:r>
              <a:rPr sz="1600" b="1" spc="35" dirty="0">
                <a:latin typeface="Helvetica"/>
                <a:cs typeface="Helvetica"/>
              </a:rPr>
              <a:t>w</a:t>
            </a:r>
            <a:r>
              <a:rPr sz="1600" b="1" spc="-10" dirty="0">
                <a:latin typeface="Helvetica"/>
                <a:cs typeface="Helvetica"/>
              </a:rPr>
              <a:t>-</a:t>
            </a:r>
            <a:r>
              <a:rPr sz="1600" b="1" spc="-5" dirty="0">
                <a:latin typeface="Helvetica"/>
                <a:cs typeface="Helvetica"/>
              </a:rPr>
              <a:t>1</a:t>
            </a:r>
            <a:endParaRPr sz="1600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2915" y="3927678"/>
            <a:ext cx="4832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Helvetica"/>
                <a:cs typeface="Helvetica"/>
              </a:rPr>
              <a:t>…</a:t>
            </a:r>
            <a:endParaRPr sz="3600">
              <a:latin typeface="Helvetica"/>
              <a:cs typeface="Helvetic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96845" y="3259581"/>
            <a:ext cx="2555875" cy="287020"/>
          </a:xfrm>
          <a:custGeom>
            <a:avLst/>
            <a:gdLst/>
            <a:ahLst/>
            <a:cxnLst/>
            <a:rect l="l" t="t" r="r" b="b"/>
            <a:pathLst>
              <a:path w="2555875" h="287020">
                <a:moveTo>
                  <a:pt x="0" y="286511"/>
                </a:moveTo>
                <a:lnTo>
                  <a:pt x="1875" y="230749"/>
                </a:lnTo>
                <a:lnTo>
                  <a:pt x="7000" y="185213"/>
                </a:lnTo>
                <a:lnTo>
                  <a:pt x="14626" y="154513"/>
                </a:lnTo>
                <a:lnTo>
                  <a:pt x="24003" y="143255"/>
                </a:lnTo>
                <a:lnTo>
                  <a:pt x="1253870" y="143255"/>
                </a:lnTo>
                <a:lnTo>
                  <a:pt x="1263247" y="131998"/>
                </a:lnTo>
                <a:lnTo>
                  <a:pt x="1270873" y="101298"/>
                </a:lnTo>
                <a:lnTo>
                  <a:pt x="1275998" y="55762"/>
                </a:lnTo>
                <a:lnTo>
                  <a:pt x="1277874" y="0"/>
                </a:lnTo>
                <a:lnTo>
                  <a:pt x="1279749" y="55762"/>
                </a:lnTo>
                <a:lnTo>
                  <a:pt x="1284874" y="101298"/>
                </a:lnTo>
                <a:lnTo>
                  <a:pt x="1292500" y="131998"/>
                </a:lnTo>
                <a:lnTo>
                  <a:pt x="1301877" y="143255"/>
                </a:lnTo>
                <a:lnTo>
                  <a:pt x="2531745" y="143255"/>
                </a:lnTo>
                <a:lnTo>
                  <a:pt x="2541121" y="154513"/>
                </a:lnTo>
                <a:lnTo>
                  <a:pt x="2548747" y="185213"/>
                </a:lnTo>
                <a:lnTo>
                  <a:pt x="2553872" y="230749"/>
                </a:lnTo>
                <a:lnTo>
                  <a:pt x="2555748" y="28651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46805" y="2819400"/>
            <a:ext cx="7734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W</a:t>
            </a:r>
            <a:r>
              <a:rPr sz="2000" b="1" i="1" spc="-85" dirty="0">
                <a:latin typeface="HelveticaNeue-BoldItalic"/>
                <a:cs typeface="HelveticaNeue-BoldItalic"/>
              </a:rPr>
              <a:t> </a:t>
            </a:r>
            <a:r>
              <a:rPr sz="2000" b="1" i="1" spc="-20" dirty="0">
                <a:latin typeface="HelveticaNeue-BoldItalic"/>
                <a:cs typeface="HelveticaNeue-BoldItalic"/>
              </a:rPr>
              <a:t>bits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15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53459" y="164414"/>
            <a:ext cx="19075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5" name="object 5"/>
          <p:cNvSpPr/>
          <p:nvPr/>
        </p:nvSpPr>
        <p:spPr>
          <a:xfrm>
            <a:off x="5798058" y="4580382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8058" y="486994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30873" y="4725161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1314" y="4508753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0"/>
                </a:move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8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6"/>
                </a:ln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1314" y="4508753"/>
            <a:ext cx="433070" cy="433070"/>
          </a:xfrm>
          <a:custGeom>
            <a:avLst/>
            <a:gdLst/>
            <a:ahLst/>
            <a:cxnLst/>
            <a:rect l="l" t="t" r="r" b="b"/>
            <a:pathLst>
              <a:path w="433070" h="433070">
                <a:moveTo>
                  <a:pt x="0" y="432816"/>
                </a:moveTo>
                <a:lnTo>
                  <a:pt x="63953" y="430469"/>
                </a:lnTo>
                <a:lnTo>
                  <a:pt x="124994" y="423652"/>
                </a:lnTo>
                <a:lnTo>
                  <a:pt x="182454" y="412700"/>
                </a:lnTo>
                <a:lnTo>
                  <a:pt x="235662" y="397948"/>
                </a:lnTo>
                <a:lnTo>
                  <a:pt x="283949" y="379730"/>
                </a:lnTo>
                <a:lnTo>
                  <a:pt x="326645" y="358382"/>
                </a:lnTo>
                <a:lnTo>
                  <a:pt x="363080" y="334239"/>
                </a:lnTo>
                <a:lnTo>
                  <a:pt x="392585" y="307635"/>
                </a:lnTo>
                <a:lnTo>
                  <a:pt x="428122" y="248384"/>
                </a:lnTo>
                <a:lnTo>
                  <a:pt x="432815" y="216408"/>
                </a:lnTo>
                <a:lnTo>
                  <a:pt x="428122" y="184431"/>
                </a:lnTo>
                <a:lnTo>
                  <a:pt x="392585" y="125180"/>
                </a:lnTo>
                <a:lnTo>
                  <a:pt x="363080" y="98576"/>
                </a:lnTo>
                <a:lnTo>
                  <a:pt x="326645" y="74433"/>
                </a:lnTo>
                <a:lnTo>
                  <a:pt x="283949" y="53085"/>
                </a:lnTo>
                <a:lnTo>
                  <a:pt x="235662" y="34867"/>
                </a:lnTo>
                <a:lnTo>
                  <a:pt x="182454" y="20115"/>
                </a:lnTo>
                <a:lnTo>
                  <a:pt x="124994" y="9163"/>
                </a:lnTo>
                <a:lnTo>
                  <a:pt x="63953" y="2346"/>
                </a:lnTo>
                <a:lnTo>
                  <a:pt x="0" y="0"/>
                </a:lnTo>
                <a:lnTo>
                  <a:pt x="24997" y="42486"/>
                </a:lnTo>
                <a:lnTo>
                  <a:pt x="44439" y="85502"/>
                </a:lnTo>
                <a:lnTo>
                  <a:pt x="58327" y="128916"/>
                </a:lnTo>
                <a:lnTo>
                  <a:pt x="66659" y="172596"/>
                </a:lnTo>
                <a:lnTo>
                  <a:pt x="69437" y="216408"/>
                </a:lnTo>
                <a:lnTo>
                  <a:pt x="66659" y="260219"/>
                </a:lnTo>
                <a:lnTo>
                  <a:pt x="58327" y="303899"/>
                </a:lnTo>
                <a:lnTo>
                  <a:pt x="44439" y="347313"/>
                </a:lnTo>
                <a:lnTo>
                  <a:pt x="24997" y="390329"/>
                </a:lnTo>
                <a:lnTo>
                  <a:pt x="0" y="43281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35502" y="3573017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35502" y="3861053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68317" y="371779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80282" y="3501390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216407" y="0"/>
                </a:moveTo>
                <a:lnTo>
                  <a:pt x="0" y="0"/>
                </a:lnTo>
                <a:lnTo>
                  <a:pt x="0" y="429768"/>
                </a:lnTo>
                <a:lnTo>
                  <a:pt x="216407" y="429768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5" y="214884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80282" y="3501390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5">
                <a:moveTo>
                  <a:pt x="0" y="0"/>
                </a:moveTo>
                <a:lnTo>
                  <a:pt x="216407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5" y="214884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7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53434" y="5732526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>
                <a:moveTo>
                  <a:pt x="50291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95571" y="5673852"/>
            <a:ext cx="108203" cy="1112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25061" y="5589270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20">
                <a:moveTo>
                  <a:pt x="0" y="0"/>
                </a:moveTo>
                <a:lnTo>
                  <a:pt x="0" y="286511"/>
                </a:lnTo>
                <a:lnTo>
                  <a:pt x="288036" y="14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25061" y="5589270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20">
                <a:moveTo>
                  <a:pt x="0" y="0"/>
                </a:moveTo>
                <a:lnTo>
                  <a:pt x="288036" y="143255"/>
                </a:lnTo>
                <a:lnTo>
                  <a:pt x="0" y="28651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4029" y="3573017"/>
            <a:ext cx="1871980" cy="1905"/>
          </a:xfrm>
          <a:custGeom>
            <a:avLst/>
            <a:gdLst/>
            <a:ahLst/>
            <a:cxnLst/>
            <a:rect l="l" t="t" r="r" b="b"/>
            <a:pathLst>
              <a:path w="1871979" h="1904">
                <a:moveTo>
                  <a:pt x="-19050" y="762"/>
                </a:moveTo>
                <a:lnTo>
                  <a:pt x="1890648" y="762"/>
                </a:lnTo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99742" y="556117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85380" y="455295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64029" y="3861053"/>
            <a:ext cx="1871980" cy="1871980"/>
          </a:xfrm>
          <a:custGeom>
            <a:avLst/>
            <a:gdLst/>
            <a:ahLst/>
            <a:cxnLst/>
            <a:rect l="l" t="t" r="r" b="b"/>
            <a:pathLst>
              <a:path w="1871979" h="1871979">
                <a:moveTo>
                  <a:pt x="0" y="1871662"/>
                </a:moveTo>
                <a:lnTo>
                  <a:pt x="935101" y="1871662"/>
                </a:lnTo>
                <a:lnTo>
                  <a:pt x="935101" y="0"/>
                </a:lnTo>
                <a:lnTo>
                  <a:pt x="187159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64029" y="5732526"/>
            <a:ext cx="2089150" cy="0"/>
          </a:xfrm>
          <a:custGeom>
            <a:avLst/>
            <a:gdLst/>
            <a:ahLst/>
            <a:cxnLst/>
            <a:rect l="l" t="t" r="r" b="b"/>
            <a:pathLst>
              <a:path w="2089150">
                <a:moveTo>
                  <a:pt x="0" y="0"/>
                </a:moveTo>
                <a:lnTo>
                  <a:pt x="208914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54829" y="3717797"/>
            <a:ext cx="1443355" cy="865505"/>
          </a:xfrm>
          <a:custGeom>
            <a:avLst/>
            <a:gdLst/>
            <a:ahLst/>
            <a:cxnLst/>
            <a:rect l="l" t="t" r="r" b="b"/>
            <a:pathLst>
              <a:path w="1443354" h="865504">
                <a:moveTo>
                  <a:pt x="0" y="0"/>
                </a:moveTo>
                <a:lnTo>
                  <a:pt x="720725" y="0"/>
                </a:lnTo>
                <a:lnTo>
                  <a:pt x="720725" y="865124"/>
                </a:lnTo>
                <a:lnTo>
                  <a:pt x="1442974" y="8651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56353" y="4869941"/>
            <a:ext cx="1441450" cy="863600"/>
          </a:xfrm>
          <a:custGeom>
            <a:avLst/>
            <a:gdLst/>
            <a:ahLst/>
            <a:cxnLst/>
            <a:rect l="l" t="t" r="r" b="b"/>
            <a:pathLst>
              <a:path w="1441450" h="863600">
                <a:moveTo>
                  <a:pt x="0" y="863599"/>
                </a:moveTo>
                <a:lnTo>
                  <a:pt x="719074" y="863599"/>
                </a:lnTo>
                <a:lnTo>
                  <a:pt x="719074" y="0"/>
                </a:lnTo>
                <a:lnTo>
                  <a:pt x="144145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17385" y="4725161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>
                <a:moveTo>
                  <a:pt x="0" y="0"/>
                </a:moveTo>
                <a:lnTo>
                  <a:pt x="863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28138" y="4725161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144780" y="0"/>
                </a:moveTo>
                <a:lnTo>
                  <a:pt x="0" y="14478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28138" y="4725161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0" y="0"/>
                </a:moveTo>
                <a:lnTo>
                  <a:pt x="144780" y="14478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17541" y="5662421"/>
            <a:ext cx="144780" cy="143510"/>
          </a:xfrm>
          <a:custGeom>
            <a:avLst/>
            <a:gdLst/>
            <a:ahLst/>
            <a:cxnLst/>
            <a:rect l="l" t="t" r="r" b="b"/>
            <a:pathLst>
              <a:path w="144779" h="143510">
                <a:moveTo>
                  <a:pt x="144780" y="0"/>
                </a:moveTo>
                <a:lnTo>
                  <a:pt x="0" y="14325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17541" y="5662421"/>
            <a:ext cx="144780" cy="143510"/>
          </a:xfrm>
          <a:custGeom>
            <a:avLst/>
            <a:gdLst/>
            <a:ahLst/>
            <a:cxnLst/>
            <a:rect l="l" t="t" r="r" b="b"/>
            <a:pathLst>
              <a:path w="144779" h="143510">
                <a:moveTo>
                  <a:pt x="0" y="0"/>
                </a:moveTo>
                <a:lnTo>
                  <a:pt x="144780" y="14325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91408" y="4606544"/>
            <a:ext cx="666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15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000" i="1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Helvetica"/>
                <a:cs typeface="Helvetica"/>
              </a:rPr>
              <a:t>sa0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07738" y="5867196"/>
            <a:ext cx="6457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15" dirty="0">
                <a:solidFill>
                  <a:srgbClr val="FF8000"/>
                </a:solidFill>
                <a:latin typeface="Arial"/>
                <a:cs typeface="Arial"/>
              </a:rPr>
              <a:t>b</a:t>
            </a:r>
            <a:r>
              <a:rPr sz="2000" i="1" spc="-90" dirty="0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8000"/>
                </a:solidFill>
                <a:latin typeface="Helvetica"/>
                <a:cs typeface="Helvetica"/>
              </a:rPr>
              <a:t>sa1</a:t>
            </a:r>
            <a:endParaRPr sz="2000">
              <a:latin typeface="Helvetica"/>
              <a:cs typeface="Helvetica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1744979" y="3194304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FF8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1764029" y="5374385"/>
            <a:ext cx="21653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270"/>
              </a:lnSpc>
            </a:pPr>
            <a:r>
              <a:rPr sz="2000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980438" y="5374385"/>
            <a:ext cx="21653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2270"/>
              </a:lnSpc>
            </a:pPr>
            <a:r>
              <a:rPr sz="2000" dirty="0">
                <a:solidFill>
                  <a:srgbClr val="0000FF"/>
                </a:solidFill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96845" y="5374385"/>
            <a:ext cx="21526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155"/>
              </a:lnSpc>
            </a:pPr>
            <a:r>
              <a:rPr lang="en-US" sz="2000" dirty="0">
                <a:solidFill>
                  <a:srgbClr val="FF8000"/>
                </a:solidFill>
                <a:latin typeface="Helvetica"/>
                <a:cs typeface="Helvetica"/>
              </a:rPr>
              <a:t>1</a:t>
            </a:r>
            <a:endParaRPr lang="en-US" sz="2000" dirty="0">
              <a:latin typeface="Helvetica"/>
              <a:cs typeface="Helvetica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97812"/>
              </p:ext>
            </p:extLst>
          </p:nvPr>
        </p:nvGraphicFramePr>
        <p:xfrm>
          <a:off x="2753867" y="4203191"/>
          <a:ext cx="678497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195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FF8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5148834" y="5084826"/>
            <a:ext cx="21653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270"/>
              </a:lnSpc>
            </a:pPr>
            <a:r>
              <a:rPr sz="2000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65241" y="5084826"/>
            <a:ext cx="21526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270"/>
              </a:lnSpc>
            </a:pPr>
            <a:r>
              <a:rPr sz="2000" dirty="0">
                <a:solidFill>
                  <a:srgbClr val="0000FF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80126" y="5084826"/>
            <a:ext cx="21653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70"/>
              </a:lnSpc>
            </a:pPr>
            <a:r>
              <a:rPr sz="2000" dirty="0">
                <a:solidFill>
                  <a:srgbClr val="FF8000"/>
                </a:solidFill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6714743" y="4347971"/>
          <a:ext cx="646429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FF8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5148834" y="4077461"/>
            <a:ext cx="21653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270"/>
              </a:lnSpc>
            </a:pPr>
            <a:r>
              <a:rPr sz="2000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65241" y="4077461"/>
            <a:ext cx="21526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270"/>
              </a:lnSpc>
            </a:pPr>
            <a:r>
              <a:rPr sz="2000" dirty="0">
                <a:solidFill>
                  <a:srgbClr val="0000FF"/>
                </a:solidFill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80126" y="4077461"/>
            <a:ext cx="216535" cy="28829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2270"/>
              </a:lnSpc>
            </a:pPr>
            <a:r>
              <a:rPr sz="2000" dirty="0">
                <a:solidFill>
                  <a:srgbClr val="FF8000"/>
                </a:solidFill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744979" y="2258567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FF8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object 46"/>
          <p:cNvSpPr/>
          <p:nvPr/>
        </p:nvSpPr>
        <p:spPr>
          <a:xfrm>
            <a:off x="2246376" y="2583942"/>
            <a:ext cx="957580" cy="184150"/>
          </a:xfrm>
          <a:custGeom>
            <a:avLst/>
            <a:gdLst/>
            <a:ahLst/>
            <a:cxnLst/>
            <a:rect l="l" t="t" r="r" b="b"/>
            <a:pathLst>
              <a:path w="957580" h="184150">
                <a:moveTo>
                  <a:pt x="76200" y="95250"/>
                </a:moveTo>
                <a:lnTo>
                  <a:pt x="38100" y="95250"/>
                </a:lnTo>
                <a:lnTo>
                  <a:pt x="38100" y="184150"/>
                </a:lnTo>
                <a:lnTo>
                  <a:pt x="957199" y="184150"/>
                </a:lnTo>
                <a:lnTo>
                  <a:pt x="957199" y="165100"/>
                </a:lnTo>
                <a:lnTo>
                  <a:pt x="76200" y="165100"/>
                </a:lnTo>
                <a:lnTo>
                  <a:pt x="57150" y="146050"/>
                </a:lnTo>
                <a:lnTo>
                  <a:pt x="76200" y="146050"/>
                </a:lnTo>
                <a:lnTo>
                  <a:pt x="76200" y="95250"/>
                </a:lnTo>
                <a:close/>
              </a:path>
              <a:path w="957580" h="184150">
                <a:moveTo>
                  <a:pt x="76200" y="146050"/>
                </a:moveTo>
                <a:lnTo>
                  <a:pt x="57150" y="146050"/>
                </a:lnTo>
                <a:lnTo>
                  <a:pt x="76200" y="165100"/>
                </a:lnTo>
                <a:lnTo>
                  <a:pt x="76200" y="146050"/>
                </a:lnTo>
                <a:close/>
              </a:path>
              <a:path w="957580" h="184150">
                <a:moveTo>
                  <a:pt x="957199" y="146050"/>
                </a:moveTo>
                <a:lnTo>
                  <a:pt x="76200" y="146050"/>
                </a:lnTo>
                <a:lnTo>
                  <a:pt x="76200" y="165100"/>
                </a:lnTo>
                <a:lnTo>
                  <a:pt x="957199" y="165100"/>
                </a:lnTo>
                <a:lnTo>
                  <a:pt x="957199" y="146050"/>
                </a:lnTo>
                <a:close/>
              </a:path>
              <a:path w="957580" h="18415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957580" h="18415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031492" y="2074164"/>
            <a:ext cx="1186180" cy="184150"/>
          </a:xfrm>
          <a:custGeom>
            <a:avLst/>
            <a:gdLst/>
            <a:ahLst/>
            <a:cxnLst/>
            <a:rect l="l" t="t" r="r" b="b"/>
            <a:pathLst>
              <a:path w="1186180" h="184150">
                <a:moveTo>
                  <a:pt x="38100" y="69850"/>
                </a:moveTo>
                <a:lnTo>
                  <a:pt x="0" y="69850"/>
                </a:lnTo>
                <a:lnTo>
                  <a:pt x="57150" y="184150"/>
                </a:lnTo>
                <a:lnTo>
                  <a:pt x="104775" y="88900"/>
                </a:lnTo>
                <a:lnTo>
                  <a:pt x="38100" y="88900"/>
                </a:lnTo>
                <a:lnTo>
                  <a:pt x="38100" y="69850"/>
                </a:lnTo>
                <a:close/>
              </a:path>
              <a:path w="1186180" h="184150">
                <a:moveTo>
                  <a:pt x="1185799" y="0"/>
                </a:moveTo>
                <a:lnTo>
                  <a:pt x="38100" y="0"/>
                </a:lnTo>
                <a:lnTo>
                  <a:pt x="38100" y="88900"/>
                </a:lnTo>
                <a:lnTo>
                  <a:pt x="76200" y="88900"/>
                </a:lnTo>
                <a:lnTo>
                  <a:pt x="76200" y="38100"/>
                </a:lnTo>
                <a:lnTo>
                  <a:pt x="57150" y="38100"/>
                </a:lnTo>
                <a:lnTo>
                  <a:pt x="76200" y="19050"/>
                </a:lnTo>
                <a:lnTo>
                  <a:pt x="1185799" y="19050"/>
                </a:lnTo>
                <a:lnTo>
                  <a:pt x="1185799" y="0"/>
                </a:lnTo>
                <a:close/>
              </a:path>
              <a:path w="1186180" h="184150">
                <a:moveTo>
                  <a:pt x="114300" y="69850"/>
                </a:moveTo>
                <a:lnTo>
                  <a:pt x="76200" y="69850"/>
                </a:lnTo>
                <a:lnTo>
                  <a:pt x="76200" y="88900"/>
                </a:lnTo>
                <a:lnTo>
                  <a:pt x="104775" y="88900"/>
                </a:lnTo>
                <a:lnTo>
                  <a:pt x="114300" y="69850"/>
                </a:lnTo>
                <a:close/>
              </a:path>
              <a:path w="1186180" h="184150">
                <a:moveTo>
                  <a:pt x="76200" y="19050"/>
                </a:moveTo>
                <a:lnTo>
                  <a:pt x="57150" y="38100"/>
                </a:lnTo>
                <a:lnTo>
                  <a:pt x="76200" y="38100"/>
                </a:lnTo>
                <a:lnTo>
                  <a:pt x="76200" y="19050"/>
                </a:lnTo>
                <a:close/>
              </a:path>
              <a:path w="1186180" h="184150">
                <a:moveTo>
                  <a:pt x="1185799" y="19050"/>
                </a:moveTo>
                <a:lnTo>
                  <a:pt x="76200" y="19050"/>
                </a:lnTo>
                <a:lnTo>
                  <a:pt x="76200" y="38100"/>
                </a:lnTo>
                <a:lnTo>
                  <a:pt x="1185799" y="38100"/>
                </a:lnTo>
                <a:lnTo>
                  <a:pt x="118579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15083" y="1722120"/>
            <a:ext cx="1392555" cy="536575"/>
          </a:xfrm>
          <a:custGeom>
            <a:avLst/>
            <a:gdLst/>
            <a:ahLst/>
            <a:cxnLst/>
            <a:rect l="l" t="t" r="r" b="b"/>
            <a:pathLst>
              <a:path w="1392555" h="536575">
                <a:moveTo>
                  <a:pt x="38100" y="422275"/>
                </a:moveTo>
                <a:lnTo>
                  <a:pt x="0" y="422275"/>
                </a:lnTo>
                <a:lnTo>
                  <a:pt x="57150" y="536575"/>
                </a:lnTo>
                <a:lnTo>
                  <a:pt x="104775" y="441325"/>
                </a:lnTo>
                <a:lnTo>
                  <a:pt x="38100" y="441325"/>
                </a:lnTo>
                <a:lnTo>
                  <a:pt x="38100" y="422275"/>
                </a:lnTo>
                <a:close/>
              </a:path>
              <a:path w="1392555" h="536575">
                <a:moveTo>
                  <a:pt x="1392174" y="0"/>
                </a:moveTo>
                <a:lnTo>
                  <a:pt x="38100" y="0"/>
                </a:lnTo>
                <a:lnTo>
                  <a:pt x="38100" y="441325"/>
                </a:lnTo>
                <a:lnTo>
                  <a:pt x="76200" y="441325"/>
                </a:lnTo>
                <a:lnTo>
                  <a:pt x="76200" y="38100"/>
                </a:lnTo>
                <a:lnTo>
                  <a:pt x="57150" y="38100"/>
                </a:lnTo>
                <a:lnTo>
                  <a:pt x="76200" y="19050"/>
                </a:lnTo>
                <a:lnTo>
                  <a:pt x="1392174" y="19050"/>
                </a:lnTo>
                <a:lnTo>
                  <a:pt x="1392174" y="0"/>
                </a:lnTo>
                <a:close/>
              </a:path>
              <a:path w="1392555" h="536575">
                <a:moveTo>
                  <a:pt x="114300" y="422275"/>
                </a:moveTo>
                <a:lnTo>
                  <a:pt x="76200" y="422275"/>
                </a:lnTo>
                <a:lnTo>
                  <a:pt x="76200" y="441325"/>
                </a:lnTo>
                <a:lnTo>
                  <a:pt x="104775" y="441325"/>
                </a:lnTo>
                <a:lnTo>
                  <a:pt x="114300" y="422275"/>
                </a:lnTo>
                <a:close/>
              </a:path>
              <a:path w="1392555" h="536575">
                <a:moveTo>
                  <a:pt x="76200" y="19050"/>
                </a:moveTo>
                <a:lnTo>
                  <a:pt x="57150" y="38100"/>
                </a:lnTo>
                <a:lnTo>
                  <a:pt x="76200" y="38100"/>
                </a:lnTo>
                <a:lnTo>
                  <a:pt x="76200" y="19050"/>
                </a:lnTo>
                <a:close/>
              </a:path>
              <a:path w="1392555" h="536575">
                <a:moveTo>
                  <a:pt x="1392174" y="19050"/>
                </a:moveTo>
                <a:lnTo>
                  <a:pt x="76200" y="19050"/>
                </a:lnTo>
                <a:lnTo>
                  <a:pt x="76200" y="38100"/>
                </a:lnTo>
                <a:lnTo>
                  <a:pt x="1392174" y="38100"/>
                </a:lnTo>
                <a:lnTo>
                  <a:pt x="1392174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30224" y="961136"/>
            <a:ext cx="8576971" cy="28317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Assume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i="1" spc="5" dirty="0">
                <a:latin typeface="Arial-BoldItalicMT"/>
                <a:cs typeface="Arial-BoldItalicMT"/>
              </a:rPr>
              <a:t>W</a:t>
            </a:r>
            <a:r>
              <a:rPr sz="2000" b="1" spc="5" dirty="0">
                <a:latin typeface="Arial"/>
                <a:cs typeface="Arial"/>
              </a:rPr>
              <a:t>=3</a:t>
            </a:r>
            <a:endParaRPr sz="2000" dirty="0">
              <a:latin typeface="Arial"/>
              <a:cs typeface="Arial"/>
            </a:endParaRPr>
          </a:p>
          <a:p>
            <a:pPr marL="3068320">
              <a:lnSpc>
                <a:spcPct val="100000"/>
              </a:lnSpc>
              <a:spcBef>
                <a:spcPts val="2490"/>
              </a:spcBef>
            </a:pPr>
            <a:r>
              <a:rPr sz="1800" spc="-5" dirty="0">
                <a:latin typeface="Helvetica"/>
                <a:cs typeface="Helvetica"/>
              </a:rPr>
              <a:t>Fault </a:t>
            </a:r>
            <a:r>
              <a:rPr sz="1800" dirty="0">
                <a:latin typeface="Helvetica"/>
                <a:cs typeface="Helvetica"/>
              </a:rPr>
              <a:t>free</a:t>
            </a:r>
          </a:p>
          <a:p>
            <a:pPr marL="3077845">
              <a:lnSpc>
                <a:spcPct val="100000"/>
              </a:lnSpc>
              <a:spcBef>
                <a:spcPts val="615"/>
              </a:spcBef>
            </a:pPr>
            <a:r>
              <a:rPr sz="1800" spc="-5" dirty="0">
                <a:latin typeface="Helvetica"/>
                <a:cs typeface="Helvetica"/>
              </a:rPr>
              <a:t>Circuit </a:t>
            </a:r>
            <a:r>
              <a:rPr sz="1800" spc="-15" dirty="0">
                <a:latin typeface="Helvetica"/>
                <a:cs typeface="Helvetica"/>
              </a:rPr>
              <a:t>with</a:t>
            </a:r>
            <a:r>
              <a:rPr lang="en-US" sz="1800" spc="-15" dirty="0">
                <a:latin typeface="Helvetica"/>
                <a:cs typeface="Helvetica"/>
              </a:rPr>
              <a:t> only</a:t>
            </a:r>
            <a:r>
              <a:rPr sz="1800" spc="-15" dirty="0">
                <a:latin typeface="Helvetica"/>
                <a:cs typeface="Helvetica"/>
              </a:rPr>
              <a:t> </a:t>
            </a:r>
            <a:r>
              <a:rPr sz="1800" spc="-5" dirty="0">
                <a:latin typeface="Helvetica"/>
                <a:cs typeface="Helvetica"/>
              </a:rPr>
              <a:t>fault</a:t>
            </a:r>
            <a:r>
              <a:rPr sz="1800" spc="65" dirty="0">
                <a:latin typeface="Helvetica"/>
                <a:cs typeface="Helvetica"/>
              </a:rPr>
              <a:t> </a:t>
            </a:r>
            <a:r>
              <a:rPr sz="1800" i="1" spc="130" dirty="0">
                <a:latin typeface="Arial"/>
                <a:cs typeface="Arial"/>
              </a:rPr>
              <a:t>a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 dirty="0">
              <a:latin typeface="Arial"/>
              <a:cs typeface="Arial"/>
            </a:endParaRPr>
          </a:p>
          <a:p>
            <a:pPr marL="3065145">
              <a:lnSpc>
                <a:spcPct val="100000"/>
              </a:lnSpc>
            </a:pPr>
            <a:r>
              <a:rPr sz="1800" spc="-5" dirty="0">
                <a:latin typeface="Helvetica"/>
                <a:cs typeface="Helvetica"/>
              </a:rPr>
              <a:t>Circuit </a:t>
            </a:r>
            <a:r>
              <a:rPr sz="1800" spc="-15" dirty="0">
                <a:latin typeface="Helvetica"/>
                <a:cs typeface="Helvetica"/>
              </a:rPr>
              <a:t>with </a:t>
            </a:r>
            <a:r>
              <a:rPr lang="en-US" sz="1800" spc="-15" dirty="0">
                <a:latin typeface="Helvetica"/>
                <a:cs typeface="Helvetica"/>
              </a:rPr>
              <a:t>only </a:t>
            </a:r>
            <a:r>
              <a:rPr sz="1800" spc="-5" dirty="0">
                <a:latin typeface="Helvetica"/>
                <a:cs typeface="Helvetica"/>
              </a:rPr>
              <a:t>fault</a:t>
            </a:r>
            <a:r>
              <a:rPr sz="1800" spc="65" dirty="0">
                <a:latin typeface="Helvetica"/>
                <a:cs typeface="Helvetica"/>
              </a:rPr>
              <a:t> </a:t>
            </a:r>
            <a:r>
              <a:rPr sz="1800" i="1" spc="-15" dirty="0">
                <a:latin typeface="Arial"/>
                <a:cs typeface="Arial"/>
              </a:rPr>
              <a:t>b</a:t>
            </a:r>
            <a:endParaRPr sz="1800" dirty="0">
              <a:latin typeface="Arial"/>
              <a:cs typeface="Arial"/>
            </a:endParaRPr>
          </a:p>
          <a:p>
            <a:pPr marL="5946775" marR="5080">
              <a:lnSpc>
                <a:spcPct val="100000"/>
              </a:lnSpc>
              <a:spcBef>
                <a:spcPts val="114"/>
              </a:spcBef>
            </a:pP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fault </a:t>
            </a:r>
            <a:r>
              <a:rPr sz="1800" i="1" spc="13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detected  </a:t>
            </a:r>
            <a:endParaRPr lang="en-US" sz="1800" spc="-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46775" marR="5080">
              <a:lnSpc>
                <a:spcPct val="100000"/>
              </a:lnSpc>
              <a:spcBef>
                <a:spcPts val="114"/>
              </a:spcBef>
            </a:pP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fault </a:t>
            </a:r>
            <a:r>
              <a:rPr sz="2000" i="1" spc="-15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z="20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5" dirty="0">
                <a:latin typeface="Arial" panose="020B0604020202020204" pitchFamily="34" charset="0"/>
                <a:cs typeface="Arial" panose="020B0604020202020204" pitchFamily="34" charset="0"/>
              </a:rPr>
              <a:t>detected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82065">
              <a:lnSpc>
                <a:spcPts val="1935"/>
              </a:lnSpc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8A5C5BAC-DA3D-FE5C-BB17-EBF6D1EF6CC8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16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06770" y="6573029"/>
            <a:ext cx="85407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VLSI </a:t>
            </a:r>
            <a:r>
              <a:rPr sz="1200" b="1" spc="-25" dirty="0">
                <a:solidFill>
                  <a:srgbClr val="B1B1B1"/>
                </a:solidFill>
                <a:latin typeface="Helvetica"/>
                <a:cs typeface="Helvetica"/>
              </a:rPr>
              <a:t>Test</a:t>
            </a:r>
            <a:r>
              <a:rPr sz="1200" b="1" spc="-90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5.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625" y="1015780"/>
            <a:ext cx="8761376" cy="1270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solidFill>
                  <a:srgbClr val="FF0000"/>
                </a:solidFill>
                <a:latin typeface="Arial-BoldItalicMT"/>
                <a:cs typeface="Arial-BoldItalicMT"/>
              </a:rPr>
              <a:t>Fault Injection </a:t>
            </a:r>
            <a:r>
              <a:rPr sz="2000" b="1" dirty="0">
                <a:latin typeface="Arial"/>
                <a:cs typeface="Arial"/>
              </a:rPr>
              <a:t>= inserting fault(s) into</a:t>
            </a:r>
            <a:r>
              <a:rPr sz="2000" b="1" spc="-1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lang="en-US" sz="20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Inserting a single fault is shown below </a:t>
            </a:r>
          </a:p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u="sng" dirty="0">
                <a:latin typeface="Arial"/>
                <a:cs typeface="Arial"/>
              </a:rPr>
              <a:t>Control inputs </a:t>
            </a:r>
            <a:r>
              <a:rPr lang="en-US" sz="2000" b="1" dirty="0">
                <a:latin typeface="Arial"/>
                <a:cs typeface="Arial"/>
              </a:rPr>
              <a:t>of each fault should be set to activate it at the corresponding bit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0200" y="164414"/>
            <a:ext cx="346735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0" dirty="0"/>
              <a:t> </a:t>
            </a:r>
            <a:r>
              <a:rPr spc="-5" dirty="0"/>
              <a:t>Injection</a:t>
            </a:r>
          </a:p>
        </p:txBody>
      </p:sp>
      <p:sp>
        <p:nvSpPr>
          <p:cNvPr id="7" name="object 7"/>
          <p:cNvSpPr/>
          <p:nvPr/>
        </p:nvSpPr>
        <p:spPr>
          <a:xfrm>
            <a:off x="4860797" y="235602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92090" y="2500808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04053" y="2285924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4">
                <a:moveTo>
                  <a:pt x="216408" y="0"/>
                </a:moveTo>
                <a:lnTo>
                  <a:pt x="0" y="0"/>
                </a:lnTo>
                <a:lnTo>
                  <a:pt x="0" y="429767"/>
                </a:lnTo>
                <a:lnTo>
                  <a:pt x="216408" y="429767"/>
                </a:lnTo>
                <a:lnTo>
                  <a:pt x="266024" y="424089"/>
                </a:lnTo>
                <a:lnTo>
                  <a:pt x="311573" y="407916"/>
                </a:lnTo>
                <a:lnTo>
                  <a:pt x="351755" y="382541"/>
                </a:lnTo>
                <a:lnTo>
                  <a:pt x="385269" y="349258"/>
                </a:lnTo>
                <a:lnTo>
                  <a:pt x="410817" y="309358"/>
                </a:lnTo>
                <a:lnTo>
                  <a:pt x="427099" y="264136"/>
                </a:lnTo>
                <a:lnTo>
                  <a:pt x="432816" y="214884"/>
                </a:lnTo>
                <a:lnTo>
                  <a:pt x="427099" y="165631"/>
                </a:lnTo>
                <a:lnTo>
                  <a:pt x="410817" y="120409"/>
                </a:lnTo>
                <a:lnTo>
                  <a:pt x="385269" y="80509"/>
                </a:lnTo>
                <a:lnTo>
                  <a:pt x="351755" y="47226"/>
                </a:lnTo>
                <a:lnTo>
                  <a:pt x="311573" y="21851"/>
                </a:lnTo>
                <a:lnTo>
                  <a:pt x="266024" y="5678"/>
                </a:lnTo>
                <a:lnTo>
                  <a:pt x="216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4053" y="2285924"/>
            <a:ext cx="433070" cy="429895"/>
          </a:xfrm>
          <a:custGeom>
            <a:avLst/>
            <a:gdLst/>
            <a:ahLst/>
            <a:cxnLst/>
            <a:rect l="l" t="t" r="r" b="b"/>
            <a:pathLst>
              <a:path w="433070" h="429894">
                <a:moveTo>
                  <a:pt x="0" y="0"/>
                </a:moveTo>
                <a:lnTo>
                  <a:pt x="216408" y="0"/>
                </a:lnTo>
                <a:lnTo>
                  <a:pt x="266024" y="5678"/>
                </a:lnTo>
                <a:lnTo>
                  <a:pt x="311573" y="21851"/>
                </a:lnTo>
                <a:lnTo>
                  <a:pt x="351755" y="47226"/>
                </a:lnTo>
                <a:lnTo>
                  <a:pt x="385269" y="80509"/>
                </a:lnTo>
                <a:lnTo>
                  <a:pt x="410817" y="120409"/>
                </a:lnTo>
                <a:lnTo>
                  <a:pt x="427099" y="165631"/>
                </a:lnTo>
                <a:lnTo>
                  <a:pt x="432816" y="214884"/>
                </a:lnTo>
                <a:lnTo>
                  <a:pt x="427099" y="264136"/>
                </a:lnTo>
                <a:lnTo>
                  <a:pt x="410817" y="309358"/>
                </a:lnTo>
                <a:lnTo>
                  <a:pt x="385269" y="349258"/>
                </a:lnTo>
                <a:lnTo>
                  <a:pt x="351755" y="382541"/>
                </a:lnTo>
                <a:lnTo>
                  <a:pt x="311573" y="407916"/>
                </a:lnTo>
                <a:lnTo>
                  <a:pt x="266024" y="424089"/>
                </a:lnTo>
                <a:lnTo>
                  <a:pt x="216408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56788" y="3018205"/>
            <a:ext cx="109727" cy="1112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6277" y="2933624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19">
                <a:moveTo>
                  <a:pt x="0" y="0"/>
                </a:moveTo>
                <a:lnTo>
                  <a:pt x="0" y="286512"/>
                </a:lnTo>
                <a:lnTo>
                  <a:pt x="288036" y="14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86277" y="2933624"/>
            <a:ext cx="288290" cy="287020"/>
          </a:xfrm>
          <a:custGeom>
            <a:avLst/>
            <a:gdLst/>
            <a:ahLst/>
            <a:cxnLst/>
            <a:rect l="l" t="t" r="r" b="b"/>
            <a:pathLst>
              <a:path w="288289" h="287019">
                <a:moveTo>
                  <a:pt x="0" y="0"/>
                </a:moveTo>
                <a:lnTo>
                  <a:pt x="288036" y="143255"/>
                </a:lnTo>
                <a:lnTo>
                  <a:pt x="0" y="28651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51909" y="3003727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79" h="144780">
                <a:moveTo>
                  <a:pt x="144779" y="0"/>
                </a:moveTo>
                <a:lnTo>
                  <a:pt x="0" y="14478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51909" y="3003727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79" h="144780">
                <a:moveTo>
                  <a:pt x="0" y="0"/>
                </a:moveTo>
                <a:lnTo>
                  <a:pt x="144779" y="14478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23538" y="2356027"/>
            <a:ext cx="936625" cy="1905"/>
          </a:xfrm>
          <a:custGeom>
            <a:avLst/>
            <a:gdLst/>
            <a:ahLst/>
            <a:cxnLst/>
            <a:rect l="l" t="t" r="r" b="b"/>
            <a:pathLst>
              <a:path w="936625" h="1905">
                <a:moveTo>
                  <a:pt x="-19050" y="825"/>
                </a:moveTo>
                <a:lnTo>
                  <a:pt x="955675" y="825"/>
                </a:lnTo>
              </a:path>
            </a:pathLst>
          </a:custGeom>
          <a:ln w="3975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58134" y="2645587"/>
            <a:ext cx="1619250" cy="431800"/>
          </a:xfrm>
          <a:custGeom>
            <a:avLst/>
            <a:gdLst/>
            <a:ahLst/>
            <a:cxnLst/>
            <a:rect l="l" t="t" r="r" b="b"/>
            <a:pathLst>
              <a:path w="1619250" h="431800">
                <a:moveTo>
                  <a:pt x="0" y="431800"/>
                </a:moveTo>
                <a:lnTo>
                  <a:pt x="809625" y="431800"/>
                </a:lnTo>
                <a:lnTo>
                  <a:pt x="809625" y="0"/>
                </a:lnTo>
                <a:lnTo>
                  <a:pt x="16192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78602" y="2500808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326" y="0"/>
                </a:lnTo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11729" y="3076880"/>
            <a:ext cx="503555" cy="0"/>
          </a:xfrm>
          <a:custGeom>
            <a:avLst/>
            <a:gdLst/>
            <a:ahLst/>
            <a:cxnLst/>
            <a:rect l="l" t="t" r="r" b="b"/>
            <a:pathLst>
              <a:path w="503555">
                <a:moveTo>
                  <a:pt x="0" y="0"/>
                </a:moveTo>
                <a:lnTo>
                  <a:pt x="503300" y="0"/>
                </a:lnTo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10483" y="3173730"/>
            <a:ext cx="6667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1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i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Helvetica"/>
                <a:cs typeface="Helvetica"/>
              </a:rPr>
              <a:t>sa0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75682" y="3574541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288035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08497" y="3719321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20461" y="3502914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8"/>
                </a:lnTo>
                <a:lnTo>
                  <a:pt x="215646" y="429768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4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20461" y="3502914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4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131057" y="4115561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>
                <a:moveTo>
                  <a:pt x="502919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73196" y="4056888"/>
            <a:ext cx="109727" cy="1112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02685" y="3970782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0" y="288036"/>
                </a:lnTo>
                <a:lnTo>
                  <a:pt x="288036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02685" y="3970782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6" y="144018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39946" y="3574541"/>
            <a:ext cx="936625" cy="1905"/>
          </a:xfrm>
          <a:custGeom>
            <a:avLst/>
            <a:gdLst/>
            <a:ahLst/>
            <a:cxnLst/>
            <a:rect l="l" t="t" r="r" b="b"/>
            <a:pathLst>
              <a:path w="936625" h="1904">
                <a:moveTo>
                  <a:pt x="-19050" y="762"/>
                </a:moveTo>
                <a:lnTo>
                  <a:pt x="955675" y="762"/>
                </a:lnTo>
              </a:path>
            </a:pathLst>
          </a:custGeom>
          <a:ln w="3962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33978" y="4115561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95009" y="3719321"/>
            <a:ext cx="576580" cy="0"/>
          </a:xfrm>
          <a:custGeom>
            <a:avLst/>
            <a:gdLst/>
            <a:ahLst/>
            <a:cxnLst/>
            <a:rect l="l" t="t" r="r" b="b"/>
            <a:pathLst>
              <a:path w="576579">
                <a:moveTo>
                  <a:pt x="0" y="0"/>
                </a:moveTo>
                <a:lnTo>
                  <a:pt x="576326" y="0"/>
                </a:lnTo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28138" y="4115561"/>
            <a:ext cx="503555" cy="0"/>
          </a:xfrm>
          <a:custGeom>
            <a:avLst/>
            <a:gdLst/>
            <a:ahLst/>
            <a:cxnLst/>
            <a:rect l="l" t="t" r="r" b="b"/>
            <a:pathLst>
              <a:path w="503555">
                <a:moveTo>
                  <a:pt x="0" y="0"/>
                </a:moveTo>
                <a:lnTo>
                  <a:pt x="503174" y="0"/>
                </a:lnTo>
              </a:path>
            </a:pathLst>
          </a:custGeom>
          <a:ln w="381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96690" y="4114038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141470" y="4042409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5" y="0"/>
                </a:moveTo>
                <a:lnTo>
                  <a:pt x="0" y="0"/>
                </a:lnTo>
                <a:lnTo>
                  <a:pt x="0" y="429767"/>
                </a:lnTo>
                <a:lnTo>
                  <a:pt x="215645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141470" y="4042409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5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5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592573" y="3862578"/>
            <a:ext cx="612775" cy="395605"/>
          </a:xfrm>
          <a:custGeom>
            <a:avLst/>
            <a:gdLst/>
            <a:ahLst/>
            <a:cxnLst/>
            <a:rect l="l" t="t" r="r" b="b"/>
            <a:pathLst>
              <a:path w="612775" h="395604">
                <a:moveTo>
                  <a:pt x="0" y="395224"/>
                </a:moveTo>
                <a:lnTo>
                  <a:pt x="305053" y="395224"/>
                </a:lnTo>
                <a:lnTo>
                  <a:pt x="305053" y="0"/>
                </a:lnTo>
                <a:lnTo>
                  <a:pt x="61277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141470" y="4042409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5" y="0"/>
                </a:moveTo>
                <a:lnTo>
                  <a:pt x="0" y="0"/>
                </a:lnTo>
                <a:lnTo>
                  <a:pt x="0" y="429767"/>
                </a:lnTo>
                <a:lnTo>
                  <a:pt x="215645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1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5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141470" y="4042409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5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1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5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65397" y="4403597"/>
            <a:ext cx="576580" cy="288925"/>
          </a:xfrm>
          <a:custGeom>
            <a:avLst/>
            <a:gdLst/>
            <a:ahLst/>
            <a:cxnLst/>
            <a:rect l="l" t="t" r="r" b="b"/>
            <a:pathLst>
              <a:path w="576579" h="288925">
                <a:moveTo>
                  <a:pt x="0" y="288925"/>
                </a:moveTo>
                <a:lnTo>
                  <a:pt x="288163" y="288925"/>
                </a:lnTo>
                <a:lnTo>
                  <a:pt x="288163" y="0"/>
                </a:lnTo>
                <a:lnTo>
                  <a:pt x="5761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3301"/>
              </p:ext>
            </p:extLst>
          </p:nvPr>
        </p:nvGraphicFramePr>
        <p:xfrm>
          <a:off x="2682239" y="4599432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Helvetica"/>
                          <a:cs typeface="Helvetica"/>
                        </a:rPr>
                        <a:t>0</a:t>
                      </a: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lang="en-US" sz="2000" dirty="0">
                          <a:solidFill>
                            <a:srgbClr val="FF8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 dirty="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919073" y="4772640"/>
            <a:ext cx="2780665" cy="78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Helvetica"/>
                <a:cs typeface="Helvetica"/>
              </a:rPr>
              <a:t>Control</a:t>
            </a:r>
            <a:r>
              <a:rPr sz="2000" b="1" spc="-3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input</a:t>
            </a:r>
            <a:endParaRPr sz="2000" dirty="0">
              <a:latin typeface="Helvetica"/>
              <a:cs typeface="Helvetica"/>
            </a:endParaRPr>
          </a:p>
          <a:p>
            <a:pPr marL="43815">
              <a:lnSpc>
                <a:spcPct val="100000"/>
              </a:lnSpc>
              <a:spcBef>
                <a:spcPts val="1500"/>
              </a:spcBef>
            </a:pPr>
            <a:r>
              <a:rPr sz="1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0 = </a:t>
            </a:r>
            <a:r>
              <a:rPr sz="1800" b="1" spc="-20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SA0 </a:t>
            </a:r>
            <a:r>
              <a:rPr sz="1800" b="1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fault</a:t>
            </a:r>
            <a:r>
              <a:rPr sz="1800" b="1" spc="25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 </a:t>
            </a:r>
            <a:r>
              <a:rPr sz="1800" b="1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  <a:cs typeface="Helvetica"/>
              </a:rPr>
              <a:t>injected</a:t>
            </a:r>
            <a:endParaRPr sz="1800" dirty="0">
              <a:solidFill>
                <a:schemeClr val="tx2">
                  <a:lumMod val="60000"/>
                  <a:lumOff val="40000"/>
                </a:schemeClr>
              </a:solidFill>
              <a:latin typeface="Helvetica"/>
              <a:cs typeface="Helvetic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69948" y="5731764"/>
            <a:ext cx="4861560" cy="1016635"/>
          </a:xfrm>
          <a:prstGeom prst="rect">
            <a:avLst/>
          </a:prstGeom>
          <a:solidFill>
            <a:srgbClr val="66FF66"/>
          </a:solidFill>
          <a:ln w="9144">
            <a:solidFill>
              <a:srgbClr val="00AF5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 marR="1083945">
              <a:lnSpc>
                <a:spcPct val="100000"/>
              </a:lnSpc>
              <a:spcBef>
                <a:spcPts val="320"/>
              </a:spcBef>
              <a:tabLst>
                <a:tab pos="864869" algn="l"/>
              </a:tabLst>
            </a:pPr>
            <a:r>
              <a:rPr sz="2000" b="1" dirty="0">
                <a:latin typeface="Helvetica"/>
                <a:cs typeface="Helvetica"/>
              </a:rPr>
              <a:t>Quiz:	</a:t>
            </a:r>
            <a:r>
              <a:rPr sz="2000" b="1" spc="-5" dirty="0">
                <a:latin typeface="Helvetica"/>
                <a:cs typeface="Helvetica"/>
              </a:rPr>
              <a:t>how </a:t>
            </a:r>
            <a:r>
              <a:rPr sz="2000" b="1" dirty="0">
                <a:latin typeface="Helvetica"/>
                <a:cs typeface="Helvetica"/>
              </a:rPr>
              <a:t>to insert SA1</a:t>
            </a:r>
            <a:r>
              <a:rPr sz="2000" b="1" spc="-12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fault?  A: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FFB779-3597-2094-61DF-26F48B5717E1}"/>
              </a:ext>
            </a:extLst>
          </p:cNvPr>
          <p:cNvSpPr/>
          <p:nvPr/>
        </p:nvSpPr>
        <p:spPr>
          <a:xfrm>
            <a:off x="3131057" y="4550969"/>
            <a:ext cx="235458" cy="402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1FF8A0-E737-6D01-677E-F881DDE6ED95}"/>
              </a:ext>
            </a:extLst>
          </p:cNvPr>
          <p:cNvSpPr txBox="1"/>
          <p:nvPr/>
        </p:nvSpPr>
        <p:spPr>
          <a:xfrm>
            <a:off x="1172495" y="3612741"/>
            <a:ext cx="168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5" dirty="0">
                <a:latin typeface="Helvetica"/>
              </a:rPr>
              <a:t>Non-faulty case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EBBACF4-DDEA-EC7A-789E-EAB7639A1C8C}"/>
              </a:ext>
            </a:extLst>
          </p:cNvPr>
          <p:cNvCxnSpPr>
            <a:cxnSpLocks/>
          </p:cNvCxnSpPr>
          <p:nvPr/>
        </p:nvCxnSpPr>
        <p:spPr>
          <a:xfrm>
            <a:off x="2286000" y="4056888"/>
            <a:ext cx="396239" cy="515112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5F9EBD-178A-C3F2-7BCF-B5ED4B30C487}"/>
              </a:ext>
            </a:extLst>
          </p:cNvPr>
          <p:cNvCxnSpPr>
            <a:cxnSpLocks/>
          </p:cNvCxnSpPr>
          <p:nvPr/>
        </p:nvCxnSpPr>
        <p:spPr>
          <a:xfrm flipV="1">
            <a:off x="2878328" y="4899925"/>
            <a:ext cx="128078" cy="38570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bject 10">
            <a:extLst>
              <a:ext uri="{FF2B5EF4-FFF2-40B4-BE49-F238E27FC236}">
                <a16:creationId xmlns:a16="http://schemas.microsoft.com/office/drawing/2014/main" id="{A4BD9B80-3FDF-ED05-6387-6DA091561C56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17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 animBg="1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BF4E-A7B5-7311-D3DE-92EE7E0E7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EF734150-7E49-36A9-1043-18AA1E035355}"/>
              </a:ext>
            </a:extLst>
          </p:cNvPr>
          <p:cNvSpPr txBox="1"/>
          <p:nvPr/>
        </p:nvSpPr>
        <p:spPr>
          <a:xfrm>
            <a:off x="382624" y="990600"/>
            <a:ext cx="7923175" cy="34887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How would it work to parallel simulate for multiple </a:t>
            </a:r>
            <a:r>
              <a:rPr lang="en-US" sz="2000" b="1" u="sng" dirty="0">
                <a:latin typeface="Arial"/>
                <a:cs typeface="Arial"/>
              </a:rPr>
              <a:t>single</a:t>
            </a:r>
            <a:r>
              <a:rPr lang="en-US" sz="2000" b="1" dirty="0">
                <a:latin typeface="Arial"/>
                <a:cs typeface="Arial"/>
              </a:rPr>
              <a:t> stuck-at fault, assuming one SSF present at a time? </a:t>
            </a:r>
          </a:p>
          <a:p>
            <a:pPr marL="355600" indent="-342900">
              <a:lnSpc>
                <a:spcPct val="100000"/>
              </a:lnSpc>
              <a:spcBef>
                <a:spcPts val="105"/>
              </a:spcBef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000" b="1" dirty="0">
              <a:latin typeface="Arial"/>
              <a:cs typeface="Arial"/>
            </a:endParaRPr>
          </a:p>
          <a:p>
            <a:pPr marL="927100" lvl="1" indent="-457200">
              <a:spcBef>
                <a:spcPts val="105"/>
              </a:spcBef>
              <a:buSzPct val="12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Modify circuit by injecting all the fault	s</a:t>
            </a:r>
          </a:p>
          <a:p>
            <a:pPr marL="927100" lvl="1" indent="-457200">
              <a:spcBef>
                <a:spcPts val="105"/>
              </a:spcBef>
              <a:buSzPct val="12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The size of each control input is k for k-1 injected faults (k-1 fault value + 1 fault free value)</a:t>
            </a:r>
          </a:p>
          <a:p>
            <a:pPr marL="927100" lvl="1" indent="-457200">
              <a:spcBef>
                <a:spcPts val="105"/>
              </a:spcBef>
              <a:buSzPct val="12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Arial"/>
                <a:cs typeface="Arial"/>
              </a:rPr>
              <a:t>Parallel simulate (at each gate) based on the k-bit vector of each of its </a:t>
            </a:r>
            <a:r>
              <a:rPr lang="en-US" sz="2000" b="1" dirty="0" err="1">
                <a:latin typeface="Arial"/>
                <a:cs typeface="Arial"/>
              </a:rPr>
              <a:t>fanins</a:t>
            </a:r>
            <a:endParaRPr lang="en-US" sz="2000" b="1" dirty="0">
              <a:latin typeface="Arial"/>
              <a:cs typeface="Arial"/>
            </a:endParaRPr>
          </a:p>
          <a:p>
            <a:pPr marL="927100" lvl="1" indent="-457200">
              <a:spcBef>
                <a:spcPts val="105"/>
              </a:spcBef>
              <a:buSzPct val="12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endParaRPr lang="en-US" sz="2000" b="1" dirty="0">
              <a:latin typeface="Arial"/>
              <a:cs typeface="Arial"/>
            </a:endParaRPr>
          </a:p>
          <a:p>
            <a:pPr marL="927100" lvl="1" indent="-457200">
              <a:spcBef>
                <a:spcPts val="105"/>
              </a:spcBef>
              <a:buSzPct val="120000"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endParaRPr lang="en-US" sz="2000" b="1" dirty="0">
              <a:latin typeface="Arial"/>
              <a:cs typeface="Arial"/>
            </a:endParaRPr>
          </a:p>
          <a:p>
            <a:pPr marL="927100" lvl="1" indent="-457200">
              <a:spcBef>
                <a:spcPts val="105"/>
              </a:spcBef>
              <a:buSzPct val="12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endParaRPr lang="en-US" sz="2000" b="1" dirty="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960263E-1990-F01E-4E48-33E2E7D96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200" y="164414"/>
            <a:ext cx="346735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40" dirty="0"/>
              <a:t> </a:t>
            </a:r>
            <a:r>
              <a:rPr spc="-5" dirty="0"/>
              <a:t>Injection</a:t>
            </a: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4D292A82-87E5-66D0-4E75-050CDD12F6E2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18</a:t>
            </a:fld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1808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1000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831" y="989075"/>
            <a:ext cx="3096895" cy="2816797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 marR="135890">
              <a:lnSpc>
                <a:spcPct val="100000"/>
              </a:lnSpc>
              <a:spcBef>
                <a:spcPts val="305"/>
              </a:spcBef>
              <a:tabLst>
                <a:tab pos="511809" algn="l"/>
                <a:tab pos="2205355" algn="l"/>
              </a:tabLst>
            </a:pPr>
            <a:r>
              <a:rPr sz="2000" b="1" dirty="0">
                <a:latin typeface="Helvetica"/>
                <a:cs typeface="Helvetica"/>
              </a:rPr>
              <a:t>Q:	Consider </a:t>
            </a:r>
            <a:r>
              <a:rPr sz="2000" b="1" spc="5" dirty="0">
                <a:latin typeface="Helvetica"/>
                <a:cs typeface="Helvetica"/>
              </a:rPr>
              <a:t>two</a:t>
            </a:r>
            <a:r>
              <a:rPr sz="2000" b="1" spc="-1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faults:  </a:t>
            </a:r>
            <a:r>
              <a:rPr lang="en-US" sz="2000" b="1" dirty="0">
                <a:latin typeface="Helvetica"/>
                <a:cs typeface="Helvetica"/>
              </a:rPr>
              <a:t>(</a:t>
            </a:r>
            <a:r>
              <a:rPr lang="en-US" sz="2000" b="1" i="1" dirty="0">
                <a:latin typeface="Helvetica"/>
                <a:cs typeface="Helvetica"/>
              </a:rPr>
              <a:t>A</a:t>
            </a:r>
            <a:r>
              <a:rPr lang="en-US" sz="2000" b="1" i="1" dirty="0">
                <a:latin typeface="HelveticaNeue-BoldItalic"/>
                <a:cs typeface="HelveticaNeue-BoldItalic"/>
              </a:rPr>
              <a:t>=SA1</a:t>
            </a:r>
            <a:r>
              <a:rPr lang="en-US" sz="2000" b="1" i="1" spc="15" dirty="0">
                <a:latin typeface="HelveticaNeue-BoldItalic"/>
                <a:cs typeface="HelveticaNeue-BoldItalic"/>
              </a:rPr>
              <a:t> </a:t>
            </a:r>
            <a:r>
              <a:rPr lang="en-US" sz="2000" b="1" i="1" dirty="0">
                <a:latin typeface="HelveticaNeue-BoldItalic"/>
                <a:cs typeface="HelveticaNeue-BoldItalic"/>
              </a:rPr>
              <a:t>,</a:t>
            </a:r>
            <a:r>
              <a:rPr lang="en-US" sz="2000" b="1" i="1" spc="5" dirty="0">
                <a:latin typeface="HelveticaNeue-BoldItalic"/>
                <a:cs typeface="HelveticaNeue-BoldItalic"/>
              </a:rPr>
              <a:t> J</a:t>
            </a:r>
            <a:r>
              <a:rPr lang="en-US" sz="2000" b="1" i="1" spc="20" dirty="0">
                <a:latin typeface="HelveticaNeue-BoldItalic"/>
                <a:cs typeface="HelveticaNeue-BoldItalic"/>
              </a:rPr>
              <a:t>=SA0)</a:t>
            </a:r>
            <a:r>
              <a:rPr sz="2000" b="1" spc="20" dirty="0">
                <a:latin typeface="Helvetica"/>
                <a:cs typeface="Helvetica"/>
              </a:rPr>
              <a:t>.	</a:t>
            </a:r>
            <a:r>
              <a:rPr sz="2000" b="1" dirty="0">
                <a:latin typeface="Helvetica"/>
                <a:cs typeface="Helvetica"/>
              </a:rPr>
              <a:t>Use</a:t>
            </a:r>
            <a:endParaRPr sz="2000" dirty="0">
              <a:latin typeface="Helvetica"/>
              <a:cs typeface="Helvetica"/>
            </a:endParaRPr>
          </a:p>
          <a:p>
            <a:pPr marL="90805" marR="16383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parallel fault</a:t>
            </a:r>
            <a:r>
              <a:rPr sz="2000" b="1" spc="-14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simulation  on</a:t>
            </a:r>
            <a:r>
              <a:rPr sz="2000" b="1" spc="-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patterns</a:t>
            </a:r>
            <a:endParaRPr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1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9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{010}</a:t>
            </a:r>
            <a:r>
              <a:rPr sz="2000" b="1" i="1" dirty="0">
                <a:latin typeface="Arial-BoldItalicMT"/>
                <a:cs typeface="Arial-BoldItalicMT"/>
              </a:rPr>
              <a:t>,</a:t>
            </a:r>
            <a:endParaRPr sz="2000" dirty="0">
              <a:latin typeface="Arial-BoldItalicMT"/>
              <a:cs typeface="Arial-BoldItalicMT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2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100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{001},</a:t>
            </a:r>
            <a:endParaRPr sz="200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3</a:t>
            </a:r>
            <a:r>
              <a:rPr sz="2000" b="1" spc="5" dirty="0">
                <a:latin typeface="Arial"/>
                <a:cs typeface="Arial"/>
              </a:rPr>
              <a:t>=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{100}.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17230" y="1683323"/>
            <a:ext cx="4427281" cy="15782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59618"/>
              </p:ext>
            </p:extLst>
          </p:nvPr>
        </p:nvGraphicFramePr>
        <p:xfrm>
          <a:off x="3838955" y="2481580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853434" y="320776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33265" y="320776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13097" y="320776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94129"/>
              </p:ext>
            </p:extLst>
          </p:nvPr>
        </p:nvGraphicFramePr>
        <p:xfrm>
          <a:off x="3838955" y="1466596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31650"/>
              </p:ext>
            </p:extLst>
          </p:nvPr>
        </p:nvGraphicFramePr>
        <p:xfrm>
          <a:off x="5062728" y="1466596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87676"/>
              </p:ext>
            </p:extLst>
          </p:nvPr>
        </p:nvGraphicFramePr>
        <p:xfrm>
          <a:off x="6502907" y="1466596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7849361" y="2055621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29193" y="2055621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09026" y="2055621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89014" y="320776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68845" y="320776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48678" y="320776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42153" y="3209290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21985" y="3209290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01817" y="3209290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76174" y="6399903"/>
            <a:ext cx="6620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19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6F20D8-2D78-5D64-4AD3-5E547F6AAF1F}"/>
              </a:ext>
            </a:extLst>
          </p:cNvPr>
          <p:cNvSpPr txBox="1"/>
          <p:nvPr/>
        </p:nvSpPr>
        <p:spPr>
          <a:xfrm>
            <a:off x="258266" y="4343400"/>
            <a:ext cx="813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Helvetica"/>
              </a:rPr>
              <a:t>Circuit is drawn after fault injection (injected faults are shown in grey)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0E8545-6C4E-E0A4-AEEE-DB51031CF4F4}"/>
              </a:ext>
            </a:extLst>
          </p:cNvPr>
          <p:cNvSpPr txBox="1"/>
          <p:nvPr/>
        </p:nvSpPr>
        <p:spPr>
          <a:xfrm>
            <a:off x="3304950" y="800615"/>
            <a:ext cx="2501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5" dirty="0">
                <a:latin typeface="Helvetica"/>
              </a:rPr>
              <a:t>Non-faulty</a:t>
            </a:r>
          </a:p>
          <a:p>
            <a:r>
              <a:rPr lang="en-US" spc="-5" dirty="0">
                <a:latin typeface="Helvetica"/>
              </a:rPr>
              <a:t>(non-controlling value)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9B7B163-CD18-78A1-8750-C2B50F19AE83}"/>
              </a:ext>
            </a:extLst>
          </p:cNvPr>
          <p:cNvCxnSpPr>
            <a:cxnSpLocks/>
          </p:cNvCxnSpPr>
          <p:nvPr/>
        </p:nvCxnSpPr>
        <p:spPr>
          <a:xfrm>
            <a:off x="3717230" y="1143000"/>
            <a:ext cx="316035" cy="76200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98D7510-5217-B396-764B-D5157D3C2943}"/>
              </a:ext>
            </a:extLst>
          </p:cNvPr>
          <p:cNvSpPr txBox="1"/>
          <p:nvPr/>
        </p:nvSpPr>
        <p:spPr>
          <a:xfrm>
            <a:off x="4406137" y="762000"/>
            <a:ext cx="265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5" dirty="0">
                <a:solidFill>
                  <a:schemeClr val="tx2">
                    <a:lumMod val="60000"/>
                    <a:lumOff val="40000"/>
                  </a:schemeClr>
                </a:solidFill>
                <a:latin typeface="Helvetica"/>
              </a:rPr>
              <a:t>A=SA1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7B5038D-DDF3-64B2-7D82-9E3C240986B3}"/>
              </a:ext>
            </a:extLst>
          </p:cNvPr>
          <p:cNvCxnSpPr>
            <a:cxnSpLocks/>
          </p:cNvCxnSpPr>
          <p:nvPr/>
        </p:nvCxnSpPr>
        <p:spPr>
          <a:xfrm flipH="1">
            <a:off x="4213097" y="1152789"/>
            <a:ext cx="358903" cy="752211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0DF334E-9D9B-4236-0FEB-A508AC8A243D}"/>
              </a:ext>
            </a:extLst>
          </p:cNvPr>
          <p:cNvSpPr txBox="1"/>
          <p:nvPr/>
        </p:nvSpPr>
        <p:spPr>
          <a:xfrm>
            <a:off x="5274309" y="762000"/>
            <a:ext cx="368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-5" dirty="0">
                <a:solidFill>
                  <a:schemeClr val="accent6"/>
                </a:solidFill>
                <a:latin typeface="Helvetica"/>
              </a:rPr>
              <a:t>J=SA0 (non-controlling value)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CFFC29A-4D10-4C37-069A-ED9356325FD4}"/>
              </a:ext>
            </a:extLst>
          </p:cNvPr>
          <p:cNvCxnSpPr>
            <a:cxnSpLocks/>
          </p:cNvCxnSpPr>
          <p:nvPr/>
        </p:nvCxnSpPr>
        <p:spPr>
          <a:xfrm flipH="1">
            <a:off x="4288535" y="1090528"/>
            <a:ext cx="1442847" cy="877676"/>
          </a:xfrm>
          <a:prstGeom prst="straightConnector1">
            <a:avLst/>
          </a:prstGeom>
          <a:ln>
            <a:solidFill>
              <a:srgbClr val="FFC000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F5DF4E40-92A6-6AFD-7F24-C695483EB70F}"/>
              </a:ext>
            </a:extLst>
          </p:cNvPr>
          <p:cNvSpPr/>
          <p:nvPr/>
        </p:nvSpPr>
        <p:spPr>
          <a:xfrm>
            <a:off x="5582157" y="3048000"/>
            <a:ext cx="590043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6F4BB86-A5B8-0273-A5A5-BE1AF90F8733}"/>
              </a:ext>
            </a:extLst>
          </p:cNvPr>
          <p:cNvSpPr/>
          <p:nvPr/>
        </p:nvSpPr>
        <p:spPr>
          <a:xfrm>
            <a:off x="3886200" y="1905000"/>
            <a:ext cx="590043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9" grpId="0"/>
      <p:bldP spid="63" grpId="0"/>
      <p:bldP spid="71" grpId="0"/>
      <p:bldP spid="75" grpId="0" animBg="1"/>
      <p:bldP spid="7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8172" y="164414"/>
            <a:ext cx="1854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831" y="989075"/>
            <a:ext cx="3096895" cy="3432350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 marR="135890">
              <a:lnSpc>
                <a:spcPct val="100000"/>
              </a:lnSpc>
              <a:spcBef>
                <a:spcPts val="305"/>
              </a:spcBef>
              <a:tabLst>
                <a:tab pos="511809" algn="l"/>
                <a:tab pos="2205355" algn="l"/>
              </a:tabLst>
            </a:pPr>
            <a:r>
              <a:rPr sz="2000" b="1" dirty="0">
                <a:latin typeface="Helvetica"/>
                <a:cs typeface="Helvetica"/>
              </a:rPr>
              <a:t>Q:	Consider </a:t>
            </a:r>
            <a:r>
              <a:rPr sz="2000" b="1" spc="5" dirty="0">
                <a:latin typeface="Helvetica"/>
                <a:cs typeface="Helvetica"/>
              </a:rPr>
              <a:t>two</a:t>
            </a:r>
            <a:r>
              <a:rPr sz="2000" b="1" spc="-1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faults:  (</a:t>
            </a:r>
            <a:r>
              <a:rPr lang="en-US" sz="2000" b="1" i="1" dirty="0">
                <a:latin typeface="Helvetica"/>
                <a:cs typeface="Helvetica"/>
              </a:rPr>
              <a:t>A</a:t>
            </a:r>
            <a:r>
              <a:rPr sz="2000" b="1" i="1" dirty="0">
                <a:latin typeface="HelveticaNeue-BoldItalic"/>
                <a:cs typeface="HelveticaNeue-BoldItalic"/>
              </a:rPr>
              <a:t>=SA1</a:t>
            </a:r>
            <a:r>
              <a:rPr sz="2000" b="1" i="1" spc="15" dirty="0">
                <a:latin typeface="HelveticaNeue-BoldItalic"/>
                <a:cs typeface="HelveticaNeue-BoldItalic"/>
              </a:rPr>
              <a:t> </a:t>
            </a:r>
            <a:r>
              <a:rPr sz="2000" b="1" i="1" dirty="0">
                <a:latin typeface="HelveticaNeue-BoldItalic"/>
                <a:cs typeface="HelveticaNeue-BoldItalic"/>
              </a:rPr>
              <a:t>,</a:t>
            </a:r>
            <a:r>
              <a:rPr sz="2000" b="1" i="1" spc="5" dirty="0">
                <a:latin typeface="HelveticaNeue-BoldItalic"/>
                <a:cs typeface="HelveticaNeue-BoldItalic"/>
              </a:rPr>
              <a:t> </a:t>
            </a:r>
            <a:r>
              <a:rPr lang="en-US" sz="2000" b="1" i="1" spc="5" dirty="0">
                <a:latin typeface="HelveticaNeue-BoldItalic"/>
                <a:cs typeface="HelveticaNeue-BoldItalic"/>
              </a:rPr>
              <a:t>J</a:t>
            </a:r>
            <a:r>
              <a:rPr sz="2000" b="1" i="1" spc="20" dirty="0">
                <a:latin typeface="HelveticaNeue-BoldItalic"/>
                <a:cs typeface="HelveticaNeue-BoldItalic"/>
              </a:rPr>
              <a:t>=SA0)</a:t>
            </a:r>
            <a:r>
              <a:rPr sz="2000" b="1" spc="20" dirty="0">
                <a:latin typeface="Helvetica"/>
                <a:cs typeface="Helvetica"/>
              </a:rPr>
              <a:t>.	</a:t>
            </a:r>
            <a:r>
              <a:rPr sz="2000" b="1" dirty="0">
                <a:latin typeface="Helvetica"/>
                <a:cs typeface="Helvetica"/>
              </a:rPr>
              <a:t>Use</a:t>
            </a:r>
            <a:endParaRPr sz="2000" dirty="0">
              <a:latin typeface="Helvetica"/>
              <a:cs typeface="Helvetica"/>
            </a:endParaRPr>
          </a:p>
          <a:p>
            <a:pPr marL="90805" marR="163830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parallel fault</a:t>
            </a:r>
            <a:r>
              <a:rPr sz="2000" b="1" spc="-14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simulation  on</a:t>
            </a:r>
            <a:r>
              <a:rPr sz="2000" b="1" spc="-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patterns</a:t>
            </a:r>
            <a:endParaRPr sz="2000" dirty="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1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9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{010}</a:t>
            </a:r>
            <a:r>
              <a:rPr sz="2000" b="1" i="1" dirty="0">
                <a:latin typeface="Arial-BoldItalicMT"/>
                <a:cs typeface="Arial-BoldItalicMT"/>
              </a:rPr>
              <a:t>,</a:t>
            </a:r>
            <a:endParaRPr sz="2000" dirty="0">
              <a:latin typeface="Arial-BoldItalicMT"/>
              <a:cs typeface="Arial-BoldItalicMT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2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100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{001},</a:t>
            </a:r>
            <a:endParaRPr sz="200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3</a:t>
            </a:r>
            <a:r>
              <a:rPr sz="2000" b="1" spc="5" dirty="0">
                <a:latin typeface="Arial"/>
                <a:cs typeface="Arial"/>
              </a:rPr>
              <a:t>=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{100}.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 dirty="0">
              <a:latin typeface="Helvetica"/>
              <a:cs typeface="Helvetica"/>
            </a:endParaRPr>
          </a:p>
          <a:p>
            <a:pPr marL="90805" marR="1358265">
              <a:lnSpc>
                <a:spcPct val="100000"/>
              </a:lnSpc>
              <a:tabLst>
                <a:tab pos="826769" algn="l"/>
              </a:tabLst>
            </a:pP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1</a:t>
            </a:r>
            <a:r>
              <a:rPr sz="1950" b="1" i="1" spc="292" baseline="-21367" dirty="0">
                <a:latin typeface="HelveticaNeue-BoldItalic"/>
                <a:cs typeface="HelveticaNeue-BoldItalic"/>
              </a:rPr>
              <a:t> </a:t>
            </a: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2	</a:t>
            </a:r>
            <a:r>
              <a:rPr sz="2000" b="1" dirty="0">
                <a:latin typeface="Helvetica"/>
                <a:cs typeface="Helvetica"/>
              </a:rPr>
              <a:t>detect</a:t>
            </a:r>
            <a:r>
              <a:rPr sz="2000" b="1" spc="-100" dirty="0">
                <a:latin typeface="Helvetica"/>
                <a:cs typeface="Helvetica"/>
              </a:rPr>
              <a:t> </a:t>
            </a:r>
            <a:r>
              <a:rPr sz="2000" b="1" i="1" spc="-40" dirty="0">
                <a:latin typeface="HelveticaNeue-BoldItalic"/>
                <a:cs typeface="HelveticaNeue-BoldItalic"/>
              </a:rPr>
              <a:t>f  </a:t>
            </a: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3 </a:t>
            </a:r>
            <a:r>
              <a:rPr sz="2000" b="1" dirty="0">
                <a:latin typeface="Helvetica"/>
                <a:cs typeface="Helvetica"/>
              </a:rPr>
              <a:t>detects</a:t>
            </a:r>
            <a:r>
              <a:rPr sz="2000" b="1" spc="-250" dirty="0">
                <a:latin typeface="Helvetica"/>
                <a:cs typeface="Helvetica"/>
              </a:rPr>
              <a:t> </a:t>
            </a:r>
            <a:r>
              <a:rPr sz="2000" b="1" i="1" dirty="0">
                <a:latin typeface="HelveticaNeue-BoldItalic"/>
                <a:cs typeface="HelveticaNeue-BoldItalic"/>
              </a:rPr>
              <a:t>g</a:t>
            </a:r>
            <a:endParaRPr sz="2000" dirty="0">
              <a:latin typeface="HelveticaNeue-BoldItalic"/>
              <a:cs typeface="HelveticaNeue-BoldIt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17230" y="463615"/>
            <a:ext cx="4427281" cy="15782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38955" y="1261872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4953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853434" y="19880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33265" y="19880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13097" y="19880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90898" y="1981962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0 </a:t>
            </a:r>
            <a:r>
              <a:rPr lang="en-US" sz="110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38955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4953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062728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165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502907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849361" y="835913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29193" y="835913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29193" y="835913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09026" y="835913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87969" y="829132"/>
            <a:ext cx="464184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1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sp>
        <p:nvSpPr>
          <p:cNvPr id="18" name="object 18"/>
          <p:cNvSpPr/>
          <p:nvPr/>
        </p:nvSpPr>
        <p:spPr>
          <a:xfrm>
            <a:off x="6589014" y="19880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68845" y="19880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48678" y="19880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27114" y="1981962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0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 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22" name="object 22"/>
          <p:cNvSpPr/>
          <p:nvPr/>
        </p:nvSpPr>
        <p:spPr>
          <a:xfrm>
            <a:off x="5042153" y="1837182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21985" y="1837182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01817" y="1837182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79238" y="1798458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1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 1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sp>
        <p:nvSpPr>
          <p:cNvPr id="26" name="object 26"/>
          <p:cNvSpPr/>
          <p:nvPr/>
        </p:nvSpPr>
        <p:spPr>
          <a:xfrm>
            <a:off x="3717230" y="2841055"/>
            <a:ext cx="4427281" cy="15782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3838955" y="3639311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49530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3853434" y="4365497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6"/>
                </a:moveTo>
                <a:lnTo>
                  <a:pt x="179832" y="143256"/>
                </a:lnTo>
                <a:lnTo>
                  <a:pt x="179832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033265" y="4365497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6"/>
                </a:moveTo>
                <a:lnTo>
                  <a:pt x="179832" y="143256"/>
                </a:lnTo>
                <a:lnTo>
                  <a:pt x="179832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13097" y="4365497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10">
                <a:moveTo>
                  <a:pt x="0" y="143256"/>
                </a:moveTo>
                <a:lnTo>
                  <a:pt x="179832" y="143256"/>
                </a:lnTo>
                <a:lnTo>
                  <a:pt x="179832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890898" y="4358766"/>
            <a:ext cx="4635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Helvetica"/>
                <a:cs typeface="Helvetica"/>
              </a:rPr>
              <a:t>1</a:t>
            </a:r>
            <a:r>
              <a:rPr lang="en-US" sz="110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 1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3838955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49530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062728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6502907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7849361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029193" y="3211829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5">
                <a:moveTo>
                  <a:pt x="0" y="146303"/>
                </a:moveTo>
                <a:lnTo>
                  <a:pt x="179831" y="146303"/>
                </a:lnTo>
                <a:lnTo>
                  <a:pt x="179831" y="0"/>
                </a:lnTo>
                <a:lnTo>
                  <a:pt x="0" y="0"/>
                </a:lnTo>
                <a:lnTo>
                  <a:pt x="0" y="146303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29193" y="3211829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5">
                <a:moveTo>
                  <a:pt x="0" y="146303"/>
                </a:moveTo>
                <a:lnTo>
                  <a:pt x="179831" y="146303"/>
                </a:lnTo>
                <a:lnTo>
                  <a:pt x="179831" y="0"/>
                </a:lnTo>
                <a:lnTo>
                  <a:pt x="0" y="0"/>
                </a:lnTo>
                <a:lnTo>
                  <a:pt x="0" y="14630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09026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887969" y="3206623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1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sp>
        <p:nvSpPr>
          <p:cNvPr id="40" name="object 40"/>
          <p:cNvSpPr/>
          <p:nvPr/>
        </p:nvSpPr>
        <p:spPr>
          <a:xfrm>
            <a:off x="6589014" y="4365497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40" h="143510">
                <a:moveTo>
                  <a:pt x="0" y="143256"/>
                </a:moveTo>
                <a:lnTo>
                  <a:pt x="179831" y="143256"/>
                </a:lnTo>
                <a:lnTo>
                  <a:pt x="179831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68845" y="4365497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40" h="143510">
                <a:moveTo>
                  <a:pt x="0" y="143256"/>
                </a:moveTo>
                <a:lnTo>
                  <a:pt x="179831" y="143256"/>
                </a:lnTo>
                <a:lnTo>
                  <a:pt x="179831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48678" y="4365497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40" h="143510">
                <a:moveTo>
                  <a:pt x="0" y="143256"/>
                </a:moveTo>
                <a:lnTo>
                  <a:pt x="179831" y="143256"/>
                </a:lnTo>
                <a:lnTo>
                  <a:pt x="179831" y="0"/>
                </a:lnTo>
                <a:lnTo>
                  <a:pt x="0" y="0"/>
                </a:lnTo>
                <a:lnTo>
                  <a:pt x="0" y="14325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627114" y="4358766"/>
            <a:ext cx="4635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Helvetica"/>
                <a:cs typeface="Helvetica"/>
              </a:rPr>
              <a:t>0</a:t>
            </a:r>
            <a:r>
              <a:rPr lang="en-US" sz="110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 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44" name="object 44"/>
          <p:cNvSpPr/>
          <p:nvPr/>
        </p:nvSpPr>
        <p:spPr>
          <a:xfrm>
            <a:off x="5042153" y="436549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221985" y="436549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01817" y="436549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079238" y="4359402"/>
            <a:ext cx="4635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Helvetica"/>
                <a:cs typeface="Helvetica"/>
              </a:rPr>
              <a:t>1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1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sp>
        <p:nvSpPr>
          <p:cNvPr id="48" name="object 48"/>
          <p:cNvSpPr/>
          <p:nvPr/>
        </p:nvSpPr>
        <p:spPr>
          <a:xfrm>
            <a:off x="3738692" y="5072190"/>
            <a:ext cx="4428553" cy="1578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3860291" y="5870447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49530">
                        <a:lnSpc>
                          <a:spcPts val="975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762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975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762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975"/>
                        </a:lnSpc>
                        <a:spcBef>
                          <a:spcPts val="6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762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3860291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4953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5084064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6524243" y="4855464"/>
          <a:ext cx="540384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56"/>
          <p:cNvSpPr/>
          <p:nvPr/>
        </p:nvSpPr>
        <p:spPr>
          <a:xfrm>
            <a:off x="7872221" y="54444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052054" y="54444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231885" y="54444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231885" y="54444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910321" y="5439257"/>
            <a:ext cx="4635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Helvetica"/>
                <a:cs typeface="Helvetica"/>
              </a:rPr>
              <a:t>0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7947659" y="286003"/>
            <a:ext cx="339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1</a:t>
            </a:r>
            <a:endParaRPr sz="1950" baseline="-21367">
              <a:latin typeface="HelveticaNeue-BoldItalic"/>
              <a:cs typeface="HelveticaNeue-BoldItal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76174" y="6399903"/>
            <a:ext cx="5858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20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920863" y="2518410"/>
            <a:ext cx="339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2</a:t>
            </a:r>
            <a:endParaRPr sz="1950" baseline="-21367">
              <a:latin typeface="HelveticaNeue-BoldItalic"/>
              <a:cs typeface="HelveticaNeue-BoldItal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892160" y="4751070"/>
            <a:ext cx="339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3</a:t>
            </a:r>
            <a:endParaRPr sz="1950" baseline="-21367">
              <a:latin typeface="HelveticaNeue-BoldItalic"/>
              <a:cs typeface="HelveticaNeue-BoldItalic"/>
            </a:endParaRPr>
          </a:p>
        </p:txBody>
      </p:sp>
      <p:sp>
        <p:nvSpPr>
          <p:cNvPr id="71" name="object 6">
            <a:extLst>
              <a:ext uri="{FF2B5EF4-FFF2-40B4-BE49-F238E27FC236}">
                <a16:creationId xmlns:a16="http://schemas.microsoft.com/office/drawing/2014/main" id="{2C8EF614-B936-8748-AD67-62B27C1B9B49}"/>
              </a:ext>
            </a:extLst>
          </p:cNvPr>
          <p:cNvSpPr/>
          <p:nvPr/>
        </p:nvSpPr>
        <p:spPr>
          <a:xfrm>
            <a:off x="3886200" y="655929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">
            <a:extLst>
              <a:ext uri="{FF2B5EF4-FFF2-40B4-BE49-F238E27FC236}">
                <a16:creationId xmlns:a16="http://schemas.microsoft.com/office/drawing/2014/main" id="{FF3220E4-611F-9E59-CA14-9B2CB40324E1}"/>
              </a:ext>
            </a:extLst>
          </p:cNvPr>
          <p:cNvSpPr/>
          <p:nvPr/>
        </p:nvSpPr>
        <p:spPr>
          <a:xfrm>
            <a:off x="4066031" y="655929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8">
            <a:extLst>
              <a:ext uri="{FF2B5EF4-FFF2-40B4-BE49-F238E27FC236}">
                <a16:creationId xmlns:a16="http://schemas.microsoft.com/office/drawing/2014/main" id="{B148A587-D43C-3D39-8D85-790BF79E430F}"/>
              </a:ext>
            </a:extLst>
          </p:cNvPr>
          <p:cNvSpPr/>
          <p:nvPr/>
        </p:nvSpPr>
        <p:spPr>
          <a:xfrm>
            <a:off x="4245863" y="655929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9">
            <a:extLst>
              <a:ext uri="{FF2B5EF4-FFF2-40B4-BE49-F238E27FC236}">
                <a16:creationId xmlns:a16="http://schemas.microsoft.com/office/drawing/2014/main" id="{04A9C375-9738-9036-212C-DBA59B7CFC79}"/>
              </a:ext>
            </a:extLst>
          </p:cNvPr>
          <p:cNvSpPr txBox="1"/>
          <p:nvPr/>
        </p:nvSpPr>
        <p:spPr>
          <a:xfrm>
            <a:off x="3923664" y="6553200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0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77" name="object 6">
            <a:extLst>
              <a:ext uri="{FF2B5EF4-FFF2-40B4-BE49-F238E27FC236}">
                <a16:creationId xmlns:a16="http://schemas.microsoft.com/office/drawing/2014/main" id="{65922A45-7FBE-4BA5-E68E-A98AFB3DE747}"/>
              </a:ext>
            </a:extLst>
          </p:cNvPr>
          <p:cNvSpPr/>
          <p:nvPr/>
        </p:nvSpPr>
        <p:spPr>
          <a:xfrm>
            <a:off x="4953000" y="655929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">
            <a:extLst>
              <a:ext uri="{FF2B5EF4-FFF2-40B4-BE49-F238E27FC236}">
                <a16:creationId xmlns:a16="http://schemas.microsoft.com/office/drawing/2014/main" id="{412ACD81-FC6B-484A-D777-F956859A4BAA}"/>
              </a:ext>
            </a:extLst>
          </p:cNvPr>
          <p:cNvSpPr/>
          <p:nvPr/>
        </p:nvSpPr>
        <p:spPr>
          <a:xfrm>
            <a:off x="5132831" y="655929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">
            <a:extLst>
              <a:ext uri="{FF2B5EF4-FFF2-40B4-BE49-F238E27FC236}">
                <a16:creationId xmlns:a16="http://schemas.microsoft.com/office/drawing/2014/main" id="{968CD983-2B9A-50C4-FF24-729B7D8DE0C0}"/>
              </a:ext>
            </a:extLst>
          </p:cNvPr>
          <p:cNvSpPr/>
          <p:nvPr/>
        </p:nvSpPr>
        <p:spPr>
          <a:xfrm>
            <a:off x="5312663" y="6559295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80">
                <a:moveTo>
                  <a:pt x="0" y="144779"/>
                </a:moveTo>
                <a:lnTo>
                  <a:pt x="179832" y="144779"/>
                </a:lnTo>
                <a:lnTo>
                  <a:pt x="179832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C4FE2FBC-5EDD-B1D4-C8C1-7B5581BA64E7}"/>
              </a:ext>
            </a:extLst>
          </p:cNvPr>
          <p:cNvSpPr txBox="1"/>
          <p:nvPr/>
        </p:nvSpPr>
        <p:spPr>
          <a:xfrm>
            <a:off x="4990464" y="6553200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0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85" name="object 56">
            <a:extLst>
              <a:ext uri="{FF2B5EF4-FFF2-40B4-BE49-F238E27FC236}">
                <a16:creationId xmlns:a16="http://schemas.microsoft.com/office/drawing/2014/main" id="{383C7729-983F-F20A-E972-AAC92FC8575F}"/>
              </a:ext>
            </a:extLst>
          </p:cNvPr>
          <p:cNvSpPr/>
          <p:nvPr/>
        </p:nvSpPr>
        <p:spPr>
          <a:xfrm>
            <a:off x="6705600" y="6528732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57">
            <a:extLst>
              <a:ext uri="{FF2B5EF4-FFF2-40B4-BE49-F238E27FC236}">
                <a16:creationId xmlns:a16="http://schemas.microsoft.com/office/drawing/2014/main" id="{10DACFFD-F1DC-A73A-6541-25C8DCC4930E}"/>
              </a:ext>
            </a:extLst>
          </p:cNvPr>
          <p:cNvSpPr/>
          <p:nvPr/>
        </p:nvSpPr>
        <p:spPr>
          <a:xfrm>
            <a:off x="6885433" y="6528732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58">
            <a:extLst>
              <a:ext uri="{FF2B5EF4-FFF2-40B4-BE49-F238E27FC236}">
                <a16:creationId xmlns:a16="http://schemas.microsoft.com/office/drawing/2014/main" id="{AE6DA580-0E23-B939-B361-5325CADC4C84}"/>
              </a:ext>
            </a:extLst>
          </p:cNvPr>
          <p:cNvSpPr/>
          <p:nvPr/>
        </p:nvSpPr>
        <p:spPr>
          <a:xfrm>
            <a:off x="7065264" y="6528732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59">
            <a:extLst>
              <a:ext uri="{FF2B5EF4-FFF2-40B4-BE49-F238E27FC236}">
                <a16:creationId xmlns:a16="http://schemas.microsoft.com/office/drawing/2014/main" id="{8C660F54-090C-903E-A18C-0385E4B1BFA7}"/>
              </a:ext>
            </a:extLst>
          </p:cNvPr>
          <p:cNvSpPr/>
          <p:nvPr/>
        </p:nvSpPr>
        <p:spPr>
          <a:xfrm>
            <a:off x="7065264" y="6528732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60">
            <a:extLst>
              <a:ext uri="{FF2B5EF4-FFF2-40B4-BE49-F238E27FC236}">
                <a16:creationId xmlns:a16="http://schemas.microsoft.com/office/drawing/2014/main" id="{37F0E6CB-F877-BC0E-A224-BAE2BC0CDDDE}"/>
              </a:ext>
            </a:extLst>
          </p:cNvPr>
          <p:cNvSpPr txBox="1"/>
          <p:nvPr/>
        </p:nvSpPr>
        <p:spPr>
          <a:xfrm>
            <a:off x="6743700" y="6523499"/>
            <a:ext cx="4635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Helvetica"/>
                <a:cs typeface="Helvetica"/>
              </a:rPr>
              <a:t>1   </a:t>
            </a:r>
            <a:r>
              <a:rPr sz="1100" dirty="0">
                <a:latin typeface="Helvetica"/>
                <a:cs typeface="Helvetica"/>
              </a:rPr>
              <a:t>1</a:t>
            </a:r>
            <a:r>
              <a:rPr lang="en-US" sz="1100" dirty="0">
                <a:latin typeface="Helvetica"/>
                <a:cs typeface="Helvetica"/>
              </a:rPr>
              <a:t>  0</a:t>
            </a:r>
            <a:endParaRPr sz="1100" dirty="0">
              <a:latin typeface="Helvetica"/>
              <a:cs typeface="Helvetica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44D20EC-99DB-9FDD-DBFA-EAD3ABC89EC0}"/>
              </a:ext>
            </a:extLst>
          </p:cNvPr>
          <p:cNvSpPr/>
          <p:nvPr/>
        </p:nvSpPr>
        <p:spPr>
          <a:xfrm>
            <a:off x="3581400" y="161487"/>
            <a:ext cx="1066800" cy="371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3E02EA8-F87B-B8CF-6401-DAC64AF4A6BF}"/>
              </a:ext>
            </a:extLst>
          </p:cNvPr>
          <p:cNvSpPr/>
          <p:nvPr/>
        </p:nvSpPr>
        <p:spPr>
          <a:xfrm>
            <a:off x="3581400" y="1152087"/>
            <a:ext cx="1066800" cy="371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2FAD8D3-E8A3-B980-55F0-DE62ABA5D221}"/>
              </a:ext>
            </a:extLst>
          </p:cNvPr>
          <p:cNvSpPr/>
          <p:nvPr/>
        </p:nvSpPr>
        <p:spPr>
          <a:xfrm>
            <a:off x="3581400" y="1914087"/>
            <a:ext cx="1066800" cy="371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D982ABE-2C8F-B19D-4246-B1872CA36A41}"/>
              </a:ext>
            </a:extLst>
          </p:cNvPr>
          <p:cNvSpPr/>
          <p:nvPr/>
        </p:nvSpPr>
        <p:spPr>
          <a:xfrm>
            <a:off x="7543800" y="313887"/>
            <a:ext cx="1066800" cy="3719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0" grpId="0" animBg="1"/>
      <p:bldP spid="31" grpId="0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 animBg="1"/>
      <p:bldP spid="43" grpId="0"/>
      <p:bldP spid="44" grpId="0" animBg="1"/>
      <p:bldP spid="45" grpId="0" animBg="1"/>
      <p:bldP spid="46" grpId="0" animBg="1"/>
      <p:bldP spid="47" grpId="0"/>
      <p:bldP spid="48" grpId="0" animBg="1"/>
      <p:bldP spid="56" grpId="0" animBg="1"/>
      <p:bldP spid="57" grpId="0" animBg="1"/>
      <p:bldP spid="58" grpId="0" animBg="1"/>
      <p:bldP spid="59" grpId="0" animBg="1"/>
      <p:bldP spid="60" grpId="0"/>
      <p:bldP spid="69" grpId="0"/>
      <p:bldP spid="70" grpId="0"/>
      <p:bldP spid="71" grpId="0" animBg="1"/>
      <p:bldP spid="74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/>
      <p:bldP spid="85" grpId="0" animBg="1"/>
      <p:bldP spid="86" grpId="0" animBg="1"/>
      <p:bldP spid="87" grpId="0" animBg="1"/>
      <p:bldP spid="88" grpId="0" animBg="1"/>
      <p:bldP spid="89" grpId="0"/>
      <p:bldP spid="50" grpId="0" animBg="1"/>
      <p:bldP spid="51" grpId="0" animBg="1"/>
      <p:bldP spid="52" grpId="0" animBg="1"/>
      <p:bldP spid="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889500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 simulation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Serial fault</a:t>
            </a:r>
            <a:r>
              <a:rPr sz="2000" b="1" spc="-6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Parallel fault simulation</a:t>
            </a:r>
            <a:r>
              <a:rPr sz="2000" b="1" spc="-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(1965)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PPSFP (1985)</a:t>
            </a:r>
            <a:r>
              <a:rPr lang="en-US"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(parallel pattern)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-5" dirty="0">
                <a:solidFill>
                  <a:srgbClr val="A6A6A6"/>
                </a:solidFill>
                <a:latin typeface="Arial"/>
                <a:cs typeface="Arial"/>
              </a:rPr>
              <a:t>Deductive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fault simulation</a:t>
            </a:r>
            <a:r>
              <a:rPr sz="2000" b="1" spc="-8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(1972)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8540" y="3863340"/>
            <a:ext cx="3096248" cy="2016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21</a:t>
            </a:fld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974" y="225374"/>
            <a:ext cx="89804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/>
              <a:t>PPSFP</a:t>
            </a:r>
            <a:r>
              <a:rPr lang="en-US" sz="2800" spc="-5" dirty="0"/>
              <a:t>: Parallel Pattern Single Fault Propagation 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315975" y="932433"/>
            <a:ext cx="7402195" cy="29245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Procedure</a:t>
            </a:r>
            <a:endParaRPr lang="en-US"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1755139" algn="l"/>
              </a:tabLst>
            </a:pPr>
            <a:r>
              <a:rPr lang="en-US" sz="2000" b="1" dirty="0">
                <a:latin typeface="Arial"/>
                <a:cs typeface="Arial"/>
              </a:rPr>
              <a:t>Step</a:t>
            </a:r>
            <a:r>
              <a:rPr lang="en-US" sz="2000" b="1" spc="-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0:	run </a:t>
            </a:r>
            <a:r>
              <a:rPr lang="en-US" sz="2000" b="1" spc="-5" dirty="0">
                <a:latin typeface="Arial"/>
                <a:cs typeface="Arial"/>
              </a:rPr>
              <a:t>logic </a:t>
            </a:r>
            <a:r>
              <a:rPr lang="en-US" sz="2000" b="1" dirty="0">
                <a:latin typeface="Arial"/>
                <a:cs typeface="Arial"/>
              </a:rPr>
              <a:t>simulation, store good output</a:t>
            </a:r>
            <a:r>
              <a:rPr lang="en-US" sz="2000" b="1" spc="-110" dirty="0">
                <a:latin typeface="Arial"/>
                <a:cs typeface="Arial"/>
              </a:rPr>
              <a:t> </a:t>
            </a:r>
            <a:r>
              <a:rPr lang="en-US" sz="2000" b="1" i="1" spc="10" dirty="0" err="1">
                <a:solidFill>
                  <a:srgbClr val="0000FF"/>
                </a:solidFill>
                <a:latin typeface="Arial-BoldItalicMT"/>
                <a:cs typeface="Arial-BoldItalicMT"/>
              </a:rPr>
              <a:t>O</a:t>
            </a:r>
            <a:r>
              <a:rPr lang="en-US" sz="1950" b="1" i="1" spc="15" baseline="-21367" dirty="0" err="1">
                <a:solidFill>
                  <a:srgbClr val="0000FF"/>
                </a:solidFill>
                <a:latin typeface="Arial-BoldItalicMT"/>
                <a:cs typeface="Arial-BoldItalicMT"/>
              </a:rPr>
              <a:t>g</a:t>
            </a:r>
            <a:endParaRPr lang="en-US" sz="1950" baseline="-21367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Step 1: Inject </a:t>
            </a:r>
            <a:r>
              <a:rPr sz="2000" b="1" i="1" spc="5" dirty="0">
                <a:solidFill>
                  <a:srgbClr val="FF0000"/>
                </a:solidFill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solidFill>
                  <a:srgbClr val="FF0000"/>
                </a:solidFill>
                <a:latin typeface="Arial-BoldItalicMT"/>
                <a:cs typeface="Arial-BoldItalicMT"/>
              </a:rPr>
              <a:t>1 </a:t>
            </a:r>
            <a:r>
              <a:rPr sz="2000" b="1" dirty="0">
                <a:latin typeface="Arial"/>
                <a:cs typeface="Arial"/>
              </a:rPr>
              <a:t>by creating an </a:t>
            </a:r>
            <a:r>
              <a:rPr sz="2000" b="1" u="sng" spc="-5" dirty="0">
                <a:latin typeface="Arial"/>
                <a:cs typeface="Arial"/>
              </a:rPr>
              <a:t>event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at the fault</a:t>
            </a:r>
            <a:r>
              <a:rPr sz="2000" b="1" spc="-370" dirty="0">
                <a:latin typeface="Arial"/>
                <a:cs typeface="Arial"/>
              </a:rPr>
              <a:t> </a:t>
            </a:r>
            <a:r>
              <a:rPr lang="en-US" sz="2000" b="1" spc="-370" dirty="0">
                <a:latin typeface="Arial"/>
                <a:cs typeface="Arial"/>
              </a:rPr>
              <a:t>  </a:t>
            </a:r>
            <a:r>
              <a:rPr sz="2000" b="1" dirty="0">
                <a:latin typeface="Arial"/>
                <a:cs typeface="Arial"/>
              </a:rPr>
              <a:t>site</a:t>
            </a:r>
            <a:endParaRPr sz="2000" dirty="0">
              <a:latin typeface="Arial"/>
              <a:cs typeface="Arial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Step 2: Perform </a:t>
            </a:r>
            <a:r>
              <a:rPr sz="2000" b="1" spc="-5" dirty="0">
                <a:solidFill>
                  <a:srgbClr val="3333FF"/>
                </a:solidFill>
                <a:latin typeface="Arial"/>
                <a:cs typeface="Arial"/>
              </a:rPr>
              <a:t>event-driven </a:t>
            </a:r>
            <a:r>
              <a:rPr sz="2000" b="1" dirty="0">
                <a:solidFill>
                  <a:srgbClr val="3333FF"/>
                </a:solidFill>
                <a:latin typeface="Arial"/>
                <a:cs typeface="Arial"/>
              </a:rPr>
              <a:t>simulation</a:t>
            </a:r>
            <a:r>
              <a:rPr sz="2000" b="1" dirty="0">
                <a:latin typeface="Arial"/>
                <a:cs typeface="Arial"/>
              </a:rPr>
              <a:t>, get output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i="1" spc="10" dirty="0">
                <a:solidFill>
                  <a:srgbClr val="0000FF"/>
                </a:solidFill>
                <a:latin typeface="Arial-BoldItalicMT"/>
                <a:cs typeface="Arial-BoldItalicMT"/>
              </a:rPr>
              <a:t>O</a:t>
            </a:r>
            <a:r>
              <a:rPr sz="1950" b="1" i="1" spc="15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f1</a:t>
            </a:r>
            <a:endParaRPr sz="1950" baseline="-21367" dirty="0">
              <a:latin typeface="Arial-BoldItalicMT"/>
              <a:cs typeface="Arial-BoldItalicMT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</a:pPr>
            <a:r>
              <a:rPr sz="1800" i="1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i="1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Compare </a:t>
            </a:r>
            <a:r>
              <a:rPr sz="2000" b="1" i="1" spc="10" dirty="0">
                <a:solidFill>
                  <a:srgbClr val="0000FF"/>
                </a:solidFill>
                <a:latin typeface="Arial-BoldItalicMT"/>
                <a:cs typeface="Arial-BoldItalicMT"/>
              </a:rPr>
              <a:t>O</a:t>
            </a:r>
            <a:r>
              <a:rPr sz="1950" b="1" i="1" spc="15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g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245" dirty="0">
                <a:latin typeface="Arial"/>
                <a:cs typeface="Arial"/>
              </a:rPr>
              <a:t> </a:t>
            </a: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O</a:t>
            </a:r>
            <a:r>
              <a:rPr sz="1950" b="1" i="1" spc="7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f1</a:t>
            </a:r>
            <a:endParaRPr sz="1950" baseline="-21367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Step 3. Create an </a:t>
            </a:r>
            <a:r>
              <a:rPr sz="2000" b="1" spc="-5" dirty="0">
                <a:latin typeface="Arial"/>
                <a:cs typeface="Arial"/>
              </a:rPr>
              <a:t>event </a:t>
            </a:r>
            <a:r>
              <a:rPr sz="2000" b="1" dirty="0">
                <a:latin typeface="Arial"/>
                <a:cs typeface="Arial"/>
              </a:rPr>
              <a:t>to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undo </a:t>
            </a:r>
            <a:r>
              <a:rPr sz="2000" b="1" dirty="0">
                <a:latin typeface="Arial"/>
                <a:cs typeface="Arial"/>
              </a:rPr>
              <a:t>fault </a:t>
            </a:r>
            <a:r>
              <a:rPr sz="2000" b="1" spc="5" dirty="0">
                <a:latin typeface="Arial"/>
                <a:cs typeface="Arial"/>
              </a:rPr>
              <a:t>effect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1</a:t>
            </a:r>
            <a:endParaRPr sz="1950" baseline="-21367" dirty="0">
              <a:latin typeface="Arial-BoldItalicMT"/>
              <a:cs typeface="Arial-BoldItalicMT"/>
            </a:endParaRPr>
          </a:p>
          <a:p>
            <a:pPr marL="939800">
              <a:lnSpc>
                <a:spcPct val="100000"/>
              </a:lnSpc>
              <a:spcBef>
                <a:spcPts val="480"/>
              </a:spcBef>
              <a:tabLst>
                <a:tab pos="4675505" algn="l"/>
              </a:tabLst>
            </a:pPr>
            <a:r>
              <a:rPr sz="1800" i="1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i="1" spc="4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Inject an </a:t>
            </a:r>
            <a:r>
              <a:rPr sz="2000" b="1" spc="-5" dirty="0">
                <a:latin typeface="Arial"/>
                <a:cs typeface="Arial"/>
              </a:rPr>
              <a:t>event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next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	</a:t>
            </a:r>
            <a:r>
              <a:rPr sz="2000" b="1" i="1" spc="5" dirty="0">
                <a:solidFill>
                  <a:srgbClr val="0000FF"/>
                </a:solidFill>
                <a:latin typeface="Arial-BoldItalicMT"/>
                <a:cs typeface="Arial-BoldItalicMT"/>
              </a:rPr>
              <a:t>f</a:t>
            </a:r>
            <a:r>
              <a:rPr sz="1950" b="1" i="1" spc="7" baseline="-21367" dirty="0">
                <a:solidFill>
                  <a:srgbClr val="0000FF"/>
                </a:solidFill>
                <a:latin typeface="Arial-BoldItalicMT"/>
                <a:cs typeface="Arial-BoldItalicMT"/>
              </a:rPr>
              <a:t>2</a:t>
            </a:r>
            <a:endParaRPr sz="1950" baseline="-21367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sz="2000" b="1" dirty="0">
                <a:latin typeface="Arial"/>
                <a:cs typeface="Arial"/>
              </a:rPr>
              <a:t>Repeat step 2~3 until all faults</a:t>
            </a:r>
            <a:r>
              <a:rPr sz="2000" b="1" spc="-1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simulated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7739" y="4335779"/>
          <a:ext cx="2157730" cy="21610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i="1" spc="5" dirty="0">
                          <a:latin typeface="Helvetica"/>
                          <a:cs typeface="Helvetica"/>
                        </a:rPr>
                        <a:t>W </a:t>
                      </a:r>
                      <a:r>
                        <a:rPr sz="2000" dirty="0">
                          <a:latin typeface="Helvetica"/>
                          <a:cs typeface="Helvetica"/>
                        </a:rPr>
                        <a:t>test</a:t>
                      </a:r>
                      <a:r>
                        <a:rPr sz="2000" spc="-75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2000" dirty="0">
                          <a:latin typeface="Helvetica"/>
                          <a:cs typeface="Helvetica"/>
                        </a:rPr>
                        <a:t>patterns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215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942"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" dirty="0">
                          <a:latin typeface="Helvetica"/>
                          <a:cs typeface="Helvetica"/>
                        </a:rPr>
                        <a:t>Fault-free</a:t>
                      </a:r>
                      <a:r>
                        <a:rPr sz="180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circuit</a:t>
                      </a:r>
                      <a:endParaRPr sz="1800">
                        <a:latin typeface="Helvetica"/>
                        <a:cs typeface="Helvetica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Helvetica"/>
                          <a:cs typeface="Helvetica"/>
                        </a:rPr>
                        <a:t>Out </a:t>
                      </a:r>
                      <a:r>
                        <a:rPr sz="1800" spc="-5" dirty="0">
                          <a:latin typeface="Helvetica"/>
                          <a:cs typeface="Helvetica"/>
                        </a:rPr>
                        <a:t>response</a:t>
                      </a:r>
                      <a:r>
                        <a:rPr sz="1800" spc="-20" dirty="0">
                          <a:latin typeface="Helvetica"/>
                          <a:cs typeface="Helvetica"/>
                        </a:rPr>
                        <a:t> </a:t>
                      </a:r>
                      <a:r>
                        <a:rPr sz="1800" i="1" spc="-5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O</a:t>
                      </a:r>
                      <a:r>
                        <a:rPr sz="1800" i="1" spc="-7" baseline="-20833" dirty="0">
                          <a:solidFill>
                            <a:srgbClr val="0000FF"/>
                          </a:solidFill>
                          <a:latin typeface="Helvetica"/>
                          <a:cs typeface="Helvetica"/>
                        </a:rPr>
                        <a:t>g</a:t>
                      </a:r>
                      <a:endParaRPr sz="1800" baseline="-20833">
                        <a:latin typeface="Helvetica"/>
                        <a:cs typeface="Helvetica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493008" y="4701540"/>
            <a:ext cx="2158365" cy="1440180"/>
          </a:xfrm>
          <a:custGeom>
            <a:avLst/>
            <a:gdLst/>
            <a:ahLst/>
            <a:cxnLst/>
            <a:rect l="l" t="t" r="r" b="b"/>
            <a:pathLst>
              <a:path w="2158365" h="1440179">
                <a:moveTo>
                  <a:pt x="0" y="1440180"/>
                </a:moveTo>
                <a:lnTo>
                  <a:pt x="2157984" y="1440180"/>
                </a:lnTo>
                <a:lnTo>
                  <a:pt x="2157984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3008" y="4701540"/>
            <a:ext cx="2158365" cy="1440180"/>
          </a:xfrm>
          <a:custGeom>
            <a:avLst/>
            <a:gdLst/>
            <a:ahLst/>
            <a:cxnLst/>
            <a:rect l="l" t="t" r="r" b="b"/>
            <a:pathLst>
              <a:path w="2158365" h="1440179">
                <a:moveTo>
                  <a:pt x="0" y="1440180"/>
                </a:moveTo>
                <a:lnTo>
                  <a:pt x="2157984" y="1440180"/>
                </a:lnTo>
                <a:lnTo>
                  <a:pt x="2157984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93008" y="4340352"/>
            <a:ext cx="2158365" cy="3606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70"/>
              </a:spcBef>
            </a:pPr>
            <a:r>
              <a:rPr sz="2000" i="1" spc="5" dirty="0">
                <a:latin typeface="Helvetica"/>
                <a:cs typeface="Helvetica"/>
              </a:rPr>
              <a:t>W </a:t>
            </a:r>
            <a:r>
              <a:rPr sz="2000" dirty="0">
                <a:latin typeface="Helvetica"/>
                <a:cs typeface="Helvetica"/>
              </a:rPr>
              <a:t>test</a:t>
            </a:r>
            <a:r>
              <a:rPr sz="2000" spc="-7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patterns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3008" y="6141720"/>
            <a:ext cx="2158365" cy="3600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Helvetica"/>
                <a:cs typeface="Helvetica"/>
              </a:rPr>
              <a:t>Out </a:t>
            </a:r>
            <a:r>
              <a:rPr sz="1800" spc="-5" dirty="0">
                <a:latin typeface="Helvetica"/>
                <a:cs typeface="Helvetica"/>
              </a:rPr>
              <a:t>response</a:t>
            </a:r>
            <a:r>
              <a:rPr sz="1800" spc="-25" dirty="0">
                <a:latin typeface="Helvetica"/>
                <a:cs typeface="Helvetica"/>
              </a:rPr>
              <a:t> </a:t>
            </a:r>
            <a:r>
              <a:rPr sz="1800" i="1" spc="-5" dirty="0">
                <a:solidFill>
                  <a:srgbClr val="0000FF"/>
                </a:solidFill>
                <a:latin typeface="Helvetica"/>
                <a:cs typeface="Helvetica"/>
              </a:rPr>
              <a:t>O</a:t>
            </a:r>
            <a:r>
              <a:rPr sz="1800" i="1" spc="-7" baseline="-20833" dirty="0">
                <a:solidFill>
                  <a:srgbClr val="0000FF"/>
                </a:solidFill>
                <a:latin typeface="Helvetica"/>
                <a:cs typeface="Helvetica"/>
              </a:rPr>
              <a:t>f1</a:t>
            </a:r>
            <a:endParaRPr sz="1800" baseline="-20833">
              <a:latin typeface="Helvetica"/>
              <a:cs typeface="Helvetic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43628" y="5347715"/>
            <a:ext cx="577850" cy="792480"/>
          </a:xfrm>
          <a:custGeom>
            <a:avLst/>
            <a:gdLst/>
            <a:ahLst/>
            <a:cxnLst/>
            <a:rect l="l" t="t" r="r" b="b"/>
            <a:pathLst>
              <a:path w="577850" h="792479">
                <a:moveTo>
                  <a:pt x="288798" y="0"/>
                </a:moveTo>
                <a:lnTo>
                  <a:pt x="0" y="792480"/>
                </a:lnTo>
                <a:lnTo>
                  <a:pt x="577596" y="792480"/>
                </a:lnTo>
                <a:lnTo>
                  <a:pt x="288798" y="0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43628" y="5347715"/>
            <a:ext cx="577850" cy="792480"/>
          </a:xfrm>
          <a:custGeom>
            <a:avLst/>
            <a:gdLst/>
            <a:ahLst/>
            <a:cxnLst/>
            <a:rect l="l" t="t" r="r" b="b"/>
            <a:pathLst>
              <a:path w="577850" h="792479">
                <a:moveTo>
                  <a:pt x="0" y="792480"/>
                </a:moveTo>
                <a:lnTo>
                  <a:pt x="577596" y="792480"/>
                </a:lnTo>
                <a:lnTo>
                  <a:pt x="288798" y="0"/>
                </a:lnTo>
                <a:lnTo>
                  <a:pt x="0" y="792480"/>
                </a:lnTo>
                <a:close/>
              </a:path>
            </a:pathLst>
          </a:custGeom>
          <a:ln w="9144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88991" y="5311140"/>
            <a:ext cx="82296" cy="79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12179" y="4701540"/>
            <a:ext cx="2158365" cy="1440180"/>
          </a:xfrm>
          <a:custGeom>
            <a:avLst/>
            <a:gdLst/>
            <a:ahLst/>
            <a:cxnLst/>
            <a:rect l="l" t="t" r="r" b="b"/>
            <a:pathLst>
              <a:path w="2158365" h="1440179">
                <a:moveTo>
                  <a:pt x="0" y="1440180"/>
                </a:moveTo>
                <a:lnTo>
                  <a:pt x="2157983" y="1440180"/>
                </a:lnTo>
                <a:lnTo>
                  <a:pt x="2157983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12179" y="4701540"/>
            <a:ext cx="2158365" cy="1440180"/>
          </a:xfrm>
          <a:custGeom>
            <a:avLst/>
            <a:gdLst/>
            <a:ahLst/>
            <a:cxnLst/>
            <a:rect l="l" t="t" r="r" b="b"/>
            <a:pathLst>
              <a:path w="2158365" h="1440179">
                <a:moveTo>
                  <a:pt x="0" y="1440180"/>
                </a:moveTo>
                <a:lnTo>
                  <a:pt x="2157983" y="1440180"/>
                </a:lnTo>
                <a:lnTo>
                  <a:pt x="2157983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012179" y="4340352"/>
            <a:ext cx="2158365" cy="3606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225425">
              <a:lnSpc>
                <a:spcPct val="100000"/>
              </a:lnSpc>
              <a:spcBef>
                <a:spcPts val="170"/>
              </a:spcBef>
            </a:pPr>
            <a:r>
              <a:rPr sz="2000" i="1" spc="5" dirty="0">
                <a:latin typeface="Helvetica"/>
                <a:cs typeface="Helvetica"/>
              </a:rPr>
              <a:t>W </a:t>
            </a:r>
            <a:r>
              <a:rPr sz="2000" dirty="0">
                <a:latin typeface="Helvetica"/>
                <a:cs typeface="Helvetica"/>
              </a:rPr>
              <a:t>test</a:t>
            </a:r>
            <a:r>
              <a:rPr sz="2000" spc="-7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patterns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12179" y="6141720"/>
            <a:ext cx="2158365" cy="3600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Helvetica"/>
                <a:cs typeface="Helvetica"/>
              </a:rPr>
              <a:t>Out </a:t>
            </a:r>
            <a:r>
              <a:rPr sz="1800" spc="-5" dirty="0">
                <a:latin typeface="Helvetica"/>
                <a:cs typeface="Helvetica"/>
              </a:rPr>
              <a:t>response</a:t>
            </a:r>
            <a:r>
              <a:rPr sz="1800" spc="-15" dirty="0">
                <a:latin typeface="Helvetica"/>
                <a:cs typeface="Helvetica"/>
              </a:rPr>
              <a:t> </a:t>
            </a:r>
            <a:r>
              <a:rPr sz="1800" i="1" spc="-5" dirty="0">
                <a:solidFill>
                  <a:srgbClr val="0000FF"/>
                </a:solidFill>
                <a:latin typeface="Helvetica"/>
                <a:cs typeface="Helvetica"/>
              </a:rPr>
              <a:t>O</a:t>
            </a:r>
            <a:r>
              <a:rPr sz="1800" i="1" spc="-7" baseline="-20833" dirty="0">
                <a:solidFill>
                  <a:srgbClr val="0000FF"/>
                </a:solidFill>
                <a:latin typeface="Helvetica"/>
                <a:cs typeface="Helvetica"/>
              </a:rPr>
              <a:t>f2</a:t>
            </a:r>
            <a:endParaRPr sz="1800" baseline="-20833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53020" y="5159121"/>
            <a:ext cx="83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23125" y="5306948"/>
            <a:ext cx="1073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latin typeface="Helvetica"/>
                <a:cs typeface="Helvetica"/>
              </a:rPr>
              <a:t>1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17613" y="5168264"/>
            <a:ext cx="5080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300" spc="5" dirty="0">
                <a:latin typeface="Helvetica"/>
                <a:cs typeface="Helvetica"/>
              </a:rPr>
              <a:t>’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62800" y="5347715"/>
            <a:ext cx="577850" cy="792480"/>
          </a:xfrm>
          <a:custGeom>
            <a:avLst/>
            <a:gdLst/>
            <a:ahLst/>
            <a:cxnLst/>
            <a:rect l="l" t="t" r="r" b="b"/>
            <a:pathLst>
              <a:path w="577850" h="792479">
                <a:moveTo>
                  <a:pt x="288798" y="0"/>
                </a:moveTo>
                <a:lnTo>
                  <a:pt x="0" y="792480"/>
                </a:lnTo>
                <a:lnTo>
                  <a:pt x="577596" y="792480"/>
                </a:lnTo>
                <a:lnTo>
                  <a:pt x="28879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62800" y="5347715"/>
            <a:ext cx="577850" cy="792480"/>
          </a:xfrm>
          <a:custGeom>
            <a:avLst/>
            <a:gdLst/>
            <a:ahLst/>
            <a:cxnLst/>
            <a:rect l="l" t="t" r="r" b="b"/>
            <a:pathLst>
              <a:path w="577850" h="792479">
                <a:moveTo>
                  <a:pt x="0" y="792480"/>
                </a:moveTo>
                <a:lnTo>
                  <a:pt x="577596" y="792480"/>
                </a:lnTo>
                <a:lnTo>
                  <a:pt x="288798" y="0"/>
                </a:lnTo>
                <a:lnTo>
                  <a:pt x="0" y="792480"/>
                </a:lnTo>
                <a:close/>
              </a:path>
            </a:pathLst>
          </a:custGeom>
          <a:ln w="914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09688" y="5311140"/>
            <a:ext cx="82296" cy="79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79692" y="4943094"/>
            <a:ext cx="83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f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49795" y="5090921"/>
            <a:ext cx="107314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300" spc="15" dirty="0">
                <a:latin typeface="Helvetica"/>
                <a:cs typeface="Helvetica"/>
              </a:rPr>
              <a:t>2</a:t>
            </a:r>
            <a:endParaRPr sz="1300">
              <a:latin typeface="Helvetica"/>
              <a:cs typeface="Helvetic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26352" y="5204459"/>
            <a:ext cx="649605" cy="935990"/>
          </a:xfrm>
          <a:custGeom>
            <a:avLst/>
            <a:gdLst/>
            <a:ahLst/>
            <a:cxnLst/>
            <a:rect l="l" t="t" r="r" b="b"/>
            <a:pathLst>
              <a:path w="649604" h="935989">
                <a:moveTo>
                  <a:pt x="324612" y="0"/>
                </a:moveTo>
                <a:lnTo>
                  <a:pt x="0" y="935735"/>
                </a:lnTo>
                <a:lnTo>
                  <a:pt x="649224" y="935735"/>
                </a:lnTo>
                <a:lnTo>
                  <a:pt x="324612" y="0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26352" y="5204459"/>
            <a:ext cx="649605" cy="935990"/>
          </a:xfrm>
          <a:custGeom>
            <a:avLst/>
            <a:gdLst/>
            <a:ahLst/>
            <a:cxnLst/>
            <a:rect l="l" t="t" r="r" b="b"/>
            <a:pathLst>
              <a:path w="649604" h="935989">
                <a:moveTo>
                  <a:pt x="0" y="935735"/>
                </a:moveTo>
                <a:lnTo>
                  <a:pt x="649224" y="935735"/>
                </a:lnTo>
                <a:lnTo>
                  <a:pt x="324612" y="0"/>
                </a:lnTo>
                <a:lnTo>
                  <a:pt x="0" y="935735"/>
                </a:lnTo>
                <a:close/>
              </a:path>
            </a:pathLst>
          </a:custGeom>
          <a:ln w="9144">
            <a:solidFill>
              <a:srgbClr val="FF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05243" y="5166359"/>
            <a:ext cx="82296" cy="80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626736" y="5159121"/>
            <a:ext cx="426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000" i="1" spc="5" dirty="0">
                <a:latin typeface="Helvetica"/>
                <a:cs typeface="Helvetica"/>
              </a:rPr>
              <a:t>f</a:t>
            </a:r>
            <a:r>
              <a:rPr sz="1950" spc="7" baseline="-21367" dirty="0">
                <a:latin typeface="Helvetica"/>
                <a:cs typeface="Helvetica"/>
              </a:rPr>
              <a:t>1</a:t>
            </a:r>
            <a:r>
              <a:rPr sz="1950" spc="-262" baseline="-21367" dirty="0">
                <a:latin typeface="Helvetica"/>
                <a:cs typeface="Helvetica"/>
              </a:rPr>
              <a:t> </a:t>
            </a:r>
            <a:r>
              <a:rPr sz="3000" b="1" baseline="-4166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3000" baseline="-4166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6174" y="6399903"/>
            <a:ext cx="5858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22</a:t>
            </a:fld>
            <a:endParaRPr sz="24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74509" y="5039995"/>
            <a:ext cx="1828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X</a:t>
            </a:r>
            <a:endParaRPr sz="200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625" y="881633"/>
            <a:ext cx="4127500" cy="1062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Assume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i="1" spc="5" dirty="0">
                <a:latin typeface="Arial-BoldItalicMT"/>
                <a:cs typeface="Arial-BoldItalicMT"/>
              </a:rPr>
              <a:t>W</a:t>
            </a:r>
            <a:r>
              <a:rPr sz="2000" b="1" spc="5" dirty="0">
                <a:latin typeface="Arial"/>
                <a:cs typeface="Arial"/>
              </a:rPr>
              <a:t>=3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Fault-free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circuit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Fault-free output 111</a:t>
            </a:r>
            <a:r>
              <a:rPr sz="2000" b="1" spc="-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stored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1167" y="164414"/>
            <a:ext cx="3533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PPSFP</a:t>
            </a:r>
            <a:r>
              <a:rPr spc="-70" dirty="0"/>
              <a:t> </a:t>
            </a:r>
            <a:r>
              <a:rPr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6230873" y="4437126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1314" y="4222241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41314" y="4222241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5261" y="3284982"/>
            <a:ext cx="2208530" cy="0"/>
          </a:xfrm>
          <a:custGeom>
            <a:avLst/>
            <a:gdLst/>
            <a:ahLst/>
            <a:cxnLst/>
            <a:rect l="l" t="t" r="r" b="b"/>
            <a:pathLst>
              <a:path w="2208529">
                <a:moveTo>
                  <a:pt x="220827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80282" y="321335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216407" y="0"/>
                </a:moveTo>
                <a:lnTo>
                  <a:pt x="0" y="0"/>
                </a:lnTo>
                <a:lnTo>
                  <a:pt x="0" y="431292"/>
                </a:lnTo>
                <a:lnTo>
                  <a:pt x="216407" y="431292"/>
                </a:lnTo>
                <a:lnTo>
                  <a:pt x="266024" y="425598"/>
                </a:lnTo>
                <a:lnTo>
                  <a:pt x="311573" y="409378"/>
                </a:lnTo>
                <a:lnTo>
                  <a:pt x="351755" y="383925"/>
                </a:lnTo>
                <a:lnTo>
                  <a:pt x="385269" y="350533"/>
                </a:lnTo>
                <a:lnTo>
                  <a:pt x="410817" y="310493"/>
                </a:lnTo>
                <a:lnTo>
                  <a:pt x="427099" y="265100"/>
                </a:lnTo>
                <a:lnTo>
                  <a:pt x="432815" y="215646"/>
                </a:lnTo>
                <a:lnTo>
                  <a:pt x="427099" y="166191"/>
                </a:lnTo>
                <a:lnTo>
                  <a:pt x="410817" y="120798"/>
                </a:lnTo>
                <a:lnTo>
                  <a:pt x="385269" y="80758"/>
                </a:lnTo>
                <a:lnTo>
                  <a:pt x="351755" y="47366"/>
                </a:lnTo>
                <a:lnTo>
                  <a:pt x="311573" y="21913"/>
                </a:lnTo>
                <a:lnTo>
                  <a:pt x="266024" y="5693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80282" y="321335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16407" y="0"/>
                </a:lnTo>
                <a:lnTo>
                  <a:pt x="266024" y="5693"/>
                </a:lnTo>
                <a:lnTo>
                  <a:pt x="311573" y="21913"/>
                </a:lnTo>
                <a:lnTo>
                  <a:pt x="351755" y="47366"/>
                </a:lnTo>
                <a:lnTo>
                  <a:pt x="385269" y="80758"/>
                </a:lnTo>
                <a:lnTo>
                  <a:pt x="410817" y="120798"/>
                </a:lnTo>
                <a:lnTo>
                  <a:pt x="427099" y="166191"/>
                </a:lnTo>
                <a:lnTo>
                  <a:pt x="432815" y="215646"/>
                </a:lnTo>
                <a:lnTo>
                  <a:pt x="427099" y="265100"/>
                </a:lnTo>
                <a:lnTo>
                  <a:pt x="410817" y="310493"/>
                </a:lnTo>
                <a:lnTo>
                  <a:pt x="385269" y="350533"/>
                </a:lnTo>
                <a:lnTo>
                  <a:pt x="351755" y="383925"/>
                </a:lnTo>
                <a:lnTo>
                  <a:pt x="311573" y="409378"/>
                </a:lnTo>
                <a:lnTo>
                  <a:pt x="266024" y="425598"/>
                </a:lnTo>
                <a:lnTo>
                  <a:pt x="21640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15005" y="5447538"/>
            <a:ext cx="1403985" cy="0"/>
          </a:xfrm>
          <a:custGeom>
            <a:avLst/>
            <a:gdLst/>
            <a:ahLst/>
            <a:cxnLst/>
            <a:rect l="l" t="t" r="r" b="b"/>
            <a:pathLst>
              <a:path w="1403985">
                <a:moveTo>
                  <a:pt x="140360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95571" y="5387340"/>
            <a:ext cx="108203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25061" y="5301234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0" y="288035"/>
                </a:lnTo>
                <a:lnTo>
                  <a:pt x="288036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25061" y="5301234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6" y="144017"/>
                </a:lnTo>
                <a:lnTo>
                  <a:pt x="0" y="28803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85380" y="426542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15261" y="3568446"/>
            <a:ext cx="2052955" cy="1871980"/>
          </a:xfrm>
          <a:custGeom>
            <a:avLst/>
            <a:gdLst/>
            <a:ahLst/>
            <a:cxnLst/>
            <a:rect l="l" t="t" r="r" b="b"/>
            <a:pathLst>
              <a:path w="2052954" h="1871979">
                <a:moveTo>
                  <a:pt x="0" y="1871598"/>
                </a:moveTo>
                <a:lnTo>
                  <a:pt x="996442" y="1871598"/>
                </a:lnTo>
                <a:lnTo>
                  <a:pt x="996442" y="0"/>
                </a:lnTo>
                <a:lnTo>
                  <a:pt x="205270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13097" y="3429761"/>
            <a:ext cx="1764030" cy="865505"/>
          </a:xfrm>
          <a:custGeom>
            <a:avLst/>
            <a:gdLst/>
            <a:ahLst/>
            <a:cxnLst/>
            <a:rect l="l" t="t" r="r" b="b"/>
            <a:pathLst>
              <a:path w="1764029" h="865504">
                <a:moveTo>
                  <a:pt x="0" y="0"/>
                </a:moveTo>
                <a:lnTo>
                  <a:pt x="852297" y="0"/>
                </a:lnTo>
                <a:lnTo>
                  <a:pt x="852297" y="865124"/>
                </a:lnTo>
                <a:lnTo>
                  <a:pt x="1763649" y="8651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09109" y="4581905"/>
            <a:ext cx="1692275" cy="863600"/>
          </a:xfrm>
          <a:custGeom>
            <a:avLst/>
            <a:gdLst/>
            <a:ahLst/>
            <a:cxnLst/>
            <a:rect l="l" t="t" r="r" b="b"/>
            <a:pathLst>
              <a:path w="1692275" h="863600">
                <a:moveTo>
                  <a:pt x="0" y="863600"/>
                </a:moveTo>
                <a:lnTo>
                  <a:pt x="767968" y="863600"/>
                </a:lnTo>
                <a:lnTo>
                  <a:pt x="767968" y="0"/>
                </a:lnTo>
                <a:lnTo>
                  <a:pt x="169227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17385" y="4437126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>
                <a:moveTo>
                  <a:pt x="0" y="0"/>
                </a:moveTo>
                <a:lnTo>
                  <a:pt x="863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744979" y="2906267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744979" y="5065776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753867" y="3915155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129784" y="4779264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6714743" y="4058411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129784" y="3770376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233415" y="2180844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6774306" y="1423444"/>
            <a:ext cx="1014730" cy="7372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b="1" spc="-5" dirty="0">
                <a:latin typeface="Helvetica"/>
                <a:cs typeface="Helvetica"/>
              </a:rPr>
              <a:t>Pattern</a:t>
            </a:r>
            <a:r>
              <a:rPr sz="1800" b="1" spc="-80" dirty="0">
                <a:latin typeface="Helvetica"/>
                <a:cs typeface="Helvetica"/>
              </a:rPr>
              <a:t> </a:t>
            </a:r>
            <a:r>
              <a:rPr sz="1800" b="1" dirty="0">
                <a:latin typeface="Helvetica"/>
                <a:cs typeface="Helvetica"/>
              </a:rPr>
              <a:t>1</a:t>
            </a:r>
            <a:endParaRPr sz="1800">
              <a:latin typeface="Helvetica"/>
              <a:cs typeface="Helvetica"/>
            </a:endParaRPr>
          </a:p>
          <a:p>
            <a:pPr marL="21590">
              <a:lnSpc>
                <a:spcPct val="100000"/>
              </a:lnSpc>
              <a:spcBef>
                <a:spcPts val="645"/>
              </a:spcBef>
            </a:pPr>
            <a:r>
              <a:rPr sz="1800" b="1" spc="-5" dirty="0">
                <a:latin typeface="Helvetica"/>
                <a:cs typeface="Helvetica"/>
              </a:rPr>
              <a:t>Pattern</a:t>
            </a:r>
            <a:r>
              <a:rPr sz="1800" b="1" spc="-60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2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1258" y="2513152"/>
            <a:ext cx="10033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Helvetica"/>
                <a:cs typeface="Helvetica"/>
              </a:rPr>
              <a:t>Pattern</a:t>
            </a:r>
            <a:r>
              <a:rPr sz="1800" b="1" spc="-65" dirty="0">
                <a:latin typeface="Helvetica"/>
                <a:cs typeface="Helvetica"/>
              </a:rPr>
              <a:t> </a:t>
            </a:r>
            <a:r>
              <a:rPr sz="1800" b="1" dirty="0">
                <a:latin typeface="Helvetica"/>
                <a:cs typeface="Helvetica"/>
              </a:rPr>
              <a:t>3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34811" y="2506217"/>
            <a:ext cx="957580" cy="184150"/>
          </a:xfrm>
          <a:custGeom>
            <a:avLst/>
            <a:gdLst/>
            <a:ahLst/>
            <a:cxnLst/>
            <a:rect l="l" t="t" r="r" b="b"/>
            <a:pathLst>
              <a:path w="957579" h="184150">
                <a:moveTo>
                  <a:pt x="76200" y="95250"/>
                </a:moveTo>
                <a:lnTo>
                  <a:pt x="38100" y="95250"/>
                </a:lnTo>
                <a:lnTo>
                  <a:pt x="38100" y="184150"/>
                </a:lnTo>
                <a:lnTo>
                  <a:pt x="957198" y="184150"/>
                </a:lnTo>
                <a:lnTo>
                  <a:pt x="957198" y="165100"/>
                </a:lnTo>
                <a:lnTo>
                  <a:pt x="76200" y="165100"/>
                </a:lnTo>
                <a:lnTo>
                  <a:pt x="57150" y="146050"/>
                </a:lnTo>
                <a:lnTo>
                  <a:pt x="76200" y="146050"/>
                </a:lnTo>
                <a:lnTo>
                  <a:pt x="76200" y="95250"/>
                </a:lnTo>
                <a:close/>
              </a:path>
              <a:path w="957579" h="184150">
                <a:moveTo>
                  <a:pt x="76200" y="146050"/>
                </a:moveTo>
                <a:lnTo>
                  <a:pt x="57150" y="146050"/>
                </a:lnTo>
                <a:lnTo>
                  <a:pt x="76200" y="165100"/>
                </a:lnTo>
                <a:lnTo>
                  <a:pt x="76200" y="146050"/>
                </a:lnTo>
                <a:close/>
              </a:path>
              <a:path w="957579" h="184150">
                <a:moveTo>
                  <a:pt x="957198" y="146050"/>
                </a:moveTo>
                <a:lnTo>
                  <a:pt x="76200" y="146050"/>
                </a:lnTo>
                <a:lnTo>
                  <a:pt x="76200" y="165100"/>
                </a:lnTo>
                <a:lnTo>
                  <a:pt x="957198" y="165100"/>
                </a:lnTo>
                <a:lnTo>
                  <a:pt x="957198" y="146050"/>
                </a:lnTo>
                <a:close/>
              </a:path>
              <a:path w="957579" h="18415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957579" h="18415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18403" y="1999488"/>
            <a:ext cx="1186180" cy="180975"/>
          </a:xfrm>
          <a:custGeom>
            <a:avLst/>
            <a:gdLst/>
            <a:ahLst/>
            <a:cxnLst/>
            <a:rect l="l" t="t" r="r" b="b"/>
            <a:pathLst>
              <a:path w="1186179" h="180975">
                <a:moveTo>
                  <a:pt x="38100" y="66675"/>
                </a:moveTo>
                <a:lnTo>
                  <a:pt x="0" y="66675"/>
                </a:lnTo>
                <a:lnTo>
                  <a:pt x="57150" y="180975"/>
                </a:lnTo>
                <a:lnTo>
                  <a:pt x="104775" y="85725"/>
                </a:lnTo>
                <a:lnTo>
                  <a:pt x="38100" y="85725"/>
                </a:lnTo>
                <a:lnTo>
                  <a:pt x="38100" y="66675"/>
                </a:lnTo>
                <a:close/>
              </a:path>
              <a:path w="1186179" h="180975">
                <a:moveTo>
                  <a:pt x="1185799" y="0"/>
                </a:moveTo>
                <a:lnTo>
                  <a:pt x="38100" y="0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38100"/>
                </a:lnTo>
                <a:lnTo>
                  <a:pt x="57150" y="38100"/>
                </a:lnTo>
                <a:lnTo>
                  <a:pt x="76200" y="19050"/>
                </a:lnTo>
                <a:lnTo>
                  <a:pt x="1185799" y="19050"/>
                </a:lnTo>
                <a:lnTo>
                  <a:pt x="1185799" y="0"/>
                </a:lnTo>
                <a:close/>
              </a:path>
              <a:path w="1186179" h="180975">
                <a:moveTo>
                  <a:pt x="114300" y="66675"/>
                </a:moveTo>
                <a:lnTo>
                  <a:pt x="76200" y="66675"/>
                </a:lnTo>
                <a:lnTo>
                  <a:pt x="76200" y="85725"/>
                </a:lnTo>
                <a:lnTo>
                  <a:pt x="104775" y="85725"/>
                </a:lnTo>
                <a:lnTo>
                  <a:pt x="114300" y="66675"/>
                </a:lnTo>
                <a:close/>
              </a:path>
              <a:path w="1186179" h="180975">
                <a:moveTo>
                  <a:pt x="76200" y="19050"/>
                </a:moveTo>
                <a:lnTo>
                  <a:pt x="57150" y="38100"/>
                </a:lnTo>
                <a:lnTo>
                  <a:pt x="76200" y="38100"/>
                </a:lnTo>
                <a:lnTo>
                  <a:pt x="76200" y="19050"/>
                </a:lnTo>
                <a:close/>
              </a:path>
              <a:path w="1186179" h="180975">
                <a:moveTo>
                  <a:pt x="1185799" y="19050"/>
                </a:moveTo>
                <a:lnTo>
                  <a:pt x="76200" y="19050"/>
                </a:lnTo>
                <a:lnTo>
                  <a:pt x="76200" y="38100"/>
                </a:lnTo>
                <a:lnTo>
                  <a:pt x="1185799" y="38100"/>
                </a:lnTo>
                <a:lnTo>
                  <a:pt x="1185799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03520" y="1644395"/>
            <a:ext cx="1392555" cy="536575"/>
          </a:xfrm>
          <a:custGeom>
            <a:avLst/>
            <a:gdLst/>
            <a:ahLst/>
            <a:cxnLst/>
            <a:rect l="l" t="t" r="r" b="b"/>
            <a:pathLst>
              <a:path w="1392554" h="536575">
                <a:moveTo>
                  <a:pt x="38100" y="422275"/>
                </a:moveTo>
                <a:lnTo>
                  <a:pt x="0" y="422275"/>
                </a:lnTo>
                <a:lnTo>
                  <a:pt x="57150" y="536575"/>
                </a:lnTo>
                <a:lnTo>
                  <a:pt x="104775" y="441325"/>
                </a:lnTo>
                <a:lnTo>
                  <a:pt x="38100" y="441325"/>
                </a:lnTo>
                <a:lnTo>
                  <a:pt x="38100" y="422275"/>
                </a:lnTo>
                <a:close/>
              </a:path>
              <a:path w="1392554" h="536575">
                <a:moveTo>
                  <a:pt x="1392174" y="0"/>
                </a:moveTo>
                <a:lnTo>
                  <a:pt x="38100" y="0"/>
                </a:lnTo>
                <a:lnTo>
                  <a:pt x="38100" y="441325"/>
                </a:lnTo>
                <a:lnTo>
                  <a:pt x="76200" y="441325"/>
                </a:lnTo>
                <a:lnTo>
                  <a:pt x="76200" y="38100"/>
                </a:lnTo>
                <a:lnTo>
                  <a:pt x="57150" y="38100"/>
                </a:lnTo>
                <a:lnTo>
                  <a:pt x="76200" y="19050"/>
                </a:lnTo>
                <a:lnTo>
                  <a:pt x="1392174" y="19050"/>
                </a:lnTo>
                <a:lnTo>
                  <a:pt x="1392174" y="0"/>
                </a:lnTo>
                <a:close/>
              </a:path>
              <a:path w="1392554" h="536575">
                <a:moveTo>
                  <a:pt x="114300" y="422275"/>
                </a:moveTo>
                <a:lnTo>
                  <a:pt x="76200" y="422275"/>
                </a:lnTo>
                <a:lnTo>
                  <a:pt x="76200" y="441325"/>
                </a:lnTo>
                <a:lnTo>
                  <a:pt x="104775" y="441325"/>
                </a:lnTo>
                <a:lnTo>
                  <a:pt x="114300" y="422275"/>
                </a:lnTo>
                <a:close/>
              </a:path>
              <a:path w="1392554" h="536575">
                <a:moveTo>
                  <a:pt x="76200" y="19050"/>
                </a:moveTo>
                <a:lnTo>
                  <a:pt x="57150" y="38100"/>
                </a:lnTo>
                <a:lnTo>
                  <a:pt x="76200" y="38100"/>
                </a:lnTo>
                <a:lnTo>
                  <a:pt x="76200" y="19050"/>
                </a:lnTo>
                <a:close/>
              </a:path>
              <a:path w="1392554" h="536575">
                <a:moveTo>
                  <a:pt x="1392174" y="19050"/>
                </a:moveTo>
                <a:lnTo>
                  <a:pt x="76200" y="19050"/>
                </a:lnTo>
                <a:lnTo>
                  <a:pt x="76200" y="38100"/>
                </a:lnTo>
                <a:lnTo>
                  <a:pt x="1392174" y="38100"/>
                </a:lnTo>
                <a:lnTo>
                  <a:pt x="1392174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976" y="164414"/>
            <a:ext cx="35566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Example-</a:t>
            </a:r>
            <a:r>
              <a:rPr spc="-75" dirty="0"/>
              <a:t> </a:t>
            </a:r>
            <a:r>
              <a:rPr spc="-5" dirty="0"/>
              <a:t>cont</a:t>
            </a:r>
            <a:r>
              <a:rPr spc="-5" dirty="0">
                <a:latin typeface="Helvetica"/>
                <a:cs typeface="Helvetica"/>
              </a:rPr>
              <a:t>’</a:t>
            </a:r>
            <a:r>
              <a:rPr spc="-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51094" y="2942336"/>
            <a:ext cx="2722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Fault </a:t>
            </a:r>
            <a:r>
              <a:rPr sz="2000" b="1" i="1" spc="150" dirty="0">
                <a:solidFill>
                  <a:srgbClr val="FF0000"/>
                </a:solidFill>
                <a:latin typeface="Arial-BoldItalicMT"/>
                <a:cs typeface="Arial-BoldItalicMT"/>
              </a:rPr>
              <a:t>a </a:t>
            </a:r>
            <a:r>
              <a:rPr sz="2000" b="1" dirty="0">
                <a:latin typeface="Helvetica"/>
                <a:cs typeface="Helvetica"/>
              </a:rPr>
              <a:t>detected by</a:t>
            </a:r>
            <a:r>
              <a:rPr sz="2000" b="1" spc="-335" dirty="0">
                <a:latin typeface="Helvetica"/>
                <a:cs typeface="Helvetica"/>
              </a:rPr>
              <a:t> </a:t>
            </a:r>
            <a:r>
              <a:rPr sz="2000" b="1" spc="10" dirty="0">
                <a:latin typeface="Helvetica"/>
                <a:cs typeface="Helvetica"/>
              </a:rPr>
              <a:t>P</a:t>
            </a:r>
            <a:r>
              <a:rPr sz="1950" b="1" spc="15" baseline="-21367" dirty="0">
                <a:latin typeface="Helvetica"/>
                <a:cs typeface="Helvetica"/>
              </a:rPr>
              <a:t>1</a:t>
            </a:r>
            <a:endParaRPr sz="1950" baseline="-21367">
              <a:latin typeface="Helvetica"/>
              <a:cs typeface="Helvetic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41592" y="2473451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17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2625" y="1003084"/>
            <a:ext cx="6164580" cy="17748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One </a:t>
            </a:r>
            <a:r>
              <a:rPr sz="2000" b="1" spc="-5" dirty="0">
                <a:latin typeface="Arial"/>
                <a:cs typeface="Arial"/>
              </a:rPr>
              <a:t>event </a:t>
            </a:r>
            <a:r>
              <a:rPr sz="2000" b="1" dirty="0">
                <a:latin typeface="Arial"/>
                <a:cs typeface="Arial"/>
              </a:rPr>
              <a:t>created to inject fault</a:t>
            </a:r>
            <a:r>
              <a:rPr sz="2000" b="1" spc="-120" dirty="0">
                <a:latin typeface="Arial"/>
                <a:cs typeface="Arial"/>
              </a:rPr>
              <a:t> </a:t>
            </a:r>
            <a:r>
              <a:rPr sz="2000" b="1" i="1" spc="150" dirty="0">
                <a:solidFill>
                  <a:srgbClr val="FF0000"/>
                </a:solidFill>
                <a:latin typeface="Arial-BoldItalicMT"/>
                <a:cs typeface="Arial-BoldItalicMT"/>
              </a:rPr>
              <a:t>a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fault effects are then</a:t>
            </a:r>
            <a:r>
              <a:rPr sz="2000" b="1" spc="-1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propagated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Good</a:t>
            </a:r>
            <a:r>
              <a:rPr sz="2000" b="1" spc="-11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=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30873" y="4437126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41314" y="4222241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1314" y="4222241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15261" y="3284982"/>
            <a:ext cx="2208530" cy="0"/>
          </a:xfrm>
          <a:custGeom>
            <a:avLst/>
            <a:gdLst/>
            <a:ahLst/>
            <a:cxnLst/>
            <a:rect l="l" t="t" r="r" b="b"/>
            <a:pathLst>
              <a:path w="2208529">
                <a:moveTo>
                  <a:pt x="220827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80282" y="321335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216407" y="0"/>
                </a:moveTo>
                <a:lnTo>
                  <a:pt x="0" y="0"/>
                </a:lnTo>
                <a:lnTo>
                  <a:pt x="0" y="431292"/>
                </a:lnTo>
                <a:lnTo>
                  <a:pt x="216407" y="431292"/>
                </a:lnTo>
                <a:lnTo>
                  <a:pt x="266024" y="425598"/>
                </a:lnTo>
                <a:lnTo>
                  <a:pt x="311573" y="409378"/>
                </a:lnTo>
                <a:lnTo>
                  <a:pt x="351755" y="383925"/>
                </a:lnTo>
                <a:lnTo>
                  <a:pt x="385269" y="350533"/>
                </a:lnTo>
                <a:lnTo>
                  <a:pt x="410817" y="310493"/>
                </a:lnTo>
                <a:lnTo>
                  <a:pt x="427099" y="265100"/>
                </a:lnTo>
                <a:lnTo>
                  <a:pt x="432815" y="215646"/>
                </a:lnTo>
                <a:lnTo>
                  <a:pt x="427099" y="166191"/>
                </a:lnTo>
                <a:lnTo>
                  <a:pt x="410817" y="120798"/>
                </a:lnTo>
                <a:lnTo>
                  <a:pt x="385269" y="80758"/>
                </a:lnTo>
                <a:lnTo>
                  <a:pt x="351755" y="47366"/>
                </a:lnTo>
                <a:lnTo>
                  <a:pt x="311573" y="21913"/>
                </a:lnTo>
                <a:lnTo>
                  <a:pt x="266024" y="5693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0282" y="321335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16407" y="0"/>
                </a:lnTo>
                <a:lnTo>
                  <a:pt x="266024" y="5693"/>
                </a:lnTo>
                <a:lnTo>
                  <a:pt x="311573" y="21913"/>
                </a:lnTo>
                <a:lnTo>
                  <a:pt x="351755" y="47366"/>
                </a:lnTo>
                <a:lnTo>
                  <a:pt x="385269" y="80758"/>
                </a:lnTo>
                <a:lnTo>
                  <a:pt x="410817" y="120798"/>
                </a:lnTo>
                <a:lnTo>
                  <a:pt x="427099" y="166191"/>
                </a:lnTo>
                <a:lnTo>
                  <a:pt x="432815" y="215646"/>
                </a:lnTo>
                <a:lnTo>
                  <a:pt x="427099" y="265100"/>
                </a:lnTo>
                <a:lnTo>
                  <a:pt x="410817" y="310493"/>
                </a:lnTo>
                <a:lnTo>
                  <a:pt x="385269" y="350533"/>
                </a:lnTo>
                <a:lnTo>
                  <a:pt x="351755" y="383925"/>
                </a:lnTo>
                <a:lnTo>
                  <a:pt x="311573" y="409378"/>
                </a:lnTo>
                <a:lnTo>
                  <a:pt x="266024" y="425598"/>
                </a:lnTo>
                <a:lnTo>
                  <a:pt x="21640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15005" y="5447538"/>
            <a:ext cx="1403985" cy="0"/>
          </a:xfrm>
          <a:custGeom>
            <a:avLst/>
            <a:gdLst/>
            <a:ahLst/>
            <a:cxnLst/>
            <a:rect l="l" t="t" r="r" b="b"/>
            <a:pathLst>
              <a:path w="1403985">
                <a:moveTo>
                  <a:pt x="140360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5571" y="5387340"/>
            <a:ext cx="108203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25061" y="5301234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0" y="288035"/>
                </a:lnTo>
                <a:lnTo>
                  <a:pt x="288036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25061" y="5301234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6" y="144017"/>
                </a:lnTo>
                <a:lnTo>
                  <a:pt x="0" y="28803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99742" y="5273802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85380" y="426542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15261" y="3568446"/>
            <a:ext cx="2052955" cy="1871980"/>
          </a:xfrm>
          <a:custGeom>
            <a:avLst/>
            <a:gdLst/>
            <a:ahLst/>
            <a:cxnLst/>
            <a:rect l="l" t="t" r="r" b="b"/>
            <a:pathLst>
              <a:path w="2052954" h="1871979">
                <a:moveTo>
                  <a:pt x="0" y="1871598"/>
                </a:moveTo>
                <a:lnTo>
                  <a:pt x="996442" y="1871598"/>
                </a:lnTo>
                <a:lnTo>
                  <a:pt x="996442" y="0"/>
                </a:lnTo>
                <a:lnTo>
                  <a:pt x="205270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13097" y="3429761"/>
            <a:ext cx="1764030" cy="865505"/>
          </a:xfrm>
          <a:custGeom>
            <a:avLst/>
            <a:gdLst/>
            <a:ahLst/>
            <a:cxnLst/>
            <a:rect l="l" t="t" r="r" b="b"/>
            <a:pathLst>
              <a:path w="1764029" h="865504">
                <a:moveTo>
                  <a:pt x="0" y="0"/>
                </a:moveTo>
                <a:lnTo>
                  <a:pt x="852297" y="0"/>
                </a:lnTo>
                <a:lnTo>
                  <a:pt x="852297" y="865124"/>
                </a:lnTo>
                <a:lnTo>
                  <a:pt x="1763649" y="8651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09109" y="4581905"/>
            <a:ext cx="1692275" cy="863600"/>
          </a:xfrm>
          <a:custGeom>
            <a:avLst/>
            <a:gdLst/>
            <a:ahLst/>
            <a:cxnLst/>
            <a:rect l="l" t="t" r="r" b="b"/>
            <a:pathLst>
              <a:path w="1692275" h="863600">
                <a:moveTo>
                  <a:pt x="0" y="863600"/>
                </a:moveTo>
                <a:lnTo>
                  <a:pt x="767968" y="863600"/>
                </a:lnTo>
                <a:lnTo>
                  <a:pt x="767968" y="0"/>
                </a:lnTo>
                <a:lnTo>
                  <a:pt x="169227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17385" y="4437126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>
                <a:moveTo>
                  <a:pt x="0" y="0"/>
                </a:moveTo>
                <a:lnTo>
                  <a:pt x="863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744979" y="2906267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744979" y="5065776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2753867" y="3915155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129784" y="4779264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53975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714743" y="4058411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129784" y="3770376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3011804" y="4288916"/>
            <a:ext cx="751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" algn="l"/>
              </a:tabLst>
            </a:pPr>
            <a:r>
              <a:rPr sz="2000" b="1" i="1" spc="150" dirty="0">
                <a:solidFill>
                  <a:srgbClr val="FF0000"/>
                </a:solidFill>
                <a:latin typeface="Arial-BoldItalicMT"/>
                <a:cs typeface="Arial-BoldItalicMT"/>
              </a:rPr>
              <a:t>a	</a:t>
            </a: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sa0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643377" y="442950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0"/>
                </a:moveTo>
                <a:lnTo>
                  <a:pt x="142875" y="142875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643377" y="442950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02691" y="4279519"/>
            <a:ext cx="1068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BEBEBE"/>
                </a:solidFill>
                <a:latin typeface="Helvetica"/>
                <a:cs typeface="Helvetica"/>
              </a:rPr>
              <a:t>no</a:t>
            </a:r>
            <a:r>
              <a:rPr sz="2000" b="1" spc="-80" dirty="0">
                <a:solidFill>
                  <a:srgbClr val="BEBEBE"/>
                </a:solidFill>
                <a:latin typeface="Helvetica"/>
                <a:cs typeface="Helvetica"/>
              </a:rPr>
              <a:t> </a:t>
            </a:r>
            <a:r>
              <a:rPr sz="2000" b="1" spc="-5" dirty="0">
                <a:solidFill>
                  <a:srgbClr val="BEBEBE"/>
                </a:solidFill>
                <a:latin typeface="Helvetica"/>
                <a:cs typeface="Helvetica"/>
              </a:rPr>
              <a:t>event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51202" y="4447285"/>
            <a:ext cx="344170" cy="638810"/>
          </a:xfrm>
          <a:custGeom>
            <a:avLst/>
            <a:gdLst/>
            <a:ahLst/>
            <a:cxnLst/>
            <a:rect l="l" t="t" r="r" b="b"/>
            <a:pathLst>
              <a:path w="344169" h="638810">
                <a:moveTo>
                  <a:pt x="239903" y="542163"/>
                </a:moveTo>
                <a:lnTo>
                  <a:pt x="231013" y="544194"/>
                </a:lnTo>
                <a:lnTo>
                  <a:pt x="222377" y="557657"/>
                </a:lnTo>
                <a:lnTo>
                  <a:pt x="224282" y="566674"/>
                </a:lnTo>
                <a:lnTo>
                  <a:pt x="231140" y="570864"/>
                </a:lnTo>
                <a:lnTo>
                  <a:pt x="336677" y="638428"/>
                </a:lnTo>
                <a:lnTo>
                  <a:pt x="337714" y="619506"/>
                </a:lnTo>
                <a:lnTo>
                  <a:pt x="310769" y="619506"/>
                </a:lnTo>
                <a:lnTo>
                  <a:pt x="286377" y="571919"/>
                </a:lnTo>
                <a:lnTo>
                  <a:pt x="239903" y="542163"/>
                </a:lnTo>
                <a:close/>
              </a:path>
              <a:path w="344169" h="638810">
                <a:moveTo>
                  <a:pt x="286377" y="571919"/>
                </a:moveTo>
                <a:lnTo>
                  <a:pt x="310769" y="619506"/>
                </a:lnTo>
                <a:lnTo>
                  <a:pt x="325076" y="612139"/>
                </a:lnTo>
                <a:lnTo>
                  <a:pt x="309118" y="612139"/>
                </a:lnTo>
                <a:lnTo>
                  <a:pt x="310466" y="587342"/>
                </a:lnTo>
                <a:lnTo>
                  <a:pt x="286377" y="571919"/>
                </a:lnTo>
                <a:close/>
              </a:path>
              <a:path w="344169" h="638810">
                <a:moveTo>
                  <a:pt x="321818" y="497586"/>
                </a:moveTo>
                <a:lnTo>
                  <a:pt x="315087" y="503681"/>
                </a:lnTo>
                <a:lnTo>
                  <a:pt x="314489" y="513333"/>
                </a:lnTo>
                <a:lnTo>
                  <a:pt x="312023" y="558695"/>
                </a:lnTo>
                <a:lnTo>
                  <a:pt x="336423" y="606297"/>
                </a:lnTo>
                <a:lnTo>
                  <a:pt x="310769" y="619506"/>
                </a:lnTo>
                <a:lnTo>
                  <a:pt x="337714" y="619506"/>
                </a:lnTo>
                <a:lnTo>
                  <a:pt x="343613" y="511682"/>
                </a:lnTo>
                <a:lnTo>
                  <a:pt x="343916" y="505332"/>
                </a:lnTo>
                <a:lnTo>
                  <a:pt x="337820" y="498475"/>
                </a:lnTo>
                <a:lnTo>
                  <a:pt x="329819" y="498094"/>
                </a:lnTo>
                <a:lnTo>
                  <a:pt x="321818" y="497586"/>
                </a:lnTo>
                <a:close/>
              </a:path>
              <a:path w="344169" h="638810">
                <a:moveTo>
                  <a:pt x="310466" y="587342"/>
                </a:moveTo>
                <a:lnTo>
                  <a:pt x="309118" y="612139"/>
                </a:lnTo>
                <a:lnTo>
                  <a:pt x="331343" y="600709"/>
                </a:lnTo>
                <a:lnTo>
                  <a:pt x="310466" y="587342"/>
                </a:lnTo>
                <a:close/>
              </a:path>
              <a:path w="344169" h="638810">
                <a:moveTo>
                  <a:pt x="312023" y="558695"/>
                </a:moveTo>
                <a:lnTo>
                  <a:pt x="310466" y="587342"/>
                </a:lnTo>
                <a:lnTo>
                  <a:pt x="331343" y="600709"/>
                </a:lnTo>
                <a:lnTo>
                  <a:pt x="309118" y="612139"/>
                </a:lnTo>
                <a:lnTo>
                  <a:pt x="325076" y="612139"/>
                </a:lnTo>
                <a:lnTo>
                  <a:pt x="336423" y="606297"/>
                </a:lnTo>
                <a:lnTo>
                  <a:pt x="312023" y="558695"/>
                </a:lnTo>
                <a:close/>
              </a:path>
              <a:path w="344169" h="638810">
                <a:moveTo>
                  <a:pt x="25654" y="0"/>
                </a:moveTo>
                <a:lnTo>
                  <a:pt x="0" y="13207"/>
                </a:lnTo>
                <a:lnTo>
                  <a:pt x="286377" y="571919"/>
                </a:lnTo>
                <a:lnTo>
                  <a:pt x="310466" y="587342"/>
                </a:lnTo>
                <a:lnTo>
                  <a:pt x="312023" y="558695"/>
                </a:lnTo>
                <a:lnTo>
                  <a:pt x="2565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50060" y="3211702"/>
            <a:ext cx="371475" cy="1156970"/>
          </a:xfrm>
          <a:custGeom>
            <a:avLst/>
            <a:gdLst/>
            <a:ahLst/>
            <a:cxnLst/>
            <a:rect l="l" t="t" r="r" b="b"/>
            <a:pathLst>
              <a:path w="371475" h="1156970">
                <a:moveTo>
                  <a:pt x="322324" y="55318"/>
                </a:moveTo>
                <a:lnTo>
                  <a:pt x="301590" y="75397"/>
                </a:lnTo>
                <a:lnTo>
                  <a:pt x="0" y="1148715"/>
                </a:lnTo>
                <a:lnTo>
                  <a:pt x="27939" y="1156589"/>
                </a:lnTo>
                <a:lnTo>
                  <a:pt x="329559" y="83167"/>
                </a:lnTo>
                <a:lnTo>
                  <a:pt x="322324" y="55318"/>
                </a:lnTo>
                <a:close/>
              </a:path>
              <a:path w="371475" h="1156970">
                <a:moveTo>
                  <a:pt x="343980" y="23749"/>
                </a:moveTo>
                <a:lnTo>
                  <a:pt x="316102" y="23749"/>
                </a:lnTo>
                <a:lnTo>
                  <a:pt x="344042" y="31623"/>
                </a:lnTo>
                <a:lnTo>
                  <a:pt x="329559" y="83167"/>
                </a:lnTo>
                <a:lnTo>
                  <a:pt x="341375" y="128650"/>
                </a:lnTo>
                <a:lnTo>
                  <a:pt x="343407" y="136398"/>
                </a:lnTo>
                <a:lnTo>
                  <a:pt x="351281" y="141097"/>
                </a:lnTo>
                <a:lnTo>
                  <a:pt x="366775" y="137033"/>
                </a:lnTo>
                <a:lnTo>
                  <a:pt x="371347" y="129159"/>
                </a:lnTo>
                <a:lnTo>
                  <a:pt x="367240" y="113411"/>
                </a:lnTo>
                <a:lnTo>
                  <a:pt x="343980" y="23749"/>
                </a:lnTo>
                <a:close/>
              </a:path>
              <a:path w="371475" h="1156970">
                <a:moveTo>
                  <a:pt x="337819" y="0"/>
                </a:moveTo>
                <a:lnTo>
                  <a:pt x="247776" y="87249"/>
                </a:lnTo>
                <a:lnTo>
                  <a:pt x="241934" y="92837"/>
                </a:lnTo>
                <a:lnTo>
                  <a:pt x="241807" y="101981"/>
                </a:lnTo>
                <a:lnTo>
                  <a:pt x="252983" y="113411"/>
                </a:lnTo>
                <a:lnTo>
                  <a:pt x="262127" y="113664"/>
                </a:lnTo>
                <a:lnTo>
                  <a:pt x="301590" y="75397"/>
                </a:lnTo>
                <a:lnTo>
                  <a:pt x="316102" y="23749"/>
                </a:lnTo>
                <a:lnTo>
                  <a:pt x="343980" y="23749"/>
                </a:lnTo>
                <a:lnTo>
                  <a:pt x="337819" y="0"/>
                </a:lnTo>
                <a:close/>
              </a:path>
              <a:path w="371475" h="1156970">
                <a:moveTo>
                  <a:pt x="343141" y="31369"/>
                </a:moveTo>
                <a:lnTo>
                  <a:pt x="316102" y="31369"/>
                </a:lnTo>
                <a:lnTo>
                  <a:pt x="340106" y="38100"/>
                </a:lnTo>
                <a:lnTo>
                  <a:pt x="322324" y="55318"/>
                </a:lnTo>
                <a:lnTo>
                  <a:pt x="329559" y="83167"/>
                </a:lnTo>
                <a:lnTo>
                  <a:pt x="344042" y="31623"/>
                </a:lnTo>
                <a:lnTo>
                  <a:pt x="343141" y="31369"/>
                </a:lnTo>
                <a:close/>
              </a:path>
              <a:path w="371475" h="1156970">
                <a:moveTo>
                  <a:pt x="316102" y="23749"/>
                </a:moveTo>
                <a:lnTo>
                  <a:pt x="301590" y="75397"/>
                </a:lnTo>
                <a:lnTo>
                  <a:pt x="322324" y="55318"/>
                </a:lnTo>
                <a:lnTo>
                  <a:pt x="316102" y="31369"/>
                </a:lnTo>
                <a:lnTo>
                  <a:pt x="343141" y="31369"/>
                </a:lnTo>
                <a:lnTo>
                  <a:pt x="316102" y="23749"/>
                </a:lnTo>
                <a:close/>
              </a:path>
              <a:path w="371475" h="1156970">
                <a:moveTo>
                  <a:pt x="316102" y="31369"/>
                </a:moveTo>
                <a:lnTo>
                  <a:pt x="322324" y="55318"/>
                </a:lnTo>
                <a:lnTo>
                  <a:pt x="340106" y="38100"/>
                </a:lnTo>
                <a:lnTo>
                  <a:pt x="316102" y="31369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26517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676" y="164414"/>
            <a:ext cx="3785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 </a:t>
            </a:r>
            <a:r>
              <a:rPr dirty="0">
                <a:latin typeface="Helvetica"/>
                <a:cs typeface="Helvetica"/>
              </a:rPr>
              <a:t>–</a:t>
            </a:r>
            <a:r>
              <a:rPr spc="-85" dirty="0">
                <a:latin typeface="Helvetica"/>
                <a:cs typeface="Helvetica"/>
              </a:rPr>
              <a:t> </a:t>
            </a:r>
            <a:r>
              <a:rPr spc="-5" dirty="0"/>
              <a:t>cont</a:t>
            </a:r>
            <a:r>
              <a:rPr spc="-5" dirty="0">
                <a:latin typeface="Helvetica"/>
                <a:cs typeface="Helvetica"/>
              </a:rPr>
              <a:t>’</a:t>
            </a:r>
            <a:r>
              <a:rPr spc="-5" dirty="0"/>
              <a:t>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99557" y="2942336"/>
            <a:ext cx="2424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Fault </a:t>
            </a:r>
            <a:r>
              <a:rPr sz="2000" b="1" i="1" spc="-125" dirty="0">
                <a:solidFill>
                  <a:srgbClr val="0000FF"/>
                </a:solidFill>
                <a:latin typeface="Arial-BoldItalicMT"/>
                <a:cs typeface="Arial-BoldItalicMT"/>
              </a:rPr>
              <a:t>b </a:t>
            </a:r>
            <a:r>
              <a:rPr sz="2000" b="1" dirty="0">
                <a:latin typeface="Helvetica"/>
                <a:cs typeface="Helvetica"/>
              </a:rPr>
              <a:t>not</a:t>
            </a:r>
            <a:r>
              <a:rPr sz="2000" b="1" spc="1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detected</a:t>
            </a:r>
            <a:endParaRPr sz="2000">
              <a:latin typeface="Helvetica"/>
              <a:cs typeface="Helvetic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41592" y="2473451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17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b="1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2625" y="1003084"/>
            <a:ext cx="6164580" cy="17748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5" dirty="0">
                <a:latin typeface="Arial"/>
                <a:cs typeface="Arial"/>
              </a:rPr>
              <a:t>Two </a:t>
            </a:r>
            <a:r>
              <a:rPr sz="2000" b="1" spc="-5" dirty="0">
                <a:latin typeface="Arial"/>
                <a:cs typeface="Arial"/>
              </a:rPr>
              <a:t>events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created: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One </a:t>
            </a:r>
            <a:r>
              <a:rPr sz="2000" b="1" spc="-5" dirty="0">
                <a:latin typeface="Arial"/>
                <a:cs typeface="Arial"/>
              </a:rPr>
              <a:t>event </a:t>
            </a:r>
            <a:r>
              <a:rPr sz="2000" b="1" dirty="0">
                <a:latin typeface="Arial"/>
                <a:cs typeface="Arial"/>
              </a:rPr>
              <a:t>to restore fault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2000" b="1" i="1" spc="150" dirty="0">
                <a:solidFill>
                  <a:srgbClr val="FF0000"/>
                </a:solidFill>
                <a:latin typeface="Arial-BoldItalicMT"/>
                <a:cs typeface="Arial-BoldItalicMT"/>
              </a:rPr>
              <a:t>a</a:t>
            </a:r>
            <a:endParaRPr sz="2000">
              <a:latin typeface="Arial-BoldItalicMT"/>
              <a:cs typeface="Arial-BoldItalic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latin typeface="Arial"/>
                <a:cs typeface="Arial"/>
              </a:rPr>
              <a:t>One </a:t>
            </a:r>
            <a:r>
              <a:rPr sz="2000" b="1" spc="-5" dirty="0">
                <a:latin typeface="Arial"/>
                <a:cs typeface="Arial"/>
              </a:rPr>
              <a:t>event </a:t>
            </a:r>
            <a:r>
              <a:rPr sz="2000" b="1" dirty="0">
                <a:latin typeface="Arial"/>
                <a:cs typeface="Arial"/>
              </a:rPr>
              <a:t>to inject fault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i="1" spc="-125" dirty="0">
                <a:solidFill>
                  <a:srgbClr val="0000FF"/>
                </a:solidFill>
                <a:latin typeface="Arial-BoldItalicMT"/>
                <a:cs typeface="Arial-BoldItalicMT"/>
              </a:rPr>
              <a:t>b</a:t>
            </a:r>
            <a:endParaRPr sz="2000">
              <a:latin typeface="Arial-BoldItalicMT"/>
              <a:cs typeface="Arial-BoldItalic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50">
              <a:latin typeface="Arial-BoldItalicMT"/>
              <a:cs typeface="Arial-BoldItalicMT"/>
            </a:endParaRPr>
          </a:p>
          <a:p>
            <a:pPr marR="5080" algn="r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Good</a:t>
            </a:r>
            <a:r>
              <a:rPr sz="2000" b="1" spc="-110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=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30873" y="4437126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286511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41314" y="4222241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1314" y="4222241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431291"/>
                </a:moveTo>
                <a:lnTo>
                  <a:pt x="63953" y="428954"/>
                </a:lnTo>
                <a:lnTo>
                  <a:pt x="124994" y="422164"/>
                </a:lnTo>
                <a:lnTo>
                  <a:pt x="182454" y="411253"/>
                </a:lnTo>
                <a:lnTo>
                  <a:pt x="235662" y="396557"/>
                </a:lnTo>
                <a:lnTo>
                  <a:pt x="283949" y="378407"/>
                </a:lnTo>
                <a:lnTo>
                  <a:pt x="326645" y="357136"/>
                </a:lnTo>
                <a:lnTo>
                  <a:pt x="363080" y="333079"/>
                </a:lnTo>
                <a:lnTo>
                  <a:pt x="392585" y="306569"/>
                </a:lnTo>
                <a:lnTo>
                  <a:pt x="428122" y="247518"/>
                </a:lnTo>
                <a:lnTo>
                  <a:pt x="432815" y="215645"/>
                </a:lnTo>
                <a:lnTo>
                  <a:pt x="428122" y="183773"/>
                </a:lnTo>
                <a:lnTo>
                  <a:pt x="392585" y="124722"/>
                </a:lnTo>
                <a:lnTo>
                  <a:pt x="363080" y="98212"/>
                </a:lnTo>
                <a:lnTo>
                  <a:pt x="326645" y="74155"/>
                </a:lnTo>
                <a:lnTo>
                  <a:pt x="283949" y="52884"/>
                </a:lnTo>
                <a:lnTo>
                  <a:pt x="235662" y="34734"/>
                </a:lnTo>
                <a:lnTo>
                  <a:pt x="182454" y="20038"/>
                </a:lnTo>
                <a:lnTo>
                  <a:pt x="124994" y="9127"/>
                </a:lnTo>
                <a:lnTo>
                  <a:pt x="63953" y="2337"/>
                </a:lnTo>
                <a:lnTo>
                  <a:pt x="0" y="0"/>
                </a:lnTo>
                <a:lnTo>
                  <a:pt x="24997" y="42333"/>
                </a:lnTo>
                <a:lnTo>
                  <a:pt x="44439" y="85197"/>
                </a:lnTo>
                <a:lnTo>
                  <a:pt x="58327" y="128459"/>
                </a:lnTo>
                <a:lnTo>
                  <a:pt x="66659" y="171986"/>
                </a:lnTo>
                <a:lnTo>
                  <a:pt x="69437" y="215645"/>
                </a:lnTo>
                <a:lnTo>
                  <a:pt x="66659" y="259305"/>
                </a:lnTo>
                <a:lnTo>
                  <a:pt x="58327" y="302832"/>
                </a:lnTo>
                <a:lnTo>
                  <a:pt x="44439" y="346094"/>
                </a:lnTo>
                <a:lnTo>
                  <a:pt x="24997" y="388958"/>
                </a:lnTo>
                <a:lnTo>
                  <a:pt x="0" y="431291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15261" y="3284982"/>
            <a:ext cx="2208530" cy="0"/>
          </a:xfrm>
          <a:custGeom>
            <a:avLst/>
            <a:gdLst/>
            <a:ahLst/>
            <a:cxnLst/>
            <a:rect l="l" t="t" r="r" b="b"/>
            <a:pathLst>
              <a:path w="2208529">
                <a:moveTo>
                  <a:pt x="2208276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80282" y="321335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216407" y="0"/>
                </a:moveTo>
                <a:lnTo>
                  <a:pt x="0" y="0"/>
                </a:lnTo>
                <a:lnTo>
                  <a:pt x="0" y="431292"/>
                </a:lnTo>
                <a:lnTo>
                  <a:pt x="216407" y="431292"/>
                </a:lnTo>
                <a:lnTo>
                  <a:pt x="266024" y="425598"/>
                </a:lnTo>
                <a:lnTo>
                  <a:pt x="311573" y="409378"/>
                </a:lnTo>
                <a:lnTo>
                  <a:pt x="351755" y="383925"/>
                </a:lnTo>
                <a:lnTo>
                  <a:pt x="385269" y="350533"/>
                </a:lnTo>
                <a:lnTo>
                  <a:pt x="410817" y="310493"/>
                </a:lnTo>
                <a:lnTo>
                  <a:pt x="427099" y="265100"/>
                </a:lnTo>
                <a:lnTo>
                  <a:pt x="432815" y="215646"/>
                </a:lnTo>
                <a:lnTo>
                  <a:pt x="427099" y="166191"/>
                </a:lnTo>
                <a:lnTo>
                  <a:pt x="410817" y="120798"/>
                </a:lnTo>
                <a:lnTo>
                  <a:pt x="385269" y="80758"/>
                </a:lnTo>
                <a:lnTo>
                  <a:pt x="351755" y="47366"/>
                </a:lnTo>
                <a:lnTo>
                  <a:pt x="311573" y="21913"/>
                </a:lnTo>
                <a:lnTo>
                  <a:pt x="266024" y="5693"/>
                </a:lnTo>
                <a:lnTo>
                  <a:pt x="216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0282" y="3213354"/>
            <a:ext cx="433070" cy="431800"/>
          </a:xfrm>
          <a:custGeom>
            <a:avLst/>
            <a:gdLst/>
            <a:ahLst/>
            <a:cxnLst/>
            <a:rect l="l" t="t" r="r" b="b"/>
            <a:pathLst>
              <a:path w="433070" h="431800">
                <a:moveTo>
                  <a:pt x="0" y="0"/>
                </a:moveTo>
                <a:lnTo>
                  <a:pt x="216407" y="0"/>
                </a:lnTo>
                <a:lnTo>
                  <a:pt x="266024" y="5693"/>
                </a:lnTo>
                <a:lnTo>
                  <a:pt x="311573" y="21913"/>
                </a:lnTo>
                <a:lnTo>
                  <a:pt x="351755" y="47366"/>
                </a:lnTo>
                <a:lnTo>
                  <a:pt x="385269" y="80758"/>
                </a:lnTo>
                <a:lnTo>
                  <a:pt x="410817" y="120798"/>
                </a:lnTo>
                <a:lnTo>
                  <a:pt x="427099" y="166191"/>
                </a:lnTo>
                <a:lnTo>
                  <a:pt x="432815" y="215646"/>
                </a:lnTo>
                <a:lnTo>
                  <a:pt x="427099" y="265100"/>
                </a:lnTo>
                <a:lnTo>
                  <a:pt x="410817" y="310493"/>
                </a:lnTo>
                <a:lnTo>
                  <a:pt x="385269" y="350533"/>
                </a:lnTo>
                <a:lnTo>
                  <a:pt x="351755" y="383925"/>
                </a:lnTo>
                <a:lnTo>
                  <a:pt x="311573" y="409378"/>
                </a:lnTo>
                <a:lnTo>
                  <a:pt x="266024" y="425598"/>
                </a:lnTo>
                <a:lnTo>
                  <a:pt x="216407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15005" y="5447538"/>
            <a:ext cx="1403985" cy="0"/>
          </a:xfrm>
          <a:custGeom>
            <a:avLst/>
            <a:gdLst/>
            <a:ahLst/>
            <a:cxnLst/>
            <a:rect l="l" t="t" r="r" b="b"/>
            <a:pathLst>
              <a:path w="1403985">
                <a:moveTo>
                  <a:pt x="1403604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5571" y="5387340"/>
            <a:ext cx="108203" cy="111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25061" y="5301234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0" y="288035"/>
                </a:lnTo>
                <a:lnTo>
                  <a:pt x="288036" y="1440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25061" y="5301234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0"/>
                </a:moveTo>
                <a:lnTo>
                  <a:pt x="288036" y="144017"/>
                </a:lnTo>
                <a:lnTo>
                  <a:pt x="0" y="28803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99742" y="311277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85380" y="426542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Helvetica"/>
              <a:cs typeface="Helvetic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15261" y="3568446"/>
            <a:ext cx="2052955" cy="1871980"/>
          </a:xfrm>
          <a:custGeom>
            <a:avLst/>
            <a:gdLst/>
            <a:ahLst/>
            <a:cxnLst/>
            <a:rect l="l" t="t" r="r" b="b"/>
            <a:pathLst>
              <a:path w="2052954" h="1871979">
                <a:moveTo>
                  <a:pt x="0" y="1871598"/>
                </a:moveTo>
                <a:lnTo>
                  <a:pt x="996442" y="1871598"/>
                </a:lnTo>
                <a:lnTo>
                  <a:pt x="996442" y="0"/>
                </a:lnTo>
                <a:lnTo>
                  <a:pt x="2052701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13097" y="3429761"/>
            <a:ext cx="1764030" cy="865505"/>
          </a:xfrm>
          <a:custGeom>
            <a:avLst/>
            <a:gdLst/>
            <a:ahLst/>
            <a:cxnLst/>
            <a:rect l="l" t="t" r="r" b="b"/>
            <a:pathLst>
              <a:path w="1764029" h="865504">
                <a:moveTo>
                  <a:pt x="0" y="0"/>
                </a:moveTo>
                <a:lnTo>
                  <a:pt x="852297" y="0"/>
                </a:lnTo>
                <a:lnTo>
                  <a:pt x="852297" y="865124"/>
                </a:lnTo>
                <a:lnTo>
                  <a:pt x="1763649" y="865124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09109" y="4581905"/>
            <a:ext cx="1692275" cy="863600"/>
          </a:xfrm>
          <a:custGeom>
            <a:avLst/>
            <a:gdLst/>
            <a:ahLst/>
            <a:cxnLst/>
            <a:rect l="l" t="t" r="r" b="b"/>
            <a:pathLst>
              <a:path w="1692275" h="863600">
                <a:moveTo>
                  <a:pt x="0" y="863600"/>
                </a:moveTo>
                <a:lnTo>
                  <a:pt x="767968" y="863600"/>
                </a:lnTo>
                <a:lnTo>
                  <a:pt x="767968" y="0"/>
                </a:lnTo>
                <a:lnTo>
                  <a:pt x="169227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517385" y="4437126"/>
            <a:ext cx="863600" cy="0"/>
          </a:xfrm>
          <a:custGeom>
            <a:avLst/>
            <a:gdLst/>
            <a:ahLst/>
            <a:cxnLst/>
            <a:rect l="l" t="t" r="r" b="b"/>
            <a:pathLst>
              <a:path w="863600">
                <a:moveTo>
                  <a:pt x="0" y="0"/>
                </a:moveTo>
                <a:lnTo>
                  <a:pt x="8636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744979" y="2906267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744979" y="5065776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A6A6A6"/>
                          </a:solidFill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A6A6A6"/>
                      </a:solidFill>
                      <a:prstDash val="solid"/>
                    </a:lnL>
                    <a:lnR w="38100">
                      <a:solidFill>
                        <a:srgbClr val="A6A6A6"/>
                      </a:solidFill>
                      <a:prstDash val="solid"/>
                    </a:lnR>
                    <a:lnT w="381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A6A6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753867" y="3915155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195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129784" y="4779264"/>
          <a:ext cx="648334" cy="286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55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714743" y="4058411"/>
          <a:ext cx="646429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129784" y="3770376"/>
          <a:ext cx="648334" cy="288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Helvetica"/>
                          <a:cs typeface="Helvetica"/>
                        </a:rPr>
                        <a:t>1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2170"/>
                        </a:lnSpc>
                      </a:pPr>
                      <a:r>
                        <a:rPr sz="2000" dirty="0">
                          <a:latin typeface="Helvetica"/>
                          <a:cs typeface="Helvetica"/>
                        </a:rPr>
                        <a:t>0</a:t>
                      </a:r>
                      <a:endParaRPr sz="2000">
                        <a:latin typeface="Helvetica"/>
                        <a:cs typeface="Helvetica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4442205" y="5670296"/>
            <a:ext cx="6540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125" dirty="0">
                <a:solidFill>
                  <a:srgbClr val="0000FF"/>
                </a:solidFill>
                <a:latin typeface="Arial-BoldItalicMT"/>
                <a:cs typeface="Arial-BoldItalicMT"/>
              </a:rPr>
              <a:t>b</a:t>
            </a:r>
            <a:r>
              <a:rPr sz="2000" b="1" i="1" spc="-135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sa1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16017" y="536829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0"/>
                </a:moveTo>
                <a:lnTo>
                  <a:pt x="142875" y="142875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16017" y="536829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17347" y="3943934"/>
            <a:ext cx="19519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Helvetica"/>
                <a:cs typeface="Helvetica"/>
              </a:rPr>
              <a:t>Fault </a:t>
            </a:r>
            <a:r>
              <a:rPr sz="2000" b="1" i="1" spc="150" dirty="0">
                <a:solidFill>
                  <a:srgbClr val="FF0000"/>
                </a:solidFill>
                <a:latin typeface="Arial-BoldItalicMT"/>
                <a:cs typeface="Arial-BoldItalicMT"/>
              </a:rPr>
              <a:t>a</a:t>
            </a:r>
            <a:r>
              <a:rPr sz="2000" b="1" i="1" spc="-90" dirty="0">
                <a:solidFill>
                  <a:srgbClr val="FF0000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Helvetica"/>
                <a:cs typeface="Helvetica"/>
              </a:rPr>
              <a:t>restored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32" name="object 32"/>
          <p:cNvSpPr txBox="1"/>
          <p:nvPr/>
        </p:nvSpPr>
        <p:spPr>
          <a:xfrm>
            <a:off x="1499742" y="4562094"/>
            <a:ext cx="1308735" cy="10426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Helvetica"/>
                <a:cs typeface="Helvetica"/>
              </a:rPr>
              <a:t>o</a:t>
            </a:r>
            <a:endParaRPr sz="2000" dirty="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 dirty="0">
              <a:latin typeface="Helvetica"/>
              <a:cs typeface="Helvetic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6241" y="5096682"/>
            <a:ext cx="4175510" cy="136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76241" y="2819826"/>
            <a:ext cx="4175510" cy="136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76241" y="542970"/>
            <a:ext cx="4175510" cy="136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9677" y="164414"/>
            <a:ext cx="101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</a:t>
            </a:r>
            <a:r>
              <a:rPr spc="-15" dirty="0"/>
              <a:t>u</a:t>
            </a:r>
            <a:r>
              <a:rPr dirty="0"/>
              <a:t>iz</a:t>
            </a:r>
          </a:p>
        </p:txBody>
      </p:sp>
      <p:sp>
        <p:nvSpPr>
          <p:cNvPr id="6" name="object 6"/>
          <p:cNvSpPr/>
          <p:nvPr/>
        </p:nvSpPr>
        <p:spPr>
          <a:xfrm>
            <a:off x="3851909" y="1277874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09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31741" y="1277874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09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11573" y="1277874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09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37432" y="1973579"/>
          <a:ext cx="539115" cy="146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37432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062728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502907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849361" y="837438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29193" y="837438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09026" y="837438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574535" y="1973579"/>
          <a:ext cx="539115" cy="146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026152" y="19751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851909" y="36537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31741" y="36537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11573" y="3653790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837432" y="4351020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837432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061203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502907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849361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29193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09026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574535" y="4351020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026152" y="4352544"/>
          <a:ext cx="539115" cy="1432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2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3874770" y="5884926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054602" y="5884926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34434" y="5884926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74770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39" h="146684">
                <a:moveTo>
                  <a:pt x="0" y="146304"/>
                </a:moveTo>
                <a:lnTo>
                  <a:pt x="179832" y="146304"/>
                </a:lnTo>
                <a:lnTo>
                  <a:pt x="179832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054602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39" h="146684">
                <a:moveTo>
                  <a:pt x="0" y="146304"/>
                </a:moveTo>
                <a:lnTo>
                  <a:pt x="179832" y="146304"/>
                </a:lnTo>
                <a:lnTo>
                  <a:pt x="179832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34434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39" h="146684">
                <a:moveTo>
                  <a:pt x="0" y="146304"/>
                </a:moveTo>
                <a:lnTo>
                  <a:pt x="179832" y="146304"/>
                </a:lnTo>
                <a:lnTo>
                  <a:pt x="179832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860291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084064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6525768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7872221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052054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31885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11873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91706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971538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63490" y="65981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243321" y="65981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23153" y="6598157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39" h="144779">
                <a:moveTo>
                  <a:pt x="0" y="144780"/>
                </a:moveTo>
                <a:lnTo>
                  <a:pt x="179832" y="144780"/>
                </a:lnTo>
                <a:lnTo>
                  <a:pt x="179832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79831" y="989075"/>
            <a:ext cx="3096895" cy="3785870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 marR="135890">
              <a:lnSpc>
                <a:spcPct val="100000"/>
              </a:lnSpc>
              <a:spcBef>
                <a:spcPts val="305"/>
              </a:spcBef>
              <a:tabLst>
                <a:tab pos="511809" algn="l"/>
                <a:tab pos="2205355" algn="l"/>
              </a:tabLst>
            </a:pPr>
            <a:r>
              <a:rPr sz="2000" b="1" dirty="0">
                <a:latin typeface="Helvetica"/>
                <a:cs typeface="Helvetica"/>
              </a:rPr>
              <a:t>Q:	Consider </a:t>
            </a:r>
            <a:r>
              <a:rPr sz="2000" b="1" spc="5" dirty="0">
                <a:latin typeface="Helvetica"/>
                <a:cs typeface="Helvetica"/>
              </a:rPr>
              <a:t>two</a:t>
            </a:r>
            <a:r>
              <a:rPr sz="2000" b="1" spc="-1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faults:  (</a:t>
            </a:r>
            <a:r>
              <a:rPr sz="2000" b="1" i="1" dirty="0">
                <a:latin typeface="HelveticaNeue-BoldItalic"/>
                <a:cs typeface="HelveticaNeue-BoldItalic"/>
              </a:rPr>
              <a:t>f=SA1</a:t>
            </a:r>
            <a:r>
              <a:rPr sz="2000" b="1" i="1" spc="15" dirty="0">
                <a:latin typeface="HelveticaNeue-BoldItalic"/>
                <a:cs typeface="HelveticaNeue-BoldItalic"/>
              </a:rPr>
              <a:t> </a:t>
            </a:r>
            <a:r>
              <a:rPr sz="2000" b="1" i="1" dirty="0">
                <a:latin typeface="HelveticaNeue-BoldItalic"/>
                <a:cs typeface="HelveticaNeue-BoldItalic"/>
              </a:rPr>
              <a:t>,</a:t>
            </a:r>
            <a:r>
              <a:rPr sz="2000" b="1" i="1" spc="5" dirty="0">
                <a:latin typeface="HelveticaNeue-BoldItalic"/>
                <a:cs typeface="HelveticaNeue-BoldItalic"/>
              </a:rPr>
              <a:t> </a:t>
            </a:r>
            <a:r>
              <a:rPr sz="2000" b="1" i="1" spc="20" dirty="0">
                <a:latin typeface="HelveticaNeue-BoldItalic"/>
                <a:cs typeface="HelveticaNeue-BoldItalic"/>
              </a:rPr>
              <a:t>g=SA0)</a:t>
            </a:r>
            <a:r>
              <a:rPr sz="2000" b="1" spc="20" dirty="0">
                <a:latin typeface="Helvetica"/>
                <a:cs typeface="Helvetica"/>
              </a:rPr>
              <a:t>.	</a:t>
            </a:r>
            <a:r>
              <a:rPr sz="2000" b="1" dirty="0">
                <a:latin typeface="Helvetica"/>
                <a:cs typeface="Helvetica"/>
              </a:rPr>
              <a:t>Use</a:t>
            </a:r>
            <a:endParaRPr sz="200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PPSFP on</a:t>
            </a:r>
            <a:r>
              <a:rPr sz="2000" b="1" spc="-4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patterns</a:t>
            </a:r>
            <a:endParaRPr sz="200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1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9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{010}</a:t>
            </a:r>
            <a:r>
              <a:rPr sz="2000" b="1" i="1" dirty="0">
                <a:latin typeface="Arial-BoldItalicMT"/>
                <a:cs typeface="Arial-BoldItalicMT"/>
              </a:rPr>
              <a:t>,</a:t>
            </a:r>
            <a:endParaRPr sz="2000">
              <a:latin typeface="Arial-BoldItalicMT"/>
              <a:cs typeface="Arial-BoldItalicMT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2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100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{001},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3</a:t>
            </a:r>
            <a:r>
              <a:rPr sz="2000" b="1" spc="5" dirty="0">
                <a:latin typeface="Arial"/>
                <a:cs typeface="Arial"/>
              </a:rPr>
              <a:t>=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{100}.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85826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61067" y="6573029"/>
            <a:ext cx="245745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2</a:t>
            </a:r>
            <a:r>
              <a:rPr sz="1200" b="1" spc="225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200" b="1" spc="-285" dirty="0">
                <a:solidFill>
                  <a:srgbClr val="B1B1B1"/>
                </a:solidFill>
                <a:latin typeface="Helvetica"/>
                <a:cs typeface="Helvetica"/>
              </a:rPr>
              <a:t>©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5259" y="6573029"/>
            <a:ext cx="11048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200" b="1" dirty="0">
                <a:solidFill>
                  <a:srgbClr val="B1B1B1"/>
                </a:solidFill>
                <a:latin typeface="Helvetica"/>
                <a:cs typeface="Helvetica"/>
              </a:rPr>
              <a:t>N</a:t>
            </a:r>
            <a:endParaRPr sz="1200">
              <a:latin typeface="Helvetica"/>
              <a:cs typeface="Helvetic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76241" y="5096682"/>
            <a:ext cx="4175510" cy="136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76241" y="2819826"/>
            <a:ext cx="4175510" cy="136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76241" y="542970"/>
            <a:ext cx="4175510" cy="1366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61796" y="164414"/>
            <a:ext cx="1854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Solution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3851909" y="1277874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09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31741" y="1277874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09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11573" y="1277874"/>
            <a:ext cx="180340" cy="143510"/>
          </a:xfrm>
          <a:custGeom>
            <a:avLst/>
            <a:gdLst/>
            <a:ahLst/>
            <a:cxnLst/>
            <a:rect l="l" t="t" r="r" b="b"/>
            <a:pathLst>
              <a:path w="180339" h="143509">
                <a:moveTo>
                  <a:pt x="0" y="143255"/>
                </a:moveTo>
                <a:lnTo>
                  <a:pt x="179832" y="143255"/>
                </a:lnTo>
                <a:lnTo>
                  <a:pt x="179832" y="0"/>
                </a:lnTo>
                <a:lnTo>
                  <a:pt x="0" y="0"/>
                </a:lnTo>
                <a:lnTo>
                  <a:pt x="0" y="143255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89628" y="1270253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1 </a:t>
            </a:r>
            <a:r>
              <a:rPr lang="en-US" sz="110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837432" y="1973579"/>
          <a:ext cx="539115" cy="146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3">
                <a:tc>
                  <a:txBody>
                    <a:bodyPr/>
                    <a:lstStyle/>
                    <a:p>
                      <a:pPr marL="50165">
                        <a:lnSpc>
                          <a:spcPts val="1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837432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165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062728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502907" y="246888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94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7849361" y="837438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29193" y="837438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09026" y="837438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80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574535" y="1973579"/>
          <a:ext cx="539115" cy="146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3">
                <a:tc>
                  <a:txBody>
                    <a:bodyPr/>
                    <a:lstStyle/>
                    <a:p>
                      <a:pPr marL="50800">
                        <a:lnSpc>
                          <a:spcPts val="1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26152" y="19751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062728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502907" y="2622804"/>
          <a:ext cx="539115" cy="144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 marL="50800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5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985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5084064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1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525768" y="4855464"/>
          <a:ext cx="539115" cy="144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985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Helvetica"/>
                          <a:cs typeface="Helvetica"/>
                        </a:rPr>
                        <a:t>0</a:t>
                      </a:r>
                      <a:endParaRPr sz="1100">
                        <a:latin typeface="Helvetica"/>
                        <a:cs typeface="Helvetica"/>
                      </a:endParaRPr>
                    </a:p>
                  </a:txBody>
                  <a:tcPr marL="0" marR="0" marT="6350" marB="0">
                    <a:lnL w="38100">
                      <a:solidFill>
                        <a:srgbClr val="00AF50"/>
                      </a:solidFill>
                      <a:prstDash val="solid"/>
                    </a:lnL>
                    <a:lnR w="38100">
                      <a:solidFill>
                        <a:srgbClr val="00AF50"/>
                      </a:solidFill>
                      <a:prstDash val="solid"/>
                    </a:lnR>
                    <a:lnT w="38100">
                      <a:solidFill>
                        <a:srgbClr val="00AF50"/>
                      </a:solidFill>
                      <a:prstDash val="solid"/>
                    </a:lnT>
                    <a:lnB w="38100">
                      <a:solidFill>
                        <a:srgbClr val="00AF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7872221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052054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31885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231885" y="544601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80"/>
                </a:moveTo>
                <a:lnTo>
                  <a:pt x="179831" y="144780"/>
                </a:lnTo>
                <a:lnTo>
                  <a:pt x="179831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909941" y="5439867"/>
            <a:ext cx="4635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Helvetica"/>
                <a:cs typeface="Helvetica"/>
              </a:rPr>
              <a:t>1</a:t>
            </a:r>
            <a:r>
              <a:rPr lang="en-US" sz="110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 1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1</a:t>
            </a:r>
          </a:p>
        </p:txBody>
      </p:sp>
      <p:sp>
        <p:nvSpPr>
          <p:cNvPr id="32" name="object 32"/>
          <p:cNvSpPr/>
          <p:nvPr/>
        </p:nvSpPr>
        <p:spPr>
          <a:xfrm>
            <a:off x="6611873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91706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91706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868670" y="6554216"/>
            <a:ext cx="10896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n-US" sz="1650" spc="-315" baseline="-10101" dirty="0">
                <a:latin typeface="Helvetica"/>
                <a:cs typeface="Helvetica"/>
              </a:rPr>
              <a:t>                                                                    </a:t>
            </a:r>
            <a:r>
              <a:rPr sz="1650" spc="-315" baseline="-10101" dirty="0">
                <a:latin typeface="Helvetica"/>
                <a:cs typeface="Helvetica"/>
              </a:rPr>
              <a:t>0</a:t>
            </a:r>
            <a:r>
              <a:rPr sz="1200" b="1" spc="-210" dirty="0">
                <a:solidFill>
                  <a:srgbClr val="B1B1B1"/>
                </a:solidFill>
                <a:latin typeface="Helvetica"/>
                <a:cs typeface="Helvetica"/>
              </a:rPr>
              <a:t>.</a:t>
            </a:r>
            <a:r>
              <a:rPr lang="en-US" sz="1200" b="1" spc="-210" dirty="0">
                <a:solidFill>
                  <a:srgbClr val="B1B1B1"/>
                </a:solidFill>
                <a:latin typeface="Helvetica"/>
                <a:cs typeface="Helvetica"/>
              </a:rPr>
              <a:t>  </a:t>
            </a:r>
            <a:r>
              <a:rPr sz="1200" b="1" spc="-105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lang="en-US" sz="1200" b="1" spc="-105" dirty="0">
                <a:solidFill>
                  <a:srgbClr val="B1B1B1"/>
                </a:solidFill>
                <a:latin typeface="Helvetica"/>
                <a:cs typeface="Helvetica"/>
              </a:rPr>
              <a:t> </a:t>
            </a:r>
            <a:r>
              <a:rPr sz="1650" baseline="-10101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36" name="object 36"/>
          <p:cNvSpPr/>
          <p:nvPr/>
        </p:nvSpPr>
        <p:spPr>
          <a:xfrm>
            <a:off x="6971538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71538" y="6596633"/>
            <a:ext cx="180340" cy="146685"/>
          </a:xfrm>
          <a:custGeom>
            <a:avLst/>
            <a:gdLst/>
            <a:ahLst/>
            <a:cxnLst/>
            <a:rect l="l" t="t" r="r" b="b"/>
            <a:pathLst>
              <a:path w="180340" h="146684">
                <a:moveTo>
                  <a:pt x="0" y="146304"/>
                </a:moveTo>
                <a:lnTo>
                  <a:pt x="179831" y="146304"/>
                </a:lnTo>
                <a:lnTo>
                  <a:pt x="179831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ln w="28956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09256" y="6591096"/>
            <a:ext cx="1035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Helvetica"/>
                <a:cs typeface="Helvetica"/>
              </a:rPr>
              <a:t>0</a:t>
            </a:r>
            <a:endParaRPr sz="1100">
              <a:latin typeface="Helvetica"/>
              <a:cs typeface="Helvetic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887716" y="286003"/>
            <a:ext cx="771525" cy="738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sz="2000" b="1" i="1" spc="15" dirty="0">
                <a:latin typeface="HelveticaNeue-BoldItalic"/>
                <a:cs typeface="HelveticaNeue-BoldItalic"/>
              </a:rPr>
              <a:t>Good</a:t>
            </a:r>
            <a:endParaRPr sz="2000" dirty="0">
              <a:latin typeface="HelveticaNeue-BoldItalic"/>
              <a:cs typeface="HelveticaNeue-BoldItalic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1100" dirty="0">
                <a:latin typeface="Helvetica"/>
                <a:cs typeface="Helvetica"/>
              </a:rPr>
              <a:t>1 </a:t>
            </a:r>
            <a:r>
              <a:rPr lang="en-US" sz="1100" dirty="0">
                <a:latin typeface="Helvetica"/>
                <a:cs typeface="Helvetica"/>
              </a:rPr>
              <a:t>  </a:t>
            </a:r>
            <a:r>
              <a:rPr sz="1100" dirty="0">
                <a:latin typeface="Helvetica"/>
                <a:cs typeface="Helvetica"/>
              </a:rPr>
              <a:t>1</a:t>
            </a:r>
            <a:r>
              <a:rPr sz="1100" spc="35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7946263" y="2518410"/>
            <a:ext cx="1104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spc="-40" dirty="0">
                <a:latin typeface="HelveticaNeue-BoldItalic"/>
                <a:cs typeface="HelveticaNeue-BoldItalic"/>
              </a:rPr>
              <a:t>f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917560" y="4751070"/>
            <a:ext cx="180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HelveticaNeue-BoldItalic"/>
                <a:cs typeface="HelveticaNeue-BoldItalic"/>
              </a:rPr>
              <a:t>g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9831" y="989075"/>
            <a:ext cx="3096895" cy="3785870"/>
          </a:xfrm>
          <a:prstGeom prst="rect">
            <a:avLst/>
          </a:prstGeom>
          <a:solidFill>
            <a:srgbClr val="66FF66"/>
          </a:solidFill>
        </p:spPr>
        <p:txBody>
          <a:bodyPr vert="horz" wrap="square" lIns="0" tIns="38735" rIns="0" bIns="0" rtlCol="0">
            <a:spAutoFit/>
          </a:bodyPr>
          <a:lstStyle/>
          <a:p>
            <a:pPr marL="90805" marR="135890">
              <a:lnSpc>
                <a:spcPct val="100000"/>
              </a:lnSpc>
              <a:spcBef>
                <a:spcPts val="305"/>
              </a:spcBef>
              <a:tabLst>
                <a:tab pos="511809" algn="l"/>
                <a:tab pos="2205355" algn="l"/>
              </a:tabLst>
            </a:pPr>
            <a:r>
              <a:rPr sz="2000" b="1" dirty="0">
                <a:latin typeface="Helvetica"/>
                <a:cs typeface="Helvetica"/>
              </a:rPr>
              <a:t>Q:	Consider </a:t>
            </a:r>
            <a:r>
              <a:rPr sz="2000" b="1" spc="5" dirty="0">
                <a:latin typeface="Helvetica"/>
                <a:cs typeface="Helvetica"/>
              </a:rPr>
              <a:t>two</a:t>
            </a:r>
            <a:r>
              <a:rPr sz="2000" b="1" spc="-13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faults:  (</a:t>
            </a:r>
            <a:r>
              <a:rPr sz="2000" b="1" i="1" dirty="0">
                <a:latin typeface="HelveticaNeue-BoldItalic"/>
                <a:cs typeface="HelveticaNeue-BoldItalic"/>
              </a:rPr>
              <a:t>f=SA1</a:t>
            </a:r>
            <a:r>
              <a:rPr sz="2000" b="1" i="1" spc="15" dirty="0">
                <a:latin typeface="HelveticaNeue-BoldItalic"/>
                <a:cs typeface="HelveticaNeue-BoldItalic"/>
              </a:rPr>
              <a:t> </a:t>
            </a:r>
            <a:r>
              <a:rPr sz="2000" b="1" i="1" dirty="0">
                <a:latin typeface="HelveticaNeue-BoldItalic"/>
                <a:cs typeface="HelveticaNeue-BoldItalic"/>
              </a:rPr>
              <a:t>,</a:t>
            </a:r>
            <a:r>
              <a:rPr sz="2000" b="1" i="1" spc="5" dirty="0">
                <a:latin typeface="HelveticaNeue-BoldItalic"/>
                <a:cs typeface="HelveticaNeue-BoldItalic"/>
              </a:rPr>
              <a:t> </a:t>
            </a:r>
            <a:r>
              <a:rPr sz="2000" b="1" i="1" spc="20" dirty="0">
                <a:latin typeface="HelveticaNeue-BoldItalic"/>
                <a:cs typeface="HelveticaNeue-BoldItalic"/>
              </a:rPr>
              <a:t>g=SA0)</a:t>
            </a:r>
            <a:r>
              <a:rPr sz="2000" b="1" spc="20" dirty="0">
                <a:latin typeface="Helvetica"/>
                <a:cs typeface="Helvetica"/>
              </a:rPr>
              <a:t>.	</a:t>
            </a:r>
            <a:r>
              <a:rPr sz="2000" b="1" dirty="0">
                <a:latin typeface="Helvetica"/>
                <a:cs typeface="Helvetica"/>
              </a:rPr>
              <a:t>Use</a:t>
            </a:r>
            <a:endParaRPr sz="200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PPSFP on</a:t>
            </a:r>
            <a:r>
              <a:rPr sz="2000" b="1" spc="-45" dirty="0">
                <a:latin typeface="Helvetica"/>
                <a:cs typeface="Helvetica"/>
              </a:rPr>
              <a:t> </a:t>
            </a:r>
            <a:r>
              <a:rPr sz="2000" b="1" dirty="0">
                <a:latin typeface="Helvetica"/>
                <a:cs typeface="Helvetica"/>
              </a:rPr>
              <a:t>patterns</a:t>
            </a:r>
            <a:endParaRPr sz="2000">
              <a:latin typeface="Helvetica"/>
              <a:cs typeface="Helvetica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1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95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{010}</a:t>
            </a:r>
            <a:r>
              <a:rPr sz="2000" b="1" i="1" dirty="0">
                <a:latin typeface="Arial-BoldItalicMT"/>
                <a:cs typeface="Arial-BoldItalicMT"/>
              </a:rPr>
              <a:t>,</a:t>
            </a:r>
            <a:endParaRPr sz="2000">
              <a:latin typeface="Arial-BoldItalicMT"/>
              <a:cs typeface="Arial-BoldItalicMT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2</a:t>
            </a:r>
            <a:r>
              <a:rPr sz="2000" b="1" i="1" spc="5" dirty="0">
                <a:latin typeface="Arial-BoldItalicMT"/>
                <a:cs typeface="Arial-BoldItalicMT"/>
              </a:rPr>
              <a:t>=</a:t>
            </a:r>
            <a:r>
              <a:rPr sz="2000" b="1" i="1" spc="-100" dirty="0">
                <a:latin typeface="Arial-BoldItalicMT"/>
                <a:cs typeface="Arial-BoldItalicMT"/>
              </a:rPr>
              <a:t> </a:t>
            </a:r>
            <a:r>
              <a:rPr sz="2000" b="1" dirty="0">
                <a:latin typeface="Arial"/>
                <a:cs typeface="Arial"/>
              </a:rPr>
              <a:t>{001},</a:t>
            </a:r>
            <a:endParaRPr sz="20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3</a:t>
            </a:r>
            <a:r>
              <a:rPr sz="2000" b="1" spc="5" dirty="0">
                <a:latin typeface="Arial"/>
                <a:cs typeface="Arial"/>
              </a:rPr>
              <a:t>=</a:t>
            </a:r>
            <a:r>
              <a:rPr sz="2000" b="1" spc="-10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{100}.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000" b="1" dirty="0">
                <a:latin typeface="Helvetica"/>
                <a:cs typeface="Helvetica"/>
              </a:rPr>
              <a:t>A:</a:t>
            </a:r>
            <a:endParaRPr sz="2000">
              <a:latin typeface="Helvetica"/>
              <a:cs typeface="Helvetica"/>
            </a:endParaRPr>
          </a:p>
          <a:p>
            <a:pPr marL="90805" marR="1358265">
              <a:lnSpc>
                <a:spcPct val="100000"/>
              </a:lnSpc>
              <a:tabLst>
                <a:tab pos="826769" algn="l"/>
              </a:tabLst>
            </a:pP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1</a:t>
            </a:r>
            <a:r>
              <a:rPr sz="1950" b="1" i="1" spc="292" baseline="-21367" dirty="0">
                <a:latin typeface="HelveticaNeue-BoldItalic"/>
                <a:cs typeface="HelveticaNeue-BoldItalic"/>
              </a:rPr>
              <a:t> </a:t>
            </a: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2	</a:t>
            </a:r>
            <a:r>
              <a:rPr sz="2000" b="1" dirty="0">
                <a:latin typeface="Helvetica"/>
                <a:cs typeface="Helvetica"/>
              </a:rPr>
              <a:t>detect</a:t>
            </a:r>
            <a:r>
              <a:rPr sz="2000" b="1" spc="-100" dirty="0">
                <a:latin typeface="Helvetica"/>
                <a:cs typeface="Helvetica"/>
              </a:rPr>
              <a:t> </a:t>
            </a:r>
            <a:r>
              <a:rPr sz="2000" b="1" i="1" spc="-40" dirty="0">
                <a:latin typeface="HelveticaNeue-BoldItalic"/>
                <a:cs typeface="HelveticaNeue-BoldItalic"/>
              </a:rPr>
              <a:t>f  </a:t>
            </a:r>
            <a:r>
              <a:rPr sz="2000" b="1" i="1" spc="5" dirty="0">
                <a:latin typeface="HelveticaNeue-BoldItalic"/>
                <a:cs typeface="HelveticaNeue-BoldItalic"/>
              </a:rPr>
              <a:t>P</a:t>
            </a:r>
            <a:r>
              <a:rPr sz="1950" b="1" i="1" spc="7" baseline="-21367" dirty="0">
                <a:latin typeface="HelveticaNeue-BoldItalic"/>
                <a:cs typeface="HelveticaNeue-BoldItalic"/>
              </a:rPr>
              <a:t>3 </a:t>
            </a:r>
            <a:r>
              <a:rPr sz="2000" b="1" dirty="0">
                <a:latin typeface="Helvetica"/>
                <a:cs typeface="Helvetica"/>
              </a:rPr>
              <a:t>detects</a:t>
            </a:r>
            <a:r>
              <a:rPr sz="2000" b="1" spc="-250" dirty="0">
                <a:latin typeface="Helvetica"/>
                <a:cs typeface="Helvetica"/>
              </a:rPr>
              <a:t> </a:t>
            </a:r>
            <a:r>
              <a:rPr sz="2000" b="1" i="1" dirty="0">
                <a:latin typeface="HelveticaNeue-BoldItalic"/>
                <a:cs typeface="HelveticaNeue-BoldItalic"/>
              </a:rPr>
              <a:t>g</a:t>
            </a:r>
            <a:endParaRPr sz="2000">
              <a:latin typeface="HelveticaNeue-BoldItalic"/>
              <a:cs typeface="HelveticaNeue-BoldItalic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849361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849361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29193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029193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209026" y="3213354"/>
            <a:ext cx="180340" cy="144780"/>
          </a:xfrm>
          <a:custGeom>
            <a:avLst/>
            <a:gdLst/>
            <a:ahLst/>
            <a:cxnLst/>
            <a:rect l="l" t="t" r="r" b="b"/>
            <a:pathLst>
              <a:path w="180340" h="144779">
                <a:moveTo>
                  <a:pt x="0" y="144779"/>
                </a:moveTo>
                <a:lnTo>
                  <a:pt x="179831" y="144779"/>
                </a:lnTo>
                <a:lnTo>
                  <a:pt x="179831" y="0"/>
                </a:lnTo>
                <a:lnTo>
                  <a:pt x="0" y="0"/>
                </a:lnTo>
                <a:lnTo>
                  <a:pt x="0" y="14477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887461" y="3207512"/>
            <a:ext cx="46355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Helvetica"/>
                <a:cs typeface="Helvetica"/>
              </a:rPr>
              <a:t>0</a:t>
            </a:r>
            <a:r>
              <a:rPr lang="en-US" sz="110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 0</a:t>
            </a:r>
            <a:r>
              <a:rPr sz="1100" spc="290" dirty="0">
                <a:latin typeface="Helvetica"/>
                <a:cs typeface="Helvetica"/>
              </a:rPr>
              <a:t> </a:t>
            </a:r>
            <a:r>
              <a:rPr sz="1100" dirty="0">
                <a:latin typeface="Helvetica"/>
                <a:cs typeface="Helvetica"/>
              </a:rPr>
              <a:t>0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DD8D7A29-CA7E-5F3D-AE56-56D03EB3AA0F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27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0267" y="164414"/>
            <a:ext cx="26936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6609715" cy="1072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Serial fault simulation: one fault, one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Parallel fault simulation: multiple faults, one</a:t>
            </a:r>
            <a:r>
              <a:rPr sz="2000" b="1" spc="-2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pattern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PPSFP: </a:t>
            </a:r>
            <a:r>
              <a:rPr sz="2000" b="1" dirty="0">
                <a:latin typeface="Arial"/>
                <a:cs typeface="Arial"/>
              </a:rPr>
              <a:t>multiple pattern</a:t>
            </a:r>
            <a:r>
              <a:rPr lang="en-US" sz="2000" b="1" dirty="0">
                <a:latin typeface="Arial"/>
                <a:cs typeface="Arial"/>
              </a:rPr>
              <a:t>s</a:t>
            </a:r>
            <a:r>
              <a:rPr sz="2000" b="1" dirty="0">
                <a:latin typeface="Arial"/>
                <a:cs typeface="Arial"/>
              </a:rPr>
              <a:t>, one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</a:t>
            </a:r>
            <a:endParaRPr sz="20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600" y="3206750"/>
          <a:ext cx="2593973" cy="216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0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…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5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…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037844" y="3784091"/>
            <a:ext cx="153924" cy="15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43811" y="3784091"/>
            <a:ext cx="152400" cy="15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46732" y="3784091"/>
            <a:ext cx="153924" cy="15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37844" y="4216908"/>
            <a:ext cx="153924" cy="153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43811" y="4216908"/>
            <a:ext cx="152400" cy="1539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46732" y="4216908"/>
            <a:ext cx="153924" cy="153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7844" y="4648200"/>
            <a:ext cx="153924" cy="15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43811" y="4648200"/>
            <a:ext cx="152400" cy="15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46732" y="4648200"/>
            <a:ext cx="153924" cy="15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2390" y="3927221"/>
            <a:ext cx="1298575" cy="259079"/>
          </a:xfrm>
          <a:custGeom>
            <a:avLst/>
            <a:gdLst/>
            <a:ahLst/>
            <a:cxnLst/>
            <a:rect l="l" t="t" r="r" b="b"/>
            <a:pathLst>
              <a:path w="1298575" h="259079">
                <a:moveTo>
                  <a:pt x="78930" y="156590"/>
                </a:moveTo>
                <a:lnTo>
                  <a:pt x="76238" y="158749"/>
                </a:lnTo>
                <a:lnTo>
                  <a:pt x="0" y="222122"/>
                </a:lnTo>
                <a:lnTo>
                  <a:pt x="95910" y="258571"/>
                </a:lnTo>
                <a:lnTo>
                  <a:pt x="99580" y="256920"/>
                </a:lnTo>
                <a:lnTo>
                  <a:pt x="102069" y="250316"/>
                </a:lnTo>
                <a:lnTo>
                  <a:pt x="100431" y="246760"/>
                </a:lnTo>
                <a:lnTo>
                  <a:pt x="46730" y="226313"/>
                </a:lnTo>
                <a:lnTo>
                  <a:pt x="13474" y="226313"/>
                </a:lnTo>
                <a:lnTo>
                  <a:pt x="11391" y="213740"/>
                </a:lnTo>
                <a:lnTo>
                  <a:pt x="34580" y="209882"/>
                </a:lnTo>
                <a:lnTo>
                  <a:pt x="84353" y="168528"/>
                </a:lnTo>
                <a:lnTo>
                  <a:pt x="87045" y="166369"/>
                </a:lnTo>
                <a:lnTo>
                  <a:pt x="87414" y="162305"/>
                </a:lnTo>
                <a:lnTo>
                  <a:pt x="82943" y="156971"/>
                </a:lnTo>
                <a:lnTo>
                  <a:pt x="78930" y="156590"/>
                </a:lnTo>
                <a:close/>
              </a:path>
              <a:path w="1298575" h="259079">
                <a:moveTo>
                  <a:pt x="34580" y="209882"/>
                </a:moveTo>
                <a:lnTo>
                  <a:pt x="11391" y="213740"/>
                </a:lnTo>
                <a:lnTo>
                  <a:pt x="13474" y="226313"/>
                </a:lnTo>
                <a:lnTo>
                  <a:pt x="21865" y="224916"/>
                </a:lnTo>
                <a:lnTo>
                  <a:pt x="16484" y="224916"/>
                </a:lnTo>
                <a:lnTo>
                  <a:pt x="14681" y="214121"/>
                </a:lnTo>
                <a:lnTo>
                  <a:pt x="29477" y="214121"/>
                </a:lnTo>
                <a:lnTo>
                  <a:pt x="34580" y="209882"/>
                </a:lnTo>
                <a:close/>
              </a:path>
              <a:path w="1298575" h="259079">
                <a:moveTo>
                  <a:pt x="36607" y="222462"/>
                </a:moveTo>
                <a:lnTo>
                  <a:pt x="13474" y="226313"/>
                </a:lnTo>
                <a:lnTo>
                  <a:pt x="46730" y="226313"/>
                </a:lnTo>
                <a:lnTo>
                  <a:pt x="36607" y="222462"/>
                </a:lnTo>
                <a:close/>
              </a:path>
              <a:path w="1298575" h="259079">
                <a:moveTo>
                  <a:pt x="14681" y="214121"/>
                </a:moveTo>
                <a:lnTo>
                  <a:pt x="16484" y="224916"/>
                </a:lnTo>
                <a:lnTo>
                  <a:pt x="24830" y="217982"/>
                </a:lnTo>
                <a:lnTo>
                  <a:pt x="14681" y="214121"/>
                </a:lnTo>
                <a:close/>
              </a:path>
              <a:path w="1298575" h="259079">
                <a:moveTo>
                  <a:pt x="24830" y="217982"/>
                </a:moveTo>
                <a:lnTo>
                  <a:pt x="16484" y="224916"/>
                </a:lnTo>
                <a:lnTo>
                  <a:pt x="21865" y="224916"/>
                </a:lnTo>
                <a:lnTo>
                  <a:pt x="36607" y="222462"/>
                </a:lnTo>
                <a:lnTo>
                  <a:pt x="24830" y="217982"/>
                </a:lnTo>
                <a:close/>
              </a:path>
              <a:path w="1298575" h="259079">
                <a:moveTo>
                  <a:pt x="1295933" y="0"/>
                </a:moveTo>
                <a:lnTo>
                  <a:pt x="34580" y="209882"/>
                </a:lnTo>
                <a:lnTo>
                  <a:pt x="24830" y="217982"/>
                </a:lnTo>
                <a:lnTo>
                  <a:pt x="36607" y="222462"/>
                </a:lnTo>
                <a:lnTo>
                  <a:pt x="1298092" y="12445"/>
                </a:lnTo>
                <a:lnTo>
                  <a:pt x="1295933" y="0"/>
                </a:lnTo>
                <a:close/>
              </a:path>
              <a:path w="1298575" h="259079">
                <a:moveTo>
                  <a:pt x="29477" y="214121"/>
                </a:moveTo>
                <a:lnTo>
                  <a:pt x="14681" y="214121"/>
                </a:lnTo>
                <a:lnTo>
                  <a:pt x="24830" y="217982"/>
                </a:lnTo>
                <a:lnTo>
                  <a:pt x="29477" y="2141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42390" y="4360036"/>
            <a:ext cx="1298575" cy="259079"/>
          </a:xfrm>
          <a:custGeom>
            <a:avLst/>
            <a:gdLst/>
            <a:ahLst/>
            <a:cxnLst/>
            <a:rect l="l" t="t" r="r" b="b"/>
            <a:pathLst>
              <a:path w="1298575" h="259079">
                <a:moveTo>
                  <a:pt x="78930" y="156590"/>
                </a:moveTo>
                <a:lnTo>
                  <a:pt x="76238" y="158750"/>
                </a:lnTo>
                <a:lnTo>
                  <a:pt x="0" y="222123"/>
                </a:lnTo>
                <a:lnTo>
                  <a:pt x="95910" y="258571"/>
                </a:lnTo>
                <a:lnTo>
                  <a:pt x="99580" y="256920"/>
                </a:lnTo>
                <a:lnTo>
                  <a:pt x="102069" y="250317"/>
                </a:lnTo>
                <a:lnTo>
                  <a:pt x="100431" y="246761"/>
                </a:lnTo>
                <a:lnTo>
                  <a:pt x="46730" y="226313"/>
                </a:lnTo>
                <a:lnTo>
                  <a:pt x="13449" y="226313"/>
                </a:lnTo>
                <a:lnTo>
                  <a:pt x="11366" y="213740"/>
                </a:lnTo>
                <a:lnTo>
                  <a:pt x="34586" y="209877"/>
                </a:lnTo>
                <a:lnTo>
                  <a:pt x="84353" y="168529"/>
                </a:lnTo>
                <a:lnTo>
                  <a:pt x="87045" y="166369"/>
                </a:lnTo>
                <a:lnTo>
                  <a:pt x="87414" y="162306"/>
                </a:lnTo>
                <a:lnTo>
                  <a:pt x="82943" y="156971"/>
                </a:lnTo>
                <a:lnTo>
                  <a:pt x="78930" y="156590"/>
                </a:lnTo>
                <a:close/>
              </a:path>
              <a:path w="1298575" h="259079">
                <a:moveTo>
                  <a:pt x="34586" y="209877"/>
                </a:moveTo>
                <a:lnTo>
                  <a:pt x="11366" y="213740"/>
                </a:lnTo>
                <a:lnTo>
                  <a:pt x="13449" y="226313"/>
                </a:lnTo>
                <a:lnTo>
                  <a:pt x="21840" y="224917"/>
                </a:lnTo>
                <a:lnTo>
                  <a:pt x="16484" y="224917"/>
                </a:lnTo>
                <a:lnTo>
                  <a:pt x="14681" y="214121"/>
                </a:lnTo>
                <a:lnTo>
                  <a:pt x="29477" y="214121"/>
                </a:lnTo>
                <a:lnTo>
                  <a:pt x="34586" y="209877"/>
                </a:lnTo>
                <a:close/>
              </a:path>
              <a:path w="1298575" h="259079">
                <a:moveTo>
                  <a:pt x="36599" y="222459"/>
                </a:moveTo>
                <a:lnTo>
                  <a:pt x="13449" y="226313"/>
                </a:lnTo>
                <a:lnTo>
                  <a:pt x="46730" y="226313"/>
                </a:lnTo>
                <a:lnTo>
                  <a:pt x="36599" y="222459"/>
                </a:lnTo>
                <a:close/>
              </a:path>
              <a:path w="1298575" h="259079">
                <a:moveTo>
                  <a:pt x="14681" y="214121"/>
                </a:moveTo>
                <a:lnTo>
                  <a:pt x="16484" y="224917"/>
                </a:lnTo>
                <a:lnTo>
                  <a:pt x="24830" y="217982"/>
                </a:lnTo>
                <a:lnTo>
                  <a:pt x="14681" y="214121"/>
                </a:lnTo>
                <a:close/>
              </a:path>
              <a:path w="1298575" h="259079">
                <a:moveTo>
                  <a:pt x="24830" y="217982"/>
                </a:moveTo>
                <a:lnTo>
                  <a:pt x="16484" y="224917"/>
                </a:lnTo>
                <a:lnTo>
                  <a:pt x="21840" y="224917"/>
                </a:lnTo>
                <a:lnTo>
                  <a:pt x="36599" y="222459"/>
                </a:lnTo>
                <a:lnTo>
                  <a:pt x="24830" y="217982"/>
                </a:lnTo>
                <a:close/>
              </a:path>
              <a:path w="1298575" h="259079">
                <a:moveTo>
                  <a:pt x="1295933" y="0"/>
                </a:moveTo>
                <a:lnTo>
                  <a:pt x="34586" y="209877"/>
                </a:lnTo>
                <a:lnTo>
                  <a:pt x="24830" y="217982"/>
                </a:lnTo>
                <a:lnTo>
                  <a:pt x="36599" y="222459"/>
                </a:lnTo>
                <a:lnTo>
                  <a:pt x="1298092" y="12445"/>
                </a:lnTo>
                <a:lnTo>
                  <a:pt x="1295933" y="0"/>
                </a:lnTo>
                <a:close/>
              </a:path>
              <a:path w="1298575" h="259079">
                <a:moveTo>
                  <a:pt x="29477" y="214121"/>
                </a:moveTo>
                <a:lnTo>
                  <a:pt x="14681" y="214121"/>
                </a:lnTo>
                <a:lnTo>
                  <a:pt x="24830" y="217982"/>
                </a:lnTo>
                <a:lnTo>
                  <a:pt x="29477" y="2141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42390" y="4862957"/>
            <a:ext cx="1298575" cy="259079"/>
          </a:xfrm>
          <a:custGeom>
            <a:avLst/>
            <a:gdLst/>
            <a:ahLst/>
            <a:cxnLst/>
            <a:rect l="l" t="t" r="r" b="b"/>
            <a:pathLst>
              <a:path w="1298575" h="259079">
                <a:moveTo>
                  <a:pt x="78930" y="156591"/>
                </a:moveTo>
                <a:lnTo>
                  <a:pt x="76238" y="158750"/>
                </a:lnTo>
                <a:lnTo>
                  <a:pt x="0" y="222123"/>
                </a:lnTo>
                <a:lnTo>
                  <a:pt x="95910" y="258572"/>
                </a:lnTo>
                <a:lnTo>
                  <a:pt x="99580" y="256921"/>
                </a:lnTo>
                <a:lnTo>
                  <a:pt x="102069" y="250317"/>
                </a:lnTo>
                <a:lnTo>
                  <a:pt x="100431" y="246761"/>
                </a:lnTo>
                <a:lnTo>
                  <a:pt x="46730" y="226314"/>
                </a:lnTo>
                <a:lnTo>
                  <a:pt x="13462" y="226314"/>
                </a:lnTo>
                <a:lnTo>
                  <a:pt x="11379" y="213741"/>
                </a:lnTo>
                <a:lnTo>
                  <a:pt x="34583" y="209880"/>
                </a:lnTo>
                <a:lnTo>
                  <a:pt x="84353" y="168529"/>
                </a:lnTo>
                <a:lnTo>
                  <a:pt x="87045" y="166370"/>
                </a:lnTo>
                <a:lnTo>
                  <a:pt x="87414" y="162306"/>
                </a:lnTo>
                <a:lnTo>
                  <a:pt x="82943" y="156972"/>
                </a:lnTo>
                <a:lnTo>
                  <a:pt x="78930" y="156591"/>
                </a:lnTo>
                <a:close/>
              </a:path>
              <a:path w="1298575" h="259079">
                <a:moveTo>
                  <a:pt x="34583" y="209880"/>
                </a:moveTo>
                <a:lnTo>
                  <a:pt x="11379" y="213741"/>
                </a:lnTo>
                <a:lnTo>
                  <a:pt x="13462" y="226314"/>
                </a:lnTo>
                <a:lnTo>
                  <a:pt x="21853" y="224917"/>
                </a:lnTo>
                <a:lnTo>
                  <a:pt x="16484" y="224917"/>
                </a:lnTo>
                <a:lnTo>
                  <a:pt x="14681" y="214122"/>
                </a:lnTo>
                <a:lnTo>
                  <a:pt x="29477" y="214122"/>
                </a:lnTo>
                <a:lnTo>
                  <a:pt x="34583" y="209880"/>
                </a:lnTo>
                <a:close/>
              </a:path>
              <a:path w="1298575" h="259079">
                <a:moveTo>
                  <a:pt x="36603" y="222461"/>
                </a:moveTo>
                <a:lnTo>
                  <a:pt x="13462" y="226314"/>
                </a:lnTo>
                <a:lnTo>
                  <a:pt x="46730" y="226314"/>
                </a:lnTo>
                <a:lnTo>
                  <a:pt x="36603" y="222461"/>
                </a:lnTo>
                <a:close/>
              </a:path>
              <a:path w="1298575" h="259079">
                <a:moveTo>
                  <a:pt x="14681" y="214122"/>
                </a:moveTo>
                <a:lnTo>
                  <a:pt x="16484" y="224917"/>
                </a:lnTo>
                <a:lnTo>
                  <a:pt x="24830" y="217982"/>
                </a:lnTo>
                <a:lnTo>
                  <a:pt x="14681" y="214122"/>
                </a:lnTo>
                <a:close/>
              </a:path>
              <a:path w="1298575" h="259079">
                <a:moveTo>
                  <a:pt x="24830" y="217982"/>
                </a:moveTo>
                <a:lnTo>
                  <a:pt x="16484" y="224917"/>
                </a:lnTo>
                <a:lnTo>
                  <a:pt x="21853" y="224917"/>
                </a:lnTo>
                <a:lnTo>
                  <a:pt x="36603" y="222461"/>
                </a:lnTo>
                <a:lnTo>
                  <a:pt x="24830" y="217982"/>
                </a:lnTo>
                <a:close/>
              </a:path>
              <a:path w="1298575" h="259079">
                <a:moveTo>
                  <a:pt x="1295933" y="0"/>
                </a:moveTo>
                <a:lnTo>
                  <a:pt x="34583" y="209880"/>
                </a:lnTo>
                <a:lnTo>
                  <a:pt x="24830" y="217982"/>
                </a:lnTo>
                <a:lnTo>
                  <a:pt x="36603" y="222461"/>
                </a:lnTo>
                <a:lnTo>
                  <a:pt x="1298092" y="12446"/>
                </a:lnTo>
                <a:lnTo>
                  <a:pt x="1295933" y="0"/>
                </a:lnTo>
                <a:close/>
              </a:path>
              <a:path w="1298575" h="259079">
                <a:moveTo>
                  <a:pt x="29477" y="214122"/>
                </a:moveTo>
                <a:lnTo>
                  <a:pt x="14681" y="214122"/>
                </a:lnTo>
                <a:lnTo>
                  <a:pt x="24830" y="217982"/>
                </a:lnTo>
                <a:lnTo>
                  <a:pt x="29477" y="214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17035" y="3860291"/>
            <a:ext cx="279400" cy="1386840"/>
          </a:xfrm>
          <a:custGeom>
            <a:avLst/>
            <a:gdLst/>
            <a:ahLst/>
            <a:cxnLst/>
            <a:rect l="l" t="t" r="r" b="b"/>
            <a:pathLst>
              <a:path w="279400" h="1386839">
                <a:moveTo>
                  <a:pt x="0" y="1386840"/>
                </a:moveTo>
                <a:lnTo>
                  <a:pt x="278891" y="1386840"/>
                </a:lnTo>
                <a:lnTo>
                  <a:pt x="278891" y="0"/>
                </a:lnTo>
                <a:lnTo>
                  <a:pt x="0" y="0"/>
                </a:lnTo>
                <a:lnTo>
                  <a:pt x="0" y="138684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03547" y="4431791"/>
            <a:ext cx="153924" cy="15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12335" y="3860291"/>
            <a:ext cx="279400" cy="1386840"/>
          </a:xfrm>
          <a:custGeom>
            <a:avLst/>
            <a:gdLst/>
            <a:ahLst/>
            <a:cxnLst/>
            <a:rect l="l" t="t" r="r" b="b"/>
            <a:pathLst>
              <a:path w="279400" h="1386839">
                <a:moveTo>
                  <a:pt x="0" y="1386840"/>
                </a:moveTo>
                <a:lnTo>
                  <a:pt x="278891" y="1386840"/>
                </a:lnTo>
                <a:lnTo>
                  <a:pt x="278891" y="0"/>
                </a:lnTo>
                <a:lnTo>
                  <a:pt x="0" y="0"/>
                </a:lnTo>
                <a:lnTo>
                  <a:pt x="0" y="138684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8847" y="4431791"/>
            <a:ext cx="153924" cy="15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16779" y="3860291"/>
            <a:ext cx="277495" cy="1386840"/>
          </a:xfrm>
          <a:custGeom>
            <a:avLst/>
            <a:gdLst/>
            <a:ahLst/>
            <a:cxnLst/>
            <a:rect l="l" t="t" r="r" b="b"/>
            <a:pathLst>
              <a:path w="277495" h="1386839">
                <a:moveTo>
                  <a:pt x="0" y="1386840"/>
                </a:moveTo>
                <a:lnTo>
                  <a:pt x="277367" y="1386840"/>
                </a:lnTo>
                <a:lnTo>
                  <a:pt x="277367" y="0"/>
                </a:lnTo>
                <a:lnTo>
                  <a:pt x="0" y="0"/>
                </a:lnTo>
                <a:lnTo>
                  <a:pt x="0" y="138684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052826" y="3206750"/>
          <a:ext cx="2591429" cy="216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8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2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74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90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79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20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…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Helvetica"/>
                          <a:cs typeface="Helvetica"/>
                        </a:rPr>
                        <a:t>W-1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12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Helvetica"/>
                          <a:cs typeface="Helvetica"/>
                        </a:rPr>
                        <a:t>W-1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12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63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Helvetica"/>
                          <a:cs typeface="Helvetica"/>
                        </a:rPr>
                        <a:t>W-1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127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…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5003291" y="4431791"/>
            <a:ext cx="152400" cy="15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63028" y="4000500"/>
            <a:ext cx="153924" cy="1539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63028" y="4431791"/>
            <a:ext cx="153924" cy="1539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6005576" y="3206750"/>
          <a:ext cx="2590796" cy="2160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P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…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1">
                <a:tc row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1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dirty="0">
                          <a:latin typeface="Helvetica"/>
                          <a:cs typeface="Helvetica"/>
                        </a:rPr>
                        <a:t>W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41275" marB="0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16">
                <a:tc row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2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8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dirty="0">
                          <a:latin typeface="Helvetica"/>
                          <a:cs typeface="Helvetica"/>
                        </a:rPr>
                        <a:t>W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41910" marB="0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8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627">
                <a:tc row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spc="-5" dirty="0">
                          <a:latin typeface="Arial-BoldItalicMT"/>
                          <a:cs typeface="Arial-BoldItalicMT"/>
                        </a:rPr>
                        <a:t>f</a:t>
                      </a:r>
                      <a:r>
                        <a:rPr sz="1800" b="1" i="1" spc="-7" baseline="-20833" dirty="0">
                          <a:latin typeface="Arial-BoldItalicMT"/>
                          <a:cs typeface="Arial-BoldItalicMT"/>
                        </a:rPr>
                        <a:t>3</a:t>
                      </a:r>
                      <a:endParaRPr sz="1800" baseline="-20833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3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dirty="0">
                          <a:latin typeface="Helvetica"/>
                          <a:cs typeface="Helvetica"/>
                        </a:rPr>
                        <a:t>W</a:t>
                      </a:r>
                      <a:endParaRPr sz="1200">
                        <a:latin typeface="Helvetica"/>
                        <a:cs typeface="Helvetica"/>
                      </a:endParaRPr>
                    </a:p>
                  </a:txBody>
                  <a:tcPr marL="0" marR="0" marT="42545" marB="0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30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18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i="1" dirty="0">
                          <a:latin typeface="Arial-BoldItalicMT"/>
                          <a:cs typeface="Arial-BoldItalicMT"/>
                        </a:rPr>
                        <a:t>…</a:t>
                      </a:r>
                      <a:endParaRPr sz="1800">
                        <a:latin typeface="Arial-BoldItalicMT"/>
                        <a:cs typeface="Arial-BoldItalic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6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7463028" y="4864608"/>
            <a:ext cx="153924" cy="1539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1352" y="164414"/>
            <a:ext cx="21107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00785"/>
            <a:ext cx="7558405" cy="18548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Parallel fault simulation (parallel in</a:t>
            </a:r>
            <a:r>
              <a:rPr sz="2000" b="1" u="sng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Run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parallel logic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simulation for W-1</a:t>
            </a:r>
            <a:r>
              <a:rPr sz="20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Fault injection by circuit</a:t>
            </a:r>
            <a:r>
              <a:rPr sz="20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modification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Parallel Pattern Single fault Propagation (parallel in</a:t>
            </a:r>
            <a:r>
              <a:rPr sz="2000" b="1" u="sng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pattern)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Run </a:t>
            </a:r>
            <a:r>
              <a:rPr sz="2000" b="1" spc="-5" dirty="0">
                <a:solidFill>
                  <a:srgbClr val="0000FF"/>
                </a:solidFill>
                <a:latin typeface="Arial"/>
                <a:cs typeface="Arial"/>
              </a:rPr>
              <a:t>parallel logic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simulation for </a:t>
            </a:r>
            <a:r>
              <a:rPr sz="2000" b="1" i="1" dirty="0">
                <a:solidFill>
                  <a:srgbClr val="0000FF"/>
                </a:solidFill>
                <a:latin typeface="Arial-BoldItalicMT"/>
                <a:cs typeface="Arial-BoldItalicMT"/>
              </a:rPr>
              <a:t>W</a:t>
            </a:r>
            <a:r>
              <a:rPr sz="2000" b="1" i="1" spc="-100" dirty="0">
                <a:solidFill>
                  <a:srgbClr val="0000FF"/>
                </a:solidFill>
                <a:latin typeface="Arial-BoldItalicMT"/>
                <a:cs typeface="Arial-BoldItalicMT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patterns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8540" y="3863340"/>
            <a:ext cx="3096248" cy="2016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858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6783" y="164414"/>
            <a:ext cx="35807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</a:t>
            </a:r>
            <a:r>
              <a:rPr spc="-80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1136"/>
            <a:ext cx="4889500" cy="2180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Introduction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 simulation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techniques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Serial fault</a:t>
            </a:r>
            <a:r>
              <a:rPr sz="2000" b="1" spc="-6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Parallel fault simulation</a:t>
            </a:r>
            <a:r>
              <a:rPr sz="2000" b="1" spc="-110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(1965)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dirty="0">
                <a:solidFill>
                  <a:srgbClr val="A6A6A6"/>
                </a:solidFill>
                <a:latin typeface="Arial"/>
                <a:cs typeface="Arial"/>
              </a:rPr>
              <a:t>PPSFP (1985)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Deductive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fault simulation</a:t>
            </a:r>
            <a:r>
              <a:rPr sz="20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(1972)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8540" y="3863340"/>
            <a:ext cx="3096248" cy="2016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9B22-BCA5-DA3E-3AD4-6ECF6245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58538E-E3BF-38AD-F9E6-F5D313B71E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1338" y="164414"/>
            <a:ext cx="5892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Deductive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Simulation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1BDD581-BDF9-12E0-71E3-291A02E4B6DA}"/>
              </a:ext>
            </a:extLst>
          </p:cNvPr>
          <p:cNvSpPr txBox="1"/>
          <p:nvPr/>
        </p:nvSpPr>
        <p:spPr>
          <a:xfrm>
            <a:off x="230225" y="900785"/>
            <a:ext cx="8456575" cy="483209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Procedure</a:t>
            </a:r>
            <a:r>
              <a:rPr lang="en-US" sz="2000" b="1" dirty="0">
                <a:latin typeface="Arial"/>
                <a:cs typeface="Arial"/>
              </a:rPr>
              <a:t> to apply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one test pattern (P) </a:t>
            </a:r>
            <a:r>
              <a:rPr lang="en-US" sz="2000" b="1" dirty="0">
                <a:latin typeface="Arial"/>
                <a:cs typeface="Arial"/>
              </a:rPr>
              <a:t>at a time but consider </a:t>
            </a: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a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set of single-stuck-at faults (SSFs) </a:t>
            </a:r>
            <a:r>
              <a:rPr lang="en-US" sz="2000" b="1" dirty="0">
                <a:latin typeface="Arial"/>
                <a:cs typeface="Arial"/>
              </a:rPr>
              <a:t>in one shot</a:t>
            </a:r>
            <a:endParaRPr sz="2000" dirty="0">
              <a:latin typeface="Arial"/>
              <a:cs typeface="Arial"/>
            </a:endParaRPr>
          </a:p>
          <a:p>
            <a:pPr marL="812800" indent="-34290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SSFs </a:t>
            </a:r>
            <a:r>
              <a:rPr lang="en-US" sz="2000" b="1" spc="-5" dirty="0">
                <a:latin typeface="Arial"/>
                <a:cs typeface="Arial"/>
              </a:rPr>
              <a:t>are</a:t>
            </a:r>
            <a:r>
              <a:rPr lang="en-US" sz="2000" b="1" dirty="0">
                <a:latin typeface="Arial"/>
                <a:cs typeface="Arial"/>
              </a:rPr>
              <a:t> given, e.g., for each line a stuck at fault opposite to its simulation value from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 </a:t>
            </a:r>
            <a:r>
              <a:rPr lang="en-US" sz="2000" b="1" dirty="0">
                <a:latin typeface="Arial"/>
                <a:cs typeface="Arial"/>
              </a:rPr>
              <a:t>is assumed</a:t>
            </a:r>
            <a:endParaRPr lang="en-US" sz="2000" dirty="0">
              <a:solidFill>
                <a:srgbClr val="FF0000"/>
              </a:solidFill>
              <a:latin typeface="Wingdings"/>
              <a:cs typeface="Wingdings"/>
            </a:endParaRPr>
          </a:p>
          <a:p>
            <a:pPr marL="927100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</a:pPr>
            <a:r>
              <a:rPr lang="en-US" sz="2000" b="1" dirty="0">
                <a:latin typeface="Arial"/>
                <a:cs typeface="Arial"/>
              </a:rPr>
              <a:t>For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</a:t>
            </a:r>
            <a:r>
              <a:rPr sz="2000" b="1" dirty="0">
                <a:latin typeface="Arial"/>
                <a:cs typeface="Arial"/>
              </a:rPr>
              <a:t>, </a:t>
            </a:r>
            <a:r>
              <a:rPr lang="en-US" sz="2000" b="1" dirty="0">
                <a:latin typeface="Arial"/>
                <a:cs typeface="Arial"/>
              </a:rPr>
              <a:t>first </a:t>
            </a:r>
            <a:r>
              <a:rPr sz="2000" b="1" dirty="0">
                <a:latin typeface="Arial"/>
                <a:cs typeface="Arial"/>
              </a:rPr>
              <a:t>perform</a:t>
            </a:r>
            <a:r>
              <a:rPr lang="en-US" sz="2000" b="1" dirty="0">
                <a:latin typeface="Arial"/>
                <a:cs typeface="Arial"/>
              </a:rPr>
              <a:t> a</a:t>
            </a:r>
            <a:r>
              <a:rPr sz="2000" b="1" dirty="0">
                <a:latin typeface="Arial"/>
                <a:cs typeface="Arial"/>
              </a:rPr>
              <a:t> fault-free</a:t>
            </a:r>
            <a:r>
              <a:rPr sz="2000" b="1" spc="-3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lang="en-US" sz="2000" dirty="0">
              <a:latin typeface="Arial"/>
              <a:cs typeface="Arial"/>
            </a:endParaRPr>
          </a:p>
          <a:p>
            <a:pPr marL="927100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</a:pPr>
            <a:r>
              <a:rPr lang="en-US" sz="2000" b="1" dirty="0">
                <a:latin typeface="Arial"/>
                <a:cs typeface="Arial"/>
              </a:rPr>
              <a:t>Gates are visited from PI to PO to create a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"fault </a:t>
            </a:r>
            <a:r>
              <a:rPr sz="2000" b="1" spc="-5" dirty="0">
                <a:latin typeface="Arial"/>
                <a:cs typeface="Arial"/>
              </a:rPr>
              <a:t>list</a:t>
            </a:r>
            <a:r>
              <a:rPr lang="en-US" sz="2000" b="1" spc="-5" dirty="0">
                <a:latin typeface="Arial"/>
                <a:cs typeface="Arial"/>
              </a:rPr>
              <a:t>"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at (output of) each gate </a:t>
            </a:r>
          </a:p>
          <a:p>
            <a:pPr marL="1270000" lvl="1" indent="-34290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cs typeface="Arial"/>
                <a:sym typeface="Wingdings" pitchFamily="2" charset="2"/>
              </a:rPr>
              <a:t>Fault list of a gate represents the set of all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  <a:sym typeface="Wingdings" pitchFamily="2" charset="2"/>
              </a:rPr>
              <a:t>SSFs</a:t>
            </a:r>
            <a:r>
              <a:rPr lang="en-US" sz="2000" b="1" dirty="0">
                <a:latin typeface="Arial"/>
                <a:cs typeface="Arial"/>
                <a:sym typeface="Wingdings" pitchFamily="2" charset="2"/>
              </a:rPr>
              <a:t> that are detected at the gate by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  <a:sym typeface="Wingdings" pitchFamily="2" charset="2"/>
              </a:rPr>
              <a:t>P</a:t>
            </a:r>
          </a:p>
          <a:p>
            <a:pPr marL="1270000" lvl="1" indent="-342900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cs typeface="Arial"/>
              </a:rPr>
              <a:t>Creating the fault list of gate </a:t>
            </a:r>
            <a:r>
              <a:rPr sz="2000" b="1" dirty="0">
                <a:latin typeface="Arial"/>
                <a:cs typeface="Arial"/>
              </a:rPr>
              <a:t>depends on </a:t>
            </a:r>
            <a:r>
              <a:rPr lang="en-US" sz="2000" b="1" dirty="0">
                <a:latin typeface="Arial"/>
                <a:cs typeface="Arial"/>
              </a:rPr>
              <a:t>the </a:t>
            </a:r>
            <a:r>
              <a:rPr sz="2000" b="1" dirty="0">
                <a:latin typeface="Arial"/>
                <a:cs typeface="Arial"/>
              </a:rPr>
              <a:t>gate </a:t>
            </a:r>
            <a:r>
              <a:rPr sz="2000" b="1" spc="-10" dirty="0">
                <a:latin typeface="Arial"/>
                <a:cs typeface="Arial"/>
              </a:rPr>
              <a:t>type</a:t>
            </a:r>
            <a:r>
              <a:rPr lang="en-US" sz="2000" b="1" spc="-10" dirty="0">
                <a:latin typeface="Arial"/>
                <a:cs typeface="Arial"/>
              </a:rPr>
              <a:t>, </a:t>
            </a:r>
            <a:r>
              <a:rPr lang="en-US" sz="2000" b="1" dirty="0">
                <a:latin typeface="Arial"/>
                <a:cs typeface="Arial"/>
              </a:rPr>
              <a:t>its </a:t>
            </a:r>
            <a:r>
              <a:rPr sz="2000" b="1" dirty="0">
                <a:latin typeface="Arial"/>
                <a:cs typeface="Arial"/>
              </a:rPr>
              <a:t>input</a:t>
            </a:r>
            <a:r>
              <a:rPr lang="en-US" sz="2000" b="1" dirty="0">
                <a:latin typeface="Arial"/>
                <a:cs typeface="Arial"/>
              </a:rPr>
              <a:t> pin values (based on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</a:t>
            </a:r>
            <a:r>
              <a:rPr lang="en-US" sz="2000" b="1" dirty="0">
                <a:latin typeface="Arial"/>
                <a:cs typeface="Arial"/>
              </a:rPr>
              <a:t>), and fault lists at each of its input pins</a:t>
            </a:r>
            <a:endParaRPr lang="en-US" sz="2000" dirty="0">
              <a:latin typeface="Arial"/>
              <a:cs typeface="Arial"/>
            </a:endParaRPr>
          </a:p>
          <a:p>
            <a:pPr marL="927100" indent="-457200">
              <a:spcBef>
                <a:spcPts val="480"/>
              </a:spcBef>
              <a:buFont typeface="+mj-lt"/>
              <a:buAutoNum type="arabicPeriod"/>
            </a:pPr>
            <a:r>
              <a:rPr lang="en-US" sz="2000" b="1" dirty="0">
                <a:latin typeface="Arial"/>
                <a:cs typeface="Arial"/>
              </a:rPr>
              <a:t>The fault list at PO represents all faults that are detected by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</a:t>
            </a:r>
            <a:endParaRPr lang="en-US" sz="2000" spc="-420" dirty="0">
              <a:solidFill>
                <a:srgbClr val="00B050"/>
              </a:solidFill>
              <a:latin typeface="Wingdings"/>
              <a:cs typeface="Wingdings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endParaRPr sz="2000" dirty="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1591C89-AF85-3492-DB28-5E2147BC52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618D5B4A-46E6-C6DB-B233-53367348FD47}"/>
              </a:ext>
            </a:extLst>
          </p:cNvPr>
          <p:cNvSpPr txBox="1"/>
          <p:nvPr/>
        </p:nvSpPr>
        <p:spPr>
          <a:xfrm>
            <a:off x="685800" y="5791200"/>
            <a:ext cx="8084008" cy="52899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284"/>
              </a:spcBef>
            </a:pPr>
            <a:r>
              <a:rPr lang="en-US" sz="3200" b="1" spc="-60" dirty="0">
                <a:solidFill>
                  <a:srgbClr val="FF0000"/>
                </a:solidFill>
                <a:latin typeface="Helvetica"/>
                <a:cs typeface="Helvetica"/>
              </a:rPr>
              <a:t>Uses logic deduction instead of simulation</a:t>
            </a:r>
            <a:endParaRPr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9499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1338" y="164414"/>
            <a:ext cx="5892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Deductive </a:t>
            </a:r>
            <a:r>
              <a:rPr spc="-5" dirty="0"/>
              <a:t>Fault</a:t>
            </a:r>
            <a:r>
              <a:rPr spc="-85" dirty="0"/>
              <a:t> </a:t>
            </a:r>
            <a:r>
              <a:rPr dirty="0"/>
              <a:t>Simulation</a:t>
            </a:r>
          </a:p>
        </p:txBody>
      </p:sp>
      <p:sp>
        <p:nvSpPr>
          <p:cNvPr id="4" name="object 4"/>
          <p:cNvSpPr/>
          <p:nvPr/>
        </p:nvSpPr>
        <p:spPr>
          <a:xfrm>
            <a:off x="610870" y="2312670"/>
            <a:ext cx="7922259" cy="2232660"/>
          </a:xfrm>
          <a:custGeom>
            <a:avLst/>
            <a:gdLst/>
            <a:ahLst/>
            <a:cxnLst/>
            <a:rect l="l" t="t" r="r" b="b"/>
            <a:pathLst>
              <a:path w="7922259" h="2232660">
                <a:moveTo>
                  <a:pt x="0" y="2232660"/>
                </a:moveTo>
                <a:lnTo>
                  <a:pt x="7921752" y="2232660"/>
                </a:lnTo>
                <a:lnTo>
                  <a:pt x="7921752" y="0"/>
                </a:lnTo>
                <a:lnTo>
                  <a:pt x="0" y="0"/>
                </a:lnTo>
                <a:lnTo>
                  <a:pt x="0" y="223266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30803" y="2840735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0803" y="2840735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63776" y="2552700"/>
            <a:ext cx="1378585" cy="367030"/>
          </a:xfrm>
          <a:custGeom>
            <a:avLst/>
            <a:gdLst/>
            <a:ahLst/>
            <a:cxnLst/>
            <a:rect l="l" t="t" r="r" b="b"/>
            <a:pathLst>
              <a:path w="1378585" h="367029">
                <a:moveTo>
                  <a:pt x="0" y="0"/>
                </a:moveTo>
                <a:lnTo>
                  <a:pt x="689101" y="0"/>
                </a:lnTo>
                <a:lnTo>
                  <a:pt x="689101" y="366649"/>
                </a:lnTo>
                <a:lnTo>
                  <a:pt x="1378077" y="36664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63776" y="3204971"/>
            <a:ext cx="1378585" cy="354330"/>
          </a:xfrm>
          <a:custGeom>
            <a:avLst/>
            <a:gdLst/>
            <a:ahLst/>
            <a:cxnLst/>
            <a:rect l="l" t="t" r="r" b="b"/>
            <a:pathLst>
              <a:path w="1378585" h="354329">
                <a:moveTo>
                  <a:pt x="0" y="353949"/>
                </a:moveTo>
                <a:lnTo>
                  <a:pt x="689101" y="353949"/>
                </a:lnTo>
                <a:lnTo>
                  <a:pt x="689101" y="0"/>
                </a:lnTo>
                <a:lnTo>
                  <a:pt x="13780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91835" y="2522220"/>
            <a:ext cx="1619885" cy="503555"/>
          </a:xfrm>
          <a:custGeom>
            <a:avLst/>
            <a:gdLst/>
            <a:ahLst/>
            <a:cxnLst/>
            <a:rect l="l" t="t" r="r" b="b"/>
            <a:pathLst>
              <a:path w="1619884" h="503554">
                <a:moveTo>
                  <a:pt x="0" y="503174"/>
                </a:moveTo>
                <a:lnTo>
                  <a:pt x="0" y="0"/>
                </a:lnTo>
                <a:lnTo>
                  <a:pt x="1619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62096" y="3057144"/>
            <a:ext cx="3312160" cy="504825"/>
          </a:xfrm>
          <a:custGeom>
            <a:avLst/>
            <a:gdLst/>
            <a:ahLst/>
            <a:cxnLst/>
            <a:rect l="l" t="t" r="r" b="b"/>
            <a:pathLst>
              <a:path w="3312159" h="504825">
                <a:moveTo>
                  <a:pt x="0" y="0"/>
                </a:moveTo>
                <a:lnTo>
                  <a:pt x="1720722" y="0"/>
                </a:lnTo>
                <a:lnTo>
                  <a:pt x="1720722" y="504825"/>
                </a:lnTo>
                <a:lnTo>
                  <a:pt x="3311778" y="50482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1184" y="2380995"/>
            <a:ext cx="1110615" cy="16090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5400" marR="30480" indent="200660">
              <a:lnSpc>
                <a:spcPts val="2120"/>
              </a:lnSpc>
              <a:spcBef>
                <a:spcPts val="405"/>
              </a:spcBef>
            </a:pPr>
            <a:r>
              <a:rPr sz="2000" i="1" dirty="0">
                <a:latin typeface="Helvetica"/>
                <a:cs typeface="Helvetica"/>
              </a:rPr>
              <a:t>a = 0  </a:t>
            </a: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a 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9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00">
              <a:latin typeface="Helvetica"/>
              <a:cs typeface="Helvetica"/>
            </a:endParaRPr>
          </a:p>
          <a:p>
            <a:pPr marL="25400" marR="30480" indent="200660">
              <a:lnSpc>
                <a:spcPts val="2140"/>
              </a:lnSpc>
            </a:pPr>
            <a:r>
              <a:rPr sz="2000" i="1" dirty="0">
                <a:latin typeface="Helvetica"/>
                <a:cs typeface="Helvetica"/>
              </a:rPr>
              <a:t>b = 1  </a:t>
            </a: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b 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9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b/</a:t>
            </a:r>
            <a:r>
              <a:rPr sz="2000" dirty="0">
                <a:latin typeface="Helvetica"/>
                <a:cs typeface="Helvetica"/>
              </a:rPr>
              <a:t>0}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68191" y="2664434"/>
            <a:ext cx="1579245" cy="7874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695"/>
              </a:spcBef>
            </a:pPr>
            <a:r>
              <a:rPr sz="2000" i="1" dirty="0">
                <a:latin typeface="Helvetica"/>
                <a:cs typeface="Helvetica"/>
              </a:rPr>
              <a:t>c =</a:t>
            </a:r>
            <a:r>
              <a:rPr sz="2000" i="1" spc="-4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c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</a:t>
            </a:r>
            <a:r>
              <a:rPr sz="2000" spc="-30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c/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6203" y="2342330"/>
            <a:ext cx="2127250" cy="7105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395"/>
              </a:spcBef>
            </a:pPr>
            <a:r>
              <a:rPr sz="2000" i="1" dirty="0">
                <a:latin typeface="Helvetica"/>
                <a:cs typeface="Helvetica"/>
              </a:rPr>
              <a:t>d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R="5080" algn="ctr">
              <a:lnSpc>
                <a:spcPct val="100000"/>
              </a:lnSpc>
              <a:spcBef>
                <a:spcPts val="295"/>
              </a:spcBef>
            </a:pPr>
            <a:r>
              <a:rPr sz="2000" i="1" spc="10" dirty="0">
                <a:latin typeface="Helvetica"/>
                <a:cs typeface="Helvetica"/>
              </a:rPr>
              <a:t>L</a:t>
            </a:r>
            <a:r>
              <a:rPr sz="1950" i="1" spc="15" baseline="-21367" dirty="0">
                <a:latin typeface="Helvetica"/>
                <a:cs typeface="Helvetica"/>
              </a:rPr>
              <a:t>d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 </a:t>
            </a:r>
            <a:r>
              <a:rPr sz="2000" i="1" spc="-5" dirty="0">
                <a:latin typeface="Helvetica"/>
                <a:cs typeface="Helvetica"/>
              </a:rPr>
              <a:t>c/</a:t>
            </a:r>
            <a:r>
              <a:rPr sz="2000" spc="-5" dirty="0">
                <a:latin typeface="Helvetica"/>
                <a:cs typeface="Helvetica"/>
              </a:rPr>
              <a:t>1 </a:t>
            </a:r>
            <a:r>
              <a:rPr sz="2000" dirty="0">
                <a:latin typeface="Helvetica"/>
                <a:cs typeface="Helvetica"/>
              </a:rPr>
              <a:t>,</a:t>
            </a:r>
            <a:r>
              <a:rPr sz="2000" spc="-15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d/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1377" y="3388995"/>
            <a:ext cx="212725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384" algn="ctr">
              <a:lnSpc>
                <a:spcPts val="226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e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R="5080" algn="ctr">
              <a:lnSpc>
                <a:spcPts val="2260"/>
              </a:lnSpc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e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 </a:t>
            </a:r>
            <a:r>
              <a:rPr sz="2000" i="1" dirty="0">
                <a:latin typeface="Helvetica"/>
                <a:cs typeface="Helvetica"/>
              </a:rPr>
              <a:t>c/</a:t>
            </a:r>
            <a:r>
              <a:rPr sz="2000" dirty="0">
                <a:latin typeface="Helvetica"/>
                <a:cs typeface="Helvetica"/>
              </a:rPr>
              <a:t>1 ,</a:t>
            </a:r>
            <a:r>
              <a:rPr sz="2000" spc="-15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e/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34685" y="3004565"/>
            <a:ext cx="109727" cy="109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22409" y="3977068"/>
            <a:ext cx="3312160" cy="5187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lang="en-US" sz="1600" b="1" i="1" dirty="0">
                <a:solidFill>
                  <a:srgbClr val="00B050"/>
                </a:solidFill>
                <a:latin typeface="Helvetica"/>
                <a:cs typeface="Helvetica"/>
              </a:rPr>
              <a:t>Pattern is ab=[01]</a:t>
            </a:r>
            <a:endParaRPr lang="en-US" sz="1600" b="1" i="1" spc="-45" dirty="0">
              <a:solidFill>
                <a:srgbClr val="00B050"/>
              </a:solidFill>
              <a:latin typeface="HelveticaNeue-BoldItalic"/>
              <a:cs typeface="HelveticaNeue-BoldItalic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1600" spc="-45" dirty="0">
                <a:solidFill>
                  <a:srgbClr val="0000FF"/>
                </a:solidFill>
                <a:latin typeface="HelveticaNeue-BoldItalic"/>
                <a:cs typeface="HelveticaNeue-BoldItalic"/>
              </a:rPr>
              <a:t>Assume SSFs: a/1, b/0, c/1, d/1, e/1 </a:t>
            </a:r>
            <a:endParaRPr lang="en-US" sz="1600" dirty="0">
              <a:solidFill>
                <a:srgbClr val="0000FF"/>
              </a:solidFill>
              <a:latin typeface="Helvetica"/>
              <a:cs typeface="Helvetic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27ECB1-64C0-8E29-A296-8E3C41087B7E}"/>
              </a:ext>
            </a:extLst>
          </p:cNvPr>
          <p:cNvSpPr/>
          <p:nvPr/>
        </p:nvSpPr>
        <p:spPr>
          <a:xfrm>
            <a:off x="5895961" y="3521622"/>
            <a:ext cx="3352800" cy="711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AE3BF3-0039-9A79-47EC-A5D12586FB52}"/>
              </a:ext>
            </a:extLst>
          </p:cNvPr>
          <p:cNvSpPr/>
          <p:nvPr/>
        </p:nvSpPr>
        <p:spPr>
          <a:xfrm>
            <a:off x="5715000" y="2540337"/>
            <a:ext cx="3352800" cy="711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621AFB-8D5A-A56C-FE4A-B8E03247CAA4}"/>
              </a:ext>
            </a:extLst>
          </p:cNvPr>
          <p:cNvSpPr txBox="1"/>
          <p:nvPr/>
        </p:nvSpPr>
        <p:spPr>
          <a:xfrm>
            <a:off x="5495541" y="4470737"/>
            <a:ext cx="30679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-BoldItalicMT"/>
              </a:rPr>
              <a:t>Detected faults are those in the fault lists of the POs</a:t>
            </a: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725663FE-CAD6-7C48-01A3-643A749BC1F5}"/>
              </a:ext>
            </a:extLst>
          </p:cNvPr>
          <p:cNvSpPr txBox="1"/>
          <p:nvPr/>
        </p:nvSpPr>
        <p:spPr>
          <a:xfrm>
            <a:off x="1698069" y="5846860"/>
            <a:ext cx="5867400" cy="52899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284"/>
              </a:spcBef>
            </a:pPr>
            <a:r>
              <a:rPr lang="en-US" sz="3200" b="1" spc="-60" dirty="0">
                <a:solidFill>
                  <a:srgbClr val="FF0000"/>
                </a:solidFill>
                <a:latin typeface="Helvetica"/>
                <a:cs typeface="Helvetica"/>
              </a:rPr>
              <a:t>Eliminates per fault simulation </a:t>
            </a:r>
            <a:endParaRPr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1406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9" grpId="0" animBg="1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FD89-7EC5-BDD6-FDE8-2D85453A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593E89-C022-D422-4FBE-FD63FA737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747" y="164414"/>
            <a:ext cx="76587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Deductive </a:t>
            </a:r>
            <a:r>
              <a:rPr spc="-5" dirty="0"/>
              <a:t>Fault </a:t>
            </a:r>
            <a:r>
              <a:rPr dirty="0"/>
              <a:t>Simulation </a:t>
            </a:r>
            <a:r>
              <a:rPr sz="1800" spc="-10" dirty="0"/>
              <a:t>[Armstrong</a:t>
            </a:r>
            <a:r>
              <a:rPr sz="1800" spc="30" dirty="0"/>
              <a:t> </a:t>
            </a:r>
            <a:r>
              <a:rPr sz="1800" spc="-10" dirty="0"/>
              <a:t>72]</a:t>
            </a:r>
            <a:endParaRPr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517226B-EF26-452A-36DD-D9D088619AD3}"/>
                  </a:ext>
                </a:extLst>
              </p:cNvPr>
              <p:cNvSpPr txBox="1"/>
              <p:nvPr/>
            </p:nvSpPr>
            <p:spPr>
              <a:xfrm>
                <a:off x="100176" y="932433"/>
                <a:ext cx="9043823" cy="217816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68300" indent="-342900">
                  <a:lnSpc>
                    <a:spcPct val="100000"/>
                  </a:lnSpc>
                  <a:spcBef>
                    <a:spcPts val="480"/>
                  </a:spcBef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4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i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: Fault </a:t>
                </a:r>
                <a:r>
                  <a:rPr lang="en-US" sz="2000" b="1" i="1" spc="-5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list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of signal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i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Fault </a:t>
                </a:r>
                <a:r>
                  <a:rPr lang="en-US" sz="2000" b="1" i="1" spc="30" dirty="0">
                    <a:solidFill>
                      <a:srgbClr val="0000FF"/>
                    </a:solidFill>
                    <a:latin typeface="Arial-BoldItalicMT"/>
                    <a:cs typeface="Arial"/>
                  </a:rPr>
                  <a:t>f</a:t>
                </a:r>
                <a14:m>
                  <m:oMath xmlns:m="http://schemas.openxmlformats.org/officeDocument/2006/math">
                    <m:r>
                      <a:rPr lang="en-US" sz="2000" b="1" i="1" spc="3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-BoldItalicMT"/>
                      </a:rPr>
                      <m:t>  ∈</m:t>
                    </m:r>
                  </m:oMath>
                </a14:m>
                <a:r>
                  <a:rPr lang="en-US" sz="2000" b="1" i="1" spc="30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7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i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, </a:t>
                </a:r>
                <a:r>
                  <a:rPr lang="en-US" sz="2000" b="1" dirty="0">
                    <a:latin typeface="Arial"/>
                    <a:cs typeface="Arial"/>
                  </a:rPr>
                  <a:t>if </a:t>
                </a:r>
                <a:r>
                  <a:rPr lang="en-US" sz="2000" b="1" i="1" dirty="0">
                    <a:latin typeface="Arial-BoldItalicMT"/>
                    <a:cs typeface="Arial"/>
                  </a:rPr>
                  <a:t>i</a:t>
                </a:r>
                <a:r>
                  <a:rPr lang="en-US" sz="2000" b="1" dirty="0">
                    <a:latin typeface="Arial"/>
                    <a:cs typeface="Arial"/>
                  </a:rPr>
                  <a:t>’s </a:t>
                </a:r>
                <a:r>
                  <a:rPr lang="en-US" sz="2000" b="1" spc="-5" dirty="0">
                    <a:solidFill>
                      <a:srgbClr val="0000FF"/>
                    </a:solidFill>
                    <a:latin typeface="Arial"/>
                    <a:cs typeface="Arial"/>
                  </a:rPr>
                  <a:t>value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changes in the presence of</a:t>
                </a:r>
                <a:r>
                  <a:rPr lang="en-US" sz="2000" b="1" spc="-114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i="1" spc="150" dirty="0">
                    <a:solidFill>
                      <a:srgbClr val="0000FF"/>
                    </a:solidFill>
                    <a:latin typeface="Arial-BoldItalicMT"/>
                    <a:cs typeface="Arial"/>
                  </a:rPr>
                  <a:t>f</a:t>
                </a:r>
                <a:endParaRPr lang="en-US" sz="2000" b="1" dirty="0">
                  <a:latin typeface="Arial"/>
                  <a:cs typeface="Arial"/>
                </a:endParaRPr>
              </a:p>
              <a:p>
                <a:pPr marL="368300" indent="-342900">
                  <a:lnSpc>
                    <a:spcPct val="100000"/>
                  </a:lnSpc>
                  <a:spcBef>
                    <a:spcPts val="480"/>
                  </a:spcBef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Fault </a:t>
                </a:r>
                <a:r>
                  <a:rPr lang="en-US" sz="2000" b="1" i="1" spc="-5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list</a:t>
                </a:r>
                <a:r>
                  <a:rPr lang="en-US" sz="2000" b="1" i="1" spc="-45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propagation example </a:t>
                </a:r>
                <a:r>
                  <a:rPr lang="en-US" sz="2000" b="1" dirty="0">
                    <a:latin typeface="Arial-BoldItalicMT"/>
                    <a:cs typeface="Arial-BoldItalicMT"/>
                  </a:rPr>
                  <a:t>(for pattern ab=01)</a:t>
                </a:r>
                <a:endParaRPr lang="en-US" sz="2000" dirty="0">
                  <a:latin typeface="Arial-BoldItalicMT"/>
                  <a:cs typeface="Arial-BoldItalicMT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-BoldItalicMT"/>
                    <a:cs typeface="Arial-BoldItalicMT"/>
                  </a:rPr>
                  <a:t>Assume SSF at each location opposite to its fault-free simulation value for pattern </a:t>
                </a:r>
                <a:r>
                  <a:rPr lang="en-US" sz="2000" b="1" dirty="0">
                    <a:solidFill>
                      <a:srgbClr val="00B050"/>
                    </a:solidFill>
                    <a:latin typeface="Arial-BoldItalicMT"/>
                    <a:cs typeface="Arial-BoldItalicMT"/>
                  </a:rPr>
                  <a:t>ab=01</a:t>
                </a: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-BoldItalicMT"/>
                    <a:cs typeface="Arial-BoldItalicMT"/>
                  </a:rPr>
                  <a:t>At primary inputs create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18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a </a:t>
                </a:r>
                <a:r>
                  <a:rPr lang="en-US" sz="2000" b="1" dirty="0">
                    <a:latin typeface="Arial-BoldItalicMT"/>
                    <a:cs typeface="Arial-BoldItalicMT"/>
                  </a:rPr>
                  <a:t>and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b</a:t>
                </a:r>
                <a:endParaRPr lang="en-US" sz="2000" b="1" i="1" baseline="-21367" dirty="0">
                  <a:solidFill>
                    <a:srgbClr val="FF0000"/>
                  </a:solidFill>
                  <a:latin typeface="Arial-BoldItalicMT"/>
                  <a:cs typeface="Arial-BoldItalicMT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5517226B-EF26-452A-36DD-D9D088619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76" y="932433"/>
                <a:ext cx="9043823" cy="2178160"/>
              </a:xfrm>
              <a:prstGeom prst="rect">
                <a:avLst/>
              </a:prstGeom>
              <a:blipFill>
                <a:blip r:embed="rId3"/>
                <a:stretch>
                  <a:fillRect l="-1964" t="-5814" b="-6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>
            <a:extLst>
              <a:ext uri="{FF2B5EF4-FFF2-40B4-BE49-F238E27FC236}">
                <a16:creationId xmlns:a16="http://schemas.microsoft.com/office/drawing/2014/main" id="{126868D3-5E47-85F3-13BD-97DA79378B14}"/>
              </a:ext>
            </a:extLst>
          </p:cNvPr>
          <p:cNvSpPr/>
          <p:nvPr/>
        </p:nvSpPr>
        <p:spPr>
          <a:xfrm>
            <a:off x="762000" y="3581400"/>
            <a:ext cx="7922259" cy="2231390"/>
          </a:xfrm>
          <a:custGeom>
            <a:avLst/>
            <a:gdLst/>
            <a:ahLst/>
            <a:cxnLst/>
            <a:rect l="l" t="t" r="r" b="b"/>
            <a:pathLst>
              <a:path w="7922259" h="2231390">
                <a:moveTo>
                  <a:pt x="0" y="2231136"/>
                </a:moveTo>
                <a:lnTo>
                  <a:pt x="7921752" y="2231136"/>
                </a:lnTo>
                <a:lnTo>
                  <a:pt x="7921752" y="0"/>
                </a:lnTo>
                <a:lnTo>
                  <a:pt x="0" y="0"/>
                </a:lnTo>
                <a:lnTo>
                  <a:pt x="0" y="22311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4218DA5-8878-53B3-C11F-6966BCAC1AA7}"/>
              </a:ext>
            </a:extLst>
          </p:cNvPr>
          <p:cNvSpPr/>
          <p:nvPr/>
        </p:nvSpPr>
        <p:spPr>
          <a:xfrm>
            <a:off x="3281933" y="4109466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0B51A8D-17D4-7FB5-22BA-2BF56D5016BA}"/>
              </a:ext>
            </a:extLst>
          </p:cNvPr>
          <p:cNvSpPr/>
          <p:nvPr/>
        </p:nvSpPr>
        <p:spPr>
          <a:xfrm>
            <a:off x="3281933" y="4109466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4F1F0F5-B206-1603-B438-59C68F232270}"/>
              </a:ext>
            </a:extLst>
          </p:cNvPr>
          <p:cNvSpPr/>
          <p:nvPr/>
        </p:nvSpPr>
        <p:spPr>
          <a:xfrm>
            <a:off x="1914906" y="3821430"/>
            <a:ext cx="1378585" cy="367030"/>
          </a:xfrm>
          <a:custGeom>
            <a:avLst/>
            <a:gdLst/>
            <a:ahLst/>
            <a:cxnLst/>
            <a:rect l="l" t="t" r="r" b="b"/>
            <a:pathLst>
              <a:path w="1378585" h="367029">
                <a:moveTo>
                  <a:pt x="0" y="0"/>
                </a:moveTo>
                <a:lnTo>
                  <a:pt x="689101" y="0"/>
                </a:lnTo>
                <a:lnTo>
                  <a:pt x="689101" y="366649"/>
                </a:lnTo>
                <a:lnTo>
                  <a:pt x="1378077" y="36664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E3DA120-ED9C-0527-E811-1C84FD97B64D}"/>
              </a:ext>
            </a:extLst>
          </p:cNvPr>
          <p:cNvSpPr/>
          <p:nvPr/>
        </p:nvSpPr>
        <p:spPr>
          <a:xfrm>
            <a:off x="1914906" y="4473701"/>
            <a:ext cx="1378585" cy="354330"/>
          </a:xfrm>
          <a:custGeom>
            <a:avLst/>
            <a:gdLst/>
            <a:ahLst/>
            <a:cxnLst/>
            <a:rect l="l" t="t" r="r" b="b"/>
            <a:pathLst>
              <a:path w="1378585" h="354329">
                <a:moveTo>
                  <a:pt x="0" y="353949"/>
                </a:moveTo>
                <a:lnTo>
                  <a:pt x="689101" y="353949"/>
                </a:lnTo>
                <a:lnTo>
                  <a:pt x="689101" y="0"/>
                </a:lnTo>
                <a:lnTo>
                  <a:pt x="13780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60021BC-9E6E-F4ED-F705-C2D496572BA8}"/>
              </a:ext>
            </a:extLst>
          </p:cNvPr>
          <p:cNvSpPr/>
          <p:nvPr/>
        </p:nvSpPr>
        <p:spPr>
          <a:xfrm>
            <a:off x="5442965" y="3790950"/>
            <a:ext cx="1619885" cy="503555"/>
          </a:xfrm>
          <a:custGeom>
            <a:avLst/>
            <a:gdLst/>
            <a:ahLst/>
            <a:cxnLst/>
            <a:rect l="l" t="t" r="r" b="b"/>
            <a:pathLst>
              <a:path w="1619884" h="503554">
                <a:moveTo>
                  <a:pt x="0" y="503174"/>
                </a:moveTo>
                <a:lnTo>
                  <a:pt x="0" y="0"/>
                </a:lnTo>
                <a:lnTo>
                  <a:pt x="1619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E24CB84-BEB0-33A6-41C8-8A1532D87E82}"/>
              </a:ext>
            </a:extLst>
          </p:cNvPr>
          <p:cNvSpPr/>
          <p:nvPr/>
        </p:nvSpPr>
        <p:spPr>
          <a:xfrm>
            <a:off x="3713226" y="4325874"/>
            <a:ext cx="3312160" cy="504825"/>
          </a:xfrm>
          <a:custGeom>
            <a:avLst/>
            <a:gdLst/>
            <a:ahLst/>
            <a:cxnLst/>
            <a:rect l="l" t="t" r="r" b="b"/>
            <a:pathLst>
              <a:path w="3312159" h="504825">
                <a:moveTo>
                  <a:pt x="0" y="0"/>
                </a:moveTo>
                <a:lnTo>
                  <a:pt x="1720722" y="0"/>
                </a:lnTo>
                <a:lnTo>
                  <a:pt x="1720722" y="504825"/>
                </a:lnTo>
                <a:lnTo>
                  <a:pt x="3311778" y="50482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C91F6D9-4E43-176B-CAD6-432EA1071FDF}"/>
              </a:ext>
            </a:extLst>
          </p:cNvPr>
          <p:cNvSpPr txBox="1"/>
          <p:nvPr/>
        </p:nvSpPr>
        <p:spPr>
          <a:xfrm>
            <a:off x="1042314" y="3649472"/>
            <a:ext cx="1110615" cy="160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060">
              <a:lnSpc>
                <a:spcPts val="226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 =</a:t>
            </a:r>
            <a:r>
              <a:rPr sz="2000" i="1" spc="-5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ts val="2260"/>
              </a:lnSpc>
            </a:pPr>
            <a:r>
              <a:rPr sz="2000" i="1" spc="10" dirty="0">
                <a:latin typeface="Helvetica"/>
                <a:cs typeface="Helvetica"/>
              </a:rPr>
              <a:t>L</a:t>
            </a:r>
            <a:r>
              <a:rPr sz="1950" i="1" spc="15" baseline="-21367" dirty="0">
                <a:latin typeface="Helvetica"/>
                <a:cs typeface="Helvetica"/>
              </a:rPr>
              <a:t>a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9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Helvetica"/>
              <a:cs typeface="Helvetica"/>
            </a:endParaRPr>
          </a:p>
          <a:p>
            <a:pPr marL="226060">
              <a:lnSpc>
                <a:spcPts val="2270"/>
              </a:lnSpc>
            </a:pPr>
            <a:r>
              <a:rPr sz="2000" i="1" dirty="0">
                <a:latin typeface="Helvetica"/>
                <a:cs typeface="Helvetica"/>
              </a:rPr>
              <a:t>b =</a:t>
            </a:r>
            <a:r>
              <a:rPr sz="2000" i="1" spc="-6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ts val="2270"/>
              </a:lnSpc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b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7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b/</a:t>
            </a:r>
            <a:r>
              <a:rPr sz="2000" dirty="0">
                <a:latin typeface="Helvetica"/>
                <a:cs typeface="Helvetica"/>
              </a:rPr>
              <a:t>0}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5D18C3A-9341-98B2-5417-8BEBAB830C42}"/>
              </a:ext>
            </a:extLst>
          </p:cNvPr>
          <p:cNvSpPr txBox="1"/>
          <p:nvPr/>
        </p:nvSpPr>
        <p:spPr>
          <a:xfrm>
            <a:off x="3719321" y="3933037"/>
            <a:ext cx="1579245" cy="39690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695"/>
              </a:spcBef>
            </a:pPr>
            <a:r>
              <a:rPr sz="2000" i="1" dirty="0">
                <a:latin typeface="Helvetica"/>
                <a:cs typeface="Helvetica"/>
              </a:rPr>
              <a:t>c =</a:t>
            </a:r>
            <a:r>
              <a:rPr sz="2000" i="1" spc="-4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36AD2DA-55C2-0BE1-EE98-B02257F4EDD7}"/>
              </a:ext>
            </a:extLst>
          </p:cNvPr>
          <p:cNvSpPr txBox="1"/>
          <p:nvPr/>
        </p:nvSpPr>
        <p:spPr>
          <a:xfrm>
            <a:off x="6347333" y="3610711"/>
            <a:ext cx="2127885" cy="358431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42545" algn="ctr">
              <a:lnSpc>
                <a:spcPct val="100000"/>
              </a:lnSpc>
              <a:spcBef>
                <a:spcPts val="395"/>
              </a:spcBef>
            </a:pPr>
            <a:r>
              <a:rPr sz="2000" i="1" dirty="0">
                <a:latin typeface="Helvetica"/>
                <a:cs typeface="Helvetica"/>
              </a:rPr>
              <a:t>d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1846BE2-0980-22E9-8C3F-4AFBC796E11F}"/>
              </a:ext>
            </a:extLst>
          </p:cNvPr>
          <p:cNvSpPr txBox="1"/>
          <p:nvPr/>
        </p:nvSpPr>
        <p:spPr>
          <a:xfrm>
            <a:off x="6342507" y="4657724"/>
            <a:ext cx="2127250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384" algn="ctr">
              <a:lnSpc>
                <a:spcPts val="226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e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0B03915-5469-8F05-923B-7C0F3976CE0F}"/>
              </a:ext>
            </a:extLst>
          </p:cNvPr>
          <p:cNvSpPr/>
          <p:nvPr/>
        </p:nvSpPr>
        <p:spPr>
          <a:xfrm>
            <a:off x="5385815" y="4273295"/>
            <a:ext cx="109727" cy="1097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DD1CFBE5-2552-F018-D1AA-E49B278BAB3E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33</a:t>
            </a:fld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2131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E3174-44AC-C534-A253-D5E5D538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3CB833-C572-A9F3-6647-AF7CCC007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747" y="164414"/>
            <a:ext cx="76587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Deductive </a:t>
            </a:r>
            <a:r>
              <a:rPr spc="-5" dirty="0"/>
              <a:t>Fault </a:t>
            </a:r>
            <a:r>
              <a:rPr dirty="0"/>
              <a:t>Simulation </a:t>
            </a:r>
            <a:r>
              <a:rPr sz="1800" spc="-10" dirty="0"/>
              <a:t>[Armstrong</a:t>
            </a:r>
            <a:r>
              <a:rPr sz="1800" spc="30" dirty="0"/>
              <a:t> </a:t>
            </a:r>
            <a:r>
              <a:rPr sz="1800" spc="-10" dirty="0"/>
              <a:t>72]</a:t>
            </a:r>
            <a:endParaRPr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17845B3-94F4-25E8-7A59-50CD7367142D}"/>
                  </a:ext>
                </a:extLst>
              </p:cNvPr>
              <p:cNvSpPr txBox="1"/>
              <p:nvPr/>
            </p:nvSpPr>
            <p:spPr>
              <a:xfrm>
                <a:off x="557378" y="932433"/>
                <a:ext cx="8006104" cy="2614177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68300" indent="-342900">
                  <a:lnSpc>
                    <a:spcPct val="100000"/>
                  </a:lnSpc>
                  <a:spcBef>
                    <a:spcPts val="480"/>
                  </a:spcBef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4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i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: Fault </a:t>
                </a:r>
                <a:r>
                  <a:rPr lang="en-US" sz="2000" b="1" i="1" spc="-5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list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of signal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i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Fault </a:t>
                </a:r>
                <a:r>
                  <a:rPr lang="en-US" sz="2000" b="1" i="1" spc="30" dirty="0">
                    <a:solidFill>
                      <a:srgbClr val="0000FF"/>
                    </a:solidFill>
                    <a:latin typeface="Arial-BoldItalicMT"/>
                    <a:cs typeface="Arial"/>
                  </a:rPr>
                  <a:t>f</a:t>
                </a:r>
                <a14:m>
                  <m:oMath xmlns:m="http://schemas.openxmlformats.org/officeDocument/2006/math">
                    <m:r>
                      <a:rPr lang="en-US" sz="2000" b="1" i="1" spc="3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-BoldItalicMT"/>
                      </a:rPr>
                      <m:t>  ∈</m:t>
                    </m:r>
                  </m:oMath>
                </a14:m>
                <a:r>
                  <a:rPr lang="en-US" sz="2000" b="1" i="1" spc="30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7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i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, </a:t>
                </a:r>
                <a:r>
                  <a:rPr lang="en-US" sz="2000" b="1" dirty="0">
                    <a:latin typeface="Arial"/>
                    <a:cs typeface="Arial"/>
                  </a:rPr>
                  <a:t>if </a:t>
                </a:r>
                <a:r>
                  <a:rPr lang="en-US" sz="2000" b="1" i="1" dirty="0">
                    <a:latin typeface="Arial-BoldItalicMT"/>
                    <a:cs typeface="Arial"/>
                  </a:rPr>
                  <a:t>i</a:t>
                </a:r>
                <a:r>
                  <a:rPr lang="en-US" sz="2000" b="1" dirty="0">
                    <a:latin typeface="Arial"/>
                    <a:cs typeface="Arial"/>
                  </a:rPr>
                  <a:t>’s </a:t>
                </a:r>
                <a:r>
                  <a:rPr lang="en-US" sz="2000" b="1" spc="-5" dirty="0">
                    <a:solidFill>
                      <a:srgbClr val="0000FF"/>
                    </a:solidFill>
                    <a:latin typeface="Arial"/>
                    <a:cs typeface="Arial"/>
                  </a:rPr>
                  <a:t>value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changes in the presence of</a:t>
                </a:r>
                <a:r>
                  <a:rPr lang="en-US" sz="2000" b="1" spc="-114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i="1" spc="150" dirty="0">
                    <a:solidFill>
                      <a:srgbClr val="0000FF"/>
                    </a:solidFill>
                    <a:latin typeface="Arial-BoldItalicMT"/>
                    <a:cs typeface="Arial"/>
                  </a:rPr>
                  <a:t>f</a:t>
                </a:r>
                <a:endParaRPr lang="en-US" sz="2000" b="1" dirty="0">
                  <a:latin typeface="Arial-BoldItalicMT"/>
                  <a:cs typeface="Arial-BoldItalicMT"/>
                </a:endParaRPr>
              </a:p>
              <a:p>
                <a:pPr marL="311785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-BoldItalicMT"/>
                    <a:cs typeface="Arial-BoldItalicMT"/>
                  </a:rPr>
                  <a:t>To compute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c</a:t>
                </a:r>
                <a:r>
                  <a:rPr lang="en-US" sz="2000" b="1" dirty="0">
                    <a:latin typeface="Arial-BoldItalicMT"/>
                    <a:cs typeface="Arial-BoldItalicMT"/>
                  </a:rPr>
                  <a:t> :</a:t>
                </a:r>
              </a:p>
              <a:p>
                <a:pPr marL="768985" lvl="1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i="1" dirty="0">
                    <a:latin typeface="Arial-BoldItalicMT"/>
                    <a:cs typeface="Arial-BoldItalicMT"/>
                  </a:rPr>
                  <a:t>a/1 </a:t>
                </a:r>
                <a:r>
                  <a:rPr lang="en-US" sz="2000" b="1" dirty="0">
                    <a:latin typeface="Arial"/>
                    <a:cs typeface="Arial"/>
                  </a:rPr>
                  <a:t>in </a:t>
                </a:r>
                <a:r>
                  <a:rPr lang="en-US" sz="2000" b="1" i="1" spc="5" dirty="0"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7" baseline="-21367" dirty="0">
                    <a:latin typeface="Arial-BoldItalicMT"/>
                    <a:cs typeface="Arial-BoldItalicMT"/>
                  </a:rPr>
                  <a:t>a </a:t>
                </a:r>
                <a:r>
                  <a:rPr lang="en-US" sz="2000" b="1" dirty="0">
                    <a:latin typeface="Arial"/>
                    <a:cs typeface="Arial"/>
                  </a:rPr>
                  <a:t>is “propagated” to </a:t>
                </a:r>
                <a:r>
                  <a:rPr lang="en-US" sz="2000" b="1" i="1" spc="5" dirty="0"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7" baseline="-21367" dirty="0">
                    <a:latin typeface="Arial-BoldItalicMT"/>
                    <a:cs typeface="Arial-BoldItalicMT"/>
                  </a:rPr>
                  <a:t>c </a:t>
                </a:r>
              </a:p>
              <a:p>
                <a:pPr marL="1226185" lvl="2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Since </a:t>
                </a:r>
                <a:r>
                  <a:rPr lang="en-US" sz="2000" b="1" dirty="0">
                    <a:solidFill>
                      <a:srgbClr val="00B050"/>
                    </a:solidFill>
                    <a:latin typeface="Arial"/>
                    <a:cs typeface="Arial"/>
                  </a:rPr>
                  <a:t>b=1</a:t>
                </a:r>
                <a:r>
                  <a:rPr lang="en-US" sz="2000" b="1" dirty="0">
                    <a:latin typeface="Arial"/>
                    <a:cs typeface="Arial"/>
                  </a:rPr>
                  <a:t>, c </a:t>
                </a:r>
                <a:r>
                  <a:rPr lang="en-US" sz="2000" b="1" spc="-5" dirty="0">
                    <a:latin typeface="Arial"/>
                    <a:cs typeface="Arial"/>
                  </a:rPr>
                  <a:t>is </a:t>
                </a:r>
                <a:r>
                  <a:rPr lang="en-US" sz="2000" b="1" dirty="0">
                    <a:latin typeface="Arial"/>
                    <a:cs typeface="Arial"/>
                  </a:rPr>
                  <a:t>changed from 0 to 1 </a:t>
                </a:r>
                <a:r>
                  <a:rPr lang="en-US" sz="2000" b="1" spc="5" dirty="0">
                    <a:latin typeface="Arial"/>
                    <a:cs typeface="Arial"/>
                  </a:rPr>
                  <a:t>when</a:t>
                </a:r>
                <a:r>
                  <a:rPr lang="en-US" sz="2000" b="1" spc="-365" dirty="0">
                    <a:latin typeface="Arial"/>
                    <a:cs typeface="Arial"/>
                  </a:rPr>
                  <a:t> </a:t>
                </a:r>
                <a:r>
                  <a:rPr lang="en-US" sz="2000" b="1" i="1" dirty="0">
                    <a:latin typeface="Arial"/>
                    <a:cs typeface="Arial"/>
                  </a:rPr>
                  <a:t>a/1</a:t>
                </a:r>
                <a:r>
                  <a:rPr lang="en-US" sz="2000" b="1" dirty="0">
                    <a:latin typeface="Arial"/>
                    <a:cs typeface="Arial"/>
                  </a:rPr>
                  <a:t> 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i="1" spc="-5" dirty="0">
                    <a:latin typeface="Arial-BoldItalicMT"/>
                    <a:cs typeface="Arial-BoldItalicMT"/>
                  </a:rPr>
                  <a:t>b/0 </a:t>
                </a:r>
                <a:r>
                  <a:rPr lang="en-US" sz="2000" b="1" dirty="0">
                    <a:latin typeface="Arial"/>
                    <a:cs typeface="Arial"/>
                  </a:rPr>
                  <a:t>in </a:t>
                </a:r>
                <a:r>
                  <a:rPr lang="en-US" sz="2000" b="1" i="1" spc="10" dirty="0"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15" baseline="-21367" dirty="0">
                    <a:latin typeface="Arial-BoldItalicMT"/>
                    <a:cs typeface="Arial-BoldItalicMT"/>
                  </a:rPr>
                  <a:t>b </a:t>
                </a:r>
                <a:r>
                  <a:rPr lang="en-US" sz="2000" b="1" dirty="0">
                    <a:latin typeface="Arial"/>
                    <a:cs typeface="Arial"/>
                  </a:rPr>
                  <a:t>is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NOT </a:t>
                </a:r>
                <a:r>
                  <a:rPr lang="en-US" sz="2000" b="1" dirty="0">
                    <a:latin typeface="Arial"/>
                    <a:cs typeface="Arial"/>
                  </a:rPr>
                  <a:t>propagated to </a:t>
                </a:r>
                <a:r>
                  <a:rPr lang="en-US" sz="2000" b="1" i="1" spc="5" dirty="0"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7" baseline="-21367" dirty="0">
                    <a:latin typeface="Arial-BoldItalicMT"/>
                    <a:cs typeface="Arial-BoldItalicMT"/>
                  </a:rPr>
                  <a:t>c </a:t>
                </a:r>
              </a:p>
              <a:p>
                <a:pPr marL="1226185" lvl="2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Since </a:t>
                </a:r>
                <a:r>
                  <a:rPr lang="en-US" sz="2000" b="1" dirty="0">
                    <a:solidFill>
                      <a:srgbClr val="00B050"/>
                    </a:solidFill>
                    <a:latin typeface="Arial"/>
                    <a:cs typeface="Arial"/>
                  </a:rPr>
                  <a:t>a=0</a:t>
                </a:r>
                <a:r>
                  <a:rPr lang="en-US" sz="2000" b="1" dirty="0">
                    <a:latin typeface="Arial"/>
                    <a:cs typeface="Arial"/>
                  </a:rPr>
                  <a:t>, c </a:t>
                </a:r>
                <a:r>
                  <a:rPr lang="en-US" sz="2000" b="1" spc="-5" dirty="0">
                    <a:latin typeface="Arial"/>
                    <a:cs typeface="Arial"/>
                  </a:rPr>
                  <a:t>is </a:t>
                </a:r>
                <a:r>
                  <a:rPr lang="en-US" sz="2000" b="1" dirty="0">
                    <a:latin typeface="Arial"/>
                    <a:cs typeface="Arial"/>
                  </a:rPr>
                  <a:t>unchanged (remains c=0) </a:t>
                </a:r>
                <a:r>
                  <a:rPr lang="en-US" sz="2000" b="1" spc="10" dirty="0">
                    <a:latin typeface="Arial"/>
                    <a:cs typeface="Arial"/>
                  </a:rPr>
                  <a:t>when</a:t>
                </a:r>
                <a:r>
                  <a:rPr lang="en-US" sz="2000" b="1" spc="-170" dirty="0">
                    <a:latin typeface="Arial"/>
                    <a:cs typeface="Arial"/>
                  </a:rPr>
                  <a:t> </a:t>
                </a:r>
                <a:r>
                  <a:rPr lang="en-US" sz="2000" b="1" i="1" spc="-5" dirty="0">
                    <a:latin typeface="Arial-BoldItalicMT"/>
                    <a:cs typeface="Arial-BoldItalicMT"/>
                  </a:rPr>
                  <a:t>b</a:t>
                </a:r>
                <a:r>
                  <a:rPr lang="en-US" sz="2000" b="1" spc="-5" dirty="0">
                    <a:latin typeface="Arial"/>
                    <a:cs typeface="Arial"/>
                  </a:rPr>
                  <a:t>/</a:t>
                </a:r>
                <a:r>
                  <a:rPr lang="en-US" sz="2000" b="1" i="1" spc="-5" dirty="0">
                    <a:latin typeface="Arial-BoldItalicMT"/>
                    <a:cs typeface="Arial-BoldItalicMT"/>
                  </a:rPr>
                  <a:t>0</a:t>
                </a:r>
                <a:endParaRPr sz="2000" dirty="0">
                  <a:latin typeface="Arial-BoldItalicMT"/>
                  <a:cs typeface="Arial-BoldItalicMT"/>
                </a:endParaRPr>
              </a:p>
            </p:txBody>
          </p:sp>
        </mc:Choice>
        <mc:Fallback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17845B3-94F4-25E8-7A59-50CD73671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78" y="932433"/>
                <a:ext cx="8006104" cy="2614177"/>
              </a:xfrm>
              <a:prstGeom prst="rect">
                <a:avLst/>
              </a:prstGeom>
              <a:blipFill>
                <a:blip r:embed="rId3"/>
                <a:stretch>
                  <a:fillRect l="-2215" t="-4831" b="-4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>
            <a:extLst>
              <a:ext uri="{FF2B5EF4-FFF2-40B4-BE49-F238E27FC236}">
                <a16:creationId xmlns:a16="http://schemas.microsoft.com/office/drawing/2014/main" id="{A7420ABA-EDB8-2CD5-E5D1-5E648BF09AD6}"/>
              </a:ext>
            </a:extLst>
          </p:cNvPr>
          <p:cNvSpPr/>
          <p:nvPr/>
        </p:nvSpPr>
        <p:spPr>
          <a:xfrm>
            <a:off x="762000" y="3733800"/>
            <a:ext cx="7922259" cy="2231390"/>
          </a:xfrm>
          <a:custGeom>
            <a:avLst/>
            <a:gdLst/>
            <a:ahLst/>
            <a:cxnLst/>
            <a:rect l="l" t="t" r="r" b="b"/>
            <a:pathLst>
              <a:path w="7922259" h="2231390">
                <a:moveTo>
                  <a:pt x="0" y="2231136"/>
                </a:moveTo>
                <a:lnTo>
                  <a:pt x="7921752" y="2231136"/>
                </a:lnTo>
                <a:lnTo>
                  <a:pt x="7921752" y="0"/>
                </a:lnTo>
                <a:lnTo>
                  <a:pt x="0" y="0"/>
                </a:lnTo>
                <a:lnTo>
                  <a:pt x="0" y="22311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9377554-42BD-F744-9A4E-8E7E7C22BED9}"/>
              </a:ext>
            </a:extLst>
          </p:cNvPr>
          <p:cNvSpPr/>
          <p:nvPr/>
        </p:nvSpPr>
        <p:spPr>
          <a:xfrm>
            <a:off x="3281933" y="4261866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F6E47B-3ACD-51E0-29BD-F2AFCD3CFFCB}"/>
              </a:ext>
            </a:extLst>
          </p:cNvPr>
          <p:cNvSpPr/>
          <p:nvPr/>
        </p:nvSpPr>
        <p:spPr>
          <a:xfrm>
            <a:off x="3281933" y="4261866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8AD5314-4C6D-62E4-17C3-C6A9C934B684}"/>
              </a:ext>
            </a:extLst>
          </p:cNvPr>
          <p:cNvSpPr/>
          <p:nvPr/>
        </p:nvSpPr>
        <p:spPr>
          <a:xfrm>
            <a:off x="1914906" y="3973830"/>
            <a:ext cx="1378585" cy="367030"/>
          </a:xfrm>
          <a:custGeom>
            <a:avLst/>
            <a:gdLst/>
            <a:ahLst/>
            <a:cxnLst/>
            <a:rect l="l" t="t" r="r" b="b"/>
            <a:pathLst>
              <a:path w="1378585" h="367029">
                <a:moveTo>
                  <a:pt x="0" y="0"/>
                </a:moveTo>
                <a:lnTo>
                  <a:pt x="689101" y="0"/>
                </a:lnTo>
                <a:lnTo>
                  <a:pt x="689101" y="366649"/>
                </a:lnTo>
                <a:lnTo>
                  <a:pt x="1378077" y="36664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7E9610C-E7B0-2795-2A7C-41DEA01304FB}"/>
              </a:ext>
            </a:extLst>
          </p:cNvPr>
          <p:cNvSpPr/>
          <p:nvPr/>
        </p:nvSpPr>
        <p:spPr>
          <a:xfrm>
            <a:off x="1914906" y="4626101"/>
            <a:ext cx="1378585" cy="354330"/>
          </a:xfrm>
          <a:custGeom>
            <a:avLst/>
            <a:gdLst/>
            <a:ahLst/>
            <a:cxnLst/>
            <a:rect l="l" t="t" r="r" b="b"/>
            <a:pathLst>
              <a:path w="1378585" h="354329">
                <a:moveTo>
                  <a:pt x="0" y="353949"/>
                </a:moveTo>
                <a:lnTo>
                  <a:pt x="689101" y="353949"/>
                </a:lnTo>
                <a:lnTo>
                  <a:pt x="689101" y="0"/>
                </a:lnTo>
                <a:lnTo>
                  <a:pt x="13780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A435106-82A3-58FB-3C12-86A3E3B69FB7}"/>
              </a:ext>
            </a:extLst>
          </p:cNvPr>
          <p:cNvSpPr/>
          <p:nvPr/>
        </p:nvSpPr>
        <p:spPr>
          <a:xfrm>
            <a:off x="5442965" y="3943350"/>
            <a:ext cx="1619885" cy="503555"/>
          </a:xfrm>
          <a:custGeom>
            <a:avLst/>
            <a:gdLst/>
            <a:ahLst/>
            <a:cxnLst/>
            <a:rect l="l" t="t" r="r" b="b"/>
            <a:pathLst>
              <a:path w="1619884" h="503554">
                <a:moveTo>
                  <a:pt x="0" y="503174"/>
                </a:moveTo>
                <a:lnTo>
                  <a:pt x="0" y="0"/>
                </a:lnTo>
                <a:lnTo>
                  <a:pt x="1619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D7D031E-236C-DEA8-A7B4-3755543CF782}"/>
              </a:ext>
            </a:extLst>
          </p:cNvPr>
          <p:cNvSpPr/>
          <p:nvPr/>
        </p:nvSpPr>
        <p:spPr>
          <a:xfrm>
            <a:off x="3713226" y="4478274"/>
            <a:ext cx="3312160" cy="504825"/>
          </a:xfrm>
          <a:custGeom>
            <a:avLst/>
            <a:gdLst/>
            <a:ahLst/>
            <a:cxnLst/>
            <a:rect l="l" t="t" r="r" b="b"/>
            <a:pathLst>
              <a:path w="3312159" h="504825">
                <a:moveTo>
                  <a:pt x="0" y="0"/>
                </a:moveTo>
                <a:lnTo>
                  <a:pt x="1720722" y="0"/>
                </a:lnTo>
                <a:lnTo>
                  <a:pt x="1720722" y="504825"/>
                </a:lnTo>
                <a:lnTo>
                  <a:pt x="3311778" y="50482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56398B1-1C48-7385-C1BA-785E26D7BDC6}"/>
              </a:ext>
            </a:extLst>
          </p:cNvPr>
          <p:cNvSpPr txBox="1"/>
          <p:nvPr/>
        </p:nvSpPr>
        <p:spPr>
          <a:xfrm>
            <a:off x="1042314" y="3801872"/>
            <a:ext cx="1110615" cy="160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060">
              <a:lnSpc>
                <a:spcPts val="226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 =</a:t>
            </a:r>
            <a:r>
              <a:rPr sz="2000" i="1" spc="-5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ts val="2260"/>
              </a:lnSpc>
            </a:pPr>
            <a:r>
              <a:rPr sz="2000" i="1" spc="10" dirty="0">
                <a:latin typeface="Helvetica"/>
                <a:cs typeface="Helvetica"/>
              </a:rPr>
              <a:t>L</a:t>
            </a:r>
            <a:r>
              <a:rPr sz="1950" i="1" spc="15" baseline="-21367" dirty="0">
                <a:latin typeface="Helvetica"/>
                <a:cs typeface="Helvetica"/>
              </a:rPr>
              <a:t>a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9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Helvetica"/>
              <a:cs typeface="Helvetica"/>
            </a:endParaRPr>
          </a:p>
          <a:p>
            <a:pPr marL="226060">
              <a:lnSpc>
                <a:spcPts val="2270"/>
              </a:lnSpc>
            </a:pPr>
            <a:r>
              <a:rPr sz="2000" i="1" dirty="0">
                <a:latin typeface="Helvetica"/>
                <a:cs typeface="Helvetica"/>
              </a:rPr>
              <a:t>b =</a:t>
            </a:r>
            <a:r>
              <a:rPr sz="2000" i="1" spc="-6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ts val="2270"/>
              </a:lnSpc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b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7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b/</a:t>
            </a:r>
            <a:r>
              <a:rPr sz="2000" dirty="0">
                <a:latin typeface="Helvetica"/>
                <a:cs typeface="Helvetica"/>
              </a:rPr>
              <a:t>0}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67714DA-1CCB-97D9-48BA-7F0E340E8B9F}"/>
              </a:ext>
            </a:extLst>
          </p:cNvPr>
          <p:cNvSpPr txBox="1"/>
          <p:nvPr/>
        </p:nvSpPr>
        <p:spPr>
          <a:xfrm>
            <a:off x="3719321" y="4085437"/>
            <a:ext cx="1579245" cy="7867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695"/>
              </a:spcBef>
            </a:pPr>
            <a:r>
              <a:rPr sz="2000" i="1" dirty="0">
                <a:latin typeface="Helvetica"/>
                <a:cs typeface="Helvetica"/>
              </a:rPr>
              <a:t>c =</a:t>
            </a:r>
            <a:r>
              <a:rPr sz="2000" i="1" spc="-4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ct val="100000"/>
              </a:lnSpc>
              <a:spcBef>
                <a:spcPts val="595"/>
              </a:spcBef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c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</a:t>
            </a:r>
            <a:r>
              <a:rPr sz="2000" spc="-30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c/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1F66956-5FFD-BEEC-E880-FFD5D5667465}"/>
              </a:ext>
            </a:extLst>
          </p:cNvPr>
          <p:cNvSpPr txBox="1"/>
          <p:nvPr/>
        </p:nvSpPr>
        <p:spPr>
          <a:xfrm>
            <a:off x="6347333" y="3763111"/>
            <a:ext cx="2127885" cy="358431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42545" algn="ctr">
              <a:lnSpc>
                <a:spcPct val="100000"/>
              </a:lnSpc>
              <a:spcBef>
                <a:spcPts val="395"/>
              </a:spcBef>
            </a:pPr>
            <a:r>
              <a:rPr sz="2000" i="1" dirty="0">
                <a:latin typeface="Helvetica"/>
                <a:cs typeface="Helvetica"/>
              </a:rPr>
              <a:t>d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DAF3314-0D76-FF2E-606E-FB985BEB98D3}"/>
              </a:ext>
            </a:extLst>
          </p:cNvPr>
          <p:cNvSpPr txBox="1"/>
          <p:nvPr/>
        </p:nvSpPr>
        <p:spPr>
          <a:xfrm>
            <a:off x="6342507" y="4810124"/>
            <a:ext cx="2127250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384" algn="ctr">
              <a:lnSpc>
                <a:spcPts val="226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e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125456-A26B-73D5-61B5-E757063E7205}"/>
              </a:ext>
            </a:extLst>
          </p:cNvPr>
          <p:cNvSpPr/>
          <p:nvPr/>
        </p:nvSpPr>
        <p:spPr>
          <a:xfrm>
            <a:off x="5385815" y="4425695"/>
            <a:ext cx="109727" cy="1097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278954DB-C49C-DB4F-BCFB-499847B80607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34</a:t>
            </a:fld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0070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F2C0-4BB6-5EB8-1100-83D50588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06CBF5-743C-5E18-015A-225F6F7BBD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4747" y="164414"/>
            <a:ext cx="76587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Deductive </a:t>
            </a:r>
            <a:r>
              <a:rPr spc="-5" dirty="0"/>
              <a:t>Fault </a:t>
            </a:r>
            <a:r>
              <a:rPr dirty="0"/>
              <a:t>Simulation </a:t>
            </a:r>
            <a:r>
              <a:rPr sz="1800" spc="-10" dirty="0"/>
              <a:t>[Armstrong</a:t>
            </a:r>
            <a:r>
              <a:rPr sz="1800" spc="30" dirty="0"/>
              <a:t> </a:t>
            </a:r>
            <a:r>
              <a:rPr sz="1800" spc="-10" dirty="0"/>
              <a:t>72]</a:t>
            </a:r>
            <a:endParaRPr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9BAE1E5-5757-CD66-7499-589B11B2388A}"/>
                  </a:ext>
                </a:extLst>
              </p:cNvPr>
              <p:cNvSpPr txBox="1"/>
              <p:nvPr/>
            </p:nvSpPr>
            <p:spPr>
              <a:xfrm>
                <a:off x="557378" y="932433"/>
                <a:ext cx="8006104" cy="180626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68300" indent="-342900">
                  <a:lnSpc>
                    <a:spcPct val="100000"/>
                  </a:lnSpc>
                  <a:spcBef>
                    <a:spcPts val="480"/>
                  </a:spcBef>
                  <a:buSzPct val="120000"/>
                  <a:buFont typeface="Arial"/>
                  <a:buChar char="•"/>
                  <a:tabLst>
                    <a:tab pos="367665" algn="l"/>
                    <a:tab pos="368300" algn="l"/>
                  </a:tabLst>
                </a:pPr>
                <a:r>
                  <a:rPr lang="en-US" sz="24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i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: Fault </a:t>
                </a:r>
                <a:r>
                  <a:rPr lang="en-US" sz="2000" b="1" i="1" spc="-5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list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of signal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i</a:t>
                </a:r>
                <a:endParaRPr lang="en-US" sz="2000" dirty="0">
                  <a:latin typeface="Arial"/>
                  <a:cs typeface="Arial"/>
                </a:endParaRPr>
              </a:p>
              <a:p>
                <a:pPr marL="768985" lvl="1" indent="-287020">
                  <a:lnSpc>
                    <a:spcPct val="100000"/>
                  </a:lnSpc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"/>
                    <a:cs typeface="Arial"/>
                  </a:rPr>
                  <a:t>Fault </a:t>
                </a:r>
                <a:r>
                  <a:rPr lang="en-US" sz="2000" b="1" i="1" spc="30" dirty="0">
                    <a:solidFill>
                      <a:srgbClr val="0000FF"/>
                    </a:solidFill>
                    <a:latin typeface="Arial-BoldItalicMT"/>
                    <a:cs typeface="Arial"/>
                  </a:rPr>
                  <a:t>f</a:t>
                </a:r>
                <a14:m>
                  <m:oMath xmlns:m="http://schemas.openxmlformats.org/officeDocument/2006/math">
                    <m:r>
                      <a:rPr lang="en-US" sz="2000" b="1" i="1" spc="3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-BoldItalicMT"/>
                      </a:rPr>
                      <m:t>  ∈</m:t>
                    </m:r>
                  </m:oMath>
                </a14:m>
                <a:r>
                  <a:rPr lang="en-US" sz="2000" b="1" i="1" spc="30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 </a:t>
                </a:r>
                <a:r>
                  <a:rPr lang="en-US" sz="2000" b="1" i="1" spc="5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1950" b="1" i="1" spc="7" baseline="-21367" dirty="0">
                    <a:solidFill>
                      <a:srgbClr val="0000FF"/>
                    </a:solidFill>
                    <a:latin typeface="Arial-BoldItalicMT"/>
                    <a:cs typeface="Arial-BoldItalicMT"/>
                  </a:rPr>
                  <a:t>i </a:t>
                </a:r>
                <a:r>
                  <a:rPr lang="en-US" sz="2000" b="1" i="1" dirty="0">
                    <a:latin typeface="Arial-BoldItalicMT"/>
                    <a:cs typeface="Arial-BoldItalicMT"/>
                  </a:rPr>
                  <a:t>, </a:t>
                </a:r>
                <a:r>
                  <a:rPr lang="en-US" sz="2000" b="1" dirty="0">
                    <a:latin typeface="Arial"/>
                    <a:cs typeface="Arial"/>
                  </a:rPr>
                  <a:t>if </a:t>
                </a:r>
                <a:r>
                  <a:rPr lang="en-US" sz="2000" b="1" i="1" dirty="0">
                    <a:latin typeface="Arial-BoldItalicMT"/>
                    <a:cs typeface="Arial"/>
                  </a:rPr>
                  <a:t>i</a:t>
                </a:r>
                <a:r>
                  <a:rPr lang="en-US" sz="2000" b="1" dirty="0">
                    <a:latin typeface="Arial"/>
                    <a:cs typeface="Arial"/>
                  </a:rPr>
                  <a:t>’s </a:t>
                </a:r>
                <a:r>
                  <a:rPr lang="en-US" sz="2000" b="1" spc="-5" dirty="0">
                    <a:solidFill>
                      <a:srgbClr val="0000FF"/>
                    </a:solidFill>
                    <a:latin typeface="Arial"/>
                    <a:cs typeface="Arial"/>
                  </a:rPr>
                  <a:t>value </a:t>
                </a:r>
                <a:r>
                  <a:rPr lang="en-US" sz="20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changes in the presence of</a:t>
                </a:r>
                <a:r>
                  <a:rPr lang="en-US" sz="2000" b="1" spc="-114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000" b="1" i="1" spc="150" dirty="0">
                    <a:solidFill>
                      <a:srgbClr val="0000FF"/>
                    </a:solidFill>
                    <a:latin typeface="Arial-BoldItalicMT"/>
                    <a:cs typeface="Arial"/>
                  </a:rPr>
                  <a:t>f</a:t>
                </a:r>
                <a:endParaRPr lang="en-US" sz="2000" b="1" dirty="0">
                  <a:latin typeface="Arial-BoldItalicMT"/>
                  <a:cs typeface="Arial-BoldItalicMT"/>
                </a:endParaRPr>
              </a:p>
              <a:p>
                <a:pPr marL="311785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-BoldItalicMT"/>
                    <a:cs typeface="Arial-BoldItalicMT"/>
                  </a:rPr>
                  <a:t>To compute </a:t>
                </a:r>
                <a:r>
                  <a:rPr lang="en-US" sz="2000" b="1" i="1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 err="1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d</a:t>
                </a:r>
                <a:r>
                  <a:rPr lang="en-US" sz="2000" b="1" dirty="0">
                    <a:latin typeface="Arial-BoldItalicMT"/>
                    <a:cs typeface="Arial-BoldItalicMT"/>
                  </a:rPr>
                  <a:t> and 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e</a:t>
                </a:r>
                <a:r>
                  <a:rPr lang="en-US" sz="2000" b="1" dirty="0">
                    <a:latin typeface="Arial-BoldItalicMT"/>
                    <a:cs typeface="Arial-BoldItalicMT"/>
                  </a:rPr>
                  <a:t> </a:t>
                </a:r>
              </a:p>
              <a:p>
                <a:pPr marL="768985" lvl="1" indent="-287020">
                  <a:spcBef>
                    <a:spcPts val="480"/>
                  </a:spcBef>
                  <a:buClr>
                    <a:srgbClr val="FF0000"/>
                  </a:buClr>
                  <a:buSzPct val="75000"/>
                  <a:buFont typeface="Arial"/>
                  <a:buChar char="◆"/>
                  <a:tabLst>
                    <a:tab pos="768985" algn="l"/>
                    <a:tab pos="769620" algn="l"/>
                  </a:tabLst>
                </a:pPr>
                <a:r>
                  <a:rPr lang="en-US" sz="2000" b="1" dirty="0">
                    <a:latin typeface="Arial-BoldItalicMT"/>
                    <a:cs typeface="Arial-BoldItalicMT"/>
                  </a:rPr>
                  <a:t>Propagate fault list from stem (</a:t>
                </a:r>
                <a:r>
                  <a:rPr lang="en-US" sz="2000" b="1" i="1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L</a:t>
                </a:r>
                <a:r>
                  <a:rPr lang="en-US" sz="2000" b="1" i="1" baseline="-21367" dirty="0">
                    <a:solidFill>
                      <a:srgbClr val="FF0000"/>
                    </a:solidFill>
                    <a:latin typeface="Arial-BoldItalicMT"/>
                    <a:cs typeface="Arial-BoldItalicMT"/>
                  </a:rPr>
                  <a:t>c</a:t>
                </a:r>
                <a:r>
                  <a:rPr lang="en-US" sz="2000" b="1" dirty="0">
                    <a:latin typeface="Arial-BoldItalicMT"/>
                    <a:cs typeface="Arial-BoldItalicMT"/>
                  </a:rPr>
                  <a:t> ) to each branch and add a new fault corresponding to the branch </a:t>
                </a:r>
                <a:endParaRPr sz="2000" dirty="0">
                  <a:latin typeface="Arial-BoldItalicMT"/>
                  <a:cs typeface="Arial-BoldItalicMT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99BAE1E5-5757-CD66-7499-589B11B23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78" y="932433"/>
                <a:ext cx="8006104" cy="1806264"/>
              </a:xfrm>
              <a:prstGeom prst="rect">
                <a:avLst/>
              </a:prstGeom>
              <a:blipFill>
                <a:blip r:embed="rId3"/>
                <a:stretch>
                  <a:fillRect l="-2215" t="-6993" r="-47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>
            <a:extLst>
              <a:ext uri="{FF2B5EF4-FFF2-40B4-BE49-F238E27FC236}">
                <a16:creationId xmlns:a16="http://schemas.microsoft.com/office/drawing/2014/main" id="{C29389AF-EC9F-BB6B-B977-E53196BC9D97}"/>
              </a:ext>
            </a:extLst>
          </p:cNvPr>
          <p:cNvSpPr/>
          <p:nvPr/>
        </p:nvSpPr>
        <p:spPr>
          <a:xfrm>
            <a:off x="762000" y="3733800"/>
            <a:ext cx="7922259" cy="2231390"/>
          </a:xfrm>
          <a:custGeom>
            <a:avLst/>
            <a:gdLst/>
            <a:ahLst/>
            <a:cxnLst/>
            <a:rect l="l" t="t" r="r" b="b"/>
            <a:pathLst>
              <a:path w="7922259" h="2231390">
                <a:moveTo>
                  <a:pt x="0" y="2231136"/>
                </a:moveTo>
                <a:lnTo>
                  <a:pt x="7921752" y="2231136"/>
                </a:lnTo>
                <a:lnTo>
                  <a:pt x="7921752" y="0"/>
                </a:lnTo>
                <a:lnTo>
                  <a:pt x="0" y="0"/>
                </a:lnTo>
                <a:lnTo>
                  <a:pt x="0" y="22311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A8B8BC-A863-681D-6506-2DF2D1517D80}"/>
              </a:ext>
            </a:extLst>
          </p:cNvPr>
          <p:cNvSpPr/>
          <p:nvPr/>
        </p:nvSpPr>
        <p:spPr>
          <a:xfrm>
            <a:off x="3281933" y="4261866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215646" y="0"/>
                </a:moveTo>
                <a:lnTo>
                  <a:pt x="0" y="0"/>
                </a:lnTo>
                <a:lnTo>
                  <a:pt x="0" y="429767"/>
                </a:lnTo>
                <a:lnTo>
                  <a:pt x="215646" y="429767"/>
                </a:lnTo>
                <a:lnTo>
                  <a:pt x="265100" y="424089"/>
                </a:lnTo>
                <a:lnTo>
                  <a:pt x="310493" y="407916"/>
                </a:lnTo>
                <a:lnTo>
                  <a:pt x="350533" y="382541"/>
                </a:lnTo>
                <a:lnTo>
                  <a:pt x="383925" y="349258"/>
                </a:lnTo>
                <a:lnTo>
                  <a:pt x="409378" y="309358"/>
                </a:lnTo>
                <a:lnTo>
                  <a:pt x="425598" y="264136"/>
                </a:lnTo>
                <a:lnTo>
                  <a:pt x="431292" y="214883"/>
                </a:lnTo>
                <a:lnTo>
                  <a:pt x="425598" y="165631"/>
                </a:lnTo>
                <a:lnTo>
                  <a:pt x="409378" y="120409"/>
                </a:lnTo>
                <a:lnTo>
                  <a:pt x="383925" y="80509"/>
                </a:lnTo>
                <a:lnTo>
                  <a:pt x="350533" y="47226"/>
                </a:lnTo>
                <a:lnTo>
                  <a:pt x="310493" y="21851"/>
                </a:lnTo>
                <a:lnTo>
                  <a:pt x="265100" y="5678"/>
                </a:lnTo>
                <a:lnTo>
                  <a:pt x="2156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3403963-E9D6-10B0-AA61-146DEACD71A2}"/>
              </a:ext>
            </a:extLst>
          </p:cNvPr>
          <p:cNvSpPr/>
          <p:nvPr/>
        </p:nvSpPr>
        <p:spPr>
          <a:xfrm>
            <a:off x="3281933" y="4261866"/>
            <a:ext cx="431800" cy="429895"/>
          </a:xfrm>
          <a:custGeom>
            <a:avLst/>
            <a:gdLst/>
            <a:ahLst/>
            <a:cxnLst/>
            <a:rect l="l" t="t" r="r" b="b"/>
            <a:pathLst>
              <a:path w="431800" h="429895">
                <a:moveTo>
                  <a:pt x="0" y="0"/>
                </a:moveTo>
                <a:lnTo>
                  <a:pt x="215646" y="0"/>
                </a:lnTo>
                <a:lnTo>
                  <a:pt x="265100" y="5678"/>
                </a:lnTo>
                <a:lnTo>
                  <a:pt x="310493" y="21851"/>
                </a:lnTo>
                <a:lnTo>
                  <a:pt x="350533" y="47226"/>
                </a:lnTo>
                <a:lnTo>
                  <a:pt x="383925" y="80509"/>
                </a:lnTo>
                <a:lnTo>
                  <a:pt x="409378" y="120409"/>
                </a:lnTo>
                <a:lnTo>
                  <a:pt x="425598" y="165631"/>
                </a:lnTo>
                <a:lnTo>
                  <a:pt x="431292" y="214883"/>
                </a:lnTo>
                <a:lnTo>
                  <a:pt x="425598" y="264136"/>
                </a:lnTo>
                <a:lnTo>
                  <a:pt x="409378" y="309358"/>
                </a:lnTo>
                <a:lnTo>
                  <a:pt x="383925" y="349258"/>
                </a:lnTo>
                <a:lnTo>
                  <a:pt x="350533" y="382541"/>
                </a:lnTo>
                <a:lnTo>
                  <a:pt x="310493" y="407916"/>
                </a:lnTo>
                <a:lnTo>
                  <a:pt x="265100" y="424089"/>
                </a:lnTo>
                <a:lnTo>
                  <a:pt x="215646" y="429767"/>
                </a:lnTo>
                <a:lnTo>
                  <a:pt x="0" y="42976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2615F21-499A-494D-1ED8-32A5F884ECBC}"/>
              </a:ext>
            </a:extLst>
          </p:cNvPr>
          <p:cNvSpPr/>
          <p:nvPr/>
        </p:nvSpPr>
        <p:spPr>
          <a:xfrm>
            <a:off x="1914906" y="3973830"/>
            <a:ext cx="1378585" cy="367030"/>
          </a:xfrm>
          <a:custGeom>
            <a:avLst/>
            <a:gdLst/>
            <a:ahLst/>
            <a:cxnLst/>
            <a:rect l="l" t="t" r="r" b="b"/>
            <a:pathLst>
              <a:path w="1378585" h="367029">
                <a:moveTo>
                  <a:pt x="0" y="0"/>
                </a:moveTo>
                <a:lnTo>
                  <a:pt x="689101" y="0"/>
                </a:lnTo>
                <a:lnTo>
                  <a:pt x="689101" y="366649"/>
                </a:lnTo>
                <a:lnTo>
                  <a:pt x="1378077" y="36664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54E537A-E3B1-2F30-3FEA-4DFA91EB5471}"/>
              </a:ext>
            </a:extLst>
          </p:cNvPr>
          <p:cNvSpPr/>
          <p:nvPr/>
        </p:nvSpPr>
        <p:spPr>
          <a:xfrm>
            <a:off x="1914906" y="4626101"/>
            <a:ext cx="1378585" cy="354330"/>
          </a:xfrm>
          <a:custGeom>
            <a:avLst/>
            <a:gdLst/>
            <a:ahLst/>
            <a:cxnLst/>
            <a:rect l="l" t="t" r="r" b="b"/>
            <a:pathLst>
              <a:path w="1378585" h="354329">
                <a:moveTo>
                  <a:pt x="0" y="353949"/>
                </a:moveTo>
                <a:lnTo>
                  <a:pt x="689101" y="353949"/>
                </a:lnTo>
                <a:lnTo>
                  <a:pt x="689101" y="0"/>
                </a:lnTo>
                <a:lnTo>
                  <a:pt x="13780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9E331C9-C16E-DFBA-34FA-D503710B8323}"/>
              </a:ext>
            </a:extLst>
          </p:cNvPr>
          <p:cNvSpPr/>
          <p:nvPr/>
        </p:nvSpPr>
        <p:spPr>
          <a:xfrm>
            <a:off x="5442965" y="3943350"/>
            <a:ext cx="1619885" cy="503555"/>
          </a:xfrm>
          <a:custGeom>
            <a:avLst/>
            <a:gdLst/>
            <a:ahLst/>
            <a:cxnLst/>
            <a:rect l="l" t="t" r="r" b="b"/>
            <a:pathLst>
              <a:path w="1619884" h="503554">
                <a:moveTo>
                  <a:pt x="0" y="503174"/>
                </a:moveTo>
                <a:lnTo>
                  <a:pt x="0" y="0"/>
                </a:lnTo>
                <a:lnTo>
                  <a:pt x="1619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7F7A9FC-7597-B6D2-6F9E-D19A71AF183C}"/>
              </a:ext>
            </a:extLst>
          </p:cNvPr>
          <p:cNvSpPr/>
          <p:nvPr/>
        </p:nvSpPr>
        <p:spPr>
          <a:xfrm>
            <a:off x="3713226" y="4478274"/>
            <a:ext cx="3312160" cy="504825"/>
          </a:xfrm>
          <a:custGeom>
            <a:avLst/>
            <a:gdLst/>
            <a:ahLst/>
            <a:cxnLst/>
            <a:rect l="l" t="t" r="r" b="b"/>
            <a:pathLst>
              <a:path w="3312159" h="504825">
                <a:moveTo>
                  <a:pt x="0" y="0"/>
                </a:moveTo>
                <a:lnTo>
                  <a:pt x="1720722" y="0"/>
                </a:lnTo>
                <a:lnTo>
                  <a:pt x="1720722" y="504825"/>
                </a:lnTo>
                <a:lnTo>
                  <a:pt x="3311778" y="504825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F52BEC7-2919-8277-F147-9C8E62E1656E}"/>
              </a:ext>
            </a:extLst>
          </p:cNvPr>
          <p:cNvSpPr txBox="1"/>
          <p:nvPr/>
        </p:nvSpPr>
        <p:spPr>
          <a:xfrm>
            <a:off x="1042314" y="3801872"/>
            <a:ext cx="1110615" cy="160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6060">
              <a:lnSpc>
                <a:spcPts val="2260"/>
              </a:lnSpc>
              <a:spcBef>
                <a:spcPts val="105"/>
              </a:spcBef>
            </a:pPr>
            <a:r>
              <a:rPr sz="2000" i="1" dirty="0">
                <a:latin typeface="Helvetica"/>
                <a:cs typeface="Helvetica"/>
              </a:rPr>
              <a:t>a =</a:t>
            </a:r>
            <a:r>
              <a:rPr sz="2000" i="1" spc="-5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ts val="2260"/>
              </a:lnSpc>
            </a:pPr>
            <a:r>
              <a:rPr sz="2000" i="1" spc="10" dirty="0">
                <a:latin typeface="Helvetica"/>
                <a:cs typeface="Helvetica"/>
              </a:rPr>
              <a:t>L</a:t>
            </a:r>
            <a:r>
              <a:rPr sz="1950" i="1" spc="15" baseline="-21367" dirty="0">
                <a:latin typeface="Helvetica"/>
                <a:cs typeface="Helvetica"/>
              </a:rPr>
              <a:t>a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9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Helvetica"/>
              <a:cs typeface="Helvetica"/>
            </a:endParaRPr>
          </a:p>
          <a:p>
            <a:pPr marL="226060">
              <a:lnSpc>
                <a:spcPts val="2270"/>
              </a:lnSpc>
            </a:pPr>
            <a:r>
              <a:rPr sz="2000" i="1" dirty="0">
                <a:latin typeface="Helvetica"/>
                <a:cs typeface="Helvetica"/>
              </a:rPr>
              <a:t>b =</a:t>
            </a:r>
            <a:r>
              <a:rPr sz="2000" i="1" spc="-6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1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ts val="2270"/>
              </a:lnSpc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b </a:t>
            </a:r>
            <a:r>
              <a:rPr sz="2000" dirty="0">
                <a:latin typeface="Helvetica"/>
                <a:cs typeface="Helvetica"/>
              </a:rPr>
              <a:t>=</a:t>
            </a:r>
            <a:r>
              <a:rPr sz="2000" spc="-275" dirty="0">
                <a:latin typeface="Helvetica"/>
                <a:cs typeface="Helvetica"/>
              </a:rPr>
              <a:t> </a:t>
            </a:r>
            <a:r>
              <a:rPr sz="2000" dirty="0">
                <a:latin typeface="Helvetica"/>
                <a:cs typeface="Helvetica"/>
              </a:rPr>
              <a:t>{</a:t>
            </a:r>
            <a:r>
              <a:rPr sz="2000" i="1" dirty="0">
                <a:latin typeface="Helvetica"/>
                <a:cs typeface="Helvetica"/>
              </a:rPr>
              <a:t>b/</a:t>
            </a:r>
            <a:r>
              <a:rPr sz="2000" dirty="0">
                <a:latin typeface="Helvetica"/>
                <a:cs typeface="Helvetica"/>
              </a:rPr>
              <a:t>0}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E2885B6-8B91-B182-E44D-8873BCB5085E}"/>
              </a:ext>
            </a:extLst>
          </p:cNvPr>
          <p:cNvSpPr txBox="1"/>
          <p:nvPr/>
        </p:nvSpPr>
        <p:spPr>
          <a:xfrm>
            <a:off x="3719321" y="4085437"/>
            <a:ext cx="1579245" cy="78676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695"/>
              </a:spcBef>
            </a:pPr>
            <a:r>
              <a:rPr sz="2000" i="1" dirty="0">
                <a:latin typeface="Helvetica"/>
                <a:cs typeface="Helvetica"/>
              </a:rPr>
              <a:t>c =</a:t>
            </a:r>
            <a:r>
              <a:rPr sz="2000" i="1" spc="-4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>
              <a:latin typeface="Helvetica"/>
              <a:cs typeface="Helvetica"/>
            </a:endParaRPr>
          </a:p>
          <a:p>
            <a:pPr marL="25400">
              <a:lnSpc>
                <a:spcPct val="100000"/>
              </a:lnSpc>
              <a:spcBef>
                <a:spcPts val="595"/>
              </a:spcBef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c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</a:t>
            </a:r>
            <a:r>
              <a:rPr sz="2000" spc="-30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c/</a:t>
            </a:r>
            <a:r>
              <a:rPr sz="2000" dirty="0">
                <a:latin typeface="Helvetica"/>
                <a:cs typeface="Helvetica"/>
              </a:rPr>
              <a:t>1}</a:t>
            </a:r>
            <a:endParaRPr sz="2000">
              <a:latin typeface="Helvetica"/>
              <a:cs typeface="Helvetic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9B664EF-0FD0-44BD-23B1-1AB308168BB6}"/>
              </a:ext>
            </a:extLst>
          </p:cNvPr>
          <p:cNvSpPr txBox="1"/>
          <p:nvPr/>
        </p:nvSpPr>
        <p:spPr>
          <a:xfrm>
            <a:off x="6347333" y="3763111"/>
            <a:ext cx="2127885" cy="7112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42545" algn="ctr">
              <a:lnSpc>
                <a:spcPct val="100000"/>
              </a:lnSpc>
              <a:spcBef>
                <a:spcPts val="395"/>
              </a:spcBef>
            </a:pPr>
            <a:r>
              <a:rPr sz="2000" i="1" dirty="0">
                <a:latin typeface="Helvetica"/>
                <a:cs typeface="Helvetica"/>
              </a:rPr>
              <a:t>d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  <a:p>
            <a:pPr marR="5080" algn="ctr">
              <a:lnSpc>
                <a:spcPct val="100000"/>
              </a:lnSpc>
              <a:spcBef>
                <a:spcPts val="300"/>
              </a:spcBef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d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 </a:t>
            </a:r>
            <a:r>
              <a:rPr sz="2000" i="1" dirty="0">
                <a:latin typeface="Helvetica"/>
                <a:cs typeface="Helvetica"/>
              </a:rPr>
              <a:t>c/</a:t>
            </a:r>
            <a:r>
              <a:rPr sz="2000" dirty="0">
                <a:latin typeface="Helvetica"/>
                <a:cs typeface="Helvetica"/>
              </a:rPr>
              <a:t>1 ,</a:t>
            </a:r>
            <a:r>
              <a:rPr sz="2000" spc="-155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d/</a:t>
            </a:r>
            <a:r>
              <a:rPr sz="2000" dirty="0">
                <a:latin typeface="Helvetica"/>
                <a:cs typeface="Helvetica"/>
              </a:rPr>
              <a:t>1}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BC6C3B0-90AA-6014-EB72-DB7F66A12727}"/>
              </a:ext>
            </a:extLst>
          </p:cNvPr>
          <p:cNvSpPr txBox="1"/>
          <p:nvPr/>
        </p:nvSpPr>
        <p:spPr>
          <a:xfrm>
            <a:off x="6342507" y="4810124"/>
            <a:ext cx="2127250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384" algn="ctr">
              <a:lnSpc>
                <a:spcPts val="2260"/>
              </a:lnSpc>
              <a:spcBef>
                <a:spcPts val="100"/>
              </a:spcBef>
            </a:pPr>
            <a:r>
              <a:rPr sz="2000" i="1" dirty="0">
                <a:latin typeface="Helvetica"/>
                <a:cs typeface="Helvetica"/>
              </a:rPr>
              <a:t>e =</a:t>
            </a:r>
            <a:r>
              <a:rPr sz="2000" i="1" spc="-4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0</a:t>
            </a:r>
            <a:endParaRPr sz="2000" dirty="0">
              <a:latin typeface="Helvetica"/>
              <a:cs typeface="Helvetica"/>
            </a:endParaRPr>
          </a:p>
          <a:p>
            <a:pPr marR="5080" algn="ctr">
              <a:lnSpc>
                <a:spcPts val="2260"/>
              </a:lnSpc>
            </a:pPr>
            <a:r>
              <a:rPr sz="2000" i="1" spc="5" dirty="0">
                <a:latin typeface="Helvetica"/>
                <a:cs typeface="Helvetica"/>
              </a:rPr>
              <a:t>L</a:t>
            </a:r>
            <a:r>
              <a:rPr sz="1950" i="1" spc="7" baseline="-21367" dirty="0">
                <a:latin typeface="Helvetica"/>
                <a:cs typeface="Helvetica"/>
              </a:rPr>
              <a:t>e </a:t>
            </a:r>
            <a:r>
              <a:rPr sz="2000" dirty="0">
                <a:latin typeface="Helvetica"/>
                <a:cs typeface="Helvetica"/>
              </a:rPr>
              <a:t>= {</a:t>
            </a:r>
            <a:r>
              <a:rPr sz="2000" i="1" dirty="0">
                <a:latin typeface="Helvetica"/>
                <a:cs typeface="Helvetica"/>
              </a:rPr>
              <a:t>a/</a:t>
            </a:r>
            <a:r>
              <a:rPr sz="2000" dirty="0">
                <a:latin typeface="Helvetica"/>
                <a:cs typeface="Helvetica"/>
              </a:rPr>
              <a:t>1, </a:t>
            </a:r>
            <a:r>
              <a:rPr sz="2000" i="1" dirty="0">
                <a:latin typeface="Helvetica"/>
                <a:cs typeface="Helvetica"/>
              </a:rPr>
              <a:t>c/</a:t>
            </a:r>
            <a:r>
              <a:rPr sz="2000" dirty="0">
                <a:latin typeface="Helvetica"/>
                <a:cs typeface="Helvetica"/>
              </a:rPr>
              <a:t>1 ,</a:t>
            </a:r>
            <a:r>
              <a:rPr sz="2000" spc="-150" dirty="0">
                <a:latin typeface="Helvetica"/>
                <a:cs typeface="Helvetica"/>
              </a:rPr>
              <a:t> </a:t>
            </a:r>
            <a:r>
              <a:rPr sz="2000" i="1" dirty="0">
                <a:latin typeface="Helvetica"/>
                <a:cs typeface="Helvetica"/>
              </a:rPr>
              <a:t>e/</a:t>
            </a:r>
            <a:r>
              <a:rPr sz="2000" dirty="0">
                <a:latin typeface="Helvetica"/>
                <a:cs typeface="Helvetica"/>
              </a:rPr>
              <a:t>1}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306030-767B-F93A-2ACE-DE6DA14261AA}"/>
              </a:ext>
            </a:extLst>
          </p:cNvPr>
          <p:cNvSpPr/>
          <p:nvPr/>
        </p:nvSpPr>
        <p:spPr>
          <a:xfrm>
            <a:off x="5385815" y="4425695"/>
            <a:ext cx="109727" cy="1097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ED4E852C-427E-698D-2D95-988528352413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35</a:t>
            </a:fld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7820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30414" y="2543434"/>
            <a:ext cx="7183768" cy="2502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132" y="164414"/>
            <a:ext cx="2837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spc="-5" dirty="0"/>
              <a:t>(</a:t>
            </a:r>
            <a:r>
              <a:rPr i="1" spc="-5" dirty="0">
                <a:latin typeface="Arial-BoldItalicMT"/>
                <a:cs typeface="Arial-BoldItalicMT"/>
              </a:rPr>
              <a:t>P</a:t>
            </a:r>
            <a:r>
              <a:rPr sz="3600" i="1" spc="-7" baseline="-20833" dirty="0">
                <a:latin typeface="Arial-BoldItalicMT"/>
                <a:cs typeface="Arial-BoldItalicMT"/>
              </a:rPr>
              <a:t>1</a:t>
            </a:r>
            <a:r>
              <a:rPr sz="3600" spc="-5" dirty="0"/>
              <a:t>)</a:t>
            </a:r>
            <a:endParaRPr sz="3600">
              <a:latin typeface="Arial-BoldItalicMT"/>
              <a:cs typeface="Arial-BoldItalic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524" y="961136"/>
            <a:ext cx="8926476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latin typeface="Arial"/>
                <a:cs typeface="Arial"/>
              </a:rPr>
              <a:t>Assume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18 </a:t>
            </a:r>
            <a:r>
              <a:rPr sz="2000" b="1" dirty="0" err="1">
                <a:latin typeface="Arial"/>
                <a:cs typeface="Arial"/>
              </a:rPr>
              <a:t>uncollapsed</a:t>
            </a:r>
            <a:r>
              <a:rPr sz="2000" b="1" dirty="0">
                <a:latin typeface="Arial"/>
                <a:cs typeface="Arial"/>
              </a:rPr>
              <a:t> faults</a:t>
            </a:r>
            <a:r>
              <a:rPr lang="en-US" sz="2000" b="1" dirty="0">
                <a:latin typeface="Arial"/>
                <a:cs typeface="Arial"/>
              </a:rPr>
              <a:t> for pattern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P1 : ABC=010</a:t>
            </a:r>
          </a:p>
          <a:p>
            <a:pPr marL="825500" lvl="1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latin typeface="Arial"/>
                <a:cs typeface="Arial"/>
              </a:rPr>
              <a:t>From the 18 faults, only SSFs which are opposite of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pattern</a:t>
            </a:r>
            <a:r>
              <a:rPr lang="en-US" sz="2000" b="1" dirty="0">
                <a:latin typeface="Arial"/>
                <a:cs typeface="Arial"/>
              </a:rPr>
              <a:t> value at each line are relevant (rest cannot be detected by P1) : for example, for A=0 only A/1 is relevant and A/0 cannot be detected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0" y="5272671"/>
            <a:ext cx="1929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(WWW Fig</a:t>
            </a:r>
            <a:r>
              <a:rPr sz="2000" b="1" spc="-114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3.26)</a:t>
            </a:r>
            <a:endParaRPr sz="2000" dirty="0">
              <a:latin typeface="Helvetica"/>
              <a:cs typeface="Helvetic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96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C0B94A-A3DB-59D6-7E45-768CCFE8C594}"/>
              </a:ext>
            </a:extLst>
          </p:cNvPr>
          <p:cNvSpPr/>
          <p:nvPr/>
        </p:nvSpPr>
        <p:spPr>
          <a:xfrm>
            <a:off x="2743200" y="4600509"/>
            <a:ext cx="896713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11A51D-E366-8BFA-12AA-43855BAED2A4}"/>
              </a:ext>
            </a:extLst>
          </p:cNvPr>
          <p:cNvSpPr/>
          <p:nvPr/>
        </p:nvSpPr>
        <p:spPr>
          <a:xfrm>
            <a:off x="5376290" y="4600509"/>
            <a:ext cx="1481710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6FFE3C-8118-3DB5-1BB6-991C828AC373}"/>
              </a:ext>
            </a:extLst>
          </p:cNvPr>
          <p:cNvSpPr/>
          <p:nvPr/>
        </p:nvSpPr>
        <p:spPr>
          <a:xfrm>
            <a:off x="6629400" y="3657754"/>
            <a:ext cx="1684782" cy="604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A4C19F-421B-C70E-B138-607B0308038C}"/>
              </a:ext>
            </a:extLst>
          </p:cNvPr>
          <p:cNvSpPr/>
          <p:nvPr/>
        </p:nvSpPr>
        <p:spPr>
          <a:xfrm>
            <a:off x="3505200" y="3657754"/>
            <a:ext cx="1481710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89B0F0-8383-3573-DF03-D09C20718D45}"/>
              </a:ext>
            </a:extLst>
          </p:cNvPr>
          <p:cNvSpPr/>
          <p:nvPr/>
        </p:nvSpPr>
        <p:spPr>
          <a:xfrm>
            <a:off x="5334000" y="2607641"/>
            <a:ext cx="1481710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E8073A-E240-CDA4-6BD7-4D30CA58A1D7}"/>
              </a:ext>
            </a:extLst>
          </p:cNvPr>
          <p:cNvSpPr/>
          <p:nvPr/>
        </p:nvSpPr>
        <p:spPr>
          <a:xfrm>
            <a:off x="3586958" y="4600035"/>
            <a:ext cx="1213642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78AF3-A5AC-6F66-F6D6-5AA1943B2E18}"/>
              </a:ext>
            </a:extLst>
          </p:cNvPr>
          <p:cNvSpPr txBox="1"/>
          <p:nvPr/>
        </p:nvSpPr>
        <p:spPr>
          <a:xfrm>
            <a:off x="408471" y="5542316"/>
            <a:ext cx="457200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7 </a:t>
            </a:r>
            <a:r>
              <a:rPr lang="en-US" sz="2000" b="1" dirty="0">
                <a:latin typeface="Arial"/>
                <a:cs typeface="Arial"/>
              </a:rPr>
              <a:t>faults are detected by</a:t>
            </a:r>
            <a:r>
              <a:rPr lang="en-US" sz="2000" b="1" spc="-95" dirty="0">
                <a:latin typeface="Arial"/>
                <a:cs typeface="Arial"/>
              </a:rPr>
              <a:t> </a:t>
            </a:r>
            <a:r>
              <a:rPr lang="en-US" sz="2000" b="1" i="1" spc="5" dirty="0">
                <a:latin typeface="Arial-BoldItalicMT"/>
                <a:cs typeface="Arial-BoldItalicMT"/>
              </a:rPr>
              <a:t>P</a:t>
            </a:r>
            <a:r>
              <a:rPr lang="en-US" sz="1950" b="1" i="1" spc="7" baseline="-21367" dirty="0">
                <a:latin typeface="Arial-BoldItalicMT"/>
                <a:cs typeface="Arial-BoldItalicMT"/>
              </a:rPr>
              <a:t>1 </a:t>
            </a:r>
            <a:r>
              <a:rPr lang="en-US" b="1" dirty="0">
                <a:latin typeface="Arial"/>
                <a:cs typeface="Arial"/>
              </a:rPr>
              <a:t>={010}</a:t>
            </a:r>
            <a:endParaRPr lang="en-US" sz="1950" baseline="-21367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lang="en-US" sz="2000" b="1" dirty="0">
                <a:latin typeface="Arial"/>
                <a:cs typeface="Arial"/>
              </a:rPr>
              <a:t>Detected faults are</a:t>
            </a:r>
            <a:r>
              <a:rPr lang="en-US" sz="2000" b="1" spc="-90" dirty="0">
                <a:latin typeface="Arial"/>
                <a:cs typeface="Arial"/>
              </a:rPr>
              <a:t> </a:t>
            </a:r>
            <a:r>
              <a:rPr lang="en-US" sz="2000" b="1" i="1" dirty="0">
                <a:latin typeface="Arial-BoldItalicMT"/>
                <a:cs typeface="Arial-BoldItalicMT"/>
              </a:rPr>
              <a:t>dropped</a:t>
            </a:r>
            <a:endParaRPr lang="en-US" sz="2000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</a:tabLst>
            </a:pPr>
            <a:r>
              <a:rPr lang="en-US" sz="2000" b="1" dirty="0">
                <a:latin typeface="Arial"/>
                <a:cs typeface="Arial"/>
              </a:rPr>
              <a:t>18-7=11 faults</a:t>
            </a:r>
            <a:r>
              <a:rPr lang="en-US" sz="2000" b="1" spc="-85" dirty="0"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remains</a:t>
            </a:r>
            <a:endParaRPr lang="en-US"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132" y="164414"/>
            <a:ext cx="2837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spc="-5" dirty="0"/>
              <a:t>(</a:t>
            </a:r>
            <a:r>
              <a:rPr i="1" spc="-5" dirty="0">
                <a:latin typeface="Arial-BoldItalicMT"/>
                <a:cs typeface="Arial-BoldItalicMT"/>
              </a:rPr>
              <a:t>P</a:t>
            </a:r>
            <a:r>
              <a:rPr sz="3600" i="1" spc="-7" baseline="-20833" dirty="0">
                <a:latin typeface="Arial-BoldItalicMT"/>
                <a:cs typeface="Arial-BoldItalicMT"/>
              </a:rPr>
              <a:t>2</a:t>
            </a:r>
            <a:r>
              <a:rPr sz="3600" spc="-5" dirty="0"/>
              <a:t>)</a:t>
            </a:r>
            <a:endParaRPr sz="3600" dirty="0">
              <a:latin typeface="Arial-BoldItalicMT"/>
              <a:cs typeface="Arial-BoldItalic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524" y="902309"/>
            <a:ext cx="9155076" cy="1880643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56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Detected by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P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: {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A/1, H/1, B/0, E/0, F/0, J/1, K/0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},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P2: ABC = 001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56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One </a:t>
            </a:r>
            <a:r>
              <a:rPr sz="2000" b="1" dirty="0">
                <a:latin typeface="Arial"/>
                <a:cs typeface="Arial"/>
              </a:rPr>
              <a:t>more fault is detected by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2</a:t>
            </a:r>
            <a:r>
              <a:rPr lang="en-US" sz="1950" b="1" i="1" spc="7" baseline="-21367" dirty="0">
                <a:latin typeface="Arial-BoldItalicMT"/>
                <a:cs typeface="Arial-BoldItalicMT"/>
              </a:rPr>
              <a:t> </a:t>
            </a:r>
            <a:r>
              <a:rPr lang="en-US" b="1" dirty="0">
                <a:latin typeface="Arial"/>
                <a:cs typeface="Arial"/>
              </a:rPr>
              <a:t>= {001}</a:t>
            </a:r>
            <a:endParaRPr sz="1950" baseline="-21367" dirty="0">
              <a:latin typeface="Arial-BoldItalicMT"/>
              <a:cs typeface="Arial-BoldItalicMT"/>
            </a:endParaRPr>
          </a:p>
          <a:p>
            <a:pPr marL="768985" lvl="1" indent="-287020">
              <a:lnSpc>
                <a:spcPct val="100000"/>
              </a:lnSpc>
              <a:spcBef>
                <a:spcPts val="47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1187450" algn="l"/>
              </a:tabLst>
            </a:pPr>
            <a:r>
              <a:rPr sz="2000" b="1" dirty="0">
                <a:latin typeface="Arial"/>
                <a:cs typeface="Arial"/>
              </a:rPr>
              <a:t>Q:	</a:t>
            </a:r>
            <a:r>
              <a:rPr sz="2000" b="1" spc="10" dirty="0">
                <a:latin typeface="Arial"/>
                <a:cs typeface="Arial"/>
              </a:rPr>
              <a:t>why </a:t>
            </a:r>
            <a:r>
              <a:rPr sz="2000" b="1" dirty="0">
                <a:latin typeface="Arial"/>
                <a:cs typeface="Arial"/>
              </a:rPr>
              <a:t>no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A/1</a:t>
            </a:r>
            <a:r>
              <a:rPr sz="2000" b="1" dirty="0">
                <a:latin typeface="Arial"/>
                <a:cs typeface="Arial"/>
              </a:rPr>
              <a:t>?</a:t>
            </a:r>
            <a:r>
              <a:rPr lang="en-US" sz="2000" b="1" dirty="0">
                <a:latin typeface="Arial"/>
                <a:cs typeface="Arial"/>
              </a:rPr>
              <a:t> </a:t>
            </a:r>
          </a:p>
          <a:p>
            <a:pPr marL="768985" lvl="1" indent="-287020">
              <a:lnSpc>
                <a:spcPct val="100000"/>
              </a:lnSpc>
              <a:spcBef>
                <a:spcPts val="470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68985" algn="l"/>
                <a:tab pos="769620" algn="l"/>
                <a:tab pos="1187450" algn="l"/>
              </a:tabLst>
            </a:pPr>
            <a:r>
              <a:rPr lang="en-US" sz="2000" b="1" dirty="0">
                <a:latin typeface="Arial"/>
                <a:cs typeface="Arial"/>
              </a:rPr>
              <a:t>Answer: it was detected by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P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1</a:t>
            </a:r>
            <a:r>
              <a:rPr lang="en-US" sz="2000" b="1" dirty="0">
                <a:latin typeface="Arial"/>
                <a:cs typeface="Arial"/>
              </a:rPr>
              <a:t> so it is dropped</a:t>
            </a:r>
            <a:endParaRPr sz="2000" b="1" dirty="0"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11-1=10 faults</a:t>
            </a:r>
            <a:r>
              <a:rPr sz="2000" b="1" spc="-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remains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1157" y="3003702"/>
            <a:ext cx="6912968" cy="2399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8B791-E26B-EE4B-0E24-A0132FFE735C}"/>
              </a:ext>
            </a:extLst>
          </p:cNvPr>
          <p:cNvSpPr txBox="1"/>
          <p:nvPr/>
        </p:nvSpPr>
        <p:spPr>
          <a:xfrm>
            <a:off x="3695700" y="401489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highlight>
                  <a:srgbClr val="FFFFFF"/>
                </a:highlight>
              </a:rPr>
              <a:t>{C/0, L/0}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132" y="164414"/>
            <a:ext cx="2837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spc="-5" dirty="0"/>
              <a:t>(</a:t>
            </a:r>
            <a:r>
              <a:rPr i="1" spc="-5" dirty="0">
                <a:latin typeface="Arial-BoldItalicMT"/>
                <a:cs typeface="Arial-BoldItalicMT"/>
              </a:rPr>
              <a:t>P</a:t>
            </a:r>
            <a:r>
              <a:rPr sz="3600" i="1" spc="-7" baseline="-20833" dirty="0">
                <a:latin typeface="Arial-BoldItalicMT"/>
                <a:cs typeface="Arial-BoldItalicMT"/>
              </a:rPr>
              <a:t>3</a:t>
            </a:r>
            <a:r>
              <a:rPr sz="3600" spc="-5" dirty="0"/>
              <a:t>)</a:t>
            </a:r>
            <a:endParaRPr sz="3600">
              <a:latin typeface="Arial-BoldItalicMT"/>
              <a:cs typeface="Arial-BoldItalic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524" y="961136"/>
            <a:ext cx="87740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Detected so far: {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A/1, H/1, B/0, E/0, F/0, J/1, K/0, C/0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},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P3: ABC = 100</a:t>
            </a:r>
            <a:endParaRPr lang="en-US" sz="2000" b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38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5B9DDF0D-9738-CCF9-AC0B-0997EBB83477}"/>
              </a:ext>
            </a:extLst>
          </p:cNvPr>
          <p:cNvSpPr txBox="1"/>
          <p:nvPr/>
        </p:nvSpPr>
        <p:spPr>
          <a:xfrm>
            <a:off x="232549" y="4384381"/>
            <a:ext cx="8774076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To determine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K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, visit each fault in each of the two fault lists:</a:t>
            </a:r>
            <a:endParaRPr lang="en-US" sz="2000" b="1" i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825500" lvl="1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For a given fault such as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B/1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in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H</a:t>
            </a:r>
          </a:p>
          <a:p>
            <a:pPr marL="1282700" lvl="2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B/1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in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H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 H changes from 0 to 1 in presence of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B/1</a:t>
            </a:r>
            <a:endParaRPr lang="en-US" sz="2000" b="1" i="1" baseline="-25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  <a:sym typeface="Wingdings" pitchFamily="2" charset="2"/>
            </a:endParaRPr>
          </a:p>
          <a:p>
            <a:pPr marL="1282700" lvl="2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B/1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in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J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 J  changes from 1 to 0 in presence of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B/1</a:t>
            </a:r>
          </a:p>
          <a:p>
            <a:pPr marL="1282700" lvl="2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H=1 and J=1 --&gt; K=0 (due to B/1) which is same as K=0 (fault-free case)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 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B/1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 does 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not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 propagate to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K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3C50421F-8253-A88C-B8B3-BB42F778A9F7}"/>
              </a:ext>
            </a:extLst>
          </p:cNvPr>
          <p:cNvSpPr/>
          <p:nvPr/>
        </p:nvSpPr>
        <p:spPr>
          <a:xfrm>
            <a:off x="778227" y="1295400"/>
            <a:ext cx="7592766" cy="2647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ABC3CADD-2940-64DD-4A8C-62107290AAED}"/>
              </a:ext>
            </a:extLst>
          </p:cNvPr>
          <p:cNvSpPr/>
          <p:nvPr/>
        </p:nvSpPr>
        <p:spPr>
          <a:xfrm>
            <a:off x="3419855" y="2559780"/>
            <a:ext cx="1080770" cy="360045"/>
          </a:xfrm>
          <a:custGeom>
            <a:avLst/>
            <a:gdLst/>
            <a:ahLst/>
            <a:cxnLst/>
            <a:rect l="l" t="t" r="r" b="b"/>
            <a:pathLst>
              <a:path w="1080770" h="360045">
                <a:moveTo>
                  <a:pt x="0" y="359664"/>
                </a:moveTo>
                <a:lnTo>
                  <a:pt x="1080515" y="359664"/>
                </a:lnTo>
                <a:lnTo>
                  <a:pt x="1080515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71543D02-F74C-071F-A0F0-583C1C364E36}"/>
              </a:ext>
            </a:extLst>
          </p:cNvPr>
          <p:cNvSpPr txBox="1"/>
          <p:nvPr/>
        </p:nvSpPr>
        <p:spPr>
          <a:xfrm>
            <a:off x="3407409" y="2550383"/>
            <a:ext cx="10706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Times New Roman"/>
                <a:cs typeface="Times New Roman"/>
              </a:rPr>
              <a:t>{B/1, C/1,</a:t>
            </a:r>
            <a:r>
              <a:rPr sz="1400" i="1" spc="-10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E/1,  </a:t>
            </a:r>
            <a:r>
              <a:rPr sz="1400" i="1" dirty="0">
                <a:latin typeface="Times New Roman"/>
                <a:cs typeface="Times New Roman"/>
              </a:rPr>
              <a:t>L/1}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B6100484-FAF2-9DC3-3442-63E62A9FC064}"/>
              </a:ext>
            </a:extLst>
          </p:cNvPr>
          <p:cNvSpPr txBox="1"/>
          <p:nvPr/>
        </p:nvSpPr>
        <p:spPr>
          <a:xfrm>
            <a:off x="6545580" y="3475704"/>
            <a:ext cx="259079" cy="3079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64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20"/>
              </a:spcBef>
            </a:pPr>
            <a:r>
              <a:rPr sz="1400" b="1" i="1" dirty="0">
                <a:latin typeface="TimesNewRomanPS-BoldItalicMT"/>
                <a:cs typeface="TimesNewRomanPS-BoldItalicMT"/>
              </a:rPr>
              <a:t>F/1</a:t>
            </a:r>
            <a:endParaRPr sz="1400">
              <a:latin typeface="TimesNewRomanPS-BoldItalicMT"/>
              <a:cs typeface="TimesNewRomanPS-BoldItalic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B33D-402A-ECAB-7D04-AA3BE75F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C3DE95-4262-6E81-E22E-F879DDB714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8132" y="164414"/>
            <a:ext cx="2837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spc="-5" dirty="0"/>
              <a:t>(</a:t>
            </a:r>
            <a:r>
              <a:rPr i="1" spc="-5" dirty="0">
                <a:latin typeface="Arial-BoldItalicMT"/>
                <a:cs typeface="Arial-BoldItalicMT"/>
              </a:rPr>
              <a:t>P</a:t>
            </a:r>
            <a:r>
              <a:rPr sz="3600" i="1" spc="-7" baseline="-20833" dirty="0">
                <a:latin typeface="Arial-BoldItalicMT"/>
                <a:cs typeface="Arial-BoldItalicMT"/>
              </a:rPr>
              <a:t>3</a:t>
            </a:r>
            <a:r>
              <a:rPr sz="3600" spc="-5" dirty="0"/>
              <a:t>)</a:t>
            </a:r>
            <a:endParaRPr sz="3600">
              <a:latin typeface="Arial-BoldItalicMT"/>
              <a:cs typeface="Arial-BoldItalic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AC242A-B179-18DC-2FD9-BDB730C83FFF}"/>
              </a:ext>
            </a:extLst>
          </p:cNvPr>
          <p:cNvSpPr txBox="1"/>
          <p:nvPr/>
        </p:nvSpPr>
        <p:spPr>
          <a:xfrm>
            <a:off x="217524" y="961136"/>
            <a:ext cx="87740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Detected so far: {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A/1, H/1, B/0, E/0, F/0, J/1, K/0, C/0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},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P3: ABC = 100</a:t>
            </a:r>
            <a:endParaRPr lang="en-US" sz="2000" b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C0C641F-483A-BA9F-11D6-B0A97E766D0E}"/>
              </a:ext>
            </a:extLst>
          </p:cNvPr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39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294D1E40-C297-728E-3D4C-BD7CB92BE508}"/>
              </a:ext>
            </a:extLst>
          </p:cNvPr>
          <p:cNvSpPr txBox="1"/>
          <p:nvPr/>
        </p:nvSpPr>
        <p:spPr>
          <a:xfrm>
            <a:off x="232549" y="4384381"/>
            <a:ext cx="8774076" cy="22320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To determine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K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, visit each fault in each of the two fault lists:</a:t>
            </a:r>
            <a:endParaRPr lang="en-US" sz="2000" b="1" i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825500" lvl="1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For another fault such as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F/1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in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J</a:t>
            </a:r>
          </a:p>
          <a:p>
            <a:pPr marL="1282700" lvl="2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F/1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is not in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H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 H remains 0 (non-controlling)</a:t>
            </a:r>
            <a:endParaRPr lang="en-US" sz="2000" b="1" baseline="-25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  <a:sym typeface="Wingdings" pitchFamily="2" charset="2"/>
            </a:endParaRPr>
          </a:p>
          <a:p>
            <a:pPr marL="1282700" lvl="2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F/1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is not in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J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 J changes from 1 to 0 </a:t>
            </a:r>
          </a:p>
          <a:p>
            <a:pPr marL="1282700" lvl="2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H=0, J=0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 K=1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(for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F/1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) which is different than K=0 (fault-free case)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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F/1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 propagates to 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L</a:t>
            </a:r>
            <a:r>
              <a:rPr lang="en-US" sz="2000" b="1" i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  <a:sym typeface="Wingdings" pitchFamily="2" charset="2"/>
              </a:rPr>
              <a:t>K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 </a:t>
            </a:r>
            <a:endParaRPr lang="en-US" sz="2000" b="1" baseline="-250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  <a:sym typeface="Wingdings" pitchFamily="2" charset="2"/>
            </a:endParaRPr>
          </a:p>
          <a:p>
            <a:pPr marL="939800" lvl="2">
              <a:spcBef>
                <a:spcPts val="105"/>
              </a:spcBef>
              <a:buClr>
                <a:srgbClr val="FF0000"/>
              </a:buClr>
              <a:buSzPct val="120000"/>
              <a:tabLst>
                <a:tab pos="367665" algn="l"/>
                <a:tab pos="368300" algn="l"/>
              </a:tabLst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  <a:sym typeface="Wingdings" pitchFamily="2" charset="2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FB18F3C1-C8DB-90DF-AB77-C2655622F59C}"/>
              </a:ext>
            </a:extLst>
          </p:cNvPr>
          <p:cNvSpPr/>
          <p:nvPr/>
        </p:nvSpPr>
        <p:spPr>
          <a:xfrm>
            <a:off x="778227" y="1295400"/>
            <a:ext cx="7592766" cy="2647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8B4F4BB2-70D3-CDC5-66E2-A1154579A2BF}"/>
              </a:ext>
            </a:extLst>
          </p:cNvPr>
          <p:cNvSpPr/>
          <p:nvPr/>
        </p:nvSpPr>
        <p:spPr>
          <a:xfrm>
            <a:off x="3419855" y="2559780"/>
            <a:ext cx="1080770" cy="360045"/>
          </a:xfrm>
          <a:custGeom>
            <a:avLst/>
            <a:gdLst/>
            <a:ahLst/>
            <a:cxnLst/>
            <a:rect l="l" t="t" r="r" b="b"/>
            <a:pathLst>
              <a:path w="1080770" h="360045">
                <a:moveTo>
                  <a:pt x="0" y="359664"/>
                </a:moveTo>
                <a:lnTo>
                  <a:pt x="1080515" y="359664"/>
                </a:lnTo>
                <a:lnTo>
                  <a:pt x="1080515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D71763F3-679B-5414-EA25-0EF3A38B76A1}"/>
              </a:ext>
            </a:extLst>
          </p:cNvPr>
          <p:cNvSpPr txBox="1"/>
          <p:nvPr/>
        </p:nvSpPr>
        <p:spPr>
          <a:xfrm>
            <a:off x="3407409" y="2550383"/>
            <a:ext cx="10706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Times New Roman"/>
                <a:cs typeface="Times New Roman"/>
              </a:rPr>
              <a:t>{B/1, C/1,</a:t>
            </a:r>
            <a:r>
              <a:rPr sz="1400" i="1" spc="-10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E/1,  </a:t>
            </a:r>
            <a:r>
              <a:rPr sz="1400" i="1" dirty="0">
                <a:latin typeface="Times New Roman"/>
                <a:cs typeface="Times New Roman"/>
              </a:rPr>
              <a:t>L/1}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1C18DAB9-C6DC-CDD2-6BAF-43FCFC8F07E6}"/>
              </a:ext>
            </a:extLst>
          </p:cNvPr>
          <p:cNvSpPr txBox="1"/>
          <p:nvPr/>
        </p:nvSpPr>
        <p:spPr>
          <a:xfrm>
            <a:off x="6545580" y="3475704"/>
            <a:ext cx="259079" cy="3079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64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20"/>
              </a:spcBef>
            </a:pPr>
            <a:r>
              <a:rPr sz="1400" b="1" i="1" dirty="0">
                <a:latin typeface="TimesNewRomanPS-BoldItalicMT"/>
                <a:cs typeface="TimesNewRomanPS-BoldItalicMT"/>
              </a:rPr>
              <a:t>F/1</a:t>
            </a:r>
            <a:endParaRPr sz="1400">
              <a:latin typeface="TimesNewRomanPS-BoldItalicMT"/>
              <a:cs typeface="TimesNewRomanPS-BoldItalicMT"/>
            </a:endParaRPr>
          </a:p>
        </p:txBody>
      </p:sp>
    </p:spTree>
    <p:extLst>
      <p:ext uri="{BB962C8B-B14F-4D97-AF65-F5344CB8AC3E}">
        <p14:creationId xmlns:p14="http://schemas.microsoft.com/office/powerpoint/2010/main" val="195690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72E4-ECD6-AA9F-8E22-E36B0B4B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8D5226-D734-B117-BB85-5AC9D7333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88132" y="164414"/>
            <a:ext cx="28378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spc="-5" dirty="0"/>
              <a:t>(</a:t>
            </a:r>
            <a:r>
              <a:rPr i="1" spc="-5" dirty="0">
                <a:latin typeface="Arial-BoldItalicMT"/>
                <a:cs typeface="Arial-BoldItalicMT"/>
              </a:rPr>
              <a:t>P</a:t>
            </a:r>
            <a:r>
              <a:rPr sz="3600" i="1" spc="-7" baseline="-20833" dirty="0">
                <a:latin typeface="Arial-BoldItalicMT"/>
                <a:cs typeface="Arial-BoldItalicMT"/>
              </a:rPr>
              <a:t>3</a:t>
            </a:r>
            <a:r>
              <a:rPr sz="3600" spc="-5" dirty="0"/>
              <a:t>)</a:t>
            </a:r>
            <a:endParaRPr sz="3600">
              <a:latin typeface="Arial-BoldItalicMT"/>
              <a:cs typeface="Arial-BoldItalic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8C8F48-2629-33E3-7297-722D5C8DEDCE}"/>
              </a:ext>
            </a:extLst>
          </p:cNvPr>
          <p:cNvSpPr txBox="1"/>
          <p:nvPr/>
        </p:nvSpPr>
        <p:spPr>
          <a:xfrm>
            <a:off x="217524" y="961136"/>
            <a:ext cx="8774076" cy="10137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indent="-342900"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Detected so far: {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A/1, H/1, B/0, E/0, F/0, J/1, K/0, C/0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}, </a:t>
            </a:r>
            <a:r>
              <a:rPr lang="en-US" sz="2000" b="1" dirty="0">
                <a:solidFill>
                  <a:srgbClr val="00B050"/>
                </a:solidFill>
                <a:latin typeface="Arial"/>
                <a:cs typeface="Arial"/>
              </a:rPr>
              <a:t>P3: ABC = 100</a:t>
            </a:r>
            <a:endParaRPr lang="en-US" sz="2000" b="1" dirty="0">
              <a:solidFill>
                <a:srgbClr val="0000FF"/>
              </a:solidFill>
              <a:latin typeface="Arial"/>
              <a:cs typeface="Arial"/>
            </a:endParaRPr>
          </a:p>
          <a:p>
            <a:pPr marL="368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Three </a:t>
            </a:r>
            <a:r>
              <a:rPr sz="2000" b="1" dirty="0">
                <a:latin typeface="Arial"/>
                <a:cs typeface="Arial"/>
              </a:rPr>
              <a:t>more faults are detected by</a:t>
            </a:r>
            <a:r>
              <a:rPr sz="2000" b="1" spc="-160" dirty="0">
                <a:latin typeface="Arial"/>
                <a:cs typeface="Arial"/>
              </a:rPr>
              <a:t> </a:t>
            </a:r>
            <a:r>
              <a:rPr sz="2000" b="1" i="1" spc="5" dirty="0">
                <a:latin typeface="Arial-BoldItalicMT"/>
                <a:cs typeface="Arial-BoldItalicMT"/>
              </a:rPr>
              <a:t>P</a:t>
            </a:r>
            <a:r>
              <a:rPr sz="1950" b="1" i="1" spc="7" baseline="-21367" dirty="0">
                <a:latin typeface="Arial-BoldItalicMT"/>
                <a:cs typeface="Arial-BoldItalicMT"/>
              </a:rPr>
              <a:t>3</a:t>
            </a:r>
            <a:r>
              <a:rPr lang="en-US" sz="1950" b="1" i="1" spc="7" baseline="-21367" dirty="0">
                <a:latin typeface="Arial-BoldItalicMT"/>
                <a:cs typeface="Arial-BoldItalicMT"/>
              </a:rPr>
              <a:t> </a:t>
            </a:r>
            <a:r>
              <a:rPr lang="en-US" b="1" dirty="0">
                <a:latin typeface="Arial"/>
                <a:cs typeface="Arial"/>
              </a:rPr>
              <a:t>= {100}</a:t>
            </a:r>
            <a:endParaRPr sz="1950" baseline="-21367" dirty="0">
              <a:latin typeface="Arial-BoldItalicMT"/>
              <a:cs typeface="Arial-BoldItalicMT"/>
            </a:endParaRPr>
          </a:p>
          <a:p>
            <a:pPr marL="3683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000" b="1" dirty="0">
                <a:latin typeface="Arial"/>
                <a:cs typeface="Arial"/>
              </a:rPr>
              <a:t>10-3=7 faults remains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undetected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9E4E012-8D08-18EA-A371-1B88D6443928}"/>
              </a:ext>
            </a:extLst>
          </p:cNvPr>
          <p:cNvSpPr txBox="1"/>
          <p:nvPr/>
        </p:nvSpPr>
        <p:spPr>
          <a:xfrm>
            <a:off x="1563624" y="5955791"/>
            <a:ext cx="6017260" cy="58547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284"/>
              </a:spcBef>
            </a:pP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Fault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Coverage = </a:t>
            </a:r>
            <a:r>
              <a:rPr sz="3200" b="1" spc="-40" dirty="0">
                <a:solidFill>
                  <a:srgbClr val="FF0000"/>
                </a:solidFill>
                <a:latin typeface="Helvetica"/>
                <a:cs typeface="Helvetica"/>
              </a:rPr>
              <a:t>11/18 </a:t>
            </a:r>
            <a:r>
              <a:rPr sz="3200" b="1" dirty="0">
                <a:solidFill>
                  <a:srgbClr val="FF0000"/>
                </a:solidFill>
                <a:latin typeface="Helvetica"/>
                <a:cs typeface="Helvetica"/>
              </a:rPr>
              <a:t>=</a:t>
            </a:r>
            <a:r>
              <a:rPr sz="3200" b="1" spc="-6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Helvetica"/>
                <a:cs typeface="Helvetica"/>
              </a:rPr>
              <a:t>61%</a:t>
            </a:r>
            <a:endParaRPr sz="3200">
              <a:latin typeface="Helvetica"/>
              <a:cs typeface="Helvetic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5919CFE-8ED8-05CA-115F-B9FBC2E88924}"/>
              </a:ext>
            </a:extLst>
          </p:cNvPr>
          <p:cNvSpPr/>
          <p:nvPr/>
        </p:nvSpPr>
        <p:spPr>
          <a:xfrm>
            <a:off x="778227" y="2264695"/>
            <a:ext cx="7592766" cy="2647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7993591-D00A-6581-DA86-656C0AB224F7}"/>
              </a:ext>
            </a:extLst>
          </p:cNvPr>
          <p:cNvSpPr/>
          <p:nvPr/>
        </p:nvSpPr>
        <p:spPr>
          <a:xfrm>
            <a:off x="3419855" y="3529075"/>
            <a:ext cx="1080770" cy="360045"/>
          </a:xfrm>
          <a:custGeom>
            <a:avLst/>
            <a:gdLst/>
            <a:ahLst/>
            <a:cxnLst/>
            <a:rect l="l" t="t" r="r" b="b"/>
            <a:pathLst>
              <a:path w="1080770" h="360045">
                <a:moveTo>
                  <a:pt x="0" y="359664"/>
                </a:moveTo>
                <a:lnTo>
                  <a:pt x="1080515" y="359664"/>
                </a:lnTo>
                <a:lnTo>
                  <a:pt x="1080515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AEEF5CB-AFBC-C1CE-C786-469D51C15E73}"/>
              </a:ext>
            </a:extLst>
          </p:cNvPr>
          <p:cNvSpPr txBox="1"/>
          <p:nvPr/>
        </p:nvSpPr>
        <p:spPr>
          <a:xfrm>
            <a:off x="3407409" y="3519678"/>
            <a:ext cx="10706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Times New Roman"/>
                <a:cs typeface="Times New Roman"/>
              </a:rPr>
              <a:t>{B/1, C/1,</a:t>
            </a:r>
            <a:r>
              <a:rPr sz="1400" i="1" spc="-100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E/1,  </a:t>
            </a:r>
            <a:r>
              <a:rPr sz="1400" i="1" dirty="0">
                <a:latin typeface="Times New Roman"/>
                <a:cs typeface="Times New Roman"/>
              </a:rPr>
              <a:t>L/1}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51E8017-1D14-EFF7-A62A-491E8BDADD45}"/>
              </a:ext>
            </a:extLst>
          </p:cNvPr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40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9563B07-2033-F155-2D51-066FEB27CDC4}"/>
              </a:ext>
            </a:extLst>
          </p:cNvPr>
          <p:cNvSpPr txBox="1"/>
          <p:nvPr/>
        </p:nvSpPr>
        <p:spPr>
          <a:xfrm>
            <a:off x="6545580" y="4444999"/>
            <a:ext cx="259079" cy="30797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064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320"/>
              </a:spcBef>
            </a:pPr>
            <a:r>
              <a:rPr sz="1400" b="1" i="1" dirty="0">
                <a:latin typeface="TimesNewRomanPS-BoldItalicMT"/>
                <a:cs typeface="TimesNewRomanPS-BoldItalicMT"/>
              </a:rPr>
              <a:t>F/1</a:t>
            </a:r>
            <a:endParaRPr sz="1400">
              <a:latin typeface="TimesNewRomanPS-BoldItalicMT"/>
              <a:cs typeface="TimesNewRomanPS-BoldItalicM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3E3CDD3-05C4-5085-451F-E08F11C17A74}"/>
              </a:ext>
            </a:extLst>
          </p:cNvPr>
          <p:cNvSpPr txBox="1"/>
          <p:nvPr/>
        </p:nvSpPr>
        <p:spPr>
          <a:xfrm>
            <a:off x="3498850" y="5155565"/>
            <a:ext cx="1929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(WWW Fig</a:t>
            </a:r>
            <a:r>
              <a:rPr sz="2000" b="1" spc="-114" dirty="0">
                <a:solidFill>
                  <a:srgbClr val="A6A6A6"/>
                </a:solidFill>
                <a:latin typeface="Helvetica"/>
                <a:cs typeface="Helvetica"/>
              </a:rPr>
              <a:t> </a:t>
            </a:r>
            <a:r>
              <a:rPr sz="2000" b="1" dirty="0">
                <a:solidFill>
                  <a:srgbClr val="A6A6A6"/>
                </a:solidFill>
                <a:latin typeface="Helvetica"/>
                <a:cs typeface="Helvetica"/>
              </a:rPr>
              <a:t>3.28)</a:t>
            </a:r>
            <a:endParaRPr sz="200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5501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5222" y="164414"/>
            <a:ext cx="622363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Fault </a:t>
            </a:r>
            <a:r>
              <a:rPr dirty="0"/>
              <a:t>List Propagation</a:t>
            </a:r>
            <a:r>
              <a:rPr spc="-55" dirty="0"/>
              <a:t> </a:t>
            </a:r>
            <a:r>
              <a:rPr spc="-5" dirty="0"/>
              <a:t>Rules</a:t>
            </a:r>
            <a:br>
              <a:rPr lang="en-US" spc="-5" dirty="0"/>
            </a:br>
            <a:r>
              <a:rPr lang="en-US" spc="-5" dirty="0"/>
              <a:t>	(no need to know)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48513" y="3269639"/>
            <a:ext cx="149860" cy="70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100"/>
              </a:spcBef>
            </a:pPr>
            <a:r>
              <a:rPr sz="1600" b="1" i="1" spc="-25" dirty="0">
                <a:latin typeface="HelveticaNeue-BoldItalic"/>
                <a:cs typeface="HelveticaNeue-BoldItalic"/>
              </a:rPr>
              <a:t>a  </a:t>
            </a:r>
            <a:r>
              <a:rPr sz="1600" b="1" i="1" spc="-5" dirty="0">
                <a:latin typeface="HelveticaNeue-BoldItalic"/>
                <a:cs typeface="HelveticaNeue-BoldItalic"/>
              </a:rPr>
              <a:t>b</a:t>
            </a:r>
            <a:endParaRPr sz="1600">
              <a:latin typeface="HelveticaNeue-BoldItalic"/>
              <a:cs typeface="HelveticaNeue-BoldIt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7670" y="3521709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HelveticaNeue-BoldItalic"/>
                <a:cs typeface="HelveticaNeue-BoldItalic"/>
              </a:rPr>
              <a:t>c</a:t>
            </a:r>
            <a:endParaRPr sz="1600">
              <a:latin typeface="HelveticaNeue-BoldItalic"/>
              <a:cs typeface="HelveticaNeue-BoldItal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8612" y="3565083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739" y="0"/>
                </a:lnTo>
              </a:path>
            </a:pathLst>
          </a:custGeom>
          <a:ln w="4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8612" y="3855552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739" y="0"/>
                </a:lnTo>
              </a:path>
            </a:pathLst>
          </a:custGeom>
          <a:ln w="4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2351" y="3710318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583739" y="0"/>
                </a:moveTo>
                <a:lnTo>
                  <a:pt x="0" y="0"/>
                </a:lnTo>
              </a:path>
            </a:pathLst>
          </a:custGeom>
          <a:ln w="41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2914" y="3419832"/>
            <a:ext cx="759460" cy="581025"/>
          </a:xfrm>
          <a:custGeom>
            <a:avLst/>
            <a:gdLst/>
            <a:ahLst/>
            <a:cxnLst/>
            <a:rect l="l" t="t" r="r" b="b"/>
            <a:pathLst>
              <a:path w="759460" h="581025">
                <a:moveTo>
                  <a:pt x="227658" y="0"/>
                </a:moveTo>
                <a:lnTo>
                  <a:pt x="0" y="0"/>
                </a:lnTo>
                <a:lnTo>
                  <a:pt x="30030" y="42971"/>
                </a:lnTo>
                <a:lnTo>
                  <a:pt x="55056" y="86802"/>
                </a:lnTo>
                <a:lnTo>
                  <a:pt x="75076" y="131336"/>
                </a:lnTo>
                <a:lnTo>
                  <a:pt x="90092" y="176417"/>
                </a:lnTo>
                <a:lnTo>
                  <a:pt x="100102" y="221888"/>
                </a:lnTo>
                <a:lnTo>
                  <a:pt x="105107" y="267593"/>
                </a:lnTo>
                <a:lnTo>
                  <a:pt x="105107" y="313376"/>
                </a:lnTo>
                <a:lnTo>
                  <a:pt x="100102" y="359081"/>
                </a:lnTo>
                <a:lnTo>
                  <a:pt x="90092" y="404552"/>
                </a:lnTo>
                <a:lnTo>
                  <a:pt x="75076" y="449632"/>
                </a:lnTo>
                <a:lnTo>
                  <a:pt x="55056" y="494165"/>
                </a:lnTo>
                <a:lnTo>
                  <a:pt x="30030" y="537994"/>
                </a:lnTo>
                <a:lnTo>
                  <a:pt x="0" y="580964"/>
                </a:lnTo>
                <a:lnTo>
                  <a:pt x="227658" y="580964"/>
                </a:lnTo>
                <a:lnTo>
                  <a:pt x="282917" y="570667"/>
                </a:lnTo>
                <a:lnTo>
                  <a:pt x="336390" y="558027"/>
                </a:lnTo>
                <a:lnTo>
                  <a:pt x="387909" y="543136"/>
                </a:lnTo>
                <a:lnTo>
                  <a:pt x="437307" y="526085"/>
                </a:lnTo>
                <a:lnTo>
                  <a:pt x="484417" y="506966"/>
                </a:lnTo>
                <a:lnTo>
                  <a:pt x="529072" y="485870"/>
                </a:lnTo>
                <a:lnTo>
                  <a:pt x="571105" y="462889"/>
                </a:lnTo>
                <a:lnTo>
                  <a:pt x="610349" y="438113"/>
                </a:lnTo>
                <a:lnTo>
                  <a:pt x="646635" y="411634"/>
                </a:lnTo>
                <a:lnTo>
                  <a:pt x="679798" y="383544"/>
                </a:lnTo>
                <a:lnTo>
                  <a:pt x="709670" y="353934"/>
                </a:lnTo>
                <a:lnTo>
                  <a:pt x="736084" y="322896"/>
                </a:lnTo>
                <a:lnTo>
                  <a:pt x="758873" y="290520"/>
                </a:lnTo>
                <a:lnTo>
                  <a:pt x="736393" y="257999"/>
                </a:lnTo>
                <a:lnTo>
                  <a:pt x="710217" y="226829"/>
                </a:lnTo>
                <a:lnTo>
                  <a:pt x="680519" y="197104"/>
                </a:lnTo>
                <a:lnTo>
                  <a:pt x="647470" y="168916"/>
                </a:lnTo>
                <a:lnTo>
                  <a:pt x="611242" y="142362"/>
                </a:lnTo>
                <a:lnTo>
                  <a:pt x="572008" y="117534"/>
                </a:lnTo>
                <a:lnTo>
                  <a:pt x="529939" y="94527"/>
                </a:lnTo>
                <a:lnTo>
                  <a:pt x="485209" y="73436"/>
                </a:lnTo>
                <a:lnTo>
                  <a:pt x="437989" y="54353"/>
                </a:lnTo>
                <a:lnTo>
                  <a:pt x="388452" y="37375"/>
                </a:lnTo>
                <a:lnTo>
                  <a:pt x="336770" y="22593"/>
                </a:lnTo>
                <a:lnTo>
                  <a:pt x="283114" y="10103"/>
                </a:lnTo>
                <a:lnTo>
                  <a:pt x="2276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2914" y="3419832"/>
            <a:ext cx="759460" cy="581025"/>
          </a:xfrm>
          <a:custGeom>
            <a:avLst/>
            <a:gdLst/>
            <a:ahLst/>
            <a:cxnLst/>
            <a:rect l="l" t="t" r="r" b="b"/>
            <a:pathLst>
              <a:path w="759460" h="581025">
                <a:moveTo>
                  <a:pt x="758873" y="290520"/>
                </a:moveTo>
                <a:lnTo>
                  <a:pt x="736084" y="322896"/>
                </a:lnTo>
                <a:lnTo>
                  <a:pt x="709670" y="353934"/>
                </a:lnTo>
                <a:lnTo>
                  <a:pt x="679798" y="383544"/>
                </a:lnTo>
                <a:lnTo>
                  <a:pt x="646635" y="411634"/>
                </a:lnTo>
                <a:lnTo>
                  <a:pt x="610349" y="438113"/>
                </a:lnTo>
                <a:lnTo>
                  <a:pt x="571105" y="462889"/>
                </a:lnTo>
                <a:lnTo>
                  <a:pt x="529072" y="485870"/>
                </a:lnTo>
                <a:lnTo>
                  <a:pt x="484417" y="506966"/>
                </a:lnTo>
                <a:lnTo>
                  <a:pt x="437307" y="526085"/>
                </a:lnTo>
                <a:lnTo>
                  <a:pt x="387909" y="543136"/>
                </a:lnTo>
                <a:lnTo>
                  <a:pt x="336390" y="558027"/>
                </a:lnTo>
                <a:lnTo>
                  <a:pt x="282917" y="570667"/>
                </a:lnTo>
                <a:lnTo>
                  <a:pt x="227658" y="580964"/>
                </a:lnTo>
                <a:lnTo>
                  <a:pt x="0" y="580964"/>
                </a:lnTo>
                <a:lnTo>
                  <a:pt x="30030" y="537994"/>
                </a:lnTo>
                <a:lnTo>
                  <a:pt x="55056" y="494165"/>
                </a:lnTo>
                <a:lnTo>
                  <a:pt x="75076" y="449632"/>
                </a:lnTo>
                <a:lnTo>
                  <a:pt x="90092" y="404552"/>
                </a:lnTo>
                <a:lnTo>
                  <a:pt x="100102" y="359081"/>
                </a:lnTo>
                <a:lnTo>
                  <a:pt x="105107" y="313376"/>
                </a:lnTo>
                <a:lnTo>
                  <a:pt x="105107" y="267593"/>
                </a:lnTo>
                <a:lnTo>
                  <a:pt x="100102" y="221888"/>
                </a:lnTo>
                <a:lnTo>
                  <a:pt x="90092" y="176417"/>
                </a:lnTo>
                <a:lnTo>
                  <a:pt x="75076" y="131336"/>
                </a:lnTo>
                <a:lnTo>
                  <a:pt x="55056" y="86802"/>
                </a:lnTo>
                <a:lnTo>
                  <a:pt x="30030" y="42971"/>
                </a:lnTo>
                <a:lnTo>
                  <a:pt x="0" y="0"/>
                </a:lnTo>
                <a:lnTo>
                  <a:pt x="227658" y="0"/>
                </a:lnTo>
                <a:lnTo>
                  <a:pt x="283114" y="10103"/>
                </a:lnTo>
                <a:lnTo>
                  <a:pt x="336770" y="22593"/>
                </a:lnTo>
                <a:lnTo>
                  <a:pt x="388452" y="37375"/>
                </a:lnTo>
                <a:lnTo>
                  <a:pt x="437989" y="54353"/>
                </a:lnTo>
                <a:lnTo>
                  <a:pt x="485209" y="73436"/>
                </a:lnTo>
                <a:lnTo>
                  <a:pt x="529939" y="94527"/>
                </a:lnTo>
                <a:lnTo>
                  <a:pt x="572008" y="117534"/>
                </a:lnTo>
                <a:lnTo>
                  <a:pt x="611242" y="142362"/>
                </a:lnTo>
                <a:lnTo>
                  <a:pt x="647470" y="168916"/>
                </a:lnTo>
                <a:lnTo>
                  <a:pt x="680519" y="197104"/>
                </a:lnTo>
                <a:lnTo>
                  <a:pt x="710217" y="226829"/>
                </a:lnTo>
                <a:lnTo>
                  <a:pt x="736393" y="257999"/>
                </a:lnTo>
                <a:lnTo>
                  <a:pt x="758873" y="290520"/>
                </a:lnTo>
                <a:close/>
              </a:path>
            </a:pathLst>
          </a:custGeom>
          <a:ln w="4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2914" y="3419832"/>
            <a:ext cx="759460" cy="581025"/>
          </a:xfrm>
          <a:custGeom>
            <a:avLst/>
            <a:gdLst/>
            <a:ahLst/>
            <a:cxnLst/>
            <a:rect l="l" t="t" r="r" b="b"/>
            <a:pathLst>
              <a:path w="759460" h="581025">
                <a:moveTo>
                  <a:pt x="466994" y="0"/>
                </a:moveTo>
                <a:lnTo>
                  <a:pt x="0" y="0"/>
                </a:lnTo>
                <a:lnTo>
                  <a:pt x="0" y="580964"/>
                </a:lnTo>
                <a:lnTo>
                  <a:pt x="466994" y="580965"/>
                </a:lnTo>
                <a:lnTo>
                  <a:pt x="514339" y="577163"/>
                </a:lnTo>
                <a:lnTo>
                  <a:pt x="559252" y="566156"/>
                </a:lnTo>
                <a:lnTo>
                  <a:pt x="601131" y="548542"/>
                </a:lnTo>
                <a:lnTo>
                  <a:pt x="639375" y="524919"/>
                </a:lnTo>
                <a:lnTo>
                  <a:pt x="673385" y="495885"/>
                </a:lnTo>
                <a:lnTo>
                  <a:pt x="702558" y="462039"/>
                </a:lnTo>
                <a:lnTo>
                  <a:pt x="726294" y="423977"/>
                </a:lnTo>
                <a:lnTo>
                  <a:pt x="743993" y="382299"/>
                </a:lnTo>
                <a:lnTo>
                  <a:pt x="755052" y="337603"/>
                </a:lnTo>
                <a:lnTo>
                  <a:pt x="758873" y="290486"/>
                </a:lnTo>
                <a:lnTo>
                  <a:pt x="755052" y="243366"/>
                </a:lnTo>
                <a:lnTo>
                  <a:pt x="743993" y="198668"/>
                </a:lnTo>
                <a:lnTo>
                  <a:pt x="726294" y="156989"/>
                </a:lnTo>
                <a:lnTo>
                  <a:pt x="702558" y="118927"/>
                </a:lnTo>
                <a:lnTo>
                  <a:pt x="673385" y="85080"/>
                </a:lnTo>
                <a:lnTo>
                  <a:pt x="639375" y="56046"/>
                </a:lnTo>
                <a:lnTo>
                  <a:pt x="601130" y="32423"/>
                </a:lnTo>
                <a:lnTo>
                  <a:pt x="559252" y="14808"/>
                </a:lnTo>
                <a:lnTo>
                  <a:pt x="514339" y="3801"/>
                </a:lnTo>
                <a:lnTo>
                  <a:pt x="4669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2914" y="3419832"/>
            <a:ext cx="759460" cy="581025"/>
          </a:xfrm>
          <a:custGeom>
            <a:avLst/>
            <a:gdLst/>
            <a:ahLst/>
            <a:cxnLst/>
            <a:rect l="l" t="t" r="r" b="b"/>
            <a:pathLst>
              <a:path w="759460" h="581025">
                <a:moveTo>
                  <a:pt x="466994" y="580965"/>
                </a:moveTo>
                <a:lnTo>
                  <a:pt x="0" y="580964"/>
                </a:lnTo>
                <a:lnTo>
                  <a:pt x="0" y="0"/>
                </a:lnTo>
                <a:lnTo>
                  <a:pt x="466994" y="0"/>
                </a:lnTo>
                <a:lnTo>
                  <a:pt x="514339" y="3801"/>
                </a:lnTo>
                <a:lnTo>
                  <a:pt x="559252" y="14808"/>
                </a:lnTo>
                <a:lnTo>
                  <a:pt x="601130" y="32423"/>
                </a:lnTo>
                <a:lnTo>
                  <a:pt x="639375" y="56046"/>
                </a:lnTo>
                <a:lnTo>
                  <a:pt x="673384" y="85080"/>
                </a:lnTo>
                <a:lnTo>
                  <a:pt x="702558" y="118927"/>
                </a:lnTo>
                <a:lnTo>
                  <a:pt x="726294" y="156989"/>
                </a:lnTo>
                <a:lnTo>
                  <a:pt x="743993" y="198668"/>
                </a:lnTo>
                <a:lnTo>
                  <a:pt x="755052" y="243366"/>
                </a:lnTo>
                <a:lnTo>
                  <a:pt x="758873" y="290486"/>
                </a:lnTo>
                <a:lnTo>
                  <a:pt x="755052" y="337603"/>
                </a:lnTo>
                <a:lnTo>
                  <a:pt x="743993" y="382299"/>
                </a:lnTo>
                <a:lnTo>
                  <a:pt x="726294" y="423977"/>
                </a:lnTo>
                <a:lnTo>
                  <a:pt x="702558" y="462039"/>
                </a:lnTo>
                <a:lnTo>
                  <a:pt x="673385" y="495885"/>
                </a:lnTo>
                <a:lnTo>
                  <a:pt x="639375" y="524919"/>
                </a:lnTo>
                <a:lnTo>
                  <a:pt x="601130" y="548542"/>
                </a:lnTo>
                <a:lnTo>
                  <a:pt x="559252" y="566156"/>
                </a:lnTo>
                <a:lnTo>
                  <a:pt x="514339" y="577163"/>
                </a:lnTo>
                <a:lnTo>
                  <a:pt x="466994" y="580965"/>
                </a:lnTo>
                <a:close/>
              </a:path>
            </a:pathLst>
          </a:custGeom>
          <a:ln w="41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2627" y="2014727"/>
            <a:ext cx="1181099" cy="571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8513" y="4848809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30" dirty="0">
                <a:latin typeface="HelveticaNeue-BoldItalic"/>
                <a:cs typeface="HelveticaNeue-BoldItalic"/>
              </a:rPr>
              <a:t>a</a:t>
            </a:r>
            <a:endParaRPr sz="1600">
              <a:latin typeface="HelveticaNeue-BoldItalic"/>
              <a:cs typeface="HelveticaNeue-BoldItal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4517" y="4488941"/>
            <a:ext cx="149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HelveticaNeue-BoldItalic"/>
                <a:cs typeface="HelveticaNeue-BoldItalic"/>
              </a:rPr>
              <a:t>b</a:t>
            </a:r>
            <a:endParaRPr sz="1600">
              <a:latin typeface="HelveticaNeue-BoldItalic"/>
              <a:cs typeface="HelveticaNeue-BoldItal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3289" y="5208270"/>
            <a:ext cx="7261225" cy="1026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4825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HelveticaNeue-BoldItalic"/>
                <a:cs typeface="HelveticaNeue-BoldItalic"/>
              </a:rPr>
              <a:t>c</a:t>
            </a:r>
            <a:endParaRPr sz="1600">
              <a:latin typeface="HelveticaNeue-BoldItalic"/>
              <a:cs typeface="HelveticaNeue-BoldItalic"/>
            </a:endParaRPr>
          </a:p>
          <a:p>
            <a:pPr>
              <a:lnSpc>
                <a:spcPct val="100000"/>
              </a:lnSpc>
            </a:pPr>
            <a:endParaRPr sz="1900">
              <a:latin typeface="HelveticaNeue-BoldItalic"/>
              <a:cs typeface="HelveticaNeue-BoldItalic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  <a:tabLst>
                <a:tab pos="2416175" algn="l"/>
                <a:tab pos="4264025" algn="l"/>
              </a:tabLst>
            </a:pPr>
            <a:r>
              <a:rPr sz="2000" b="1" dirty="0">
                <a:latin typeface="Helvetica"/>
                <a:cs typeface="Helvetica"/>
              </a:rPr>
              <a:t>∩ </a:t>
            </a:r>
            <a:r>
              <a:rPr sz="1800" b="1" dirty="0">
                <a:latin typeface="Helvetica"/>
                <a:cs typeface="Helvetica"/>
              </a:rPr>
              <a:t>=</a:t>
            </a:r>
            <a:r>
              <a:rPr sz="1800" b="1" spc="25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set</a:t>
            </a:r>
            <a:r>
              <a:rPr sz="1800" b="1" spc="10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intersection;	</a:t>
            </a:r>
            <a:r>
              <a:rPr sz="2000" b="1" spc="500" dirty="0">
                <a:latin typeface="Palatino"/>
                <a:cs typeface="Palatino"/>
              </a:rPr>
              <a:t>∪</a:t>
            </a:r>
            <a:r>
              <a:rPr sz="1800" b="1" spc="500" dirty="0">
                <a:latin typeface="Helvetica"/>
                <a:cs typeface="Helvetica"/>
              </a:rPr>
              <a:t>=</a:t>
            </a:r>
            <a:r>
              <a:rPr sz="1800" b="1" spc="-20" dirty="0">
                <a:latin typeface="Helvetica"/>
                <a:cs typeface="Helvetica"/>
              </a:rPr>
              <a:t> </a:t>
            </a:r>
            <a:r>
              <a:rPr sz="1800" b="1" spc="-5" dirty="0">
                <a:latin typeface="Helvetica"/>
                <a:cs typeface="Helvetica"/>
              </a:rPr>
              <a:t>set </a:t>
            </a:r>
            <a:r>
              <a:rPr sz="1800" b="1" dirty="0">
                <a:latin typeface="Helvetica"/>
                <a:cs typeface="Helvetica"/>
              </a:rPr>
              <a:t>union</a:t>
            </a:r>
            <a:r>
              <a:rPr sz="1800" b="1" spc="490" dirty="0">
                <a:latin typeface="Helvetica"/>
                <a:cs typeface="Helvetica"/>
              </a:rPr>
              <a:t> </a:t>
            </a:r>
            <a:r>
              <a:rPr sz="1800" b="1" dirty="0">
                <a:latin typeface="Helvetica"/>
                <a:cs typeface="Helvetica"/>
              </a:rPr>
              <a:t>;	</a:t>
            </a:r>
            <a:r>
              <a:rPr sz="1800" b="1" spc="-20" dirty="0">
                <a:latin typeface="Helvetica"/>
                <a:cs typeface="Helvetica"/>
              </a:rPr>
              <a:t>A-B </a:t>
            </a:r>
            <a:r>
              <a:rPr sz="1800" b="1" dirty="0">
                <a:latin typeface="Helvetica"/>
                <a:cs typeface="Helvetica"/>
              </a:rPr>
              <a:t>= </a:t>
            </a:r>
            <a:r>
              <a:rPr sz="1800" b="1" spc="-15" dirty="0">
                <a:latin typeface="Helvetica"/>
                <a:cs typeface="Helvetica"/>
              </a:rPr>
              <a:t>remove (A∩B) </a:t>
            </a:r>
            <a:r>
              <a:rPr sz="1800" b="1" dirty="0">
                <a:latin typeface="Helvetica"/>
                <a:cs typeface="Helvetica"/>
              </a:rPr>
              <a:t>from</a:t>
            </a:r>
            <a:r>
              <a:rPr sz="1800" b="1" spc="85" dirty="0">
                <a:latin typeface="Helvetica"/>
                <a:cs typeface="Helvetica"/>
              </a:rPr>
              <a:t> </a:t>
            </a:r>
            <a:r>
              <a:rPr sz="1800" b="1" spc="-415" dirty="0">
                <a:latin typeface="Helvetica"/>
                <a:cs typeface="Helvetica"/>
              </a:rPr>
              <a:t>A</a:t>
            </a:r>
            <a:endParaRPr sz="1800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4739" y="2116581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35" dirty="0">
                <a:latin typeface="HelveticaNeue-BoldItalic"/>
                <a:cs typeface="HelveticaNeue-BoldItalic"/>
              </a:rPr>
              <a:t>a</a:t>
            </a:r>
            <a:endParaRPr sz="1600">
              <a:latin typeface="HelveticaNeue-BoldItalic"/>
              <a:cs typeface="HelveticaNeue-BoldItal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4970" y="2137410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" dirty="0">
                <a:latin typeface="HelveticaNeue-BoldItalic"/>
                <a:cs typeface="HelveticaNeue-BoldItalic"/>
              </a:rPr>
              <a:t>c</a:t>
            </a:r>
            <a:endParaRPr sz="1600">
              <a:latin typeface="HelveticaNeue-BoldItalic"/>
              <a:cs typeface="HelveticaNeue-BoldItal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4527" y="4652771"/>
            <a:ext cx="1133856" cy="7330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76174" y="6399903"/>
            <a:ext cx="50674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  <p:pic>
        <p:nvPicPr>
          <p:cNvPr id="23" name="Picture 22" descr="Table&#10;&#10;Description automatically generated">
            <a:extLst>
              <a:ext uri="{FF2B5EF4-FFF2-40B4-BE49-F238E27FC236}">
                <a16:creationId xmlns:a16="http://schemas.microsoft.com/office/drawing/2014/main" id="{316113B5-1850-F81F-F736-657C0C1E7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47800"/>
            <a:ext cx="650115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00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76174" y="6399903"/>
            <a:ext cx="4146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42</a:t>
            </a:fld>
            <a:endParaRPr sz="2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164414"/>
            <a:ext cx="2933953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dirty="0"/>
              <a:t>Summa</a:t>
            </a:r>
            <a:r>
              <a:rPr spc="10" dirty="0"/>
              <a:t>r</a:t>
            </a:r>
            <a:r>
              <a:rPr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4" y="961136"/>
            <a:ext cx="8151775" cy="3296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  <a:tab pos="1087755" algn="l"/>
              </a:tabLst>
            </a:pPr>
            <a:r>
              <a:rPr sz="2000" b="1" dirty="0">
                <a:latin typeface="Arial"/>
                <a:cs typeface="Arial"/>
              </a:rPr>
              <a:t>Idea:	Use </a:t>
            </a:r>
            <a:r>
              <a:rPr sz="2000" b="1" spc="-5" dirty="0">
                <a:latin typeface="Arial"/>
                <a:cs typeface="Arial"/>
              </a:rPr>
              <a:t>logic </a:t>
            </a:r>
            <a:r>
              <a:rPr sz="2000" b="1" dirty="0">
                <a:latin typeface="Arial"/>
                <a:cs typeface="Arial"/>
              </a:rPr>
              <a:t>deduction instead of</a:t>
            </a:r>
            <a:r>
              <a:rPr sz="2000" b="1" spc="-8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simulation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Advantages</a:t>
            </a:r>
            <a:endParaRPr sz="20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Arial"/>
              <a:buChar char="◆"/>
              <a:tabLst>
                <a:tab pos="756285" algn="l"/>
                <a:tab pos="756920" algn="l"/>
              </a:tabLst>
            </a:pPr>
            <a:r>
              <a:rPr sz="2000" b="1" spc="5" dirty="0">
                <a:latin typeface="Arial"/>
                <a:cs typeface="Arial"/>
              </a:rPr>
              <a:t>No </a:t>
            </a:r>
            <a:r>
              <a:rPr sz="2000" b="1" spc="-5" dirty="0">
                <a:latin typeface="Arial"/>
                <a:cs typeface="Arial"/>
              </a:rPr>
              <a:t>loop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faults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120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Arial"/>
                <a:cs typeface="Arial"/>
              </a:rPr>
              <a:t>Disadvantages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lang="en-US" sz="2000" dirty="0">
                <a:solidFill>
                  <a:srgbClr val="FF0000"/>
                </a:solidFill>
                <a:latin typeface="Wingdings"/>
                <a:cs typeface="Wingdings"/>
              </a:rPr>
              <a:t> </a:t>
            </a:r>
            <a:r>
              <a:rPr lang="en-US" sz="2000" b="1" dirty="0">
                <a:latin typeface="Arial"/>
                <a:cs typeface="Arial"/>
              </a:rPr>
              <a:t>Problem with calculating fault propagation lists</a:t>
            </a:r>
            <a:endParaRPr lang="en-US"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lang="en-US"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lang="en-US"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latin typeface="Arial"/>
                <a:cs typeface="Arial"/>
              </a:rPr>
              <a:t>Very complicated rules depending on situation</a:t>
            </a:r>
            <a:endParaRPr lang="en-US"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lang="en-US" sz="2000" spc="5" dirty="0">
                <a:solidFill>
                  <a:srgbClr val="FF0000"/>
                </a:solidFill>
                <a:latin typeface="Wingdings"/>
                <a:cs typeface="Wingdings"/>
              </a:rPr>
              <a:t> </a:t>
            </a:r>
            <a:r>
              <a:rPr lang="en-US" sz="2000" b="1" dirty="0">
                <a:latin typeface="Arial"/>
                <a:cs typeface="Arial"/>
              </a:rPr>
              <a:t>Difficult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memory</a:t>
            </a:r>
            <a:r>
              <a:rPr lang="en-US" sz="2000" b="1" spc="-2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Arial"/>
                <a:cs typeface="Arial"/>
              </a:rPr>
              <a:t>management</a:t>
            </a:r>
            <a:endParaRPr lang="en-US"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Memory requirement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20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FF"/>
                </a:solidFill>
                <a:latin typeface="Arial"/>
                <a:cs typeface="Arial"/>
              </a:rPr>
              <a:t>predictable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800" spc="-600" dirty="0">
                <a:solidFill>
                  <a:srgbClr val="FF0000"/>
                </a:solidFill>
                <a:latin typeface="Arial"/>
                <a:cs typeface="Arial"/>
              </a:rPr>
              <a:t></a:t>
            </a:r>
            <a:r>
              <a:rPr sz="1800" spc="3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Many </a:t>
            </a: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∩ </a:t>
            </a:r>
            <a:r>
              <a:rPr sz="2000" b="1" spc="1000" dirty="0">
                <a:solidFill>
                  <a:srgbClr val="0000FF"/>
                </a:solidFill>
                <a:latin typeface="Palatino"/>
                <a:cs typeface="Palatino"/>
              </a:rPr>
              <a:t>∪</a:t>
            </a:r>
            <a:r>
              <a:rPr sz="2000" b="1" spc="-85" dirty="0">
                <a:solidFill>
                  <a:srgbClr val="0000FF"/>
                </a:solidFill>
                <a:latin typeface="Palatino"/>
                <a:cs typeface="Palatino"/>
              </a:rPr>
              <a:t> </a:t>
            </a:r>
            <a:r>
              <a:rPr sz="2000" b="1" dirty="0">
                <a:solidFill>
                  <a:srgbClr val="0000FF"/>
                </a:solidFill>
                <a:latin typeface="Helvetica"/>
                <a:cs typeface="Helvetica"/>
              </a:rPr>
              <a:t>operations </a:t>
            </a:r>
            <a:r>
              <a:rPr sz="2000" b="1" dirty="0">
                <a:latin typeface="Arial"/>
                <a:cs typeface="Arial"/>
              </a:rPr>
              <a:t>difficult for large </a:t>
            </a:r>
            <a:r>
              <a:rPr sz="2000" b="1" spc="-114" dirty="0">
                <a:latin typeface="Arial"/>
                <a:cs typeface="Arial"/>
              </a:rPr>
              <a:t>designs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0852" y="164414"/>
            <a:ext cx="2492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225" y="964184"/>
            <a:ext cx="8668385" cy="4756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10" dirty="0">
                <a:latin typeface="Arial"/>
                <a:cs typeface="Arial"/>
              </a:rPr>
              <a:t>[Abramovici </a:t>
            </a:r>
            <a:r>
              <a:rPr sz="1600" b="1" spc="-5" dirty="0">
                <a:latin typeface="Arial"/>
                <a:cs typeface="Arial"/>
              </a:rPr>
              <a:t>1984] M. </a:t>
            </a:r>
            <a:r>
              <a:rPr sz="1600" b="1" spc="-10" dirty="0">
                <a:latin typeface="Arial"/>
                <a:cs typeface="Arial"/>
              </a:rPr>
              <a:t>Abramovici, </a:t>
            </a:r>
            <a:r>
              <a:rPr sz="1600" b="1" spc="-5" dirty="0">
                <a:latin typeface="Arial"/>
                <a:cs typeface="Arial"/>
              </a:rPr>
              <a:t>P. R. Menon, </a:t>
            </a:r>
            <a:r>
              <a:rPr sz="1600" b="1" spc="-10" dirty="0">
                <a:latin typeface="Arial"/>
                <a:cs typeface="Arial"/>
              </a:rPr>
              <a:t>and </a:t>
            </a:r>
            <a:r>
              <a:rPr sz="1600" b="1" spc="-5" dirty="0">
                <a:latin typeface="Arial"/>
                <a:cs typeface="Arial"/>
              </a:rPr>
              <a:t>D. T. Miller, </a:t>
            </a:r>
            <a:r>
              <a:rPr sz="1600" b="1" spc="-10" dirty="0">
                <a:latin typeface="Arial"/>
                <a:cs typeface="Arial"/>
              </a:rPr>
              <a:t>“Critical </a:t>
            </a:r>
            <a:r>
              <a:rPr sz="1600" b="1" spc="-5" dirty="0">
                <a:latin typeface="Arial"/>
                <a:cs typeface="Arial"/>
              </a:rPr>
              <a:t>Path Tracing:  </a:t>
            </a:r>
            <a:r>
              <a:rPr sz="1600" b="1" spc="-30" dirty="0">
                <a:latin typeface="Arial"/>
                <a:cs typeface="Arial"/>
              </a:rPr>
              <a:t>An </a:t>
            </a:r>
            <a:r>
              <a:rPr sz="1600" b="1" spc="-10" dirty="0">
                <a:latin typeface="Arial"/>
                <a:cs typeface="Arial"/>
              </a:rPr>
              <a:t>Alternative </a:t>
            </a:r>
            <a:r>
              <a:rPr sz="1600" b="1" spc="-5" dirty="0">
                <a:latin typeface="Arial"/>
                <a:cs typeface="Arial"/>
              </a:rPr>
              <a:t>to Fault Simulation,” IEEE Design and Test of Computers,</a:t>
            </a:r>
            <a:r>
              <a:rPr sz="1600" b="1" spc="3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1984.</a:t>
            </a:r>
            <a:endParaRPr sz="1600">
              <a:latin typeface="Arial"/>
              <a:cs typeface="Arial"/>
            </a:endParaRPr>
          </a:p>
          <a:p>
            <a:pPr marL="355600" marR="181610" indent="-342900">
              <a:lnSpc>
                <a:spcPct val="100000"/>
              </a:lnSpc>
              <a:spcBef>
                <a:spcPts val="384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10" dirty="0">
                <a:latin typeface="Arial"/>
                <a:cs typeface="Arial"/>
              </a:rPr>
              <a:t>[Armstrong </a:t>
            </a:r>
            <a:r>
              <a:rPr sz="1600" b="1" spc="-5" dirty="0">
                <a:latin typeface="Arial"/>
                <a:cs typeface="Arial"/>
              </a:rPr>
              <a:t>1972] D. B. </a:t>
            </a:r>
            <a:r>
              <a:rPr sz="1600" b="1" spc="-10" dirty="0">
                <a:latin typeface="Arial"/>
                <a:cs typeface="Arial"/>
              </a:rPr>
              <a:t>Armstrong, </a:t>
            </a:r>
            <a:r>
              <a:rPr sz="1600" b="1" spc="-5" dirty="0">
                <a:latin typeface="Arial"/>
                <a:cs typeface="Arial"/>
              </a:rPr>
              <a:t>A </a:t>
            </a:r>
            <a:r>
              <a:rPr sz="1600" b="1" spc="-10" dirty="0">
                <a:latin typeface="Arial"/>
                <a:cs typeface="Arial"/>
              </a:rPr>
              <a:t>deductive method for </a:t>
            </a:r>
            <a:r>
              <a:rPr sz="1600" b="1" spc="-5" dirty="0">
                <a:latin typeface="Arial"/>
                <a:cs typeface="Arial"/>
              </a:rPr>
              <a:t>simulating faults in logic  circuits, IEEE Trans. </a:t>
            </a:r>
            <a:r>
              <a:rPr sz="1600" b="1" spc="-10" dirty="0">
                <a:latin typeface="Arial"/>
                <a:cs typeface="Arial"/>
              </a:rPr>
              <a:t>Comput., </a:t>
            </a:r>
            <a:r>
              <a:rPr sz="1600" b="1" spc="-5" dirty="0">
                <a:latin typeface="Arial"/>
                <a:cs typeface="Arial"/>
              </a:rPr>
              <a:t>C-21(5), 464–471,</a:t>
            </a:r>
            <a:r>
              <a:rPr sz="1600" b="1" spc="1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1972.</a:t>
            </a:r>
            <a:endParaRPr sz="1600">
              <a:latin typeface="Arial"/>
              <a:cs typeface="Arial"/>
            </a:endParaRPr>
          </a:p>
          <a:p>
            <a:pPr marL="355600" marR="277495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[Butler 1974] T. T. Butler, T. </a:t>
            </a:r>
            <a:r>
              <a:rPr sz="1600" b="1" spc="-10" dirty="0">
                <a:latin typeface="Arial"/>
                <a:cs typeface="Arial"/>
              </a:rPr>
              <a:t>G. Hallin, </a:t>
            </a:r>
            <a:r>
              <a:rPr sz="1600" b="1" spc="-5" dirty="0">
                <a:latin typeface="Arial"/>
                <a:cs typeface="Arial"/>
              </a:rPr>
              <a:t>J. J. Kulzer, and K. W. Johnson, </a:t>
            </a:r>
            <a:r>
              <a:rPr sz="1600" b="1" spc="-15" dirty="0">
                <a:latin typeface="Arial"/>
                <a:cs typeface="Arial"/>
              </a:rPr>
              <a:t>LAMP:  </a:t>
            </a:r>
            <a:r>
              <a:rPr sz="1600" b="1" spc="-10" dirty="0">
                <a:latin typeface="Arial"/>
                <a:cs typeface="Arial"/>
              </a:rPr>
              <a:t>Application </a:t>
            </a:r>
            <a:r>
              <a:rPr sz="1600" b="1" spc="-5" dirty="0">
                <a:latin typeface="Arial"/>
                <a:cs typeface="Arial"/>
              </a:rPr>
              <a:t>to </a:t>
            </a:r>
            <a:r>
              <a:rPr sz="1600" b="1" dirty="0">
                <a:latin typeface="Arial"/>
                <a:cs typeface="Arial"/>
              </a:rPr>
              <a:t>switching </a:t>
            </a:r>
            <a:r>
              <a:rPr sz="1600" b="1" spc="-10" dirty="0">
                <a:latin typeface="Arial"/>
                <a:cs typeface="Arial"/>
              </a:rPr>
              <a:t>system development, </a:t>
            </a:r>
            <a:r>
              <a:rPr sz="1600" b="1" spc="-5" dirty="0">
                <a:latin typeface="Arial"/>
                <a:cs typeface="Arial"/>
              </a:rPr>
              <a:t>Bell </a:t>
            </a:r>
            <a:r>
              <a:rPr sz="1600" b="1" spc="-10" dirty="0">
                <a:latin typeface="Arial"/>
                <a:cs typeface="Arial"/>
              </a:rPr>
              <a:t>System </a:t>
            </a:r>
            <a:r>
              <a:rPr sz="1600" b="1" spc="-5" dirty="0">
                <a:latin typeface="Arial"/>
                <a:cs typeface="Arial"/>
              </a:rPr>
              <a:t>Tech. J., 53, </a:t>
            </a:r>
            <a:r>
              <a:rPr sz="1600" b="1" dirty="0">
                <a:latin typeface="Arial"/>
                <a:cs typeface="Arial"/>
              </a:rPr>
              <a:t>1535–1555,  </a:t>
            </a:r>
            <a:r>
              <a:rPr sz="1600" b="1" spc="-5" dirty="0">
                <a:latin typeface="Arial"/>
                <a:cs typeface="Arial"/>
              </a:rPr>
              <a:t>1974.</a:t>
            </a:r>
            <a:endParaRPr sz="1600">
              <a:latin typeface="Arial"/>
              <a:cs typeface="Arial"/>
            </a:endParaRPr>
          </a:p>
          <a:p>
            <a:pPr marL="355600" marR="327025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[Cheng 1989] W. T. Cheng and M. L. Yu, Differential fault simulation: A fast </a:t>
            </a:r>
            <a:r>
              <a:rPr sz="1600" b="1" spc="-10" dirty="0">
                <a:latin typeface="Arial"/>
                <a:cs typeface="Arial"/>
              </a:rPr>
              <a:t>method  </a:t>
            </a:r>
            <a:r>
              <a:rPr sz="1600" b="1" spc="-5" dirty="0">
                <a:latin typeface="Arial"/>
                <a:cs typeface="Arial"/>
              </a:rPr>
              <a:t>using minimal </a:t>
            </a:r>
            <a:r>
              <a:rPr sz="1600" b="1" spc="-10" dirty="0">
                <a:latin typeface="Arial"/>
                <a:cs typeface="Arial"/>
              </a:rPr>
              <a:t>memory, </a:t>
            </a:r>
            <a:r>
              <a:rPr sz="1600" b="1" spc="-5" dirty="0">
                <a:latin typeface="Arial"/>
                <a:cs typeface="Arial"/>
              </a:rPr>
              <a:t>in Proc. Des. </a:t>
            </a:r>
            <a:r>
              <a:rPr sz="1600" b="1" spc="-10" dirty="0">
                <a:latin typeface="Arial"/>
                <a:cs typeface="Arial"/>
              </a:rPr>
              <a:t>Automat. </a:t>
            </a:r>
            <a:r>
              <a:rPr sz="1600" b="1" spc="-5" dirty="0">
                <a:latin typeface="Arial"/>
                <a:cs typeface="Arial"/>
              </a:rPr>
              <a:t>Conf., June 1989, </a:t>
            </a:r>
            <a:r>
              <a:rPr sz="1600" b="1" spc="-10" dirty="0">
                <a:latin typeface="Arial"/>
                <a:cs typeface="Arial"/>
              </a:rPr>
              <a:t>pp.</a:t>
            </a:r>
            <a:r>
              <a:rPr sz="1600" b="1" spc="3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424–428.</a:t>
            </a:r>
            <a:endParaRPr sz="1600">
              <a:latin typeface="Arial"/>
              <a:cs typeface="Arial"/>
            </a:endParaRPr>
          </a:p>
          <a:p>
            <a:pPr marL="355600" marR="546735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[Jain 1985] S. K. Jain and V. D. Agrawal, Statistical fault </a:t>
            </a:r>
            <a:r>
              <a:rPr sz="1600" b="1" spc="-10" dirty="0">
                <a:latin typeface="Arial"/>
                <a:cs typeface="Arial"/>
              </a:rPr>
              <a:t>analysis, </a:t>
            </a:r>
            <a:r>
              <a:rPr sz="1600" b="1" spc="-5" dirty="0">
                <a:latin typeface="Arial"/>
                <a:cs typeface="Arial"/>
              </a:rPr>
              <a:t>IEEE Des. Test  </a:t>
            </a:r>
            <a:r>
              <a:rPr sz="1600" b="1" spc="-10" dirty="0">
                <a:latin typeface="Arial"/>
                <a:cs typeface="Arial"/>
              </a:rPr>
              <a:t>Comput., </a:t>
            </a:r>
            <a:r>
              <a:rPr sz="1600" b="1" spc="-5" dirty="0">
                <a:latin typeface="Arial"/>
                <a:cs typeface="Arial"/>
              </a:rPr>
              <a:t>2(1), 38–44,</a:t>
            </a:r>
            <a:r>
              <a:rPr sz="1600" b="1" spc="8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1985.</a:t>
            </a:r>
            <a:endParaRPr sz="1600">
              <a:latin typeface="Arial"/>
              <a:cs typeface="Arial"/>
            </a:endParaRPr>
          </a:p>
          <a:p>
            <a:pPr marL="355600" marR="464184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[Seshu 1965] S. Sesuh and D. N. Freeman, </a:t>
            </a:r>
            <a:r>
              <a:rPr sz="1600" b="1" spc="-10" dirty="0">
                <a:latin typeface="Arial"/>
                <a:cs typeface="Arial"/>
              </a:rPr>
              <a:t>On improved </a:t>
            </a:r>
            <a:r>
              <a:rPr sz="1600" b="1" spc="-5" dirty="0">
                <a:latin typeface="Arial"/>
                <a:cs typeface="Arial"/>
              </a:rPr>
              <a:t>diagnosis program, IEEE  Trans. Electron. </a:t>
            </a:r>
            <a:r>
              <a:rPr sz="1600" b="1" spc="-10" dirty="0">
                <a:latin typeface="Arial"/>
                <a:cs typeface="Arial"/>
              </a:rPr>
              <a:t>Comput., </a:t>
            </a:r>
            <a:r>
              <a:rPr sz="1600" b="1" spc="-5" dirty="0">
                <a:latin typeface="Arial"/>
                <a:cs typeface="Arial"/>
              </a:rPr>
              <a:t>EC-14(1), 76–79,</a:t>
            </a:r>
            <a:r>
              <a:rPr sz="1600" b="1" spc="1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1965.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[Ulrich 1974] E. </a:t>
            </a:r>
            <a:r>
              <a:rPr sz="1600" b="1" spc="-10" dirty="0">
                <a:latin typeface="Arial"/>
                <a:cs typeface="Arial"/>
              </a:rPr>
              <a:t>G. </a:t>
            </a:r>
            <a:r>
              <a:rPr sz="1600" b="1" spc="-5" dirty="0">
                <a:latin typeface="Arial"/>
                <a:cs typeface="Arial"/>
              </a:rPr>
              <a:t>Ulrich and T. Baker, Concurrent simulation of nearly</a:t>
            </a:r>
            <a:r>
              <a:rPr sz="1600" b="1" spc="2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identical</a:t>
            </a:r>
            <a:endParaRPr sz="1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digital </a:t>
            </a:r>
            <a:r>
              <a:rPr sz="1600" b="1" dirty="0">
                <a:latin typeface="Arial"/>
                <a:cs typeface="Arial"/>
              </a:rPr>
              <a:t>networks, </a:t>
            </a:r>
            <a:r>
              <a:rPr sz="1600" b="1" spc="-5" dirty="0">
                <a:latin typeface="Arial"/>
                <a:cs typeface="Arial"/>
              </a:rPr>
              <a:t>IEEE Trans. </a:t>
            </a:r>
            <a:r>
              <a:rPr sz="1600" b="1" spc="-10" dirty="0">
                <a:latin typeface="Arial"/>
                <a:cs typeface="Arial"/>
              </a:rPr>
              <a:t>Comput., </a:t>
            </a:r>
            <a:r>
              <a:rPr sz="1600" b="1" spc="-5" dirty="0">
                <a:latin typeface="Arial"/>
                <a:cs typeface="Arial"/>
              </a:rPr>
              <a:t>7(4), 39–44,</a:t>
            </a:r>
            <a:r>
              <a:rPr sz="1600" b="1" spc="1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1974.</a:t>
            </a:r>
            <a:endParaRPr sz="1600">
              <a:latin typeface="Arial"/>
              <a:cs typeface="Arial"/>
            </a:endParaRPr>
          </a:p>
          <a:p>
            <a:pPr marL="355600" marR="330835" indent="-342900">
              <a:lnSpc>
                <a:spcPct val="100000"/>
              </a:lnSpc>
              <a:spcBef>
                <a:spcPts val="385"/>
              </a:spcBef>
              <a:buClr>
                <a:srgbClr val="FF0000"/>
              </a:buClr>
              <a:buSzPct val="11875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[Waicukauski 1985] J. </a:t>
            </a:r>
            <a:r>
              <a:rPr sz="1600" b="1" spc="-30" dirty="0">
                <a:latin typeface="Arial"/>
                <a:cs typeface="Arial"/>
              </a:rPr>
              <a:t>A. </a:t>
            </a:r>
            <a:r>
              <a:rPr sz="1600" b="1" spc="-5" dirty="0">
                <a:latin typeface="Arial"/>
                <a:cs typeface="Arial"/>
              </a:rPr>
              <a:t>Waicukauski, E. B. Eichelberger, D. </a:t>
            </a:r>
            <a:r>
              <a:rPr sz="1600" b="1" spc="-10" dirty="0">
                <a:latin typeface="Arial"/>
                <a:cs typeface="Arial"/>
              </a:rPr>
              <a:t>O. </a:t>
            </a:r>
            <a:r>
              <a:rPr sz="1600" b="1" spc="-5" dirty="0">
                <a:latin typeface="Arial"/>
                <a:cs typeface="Arial"/>
              </a:rPr>
              <a:t>Forlenza, E.  Lindbloom, and T. </a:t>
            </a:r>
            <a:r>
              <a:rPr sz="1600" b="1" spc="-10" dirty="0">
                <a:latin typeface="Arial"/>
                <a:cs typeface="Arial"/>
              </a:rPr>
              <a:t>McCarthy, </a:t>
            </a:r>
            <a:r>
              <a:rPr sz="1600" b="1" spc="-5" dirty="0">
                <a:latin typeface="Arial"/>
                <a:cs typeface="Arial"/>
              </a:rPr>
              <a:t>Fault simulation </a:t>
            </a:r>
            <a:r>
              <a:rPr sz="1600" b="1" spc="-10" dirty="0">
                <a:latin typeface="Arial"/>
                <a:cs typeface="Arial"/>
              </a:rPr>
              <a:t>for </a:t>
            </a:r>
            <a:r>
              <a:rPr sz="1600" b="1" spc="-5" dirty="0">
                <a:latin typeface="Arial"/>
                <a:cs typeface="Arial"/>
              </a:rPr>
              <a:t>structured VLSI, Proc. VLSI </a:t>
            </a:r>
            <a:r>
              <a:rPr sz="1600" b="1" spc="-10" dirty="0">
                <a:latin typeface="Arial"/>
                <a:cs typeface="Arial"/>
              </a:rPr>
              <a:t>Syst.  </a:t>
            </a:r>
            <a:r>
              <a:rPr sz="1600" b="1" spc="-5" dirty="0">
                <a:latin typeface="Arial"/>
                <a:cs typeface="Arial"/>
              </a:rPr>
              <a:t>Des., 6(12), 20–32,</a:t>
            </a:r>
            <a:r>
              <a:rPr sz="1600" b="1" spc="5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1985.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076FF11E-856B-F846-2AB6-D542F3AAD9C3}"/>
              </a:ext>
            </a:extLst>
          </p:cNvPr>
          <p:cNvSpPr txBox="1"/>
          <p:nvPr/>
        </p:nvSpPr>
        <p:spPr>
          <a:xfrm>
            <a:off x="176174" y="6399903"/>
            <a:ext cx="433426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z="2400" b="1" spc="-5" dirty="0">
                <a:latin typeface="Arial"/>
                <a:cs typeface="Arial"/>
              </a:rPr>
              <a:t>43</a:t>
            </a:fld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19133</TotalTime>
  <Words>3576</Words>
  <Application>Microsoft Macintosh PowerPoint</Application>
  <PresentationFormat>On-screen Show (4:3)</PresentationFormat>
  <Paragraphs>832</Paragraphs>
  <Slides>43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</vt:lpstr>
      <vt:lpstr>Arial-BoldItalicMT</vt:lpstr>
      <vt:lpstr>Calibri</vt:lpstr>
      <vt:lpstr>Cambria Math</vt:lpstr>
      <vt:lpstr>Helvetica</vt:lpstr>
      <vt:lpstr>HelveticaNeue-BoldItalic</vt:lpstr>
      <vt:lpstr>Palatino</vt:lpstr>
      <vt:lpstr>Times New Roman</vt:lpstr>
      <vt:lpstr>TimesNewRomanPS-BoldItalicMT</vt:lpstr>
      <vt:lpstr>Wingdings</vt:lpstr>
      <vt:lpstr>Office Theme</vt:lpstr>
      <vt:lpstr>ECE 553: TESTING AND TESTABLE DESIGN OF DIGITAL SYSTEMS</vt:lpstr>
      <vt:lpstr>Course Roadmap (EDA Topics)</vt:lpstr>
      <vt:lpstr>Motivating Problem</vt:lpstr>
      <vt:lpstr>Fault Simulation</vt:lpstr>
      <vt:lpstr>What Is Fault Simulation?</vt:lpstr>
      <vt:lpstr>Applications of Fault Simulation</vt:lpstr>
      <vt:lpstr>Fault Sim. Embedded in ATPG</vt:lpstr>
      <vt:lpstr>Fault Simulation</vt:lpstr>
      <vt:lpstr>Serial Fault Simulation</vt:lpstr>
      <vt:lpstr>Quiz</vt:lpstr>
      <vt:lpstr>Quiz</vt:lpstr>
      <vt:lpstr>Complexity of Fault Simulation</vt:lpstr>
      <vt:lpstr>Fault Simulation</vt:lpstr>
      <vt:lpstr>Two Types of Parallelism</vt:lpstr>
      <vt:lpstr>Parallel Fault Simulation</vt:lpstr>
      <vt:lpstr>Example</vt:lpstr>
      <vt:lpstr>Fault Injection</vt:lpstr>
      <vt:lpstr>Fault Injection</vt:lpstr>
      <vt:lpstr>Quiz</vt:lpstr>
      <vt:lpstr>Solution</vt:lpstr>
      <vt:lpstr>Fault Simulation</vt:lpstr>
      <vt:lpstr>PPSFP: Parallel Pattern Single Fault Propagation </vt:lpstr>
      <vt:lpstr>PPSFP Example</vt:lpstr>
      <vt:lpstr>Example- cont’d</vt:lpstr>
      <vt:lpstr>Example – cont’d</vt:lpstr>
      <vt:lpstr>Quiz</vt:lpstr>
      <vt:lpstr>Solution</vt:lpstr>
      <vt:lpstr>Comparison</vt:lpstr>
      <vt:lpstr>Summary</vt:lpstr>
      <vt:lpstr>Fault Simulation</vt:lpstr>
      <vt:lpstr>Deductive Fault Simulation</vt:lpstr>
      <vt:lpstr>Deductive Fault Simulation</vt:lpstr>
      <vt:lpstr>Deductive Fault Simulation [Armstrong 72]</vt:lpstr>
      <vt:lpstr>Deductive Fault Simulation [Armstrong 72]</vt:lpstr>
      <vt:lpstr>Deductive Fault Simulation [Armstrong 72]</vt:lpstr>
      <vt:lpstr>Example (P1)</vt:lpstr>
      <vt:lpstr>Example (P2)</vt:lpstr>
      <vt:lpstr>Example (P3)</vt:lpstr>
      <vt:lpstr>Example (P3)</vt:lpstr>
      <vt:lpstr>Example (P3)</vt:lpstr>
      <vt:lpstr>Fault List Propagation Rules  (no need to know)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JCM Li</dc:creator>
  <cp:lastModifiedBy>Azadeh Davoodi</cp:lastModifiedBy>
  <cp:revision>305</cp:revision>
  <cp:lastPrinted>2025-02-12T18:29:43Z</cp:lastPrinted>
  <dcterms:created xsi:type="dcterms:W3CDTF">2022-09-10T18:08:27Z</dcterms:created>
  <dcterms:modified xsi:type="dcterms:W3CDTF">2026-09-29T14:17:35Z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2022-09-10T00:00:00Z</vt:filetime>
  </property>
</Properties>
</file>