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322" r:id="rId2"/>
    <p:sldId id="365" r:id="rId3"/>
    <p:sldId id="366" r:id="rId4"/>
    <p:sldId id="367" r:id="rId5"/>
    <p:sldId id="368" r:id="rId6"/>
    <p:sldId id="369" r:id="rId7"/>
    <p:sldId id="374" r:id="rId8"/>
    <p:sldId id="375" r:id="rId9"/>
    <p:sldId id="376" r:id="rId10"/>
    <p:sldId id="378" r:id="rId11"/>
    <p:sldId id="379" r:id="rId12"/>
    <p:sldId id="273" r:id="rId13"/>
    <p:sldId id="274" r:id="rId14"/>
    <p:sldId id="276" r:id="rId15"/>
    <p:sldId id="381" r:id="rId16"/>
    <p:sldId id="382" r:id="rId17"/>
    <p:sldId id="383" r:id="rId18"/>
    <p:sldId id="384" r:id="rId19"/>
    <p:sldId id="386" r:id="rId20"/>
    <p:sldId id="387" r:id="rId21"/>
    <p:sldId id="388" r:id="rId22"/>
    <p:sldId id="389" r:id="rId23"/>
    <p:sldId id="390" r:id="rId24"/>
    <p:sldId id="391" r:id="rId25"/>
    <p:sldId id="392" r:id="rId26"/>
    <p:sldId id="393" r:id="rId27"/>
    <p:sldId id="394" r:id="rId28"/>
    <p:sldId id="396" r:id="rId29"/>
    <p:sldId id="397" r:id="rId30"/>
    <p:sldId id="399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A82"/>
    <a:srgbClr val="255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0"/>
    <p:restoredTop sz="85484"/>
  </p:normalViewPr>
  <p:slideViewPr>
    <p:cSldViewPr>
      <p:cViewPr varScale="1">
        <p:scale>
          <a:sx n="100" d="100"/>
          <a:sy n="100" d="100"/>
        </p:scale>
        <p:origin x="109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43DA4-C7C3-C64B-B9EC-F9256B075DA1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9BBE0-496F-2447-BD52-767521AC6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5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47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4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Failure Analysis</a:t>
            </a:r>
          </a:p>
          <a:p>
            <a:r>
              <a:rPr lang="en-US" dirty="0"/>
              <a:t>Only fails CAT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0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200" b="1" spc="-5" dirty="0">
                <a:latin typeface="Helvetica"/>
                <a:cs typeface="Helvetica"/>
              </a:rPr>
              <a:t>* </a:t>
            </a:r>
            <a:r>
              <a:rPr lang="en-US" sz="1200" b="1" i="1" spc="-25" dirty="0">
                <a:latin typeface="HelveticaNeue-BoldItalic"/>
                <a:cs typeface="HelveticaNeue-BoldItalic"/>
              </a:rPr>
              <a:t>untestable </a:t>
            </a:r>
            <a:r>
              <a:rPr lang="en-US" sz="1200" b="1" spc="-5" dirty="0">
                <a:latin typeface="Helvetica"/>
                <a:cs typeface="Helvetica"/>
              </a:rPr>
              <a:t>faults is aka. </a:t>
            </a:r>
            <a:r>
              <a:rPr lang="en-US" sz="1200" b="1" i="1" spc="-25" dirty="0">
                <a:latin typeface="HelveticaNeue-BoldItalic"/>
                <a:cs typeface="HelveticaNeue-BoldItalic"/>
              </a:rPr>
              <a:t>undetectable</a:t>
            </a:r>
            <a:r>
              <a:rPr lang="en-US" sz="1200" b="1" i="1" spc="265" dirty="0">
                <a:latin typeface="HelveticaNeue-BoldItalic"/>
                <a:cs typeface="HelveticaNeue-BoldItalic"/>
              </a:rPr>
              <a:t> </a:t>
            </a:r>
            <a:r>
              <a:rPr lang="en-US" sz="1200" b="1" i="1" spc="-20" dirty="0">
                <a:latin typeface="HelveticaNeue-BoldItalic"/>
                <a:cs typeface="HelveticaNeue-BoldItalic"/>
              </a:rPr>
              <a:t>faults</a:t>
            </a:r>
            <a:endParaRPr lang="en-US" sz="1200" dirty="0">
              <a:latin typeface="HelveticaNeue-BoldItalic"/>
              <a:cs typeface="HelveticaNeue-BoldItalic"/>
            </a:endParaRPr>
          </a:p>
          <a:p>
            <a:pPr marL="127000">
              <a:lnSpc>
                <a:spcPct val="100000"/>
              </a:lnSpc>
            </a:pPr>
            <a:r>
              <a:rPr lang="en-US" sz="1200" b="1" spc="-10" dirty="0">
                <a:latin typeface="Helvetica"/>
                <a:cs typeface="Helvetica"/>
              </a:rPr>
              <a:t>but very </a:t>
            </a:r>
            <a:r>
              <a:rPr lang="en-US" sz="1200" b="1" spc="-5" dirty="0">
                <a:latin typeface="Helvetica"/>
                <a:cs typeface="Helvetica"/>
              </a:rPr>
              <a:t>confusing so </a:t>
            </a:r>
            <a:r>
              <a:rPr lang="en-US" sz="1200" b="1" spc="-10" dirty="0">
                <a:latin typeface="Helvetica"/>
                <a:cs typeface="Helvetica"/>
              </a:rPr>
              <a:t>not </a:t>
            </a:r>
            <a:r>
              <a:rPr lang="en-US" sz="1200" b="1" spc="-5" dirty="0">
                <a:latin typeface="Helvetica"/>
                <a:cs typeface="Helvetica"/>
              </a:rPr>
              <a:t>used in</a:t>
            </a:r>
            <a:r>
              <a:rPr lang="en-US" sz="1200" b="1" spc="114" dirty="0">
                <a:latin typeface="Helvetica"/>
                <a:cs typeface="Helvetica"/>
              </a:rPr>
              <a:t> </a:t>
            </a:r>
            <a:r>
              <a:rPr lang="en-US" sz="1200" b="1" spc="-5" dirty="0">
                <a:latin typeface="Helvetica"/>
                <a:cs typeface="Helvetica"/>
              </a:rPr>
              <a:t>lecture</a:t>
            </a:r>
            <a:endParaRPr lang="en-US" sz="1200" dirty="0">
              <a:latin typeface="Helvetica"/>
              <a:cs typeface="Helvetica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and A+ in ECC are identical</a:t>
            </a:r>
          </a:p>
          <a:p>
            <a:r>
              <a:rPr lang="en-US" dirty="0"/>
              <a:t>Output always 0 if no fault so checking for only SA0 is impossible (if other components not faulty)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92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Detected faults: E/1, F/1, E/0, F/0 </a:t>
            </a:r>
          </a:p>
          <a:p>
            <a:r>
              <a:rPr lang="en-US" dirty="0"/>
              <a:t>Untestable: L/1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Undetected: L/0 only (notice L/1 is untestable and should not be counted as undetected)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01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ATPG generates faults that are detected and faults that are found to be untestable as its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71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know beforehand how many faults should be tested (we feed this info to the ATPG tool)</a:t>
            </a:r>
          </a:p>
          <a:p>
            <a:r>
              <a:rPr lang="en-US" dirty="0"/>
              <a:t>The tool generates a test set and reports how many faults are detected by its generated test set.</a:t>
            </a:r>
          </a:p>
          <a:p>
            <a:r>
              <a:rPr lang="en-US" dirty="0"/>
              <a:t>The tool may also identify some faults as untestable and reports how many untestable faults it was able to find.</a:t>
            </a:r>
          </a:p>
          <a:p>
            <a:r>
              <a:rPr lang="en-US" dirty="0"/>
              <a:t>The 4 undetected faults may be untestable.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46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0553" y="164414"/>
            <a:ext cx="180289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225" y="1998319"/>
            <a:ext cx="436562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3772" y="6558488"/>
            <a:ext cx="313182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448712A-7B4A-AE3A-614D-656387799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i="1" spc="-5">
                <a:solidFill>
                  <a:srgbClr val="FF0000"/>
                </a:solidFill>
                <a:latin typeface="Arial-BoldItalicMT"/>
              </a:rPr>
              <a:t>Fault Modeling (3)</a:t>
            </a:r>
            <a:endParaRPr lang="en-US" sz="3600" i="1" spc="-5" dirty="0">
              <a:solidFill>
                <a:srgbClr val="FF0000"/>
              </a:solidFill>
              <a:latin typeface="Arial-BoldItalic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359150" cy="47840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Stuck-at fault</a:t>
            </a:r>
            <a:r>
              <a:rPr sz="2000" b="1" spc="-1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(1961)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Bridging fault</a:t>
            </a:r>
            <a:r>
              <a:rPr sz="2000" b="1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(1973)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17805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Delay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	(1974)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Transistor-level</a:t>
            </a:r>
            <a:r>
              <a:rPr sz="20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Stuck-open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40" dirty="0">
                <a:latin typeface="Arial"/>
                <a:cs typeface="Arial"/>
              </a:rPr>
              <a:t>(1978)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Stuck-on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Cell-aware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(2009)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Review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7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5144" y="3876874"/>
            <a:ext cx="1152143" cy="2052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50253" y="5101539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174" y="6399903"/>
            <a:ext cx="5858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875" y="164414"/>
            <a:ext cx="71634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 </a:t>
            </a:r>
            <a:r>
              <a:rPr spc="-5" dirty="0"/>
              <a:t>Faulty </a:t>
            </a:r>
            <a:r>
              <a:rPr dirty="0"/>
              <a:t>NAND Has Memory</a:t>
            </a:r>
            <a:r>
              <a:rPr spc="-85" dirty="0"/>
              <a:t> </a:t>
            </a:r>
            <a:r>
              <a:rPr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252459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Stanford Murphy Experiment [Li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01]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Sequence Dependency</a:t>
            </a:r>
            <a:r>
              <a:rPr sz="2000" b="1" dirty="0">
                <a:latin typeface="Arial"/>
                <a:cs typeface="Arial"/>
              </a:rPr>
              <a:t>: Test result depends on test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sequence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 NAND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</a:t>
            </a:r>
            <a:r>
              <a:rPr lang="en-US" sz="2000" b="1" dirty="0">
                <a:latin typeface="Arial"/>
                <a:cs typeface="Arial"/>
              </a:rPr>
              <a:t> (fault is inside the NAND gate)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Same </a:t>
            </a:r>
            <a:r>
              <a:rPr sz="2000" b="1" dirty="0">
                <a:latin typeface="Arial"/>
                <a:cs typeface="Arial"/>
              </a:rPr>
              <a:t>test patterns {11, 01, 00}, but in different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sequence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969260" algn="l"/>
              </a:tabLst>
            </a:pPr>
            <a:r>
              <a:rPr sz="2000" b="1" dirty="0">
                <a:latin typeface="Arial"/>
                <a:cs typeface="Arial"/>
              </a:rPr>
              <a:t>Sequence 1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fails;	</a:t>
            </a:r>
            <a:r>
              <a:rPr sz="2000" b="1" dirty="0">
                <a:latin typeface="Arial"/>
                <a:cs typeface="Arial"/>
              </a:rPr>
              <a:t>Sequence 2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CC00"/>
                </a:solidFill>
                <a:latin typeface="Arial"/>
                <a:cs typeface="Arial"/>
              </a:rPr>
              <a:t>passes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Is it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 SA1 </a:t>
            </a:r>
            <a:r>
              <a:rPr sz="2000" b="1" dirty="0">
                <a:latin typeface="Arial"/>
                <a:cs typeface="Arial"/>
              </a:rPr>
              <a:t>or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not?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73626" y="3235325"/>
          <a:ext cx="2567938" cy="1341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40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spc="-7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spc="-5" dirty="0">
                          <a:latin typeface="Arial"/>
                          <a:cs typeface="Arial"/>
                        </a:rPr>
                        <a:t>good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faulty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79976" y="5114925"/>
          <a:ext cx="2561588" cy="13414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406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good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faulty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18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057902" y="3004185"/>
            <a:ext cx="10102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Helvetica"/>
                <a:cs typeface="Helvetica"/>
              </a:rPr>
              <a:t>Sequence</a:t>
            </a:r>
            <a:r>
              <a:rPr sz="1400" b="1" spc="-85" dirty="0">
                <a:latin typeface="Helvetica"/>
                <a:cs typeface="Helvetica"/>
              </a:rPr>
              <a:t> </a:t>
            </a:r>
            <a:r>
              <a:rPr sz="1400" b="1" dirty="0">
                <a:latin typeface="Helvetica"/>
                <a:cs typeface="Helvetica"/>
              </a:rPr>
              <a:t>1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7902" y="4877511"/>
            <a:ext cx="10102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Helvetica"/>
                <a:cs typeface="Helvetica"/>
              </a:rPr>
              <a:t>Sequence</a:t>
            </a:r>
            <a:r>
              <a:rPr sz="1400" b="1" spc="-85" dirty="0">
                <a:latin typeface="Helvetica"/>
                <a:cs typeface="Helvetica"/>
              </a:rPr>
              <a:t> </a:t>
            </a:r>
            <a:r>
              <a:rPr sz="1400" b="1" dirty="0">
                <a:latin typeface="Helvetica"/>
                <a:cs typeface="Helvetica"/>
              </a:rPr>
              <a:t>2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69249" y="4308813"/>
            <a:ext cx="645795" cy="0"/>
          </a:xfrm>
          <a:custGeom>
            <a:avLst/>
            <a:gdLst/>
            <a:ahLst/>
            <a:cxnLst/>
            <a:rect l="l" t="t" r="r" b="b"/>
            <a:pathLst>
              <a:path w="645794">
                <a:moveTo>
                  <a:pt x="0" y="0"/>
                </a:moveTo>
                <a:lnTo>
                  <a:pt x="645649" y="0"/>
                </a:lnTo>
              </a:path>
            </a:pathLst>
          </a:custGeom>
          <a:ln w="20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95232" y="3830154"/>
            <a:ext cx="839469" cy="638810"/>
          </a:xfrm>
          <a:custGeom>
            <a:avLst/>
            <a:gdLst/>
            <a:ahLst/>
            <a:cxnLst/>
            <a:rect l="l" t="t" r="r" b="b"/>
            <a:pathLst>
              <a:path w="839469" h="638810">
                <a:moveTo>
                  <a:pt x="251803" y="0"/>
                </a:moveTo>
                <a:lnTo>
                  <a:pt x="0" y="0"/>
                </a:lnTo>
                <a:lnTo>
                  <a:pt x="29104" y="40851"/>
                </a:lnTo>
                <a:lnTo>
                  <a:pt x="54050" y="82428"/>
                </a:lnTo>
                <a:lnTo>
                  <a:pt x="74839" y="124621"/>
                </a:lnTo>
                <a:lnTo>
                  <a:pt x="91470" y="167316"/>
                </a:lnTo>
                <a:lnTo>
                  <a:pt x="103943" y="210403"/>
                </a:lnTo>
                <a:lnTo>
                  <a:pt x="112259" y="253769"/>
                </a:lnTo>
                <a:lnTo>
                  <a:pt x="116417" y="297303"/>
                </a:lnTo>
                <a:lnTo>
                  <a:pt x="116417" y="340893"/>
                </a:lnTo>
                <a:lnTo>
                  <a:pt x="112259" y="384427"/>
                </a:lnTo>
                <a:lnTo>
                  <a:pt x="103943" y="427793"/>
                </a:lnTo>
                <a:lnTo>
                  <a:pt x="91470" y="470880"/>
                </a:lnTo>
                <a:lnTo>
                  <a:pt x="74839" y="513576"/>
                </a:lnTo>
                <a:lnTo>
                  <a:pt x="54050" y="555770"/>
                </a:lnTo>
                <a:lnTo>
                  <a:pt x="29104" y="597348"/>
                </a:lnTo>
                <a:lnTo>
                  <a:pt x="0" y="638200"/>
                </a:lnTo>
                <a:lnTo>
                  <a:pt x="251803" y="638200"/>
                </a:lnTo>
                <a:lnTo>
                  <a:pt x="308618" y="627783"/>
                </a:lnTo>
                <a:lnTo>
                  <a:pt x="363741" y="615140"/>
                </a:lnTo>
                <a:lnTo>
                  <a:pt x="417024" y="600353"/>
                </a:lnTo>
                <a:lnTo>
                  <a:pt x="468319" y="583502"/>
                </a:lnTo>
                <a:lnTo>
                  <a:pt x="517477" y="564667"/>
                </a:lnTo>
                <a:lnTo>
                  <a:pt x="564351" y="543929"/>
                </a:lnTo>
                <a:lnTo>
                  <a:pt x="608793" y="521367"/>
                </a:lnTo>
                <a:lnTo>
                  <a:pt x="650654" y="497063"/>
                </a:lnTo>
                <a:lnTo>
                  <a:pt x="689786" y="471096"/>
                </a:lnTo>
                <a:lnTo>
                  <a:pt x="726041" y="443547"/>
                </a:lnTo>
                <a:lnTo>
                  <a:pt x="759271" y="414497"/>
                </a:lnTo>
                <a:lnTo>
                  <a:pt x="789328" y="384025"/>
                </a:lnTo>
                <a:lnTo>
                  <a:pt x="816065" y="352213"/>
                </a:lnTo>
                <a:lnTo>
                  <a:pt x="839331" y="319140"/>
                </a:lnTo>
                <a:lnTo>
                  <a:pt x="816383" y="285919"/>
                </a:lnTo>
                <a:lnTo>
                  <a:pt x="789899" y="253970"/>
                </a:lnTo>
                <a:lnTo>
                  <a:pt x="760030" y="223377"/>
                </a:lnTo>
                <a:lnTo>
                  <a:pt x="726931" y="194222"/>
                </a:lnTo>
                <a:lnTo>
                  <a:pt x="690753" y="166588"/>
                </a:lnTo>
                <a:lnTo>
                  <a:pt x="651650" y="140558"/>
                </a:lnTo>
                <a:lnTo>
                  <a:pt x="609773" y="116215"/>
                </a:lnTo>
                <a:lnTo>
                  <a:pt x="565275" y="93641"/>
                </a:lnTo>
                <a:lnTo>
                  <a:pt x="518310" y="72920"/>
                </a:lnTo>
                <a:lnTo>
                  <a:pt x="469029" y="54134"/>
                </a:lnTo>
                <a:lnTo>
                  <a:pt x="417585" y="37366"/>
                </a:lnTo>
                <a:lnTo>
                  <a:pt x="364131" y="22699"/>
                </a:lnTo>
                <a:lnTo>
                  <a:pt x="308819" y="10216"/>
                </a:lnTo>
                <a:lnTo>
                  <a:pt x="2518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95232" y="3830154"/>
            <a:ext cx="839469" cy="638810"/>
          </a:xfrm>
          <a:custGeom>
            <a:avLst/>
            <a:gdLst/>
            <a:ahLst/>
            <a:cxnLst/>
            <a:rect l="l" t="t" r="r" b="b"/>
            <a:pathLst>
              <a:path w="839469" h="638810">
                <a:moveTo>
                  <a:pt x="839331" y="319140"/>
                </a:moveTo>
                <a:lnTo>
                  <a:pt x="816065" y="352213"/>
                </a:lnTo>
                <a:lnTo>
                  <a:pt x="789328" y="384025"/>
                </a:lnTo>
                <a:lnTo>
                  <a:pt x="759271" y="414497"/>
                </a:lnTo>
                <a:lnTo>
                  <a:pt x="726041" y="443547"/>
                </a:lnTo>
                <a:lnTo>
                  <a:pt x="689786" y="471096"/>
                </a:lnTo>
                <a:lnTo>
                  <a:pt x="650654" y="497063"/>
                </a:lnTo>
                <a:lnTo>
                  <a:pt x="608793" y="521367"/>
                </a:lnTo>
                <a:lnTo>
                  <a:pt x="564351" y="543929"/>
                </a:lnTo>
                <a:lnTo>
                  <a:pt x="517477" y="564667"/>
                </a:lnTo>
                <a:lnTo>
                  <a:pt x="468319" y="583502"/>
                </a:lnTo>
                <a:lnTo>
                  <a:pt x="417024" y="600353"/>
                </a:lnTo>
                <a:lnTo>
                  <a:pt x="363741" y="615140"/>
                </a:lnTo>
                <a:lnTo>
                  <a:pt x="308618" y="627783"/>
                </a:lnTo>
                <a:lnTo>
                  <a:pt x="251803" y="638200"/>
                </a:lnTo>
                <a:lnTo>
                  <a:pt x="0" y="638200"/>
                </a:lnTo>
                <a:lnTo>
                  <a:pt x="29104" y="597348"/>
                </a:lnTo>
                <a:lnTo>
                  <a:pt x="54050" y="555770"/>
                </a:lnTo>
                <a:lnTo>
                  <a:pt x="74839" y="513576"/>
                </a:lnTo>
                <a:lnTo>
                  <a:pt x="91470" y="470880"/>
                </a:lnTo>
                <a:lnTo>
                  <a:pt x="103943" y="427793"/>
                </a:lnTo>
                <a:lnTo>
                  <a:pt x="112259" y="384427"/>
                </a:lnTo>
                <a:lnTo>
                  <a:pt x="116417" y="340893"/>
                </a:lnTo>
                <a:lnTo>
                  <a:pt x="116417" y="297303"/>
                </a:lnTo>
                <a:lnTo>
                  <a:pt x="112259" y="253769"/>
                </a:lnTo>
                <a:lnTo>
                  <a:pt x="103943" y="210403"/>
                </a:lnTo>
                <a:lnTo>
                  <a:pt x="91470" y="167316"/>
                </a:lnTo>
                <a:lnTo>
                  <a:pt x="74839" y="124621"/>
                </a:lnTo>
                <a:lnTo>
                  <a:pt x="54050" y="82428"/>
                </a:lnTo>
                <a:lnTo>
                  <a:pt x="29104" y="40851"/>
                </a:lnTo>
                <a:lnTo>
                  <a:pt x="0" y="0"/>
                </a:lnTo>
                <a:lnTo>
                  <a:pt x="251803" y="0"/>
                </a:lnTo>
                <a:lnTo>
                  <a:pt x="308819" y="10216"/>
                </a:lnTo>
                <a:lnTo>
                  <a:pt x="364131" y="22699"/>
                </a:lnTo>
                <a:lnTo>
                  <a:pt x="417585" y="37366"/>
                </a:lnTo>
                <a:lnTo>
                  <a:pt x="469029" y="54134"/>
                </a:lnTo>
                <a:lnTo>
                  <a:pt x="518310" y="72920"/>
                </a:lnTo>
                <a:lnTo>
                  <a:pt x="565275" y="93641"/>
                </a:lnTo>
                <a:lnTo>
                  <a:pt x="609773" y="116215"/>
                </a:lnTo>
                <a:lnTo>
                  <a:pt x="651650" y="140558"/>
                </a:lnTo>
                <a:lnTo>
                  <a:pt x="690753" y="166588"/>
                </a:lnTo>
                <a:lnTo>
                  <a:pt x="726931" y="194222"/>
                </a:lnTo>
                <a:lnTo>
                  <a:pt x="760030" y="223377"/>
                </a:lnTo>
                <a:lnTo>
                  <a:pt x="789899" y="253970"/>
                </a:lnTo>
                <a:lnTo>
                  <a:pt x="816383" y="285919"/>
                </a:lnTo>
                <a:lnTo>
                  <a:pt x="839331" y="319140"/>
                </a:lnTo>
                <a:close/>
              </a:path>
            </a:pathLst>
          </a:custGeom>
          <a:ln w="20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21817" y="4091225"/>
            <a:ext cx="117187" cy="116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5232" y="3830154"/>
            <a:ext cx="839469" cy="638810"/>
          </a:xfrm>
          <a:custGeom>
            <a:avLst/>
            <a:gdLst/>
            <a:ahLst/>
            <a:cxnLst/>
            <a:rect l="l" t="t" r="r" b="b"/>
            <a:pathLst>
              <a:path w="839469" h="638810">
                <a:moveTo>
                  <a:pt x="516515" y="0"/>
                </a:moveTo>
                <a:lnTo>
                  <a:pt x="0" y="0"/>
                </a:lnTo>
                <a:lnTo>
                  <a:pt x="0" y="638200"/>
                </a:lnTo>
                <a:lnTo>
                  <a:pt x="516516" y="638200"/>
                </a:lnTo>
                <a:lnTo>
                  <a:pt x="564221" y="634740"/>
                </a:lnTo>
                <a:lnTo>
                  <a:pt x="609753" y="624689"/>
                </a:lnTo>
                <a:lnTo>
                  <a:pt x="652611" y="608541"/>
                </a:lnTo>
                <a:lnTo>
                  <a:pt x="692297" y="586790"/>
                </a:lnTo>
                <a:lnTo>
                  <a:pt x="728311" y="559929"/>
                </a:lnTo>
                <a:lnTo>
                  <a:pt x="760154" y="528452"/>
                </a:lnTo>
                <a:lnTo>
                  <a:pt x="787327" y="492852"/>
                </a:lnTo>
                <a:lnTo>
                  <a:pt x="809330" y="453624"/>
                </a:lnTo>
                <a:lnTo>
                  <a:pt x="825665" y="411261"/>
                </a:lnTo>
                <a:lnTo>
                  <a:pt x="835832" y="366257"/>
                </a:lnTo>
                <a:lnTo>
                  <a:pt x="839331" y="319106"/>
                </a:lnTo>
                <a:lnTo>
                  <a:pt x="835832" y="271950"/>
                </a:lnTo>
                <a:lnTo>
                  <a:pt x="825665" y="226943"/>
                </a:lnTo>
                <a:lnTo>
                  <a:pt x="809330" y="184578"/>
                </a:lnTo>
                <a:lnTo>
                  <a:pt x="787327" y="145348"/>
                </a:lnTo>
                <a:lnTo>
                  <a:pt x="760154" y="109748"/>
                </a:lnTo>
                <a:lnTo>
                  <a:pt x="728311" y="78270"/>
                </a:lnTo>
                <a:lnTo>
                  <a:pt x="692297" y="51409"/>
                </a:lnTo>
                <a:lnTo>
                  <a:pt x="652611" y="29658"/>
                </a:lnTo>
                <a:lnTo>
                  <a:pt x="609753" y="13510"/>
                </a:lnTo>
                <a:lnTo>
                  <a:pt x="564221" y="3459"/>
                </a:lnTo>
                <a:lnTo>
                  <a:pt x="5165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95232" y="3830154"/>
            <a:ext cx="839469" cy="638810"/>
          </a:xfrm>
          <a:custGeom>
            <a:avLst/>
            <a:gdLst/>
            <a:ahLst/>
            <a:cxnLst/>
            <a:rect l="l" t="t" r="r" b="b"/>
            <a:pathLst>
              <a:path w="839469" h="638810">
                <a:moveTo>
                  <a:pt x="516516" y="638200"/>
                </a:moveTo>
                <a:lnTo>
                  <a:pt x="0" y="638200"/>
                </a:lnTo>
                <a:lnTo>
                  <a:pt x="0" y="0"/>
                </a:lnTo>
                <a:lnTo>
                  <a:pt x="516515" y="0"/>
                </a:lnTo>
                <a:lnTo>
                  <a:pt x="564221" y="3459"/>
                </a:lnTo>
                <a:lnTo>
                  <a:pt x="609753" y="13510"/>
                </a:lnTo>
                <a:lnTo>
                  <a:pt x="652611" y="29658"/>
                </a:lnTo>
                <a:lnTo>
                  <a:pt x="692297" y="51409"/>
                </a:lnTo>
                <a:lnTo>
                  <a:pt x="728311" y="78270"/>
                </a:lnTo>
                <a:lnTo>
                  <a:pt x="760154" y="109748"/>
                </a:lnTo>
                <a:lnTo>
                  <a:pt x="787327" y="145348"/>
                </a:lnTo>
                <a:lnTo>
                  <a:pt x="809330" y="184578"/>
                </a:lnTo>
                <a:lnTo>
                  <a:pt x="825665" y="226943"/>
                </a:lnTo>
                <a:lnTo>
                  <a:pt x="835832" y="271950"/>
                </a:lnTo>
                <a:lnTo>
                  <a:pt x="839331" y="319106"/>
                </a:lnTo>
                <a:lnTo>
                  <a:pt x="835832" y="366257"/>
                </a:lnTo>
                <a:lnTo>
                  <a:pt x="825665" y="411261"/>
                </a:lnTo>
                <a:lnTo>
                  <a:pt x="809330" y="453624"/>
                </a:lnTo>
                <a:lnTo>
                  <a:pt x="787327" y="492852"/>
                </a:lnTo>
                <a:lnTo>
                  <a:pt x="760154" y="528452"/>
                </a:lnTo>
                <a:lnTo>
                  <a:pt x="728311" y="559929"/>
                </a:lnTo>
                <a:lnTo>
                  <a:pt x="692297" y="586790"/>
                </a:lnTo>
                <a:lnTo>
                  <a:pt x="652611" y="608541"/>
                </a:lnTo>
                <a:lnTo>
                  <a:pt x="609753" y="624689"/>
                </a:lnTo>
                <a:lnTo>
                  <a:pt x="564221" y="634740"/>
                </a:lnTo>
                <a:lnTo>
                  <a:pt x="516516" y="638200"/>
                </a:lnTo>
                <a:close/>
              </a:path>
            </a:pathLst>
          </a:custGeom>
          <a:ln w="20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1519" y="4179189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Helvetica"/>
                <a:cs typeface="Helvetica"/>
              </a:rPr>
              <a:t>B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6319" y="3539490"/>
            <a:ext cx="682481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Helvetica"/>
                <a:cs typeface="Helvetica"/>
              </a:rPr>
              <a:t>?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tabLst>
                <a:tab pos="883285" algn="l"/>
                <a:tab pos="1588770" algn="l"/>
              </a:tabLst>
            </a:pPr>
            <a:r>
              <a:rPr sz="1600" b="1" spc="-5" dirty="0">
                <a:latin typeface="Helvetica"/>
                <a:cs typeface="Helvetica"/>
              </a:rPr>
              <a:t>A</a:t>
            </a:r>
            <a:r>
              <a:rPr sz="1600" b="1" spc="190" dirty="0">
                <a:latin typeface="Helvetica"/>
                <a:cs typeface="Helvetica"/>
              </a:rPr>
              <a:t> </a:t>
            </a:r>
            <a:r>
              <a:rPr lang="en-US" sz="1600" b="1" strike="sngStrike" spc="190" dirty="0">
                <a:solidFill>
                  <a:srgbClr val="FF0000"/>
                </a:solidFill>
                <a:latin typeface="Helvetica"/>
                <a:cs typeface="Helvetica"/>
              </a:rPr>
              <a:t>X-</a:t>
            </a:r>
            <a:endParaRPr lang="en-US" sz="1800" dirty="0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2959" y="3879342"/>
            <a:ext cx="8934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Helvetica"/>
                <a:cs typeface="Helvetica"/>
              </a:rPr>
              <a:t>A </a:t>
            </a:r>
            <a:r>
              <a:rPr sz="1800" b="1" spc="-20" dirty="0">
                <a:solidFill>
                  <a:srgbClr val="FF0000"/>
                </a:solidFill>
                <a:latin typeface="Helvetica"/>
                <a:cs typeface="Helvetica"/>
              </a:rPr>
              <a:t>SA1</a:t>
            </a:r>
            <a:r>
              <a:rPr sz="1800" b="1" spc="-1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Helvetica"/>
                <a:cs typeface="Helvetica"/>
              </a:rPr>
              <a:t>?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60515" y="3970654"/>
            <a:ext cx="433705" cy="134620"/>
          </a:xfrm>
          <a:custGeom>
            <a:avLst/>
            <a:gdLst/>
            <a:ahLst/>
            <a:cxnLst/>
            <a:rect l="l" t="t" r="r" b="b"/>
            <a:pathLst>
              <a:path w="433704" h="134620">
                <a:moveTo>
                  <a:pt x="115315" y="0"/>
                </a:moveTo>
                <a:lnTo>
                  <a:pt x="0" y="67183"/>
                </a:lnTo>
                <a:lnTo>
                  <a:pt x="115315" y="134366"/>
                </a:lnTo>
                <a:lnTo>
                  <a:pt x="124078" y="132080"/>
                </a:lnTo>
                <a:lnTo>
                  <a:pt x="128142" y="125095"/>
                </a:lnTo>
                <a:lnTo>
                  <a:pt x="132206" y="118237"/>
                </a:lnTo>
                <a:lnTo>
                  <a:pt x="129920" y="109347"/>
                </a:lnTo>
                <a:lnTo>
                  <a:pt x="122935" y="105410"/>
                </a:lnTo>
                <a:lnTo>
                  <a:pt x="82223" y="81661"/>
                </a:lnTo>
                <a:lnTo>
                  <a:pt x="28828" y="81661"/>
                </a:lnTo>
                <a:lnTo>
                  <a:pt x="28828" y="52705"/>
                </a:lnTo>
                <a:lnTo>
                  <a:pt x="82223" y="52705"/>
                </a:lnTo>
                <a:lnTo>
                  <a:pt x="122935" y="28956"/>
                </a:lnTo>
                <a:lnTo>
                  <a:pt x="129920" y="25019"/>
                </a:lnTo>
                <a:lnTo>
                  <a:pt x="132206" y="16129"/>
                </a:lnTo>
                <a:lnTo>
                  <a:pt x="128142" y="9271"/>
                </a:lnTo>
                <a:lnTo>
                  <a:pt x="124078" y="2286"/>
                </a:lnTo>
                <a:lnTo>
                  <a:pt x="115315" y="0"/>
                </a:lnTo>
                <a:close/>
              </a:path>
              <a:path w="433704" h="134620">
                <a:moveTo>
                  <a:pt x="82223" y="52705"/>
                </a:moveTo>
                <a:lnTo>
                  <a:pt x="28828" y="52705"/>
                </a:lnTo>
                <a:lnTo>
                  <a:pt x="28828" y="81661"/>
                </a:lnTo>
                <a:lnTo>
                  <a:pt x="82223" y="81661"/>
                </a:lnTo>
                <a:lnTo>
                  <a:pt x="78739" y="79629"/>
                </a:lnTo>
                <a:lnTo>
                  <a:pt x="36067" y="79629"/>
                </a:lnTo>
                <a:lnTo>
                  <a:pt x="36067" y="54737"/>
                </a:lnTo>
                <a:lnTo>
                  <a:pt x="78739" y="54737"/>
                </a:lnTo>
                <a:lnTo>
                  <a:pt x="82223" y="52705"/>
                </a:lnTo>
                <a:close/>
              </a:path>
              <a:path w="433704" h="134620">
                <a:moveTo>
                  <a:pt x="433450" y="52705"/>
                </a:moveTo>
                <a:lnTo>
                  <a:pt x="82223" y="52705"/>
                </a:lnTo>
                <a:lnTo>
                  <a:pt x="57403" y="67183"/>
                </a:lnTo>
                <a:lnTo>
                  <a:pt x="82223" y="81661"/>
                </a:lnTo>
                <a:lnTo>
                  <a:pt x="433450" y="81661"/>
                </a:lnTo>
                <a:lnTo>
                  <a:pt x="433450" y="52705"/>
                </a:lnTo>
                <a:close/>
              </a:path>
              <a:path w="433704" h="134620">
                <a:moveTo>
                  <a:pt x="36067" y="54737"/>
                </a:moveTo>
                <a:lnTo>
                  <a:pt x="36067" y="79629"/>
                </a:lnTo>
                <a:lnTo>
                  <a:pt x="57403" y="67183"/>
                </a:lnTo>
                <a:lnTo>
                  <a:pt x="36067" y="54737"/>
                </a:lnTo>
                <a:close/>
              </a:path>
              <a:path w="433704" h="134620">
                <a:moveTo>
                  <a:pt x="57403" y="67183"/>
                </a:moveTo>
                <a:lnTo>
                  <a:pt x="36067" y="79629"/>
                </a:lnTo>
                <a:lnTo>
                  <a:pt x="78739" y="79629"/>
                </a:lnTo>
                <a:lnTo>
                  <a:pt x="57403" y="67183"/>
                </a:lnTo>
                <a:close/>
              </a:path>
              <a:path w="433704" h="134620">
                <a:moveTo>
                  <a:pt x="78739" y="54737"/>
                </a:moveTo>
                <a:lnTo>
                  <a:pt x="36067" y="54737"/>
                </a:lnTo>
                <a:lnTo>
                  <a:pt x="57403" y="67183"/>
                </a:lnTo>
                <a:lnTo>
                  <a:pt x="78739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72959" y="5760821"/>
            <a:ext cx="1468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CC00"/>
                </a:solidFill>
                <a:latin typeface="Helvetica"/>
                <a:cs typeface="Helvetica"/>
              </a:rPr>
              <a:t>Not A </a:t>
            </a:r>
            <a:r>
              <a:rPr sz="1800" b="1" spc="-20" dirty="0">
                <a:solidFill>
                  <a:srgbClr val="00CC00"/>
                </a:solidFill>
                <a:latin typeface="Helvetica"/>
                <a:cs typeface="Helvetica"/>
              </a:rPr>
              <a:t>SA1</a:t>
            </a:r>
            <a:r>
              <a:rPr sz="1800" b="1" spc="-155" dirty="0">
                <a:solidFill>
                  <a:srgbClr val="00CC00"/>
                </a:solidFill>
                <a:latin typeface="Helvetica"/>
                <a:cs typeface="Helvetica"/>
              </a:rPr>
              <a:t> </a:t>
            </a:r>
            <a:r>
              <a:rPr sz="1800" b="1" dirty="0">
                <a:solidFill>
                  <a:srgbClr val="00CC00"/>
                </a:solidFill>
                <a:latin typeface="Helvetica"/>
                <a:cs typeface="Helvetica"/>
              </a:rPr>
              <a:t>??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60515" y="5851245"/>
            <a:ext cx="433705" cy="134620"/>
          </a:xfrm>
          <a:custGeom>
            <a:avLst/>
            <a:gdLst/>
            <a:ahLst/>
            <a:cxnLst/>
            <a:rect l="l" t="t" r="r" b="b"/>
            <a:pathLst>
              <a:path w="433704" h="134620">
                <a:moveTo>
                  <a:pt x="115315" y="0"/>
                </a:moveTo>
                <a:lnTo>
                  <a:pt x="0" y="67208"/>
                </a:lnTo>
                <a:lnTo>
                  <a:pt x="115315" y="134416"/>
                </a:lnTo>
                <a:lnTo>
                  <a:pt x="124078" y="132079"/>
                </a:lnTo>
                <a:lnTo>
                  <a:pt x="132206" y="118262"/>
                </a:lnTo>
                <a:lnTo>
                  <a:pt x="129920" y="109397"/>
                </a:lnTo>
                <a:lnTo>
                  <a:pt x="82332" y="81686"/>
                </a:lnTo>
                <a:lnTo>
                  <a:pt x="28828" y="81686"/>
                </a:lnTo>
                <a:lnTo>
                  <a:pt x="28828" y="52730"/>
                </a:lnTo>
                <a:lnTo>
                  <a:pt x="82332" y="52730"/>
                </a:lnTo>
                <a:lnTo>
                  <a:pt x="129920" y="25006"/>
                </a:lnTo>
                <a:lnTo>
                  <a:pt x="132206" y="16141"/>
                </a:lnTo>
                <a:lnTo>
                  <a:pt x="124078" y="2336"/>
                </a:lnTo>
                <a:lnTo>
                  <a:pt x="115315" y="0"/>
                </a:lnTo>
                <a:close/>
              </a:path>
              <a:path w="433704" h="134620">
                <a:moveTo>
                  <a:pt x="82332" y="52730"/>
                </a:moveTo>
                <a:lnTo>
                  <a:pt x="28828" y="52730"/>
                </a:lnTo>
                <a:lnTo>
                  <a:pt x="28828" y="81686"/>
                </a:lnTo>
                <a:lnTo>
                  <a:pt x="82332" y="81686"/>
                </a:lnTo>
                <a:lnTo>
                  <a:pt x="78957" y="79717"/>
                </a:lnTo>
                <a:lnTo>
                  <a:pt x="36067" y="79717"/>
                </a:lnTo>
                <a:lnTo>
                  <a:pt x="36067" y="54698"/>
                </a:lnTo>
                <a:lnTo>
                  <a:pt x="78957" y="54698"/>
                </a:lnTo>
                <a:lnTo>
                  <a:pt x="82332" y="52730"/>
                </a:lnTo>
                <a:close/>
              </a:path>
              <a:path w="433704" h="134620">
                <a:moveTo>
                  <a:pt x="433450" y="52730"/>
                </a:moveTo>
                <a:lnTo>
                  <a:pt x="82332" y="52730"/>
                </a:lnTo>
                <a:lnTo>
                  <a:pt x="57512" y="67208"/>
                </a:lnTo>
                <a:lnTo>
                  <a:pt x="82332" y="81686"/>
                </a:lnTo>
                <a:lnTo>
                  <a:pt x="433450" y="81686"/>
                </a:lnTo>
                <a:lnTo>
                  <a:pt x="433450" y="52730"/>
                </a:lnTo>
                <a:close/>
              </a:path>
              <a:path w="433704" h="134620">
                <a:moveTo>
                  <a:pt x="36067" y="54698"/>
                </a:moveTo>
                <a:lnTo>
                  <a:pt x="36067" y="79717"/>
                </a:lnTo>
                <a:lnTo>
                  <a:pt x="57512" y="67208"/>
                </a:lnTo>
                <a:lnTo>
                  <a:pt x="36067" y="54698"/>
                </a:lnTo>
                <a:close/>
              </a:path>
              <a:path w="433704" h="134620">
                <a:moveTo>
                  <a:pt x="57512" y="67208"/>
                </a:moveTo>
                <a:lnTo>
                  <a:pt x="36067" y="79717"/>
                </a:lnTo>
                <a:lnTo>
                  <a:pt x="78957" y="79717"/>
                </a:lnTo>
                <a:lnTo>
                  <a:pt x="57512" y="67208"/>
                </a:lnTo>
                <a:close/>
              </a:path>
              <a:path w="433704" h="134620">
                <a:moveTo>
                  <a:pt x="78957" y="54698"/>
                </a:moveTo>
                <a:lnTo>
                  <a:pt x="36067" y="54698"/>
                </a:lnTo>
                <a:lnTo>
                  <a:pt x="57512" y="67208"/>
                </a:lnTo>
                <a:lnTo>
                  <a:pt x="78957" y="546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4715" y="5303520"/>
            <a:ext cx="3601720" cy="107950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 marR="94615">
              <a:lnSpc>
                <a:spcPct val="100000"/>
              </a:lnSpc>
              <a:spcBef>
                <a:spcPts val="280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SSF Cannot  Explain Seq.</a:t>
            </a:r>
            <a:r>
              <a:rPr sz="3200" b="1" spc="-1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Dep.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6174" y="6399903"/>
            <a:ext cx="755701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</a:t>
            </a:fld>
            <a:endParaRPr sz="2400" dirty="0">
              <a:latin typeface="Arial"/>
              <a:cs typeface="Arial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13D4E79-71AF-2BEC-3710-7122BB281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90600"/>
            <a:ext cx="7875270" cy="50808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4029" y="164414"/>
            <a:ext cx="5485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Stuck-open Fault </a:t>
            </a:r>
            <a:r>
              <a:rPr sz="2000" dirty="0"/>
              <a:t>[Wadsack</a:t>
            </a:r>
            <a:r>
              <a:rPr sz="2000" spc="-100" dirty="0"/>
              <a:t> </a:t>
            </a:r>
            <a:r>
              <a:rPr sz="2000" dirty="0"/>
              <a:t>78]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136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Stuck-open (SOP)</a:t>
            </a:r>
            <a:r>
              <a:rPr sz="2000" b="1" i="1" spc="-9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endParaRPr sz="2000">
              <a:latin typeface="Arial-BoldItalicMT"/>
              <a:cs typeface="Arial-BoldItalic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824" y="1326895"/>
            <a:ext cx="4982889" cy="1065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1685" indent="-28702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Faulty transistor is </a:t>
            </a:r>
            <a:r>
              <a:rPr sz="2000" b="1" spc="-5" dirty="0">
                <a:latin typeface="Arial"/>
                <a:cs typeface="Arial"/>
              </a:rPr>
              <a:t>always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off</a:t>
            </a:r>
            <a:endParaRPr sz="2000" dirty="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NAND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lang="en-US" sz="2000" b="1" dirty="0">
                <a:latin typeface="Arial"/>
                <a:cs typeface="Arial"/>
              </a:rPr>
              <a:t>Consider </a:t>
            </a:r>
            <a:r>
              <a:rPr sz="2000" b="1" dirty="0">
                <a:latin typeface="Arial"/>
                <a:cs typeface="Arial"/>
              </a:rPr>
              <a:t>4 </a:t>
            </a:r>
            <a:r>
              <a:rPr lang="en-US" sz="2000" b="1" dirty="0">
                <a:latin typeface="Arial"/>
                <a:cs typeface="Arial"/>
              </a:rPr>
              <a:t>SOP </a:t>
            </a:r>
            <a:r>
              <a:rPr sz="2000" b="1" dirty="0">
                <a:latin typeface="Arial"/>
                <a:cs typeface="Arial"/>
              </a:rPr>
              <a:t>faults: </a:t>
            </a:r>
            <a:r>
              <a:rPr sz="2000" b="1" spc="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950" b="1" spc="15" baseline="-21367" dirty="0">
                <a:solidFill>
                  <a:srgbClr val="0000FF"/>
                </a:solidFill>
                <a:latin typeface="Arial"/>
                <a:cs typeface="Arial"/>
              </a:rPr>
              <a:t>P </a:t>
            </a:r>
            <a:r>
              <a:rPr sz="2000" b="1" spc="10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950" b="1" spc="15" baseline="-21367" dirty="0">
                <a:solidFill>
                  <a:srgbClr val="0000FF"/>
                </a:solidFill>
                <a:latin typeface="Arial"/>
                <a:cs typeface="Arial"/>
              </a:rPr>
              <a:t>P </a:t>
            </a:r>
            <a:r>
              <a:rPr sz="2000" b="1" spc="1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950" b="1" spc="22" baseline="-21367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50" b="1" spc="-127" baseline="-2136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950" b="1" spc="22" baseline="-21367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endParaRPr sz="1950" baseline="-21367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48122" y="2699620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844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94974" y="1858960"/>
            <a:ext cx="27622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Helvetica"/>
                <a:cs typeface="Helvetica"/>
              </a:rPr>
              <a:t>A</a:t>
            </a:r>
            <a:r>
              <a:rPr sz="1425" baseline="-11695" dirty="0">
                <a:latin typeface="Helvetica"/>
                <a:cs typeface="Helvetica"/>
              </a:rPr>
              <a:t>P</a:t>
            </a:r>
            <a:endParaRPr sz="1425" baseline="-11695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32310" y="1521470"/>
            <a:ext cx="0" cy="438150"/>
          </a:xfrm>
          <a:custGeom>
            <a:avLst/>
            <a:gdLst/>
            <a:ahLst/>
            <a:cxnLst/>
            <a:rect l="l" t="t" r="r" b="b"/>
            <a:pathLst>
              <a:path h="438150">
                <a:moveTo>
                  <a:pt x="0" y="0"/>
                </a:moveTo>
                <a:lnTo>
                  <a:pt x="0" y="43813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08158" y="1959600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52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97571" y="1901991"/>
            <a:ext cx="0" cy="282575"/>
          </a:xfrm>
          <a:custGeom>
            <a:avLst/>
            <a:gdLst/>
            <a:ahLst/>
            <a:cxnLst/>
            <a:rect l="l" t="t" r="r" b="b"/>
            <a:pathLst>
              <a:path h="282575">
                <a:moveTo>
                  <a:pt x="0" y="0"/>
                </a:moveTo>
                <a:lnTo>
                  <a:pt x="0" y="282211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32311" y="2115670"/>
            <a:ext cx="0" cy="293370"/>
          </a:xfrm>
          <a:custGeom>
            <a:avLst/>
            <a:gdLst/>
            <a:ahLst/>
            <a:cxnLst/>
            <a:rect l="l" t="t" r="r" b="b"/>
            <a:pathLst>
              <a:path h="293369">
                <a:moveTo>
                  <a:pt x="0" y="292895"/>
                </a:moveTo>
                <a:lnTo>
                  <a:pt x="0" y="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08158" y="2115670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52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63587" y="1869670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0"/>
                </a:moveTo>
                <a:lnTo>
                  <a:pt x="0" y="269492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5985" y="1701181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678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31878" y="1914860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07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31878" y="1857250"/>
            <a:ext cx="0" cy="281940"/>
          </a:xfrm>
          <a:custGeom>
            <a:avLst/>
            <a:gdLst/>
            <a:ahLst/>
            <a:cxnLst/>
            <a:rect l="l" t="t" r="r" b="b"/>
            <a:pathLst>
              <a:path h="281939">
                <a:moveTo>
                  <a:pt x="0" y="0"/>
                </a:moveTo>
                <a:lnTo>
                  <a:pt x="0" y="281912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5985" y="2070929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4173"/>
                </a:moveTo>
                <a:lnTo>
                  <a:pt x="0" y="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31878" y="2070929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07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45089" y="2396100"/>
            <a:ext cx="1546860" cy="0"/>
          </a:xfrm>
          <a:custGeom>
            <a:avLst/>
            <a:gdLst/>
            <a:ahLst/>
            <a:cxnLst/>
            <a:rect l="l" t="t" r="r" b="b"/>
            <a:pathLst>
              <a:path w="1546859">
                <a:moveTo>
                  <a:pt x="0" y="0"/>
                </a:moveTo>
                <a:lnTo>
                  <a:pt x="1546387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43162" y="2374478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708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19055" y="2588187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07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19055" y="2530637"/>
            <a:ext cx="0" cy="281940"/>
          </a:xfrm>
          <a:custGeom>
            <a:avLst/>
            <a:gdLst/>
            <a:ahLst/>
            <a:cxnLst/>
            <a:rect l="l" t="t" r="r" b="b"/>
            <a:pathLst>
              <a:path h="281939">
                <a:moveTo>
                  <a:pt x="0" y="0"/>
                </a:moveTo>
                <a:lnTo>
                  <a:pt x="0" y="281882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43162" y="2744331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203084"/>
                </a:moveTo>
                <a:lnTo>
                  <a:pt x="0" y="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19055" y="2744331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07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41967" y="2543102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0"/>
                </a:moveTo>
                <a:lnTo>
                  <a:pt x="0" y="269417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48626" y="1921743"/>
            <a:ext cx="107950" cy="107950"/>
          </a:xfrm>
          <a:custGeom>
            <a:avLst/>
            <a:gdLst/>
            <a:ahLst/>
            <a:cxnLst/>
            <a:rect l="l" t="t" r="r" b="b"/>
            <a:pathLst>
              <a:path w="107950" h="107950">
                <a:moveTo>
                  <a:pt x="107655" y="55813"/>
                </a:moveTo>
                <a:lnTo>
                  <a:pt x="95279" y="17956"/>
                </a:lnTo>
                <a:lnTo>
                  <a:pt x="43091" y="0"/>
                </a:lnTo>
                <a:lnTo>
                  <a:pt x="26988" y="7332"/>
                </a:lnTo>
                <a:lnTo>
                  <a:pt x="14612" y="17956"/>
                </a:lnTo>
                <a:lnTo>
                  <a:pt x="3578" y="34116"/>
                </a:lnTo>
                <a:lnTo>
                  <a:pt x="0" y="55813"/>
                </a:lnTo>
                <a:lnTo>
                  <a:pt x="3578" y="71824"/>
                </a:lnTo>
                <a:lnTo>
                  <a:pt x="14612" y="89780"/>
                </a:lnTo>
                <a:lnTo>
                  <a:pt x="26988" y="100853"/>
                </a:lnTo>
                <a:lnTo>
                  <a:pt x="43091" y="107737"/>
                </a:lnTo>
                <a:lnTo>
                  <a:pt x="62773" y="107737"/>
                </a:lnTo>
                <a:lnTo>
                  <a:pt x="79175" y="100853"/>
                </a:lnTo>
                <a:lnTo>
                  <a:pt x="95279" y="89780"/>
                </a:lnTo>
                <a:lnTo>
                  <a:pt x="102138" y="71824"/>
                </a:lnTo>
                <a:lnTo>
                  <a:pt x="107655" y="55813"/>
                </a:lnTo>
                <a:close/>
              </a:path>
            </a:pathLst>
          </a:custGeom>
          <a:ln w="109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05185" y="1981148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5">
                <a:moveTo>
                  <a:pt x="0" y="0"/>
                </a:moveTo>
                <a:lnTo>
                  <a:pt x="158053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05185" y="1981148"/>
            <a:ext cx="0" cy="718820"/>
          </a:xfrm>
          <a:custGeom>
            <a:avLst/>
            <a:gdLst/>
            <a:ahLst/>
            <a:cxnLst/>
            <a:rect l="l" t="t" r="r" b="b"/>
            <a:pathLst>
              <a:path h="718819">
                <a:moveTo>
                  <a:pt x="0" y="718471"/>
                </a:moveTo>
                <a:lnTo>
                  <a:pt x="0" y="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6525" y="1663324"/>
            <a:ext cx="89807" cy="87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802186" y="2223321"/>
            <a:ext cx="4038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Helvetica"/>
                <a:cs typeface="Helvetica"/>
              </a:rPr>
              <a:t>OUT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92485" y="3419400"/>
            <a:ext cx="36512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Helvetica"/>
                <a:cs typeface="Helvetica"/>
              </a:rPr>
              <a:t>Gn</a:t>
            </a:r>
            <a:r>
              <a:rPr sz="1400" dirty="0">
                <a:latin typeface="Helvetica"/>
                <a:cs typeface="Helvetica"/>
              </a:rPr>
              <a:t>d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29410" y="1199819"/>
            <a:ext cx="4038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Helvetica"/>
                <a:cs typeface="Helvetica"/>
              </a:rPr>
              <a:t>VDD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76960" y="2589881"/>
            <a:ext cx="14478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Helvetica"/>
                <a:cs typeface="Helvetica"/>
              </a:rPr>
              <a:t>A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7377" y="2349190"/>
            <a:ext cx="89911" cy="86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66224" y="3428701"/>
            <a:ext cx="156845" cy="0"/>
          </a:xfrm>
          <a:custGeom>
            <a:avLst/>
            <a:gdLst/>
            <a:ahLst/>
            <a:cxnLst/>
            <a:rect l="l" t="t" r="r" b="b"/>
            <a:pathLst>
              <a:path w="156845">
                <a:moveTo>
                  <a:pt x="0" y="0"/>
                </a:moveTo>
                <a:lnTo>
                  <a:pt x="156263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087904" y="3049545"/>
            <a:ext cx="14478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Helvetica"/>
                <a:cs typeface="Helvetica"/>
              </a:rPr>
              <a:t>B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32311" y="1701181"/>
            <a:ext cx="1210945" cy="0"/>
          </a:xfrm>
          <a:custGeom>
            <a:avLst/>
            <a:gdLst/>
            <a:ahLst/>
            <a:cxnLst/>
            <a:rect l="l" t="t" r="r" b="b"/>
            <a:pathLst>
              <a:path w="1210945">
                <a:moveTo>
                  <a:pt x="1210852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443162" y="2844781"/>
            <a:ext cx="0" cy="213995"/>
          </a:xfrm>
          <a:custGeom>
            <a:avLst/>
            <a:gdLst/>
            <a:ahLst/>
            <a:cxnLst/>
            <a:rect l="l" t="t" r="r" b="b"/>
            <a:pathLst>
              <a:path h="213994">
                <a:moveTo>
                  <a:pt x="0" y="0"/>
                </a:moveTo>
                <a:lnTo>
                  <a:pt x="0" y="213693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19055" y="3058474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07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19055" y="3002765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415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43163" y="3216474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201228"/>
                </a:moveTo>
                <a:lnTo>
                  <a:pt x="0" y="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19055" y="3216473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224107" y="0"/>
                </a:moveTo>
                <a:lnTo>
                  <a:pt x="0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41967" y="3013763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0"/>
                </a:moveTo>
                <a:lnTo>
                  <a:pt x="0" y="269417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18351" y="1914860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0"/>
                </a:moveTo>
                <a:lnTo>
                  <a:pt x="0" y="269342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00066" y="1961447"/>
            <a:ext cx="116836" cy="1187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35343" y="3148285"/>
            <a:ext cx="1807210" cy="0"/>
          </a:xfrm>
          <a:custGeom>
            <a:avLst/>
            <a:gdLst/>
            <a:ahLst/>
            <a:cxnLst/>
            <a:rect l="l" t="t" r="r" b="b"/>
            <a:pathLst>
              <a:path w="1807209">
                <a:moveTo>
                  <a:pt x="0" y="0"/>
                </a:moveTo>
                <a:lnTo>
                  <a:pt x="1806623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649303" y="2025889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8068" y="0"/>
                </a:lnTo>
              </a:path>
            </a:pathLst>
          </a:custGeom>
          <a:ln w="10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49303" y="2025889"/>
            <a:ext cx="0" cy="1111885"/>
          </a:xfrm>
          <a:custGeom>
            <a:avLst/>
            <a:gdLst/>
            <a:ahLst/>
            <a:cxnLst/>
            <a:rect l="l" t="t" r="r" b="b"/>
            <a:pathLst>
              <a:path h="1111885">
                <a:moveTo>
                  <a:pt x="0" y="1111771"/>
                </a:moveTo>
                <a:lnTo>
                  <a:pt x="0" y="0"/>
                </a:lnTo>
              </a:path>
            </a:pathLst>
          </a:custGeom>
          <a:ln w="10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13517" y="3099908"/>
            <a:ext cx="89807" cy="879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869400" y="2650869"/>
            <a:ext cx="89762" cy="879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484388" y="2532332"/>
            <a:ext cx="28321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Helvetica"/>
                <a:cs typeface="Helvetica"/>
              </a:rPr>
              <a:t>A</a:t>
            </a:r>
            <a:r>
              <a:rPr sz="1425" baseline="-11695" dirty="0">
                <a:latin typeface="Helvetica"/>
                <a:cs typeface="Helvetica"/>
              </a:rPr>
              <a:t>N</a:t>
            </a:r>
            <a:endParaRPr sz="1425" baseline="-11695">
              <a:latin typeface="Helvetica"/>
              <a:cs typeface="Helvetic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98816" y="1903701"/>
            <a:ext cx="14478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>
                <a:latin typeface="Helvetica"/>
                <a:cs typeface="Helvetica"/>
              </a:rPr>
              <a:t>B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18922" y="1986547"/>
            <a:ext cx="10541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5" dirty="0">
                <a:latin typeface="Helvetica"/>
                <a:cs typeface="Helvetica"/>
              </a:rPr>
              <a:t>P</a:t>
            </a:r>
            <a:endParaRPr sz="950">
              <a:latin typeface="Helvetica"/>
              <a:cs typeface="Helvetic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84388" y="3004819"/>
            <a:ext cx="28321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Helvetica"/>
                <a:cs typeface="Helvetica"/>
              </a:rPr>
              <a:t>B</a:t>
            </a:r>
            <a:r>
              <a:rPr sz="1425" baseline="-11695" dirty="0">
                <a:latin typeface="Helvetica"/>
                <a:cs typeface="Helvetica"/>
              </a:rPr>
              <a:t>N</a:t>
            </a:r>
            <a:endParaRPr sz="1425" baseline="-11695">
              <a:latin typeface="Helvetica"/>
              <a:cs typeface="Helvetica"/>
            </a:endParaRP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299484" y="3755104"/>
          <a:ext cx="8769982" cy="1643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2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8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239">
                <a:tc rowSpan="2">
                  <a:txBody>
                    <a:bodyPr/>
                    <a:lstStyle/>
                    <a:p>
                      <a:pPr marL="161290">
                        <a:lnSpc>
                          <a:spcPts val="2075"/>
                        </a:lnSpc>
                      </a:pPr>
                      <a:r>
                        <a:rPr sz="1850" spc="-5" dirty="0">
                          <a:latin typeface="Helvetica"/>
                          <a:cs typeface="Helvetica"/>
                        </a:rPr>
                        <a:t>Input</a:t>
                      </a:r>
                      <a:endParaRPr sz="1850">
                        <a:latin typeface="Helvetica"/>
                        <a:cs typeface="Helvetica"/>
                      </a:endParaRPr>
                    </a:p>
                    <a:p>
                      <a:pPr marL="232410">
                        <a:lnSpc>
                          <a:spcPts val="2180"/>
                        </a:lnSpc>
                      </a:pPr>
                      <a:r>
                        <a:rPr sz="1850" spc="5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185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50" spc="5" dirty="0">
                          <a:latin typeface="Helvetica"/>
                          <a:cs typeface="Helvetica"/>
                        </a:rPr>
                        <a:t>B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Fault-free</a:t>
                      </a:r>
                      <a:endParaRPr sz="1850">
                        <a:latin typeface="Helvetica"/>
                        <a:cs typeface="Helvetica"/>
                      </a:endParaRPr>
                    </a:p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Output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505075">
                        <a:lnSpc>
                          <a:spcPts val="2065"/>
                        </a:lnSpc>
                        <a:tabLst>
                          <a:tab pos="4435475" algn="l"/>
                        </a:tabLst>
                      </a:pPr>
                      <a:r>
                        <a:rPr sz="1850" spc="5" dirty="0">
                          <a:latin typeface="Helvetica"/>
                          <a:cs typeface="Helvetica"/>
                        </a:rPr>
                        <a:t>Faulty</a:t>
                      </a:r>
                      <a:r>
                        <a:rPr sz="1850" spc="-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50" dirty="0">
                          <a:latin typeface="Helvetica"/>
                          <a:cs typeface="Helvetica"/>
                        </a:rPr>
                        <a:t>Outputs	</a:t>
                      </a:r>
                      <a:r>
                        <a:rPr sz="2400" b="1" i="1" spc="-97" baseline="3472" dirty="0">
                          <a:solidFill>
                            <a:srgbClr val="FF4040"/>
                          </a:solidFill>
                          <a:latin typeface="HelveticaNeue-BoldItalic"/>
                          <a:cs typeface="HelveticaNeue-BoldItalic"/>
                        </a:rPr>
                        <a:t>Z </a:t>
                      </a:r>
                      <a:r>
                        <a:rPr sz="2400" b="1" spc="-7" baseline="3472" dirty="0">
                          <a:solidFill>
                            <a:srgbClr val="FF4040"/>
                          </a:solidFill>
                          <a:latin typeface="Helvetica"/>
                          <a:cs typeface="Helvetica"/>
                        </a:rPr>
                        <a:t>= high</a:t>
                      </a:r>
                      <a:r>
                        <a:rPr sz="2400" b="1" spc="75" baseline="3472" dirty="0">
                          <a:solidFill>
                            <a:srgbClr val="FF4040"/>
                          </a:solidFill>
                          <a:latin typeface="Helvetica"/>
                          <a:cs typeface="Helvetica"/>
                        </a:rPr>
                        <a:t> </a:t>
                      </a:r>
                      <a:r>
                        <a:rPr sz="2400" b="1" spc="-7" baseline="3472" dirty="0">
                          <a:solidFill>
                            <a:srgbClr val="FF4040"/>
                          </a:solidFill>
                          <a:latin typeface="Helvetica"/>
                          <a:cs typeface="Helvetica"/>
                        </a:rPr>
                        <a:t>impedance</a:t>
                      </a:r>
                      <a:endParaRPr sz="2400" baseline="3472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spc="-5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1800" spc="-7" baseline="-13888" dirty="0">
                          <a:latin typeface="Helvetica"/>
                          <a:cs typeface="Helvetica"/>
                        </a:rPr>
                        <a:t>P</a:t>
                      </a:r>
                      <a:endParaRPr sz="1800" baseline="-13888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1800" baseline="-13888" dirty="0">
                          <a:latin typeface="Helvetica"/>
                          <a:cs typeface="Helvetica"/>
                        </a:rPr>
                        <a:t>N</a:t>
                      </a:r>
                      <a:endParaRPr sz="1800" baseline="-13888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spc="-5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1800" spc="-7" baseline="-13888" dirty="0">
                          <a:latin typeface="Helvetica"/>
                          <a:cs typeface="Helvetica"/>
                        </a:rPr>
                        <a:t>P</a:t>
                      </a:r>
                      <a:endParaRPr sz="1800" baseline="-13888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1800" baseline="-13888" dirty="0">
                          <a:latin typeface="Helvetica"/>
                          <a:cs typeface="Helvetica"/>
                        </a:rPr>
                        <a:t>N</a:t>
                      </a:r>
                      <a:endParaRPr sz="1800" baseline="-13888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39">
                <a:tc>
                  <a:txBody>
                    <a:bodyPr/>
                    <a:lstStyle/>
                    <a:p>
                      <a:pPr marL="257810">
                        <a:lnSpc>
                          <a:spcPts val="2014"/>
                        </a:lnSpc>
                      </a:pPr>
                      <a:r>
                        <a:rPr sz="1850" spc="5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1850" spc="-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50" spc="5" dirty="0">
                          <a:latin typeface="Helvetica"/>
                          <a:cs typeface="Helvetica"/>
                        </a:rPr>
                        <a:t>0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2014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24">
                <a:tc>
                  <a:txBody>
                    <a:bodyPr/>
                    <a:lstStyle/>
                    <a:p>
                      <a:pPr marL="257810">
                        <a:lnSpc>
                          <a:spcPts val="2045"/>
                        </a:lnSpc>
                      </a:pPr>
                      <a:r>
                        <a:rPr sz="1850" spc="5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1850" spc="-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50" spc="5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204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45"/>
                        </a:lnSpc>
                      </a:pPr>
                      <a:r>
                        <a:rPr sz="1850" b="1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Z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4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4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4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107">
                <a:tc>
                  <a:txBody>
                    <a:bodyPr/>
                    <a:lstStyle/>
                    <a:p>
                      <a:pPr marL="257810">
                        <a:lnSpc>
                          <a:spcPts val="2035"/>
                        </a:lnSpc>
                      </a:pPr>
                      <a:r>
                        <a:rPr sz="1850" spc="5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1850" spc="-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50" spc="5" dirty="0">
                          <a:latin typeface="Helvetica"/>
                          <a:cs typeface="Helvetica"/>
                        </a:rPr>
                        <a:t>0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203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sz="1850" b="1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Z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5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243">
                <a:tc>
                  <a:txBody>
                    <a:bodyPr/>
                    <a:lstStyle/>
                    <a:p>
                      <a:pPr marL="257810">
                        <a:lnSpc>
                          <a:spcPts val="2090"/>
                        </a:lnSpc>
                      </a:pPr>
                      <a:r>
                        <a:rPr sz="1850" spc="5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1850" spc="-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50" spc="5" dirty="0">
                          <a:latin typeface="Helvetica"/>
                          <a:cs typeface="Helvetica"/>
                        </a:rPr>
                        <a:t>1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2090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0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0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b="1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Z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dirty="0">
                          <a:latin typeface="Helvetica"/>
                          <a:cs typeface="Helvetica"/>
                        </a:rPr>
                        <a:t>0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850" b="1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Z</a:t>
                      </a:r>
                      <a:endParaRPr sz="18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1720595" y="5804915"/>
            <a:ext cx="5702935" cy="58547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4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SOP 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Requires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2-pattern</a:t>
            </a:r>
            <a:r>
              <a:rPr sz="3200" b="1" spc="-14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spc="-65" dirty="0">
                <a:solidFill>
                  <a:srgbClr val="FF0000"/>
                </a:solidFill>
                <a:latin typeface="Helvetica"/>
                <a:cs typeface="Helvetica"/>
              </a:rPr>
              <a:t>Test</a:t>
            </a:r>
            <a:endParaRPr sz="320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726" y="164414"/>
            <a:ext cx="50355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Sequence</a:t>
            </a:r>
            <a:r>
              <a:rPr spc="-65" dirty="0"/>
              <a:t> </a:t>
            </a:r>
            <a:r>
              <a:rPr dirty="0"/>
              <a:t>Dependency</a:t>
            </a:r>
          </a:p>
        </p:txBody>
      </p:sp>
      <p:sp>
        <p:nvSpPr>
          <p:cNvPr id="3" name="object 3"/>
          <p:cNvSpPr/>
          <p:nvPr/>
        </p:nvSpPr>
        <p:spPr>
          <a:xfrm>
            <a:off x="1402841" y="3789426"/>
            <a:ext cx="210820" cy="733425"/>
          </a:xfrm>
          <a:custGeom>
            <a:avLst/>
            <a:gdLst/>
            <a:ahLst/>
            <a:cxnLst/>
            <a:rect l="l" t="t" r="r" b="b"/>
            <a:pathLst>
              <a:path w="210819" h="733425">
                <a:moveTo>
                  <a:pt x="210312" y="0"/>
                </a:moveTo>
                <a:lnTo>
                  <a:pt x="210312" y="261747"/>
                </a:lnTo>
                <a:lnTo>
                  <a:pt x="0" y="261747"/>
                </a:lnTo>
                <a:lnTo>
                  <a:pt x="0" y="471297"/>
                </a:lnTo>
                <a:lnTo>
                  <a:pt x="210312" y="471297"/>
                </a:lnTo>
                <a:lnTo>
                  <a:pt x="210312" y="73304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49502" y="4050029"/>
            <a:ext cx="0" cy="213360"/>
          </a:xfrm>
          <a:custGeom>
            <a:avLst/>
            <a:gdLst/>
            <a:ahLst/>
            <a:cxnLst/>
            <a:rect l="l" t="t" r="r" b="b"/>
            <a:pathLst>
              <a:path h="213360">
                <a:moveTo>
                  <a:pt x="0" y="0"/>
                </a:moveTo>
                <a:lnTo>
                  <a:pt x="0" y="21336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7394" y="4112514"/>
            <a:ext cx="74930" cy="83820"/>
          </a:xfrm>
          <a:custGeom>
            <a:avLst/>
            <a:gdLst/>
            <a:ahLst/>
            <a:cxnLst/>
            <a:rect l="l" t="t" r="r" b="b"/>
            <a:pathLst>
              <a:path w="74930" h="83820">
                <a:moveTo>
                  <a:pt x="0" y="41910"/>
                </a:moveTo>
                <a:lnTo>
                  <a:pt x="2933" y="25610"/>
                </a:lnTo>
                <a:lnTo>
                  <a:pt x="10934" y="12287"/>
                </a:lnTo>
                <a:lnTo>
                  <a:pt x="22802" y="3298"/>
                </a:lnTo>
                <a:lnTo>
                  <a:pt x="37337" y="0"/>
                </a:lnTo>
                <a:lnTo>
                  <a:pt x="51851" y="3298"/>
                </a:lnTo>
                <a:lnTo>
                  <a:pt x="63722" y="12287"/>
                </a:lnTo>
                <a:lnTo>
                  <a:pt x="71735" y="25610"/>
                </a:lnTo>
                <a:lnTo>
                  <a:pt x="74675" y="41910"/>
                </a:lnTo>
                <a:lnTo>
                  <a:pt x="71735" y="58209"/>
                </a:lnTo>
                <a:lnTo>
                  <a:pt x="63722" y="71532"/>
                </a:lnTo>
                <a:lnTo>
                  <a:pt x="51851" y="80521"/>
                </a:lnTo>
                <a:lnTo>
                  <a:pt x="37337" y="83819"/>
                </a:lnTo>
                <a:lnTo>
                  <a:pt x="22802" y="80521"/>
                </a:lnTo>
                <a:lnTo>
                  <a:pt x="10934" y="71532"/>
                </a:lnTo>
                <a:lnTo>
                  <a:pt x="2933" y="58209"/>
                </a:lnTo>
                <a:lnTo>
                  <a:pt x="0" y="4191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7330" y="3800094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>
                <a:moveTo>
                  <a:pt x="0" y="0"/>
                </a:moveTo>
                <a:lnTo>
                  <a:pt x="2407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97301" y="3789426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>
                <a:moveTo>
                  <a:pt x="0" y="0"/>
                </a:moveTo>
                <a:lnTo>
                  <a:pt x="2407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2486" y="4534661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5">
                <a:moveTo>
                  <a:pt x="0" y="0"/>
                </a:moveTo>
                <a:lnTo>
                  <a:pt x="130606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6205" y="4152138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5">
                <a:moveTo>
                  <a:pt x="36118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825" y="4150614"/>
            <a:ext cx="0" cy="1229995"/>
          </a:xfrm>
          <a:custGeom>
            <a:avLst/>
            <a:gdLst/>
            <a:ahLst/>
            <a:cxnLst/>
            <a:rect l="l" t="t" r="r" b="b"/>
            <a:pathLst>
              <a:path h="1229995">
                <a:moveTo>
                  <a:pt x="0" y="0"/>
                </a:moveTo>
                <a:lnTo>
                  <a:pt x="0" y="1229868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825" y="5377434"/>
            <a:ext cx="1163320" cy="0"/>
          </a:xfrm>
          <a:custGeom>
            <a:avLst/>
            <a:gdLst/>
            <a:ahLst/>
            <a:cxnLst/>
            <a:rect l="l" t="t" r="r" b="b"/>
            <a:pathLst>
              <a:path w="1163320">
                <a:moveTo>
                  <a:pt x="11628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4162" y="4744973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>
                <a:moveTo>
                  <a:pt x="359663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4065" y="4756861"/>
            <a:ext cx="1549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1314" y="4534661"/>
            <a:ext cx="210820" cy="745490"/>
          </a:xfrm>
          <a:custGeom>
            <a:avLst/>
            <a:gdLst/>
            <a:ahLst/>
            <a:cxnLst/>
            <a:rect l="l" t="t" r="r" b="b"/>
            <a:pathLst>
              <a:path w="210819" h="745489">
                <a:moveTo>
                  <a:pt x="210312" y="0"/>
                </a:moveTo>
                <a:lnTo>
                  <a:pt x="210312" y="266192"/>
                </a:lnTo>
                <a:lnTo>
                  <a:pt x="0" y="266192"/>
                </a:lnTo>
                <a:lnTo>
                  <a:pt x="0" y="479044"/>
                </a:lnTo>
                <a:lnTo>
                  <a:pt x="210312" y="479044"/>
                </a:lnTo>
                <a:lnTo>
                  <a:pt x="210312" y="74523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79498" y="4798314"/>
            <a:ext cx="0" cy="218440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793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36141" y="4898897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92049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64386" y="4170426"/>
            <a:ext cx="967740" cy="728980"/>
          </a:xfrm>
          <a:custGeom>
            <a:avLst/>
            <a:gdLst/>
            <a:ahLst/>
            <a:cxnLst/>
            <a:rect l="l" t="t" r="r" b="b"/>
            <a:pathLst>
              <a:path w="967739" h="728979">
                <a:moveTo>
                  <a:pt x="967739" y="0"/>
                </a:moveTo>
                <a:lnTo>
                  <a:pt x="0" y="728472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51025" y="3976878"/>
            <a:ext cx="295910" cy="356870"/>
          </a:xfrm>
          <a:custGeom>
            <a:avLst/>
            <a:gdLst/>
            <a:ahLst/>
            <a:cxnLst/>
            <a:rect l="l" t="t" r="r" b="b"/>
            <a:pathLst>
              <a:path w="295910" h="356870">
                <a:moveTo>
                  <a:pt x="0" y="0"/>
                </a:moveTo>
                <a:lnTo>
                  <a:pt x="295656" y="356616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51025" y="3976878"/>
            <a:ext cx="295910" cy="356870"/>
          </a:xfrm>
          <a:custGeom>
            <a:avLst/>
            <a:gdLst/>
            <a:ahLst/>
            <a:cxnLst/>
            <a:rect l="l" t="t" r="r" b="b"/>
            <a:pathLst>
              <a:path w="295910" h="356870">
                <a:moveTo>
                  <a:pt x="295656" y="0"/>
                </a:moveTo>
                <a:lnTo>
                  <a:pt x="0" y="356616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60220" y="4045965"/>
            <a:ext cx="2724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latin typeface="Arial"/>
                <a:cs typeface="Arial"/>
              </a:rPr>
              <a:t>A</a:t>
            </a:r>
            <a:r>
              <a:rPr sz="1350" b="1" spc="-22" baseline="-21604" dirty="0">
                <a:latin typeface="Arial"/>
                <a:cs typeface="Arial"/>
              </a:rPr>
              <a:t>p</a:t>
            </a:r>
            <a:endParaRPr sz="1350" baseline="-21604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26742" y="5008626"/>
            <a:ext cx="210820" cy="745490"/>
          </a:xfrm>
          <a:custGeom>
            <a:avLst/>
            <a:gdLst/>
            <a:ahLst/>
            <a:cxnLst/>
            <a:rect l="l" t="t" r="r" b="b"/>
            <a:pathLst>
              <a:path w="210819" h="745489">
                <a:moveTo>
                  <a:pt x="210312" y="0"/>
                </a:moveTo>
                <a:lnTo>
                  <a:pt x="210312" y="266192"/>
                </a:lnTo>
                <a:lnTo>
                  <a:pt x="0" y="266192"/>
                </a:lnTo>
                <a:lnTo>
                  <a:pt x="0" y="479044"/>
                </a:lnTo>
                <a:lnTo>
                  <a:pt x="210312" y="479044"/>
                </a:lnTo>
                <a:lnTo>
                  <a:pt x="210312" y="74523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73401" y="5272278"/>
            <a:ext cx="0" cy="218440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7932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33422" y="5753861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>
                <a:moveTo>
                  <a:pt x="0" y="0"/>
                </a:moveTo>
                <a:lnTo>
                  <a:pt x="25450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73857" y="3809238"/>
            <a:ext cx="212090" cy="730250"/>
          </a:xfrm>
          <a:custGeom>
            <a:avLst/>
            <a:gdLst/>
            <a:ahLst/>
            <a:cxnLst/>
            <a:rect l="l" t="t" r="r" b="b"/>
            <a:pathLst>
              <a:path w="212089" h="730250">
                <a:moveTo>
                  <a:pt x="211836" y="0"/>
                </a:moveTo>
                <a:lnTo>
                  <a:pt x="211836" y="260731"/>
                </a:lnTo>
                <a:lnTo>
                  <a:pt x="0" y="260731"/>
                </a:lnTo>
                <a:lnTo>
                  <a:pt x="0" y="469264"/>
                </a:lnTo>
                <a:lnTo>
                  <a:pt x="211836" y="469264"/>
                </a:lnTo>
                <a:lnTo>
                  <a:pt x="211836" y="72999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22042" y="4068317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83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18410" y="4130802"/>
            <a:ext cx="74930" cy="83820"/>
          </a:xfrm>
          <a:custGeom>
            <a:avLst/>
            <a:gdLst/>
            <a:ahLst/>
            <a:cxnLst/>
            <a:rect l="l" t="t" r="r" b="b"/>
            <a:pathLst>
              <a:path w="74930" h="83820">
                <a:moveTo>
                  <a:pt x="0" y="41910"/>
                </a:moveTo>
                <a:lnTo>
                  <a:pt x="2940" y="25610"/>
                </a:lnTo>
                <a:lnTo>
                  <a:pt x="10953" y="12287"/>
                </a:lnTo>
                <a:lnTo>
                  <a:pt x="22824" y="3298"/>
                </a:lnTo>
                <a:lnTo>
                  <a:pt x="37337" y="0"/>
                </a:lnTo>
                <a:lnTo>
                  <a:pt x="51851" y="3298"/>
                </a:lnTo>
                <a:lnTo>
                  <a:pt x="63722" y="12287"/>
                </a:lnTo>
                <a:lnTo>
                  <a:pt x="71735" y="25610"/>
                </a:lnTo>
                <a:lnTo>
                  <a:pt x="74675" y="41910"/>
                </a:lnTo>
                <a:lnTo>
                  <a:pt x="71735" y="58209"/>
                </a:lnTo>
                <a:lnTo>
                  <a:pt x="63722" y="71532"/>
                </a:lnTo>
                <a:lnTo>
                  <a:pt x="51851" y="80521"/>
                </a:lnTo>
                <a:lnTo>
                  <a:pt x="37337" y="83820"/>
                </a:lnTo>
                <a:lnTo>
                  <a:pt x="22824" y="80521"/>
                </a:lnTo>
                <a:lnTo>
                  <a:pt x="10953" y="71532"/>
                </a:lnTo>
                <a:lnTo>
                  <a:pt x="2940" y="58209"/>
                </a:lnTo>
                <a:lnTo>
                  <a:pt x="0" y="4191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10818" y="4789170"/>
            <a:ext cx="154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05505" y="4527041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43281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55975" y="4353814"/>
            <a:ext cx="332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O</a:t>
            </a:r>
            <a:r>
              <a:rPr sz="1400" b="1" spc="-10" dirty="0">
                <a:latin typeface="Arial"/>
                <a:cs typeface="Arial"/>
              </a:rPr>
              <a:t>u</a:t>
            </a:r>
            <a:r>
              <a:rPr sz="1400" b="1" dirty="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95548" y="4053966"/>
            <a:ext cx="276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Arial"/>
                <a:cs typeface="Arial"/>
              </a:rPr>
              <a:t>B</a:t>
            </a:r>
            <a:r>
              <a:rPr sz="1350" b="1" spc="7" baseline="-21604" dirty="0">
                <a:latin typeface="Arial"/>
                <a:cs typeface="Arial"/>
              </a:rPr>
              <a:t>p</a:t>
            </a:r>
            <a:endParaRPr sz="1350" baseline="-21604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06345" y="4777866"/>
            <a:ext cx="285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A</a:t>
            </a:r>
            <a:r>
              <a:rPr sz="1350" b="1" spc="-15" baseline="-21604" dirty="0">
                <a:latin typeface="Arial"/>
                <a:cs typeface="Arial"/>
              </a:rPr>
              <a:t>N</a:t>
            </a:r>
            <a:endParaRPr sz="1350" baseline="-21604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39745" y="5273421"/>
            <a:ext cx="154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67761" y="5375528"/>
            <a:ext cx="11176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25" dirty="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530096" y="4847844"/>
            <a:ext cx="91440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3439" y="4695444"/>
            <a:ext cx="91440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68034" y="4039361"/>
            <a:ext cx="581025" cy="76200"/>
          </a:xfrm>
          <a:custGeom>
            <a:avLst/>
            <a:gdLst/>
            <a:ahLst/>
            <a:cxnLst/>
            <a:rect l="l" t="t" r="r" b="b"/>
            <a:pathLst>
              <a:path w="581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6"/>
                </a:lnTo>
                <a:lnTo>
                  <a:pt x="63500" y="48006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581025" h="76200">
                <a:moveTo>
                  <a:pt x="76200" y="28193"/>
                </a:moveTo>
                <a:lnTo>
                  <a:pt x="63500" y="28193"/>
                </a:lnTo>
                <a:lnTo>
                  <a:pt x="63500" y="48006"/>
                </a:lnTo>
                <a:lnTo>
                  <a:pt x="76200" y="48006"/>
                </a:lnTo>
                <a:lnTo>
                  <a:pt x="76200" y="28193"/>
                </a:lnTo>
                <a:close/>
              </a:path>
              <a:path w="581025" h="76200">
                <a:moveTo>
                  <a:pt x="580643" y="28193"/>
                </a:moveTo>
                <a:lnTo>
                  <a:pt x="76200" y="28193"/>
                </a:lnTo>
                <a:lnTo>
                  <a:pt x="76200" y="48006"/>
                </a:lnTo>
                <a:lnTo>
                  <a:pt x="580643" y="48006"/>
                </a:lnTo>
                <a:lnTo>
                  <a:pt x="580643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956806" y="3768090"/>
            <a:ext cx="14008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FF0000"/>
                </a:solidFill>
                <a:latin typeface="Arial"/>
                <a:cs typeface="Arial"/>
              </a:rPr>
              <a:t>FAIL: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Fault</a:t>
            </a:r>
            <a:r>
              <a:rPr sz="16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detected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38009" y="5474919"/>
            <a:ext cx="164718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C00"/>
                </a:solidFill>
                <a:latin typeface="Arial"/>
                <a:cs typeface="Arial"/>
              </a:rPr>
              <a:t>PASS: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00CC00"/>
                </a:solidFill>
                <a:latin typeface="Arial"/>
                <a:cs typeface="Arial"/>
              </a:rPr>
              <a:t>Fault</a:t>
            </a:r>
            <a:r>
              <a:rPr sz="1600" b="1" spc="-5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CC00"/>
                </a:solidFill>
                <a:latin typeface="Arial"/>
                <a:cs typeface="Arial"/>
              </a:rPr>
              <a:t>undetected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00CC00"/>
                </a:solidFill>
                <a:latin typeface="Arial"/>
                <a:cs typeface="Arial"/>
              </a:rPr>
              <a:t>(test</a:t>
            </a:r>
            <a:r>
              <a:rPr sz="1600" b="1" spc="1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CC00"/>
                </a:solidFill>
                <a:latin typeface="Arial"/>
                <a:cs typeface="Arial"/>
              </a:rPr>
              <a:t>escape)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4013200" y="3235325"/>
          <a:ext cx="2567938" cy="1341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40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spc="-7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spc="-5" dirty="0">
                          <a:latin typeface="Arial"/>
                          <a:cs typeface="Arial"/>
                        </a:rPr>
                        <a:t>good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faulty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019550" y="5114925"/>
          <a:ext cx="2562860" cy="13414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40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good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45"/>
                        </a:lnSpc>
                        <a:spcBef>
                          <a:spcPts val="795"/>
                        </a:spcBef>
                      </a:pPr>
                      <a:r>
                        <a:rPr sz="2400" b="1" baseline="15625" dirty="0">
                          <a:latin typeface="Arial"/>
                          <a:cs typeface="Arial"/>
                        </a:rPr>
                        <a:t>Out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faulty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1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6368034" y="5912358"/>
            <a:ext cx="581025" cy="76200"/>
          </a:xfrm>
          <a:custGeom>
            <a:avLst/>
            <a:gdLst/>
            <a:ahLst/>
            <a:cxnLst/>
            <a:rect l="l" t="t" r="r" b="b"/>
            <a:pathLst>
              <a:path w="581025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8005"/>
                </a:lnTo>
                <a:lnTo>
                  <a:pt x="63500" y="48005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581025" h="76200">
                <a:moveTo>
                  <a:pt x="76200" y="28193"/>
                </a:moveTo>
                <a:lnTo>
                  <a:pt x="63500" y="28193"/>
                </a:lnTo>
                <a:lnTo>
                  <a:pt x="63500" y="48005"/>
                </a:lnTo>
                <a:lnTo>
                  <a:pt x="76200" y="48005"/>
                </a:lnTo>
                <a:lnTo>
                  <a:pt x="76200" y="28193"/>
                </a:lnTo>
                <a:close/>
              </a:path>
              <a:path w="581025" h="76200">
                <a:moveTo>
                  <a:pt x="580643" y="28193"/>
                </a:moveTo>
                <a:lnTo>
                  <a:pt x="76200" y="28193"/>
                </a:lnTo>
                <a:lnTo>
                  <a:pt x="76200" y="48005"/>
                </a:lnTo>
                <a:lnTo>
                  <a:pt x="580643" y="48005"/>
                </a:lnTo>
                <a:lnTo>
                  <a:pt x="580643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04825" y="900785"/>
            <a:ext cx="7486015" cy="22618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SOP Faulty circuit has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memory </a:t>
            </a:r>
            <a:r>
              <a:rPr lang="en-US" sz="2000" b="1" dirty="0">
                <a:latin typeface="Arial"/>
                <a:cs typeface="Arial"/>
              </a:rPr>
              <a:t>(due to parasitic</a:t>
            </a:r>
            <a:r>
              <a:rPr lang="en-US" sz="2000" b="1" spc="-17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capacitor)</a:t>
            </a:r>
            <a:endParaRPr lang="en-US"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lang="en-US" sz="2000" b="1" dirty="0">
                <a:latin typeface="Arial"/>
                <a:cs typeface="Arial"/>
              </a:rPr>
              <a:t>Test results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depend on </a:t>
            </a:r>
            <a:r>
              <a:rPr lang="en-US" sz="2000" b="1" u="sng" dirty="0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 of test</a:t>
            </a:r>
            <a:r>
              <a:rPr lang="en-US"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patterns</a:t>
            </a:r>
            <a:endParaRPr lang="en-US" sz="2000" dirty="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Example: </a:t>
            </a:r>
            <a:r>
              <a:rPr sz="2000" b="1" i="1" spc="10" dirty="0">
                <a:latin typeface="Arial-BoldItalicMT"/>
                <a:cs typeface="Arial-BoldItalicMT"/>
              </a:rPr>
              <a:t>A</a:t>
            </a:r>
            <a:r>
              <a:rPr sz="1950" b="1" i="1" spc="15" baseline="-21367" dirty="0">
                <a:latin typeface="Arial-BoldItalicMT"/>
                <a:cs typeface="Arial-BoldItalicMT"/>
              </a:rPr>
              <a:t>p </a:t>
            </a:r>
            <a:r>
              <a:rPr sz="2000" b="1" dirty="0">
                <a:latin typeface="Arial"/>
                <a:cs typeface="Arial"/>
              </a:rPr>
              <a:t>stuck-open</a:t>
            </a:r>
            <a:r>
              <a:rPr sz="2000" b="1" spc="-2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fault,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spc="-5" dirty="0">
                <a:latin typeface="Arial"/>
                <a:cs typeface="Arial"/>
              </a:rPr>
              <a:t>Same </a:t>
            </a:r>
            <a:r>
              <a:rPr sz="2000" b="1" dirty="0">
                <a:latin typeface="Arial"/>
                <a:cs typeface="Arial"/>
              </a:rPr>
              <a:t>test patterns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{11, 01, 00}, but different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sequence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  <a:tab pos="2994660" algn="l"/>
              </a:tabLst>
            </a:pPr>
            <a:r>
              <a:rPr sz="2000" b="1" dirty="0">
                <a:latin typeface="Arial"/>
                <a:cs typeface="Arial"/>
              </a:rPr>
              <a:t>Sequence 1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fails;	</a:t>
            </a:r>
            <a:r>
              <a:rPr sz="2000" b="1" dirty="0">
                <a:latin typeface="Arial"/>
                <a:cs typeface="Arial"/>
              </a:rPr>
              <a:t>Sequence 2 </a:t>
            </a:r>
            <a:r>
              <a:rPr sz="2000" b="1" dirty="0">
                <a:solidFill>
                  <a:srgbClr val="00CC00"/>
                </a:solidFill>
                <a:latin typeface="Arial"/>
                <a:cs typeface="Arial"/>
              </a:rPr>
              <a:t>passes </a:t>
            </a:r>
            <a:r>
              <a:rPr sz="2000" b="1" dirty="0">
                <a:latin typeface="Arial"/>
                <a:cs typeface="Arial"/>
              </a:rPr>
              <a:t>(test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escape)</a:t>
            </a:r>
            <a:endParaRPr sz="2000" dirty="0">
              <a:latin typeface="Arial"/>
              <a:cs typeface="Arial"/>
            </a:endParaRPr>
          </a:p>
          <a:p>
            <a:pPr marL="4138295">
              <a:lnSpc>
                <a:spcPct val="100000"/>
              </a:lnSpc>
              <a:spcBef>
                <a:spcPts val="805"/>
              </a:spcBef>
            </a:pPr>
            <a:r>
              <a:rPr sz="2000" b="1" dirty="0">
                <a:latin typeface="Helvetica"/>
                <a:cs typeface="Helvetica"/>
              </a:rPr>
              <a:t>Sequence</a:t>
            </a:r>
            <a:r>
              <a:rPr sz="2000" b="1" spc="-2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1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81627" y="4761687"/>
            <a:ext cx="14382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Sequence</a:t>
            </a:r>
            <a:r>
              <a:rPr sz="2000" b="1" spc="-8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2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179064" y="4538471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6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82111" y="4965191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6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25723" y="530352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649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10483" y="4881371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830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10483" y="4954523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830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76174" y="6399903"/>
            <a:ext cx="452831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6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8503" y="1507186"/>
            <a:ext cx="360489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Fault </a:t>
            </a:r>
            <a:r>
              <a:rPr sz="2100" spc="-5" dirty="0">
                <a:latin typeface="Helvetica"/>
                <a:cs typeface="Helvetica"/>
              </a:rPr>
              <a:t>Models </a:t>
            </a:r>
            <a:r>
              <a:rPr sz="2100" spc="5" dirty="0">
                <a:latin typeface="Helvetica"/>
                <a:cs typeface="Helvetica"/>
              </a:rPr>
              <a:t>for </a:t>
            </a:r>
            <a:r>
              <a:rPr sz="2100" spc="-5" dirty="0">
                <a:latin typeface="Helvetica"/>
                <a:cs typeface="Helvetica"/>
              </a:rPr>
              <a:t>Logic</a:t>
            </a:r>
            <a:r>
              <a:rPr sz="2100" spc="-105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Circuits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2809" y="2373778"/>
            <a:ext cx="5539105" cy="0"/>
          </a:xfrm>
          <a:custGeom>
            <a:avLst/>
            <a:gdLst/>
            <a:ahLst/>
            <a:cxnLst/>
            <a:rect l="l" t="t" r="r" b="b"/>
            <a:pathLst>
              <a:path w="5539105">
                <a:moveTo>
                  <a:pt x="0" y="0"/>
                </a:moveTo>
                <a:lnTo>
                  <a:pt x="5538723" y="0"/>
                </a:lnTo>
              </a:path>
            </a:pathLst>
          </a:custGeom>
          <a:ln w="15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84374" y="1851466"/>
            <a:ext cx="0" cy="522605"/>
          </a:xfrm>
          <a:custGeom>
            <a:avLst/>
            <a:gdLst/>
            <a:ahLst/>
            <a:cxnLst/>
            <a:rect l="l" t="t" r="r" b="b"/>
            <a:pathLst>
              <a:path h="522605">
                <a:moveTo>
                  <a:pt x="0" y="0"/>
                </a:moveTo>
                <a:lnTo>
                  <a:pt x="0" y="522312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22809" y="237377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24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84374" y="237377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24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5771" y="237377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24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4866" y="2735748"/>
            <a:ext cx="2186940" cy="658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480"/>
              </a:lnSpc>
              <a:spcBef>
                <a:spcPts val="120"/>
              </a:spcBef>
            </a:pPr>
            <a:r>
              <a:rPr sz="2100" spc="-10" dirty="0">
                <a:latin typeface="Helvetica"/>
                <a:cs typeface="Helvetica"/>
              </a:rPr>
              <a:t>“High”</a:t>
            </a:r>
            <a:r>
              <a:rPr sz="2100" spc="-15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level</a:t>
            </a:r>
            <a:endParaRPr sz="2100">
              <a:latin typeface="Helvetica"/>
              <a:cs typeface="Helvetica"/>
            </a:endParaRPr>
          </a:p>
          <a:p>
            <a:pPr algn="ctr">
              <a:lnSpc>
                <a:spcPts val="2480"/>
              </a:lnSpc>
            </a:pPr>
            <a:r>
              <a:rPr sz="2100" dirty="0">
                <a:latin typeface="Helvetica"/>
                <a:cs typeface="Helvetica"/>
              </a:rPr>
              <a:t>or </a:t>
            </a:r>
            <a:r>
              <a:rPr sz="2100" spc="-5" dirty="0">
                <a:latin typeface="Helvetica"/>
                <a:cs typeface="Helvetica"/>
              </a:rPr>
              <a:t>Functional</a:t>
            </a:r>
            <a:r>
              <a:rPr sz="2100" spc="-55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level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0632" y="3352823"/>
            <a:ext cx="132778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or</a:t>
            </a:r>
            <a:r>
              <a:rPr sz="2100" spc="-70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RT-level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6562" y="2684791"/>
            <a:ext cx="1223645" cy="6559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685" marR="5080" indent="-7620">
              <a:lnSpc>
                <a:spcPts val="2420"/>
              </a:lnSpc>
              <a:spcBef>
                <a:spcPts val="280"/>
              </a:spcBef>
            </a:pPr>
            <a:r>
              <a:rPr sz="2100" dirty="0">
                <a:latin typeface="Helvetica"/>
                <a:cs typeface="Helvetica"/>
              </a:rPr>
              <a:t>Gate</a:t>
            </a:r>
            <a:r>
              <a:rPr sz="2100" spc="-80" dirty="0">
                <a:latin typeface="Helvetica"/>
                <a:cs typeface="Helvetica"/>
              </a:rPr>
              <a:t> </a:t>
            </a:r>
            <a:r>
              <a:rPr sz="2100" spc="-10" dirty="0">
                <a:latin typeface="Helvetica"/>
                <a:cs typeface="Helvetica"/>
              </a:rPr>
              <a:t>level  (</a:t>
            </a:r>
            <a:r>
              <a:rPr sz="2100" dirty="0">
                <a:latin typeface="Helvetica"/>
                <a:cs typeface="Helvetica"/>
              </a:rPr>
              <a:t>inte</a:t>
            </a:r>
            <a:r>
              <a:rPr sz="2100" spc="-10" dirty="0">
                <a:latin typeface="Helvetica"/>
                <a:cs typeface="Helvetica"/>
              </a:rPr>
              <a:t>r</a:t>
            </a:r>
            <a:r>
              <a:rPr sz="2100" spc="-15" dirty="0">
                <a:latin typeface="Helvetica"/>
                <a:cs typeface="Helvetica"/>
              </a:rPr>
              <a:t>-</a:t>
            </a:r>
            <a:r>
              <a:rPr sz="2100" dirty="0">
                <a:latin typeface="Helvetica"/>
                <a:cs typeface="Helvetica"/>
              </a:rPr>
              <a:t>ce</a:t>
            </a:r>
            <a:r>
              <a:rPr sz="2100" spc="-10" dirty="0">
                <a:latin typeface="Helvetica"/>
                <a:cs typeface="Helvetica"/>
              </a:rPr>
              <a:t>l</a:t>
            </a:r>
            <a:r>
              <a:rPr sz="2100" dirty="0">
                <a:latin typeface="Helvetica"/>
                <a:cs typeface="Helvetica"/>
              </a:rPr>
              <a:t>l)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2614" y="2767446"/>
            <a:ext cx="1817370" cy="614680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1905" rIns="0" bIns="0" rtlCol="0">
            <a:spAutoFit/>
          </a:bodyPr>
          <a:lstStyle/>
          <a:p>
            <a:pPr marL="311150" indent="-311785">
              <a:lnSpc>
                <a:spcPts val="2440"/>
              </a:lnSpc>
              <a:spcBef>
                <a:spcPts val="15"/>
              </a:spcBef>
            </a:pPr>
            <a:r>
              <a:rPr sz="2100" spc="-5" dirty="0">
                <a:latin typeface="Helvetica"/>
                <a:cs typeface="Helvetica"/>
              </a:rPr>
              <a:t>Transistor </a:t>
            </a:r>
            <a:r>
              <a:rPr sz="2100" spc="-10" dirty="0">
                <a:latin typeface="Helvetica"/>
                <a:cs typeface="Helvetica"/>
              </a:rPr>
              <a:t>level  </a:t>
            </a:r>
            <a:r>
              <a:rPr sz="2100" spc="-5" dirty="0">
                <a:latin typeface="Helvetica"/>
                <a:cs typeface="Helvetica"/>
              </a:rPr>
              <a:t>(intra-cell)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68613" y="3368116"/>
            <a:ext cx="0" cy="1934845"/>
          </a:xfrm>
          <a:custGeom>
            <a:avLst/>
            <a:gdLst/>
            <a:ahLst/>
            <a:cxnLst/>
            <a:rect l="l" t="t" r="r" b="b"/>
            <a:pathLst>
              <a:path h="1934845">
                <a:moveTo>
                  <a:pt x="0" y="0"/>
                </a:moveTo>
                <a:lnTo>
                  <a:pt x="0" y="1934230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47446" y="3721241"/>
            <a:ext cx="3752850" cy="0"/>
          </a:xfrm>
          <a:custGeom>
            <a:avLst/>
            <a:gdLst/>
            <a:ahLst/>
            <a:cxnLst/>
            <a:rect l="l" t="t" r="r" b="b"/>
            <a:pathLst>
              <a:path w="3752850">
                <a:moveTo>
                  <a:pt x="0" y="0"/>
                </a:moveTo>
                <a:lnTo>
                  <a:pt x="3752226" y="0"/>
                </a:lnTo>
              </a:path>
            </a:pathLst>
          </a:custGeom>
          <a:ln w="15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47446" y="3721241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21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92772" y="4045328"/>
            <a:ext cx="137414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spc="-5" dirty="0">
                <a:latin typeface="Helvetica"/>
                <a:cs typeface="Helvetica"/>
              </a:rPr>
              <a:t>Stuck-open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63618" y="3721241"/>
            <a:ext cx="0" cy="342265"/>
          </a:xfrm>
          <a:custGeom>
            <a:avLst/>
            <a:gdLst/>
            <a:ahLst/>
            <a:cxnLst/>
            <a:rect l="l" t="t" r="r" b="b"/>
            <a:pathLst>
              <a:path h="342264">
                <a:moveTo>
                  <a:pt x="0" y="0"/>
                </a:moveTo>
                <a:lnTo>
                  <a:pt x="0" y="342106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50165" y="4060620"/>
            <a:ext cx="1064260" cy="412750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0"/>
              </a:lnSpc>
            </a:pPr>
            <a:r>
              <a:rPr sz="2100" dirty="0">
                <a:latin typeface="Helvetica"/>
                <a:cs typeface="Helvetica"/>
              </a:rPr>
              <a:t>Stuc</a:t>
            </a:r>
            <a:r>
              <a:rPr sz="2100" spc="-10" dirty="0">
                <a:latin typeface="Helvetica"/>
                <a:cs typeface="Helvetica"/>
              </a:rPr>
              <a:t>k-</a:t>
            </a:r>
            <a:r>
              <a:rPr sz="2100" dirty="0">
                <a:latin typeface="Helvetica"/>
                <a:cs typeface="Helvetica"/>
              </a:rPr>
              <a:t>on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9093" y="5286478"/>
            <a:ext cx="5640070" cy="0"/>
          </a:xfrm>
          <a:custGeom>
            <a:avLst/>
            <a:gdLst/>
            <a:ahLst/>
            <a:cxnLst/>
            <a:rect l="l" t="t" r="r" b="b"/>
            <a:pathLst>
              <a:path w="5640070">
                <a:moveTo>
                  <a:pt x="0" y="0"/>
                </a:moveTo>
                <a:lnTo>
                  <a:pt x="5639860" y="0"/>
                </a:lnTo>
              </a:path>
            </a:pathLst>
          </a:custGeom>
          <a:ln w="15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39093" y="5286478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88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70667" y="5286478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88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3239" y="5645670"/>
            <a:ext cx="100520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Stuc</a:t>
            </a:r>
            <a:r>
              <a:rPr sz="2100" spc="-10" dirty="0">
                <a:latin typeface="Helvetica"/>
                <a:cs typeface="Helvetica"/>
              </a:rPr>
              <a:t>k-</a:t>
            </a:r>
            <a:r>
              <a:rPr sz="2100" dirty="0">
                <a:latin typeface="Helvetica"/>
                <a:cs typeface="Helvetica"/>
              </a:rPr>
              <a:t>at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5342" y="5645670"/>
            <a:ext cx="100266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B</a:t>
            </a:r>
            <a:r>
              <a:rPr sz="2100" spc="-10" dirty="0">
                <a:latin typeface="Helvetica"/>
                <a:cs typeface="Helvetica"/>
              </a:rPr>
              <a:t>r</a:t>
            </a:r>
            <a:r>
              <a:rPr sz="2100" dirty="0">
                <a:latin typeface="Helvetica"/>
                <a:cs typeface="Helvetica"/>
              </a:rPr>
              <a:t>id</a:t>
            </a:r>
            <a:r>
              <a:rPr sz="2100" spc="-25" dirty="0">
                <a:latin typeface="Helvetica"/>
                <a:cs typeface="Helvetica"/>
              </a:rPr>
              <a:t>g</a:t>
            </a:r>
            <a:r>
              <a:rPr sz="2100" dirty="0">
                <a:latin typeface="Helvetica"/>
                <a:cs typeface="Helvetica"/>
              </a:rPr>
              <a:t>ing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63193" y="5286478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0"/>
                </a:moveTo>
                <a:lnTo>
                  <a:pt x="0" y="355315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165675" y="5645670"/>
            <a:ext cx="128714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Path</a:t>
            </a:r>
            <a:r>
              <a:rPr sz="2100" spc="-85" dirty="0">
                <a:latin typeface="Helvetica"/>
                <a:cs typeface="Helvetica"/>
              </a:rPr>
              <a:t> </a:t>
            </a:r>
            <a:r>
              <a:rPr sz="2100" dirty="0">
                <a:latin typeface="Helvetica"/>
                <a:cs typeface="Helvetica"/>
              </a:rPr>
              <a:t>delay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94169" y="5286478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88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36253" y="5631983"/>
            <a:ext cx="195072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spc="-5" dirty="0">
                <a:latin typeface="Helvetica"/>
                <a:cs typeface="Helvetica"/>
              </a:rPr>
              <a:t>Transition</a:t>
            </a:r>
            <a:r>
              <a:rPr sz="2100" spc="-35" dirty="0">
                <a:latin typeface="Helvetica"/>
                <a:cs typeface="Helvetica"/>
              </a:rPr>
              <a:t> </a:t>
            </a:r>
            <a:r>
              <a:rPr sz="2100" spc="-10" dirty="0">
                <a:latin typeface="Helvetica"/>
                <a:cs typeface="Helvetica"/>
              </a:rPr>
              <a:t>Delay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745771" y="3451703"/>
            <a:ext cx="0" cy="272415"/>
          </a:xfrm>
          <a:custGeom>
            <a:avLst/>
            <a:gdLst/>
            <a:ahLst/>
            <a:cxnLst/>
            <a:rect l="l" t="t" r="r" b="b"/>
            <a:pathLst>
              <a:path h="272414">
                <a:moveTo>
                  <a:pt x="0" y="0"/>
                </a:moveTo>
                <a:lnTo>
                  <a:pt x="0" y="272219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99672" y="3707384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5">
                <a:moveTo>
                  <a:pt x="0" y="0"/>
                </a:moveTo>
                <a:lnTo>
                  <a:pt x="0" y="353236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67835" y="4002081"/>
            <a:ext cx="129603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spc="-15" dirty="0">
                <a:latin typeface="Helvetica"/>
                <a:cs typeface="Helvetica"/>
              </a:rPr>
              <a:t>C</a:t>
            </a:r>
            <a:r>
              <a:rPr sz="2100" dirty="0">
                <a:latin typeface="Helvetica"/>
                <a:cs typeface="Helvetica"/>
              </a:rPr>
              <a:t>el</a:t>
            </a:r>
            <a:r>
              <a:rPr sz="2100" spc="-10" dirty="0">
                <a:latin typeface="Helvetica"/>
                <a:cs typeface="Helvetica"/>
              </a:rPr>
              <a:t>l-</a:t>
            </a:r>
            <a:r>
              <a:rPr sz="2100" dirty="0">
                <a:latin typeface="Helvetica"/>
                <a:cs typeface="Helvetica"/>
              </a:rPr>
              <a:t>a</a:t>
            </a:r>
            <a:r>
              <a:rPr sz="2100" spc="-30" dirty="0">
                <a:latin typeface="Helvetica"/>
                <a:cs typeface="Helvetica"/>
              </a:rPr>
              <a:t>w</a:t>
            </a:r>
            <a:r>
              <a:rPr sz="2100" dirty="0">
                <a:latin typeface="Helvetica"/>
                <a:cs typeface="Helvetica"/>
              </a:rPr>
              <a:t>are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9183" y="164414"/>
            <a:ext cx="3277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Stuck-On</a:t>
            </a:r>
            <a:r>
              <a:rPr spc="-90" dirty="0"/>
              <a:t> </a:t>
            </a:r>
            <a:r>
              <a:rPr dirty="0"/>
              <a:t>Fault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5" y="907795"/>
            <a:ext cx="7905750" cy="26593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1800" b="1" dirty="0">
                <a:latin typeface="Arial"/>
                <a:cs typeface="Arial"/>
              </a:rPr>
              <a:t>Faulty </a:t>
            </a:r>
            <a:r>
              <a:rPr sz="1800" b="1" spc="-5" dirty="0">
                <a:latin typeface="Arial"/>
                <a:cs typeface="Arial"/>
              </a:rPr>
              <a:t>transistor </a:t>
            </a:r>
            <a:r>
              <a:rPr sz="1800" b="1" dirty="0">
                <a:latin typeface="Arial"/>
                <a:cs typeface="Arial"/>
              </a:rPr>
              <a:t>is always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endParaRPr sz="18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1800" b="1" dirty="0">
                <a:latin typeface="Arial"/>
                <a:cs typeface="Arial"/>
              </a:rPr>
              <a:t>Form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conducting path between Vdd and Gnd in </a:t>
            </a:r>
            <a:r>
              <a:rPr sz="1800" b="1" spc="-5" dirty="0">
                <a:latin typeface="Arial"/>
                <a:cs typeface="Arial"/>
              </a:rPr>
              <a:t>static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</a:t>
            </a:r>
            <a:endParaRPr sz="18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1800" b="1" spc="-5" dirty="0">
                <a:latin typeface="Arial"/>
                <a:cs typeface="Arial"/>
              </a:rPr>
              <a:t>Stuck-on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5" dirty="0">
                <a:latin typeface="Arial"/>
                <a:cs typeface="Arial"/>
              </a:rPr>
              <a:t>may </a:t>
            </a:r>
            <a:r>
              <a:rPr sz="1800" b="1" dirty="0">
                <a:latin typeface="Arial"/>
                <a:cs typeface="Arial"/>
              </a:rPr>
              <a:t>NOT be </a:t>
            </a:r>
            <a:r>
              <a:rPr sz="1800" b="1" spc="-5" dirty="0">
                <a:latin typeface="Arial"/>
                <a:cs typeface="Arial"/>
              </a:rPr>
              <a:t>detected </a:t>
            </a:r>
            <a:r>
              <a:rPr sz="1800" b="1" dirty="0">
                <a:latin typeface="Arial"/>
                <a:cs typeface="Arial"/>
              </a:rPr>
              <a:t>by </a:t>
            </a:r>
            <a:r>
              <a:rPr sz="1800" b="1" spc="-5" dirty="0">
                <a:latin typeface="Arial"/>
                <a:cs typeface="Arial"/>
              </a:rPr>
              <a:t>Boolean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testing</a:t>
            </a:r>
            <a:endParaRPr sz="18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1800" b="1" dirty="0">
                <a:latin typeface="Arial"/>
                <a:cs typeface="Arial"/>
              </a:rPr>
              <a:t>Output logic </a:t>
            </a:r>
            <a:r>
              <a:rPr sz="1800" b="1" spc="-10" dirty="0">
                <a:latin typeface="Arial"/>
                <a:cs typeface="Arial"/>
              </a:rPr>
              <a:t>values </a:t>
            </a:r>
            <a:r>
              <a:rPr sz="1800" b="1" dirty="0">
                <a:latin typeface="Arial"/>
                <a:cs typeface="Arial"/>
              </a:rPr>
              <a:t>depend on </a:t>
            </a:r>
            <a:r>
              <a:rPr sz="1800" b="1" spc="-10" dirty="0">
                <a:latin typeface="Arial"/>
                <a:cs typeface="Arial"/>
              </a:rPr>
              <a:t>relative </a:t>
            </a:r>
            <a:r>
              <a:rPr sz="1800" b="1" dirty="0">
                <a:latin typeface="Arial"/>
                <a:cs typeface="Arial"/>
              </a:rPr>
              <a:t>impedance of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transistors</a:t>
            </a:r>
            <a:endParaRPr sz="18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1800" b="1" spc="-5" dirty="0">
                <a:latin typeface="Arial"/>
                <a:cs typeface="Arial"/>
              </a:rPr>
              <a:t>Stuck-on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5" dirty="0">
                <a:latin typeface="Arial"/>
                <a:cs typeface="Arial"/>
              </a:rPr>
              <a:t>can </a:t>
            </a:r>
            <a:r>
              <a:rPr sz="1800" b="1" dirty="0">
                <a:latin typeface="Arial"/>
                <a:cs typeface="Arial"/>
              </a:rPr>
              <a:t>be </a:t>
            </a:r>
            <a:r>
              <a:rPr sz="1800" b="1" spc="-5" dirty="0">
                <a:latin typeface="Arial"/>
                <a:cs typeface="Arial"/>
              </a:rPr>
              <a:t>detected </a:t>
            </a:r>
            <a:r>
              <a:rPr sz="1800" b="1" dirty="0">
                <a:latin typeface="Arial"/>
                <a:cs typeface="Arial"/>
              </a:rPr>
              <a:t>by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I</a:t>
            </a:r>
            <a:r>
              <a:rPr sz="1800" b="1" i="1" spc="-7" baseline="-20833" dirty="0">
                <a:solidFill>
                  <a:srgbClr val="FF0000"/>
                </a:solidFill>
                <a:latin typeface="Arial-BoldItalicMT"/>
                <a:cs typeface="Arial-BoldItalicMT"/>
              </a:rPr>
              <a:t>DDQ</a:t>
            </a:r>
            <a:r>
              <a:rPr sz="1800" b="1" i="1" spc="277" baseline="-20833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testing</a:t>
            </a:r>
            <a:endParaRPr sz="18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1800" b="1" spc="-10" dirty="0">
                <a:latin typeface="Arial"/>
                <a:cs typeface="Arial"/>
              </a:rPr>
              <a:t>Apply </a:t>
            </a:r>
            <a:r>
              <a:rPr sz="1800" b="1" spc="-5" dirty="0">
                <a:latin typeface="Arial"/>
                <a:cs typeface="Arial"/>
              </a:rPr>
              <a:t>test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pattern</a:t>
            </a:r>
            <a:endParaRPr sz="18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1800" b="1" dirty="0">
                <a:latin typeface="Arial"/>
                <a:cs typeface="Arial"/>
              </a:rPr>
              <a:t>Wait for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while</a:t>
            </a:r>
            <a:endParaRPr sz="18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1800" b="1" spc="-5" dirty="0">
                <a:latin typeface="Arial"/>
                <a:cs typeface="Arial"/>
              </a:rPr>
              <a:t>Measure </a:t>
            </a:r>
            <a:r>
              <a:rPr sz="1800" b="1" i="1" spc="-5" dirty="0">
                <a:latin typeface="Arial-BoldItalicMT"/>
                <a:cs typeface="Arial-BoldItalicMT"/>
              </a:rPr>
              <a:t>quiescent current </a:t>
            </a:r>
            <a:r>
              <a:rPr sz="1800" b="1" dirty="0">
                <a:latin typeface="Arial"/>
                <a:cs typeface="Arial"/>
              </a:rPr>
              <a:t>from power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supply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4820" y="4905755"/>
            <a:ext cx="504825" cy="431800"/>
          </a:xfrm>
          <a:custGeom>
            <a:avLst/>
            <a:gdLst/>
            <a:ahLst/>
            <a:cxnLst/>
            <a:rect l="l" t="t" r="r" b="b"/>
            <a:pathLst>
              <a:path w="504825" h="431800">
                <a:moveTo>
                  <a:pt x="252221" y="0"/>
                </a:moveTo>
                <a:lnTo>
                  <a:pt x="201384" y="4380"/>
                </a:lnTo>
                <a:lnTo>
                  <a:pt x="154037" y="16942"/>
                </a:lnTo>
                <a:lnTo>
                  <a:pt x="111193" y="36821"/>
                </a:lnTo>
                <a:lnTo>
                  <a:pt x="73866" y="63150"/>
                </a:lnTo>
                <a:lnTo>
                  <a:pt x="43070" y="95063"/>
                </a:lnTo>
                <a:lnTo>
                  <a:pt x="19817" y="131695"/>
                </a:lnTo>
                <a:lnTo>
                  <a:pt x="5123" y="172177"/>
                </a:lnTo>
                <a:lnTo>
                  <a:pt x="0" y="215646"/>
                </a:lnTo>
                <a:lnTo>
                  <a:pt x="5123" y="259114"/>
                </a:lnTo>
                <a:lnTo>
                  <a:pt x="19817" y="299596"/>
                </a:lnTo>
                <a:lnTo>
                  <a:pt x="43070" y="336228"/>
                </a:lnTo>
                <a:lnTo>
                  <a:pt x="73866" y="368141"/>
                </a:lnTo>
                <a:lnTo>
                  <a:pt x="111193" y="394470"/>
                </a:lnTo>
                <a:lnTo>
                  <a:pt x="154037" y="414349"/>
                </a:lnTo>
                <a:lnTo>
                  <a:pt x="201384" y="426911"/>
                </a:lnTo>
                <a:lnTo>
                  <a:pt x="252221" y="431292"/>
                </a:lnTo>
                <a:lnTo>
                  <a:pt x="303059" y="426911"/>
                </a:lnTo>
                <a:lnTo>
                  <a:pt x="350406" y="414349"/>
                </a:lnTo>
                <a:lnTo>
                  <a:pt x="393250" y="394470"/>
                </a:lnTo>
                <a:lnTo>
                  <a:pt x="430577" y="368141"/>
                </a:lnTo>
                <a:lnTo>
                  <a:pt x="461373" y="336228"/>
                </a:lnTo>
                <a:lnTo>
                  <a:pt x="484626" y="299596"/>
                </a:lnTo>
                <a:lnTo>
                  <a:pt x="499320" y="259114"/>
                </a:lnTo>
                <a:lnTo>
                  <a:pt x="504443" y="215646"/>
                </a:lnTo>
                <a:lnTo>
                  <a:pt x="499320" y="172177"/>
                </a:lnTo>
                <a:lnTo>
                  <a:pt x="484626" y="131695"/>
                </a:lnTo>
                <a:lnTo>
                  <a:pt x="461373" y="95063"/>
                </a:lnTo>
                <a:lnTo>
                  <a:pt x="430577" y="63150"/>
                </a:lnTo>
                <a:lnTo>
                  <a:pt x="393250" y="36821"/>
                </a:lnTo>
                <a:lnTo>
                  <a:pt x="350406" y="16942"/>
                </a:lnTo>
                <a:lnTo>
                  <a:pt x="303059" y="4380"/>
                </a:lnTo>
                <a:lnTo>
                  <a:pt x="2522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4820" y="4905755"/>
            <a:ext cx="504825" cy="431800"/>
          </a:xfrm>
          <a:custGeom>
            <a:avLst/>
            <a:gdLst/>
            <a:ahLst/>
            <a:cxnLst/>
            <a:rect l="l" t="t" r="r" b="b"/>
            <a:pathLst>
              <a:path w="504825" h="431800">
                <a:moveTo>
                  <a:pt x="0" y="215646"/>
                </a:moveTo>
                <a:lnTo>
                  <a:pt x="5123" y="172177"/>
                </a:lnTo>
                <a:lnTo>
                  <a:pt x="19817" y="131695"/>
                </a:lnTo>
                <a:lnTo>
                  <a:pt x="43070" y="95063"/>
                </a:lnTo>
                <a:lnTo>
                  <a:pt x="73866" y="63150"/>
                </a:lnTo>
                <a:lnTo>
                  <a:pt x="111193" y="36821"/>
                </a:lnTo>
                <a:lnTo>
                  <a:pt x="154037" y="16942"/>
                </a:lnTo>
                <a:lnTo>
                  <a:pt x="201384" y="4380"/>
                </a:lnTo>
                <a:lnTo>
                  <a:pt x="252221" y="0"/>
                </a:lnTo>
                <a:lnTo>
                  <a:pt x="303059" y="4380"/>
                </a:lnTo>
                <a:lnTo>
                  <a:pt x="350406" y="16942"/>
                </a:lnTo>
                <a:lnTo>
                  <a:pt x="393250" y="36821"/>
                </a:lnTo>
                <a:lnTo>
                  <a:pt x="430577" y="63150"/>
                </a:lnTo>
                <a:lnTo>
                  <a:pt x="461373" y="95063"/>
                </a:lnTo>
                <a:lnTo>
                  <a:pt x="484626" y="131695"/>
                </a:lnTo>
                <a:lnTo>
                  <a:pt x="499320" y="172177"/>
                </a:lnTo>
                <a:lnTo>
                  <a:pt x="504443" y="215646"/>
                </a:lnTo>
                <a:lnTo>
                  <a:pt x="499320" y="259114"/>
                </a:lnTo>
                <a:lnTo>
                  <a:pt x="484626" y="299596"/>
                </a:lnTo>
                <a:lnTo>
                  <a:pt x="461373" y="336228"/>
                </a:lnTo>
                <a:lnTo>
                  <a:pt x="430577" y="368141"/>
                </a:lnTo>
                <a:lnTo>
                  <a:pt x="393250" y="394470"/>
                </a:lnTo>
                <a:lnTo>
                  <a:pt x="350406" y="414349"/>
                </a:lnTo>
                <a:lnTo>
                  <a:pt x="303059" y="426911"/>
                </a:lnTo>
                <a:lnTo>
                  <a:pt x="252221" y="431292"/>
                </a:lnTo>
                <a:lnTo>
                  <a:pt x="201384" y="426911"/>
                </a:lnTo>
                <a:lnTo>
                  <a:pt x="154037" y="414349"/>
                </a:lnTo>
                <a:lnTo>
                  <a:pt x="111193" y="394470"/>
                </a:lnTo>
                <a:lnTo>
                  <a:pt x="73866" y="368141"/>
                </a:lnTo>
                <a:lnTo>
                  <a:pt x="43070" y="336228"/>
                </a:lnTo>
                <a:lnTo>
                  <a:pt x="19817" y="299596"/>
                </a:lnTo>
                <a:lnTo>
                  <a:pt x="5123" y="259114"/>
                </a:lnTo>
                <a:lnTo>
                  <a:pt x="0" y="215646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1228" y="4760976"/>
            <a:ext cx="144780" cy="721360"/>
          </a:xfrm>
          <a:custGeom>
            <a:avLst/>
            <a:gdLst/>
            <a:ahLst/>
            <a:cxnLst/>
            <a:rect l="l" t="t" r="r" b="b"/>
            <a:pathLst>
              <a:path w="144779" h="721360">
                <a:moveTo>
                  <a:pt x="144780" y="0"/>
                </a:moveTo>
                <a:lnTo>
                  <a:pt x="144780" y="215900"/>
                </a:lnTo>
                <a:lnTo>
                  <a:pt x="0" y="215900"/>
                </a:lnTo>
                <a:lnTo>
                  <a:pt x="0" y="504952"/>
                </a:lnTo>
                <a:lnTo>
                  <a:pt x="144780" y="504952"/>
                </a:lnTo>
                <a:lnTo>
                  <a:pt x="144780" y="72085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19600" y="4977384"/>
            <a:ext cx="0" cy="288290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74820" y="5120640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144779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91228" y="4040123"/>
            <a:ext cx="144780" cy="721360"/>
          </a:xfrm>
          <a:custGeom>
            <a:avLst/>
            <a:gdLst/>
            <a:ahLst/>
            <a:cxnLst/>
            <a:rect l="l" t="t" r="r" b="b"/>
            <a:pathLst>
              <a:path w="144779" h="721360">
                <a:moveTo>
                  <a:pt x="144780" y="0"/>
                </a:moveTo>
                <a:lnTo>
                  <a:pt x="144780" y="215900"/>
                </a:lnTo>
                <a:lnTo>
                  <a:pt x="0" y="215900"/>
                </a:lnTo>
                <a:lnTo>
                  <a:pt x="0" y="504951"/>
                </a:lnTo>
                <a:lnTo>
                  <a:pt x="144780" y="504951"/>
                </a:lnTo>
                <a:lnTo>
                  <a:pt x="144780" y="72085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19600" y="4256532"/>
            <a:ext cx="0" cy="288290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74820" y="4363211"/>
            <a:ext cx="144779" cy="80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92752" y="5553455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0" y="0"/>
                </a:moveTo>
                <a:lnTo>
                  <a:pt x="28651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64379" y="5625084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78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36008" y="5480303"/>
            <a:ext cx="0" cy="73660"/>
          </a:xfrm>
          <a:custGeom>
            <a:avLst/>
            <a:gdLst/>
            <a:ahLst/>
            <a:cxnLst/>
            <a:rect l="l" t="t" r="r" b="b"/>
            <a:pathLst>
              <a:path h="73660">
                <a:moveTo>
                  <a:pt x="0" y="73152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62855" y="3823715"/>
            <a:ext cx="144780" cy="216535"/>
          </a:xfrm>
          <a:custGeom>
            <a:avLst/>
            <a:gdLst/>
            <a:ahLst/>
            <a:cxnLst/>
            <a:rect l="l" t="t" r="r" b="b"/>
            <a:pathLst>
              <a:path w="144779" h="216535">
                <a:moveTo>
                  <a:pt x="0" y="216407"/>
                </a:moveTo>
                <a:lnTo>
                  <a:pt x="72390" y="0"/>
                </a:lnTo>
                <a:lnTo>
                  <a:pt x="144780" y="216407"/>
                </a:lnTo>
                <a:lnTo>
                  <a:pt x="0" y="21640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61030" y="4571491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06267" y="4401311"/>
            <a:ext cx="1368425" cy="342900"/>
          </a:xfrm>
          <a:custGeom>
            <a:avLst/>
            <a:gdLst/>
            <a:ahLst/>
            <a:cxnLst/>
            <a:rect l="l" t="t" r="r" b="b"/>
            <a:pathLst>
              <a:path w="1368425" h="342900">
                <a:moveTo>
                  <a:pt x="0" y="342900"/>
                </a:moveTo>
                <a:lnTo>
                  <a:pt x="684148" y="342900"/>
                </a:lnTo>
                <a:lnTo>
                  <a:pt x="684148" y="0"/>
                </a:lnTo>
                <a:lnTo>
                  <a:pt x="136842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06267" y="4744211"/>
            <a:ext cx="1368425" cy="377825"/>
          </a:xfrm>
          <a:custGeom>
            <a:avLst/>
            <a:gdLst/>
            <a:ahLst/>
            <a:cxnLst/>
            <a:rect l="l" t="t" r="r" b="b"/>
            <a:pathLst>
              <a:path w="1368425" h="377825">
                <a:moveTo>
                  <a:pt x="0" y="0"/>
                </a:moveTo>
                <a:lnTo>
                  <a:pt x="684148" y="0"/>
                </a:lnTo>
                <a:lnTo>
                  <a:pt x="684148" y="377825"/>
                </a:lnTo>
                <a:lnTo>
                  <a:pt x="1368424" y="37782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853054" y="5184394"/>
            <a:ext cx="15354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Helvetica"/>
                <a:cs typeface="Helvetica"/>
              </a:rPr>
              <a:t>stuck-on</a:t>
            </a:r>
            <a:r>
              <a:rPr sz="2000" spc="-10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fault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92040" y="4256532"/>
            <a:ext cx="76200" cy="935990"/>
          </a:xfrm>
          <a:custGeom>
            <a:avLst/>
            <a:gdLst/>
            <a:ahLst/>
            <a:cxnLst/>
            <a:rect l="l" t="t" r="r" b="b"/>
            <a:pathLst>
              <a:path w="76200" h="935989">
                <a:moveTo>
                  <a:pt x="31750" y="859536"/>
                </a:moveTo>
                <a:lnTo>
                  <a:pt x="0" y="859536"/>
                </a:lnTo>
                <a:lnTo>
                  <a:pt x="38100" y="935736"/>
                </a:lnTo>
                <a:lnTo>
                  <a:pt x="69850" y="872236"/>
                </a:lnTo>
                <a:lnTo>
                  <a:pt x="31750" y="872236"/>
                </a:lnTo>
                <a:lnTo>
                  <a:pt x="31750" y="859536"/>
                </a:lnTo>
                <a:close/>
              </a:path>
              <a:path w="76200" h="935989">
                <a:moveTo>
                  <a:pt x="44450" y="0"/>
                </a:moveTo>
                <a:lnTo>
                  <a:pt x="31750" y="0"/>
                </a:lnTo>
                <a:lnTo>
                  <a:pt x="31750" y="872236"/>
                </a:lnTo>
                <a:lnTo>
                  <a:pt x="44450" y="872236"/>
                </a:lnTo>
                <a:lnTo>
                  <a:pt x="44450" y="0"/>
                </a:lnTo>
                <a:close/>
              </a:path>
              <a:path w="76200" h="935989">
                <a:moveTo>
                  <a:pt x="76200" y="859536"/>
                </a:moveTo>
                <a:lnTo>
                  <a:pt x="44450" y="859536"/>
                </a:lnTo>
                <a:lnTo>
                  <a:pt x="44450" y="872236"/>
                </a:lnTo>
                <a:lnTo>
                  <a:pt x="69850" y="872236"/>
                </a:lnTo>
                <a:lnTo>
                  <a:pt x="76200" y="859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969509" y="4520946"/>
            <a:ext cx="1880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Helvetica"/>
                <a:cs typeface="Helvetica"/>
              </a:rPr>
              <a:t>Conducting</a:t>
            </a:r>
            <a:r>
              <a:rPr sz="2000" spc="-70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path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8551" y="164414"/>
            <a:ext cx="3738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956310" algn="l"/>
              </a:tabLst>
            </a:pPr>
            <a:r>
              <a:rPr spc="-10" dirty="0"/>
              <a:t>I</a:t>
            </a:r>
            <a:r>
              <a:rPr sz="3600" spc="-15" baseline="-20833" dirty="0"/>
              <a:t>DDQ	</a:t>
            </a:r>
            <a:r>
              <a:rPr sz="3600" dirty="0"/>
              <a:t>Testing </a:t>
            </a:r>
            <a:r>
              <a:rPr sz="1800" spc="-5" dirty="0"/>
              <a:t>[Mark</a:t>
            </a:r>
            <a:r>
              <a:rPr sz="1800" spc="-60" dirty="0"/>
              <a:t> </a:t>
            </a:r>
            <a:r>
              <a:rPr sz="1800" spc="-10" dirty="0"/>
              <a:t>81]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17525" y="900785"/>
            <a:ext cx="8001634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Measure static </a:t>
            </a:r>
            <a:r>
              <a:rPr sz="2000" b="1" spc="5" dirty="0">
                <a:latin typeface="Arial"/>
                <a:cs typeface="Arial"/>
              </a:rPr>
              <a:t>power </a:t>
            </a:r>
            <a:r>
              <a:rPr sz="2000" b="1" dirty="0">
                <a:latin typeface="Arial"/>
                <a:cs typeface="Arial"/>
              </a:rPr>
              <a:t>supply current, with test patterns</a:t>
            </a:r>
            <a:r>
              <a:rPr sz="2000" b="1" spc="-2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applied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spc="10" dirty="0">
                <a:latin typeface="Arial"/>
                <a:cs typeface="Arial"/>
              </a:rPr>
              <a:t>I</a:t>
            </a:r>
            <a:r>
              <a:rPr sz="1950" b="1" spc="15" baseline="-21367" dirty="0">
                <a:latin typeface="Arial"/>
                <a:cs typeface="Arial"/>
              </a:rPr>
              <a:t>DD </a:t>
            </a:r>
            <a:r>
              <a:rPr sz="2000" b="1" dirty="0">
                <a:latin typeface="Arial"/>
                <a:cs typeface="Arial"/>
              </a:rPr>
              <a:t>=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power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supply current </a:t>
            </a:r>
            <a:r>
              <a:rPr sz="2000" b="1" dirty="0">
                <a:latin typeface="Arial"/>
                <a:cs typeface="Arial"/>
              </a:rPr>
              <a:t>from</a:t>
            </a:r>
            <a:r>
              <a:rPr sz="2000" b="1" spc="-330" dirty="0">
                <a:latin typeface="Arial"/>
                <a:cs typeface="Arial"/>
              </a:rPr>
              <a:t> </a:t>
            </a:r>
            <a:r>
              <a:rPr sz="2000" b="1" spc="10" dirty="0">
                <a:latin typeface="Arial"/>
                <a:cs typeface="Arial"/>
              </a:rPr>
              <a:t>V</a:t>
            </a:r>
            <a:r>
              <a:rPr sz="1950" b="1" spc="15" baseline="-21367" dirty="0">
                <a:latin typeface="Arial"/>
                <a:cs typeface="Arial"/>
              </a:rPr>
              <a:t>DD</a:t>
            </a:r>
            <a:endParaRPr sz="1950" baseline="-21367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Q =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quiescent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825" y="2058670"/>
            <a:ext cx="5602605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Very commonly used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CMOS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technology</a:t>
            </a:r>
            <a:r>
              <a:rPr sz="1950" b="1" baseline="25641" dirty="0">
                <a:latin typeface="Arial"/>
                <a:cs typeface="Arial"/>
              </a:rPr>
              <a:t>*</a:t>
            </a:r>
            <a:endParaRPr sz="1950" baseline="25641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  <a:tab pos="1649095" algn="l"/>
              </a:tabLst>
            </a:pPr>
            <a:r>
              <a:rPr sz="2000" b="1" dirty="0">
                <a:latin typeface="Arial"/>
                <a:cs typeface="Arial"/>
              </a:rPr>
              <a:t>Example:	NMOS stuck-on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53940" y="3150002"/>
            <a:ext cx="2549754" cy="308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56959" y="2112264"/>
            <a:ext cx="2879090" cy="524510"/>
          </a:xfrm>
          <a:prstGeom prst="rect">
            <a:avLst/>
          </a:prstGeom>
          <a:ln w="9144">
            <a:solidFill>
              <a:srgbClr val="A6A6A6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 marR="231140">
              <a:lnSpc>
                <a:spcPct val="100000"/>
              </a:lnSpc>
              <a:spcBef>
                <a:spcPts val="325"/>
              </a:spcBef>
            </a:pPr>
            <a:r>
              <a:rPr sz="1400" b="1" spc="-5" dirty="0">
                <a:solidFill>
                  <a:srgbClr val="A6A6A6"/>
                </a:solidFill>
                <a:latin typeface="Helvetica"/>
                <a:cs typeface="Helvetica"/>
              </a:rPr>
              <a:t>*but </a:t>
            </a:r>
            <a:r>
              <a:rPr sz="1400" b="1" spc="20" dirty="0">
                <a:solidFill>
                  <a:srgbClr val="A6A6A6"/>
                </a:solidFill>
                <a:latin typeface="Helvetica"/>
                <a:cs typeface="Helvetica"/>
              </a:rPr>
              <a:t>I</a:t>
            </a:r>
            <a:r>
              <a:rPr sz="1350" b="1" spc="30" baseline="-21604" dirty="0">
                <a:solidFill>
                  <a:srgbClr val="A6A6A6"/>
                </a:solidFill>
                <a:latin typeface="Helvetica"/>
                <a:cs typeface="Helvetica"/>
              </a:rPr>
              <a:t>DDQ </a:t>
            </a:r>
            <a:r>
              <a:rPr sz="1400" b="1" dirty="0">
                <a:solidFill>
                  <a:srgbClr val="A6A6A6"/>
                </a:solidFill>
                <a:latin typeface="Helvetica"/>
                <a:cs typeface="Helvetica"/>
              </a:rPr>
              <a:t>less effective </a:t>
            </a:r>
            <a:r>
              <a:rPr sz="1400" b="1" spc="-5" dirty="0">
                <a:solidFill>
                  <a:srgbClr val="A6A6A6"/>
                </a:solidFill>
                <a:latin typeface="Helvetica"/>
                <a:cs typeface="Helvetica"/>
              </a:rPr>
              <a:t>for new  technologies due </a:t>
            </a:r>
            <a:r>
              <a:rPr sz="1400" b="1" dirty="0">
                <a:solidFill>
                  <a:srgbClr val="A6A6A6"/>
                </a:solidFill>
                <a:latin typeface="Helvetica"/>
                <a:cs typeface="Helvetica"/>
              </a:rPr>
              <a:t>to</a:t>
            </a:r>
            <a:r>
              <a:rPr sz="1400" b="1" spc="-95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1400" b="1" dirty="0">
                <a:solidFill>
                  <a:srgbClr val="A6A6A6"/>
                </a:solidFill>
                <a:latin typeface="Helvetica"/>
                <a:cs typeface="Helvetica"/>
              </a:rPr>
              <a:t>leakage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24200" y="4905755"/>
            <a:ext cx="504825" cy="431800"/>
          </a:xfrm>
          <a:custGeom>
            <a:avLst/>
            <a:gdLst/>
            <a:ahLst/>
            <a:cxnLst/>
            <a:rect l="l" t="t" r="r" b="b"/>
            <a:pathLst>
              <a:path w="504825" h="431800">
                <a:moveTo>
                  <a:pt x="252222" y="0"/>
                </a:moveTo>
                <a:lnTo>
                  <a:pt x="201384" y="4380"/>
                </a:lnTo>
                <a:lnTo>
                  <a:pt x="154037" y="16942"/>
                </a:lnTo>
                <a:lnTo>
                  <a:pt x="111193" y="36821"/>
                </a:lnTo>
                <a:lnTo>
                  <a:pt x="73866" y="63150"/>
                </a:lnTo>
                <a:lnTo>
                  <a:pt x="43070" y="95063"/>
                </a:lnTo>
                <a:lnTo>
                  <a:pt x="19817" y="131695"/>
                </a:lnTo>
                <a:lnTo>
                  <a:pt x="5123" y="172177"/>
                </a:lnTo>
                <a:lnTo>
                  <a:pt x="0" y="215646"/>
                </a:lnTo>
                <a:lnTo>
                  <a:pt x="5123" y="259114"/>
                </a:lnTo>
                <a:lnTo>
                  <a:pt x="19817" y="299596"/>
                </a:lnTo>
                <a:lnTo>
                  <a:pt x="43070" y="336228"/>
                </a:lnTo>
                <a:lnTo>
                  <a:pt x="73866" y="368141"/>
                </a:lnTo>
                <a:lnTo>
                  <a:pt x="111193" y="394470"/>
                </a:lnTo>
                <a:lnTo>
                  <a:pt x="154037" y="414349"/>
                </a:lnTo>
                <a:lnTo>
                  <a:pt x="201384" y="426911"/>
                </a:lnTo>
                <a:lnTo>
                  <a:pt x="252222" y="431292"/>
                </a:lnTo>
                <a:lnTo>
                  <a:pt x="303059" y="426911"/>
                </a:lnTo>
                <a:lnTo>
                  <a:pt x="350406" y="414349"/>
                </a:lnTo>
                <a:lnTo>
                  <a:pt x="393250" y="394470"/>
                </a:lnTo>
                <a:lnTo>
                  <a:pt x="430577" y="368141"/>
                </a:lnTo>
                <a:lnTo>
                  <a:pt x="461373" y="336228"/>
                </a:lnTo>
                <a:lnTo>
                  <a:pt x="484626" y="299596"/>
                </a:lnTo>
                <a:lnTo>
                  <a:pt x="499320" y="259114"/>
                </a:lnTo>
                <a:lnTo>
                  <a:pt x="504444" y="215646"/>
                </a:lnTo>
                <a:lnTo>
                  <a:pt x="499320" y="172177"/>
                </a:lnTo>
                <a:lnTo>
                  <a:pt x="484626" y="131695"/>
                </a:lnTo>
                <a:lnTo>
                  <a:pt x="461373" y="95063"/>
                </a:lnTo>
                <a:lnTo>
                  <a:pt x="430577" y="63150"/>
                </a:lnTo>
                <a:lnTo>
                  <a:pt x="393250" y="36821"/>
                </a:lnTo>
                <a:lnTo>
                  <a:pt x="350406" y="16942"/>
                </a:lnTo>
                <a:lnTo>
                  <a:pt x="303059" y="4380"/>
                </a:lnTo>
                <a:lnTo>
                  <a:pt x="25222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24200" y="4905755"/>
            <a:ext cx="504825" cy="431800"/>
          </a:xfrm>
          <a:custGeom>
            <a:avLst/>
            <a:gdLst/>
            <a:ahLst/>
            <a:cxnLst/>
            <a:rect l="l" t="t" r="r" b="b"/>
            <a:pathLst>
              <a:path w="504825" h="431800">
                <a:moveTo>
                  <a:pt x="0" y="215646"/>
                </a:moveTo>
                <a:lnTo>
                  <a:pt x="5123" y="172177"/>
                </a:lnTo>
                <a:lnTo>
                  <a:pt x="19817" y="131695"/>
                </a:lnTo>
                <a:lnTo>
                  <a:pt x="43070" y="95063"/>
                </a:lnTo>
                <a:lnTo>
                  <a:pt x="73866" y="63150"/>
                </a:lnTo>
                <a:lnTo>
                  <a:pt x="111193" y="36821"/>
                </a:lnTo>
                <a:lnTo>
                  <a:pt x="154037" y="16942"/>
                </a:lnTo>
                <a:lnTo>
                  <a:pt x="201384" y="4380"/>
                </a:lnTo>
                <a:lnTo>
                  <a:pt x="252222" y="0"/>
                </a:lnTo>
                <a:lnTo>
                  <a:pt x="303059" y="4380"/>
                </a:lnTo>
                <a:lnTo>
                  <a:pt x="350406" y="16942"/>
                </a:lnTo>
                <a:lnTo>
                  <a:pt x="393250" y="36821"/>
                </a:lnTo>
                <a:lnTo>
                  <a:pt x="430577" y="63150"/>
                </a:lnTo>
                <a:lnTo>
                  <a:pt x="461373" y="95063"/>
                </a:lnTo>
                <a:lnTo>
                  <a:pt x="484626" y="131695"/>
                </a:lnTo>
                <a:lnTo>
                  <a:pt x="499320" y="172177"/>
                </a:lnTo>
                <a:lnTo>
                  <a:pt x="504444" y="215646"/>
                </a:lnTo>
                <a:lnTo>
                  <a:pt x="499320" y="259114"/>
                </a:lnTo>
                <a:lnTo>
                  <a:pt x="484626" y="299596"/>
                </a:lnTo>
                <a:lnTo>
                  <a:pt x="461373" y="336228"/>
                </a:lnTo>
                <a:lnTo>
                  <a:pt x="430577" y="368141"/>
                </a:lnTo>
                <a:lnTo>
                  <a:pt x="393250" y="394470"/>
                </a:lnTo>
                <a:lnTo>
                  <a:pt x="350406" y="414349"/>
                </a:lnTo>
                <a:lnTo>
                  <a:pt x="303059" y="426911"/>
                </a:lnTo>
                <a:lnTo>
                  <a:pt x="252222" y="431292"/>
                </a:lnTo>
                <a:lnTo>
                  <a:pt x="201384" y="426911"/>
                </a:lnTo>
                <a:lnTo>
                  <a:pt x="154037" y="414349"/>
                </a:lnTo>
                <a:lnTo>
                  <a:pt x="111193" y="394470"/>
                </a:lnTo>
                <a:lnTo>
                  <a:pt x="73866" y="368141"/>
                </a:lnTo>
                <a:lnTo>
                  <a:pt x="43070" y="336228"/>
                </a:lnTo>
                <a:lnTo>
                  <a:pt x="19817" y="299596"/>
                </a:lnTo>
                <a:lnTo>
                  <a:pt x="5123" y="259114"/>
                </a:lnTo>
                <a:lnTo>
                  <a:pt x="0" y="215646"/>
                </a:lnTo>
                <a:close/>
              </a:path>
            </a:pathLst>
          </a:custGeom>
          <a:ln w="914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40608" y="4760976"/>
            <a:ext cx="143510" cy="721360"/>
          </a:xfrm>
          <a:custGeom>
            <a:avLst/>
            <a:gdLst/>
            <a:ahLst/>
            <a:cxnLst/>
            <a:rect l="l" t="t" r="r" b="b"/>
            <a:pathLst>
              <a:path w="143510" h="721360">
                <a:moveTo>
                  <a:pt x="143255" y="0"/>
                </a:moveTo>
                <a:lnTo>
                  <a:pt x="143255" y="215900"/>
                </a:lnTo>
                <a:lnTo>
                  <a:pt x="0" y="215900"/>
                </a:lnTo>
                <a:lnTo>
                  <a:pt x="0" y="504952"/>
                </a:lnTo>
                <a:lnTo>
                  <a:pt x="143255" y="504952"/>
                </a:lnTo>
                <a:lnTo>
                  <a:pt x="143255" y="72085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8979" y="4977384"/>
            <a:ext cx="0" cy="288290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24200" y="5120640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144779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40608" y="4040123"/>
            <a:ext cx="143510" cy="721360"/>
          </a:xfrm>
          <a:custGeom>
            <a:avLst/>
            <a:gdLst/>
            <a:ahLst/>
            <a:cxnLst/>
            <a:rect l="l" t="t" r="r" b="b"/>
            <a:pathLst>
              <a:path w="143510" h="721360">
                <a:moveTo>
                  <a:pt x="143255" y="0"/>
                </a:moveTo>
                <a:lnTo>
                  <a:pt x="143255" y="215900"/>
                </a:lnTo>
                <a:lnTo>
                  <a:pt x="0" y="215900"/>
                </a:lnTo>
                <a:lnTo>
                  <a:pt x="0" y="504951"/>
                </a:lnTo>
                <a:lnTo>
                  <a:pt x="143255" y="504951"/>
                </a:lnTo>
                <a:lnTo>
                  <a:pt x="143255" y="72085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68979" y="4256532"/>
            <a:ext cx="0" cy="288290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24200" y="4363211"/>
            <a:ext cx="144779" cy="80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42132" y="5553455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0" y="0"/>
                </a:moveTo>
                <a:lnTo>
                  <a:pt x="28651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13759" y="5625084"/>
            <a:ext cx="143510" cy="0"/>
          </a:xfrm>
          <a:custGeom>
            <a:avLst/>
            <a:gdLst/>
            <a:ahLst/>
            <a:cxnLst/>
            <a:rect l="l" t="t" r="r" b="b"/>
            <a:pathLst>
              <a:path w="143510">
                <a:moveTo>
                  <a:pt x="0" y="0"/>
                </a:moveTo>
                <a:lnTo>
                  <a:pt x="14325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83864" y="5480303"/>
            <a:ext cx="0" cy="73660"/>
          </a:xfrm>
          <a:custGeom>
            <a:avLst/>
            <a:gdLst/>
            <a:ahLst/>
            <a:cxnLst/>
            <a:rect l="l" t="t" r="r" b="b"/>
            <a:pathLst>
              <a:path h="73660">
                <a:moveTo>
                  <a:pt x="0" y="73152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12235" y="3823715"/>
            <a:ext cx="143510" cy="216535"/>
          </a:xfrm>
          <a:custGeom>
            <a:avLst/>
            <a:gdLst/>
            <a:ahLst/>
            <a:cxnLst/>
            <a:rect l="l" t="t" r="r" b="b"/>
            <a:pathLst>
              <a:path w="143510" h="216535">
                <a:moveTo>
                  <a:pt x="0" y="216407"/>
                </a:moveTo>
                <a:lnTo>
                  <a:pt x="71627" y="0"/>
                </a:lnTo>
                <a:lnTo>
                  <a:pt x="143255" y="216407"/>
                </a:lnTo>
                <a:lnTo>
                  <a:pt x="0" y="21640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57755" y="4401311"/>
            <a:ext cx="1266825" cy="344805"/>
          </a:xfrm>
          <a:custGeom>
            <a:avLst/>
            <a:gdLst/>
            <a:ahLst/>
            <a:cxnLst/>
            <a:rect l="l" t="t" r="r" b="b"/>
            <a:pathLst>
              <a:path w="1266825" h="344804">
                <a:moveTo>
                  <a:pt x="0" y="344550"/>
                </a:moveTo>
                <a:lnTo>
                  <a:pt x="633349" y="344550"/>
                </a:lnTo>
                <a:lnTo>
                  <a:pt x="633349" y="0"/>
                </a:lnTo>
                <a:lnTo>
                  <a:pt x="126682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57755" y="4745735"/>
            <a:ext cx="1266825" cy="376555"/>
          </a:xfrm>
          <a:custGeom>
            <a:avLst/>
            <a:gdLst/>
            <a:ahLst/>
            <a:cxnLst/>
            <a:rect l="l" t="t" r="r" b="b"/>
            <a:pathLst>
              <a:path w="1266825" h="376554">
                <a:moveTo>
                  <a:pt x="0" y="0"/>
                </a:moveTo>
                <a:lnTo>
                  <a:pt x="633349" y="0"/>
                </a:lnTo>
                <a:lnTo>
                  <a:pt x="633349" y="376174"/>
                </a:lnTo>
                <a:lnTo>
                  <a:pt x="1266825" y="37617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73250" y="4633976"/>
            <a:ext cx="1876425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3000" spc="7" baseline="13888" dirty="0">
                <a:latin typeface="Helvetica"/>
                <a:cs typeface="Helvetica"/>
              </a:rPr>
              <a:t>V</a:t>
            </a:r>
            <a:r>
              <a:rPr sz="1300" spc="5" dirty="0">
                <a:latin typeface="Helvetica"/>
                <a:cs typeface="Helvetica"/>
              </a:rPr>
              <a:t>IN</a:t>
            </a:r>
            <a:endParaRPr sz="1300">
              <a:latin typeface="Helvetica"/>
              <a:cs typeface="Helvetica"/>
            </a:endParaRPr>
          </a:p>
          <a:p>
            <a:pPr marL="313690" algn="ctr">
              <a:lnSpc>
                <a:spcPct val="100000"/>
              </a:lnSpc>
              <a:spcBef>
                <a:spcPts val="1935"/>
              </a:spcBef>
            </a:pPr>
            <a:r>
              <a:rPr sz="2000" dirty="0">
                <a:latin typeface="Helvetica"/>
                <a:cs typeface="Helvetica"/>
              </a:rPr>
              <a:t>NMOS</a:t>
            </a:r>
            <a:endParaRPr sz="2000">
              <a:latin typeface="Helvetica"/>
              <a:cs typeface="Helvetica"/>
            </a:endParaRPr>
          </a:p>
          <a:p>
            <a:pPr marL="315595" algn="ctr">
              <a:lnSpc>
                <a:spcPct val="100000"/>
              </a:lnSpc>
            </a:pPr>
            <a:r>
              <a:rPr sz="2000" dirty="0">
                <a:latin typeface="Helvetica"/>
                <a:cs typeface="Helvetica"/>
              </a:rPr>
              <a:t>stuck-on</a:t>
            </a:r>
            <a:r>
              <a:rPr sz="2000" spc="-10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fault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69791" y="3860291"/>
            <a:ext cx="76200" cy="937260"/>
          </a:xfrm>
          <a:custGeom>
            <a:avLst/>
            <a:gdLst/>
            <a:ahLst/>
            <a:cxnLst/>
            <a:rect l="l" t="t" r="r" b="b"/>
            <a:pathLst>
              <a:path w="76200" h="937260">
                <a:moveTo>
                  <a:pt x="31750" y="861059"/>
                </a:moveTo>
                <a:lnTo>
                  <a:pt x="0" y="861059"/>
                </a:lnTo>
                <a:lnTo>
                  <a:pt x="38100" y="937259"/>
                </a:lnTo>
                <a:lnTo>
                  <a:pt x="69850" y="873759"/>
                </a:lnTo>
                <a:lnTo>
                  <a:pt x="31750" y="873759"/>
                </a:lnTo>
                <a:lnTo>
                  <a:pt x="31750" y="861059"/>
                </a:lnTo>
                <a:close/>
              </a:path>
              <a:path w="76200" h="937260">
                <a:moveTo>
                  <a:pt x="44450" y="0"/>
                </a:moveTo>
                <a:lnTo>
                  <a:pt x="31750" y="0"/>
                </a:lnTo>
                <a:lnTo>
                  <a:pt x="31750" y="873759"/>
                </a:lnTo>
                <a:lnTo>
                  <a:pt x="44450" y="873759"/>
                </a:lnTo>
                <a:lnTo>
                  <a:pt x="44450" y="0"/>
                </a:lnTo>
                <a:close/>
              </a:path>
              <a:path w="76200" h="937260">
                <a:moveTo>
                  <a:pt x="76200" y="861059"/>
                </a:moveTo>
                <a:lnTo>
                  <a:pt x="44450" y="861059"/>
                </a:lnTo>
                <a:lnTo>
                  <a:pt x="44450" y="873759"/>
                </a:lnTo>
                <a:lnTo>
                  <a:pt x="69850" y="873759"/>
                </a:lnTo>
                <a:lnTo>
                  <a:pt x="76200" y="861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766058" y="4165168"/>
            <a:ext cx="5219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15" baseline="13888" dirty="0">
                <a:latin typeface="Helvetica"/>
                <a:cs typeface="Helvetica"/>
              </a:rPr>
              <a:t>I</a:t>
            </a:r>
            <a:r>
              <a:rPr sz="1300" spc="10" dirty="0">
                <a:latin typeface="Helvetica"/>
                <a:cs typeface="Helvetica"/>
              </a:rPr>
              <a:t>DDQ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8503" y="1507186"/>
            <a:ext cx="360489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Fault </a:t>
            </a:r>
            <a:r>
              <a:rPr sz="2100" spc="-5" dirty="0">
                <a:latin typeface="Helvetica"/>
                <a:cs typeface="Helvetica"/>
              </a:rPr>
              <a:t>Models </a:t>
            </a:r>
            <a:r>
              <a:rPr sz="2100" spc="5" dirty="0">
                <a:latin typeface="Helvetica"/>
                <a:cs typeface="Helvetica"/>
              </a:rPr>
              <a:t>for </a:t>
            </a:r>
            <a:r>
              <a:rPr sz="2100" spc="-5" dirty="0">
                <a:latin typeface="Helvetica"/>
                <a:cs typeface="Helvetica"/>
              </a:rPr>
              <a:t>Logic</a:t>
            </a:r>
            <a:r>
              <a:rPr sz="2100" spc="-105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Circuits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2809" y="2373778"/>
            <a:ext cx="5539105" cy="0"/>
          </a:xfrm>
          <a:custGeom>
            <a:avLst/>
            <a:gdLst/>
            <a:ahLst/>
            <a:cxnLst/>
            <a:rect l="l" t="t" r="r" b="b"/>
            <a:pathLst>
              <a:path w="5539105">
                <a:moveTo>
                  <a:pt x="0" y="0"/>
                </a:moveTo>
                <a:lnTo>
                  <a:pt x="5538723" y="0"/>
                </a:lnTo>
              </a:path>
            </a:pathLst>
          </a:custGeom>
          <a:ln w="15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84374" y="1851466"/>
            <a:ext cx="0" cy="522605"/>
          </a:xfrm>
          <a:custGeom>
            <a:avLst/>
            <a:gdLst/>
            <a:ahLst/>
            <a:cxnLst/>
            <a:rect l="l" t="t" r="r" b="b"/>
            <a:pathLst>
              <a:path h="522605">
                <a:moveTo>
                  <a:pt x="0" y="0"/>
                </a:moveTo>
                <a:lnTo>
                  <a:pt x="0" y="522312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22809" y="237377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24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84374" y="237377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24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5771" y="2373778"/>
            <a:ext cx="0" cy="353695"/>
          </a:xfrm>
          <a:custGeom>
            <a:avLst/>
            <a:gdLst/>
            <a:ahLst/>
            <a:cxnLst/>
            <a:rect l="l" t="t" r="r" b="b"/>
            <a:pathLst>
              <a:path h="353694">
                <a:moveTo>
                  <a:pt x="0" y="0"/>
                </a:moveTo>
                <a:lnTo>
                  <a:pt x="0" y="353124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4866" y="2735748"/>
            <a:ext cx="2186940" cy="658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480"/>
              </a:lnSpc>
              <a:spcBef>
                <a:spcPts val="120"/>
              </a:spcBef>
            </a:pPr>
            <a:r>
              <a:rPr sz="2100" spc="-10" dirty="0">
                <a:latin typeface="Helvetica"/>
                <a:cs typeface="Helvetica"/>
              </a:rPr>
              <a:t>“High”</a:t>
            </a:r>
            <a:r>
              <a:rPr sz="2100" spc="-15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level</a:t>
            </a:r>
            <a:endParaRPr sz="2100">
              <a:latin typeface="Helvetica"/>
              <a:cs typeface="Helvetica"/>
            </a:endParaRPr>
          </a:p>
          <a:p>
            <a:pPr algn="ctr">
              <a:lnSpc>
                <a:spcPts val="2480"/>
              </a:lnSpc>
            </a:pPr>
            <a:r>
              <a:rPr sz="2100" dirty="0">
                <a:latin typeface="Helvetica"/>
                <a:cs typeface="Helvetica"/>
              </a:rPr>
              <a:t>or </a:t>
            </a:r>
            <a:r>
              <a:rPr sz="2100" spc="-5" dirty="0">
                <a:latin typeface="Helvetica"/>
                <a:cs typeface="Helvetica"/>
              </a:rPr>
              <a:t>Functional</a:t>
            </a:r>
            <a:r>
              <a:rPr sz="2100" spc="-55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level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0632" y="3352823"/>
            <a:ext cx="132778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or</a:t>
            </a:r>
            <a:r>
              <a:rPr sz="2100" spc="-70" dirty="0">
                <a:latin typeface="Helvetica"/>
                <a:cs typeface="Helvetica"/>
              </a:rPr>
              <a:t> </a:t>
            </a:r>
            <a:r>
              <a:rPr sz="2100" spc="-5" dirty="0">
                <a:latin typeface="Helvetica"/>
                <a:cs typeface="Helvetica"/>
              </a:rPr>
              <a:t>RT-level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6562" y="2684791"/>
            <a:ext cx="1223645" cy="6559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685" marR="5080" indent="-7620">
              <a:lnSpc>
                <a:spcPts val="2420"/>
              </a:lnSpc>
              <a:spcBef>
                <a:spcPts val="280"/>
              </a:spcBef>
            </a:pPr>
            <a:r>
              <a:rPr sz="2100" dirty="0">
                <a:latin typeface="Helvetica"/>
                <a:cs typeface="Helvetica"/>
              </a:rPr>
              <a:t>Gate</a:t>
            </a:r>
            <a:r>
              <a:rPr sz="2100" spc="-80" dirty="0">
                <a:latin typeface="Helvetica"/>
                <a:cs typeface="Helvetica"/>
              </a:rPr>
              <a:t> </a:t>
            </a:r>
            <a:r>
              <a:rPr sz="2100" spc="-10" dirty="0">
                <a:latin typeface="Helvetica"/>
                <a:cs typeface="Helvetica"/>
              </a:rPr>
              <a:t>level  (</a:t>
            </a:r>
            <a:r>
              <a:rPr sz="2100" dirty="0">
                <a:latin typeface="Helvetica"/>
                <a:cs typeface="Helvetica"/>
              </a:rPr>
              <a:t>inte</a:t>
            </a:r>
            <a:r>
              <a:rPr sz="2100" spc="-10" dirty="0">
                <a:latin typeface="Helvetica"/>
                <a:cs typeface="Helvetica"/>
              </a:rPr>
              <a:t>r</a:t>
            </a:r>
            <a:r>
              <a:rPr sz="2100" spc="-15" dirty="0">
                <a:latin typeface="Helvetica"/>
                <a:cs typeface="Helvetica"/>
              </a:rPr>
              <a:t>-</a:t>
            </a:r>
            <a:r>
              <a:rPr sz="2100" dirty="0">
                <a:latin typeface="Helvetica"/>
                <a:cs typeface="Helvetica"/>
              </a:rPr>
              <a:t>ce</a:t>
            </a:r>
            <a:r>
              <a:rPr sz="2100" spc="-10" dirty="0">
                <a:latin typeface="Helvetica"/>
                <a:cs typeface="Helvetica"/>
              </a:rPr>
              <a:t>l</a:t>
            </a:r>
            <a:r>
              <a:rPr sz="2100" dirty="0">
                <a:latin typeface="Helvetica"/>
                <a:cs typeface="Helvetica"/>
              </a:rPr>
              <a:t>l)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2614" y="2767446"/>
            <a:ext cx="1817370" cy="614680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1905" rIns="0" bIns="0" rtlCol="0">
            <a:spAutoFit/>
          </a:bodyPr>
          <a:lstStyle/>
          <a:p>
            <a:pPr marL="311150" indent="-311785">
              <a:lnSpc>
                <a:spcPts val="2440"/>
              </a:lnSpc>
              <a:spcBef>
                <a:spcPts val="15"/>
              </a:spcBef>
            </a:pPr>
            <a:r>
              <a:rPr sz="2100" spc="-5" dirty="0">
                <a:latin typeface="Helvetica"/>
                <a:cs typeface="Helvetica"/>
              </a:rPr>
              <a:t>Transistor </a:t>
            </a:r>
            <a:r>
              <a:rPr sz="2100" spc="-10" dirty="0">
                <a:latin typeface="Helvetica"/>
                <a:cs typeface="Helvetica"/>
              </a:rPr>
              <a:t>level  </a:t>
            </a:r>
            <a:r>
              <a:rPr sz="2100" spc="-5" dirty="0">
                <a:latin typeface="Helvetica"/>
                <a:cs typeface="Helvetica"/>
              </a:rPr>
              <a:t>(intra-cell)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68613" y="3368116"/>
            <a:ext cx="0" cy="1934845"/>
          </a:xfrm>
          <a:custGeom>
            <a:avLst/>
            <a:gdLst/>
            <a:ahLst/>
            <a:cxnLst/>
            <a:rect l="l" t="t" r="r" b="b"/>
            <a:pathLst>
              <a:path h="1934845">
                <a:moveTo>
                  <a:pt x="0" y="0"/>
                </a:moveTo>
                <a:lnTo>
                  <a:pt x="0" y="1934230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47446" y="3721241"/>
            <a:ext cx="3752850" cy="0"/>
          </a:xfrm>
          <a:custGeom>
            <a:avLst/>
            <a:gdLst/>
            <a:ahLst/>
            <a:cxnLst/>
            <a:rect l="l" t="t" r="r" b="b"/>
            <a:pathLst>
              <a:path w="3752850">
                <a:moveTo>
                  <a:pt x="0" y="0"/>
                </a:moveTo>
                <a:lnTo>
                  <a:pt x="3752226" y="0"/>
                </a:lnTo>
              </a:path>
            </a:pathLst>
          </a:custGeom>
          <a:ln w="15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47446" y="3721241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21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92772" y="4045328"/>
            <a:ext cx="137414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spc="-5" dirty="0">
                <a:latin typeface="Helvetica"/>
                <a:cs typeface="Helvetica"/>
              </a:rPr>
              <a:t>Stuck-open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63618" y="3721241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21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24368" y="4028901"/>
            <a:ext cx="107886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spc="-5" dirty="0">
                <a:latin typeface="Helvetica"/>
                <a:cs typeface="Helvetica"/>
              </a:rPr>
              <a:t>Stuck-on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9093" y="5286478"/>
            <a:ext cx="5640070" cy="0"/>
          </a:xfrm>
          <a:custGeom>
            <a:avLst/>
            <a:gdLst/>
            <a:ahLst/>
            <a:cxnLst/>
            <a:rect l="l" t="t" r="r" b="b"/>
            <a:pathLst>
              <a:path w="5640070">
                <a:moveTo>
                  <a:pt x="0" y="0"/>
                </a:moveTo>
                <a:lnTo>
                  <a:pt x="5639860" y="0"/>
                </a:lnTo>
              </a:path>
            </a:pathLst>
          </a:custGeom>
          <a:ln w="15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39093" y="5286478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88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70667" y="5286478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88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43239" y="5645670"/>
            <a:ext cx="100520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Stuc</a:t>
            </a:r>
            <a:r>
              <a:rPr sz="2100" spc="-10" dirty="0">
                <a:latin typeface="Helvetica"/>
                <a:cs typeface="Helvetica"/>
              </a:rPr>
              <a:t>k-</a:t>
            </a:r>
            <a:r>
              <a:rPr sz="2100" dirty="0">
                <a:latin typeface="Helvetica"/>
                <a:cs typeface="Helvetica"/>
              </a:rPr>
              <a:t>at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5342" y="5645670"/>
            <a:ext cx="100266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B</a:t>
            </a:r>
            <a:r>
              <a:rPr sz="2100" spc="-10" dirty="0">
                <a:latin typeface="Helvetica"/>
                <a:cs typeface="Helvetica"/>
              </a:rPr>
              <a:t>r</a:t>
            </a:r>
            <a:r>
              <a:rPr sz="2100" dirty="0">
                <a:latin typeface="Helvetica"/>
                <a:cs typeface="Helvetica"/>
              </a:rPr>
              <a:t>id</a:t>
            </a:r>
            <a:r>
              <a:rPr sz="2100" spc="-25" dirty="0">
                <a:latin typeface="Helvetica"/>
                <a:cs typeface="Helvetica"/>
              </a:rPr>
              <a:t>g</a:t>
            </a:r>
            <a:r>
              <a:rPr sz="2100" dirty="0">
                <a:latin typeface="Helvetica"/>
                <a:cs typeface="Helvetica"/>
              </a:rPr>
              <a:t>ing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63193" y="5286478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0"/>
                </a:moveTo>
                <a:lnTo>
                  <a:pt x="0" y="355315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165675" y="5645670"/>
            <a:ext cx="128714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dirty="0">
                <a:latin typeface="Helvetica"/>
                <a:cs typeface="Helvetica"/>
              </a:rPr>
              <a:t>Path</a:t>
            </a:r>
            <a:r>
              <a:rPr sz="2100" spc="-85" dirty="0">
                <a:latin typeface="Helvetica"/>
                <a:cs typeface="Helvetica"/>
              </a:rPr>
              <a:t> </a:t>
            </a:r>
            <a:r>
              <a:rPr sz="2100" dirty="0">
                <a:latin typeface="Helvetica"/>
                <a:cs typeface="Helvetica"/>
              </a:rPr>
              <a:t>delay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94169" y="5286478"/>
            <a:ext cx="0" cy="353060"/>
          </a:xfrm>
          <a:custGeom>
            <a:avLst/>
            <a:gdLst/>
            <a:ahLst/>
            <a:cxnLst/>
            <a:rect l="l" t="t" r="r" b="b"/>
            <a:pathLst>
              <a:path h="353060">
                <a:moveTo>
                  <a:pt x="0" y="0"/>
                </a:moveTo>
                <a:lnTo>
                  <a:pt x="0" y="352588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36253" y="5631983"/>
            <a:ext cx="195072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spc="-5" dirty="0">
                <a:latin typeface="Helvetica"/>
                <a:cs typeface="Helvetica"/>
              </a:rPr>
              <a:t>Transition</a:t>
            </a:r>
            <a:r>
              <a:rPr sz="2100" spc="-35" dirty="0">
                <a:latin typeface="Helvetica"/>
                <a:cs typeface="Helvetica"/>
              </a:rPr>
              <a:t> </a:t>
            </a:r>
            <a:r>
              <a:rPr sz="2100" spc="-10" dirty="0">
                <a:latin typeface="Helvetica"/>
                <a:cs typeface="Helvetica"/>
              </a:rPr>
              <a:t>Delay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745771" y="3451703"/>
            <a:ext cx="0" cy="272415"/>
          </a:xfrm>
          <a:custGeom>
            <a:avLst/>
            <a:gdLst/>
            <a:ahLst/>
            <a:cxnLst/>
            <a:rect l="l" t="t" r="r" b="b"/>
            <a:pathLst>
              <a:path h="272414">
                <a:moveTo>
                  <a:pt x="0" y="0"/>
                </a:moveTo>
                <a:lnTo>
                  <a:pt x="0" y="272219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99672" y="3721241"/>
            <a:ext cx="0" cy="314960"/>
          </a:xfrm>
          <a:custGeom>
            <a:avLst/>
            <a:gdLst/>
            <a:ahLst/>
            <a:cxnLst/>
            <a:rect l="l" t="t" r="r" b="b"/>
            <a:pathLst>
              <a:path h="314960">
                <a:moveTo>
                  <a:pt x="0" y="0"/>
                </a:moveTo>
                <a:lnTo>
                  <a:pt x="0" y="314750"/>
                </a:lnTo>
              </a:path>
            </a:pathLst>
          </a:custGeom>
          <a:ln w="157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80535" y="4073762"/>
            <a:ext cx="1272540" cy="372110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5"/>
              </a:lnSpc>
            </a:pPr>
            <a:r>
              <a:rPr sz="2100" spc="-15" dirty="0">
                <a:latin typeface="Helvetica"/>
                <a:cs typeface="Helvetica"/>
              </a:rPr>
              <a:t>C</a:t>
            </a:r>
            <a:r>
              <a:rPr sz="2100" dirty="0">
                <a:latin typeface="Helvetica"/>
                <a:cs typeface="Helvetica"/>
              </a:rPr>
              <a:t>el</a:t>
            </a:r>
            <a:r>
              <a:rPr sz="2100" spc="-10" dirty="0">
                <a:latin typeface="Helvetica"/>
                <a:cs typeface="Helvetica"/>
              </a:rPr>
              <a:t>l-</a:t>
            </a:r>
            <a:r>
              <a:rPr sz="2100" dirty="0">
                <a:latin typeface="Helvetica"/>
                <a:cs typeface="Helvetica"/>
              </a:rPr>
              <a:t>a</a:t>
            </a:r>
            <a:r>
              <a:rPr sz="2100" spc="-30" dirty="0">
                <a:latin typeface="Helvetica"/>
                <a:cs typeface="Helvetica"/>
              </a:rPr>
              <a:t>w</a:t>
            </a:r>
            <a:r>
              <a:rPr sz="2100" dirty="0">
                <a:latin typeface="Helvetica"/>
                <a:cs typeface="Helvetica"/>
              </a:rPr>
              <a:t>are</a:t>
            </a:r>
            <a:endParaRPr sz="21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0" y="164414"/>
            <a:ext cx="63245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Cell-aware Test (CAT) </a:t>
            </a:r>
            <a:r>
              <a:rPr sz="1600" spc="-5" dirty="0"/>
              <a:t>[Hapke</a:t>
            </a:r>
            <a:r>
              <a:rPr sz="1600" spc="-80" dirty="0"/>
              <a:t> </a:t>
            </a:r>
            <a:r>
              <a:rPr sz="1600" spc="-5" dirty="0"/>
              <a:t>09]</a:t>
            </a:r>
            <a:endParaRPr sz="1600" dirty="0"/>
          </a:p>
        </p:txBody>
      </p:sp>
      <p:sp>
        <p:nvSpPr>
          <p:cNvPr id="5" name="object 5"/>
          <p:cNvSpPr txBox="1"/>
          <p:nvPr/>
        </p:nvSpPr>
        <p:spPr>
          <a:xfrm>
            <a:off x="230225" y="961136"/>
            <a:ext cx="8535670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Consider different defects </a:t>
            </a:r>
            <a:r>
              <a:rPr sz="2000" b="1" spc="-10" dirty="0">
                <a:latin typeface="Arial"/>
                <a:cs typeface="Arial"/>
              </a:rPr>
              <a:t>types </a:t>
            </a:r>
            <a:r>
              <a:rPr sz="2000" b="1" dirty="0">
                <a:latin typeface="Arial"/>
                <a:cs typeface="Arial"/>
              </a:rPr>
              <a:t>inside </a:t>
            </a:r>
            <a:r>
              <a:rPr sz="2000" b="1" spc="-5" dirty="0">
                <a:latin typeface="Arial"/>
                <a:cs typeface="Arial"/>
              </a:rPr>
              <a:t>cell: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open, bridge,</a:t>
            </a:r>
            <a:r>
              <a:rPr sz="2000" b="1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transistor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Need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layout extraction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analog fault</a:t>
            </a:r>
            <a:r>
              <a:rPr sz="2000" b="1" i="1" spc="-12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simulation</a:t>
            </a:r>
            <a:endParaRPr sz="2000">
              <a:latin typeface="Arial-BoldItalicMT"/>
              <a:cs typeface="Arial-BoldItalic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2311" y="1729740"/>
            <a:ext cx="6615920" cy="45354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11448" y="6302451"/>
            <a:ext cx="2044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7E7E7E"/>
                </a:solidFill>
                <a:latin typeface="Helvetica"/>
                <a:cs typeface="Helvetica"/>
              </a:rPr>
              <a:t>[Mentor</a:t>
            </a:r>
            <a:r>
              <a:rPr sz="2000" b="1" spc="-95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7E7E7E"/>
                </a:solidFill>
                <a:latin typeface="Helvetica"/>
                <a:cs typeface="Helvetica"/>
              </a:rPr>
              <a:t>website]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914D3229-2BD2-D561-9F64-696C44C5748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072254" cy="363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Stuck-at fault</a:t>
            </a:r>
            <a:r>
              <a:rPr sz="2000" b="1" spc="-8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(1961)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Bridging fault</a:t>
            </a:r>
            <a:r>
              <a:rPr sz="2000" b="1" spc="-6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(1973)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17805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Delay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	(1974)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Transistor-level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(1978)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Review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Detection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7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Coverage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5144" y="3876874"/>
            <a:ext cx="1152143" cy="2052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50253" y="5101539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9D7E9C1-3F10-C836-C79F-702BEBDA8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8826"/>
            <a:ext cx="8305800" cy="5650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6969077" y="3006671"/>
            <a:ext cx="1150924" cy="2052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125" y="850614"/>
            <a:ext cx="7477125" cy="452623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</a:t>
            </a:r>
            <a:r>
              <a:rPr sz="2400" spc="-1010" dirty="0">
                <a:solidFill>
                  <a:srgbClr val="FF0000"/>
                </a:solidFill>
                <a:latin typeface="Wingdings"/>
                <a:cs typeface="Wingdings"/>
              </a:rPr>
              <a:t> </a:t>
            </a:r>
            <a:r>
              <a:rPr sz="2000" b="1" dirty="0">
                <a:latin typeface="Arial"/>
                <a:cs typeface="Arial"/>
              </a:rPr>
              <a:t>Transistor stuck-open (SOP)</a:t>
            </a:r>
            <a:endParaRPr sz="2000" dirty="0">
              <a:latin typeface="Arial"/>
              <a:cs typeface="Arial"/>
            </a:endParaRPr>
          </a:p>
          <a:p>
            <a:pPr marL="794385" indent="-287020">
              <a:lnSpc>
                <a:spcPct val="100000"/>
              </a:lnSpc>
              <a:spcBef>
                <a:spcPts val="40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Sequence dependence</a:t>
            </a:r>
            <a:r>
              <a:rPr lang="en-US" sz="2000" b="1" dirty="0">
                <a:latin typeface="Arial"/>
                <a:cs typeface="Arial"/>
              </a:rPr>
              <a:t>: faulty comb. </a:t>
            </a:r>
            <a:r>
              <a:rPr lang="en-US" sz="2000" b="1" spc="-5" dirty="0">
                <a:latin typeface="Arial"/>
                <a:cs typeface="Arial"/>
              </a:rPr>
              <a:t>logic </a:t>
            </a:r>
            <a:r>
              <a:rPr lang="en-US" sz="2000" b="1" dirty="0">
                <a:latin typeface="Arial"/>
                <a:cs typeface="Arial"/>
              </a:rPr>
              <a:t>has</a:t>
            </a:r>
            <a:r>
              <a:rPr lang="en-US" sz="2000" b="1" spc="-114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memory</a:t>
            </a:r>
            <a:endParaRPr sz="20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80"/>
              </a:spcBef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</a:t>
            </a:r>
            <a:r>
              <a:rPr sz="2400" spc="-980" dirty="0">
                <a:solidFill>
                  <a:srgbClr val="FF0000"/>
                </a:solidFill>
                <a:latin typeface="Wingdings"/>
                <a:cs typeface="Wingdings"/>
              </a:rPr>
              <a:t> </a:t>
            </a:r>
            <a:r>
              <a:rPr sz="2000" b="1" dirty="0">
                <a:latin typeface="Arial"/>
                <a:cs typeface="Arial"/>
              </a:rPr>
              <a:t>Transistor stuck-on</a:t>
            </a:r>
            <a:endParaRPr sz="2000" dirty="0">
              <a:latin typeface="Arial"/>
              <a:cs typeface="Arial"/>
            </a:endParaRPr>
          </a:p>
          <a:p>
            <a:pPr marL="794385" indent="-287020">
              <a:lnSpc>
                <a:spcPct val="100000"/>
              </a:lnSpc>
              <a:spcBef>
                <a:spcPts val="40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1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50" b="1" spc="22" baseline="-21367" dirty="0">
                <a:solidFill>
                  <a:srgbClr val="0000FF"/>
                </a:solidFill>
                <a:latin typeface="Arial"/>
                <a:cs typeface="Arial"/>
              </a:rPr>
              <a:t>DDQ</a:t>
            </a:r>
            <a:r>
              <a:rPr sz="1950" b="1" spc="284" baseline="-2136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80"/>
              </a:spcBef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</a:t>
            </a:r>
            <a:r>
              <a:rPr sz="2400" spc="-994" dirty="0">
                <a:solidFill>
                  <a:srgbClr val="FF0000"/>
                </a:solidFill>
                <a:latin typeface="Wingdings"/>
                <a:cs typeface="Wingdings"/>
              </a:rPr>
              <a:t> </a:t>
            </a:r>
            <a:r>
              <a:rPr sz="2000" b="1" dirty="0">
                <a:latin typeface="Arial"/>
                <a:cs typeface="Arial"/>
              </a:rPr>
              <a:t>Cell-aware testing</a:t>
            </a:r>
            <a:endParaRPr sz="2000" dirty="0">
              <a:latin typeface="Arial"/>
              <a:cs typeface="Arial"/>
            </a:endParaRPr>
          </a:p>
          <a:p>
            <a:pPr marL="794385" indent="-287020">
              <a:lnSpc>
                <a:spcPct val="100000"/>
              </a:lnSpc>
              <a:spcBef>
                <a:spcPts val="40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-5" dirty="0">
                <a:latin typeface="Arial"/>
                <a:cs typeface="Arial"/>
              </a:rPr>
              <a:t>layout </a:t>
            </a:r>
            <a:r>
              <a:rPr sz="2000" b="1" dirty="0">
                <a:latin typeface="Arial"/>
                <a:cs typeface="Arial"/>
              </a:rPr>
              <a:t>extraction + analog fault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94385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Improved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DPM </a:t>
            </a:r>
            <a:r>
              <a:rPr sz="2000" b="1" dirty="0">
                <a:latin typeface="Arial"/>
                <a:cs typeface="Arial"/>
              </a:rPr>
              <a:t>but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longer</a:t>
            </a:r>
            <a:r>
              <a:rPr sz="20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 dirty="0">
              <a:latin typeface="Arial"/>
              <a:cs typeface="Arial"/>
            </a:endParaRPr>
          </a:p>
          <a:p>
            <a:pPr marR="231140" algn="r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2400" dirty="0">
              <a:latin typeface="Helvetica"/>
              <a:cs typeface="Helvetica"/>
            </a:endParaRPr>
          </a:p>
          <a:p>
            <a:pPr marL="393700" indent="-342900">
              <a:lnSpc>
                <a:spcPct val="100000"/>
              </a:lnSpc>
              <a:spcBef>
                <a:spcPts val="1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Fault models </a:t>
            </a:r>
            <a:r>
              <a:rPr sz="2000" b="1" spc="-10" dirty="0">
                <a:latin typeface="Arial"/>
                <a:cs typeface="Arial"/>
              </a:rPr>
              <a:t>evolve </a:t>
            </a:r>
            <a:r>
              <a:rPr sz="2000" b="1" spc="10" dirty="0">
                <a:latin typeface="Arial"/>
                <a:cs typeface="Arial"/>
              </a:rPr>
              <a:t>with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technology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NO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single best fault model </a:t>
            </a:r>
            <a:r>
              <a:rPr sz="2000" b="1" dirty="0">
                <a:latin typeface="Arial"/>
                <a:cs typeface="Arial"/>
              </a:rPr>
              <a:t>for all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New fault models needed for future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technologies!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2206625" cy="180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15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220776" y="800836"/>
                <a:ext cx="7246824" cy="756920"/>
              </a:xfrm>
              <a:prstGeom prst="rect">
                <a:avLst/>
              </a:prstGeom>
            </p:spPr>
            <p:txBody>
              <a:bodyPr vert="horz" wrap="square" lIns="0" tIns="7366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5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A test pattern </a:t>
                </a:r>
                <a:r>
                  <a:rPr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detects </a:t>
                </a:r>
                <a:r>
                  <a:rPr sz="2000" b="1" dirty="0">
                    <a:latin typeface="Arial"/>
                    <a:cs typeface="Arial"/>
                  </a:rPr>
                  <a:t>a fault</a:t>
                </a:r>
                <a:r>
                  <a:rPr sz="2000" b="1" spc="-180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if</a:t>
                </a:r>
                <a:endParaRPr sz="2000" dirty="0">
                  <a:latin typeface="Arial"/>
                  <a:cs typeface="Arial"/>
                </a:endParaRPr>
              </a:p>
              <a:p>
                <a:pPr marL="826135" lvl="1" indent="-35687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826135" algn="l"/>
                    <a:tab pos="826769" algn="l"/>
                    <a:tab pos="3642995" algn="l"/>
                  </a:tabLst>
                </a:pPr>
                <a:r>
                  <a:rPr sz="2000" b="1" u="sng" dirty="0">
                    <a:latin typeface="Arial"/>
                    <a:cs typeface="Arial"/>
                  </a:rPr>
                  <a:t>output</a:t>
                </a:r>
                <a:r>
                  <a:rPr sz="2000" b="1" dirty="0">
                    <a:latin typeface="Arial"/>
                    <a:cs typeface="Arial"/>
                  </a:rPr>
                  <a:t> of</a:t>
                </a:r>
                <a:r>
                  <a:rPr sz="2000" b="1" spc="-1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faulty</a:t>
                </a:r>
                <a:r>
                  <a:rPr sz="2000" b="1" spc="-20" dirty="0">
                    <a:latin typeface="Arial"/>
                    <a:cs typeface="Arial"/>
                  </a:rPr>
                  <a:t> </a:t>
                </a:r>
                <a:r>
                  <a:rPr sz="2000" b="1" u="sng" dirty="0">
                    <a:latin typeface="Arial"/>
                    <a:cs typeface="Arial"/>
                  </a:rPr>
                  <a:t>circuit</a:t>
                </a:r>
                <a:r>
                  <a:rPr sz="2000" b="1" dirty="0">
                    <a:latin typeface="Arial"/>
                    <a:cs typeface="Arial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1" i="1" spc="-53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≠</m:t>
                    </m:r>
                  </m:oMath>
                </a14:m>
                <a:r>
                  <a:rPr sz="2000" b="1" spc="-535" dirty="0">
                    <a:latin typeface="Arial"/>
                    <a:cs typeface="Arial"/>
                  </a:rPr>
                  <a:t>                       </a:t>
                </a:r>
                <a:r>
                  <a:rPr lang="en-US" sz="2000" b="1" spc="-535" dirty="0">
                    <a:latin typeface="Arial"/>
                    <a:cs typeface="Arial"/>
                  </a:rPr>
                  <a:t>                                         </a:t>
                </a:r>
                <a:r>
                  <a:rPr sz="2000" b="1" dirty="0">
                    <a:latin typeface="Arial"/>
                    <a:cs typeface="Arial"/>
                  </a:rPr>
                  <a:t>output of good</a:t>
                </a:r>
                <a:r>
                  <a:rPr sz="2000" b="1" spc="-80" dirty="0">
                    <a:latin typeface="Arial"/>
                    <a:cs typeface="Arial"/>
                  </a:rPr>
                  <a:t> </a:t>
                </a:r>
                <a:r>
                  <a:rPr sz="2000" b="1" spc="-45" dirty="0">
                    <a:latin typeface="Arial"/>
                    <a:cs typeface="Arial"/>
                  </a:rPr>
                  <a:t>circuit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76" y="800836"/>
                <a:ext cx="7246824" cy="756920"/>
              </a:xfrm>
              <a:prstGeom prst="rect">
                <a:avLst/>
              </a:prstGeom>
              <a:blipFill>
                <a:blip r:embed="rId2"/>
                <a:stretch>
                  <a:fillRect l="-2277" t="-4918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3276" y="164414"/>
            <a:ext cx="33293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65" dirty="0"/>
              <a:t> </a:t>
            </a:r>
            <a:r>
              <a:rPr dirty="0"/>
              <a:t>Detection</a:t>
            </a:r>
          </a:p>
        </p:txBody>
      </p:sp>
      <p:sp>
        <p:nvSpPr>
          <p:cNvPr id="4" name="object 4"/>
          <p:cNvSpPr/>
          <p:nvPr/>
        </p:nvSpPr>
        <p:spPr>
          <a:xfrm>
            <a:off x="1430274" y="3493770"/>
            <a:ext cx="690880" cy="0"/>
          </a:xfrm>
          <a:custGeom>
            <a:avLst/>
            <a:gdLst/>
            <a:ahLst/>
            <a:cxnLst/>
            <a:rect l="l" t="t" r="r" b="b"/>
            <a:pathLst>
              <a:path w="690880">
                <a:moveTo>
                  <a:pt x="69037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30274" y="3781805"/>
            <a:ext cx="690880" cy="0"/>
          </a:xfrm>
          <a:custGeom>
            <a:avLst/>
            <a:gdLst/>
            <a:ahLst/>
            <a:cxnLst/>
            <a:rect l="l" t="t" r="r" b="b"/>
            <a:pathLst>
              <a:path w="690880">
                <a:moveTo>
                  <a:pt x="69037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7389" y="3422141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8"/>
                </a:lnTo>
                <a:lnTo>
                  <a:pt x="215646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4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77389" y="3422141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4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30274" y="2413254"/>
            <a:ext cx="692150" cy="0"/>
          </a:xfrm>
          <a:custGeom>
            <a:avLst/>
            <a:gdLst/>
            <a:ahLst/>
            <a:cxnLst/>
            <a:rect l="l" t="t" r="r" b="b"/>
            <a:pathLst>
              <a:path w="692150">
                <a:moveTo>
                  <a:pt x="69189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30274" y="2702814"/>
            <a:ext cx="692150" cy="0"/>
          </a:xfrm>
          <a:custGeom>
            <a:avLst/>
            <a:gdLst/>
            <a:ahLst/>
            <a:cxnLst/>
            <a:rect l="l" t="t" r="r" b="b"/>
            <a:pathLst>
              <a:path w="692150">
                <a:moveTo>
                  <a:pt x="69189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78914" y="2341626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646" y="0"/>
                </a:moveTo>
                <a:lnTo>
                  <a:pt x="0" y="0"/>
                </a:lnTo>
                <a:lnTo>
                  <a:pt x="0" y="431291"/>
                </a:lnTo>
                <a:lnTo>
                  <a:pt x="215646" y="431291"/>
                </a:lnTo>
                <a:lnTo>
                  <a:pt x="265100" y="425598"/>
                </a:lnTo>
                <a:lnTo>
                  <a:pt x="310493" y="409378"/>
                </a:lnTo>
                <a:lnTo>
                  <a:pt x="350533" y="383925"/>
                </a:lnTo>
                <a:lnTo>
                  <a:pt x="383925" y="350533"/>
                </a:lnTo>
                <a:lnTo>
                  <a:pt x="409378" y="310493"/>
                </a:lnTo>
                <a:lnTo>
                  <a:pt x="425598" y="265100"/>
                </a:lnTo>
                <a:lnTo>
                  <a:pt x="431292" y="215646"/>
                </a:lnTo>
                <a:lnTo>
                  <a:pt x="425598" y="166191"/>
                </a:lnTo>
                <a:lnTo>
                  <a:pt x="409378" y="120798"/>
                </a:lnTo>
                <a:lnTo>
                  <a:pt x="383925" y="80758"/>
                </a:lnTo>
                <a:lnTo>
                  <a:pt x="350533" y="47366"/>
                </a:lnTo>
                <a:lnTo>
                  <a:pt x="310493" y="21913"/>
                </a:lnTo>
                <a:lnTo>
                  <a:pt x="265100" y="5693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78914" y="2341626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0"/>
                </a:moveTo>
                <a:lnTo>
                  <a:pt x="215646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2" y="215646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6" y="431291"/>
                </a:lnTo>
                <a:lnTo>
                  <a:pt x="0" y="43129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80363" y="2241550"/>
            <a:ext cx="471170" cy="618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7620">
              <a:lnSpc>
                <a:spcPts val="2260"/>
              </a:lnSpc>
              <a:spcBef>
                <a:spcPts val="295"/>
              </a:spcBef>
            </a:pPr>
            <a:r>
              <a:rPr sz="2000" b="1" i="1" spc="-35" dirty="0">
                <a:latin typeface="HelveticaNeue-BoldItalic"/>
                <a:cs typeface="HelveticaNeue-BoldItalic"/>
              </a:rPr>
              <a:t>a</a:t>
            </a:r>
            <a:r>
              <a:rPr sz="2000" b="1" i="1" spc="-30" dirty="0">
                <a:latin typeface="HelveticaNeue-BoldItalic"/>
                <a:cs typeface="HelveticaNeue-BoldItalic"/>
              </a:rPr>
              <a:t>=</a:t>
            </a:r>
            <a:r>
              <a:rPr sz="2000" b="1" i="1" dirty="0">
                <a:latin typeface="HelveticaNeue-BoldItalic"/>
                <a:cs typeface="HelveticaNeue-BoldItalic"/>
              </a:rPr>
              <a:t>0  </a:t>
            </a:r>
            <a:r>
              <a:rPr sz="2000" b="1" i="1" spc="-10" dirty="0">
                <a:latin typeface="HelveticaNeue-BoldItalic"/>
                <a:cs typeface="HelveticaNeue-BoldItalic"/>
              </a:rPr>
              <a:t>b=0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0363" y="3321557"/>
            <a:ext cx="471170" cy="618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7620">
              <a:lnSpc>
                <a:spcPts val="2260"/>
              </a:lnSpc>
              <a:spcBef>
                <a:spcPts val="295"/>
              </a:spcBef>
            </a:pPr>
            <a:r>
              <a:rPr sz="2000" b="1" i="1" spc="-15" dirty="0">
                <a:latin typeface="HelveticaNeue-BoldItalic"/>
                <a:cs typeface="HelveticaNeue-BoldItalic"/>
              </a:rPr>
              <a:t>c</a:t>
            </a:r>
            <a:r>
              <a:rPr sz="2000" b="1" i="1" spc="-10" dirty="0">
                <a:latin typeface="HelveticaNeue-BoldItalic"/>
                <a:cs typeface="HelveticaNeue-BoldItalic"/>
              </a:rPr>
              <a:t>=</a:t>
            </a:r>
            <a:r>
              <a:rPr sz="2000" b="1" i="1" dirty="0">
                <a:latin typeface="HelveticaNeue-BoldItalic"/>
                <a:cs typeface="HelveticaNeue-BoldItalic"/>
              </a:rPr>
              <a:t>1  </a:t>
            </a:r>
            <a:r>
              <a:rPr sz="2000" b="1" i="1" spc="-10" dirty="0">
                <a:latin typeface="HelveticaNeue-BoldItalic"/>
                <a:cs typeface="HelveticaNeue-BoldItalic"/>
              </a:rPr>
              <a:t>d=1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0205" y="2558033"/>
            <a:ext cx="781050" cy="514350"/>
          </a:xfrm>
          <a:custGeom>
            <a:avLst/>
            <a:gdLst/>
            <a:ahLst/>
            <a:cxnLst/>
            <a:rect l="l" t="t" r="r" b="b"/>
            <a:pathLst>
              <a:path w="781050" h="514350">
                <a:moveTo>
                  <a:pt x="0" y="0"/>
                </a:moveTo>
                <a:lnTo>
                  <a:pt x="390525" y="0"/>
                </a:lnTo>
                <a:lnTo>
                  <a:pt x="390525" y="514350"/>
                </a:lnTo>
                <a:lnTo>
                  <a:pt x="781050" y="51435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17570" y="3205733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28010" y="2989326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0"/>
                </a:move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8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5"/>
                </a:ln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8010" y="2989326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432815"/>
                </a:move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7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08682" y="3350514"/>
            <a:ext cx="755650" cy="287655"/>
          </a:xfrm>
          <a:custGeom>
            <a:avLst/>
            <a:gdLst/>
            <a:ahLst/>
            <a:cxnLst/>
            <a:rect l="l" t="t" r="r" b="b"/>
            <a:pathLst>
              <a:path w="755650" h="287654">
                <a:moveTo>
                  <a:pt x="0" y="287400"/>
                </a:moveTo>
                <a:lnTo>
                  <a:pt x="345186" y="287400"/>
                </a:lnTo>
                <a:lnTo>
                  <a:pt x="345186" y="0"/>
                </a:lnTo>
                <a:lnTo>
                  <a:pt x="7556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05427" y="3034030"/>
            <a:ext cx="96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04082" y="3205733"/>
            <a:ext cx="431800" cy="1905"/>
          </a:xfrm>
          <a:custGeom>
            <a:avLst/>
            <a:gdLst/>
            <a:ahLst/>
            <a:cxnLst/>
            <a:rect l="l" t="t" r="r" b="b"/>
            <a:pathLst>
              <a:path w="431800" h="1905">
                <a:moveTo>
                  <a:pt x="-19050" y="762"/>
                </a:moveTo>
                <a:lnTo>
                  <a:pt x="450850" y="762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99766" y="3422141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144779" y="0"/>
                </a:moveTo>
                <a:lnTo>
                  <a:pt x="0" y="14478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99766" y="3422141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0"/>
                </a:moveTo>
                <a:lnTo>
                  <a:pt x="144779" y="14478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61869" y="2176652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16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51501" y="2763138"/>
            <a:ext cx="3526154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</a:pPr>
            <a:r>
              <a:rPr sz="2000" dirty="0">
                <a:latin typeface="Helvetica"/>
                <a:cs typeface="Helvetica"/>
              </a:rPr>
              <a:t>test pattern (a,b,c,d) </a:t>
            </a:r>
            <a:r>
              <a:rPr sz="2000" i="1" dirty="0">
                <a:latin typeface="Helvetica"/>
                <a:cs typeface="Helvetica"/>
              </a:rPr>
              <a:t>=</a:t>
            </a:r>
            <a:r>
              <a:rPr sz="2000" i="1" spc="-180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(0,0,1,1)  </a:t>
            </a: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detects </a:t>
            </a:r>
            <a:r>
              <a:rPr sz="2000" i="1" dirty="0">
                <a:solidFill>
                  <a:srgbClr val="FF0000"/>
                </a:solidFill>
                <a:latin typeface="Helvetica"/>
                <a:cs typeface="Helvetica"/>
              </a:rPr>
              <a:t>e </a:t>
            </a: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stuck-at-0</a:t>
            </a:r>
            <a:r>
              <a:rPr sz="2000" spc="-114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fault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6000" y="3048000"/>
            <a:ext cx="1412750" cy="135485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lang="en-US" sz="2000" b="1" i="1" spc="-35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     </a:t>
            </a:r>
            <a:r>
              <a:rPr sz="2000" b="1" i="1" spc="-35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e </a:t>
            </a:r>
            <a:endParaRPr lang="en-US" sz="2000" b="1" i="1" spc="-35" dirty="0">
              <a:solidFill>
                <a:srgbClr val="0000FF"/>
              </a:solidFill>
              <a:latin typeface="HelveticaNeue-BoldItalic"/>
              <a:cs typeface="HelveticaNeue-BoldItalic"/>
            </a:endParaRPr>
          </a:p>
          <a:p>
            <a:pPr marL="12700" algn="ctr">
              <a:lnSpc>
                <a:spcPct val="100000"/>
              </a:lnSpc>
              <a:spcBef>
                <a:spcPts val="265"/>
              </a:spcBef>
            </a:pPr>
            <a:r>
              <a:rPr lang="en-US" sz="2000" b="1" dirty="0">
                <a:latin typeface="Helvetica"/>
                <a:cs typeface="Helvetica"/>
              </a:rPr>
              <a:t>  1/0</a:t>
            </a:r>
            <a:endParaRPr lang="en-US" sz="2000" b="1" dirty="0">
              <a:solidFill>
                <a:srgbClr val="0000FF"/>
              </a:solidFill>
              <a:latin typeface="Helvetica"/>
              <a:cs typeface="Helvetica"/>
            </a:endParaRPr>
          </a:p>
          <a:p>
            <a:pPr marL="12700" algn="ctr">
              <a:lnSpc>
                <a:spcPct val="100000"/>
              </a:lnSpc>
              <a:spcBef>
                <a:spcPts val="265"/>
              </a:spcBef>
            </a:pPr>
            <a:r>
              <a:rPr lang="en-US" sz="2000" b="1" dirty="0">
                <a:solidFill>
                  <a:srgbClr val="0000FF"/>
                </a:solidFill>
                <a:latin typeface="Helvetica"/>
                <a:cs typeface="Helvetica"/>
              </a:rPr>
              <a:t>s</a:t>
            </a: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tuck-at-0</a:t>
            </a:r>
            <a:r>
              <a:rPr sz="2000" b="1" spc="-9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fault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78173" y="2694813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1/0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73074" y="4653534"/>
            <a:ext cx="3756660" cy="70866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latin typeface="Helvetica"/>
                <a:cs typeface="Helvetica"/>
              </a:rPr>
              <a:t>notation</a:t>
            </a:r>
            <a:r>
              <a:rPr sz="2000" b="1" spc="-4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1/0:</a:t>
            </a:r>
            <a:endParaRPr sz="2000">
              <a:latin typeface="Helvetica"/>
              <a:cs typeface="Helvetica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Helvetica"/>
                <a:cs typeface="Helvetica"/>
              </a:rPr>
              <a:t>good </a:t>
            </a:r>
            <a:r>
              <a:rPr sz="2000" b="1" spc="-5" dirty="0">
                <a:latin typeface="Helvetica"/>
                <a:cs typeface="Helvetica"/>
              </a:rPr>
              <a:t>value=1; </a:t>
            </a:r>
            <a:r>
              <a:rPr sz="2000" b="1" dirty="0">
                <a:latin typeface="Helvetica"/>
                <a:cs typeface="Helvetica"/>
              </a:rPr>
              <a:t>faulty </a:t>
            </a:r>
            <a:r>
              <a:rPr sz="2000" b="1" spc="-5" dirty="0">
                <a:latin typeface="Helvetica"/>
                <a:cs typeface="Helvetica"/>
              </a:rPr>
              <a:t>value</a:t>
            </a:r>
            <a:r>
              <a:rPr sz="2000" b="1" spc="-7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=0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4029" y="164414"/>
            <a:ext cx="5485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Activation &amp;</a:t>
            </a:r>
            <a:r>
              <a:rPr spc="-55" dirty="0"/>
              <a:t> </a:t>
            </a:r>
            <a:r>
              <a:rPr spc="-5" dirty="0"/>
              <a:t>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4" y="900785"/>
            <a:ext cx="9066175" cy="261353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 fault is detected if </a:t>
            </a: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conditions are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satisfied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(1)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sz="2000" b="1" i="1" spc="-4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activation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different </a:t>
            </a:r>
            <a:r>
              <a:rPr sz="2000" b="1" spc="-5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at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 site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lang="en-US" sz="2000" b="1" dirty="0">
                <a:latin typeface="Arial"/>
                <a:cs typeface="Arial"/>
              </a:rPr>
              <a:t>good is </a:t>
            </a:r>
            <a:r>
              <a:rPr sz="2000" b="1" dirty="0">
                <a:latin typeface="Arial"/>
                <a:cs typeface="Arial"/>
              </a:rPr>
              <a:t>opposite </a:t>
            </a:r>
            <a:r>
              <a:rPr lang="en-US" sz="2000" b="1" dirty="0">
                <a:latin typeface="Arial"/>
                <a:cs typeface="Arial"/>
              </a:rPr>
              <a:t>of</a:t>
            </a:r>
            <a:r>
              <a:rPr sz="2000" b="1" dirty="0">
                <a:latin typeface="Arial"/>
                <a:cs typeface="Arial"/>
              </a:rPr>
              <a:t> faulty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4251325" algn="l"/>
              </a:tabLst>
            </a:pPr>
            <a:r>
              <a:rPr sz="2000" b="1" dirty="0">
                <a:latin typeface="Arial"/>
                <a:cs typeface="Arial"/>
              </a:rPr>
              <a:t>(2)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effect</a:t>
            </a:r>
            <a:r>
              <a:rPr sz="2000" b="1" i="1" spc="-2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propagation:	</a:t>
            </a:r>
            <a:r>
              <a:rPr sz="2000" b="1" dirty="0">
                <a:latin typeface="Arial"/>
                <a:cs typeface="Arial"/>
              </a:rPr>
              <a:t>(aka.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error</a:t>
            </a:r>
            <a:r>
              <a:rPr sz="2000" b="1" i="1" spc="-6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propagation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Propagate </a:t>
            </a:r>
            <a:r>
              <a:rPr sz="2000" b="1" i="1" dirty="0">
                <a:latin typeface="Arial-BoldItalicMT"/>
                <a:cs typeface="Arial-BoldItalicMT"/>
              </a:rPr>
              <a:t>fault effect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u="sng" dirty="0">
                <a:latin typeface="Arial"/>
                <a:cs typeface="Arial"/>
              </a:rPr>
              <a:t>any</a:t>
            </a:r>
            <a:r>
              <a:rPr sz="2000" b="1" dirty="0">
                <a:latin typeface="Arial"/>
                <a:cs typeface="Arial"/>
              </a:rPr>
              <a:t> primary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endParaRPr lang="en-US" sz="2000" b="1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lang="en-US"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A signal</a:t>
            </a:r>
            <a:r>
              <a:rPr lang="en-US" sz="2000" b="1" i="1" dirty="0">
                <a:latin typeface="Arial-BoldItalicMT"/>
                <a:cs typeface="Arial-BoldItalicMT"/>
              </a:rPr>
              <a:t> </a:t>
            </a:r>
            <a:r>
              <a:rPr lang="en-US" sz="2000" b="1" dirty="0">
                <a:latin typeface="Arial"/>
                <a:cs typeface="Arial"/>
              </a:rPr>
              <a:t>is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sensitized</a:t>
            </a:r>
            <a:r>
              <a:rPr lang="en-US" sz="2000" b="1" i="1" dirty="0">
                <a:solidFill>
                  <a:srgbClr val="FF9999"/>
                </a:solidFill>
                <a:latin typeface="Arial-BoldItalicMT"/>
                <a:cs typeface="Arial-BoldItalicMT"/>
              </a:rPr>
              <a:t> </a:t>
            </a:r>
            <a:r>
              <a:rPr lang="en-US" sz="2000" b="1" dirty="0">
                <a:latin typeface="Arial"/>
                <a:cs typeface="Arial"/>
              </a:rPr>
              <a:t>if output changes </a:t>
            </a:r>
            <a:r>
              <a:rPr lang="en-US" sz="2000" b="1" spc="10" dirty="0">
                <a:latin typeface="Arial"/>
                <a:cs typeface="Arial"/>
              </a:rPr>
              <a:t>when </a:t>
            </a:r>
            <a:r>
              <a:rPr lang="en-US" sz="2000" b="1" dirty="0">
                <a:latin typeface="Arial-BoldItalicMT"/>
                <a:cs typeface="Arial"/>
              </a:rPr>
              <a:t>it</a:t>
            </a:r>
            <a:r>
              <a:rPr lang="en-US" sz="2000" b="1" spc="-180" dirty="0">
                <a:latin typeface="Arial-BoldItalicMT"/>
                <a:cs typeface="Arial-BoldItalicMT"/>
              </a:rPr>
              <a:t> </a:t>
            </a:r>
            <a:r>
              <a:rPr lang="en-US" sz="2000" b="1" spc="-35" dirty="0">
                <a:latin typeface="Arial"/>
                <a:cs typeface="Arial"/>
              </a:rPr>
              <a:t>changes</a:t>
            </a:r>
            <a:endParaRPr lang="en-US"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lang="en-US"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A path of sensitized signals is called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sensitized</a:t>
            </a:r>
            <a:r>
              <a:rPr lang="en-US" sz="2000" b="1" i="1" spc="-17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path</a:t>
            </a:r>
            <a:endParaRPr lang="en-US" sz="2000" dirty="0">
              <a:solidFill>
                <a:srgbClr val="FF0000"/>
              </a:solidFill>
              <a:latin typeface="Arial-BoldItalicMT"/>
              <a:cs typeface="Arial-BoldItalic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0274" y="5221985"/>
            <a:ext cx="690880" cy="0"/>
          </a:xfrm>
          <a:custGeom>
            <a:avLst/>
            <a:gdLst/>
            <a:ahLst/>
            <a:cxnLst/>
            <a:rect l="l" t="t" r="r" b="b"/>
            <a:pathLst>
              <a:path w="690880">
                <a:moveTo>
                  <a:pt x="69037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30274" y="5511546"/>
            <a:ext cx="690880" cy="0"/>
          </a:xfrm>
          <a:custGeom>
            <a:avLst/>
            <a:gdLst/>
            <a:ahLst/>
            <a:cxnLst/>
            <a:rect l="l" t="t" r="r" b="b"/>
            <a:pathLst>
              <a:path w="690880">
                <a:moveTo>
                  <a:pt x="69037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7389" y="5150358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8"/>
                </a:lnTo>
                <a:lnTo>
                  <a:pt x="215646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4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77389" y="5150358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4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30274" y="4142994"/>
            <a:ext cx="692150" cy="0"/>
          </a:xfrm>
          <a:custGeom>
            <a:avLst/>
            <a:gdLst/>
            <a:ahLst/>
            <a:cxnLst/>
            <a:rect l="l" t="t" r="r" b="b"/>
            <a:pathLst>
              <a:path w="692150">
                <a:moveTo>
                  <a:pt x="69189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30274" y="4431029"/>
            <a:ext cx="692150" cy="0"/>
          </a:xfrm>
          <a:custGeom>
            <a:avLst/>
            <a:gdLst/>
            <a:ahLst/>
            <a:cxnLst/>
            <a:rect l="l" t="t" r="r" b="b"/>
            <a:pathLst>
              <a:path w="692150">
                <a:moveTo>
                  <a:pt x="69189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78914" y="4071365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78914" y="4071365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80363" y="3970477"/>
            <a:ext cx="471805" cy="61912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7620">
              <a:lnSpc>
                <a:spcPts val="2260"/>
              </a:lnSpc>
              <a:spcBef>
                <a:spcPts val="295"/>
              </a:spcBef>
            </a:pPr>
            <a:r>
              <a:rPr sz="2000" b="1" i="1" spc="-20" dirty="0">
                <a:latin typeface="HelveticaNeue-BoldItalic"/>
                <a:cs typeface="HelveticaNeue-BoldItalic"/>
              </a:rPr>
              <a:t>a=0  </a:t>
            </a:r>
            <a:r>
              <a:rPr sz="2000" b="1" i="1" spc="-10" dirty="0">
                <a:latin typeface="HelveticaNeue-BoldItalic"/>
                <a:cs typeface="HelveticaNeue-BoldItalic"/>
              </a:rPr>
              <a:t>b=0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0363" y="5050663"/>
            <a:ext cx="471170" cy="618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7620">
              <a:lnSpc>
                <a:spcPts val="2260"/>
              </a:lnSpc>
              <a:spcBef>
                <a:spcPts val="295"/>
              </a:spcBef>
            </a:pPr>
            <a:r>
              <a:rPr sz="2000" b="1" i="1" spc="-15" dirty="0">
                <a:latin typeface="HelveticaNeue-BoldItalic"/>
                <a:cs typeface="HelveticaNeue-BoldItalic"/>
              </a:rPr>
              <a:t>c</a:t>
            </a:r>
            <a:r>
              <a:rPr sz="2000" b="1" i="1" spc="-10" dirty="0">
                <a:latin typeface="HelveticaNeue-BoldItalic"/>
                <a:cs typeface="HelveticaNeue-BoldItalic"/>
              </a:rPr>
              <a:t>=</a:t>
            </a:r>
            <a:r>
              <a:rPr sz="2000" b="1" i="1" dirty="0">
                <a:latin typeface="HelveticaNeue-BoldItalic"/>
                <a:cs typeface="HelveticaNeue-BoldItalic"/>
              </a:rPr>
              <a:t>1  </a:t>
            </a:r>
            <a:r>
              <a:rPr sz="2000" b="1" i="1" spc="-10" dirty="0">
                <a:latin typeface="HelveticaNeue-BoldItalic"/>
                <a:cs typeface="HelveticaNeue-BoldItalic"/>
              </a:rPr>
              <a:t>d=1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0205" y="4287773"/>
            <a:ext cx="781050" cy="514350"/>
          </a:xfrm>
          <a:custGeom>
            <a:avLst/>
            <a:gdLst/>
            <a:ahLst/>
            <a:cxnLst/>
            <a:rect l="l" t="t" r="r" b="b"/>
            <a:pathLst>
              <a:path w="781050" h="514350">
                <a:moveTo>
                  <a:pt x="0" y="0"/>
                </a:moveTo>
                <a:lnTo>
                  <a:pt x="390525" y="0"/>
                </a:lnTo>
                <a:lnTo>
                  <a:pt x="390525" y="514350"/>
                </a:lnTo>
                <a:lnTo>
                  <a:pt x="781050" y="51435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17570" y="4935473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28010" y="4719065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8010" y="4719065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08682" y="5078729"/>
            <a:ext cx="755650" cy="287655"/>
          </a:xfrm>
          <a:custGeom>
            <a:avLst/>
            <a:gdLst/>
            <a:ahLst/>
            <a:cxnLst/>
            <a:rect l="l" t="t" r="r" b="b"/>
            <a:pathLst>
              <a:path w="755650" h="287654">
                <a:moveTo>
                  <a:pt x="0" y="287274"/>
                </a:moveTo>
                <a:lnTo>
                  <a:pt x="345186" y="287274"/>
                </a:lnTo>
                <a:lnTo>
                  <a:pt x="345186" y="0"/>
                </a:lnTo>
                <a:lnTo>
                  <a:pt x="755650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97807" y="4763261"/>
            <a:ext cx="1104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40" dirty="0">
                <a:latin typeface="HelveticaNeue-BoldItalic"/>
                <a:cs typeface="HelveticaNeue-BoldItalic"/>
              </a:rPr>
              <a:t>f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04082" y="4935473"/>
            <a:ext cx="431800" cy="1905"/>
          </a:xfrm>
          <a:custGeom>
            <a:avLst/>
            <a:gdLst/>
            <a:ahLst/>
            <a:cxnLst/>
            <a:rect l="l" t="t" r="r" b="b"/>
            <a:pathLst>
              <a:path w="431800" h="1904">
                <a:moveTo>
                  <a:pt x="-19050" y="762"/>
                </a:moveTo>
                <a:lnTo>
                  <a:pt x="450850" y="762"/>
                </a:lnTo>
              </a:path>
            </a:pathLst>
          </a:custGeom>
          <a:ln w="396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96717" y="5150358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144780" y="0"/>
                </a:moveTo>
                <a:lnTo>
                  <a:pt x="0" y="14478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96717" y="5150358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0"/>
                </a:moveTo>
                <a:lnTo>
                  <a:pt x="144780" y="14478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67610" y="4751070"/>
            <a:ext cx="73279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SA0</a:t>
            </a:r>
            <a:endParaRPr lang="en-US" sz="2000" b="1" dirty="0">
              <a:solidFill>
                <a:srgbClr val="0000FF"/>
              </a:solidFill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i="1" dirty="0">
                <a:solidFill>
                  <a:srgbClr val="0000FF"/>
                </a:solidFill>
                <a:latin typeface="Helvetica"/>
                <a:cs typeface="Helvetica"/>
              </a:rPr>
              <a:t>e</a:t>
            </a:r>
            <a:endParaRPr sz="2000" i="1" dirty="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61869" y="3905758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67402" y="3962400"/>
            <a:ext cx="383667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Fault activation:</a:t>
            </a:r>
            <a:r>
              <a:rPr sz="2000" b="1" spc="-50" dirty="0">
                <a:latin typeface="Helvetica"/>
                <a:cs typeface="Helvetica"/>
              </a:rPr>
              <a:t> </a:t>
            </a:r>
            <a:r>
              <a:rPr sz="2000" b="1" i="1" spc="-10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c=d=1</a:t>
            </a:r>
            <a:endParaRPr sz="2000" dirty="0">
              <a:latin typeface="HelveticaNeue-BoldItalic"/>
              <a:cs typeface="HelveticaNeue-BoldItalic"/>
            </a:endParaRPr>
          </a:p>
          <a:p>
            <a:pPr marL="12700">
              <a:lnSpc>
                <a:spcPct val="100000"/>
              </a:lnSpc>
            </a:pPr>
            <a:r>
              <a:rPr lang="en-US" sz="2000" b="1" dirty="0">
                <a:latin typeface="Helvetica"/>
                <a:cs typeface="Helvetica"/>
              </a:rPr>
              <a:t>Fault site: </a:t>
            </a:r>
            <a:r>
              <a:rPr lang="en-US" sz="2000" b="1" i="1" spc="-10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e</a:t>
            </a:r>
            <a:endParaRPr lang="en-US" sz="2000" b="1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Fault Effect Propagation</a:t>
            </a:r>
            <a:r>
              <a:rPr sz="2000" i="1" dirty="0">
                <a:latin typeface="Helvetica"/>
                <a:cs typeface="Helvetica"/>
              </a:rPr>
              <a:t>:</a:t>
            </a:r>
            <a:r>
              <a:rPr sz="2000" i="1" spc="-114" dirty="0">
                <a:latin typeface="Helvetica"/>
                <a:cs typeface="Helvetica"/>
              </a:rPr>
              <a:t> </a:t>
            </a:r>
            <a:r>
              <a:rPr sz="2000" b="1" i="1" spc="-20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a=b=0</a:t>
            </a:r>
            <a:endParaRPr sz="2000" dirty="0">
              <a:latin typeface="HelveticaNeue-BoldItalic"/>
              <a:cs typeface="HelveticaNeue-BoldItalic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e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</a:rPr>
              <a:t>sensitized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Arial-BoldItalicMT"/>
                <a:cs typeface="Arial-BoldItalicMT"/>
              </a:rPr>
              <a:t>e-f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</a:rPr>
              <a:t>sensitized path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728086" y="5485282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1/0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78173" y="4423917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1/0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87700" y="5107304"/>
            <a:ext cx="673100" cy="320675"/>
          </a:xfrm>
          <a:custGeom>
            <a:avLst/>
            <a:gdLst/>
            <a:ahLst/>
            <a:cxnLst/>
            <a:rect l="l" t="t" r="r" b="b"/>
            <a:pathLst>
              <a:path w="673100" h="320675">
                <a:moveTo>
                  <a:pt x="557714" y="38338"/>
                </a:moveTo>
                <a:lnTo>
                  <a:pt x="513461" y="42672"/>
                </a:lnTo>
                <a:lnTo>
                  <a:pt x="453389" y="50927"/>
                </a:lnTo>
                <a:lnTo>
                  <a:pt x="395986" y="61468"/>
                </a:lnTo>
                <a:lnTo>
                  <a:pt x="341249" y="74041"/>
                </a:lnTo>
                <a:lnTo>
                  <a:pt x="289560" y="88646"/>
                </a:lnTo>
                <a:lnTo>
                  <a:pt x="241173" y="105029"/>
                </a:lnTo>
                <a:lnTo>
                  <a:pt x="196087" y="123317"/>
                </a:lnTo>
                <a:lnTo>
                  <a:pt x="154939" y="143256"/>
                </a:lnTo>
                <a:lnTo>
                  <a:pt x="117728" y="164846"/>
                </a:lnTo>
                <a:lnTo>
                  <a:pt x="84962" y="188087"/>
                </a:lnTo>
                <a:lnTo>
                  <a:pt x="44323" y="226187"/>
                </a:lnTo>
                <a:lnTo>
                  <a:pt x="15239" y="268097"/>
                </a:lnTo>
                <a:lnTo>
                  <a:pt x="0" y="311658"/>
                </a:lnTo>
                <a:lnTo>
                  <a:pt x="37083" y="320421"/>
                </a:lnTo>
                <a:lnTo>
                  <a:pt x="40258" y="306959"/>
                </a:lnTo>
                <a:lnTo>
                  <a:pt x="44323" y="295656"/>
                </a:lnTo>
                <a:lnTo>
                  <a:pt x="64388" y="261620"/>
                </a:lnTo>
                <a:lnTo>
                  <a:pt x="96138" y="228219"/>
                </a:lnTo>
                <a:lnTo>
                  <a:pt x="138937" y="196469"/>
                </a:lnTo>
                <a:lnTo>
                  <a:pt x="173354" y="176530"/>
                </a:lnTo>
                <a:lnTo>
                  <a:pt x="211962" y="157861"/>
                </a:lnTo>
                <a:lnTo>
                  <a:pt x="254762" y="140589"/>
                </a:lnTo>
                <a:lnTo>
                  <a:pt x="301244" y="124841"/>
                </a:lnTo>
                <a:lnTo>
                  <a:pt x="351027" y="110871"/>
                </a:lnTo>
                <a:lnTo>
                  <a:pt x="403987" y="98679"/>
                </a:lnTo>
                <a:lnTo>
                  <a:pt x="459866" y="88519"/>
                </a:lnTo>
                <a:lnTo>
                  <a:pt x="518160" y="80391"/>
                </a:lnTo>
                <a:lnTo>
                  <a:pt x="559785" y="76332"/>
                </a:lnTo>
                <a:lnTo>
                  <a:pt x="557714" y="38338"/>
                </a:lnTo>
                <a:close/>
              </a:path>
              <a:path w="673100" h="320675">
                <a:moveTo>
                  <a:pt x="640982" y="37084"/>
                </a:moveTo>
                <a:lnTo>
                  <a:pt x="576452" y="37084"/>
                </a:lnTo>
                <a:lnTo>
                  <a:pt x="578992" y="75057"/>
                </a:lnTo>
                <a:lnTo>
                  <a:pt x="559785" y="76332"/>
                </a:lnTo>
                <a:lnTo>
                  <a:pt x="561848" y="114173"/>
                </a:lnTo>
                <a:lnTo>
                  <a:pt x="672846" y="50927"/>
                </a:lnTo>
                <a:lnTo>
                  <a:pt x="640982" y="37084"/>
                </a:lnTo>
                <a:close/>
              </a:path>
              <a:path w="673100" h="320675">
                <a:moveTo>
                  <a:pt x="576452" y="37084"/>
                </a:moveTo>
                <a:lnTo>
                  <a:pt x="557714" y="38338"/>
                </a:lnTo>
                <a:lnTo>
                  <a:pt x="559785" y="76332"/>
                </a:lnTo>
                <a:lnTo>
                  <a:pt x="578992" y="75057"/>
                </a:lnTo>
                <a:lnTo>
                  <a:pt x="576452" y="37084"/>
                </a:lnTo>
                <a:close/>
              </a:path>
              <a:path w="673100" h="320675">
                <a:moveTo>
                  <a:pt x="555625" y="0"/>
                </a:moveTo>
                <a:lnTo>
                  <a:pt x="557714" y="38338"/>
                </a:lnTo>
                <a:lnTo>
                  <a:pt x="576452" y="37084"/>
                </a:lnTo>
                <a:lnTo>
                  <a:pt x="640982" y="37084"/>
                </a:lnTo>
                <a:lnTo>
                  <a:pt x="55562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42416" y="6094476"/>
            <a:ext cx="7059295" cy="429895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2200" b="1" spc="-5" dirty="0">
                <a:solidFill>
                  <a:srgbClr val="FF0000"/>
                </a:solidFill>
                <a:latin typeface="Helvetica"/>
                <a:cs typeface="Helvetica"/>
              </a:rPr>
              <a:t>Detection Requires (1) Activation &amp; (2)</a:t>
            </a:r>
            <a:r>
              <a:rPr sz="2200" b="1" spc="6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Helvetica"/>
                <a:cs typeface="Helvetica"/>
              </a:rPr>
              <a:t>Propagation</a:t>
            </a:r>
            <a:endParaRPr sz="22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17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18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060" y="164414"/>
            <a:ext cx="2973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70" dirty="0"/>
              <a:t> </a:t>
            </a:r>
            <a:r>
              <a:rPr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324" y="961136"/>
            <a:ext cx="8740775" cy="36144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"/>
              </a:spcBef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Untestable faults</a:t>
            </a:r>
            <a:r>
              <a:rPr lang="en-US" sz="1950" b="1" i="1" baseline="25641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= faults that cannot be </a:t>
            </a:r>
            <a:r>
              <a:rPr lang="en-US" sz="2000" b="1" dirty="0">
                <a:latin typeface="Arial"/>
                <a:cs typeface="Arial"/>
              </a:rPr>
              <a:t>provably </a:t>
            </a:r>
            <a:r>
              <a:rPr sz="2000" b="1" dirty="0">
                <a:latin typeface="Arial"/>
                <a:cs typeface="Arial"/>
              </a:rPr>
              <a:t>detected by any test</a:t>
            </a:r>
            <a:r>
              <a:rPr sz="2000" b="1" spc="-3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</a:t>
            </a:r>
            <a:r>
              <a:rPr lang="en-US" sz="2000" b="1" dirty="0">
                <a:latin typeface="Arial"/>
                <a:cs typeface="Arial"/>
              </a:rPr>
              <a:t> (example next slide)</a:t>
            </a:r>
            <a:endParaRPr lang="en-US"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lang="en-US" sz="2000" b="1" dirty="0">
                <a:latin typeface="Arial"/>
                <a:cs typeface="Arial"/>
              </a:rPr>
              <a:t>aka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redundant</a:t>
            </a:r>
            <a:r>
              <a:rPr lang="en-US" sz="2000" b="1" i="1" spc="-3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faults</a:t>
            </a:r>
            <a:endParaRPr lang="en-US" sz="2000" b="1" i="1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81685" lvl="1" indent="-287020"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lang="en-US" sz="2000" b="1" spc="-5" dirty="0">
                <a:latin typeface="Arial"/>
                <a:cs typeface="Arial"/>
              </a:rPr>
              <a:t>Proving </a:t>
            </a:r>
            <a:r>
              <a:rPr lang="en-US" sz="2000" b="1" dirty="0">
                <a:latin typeface="Arial"/>
                <a:cs typeface="Arial"/>
              </a:rPr>
              <a:t>untestable fault is</a:t>
            </a:r>
            <a:r>
              <a:rPr lang="en-US" sz="2000" b="1" spc="-75" dirty="0">
                <a:latin typeface="Arial"/>
                <a:cs typeface="Arial"/>
              </a:rPr>
              <a:t> </a:t>
            </a:r>
            <a:r>
              <a:rPr lang="en-US" sz="2000" b="1" i="1" dirty="0">
                <a:latin typeface="Arial-BoldItalicMT"/>
                <a:cs typeface="Arial-BoldItalicMT"/>
              </a:rPr>
              <a:t>NP-complete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Arial"/>
              <a:buChar char="•"/>
            </a:pPr>
            <a:endParaRPr sz="2900" dirty="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5"/>
              </a:spcBef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Testable faults </a:t>
            </a:r>
            <a:r>
              <a:rPr sz="2000" b="1" dirty="0">
                <a:latin typeface="Arial"/>
                <a:cs typeface="Arial"/>
              </a:rPr>
              <a:t>= faults that cannot be </a:t>
            </a:r>
            <a:r>
              <a:rPr sz="2000" b="1" spc="-5" dirty="0">
                <a:latin typeface="Arial"/>
                <a:cs typeface="Arial"/>
              </a:rPr>
              <a:t>proven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untestable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Detected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Undetected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Potentially detected faults (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discussed in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 fault</a:t>
            </a:r>
            <a:r>
              <a:rPr sz="2000" b="1" spc="-1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 later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…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5163" y="332959"/>
            <a:ext cx="4521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Untestable </a:t>
            </a:r>
            <a:r>
              <a:rPr spc="-5" dirty="0"/>
              <a:t>Faults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506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Hazard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control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circuitry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425" y="1266545"/>
            <a:ext cx="3599179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spc="5" dirty="0">
                <a:latin typeface="Arial"/>
                <a:cs typeface="Arial"/>
              </a:rPr>
              <a:t>AB’ </a:t>
            </a:r>
            <a:r>
              <a:rPr sz="2000" b="1" dirty="0">
                <a:latin typeface="Arial"/>
                <a:cs typeface="Arial"/>
              </a:rPr>
              <a:t>+ </a:t>
            </a:r>
            <a:r>
              <a:rPr sz="2000" b="1" spc="5" dirty="0">
                <a:latin typeface="Arial"/>
                <a:cs typeface="Arial"/>
              </a:rPr>
              <a:t>BC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+ </a:t>
            </a:r>
            <a:r>
              <a:rPr sz="2000" b="1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AC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AB’+BC</a:t>
            </a:r>
            <a:endParaRPr sz="20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spc="5" dirty="0">
                <a:latin typeface="Arial"/>
                <a:cs typeface="Arial"/>
              </a:rPr>
              <a:t>AC </a:t>
            </a:r>
            <a:r>
              <a:rPr sz="2000" b="1" dirty="0">
                <a:latin typeface="Arial"/>
                <a:cs typeface="Arial"/>
              </a:rPr>
              <a:t>SA0 is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untestable</a:t>
            </a:r>
            <a:endParaRPr sz="20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dirty="0">
                <a:latin typeface="Arial"/>
                <a:cs typeface="Arial"/>
              </a:rPr>
              <a:t>Used for hazard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prevention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825" y="3461740"/>
            <a:ext cx="542480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Error control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circuitry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A and </a:t>
            </a:r>
            <a:r>
              <a:rPr sz="2000" b="1" spc="10" dirty="0">
                <a:latin typeface="Arial"/>
                <a:cs typeface="Arial"/>
              </a:rPr>
              <a:t>A</a:t>
            </a:r>
            <a:r>
              <a:rPr sz="1950" b="1" spc="15" baseline="25641" dirty="0">
                <a:latin typeface="Arial"/>
                <a:cs typeface="Arial"/>
              </a:rPr>
              <a:t>+ </a:t>
            </a:r>
            <a:r>
              <a:rPr sz="2000" b="1" spc="-5" dirty="0">
                <a:latin typeface="Arial"/>
                <a:cs typeface="Arial"/>
              </a:rPr>
              <a:t>always </a:t>
            </a:r>
            <a:r>
              <a:rPr sz="2000" b="1" dirty="0">
                <a:latin typeface="Arial"/>
                <a:cs typeface="Arial"/>
              </a:rPr>
              <a:t>produce same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ECC output SA0 is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untestable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9497" y="5881453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5">
                <a:moveTo>
                  <a:pt x="0" y="0"/>
                </a:moveTo>
                <a:lnTo>
                  <a:pt x="297591" y="0"/>
                </a:lnTo>
              </a:path>
            </a:pathLst>
          </a:custGeom>
          <a:ln w="31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44349" y="5476021"/>
            <a:ext cx="283210" cy="0"/>
          </a:xfrm>
          <a:custGeom>
            <a:avLst/>
            <a:gdLst/>
            <a:ahLst/>
            <a:cxnLst/>
            <a:rect l="l" t="t" r="r" b="b"/>
            <a:pathLst>
              <a:path w="283209">
                <a:moveTo>
                  <a:pt x="0" y="0"/>
                </a:moveTo>
                <a:lnTo>
                  <a:pt x="282740" y="0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27089" y="5374323"/>
            <a:ext cx="555625" cy="633730"/>
          </a:xfrm>
          <a:prstGeom prst="rect">
            <a:avLst/>
          </a:prstGeom>
          <a:ln w="28737">
            <a:solidFill>
              <a:srgbClr val="000000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245"/>
              </a:spcBef>
            </a:pPr>
            <a:r>
              <a:rPr sz="1400" b="1" spc="-45" dirty="0">
                <a:latin typeface="Helvetica"/>
                <a:cs typeface="Helvetica"/>
              </a:rPr>
              <a:t>XOR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97186" y="5654342"/>
            <a:ext cx="320040" cy="2540"/>
          </a:xfrm>
          <a:custGeom>
            <a:avLst/>
            <a:gdLst/>
            <a:ahLst/>
            <a:cxnLst/>
            <a:rect l="l" t="t" r="r" b="b"/>
            <a:pathLst>
              <a:path w="320040" h="2539">
                <a:moveTo>
                  <a:pt x="0" y="0"/>
                </a:moveTo>
                <a:lnTo>
                  <a:pt x="319525" y="2000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60893" y="5102383"/>
            <a:ext cx="38417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50" dirty="0">
                <a:latin typeface="Arial"/>
                <a:cs typeface="Arial"/>
              </a:rPr>
              <a:t>S</a:t>
            </a:r>
            <a:r>
              <a:rPr sz="1550" b="1" spc="-110" dirty="0">
                <a:latin typeface="Arial"/>
                <a:cs typeface="Arial"/>
              </a:rPr>
              <a:t>A</a:t>
            </a:r>
            <a:r>
              <a:rPr sz="1550" b="1" spc="-50" dirty="0"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8467" y="5814179"/>
            <a:ext cx="555625" cy="653415"/>
          </a:xfrm>
          <a:prstGeom prst="rect">
            <a:avLst/>
          </a:prstGeom>
          <a:ln w="28734">
            <a:solidFill>
              <a:srgbClr val="000000"/>
            </a:solidFill>
          </a:ln>
        </p:spPr>
        <p:txBody>
          <a:bodyPr vert="horz" wrap="square" lIns="0" tIns="16827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325"/>
              </a:spcBef>
            </a:pPr>
            <a:r>
              <a:rPr sz="1400" b="1" spc="-45" dirty="0">
                <a:latin typeface="Helvetica"/>
                <a:cs typeface="Helvetica"/>
              </a:rPr>
              <a:t>XOR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89027" y="6150336"/>
            <a:ext cx="555625" cy="2540"/>
          </a:xfrm>
          <a:custGeom>
            <a:avLst/>
            <a:gdLst/>
            <a:ahLst/>
            <a:cxnLst/>
            <a:rect l="l" t="t" r="r" b="b"/>
            <a:pathLst>
              <a:path w="555625" h="2539">
                <a:moveTo>
                  <a:pt x="0" y="0"/>
                </a:moveTo>
                <a:lnTo>
                  <a:pt x="555321" y="2000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22144" y="5350121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323" y="0"/>
                </a:lnTo>
              </a:path>
            </a:pathLst>
          </a:custGeom>
          <a:ln w="31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60027" y="5051490"/>
            <a:ext cx="830580" cy="0"/>
          </a:xfrm>
          <a:custGeom>
            <a:avLst/>
            <a:gdLst/>
            <a:ahLst/>
            <a:cxnLst/>
            <a:rect l="l" t="t" r="r" b="b"/>
            <a:pathLst>
              <a:path w="830579">
                <a:moveTo>
                  <a:pt x="0" y="0"/>
                </a:moveTo>
                <a:lnTo>
                  <a:pt x="830535" y="0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18467" y="4896694"/>
            <a:ext cx="555625" cy="601345"/>
          </a:xfrm>
          <a:prstGeom prst="rect">
            <a:avLst/>
          </a:prstGeom>
          <a:ln w="28739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100"/>
              </a:spcBef>
            </a:pPr>
            <a:r>
              <a:rPr sz="1400" b="1" spc="-45" dirty="0">
                <a:latin typeface="Helvetica"/>
                <a:cs typeface="Helvetica"/>
              </a:rPr>
              <a:t>XOR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89027" y="5023783"/>
            <a:ext cx="555625" cy="2540"/>
          </a:xfrm>
          <a:custGeom>
            <a:avLst/>
            <a:gdLst/>
            <a:ahLst/>
            <a:cxnLst/>
            <a:rect l="l" t="t" r="r" b="b"/>
            <a:pathLst>
              <a:path w="555625" h="2539">
                <a:moveTo>
                  <a:pt x="0" y="0"/>
                </a:moveTo>
                <a:lnTo>
                  <a:pt x="555321" y="1967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44349" y="5023783"/>
            <a:ext cx="0" cy="452755"/>
          </a:xfrm>
          <a:custGeom>
            <a:avLst/>
            <a:gdLst/>
            <a:ahLst/>
            <a:cxnLst/>
            <a:rect l="l" t="t" r="r" b="b"/>
            <a:pathLst>
              <a:path h="452754">
                <a:moveTo>
                  <a:pt x="0" y="0"/>
                </a:moveTo>
                <a:lnTo>
                  <a:pt x="0" y="452237"/>
                </a:lnTo>
              </a:path>
            </a:pathLst>
          </a:custGeom>
          <a:ln w="278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44349" y="5880453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69883"/>
                </a:moveTo>
                <a:lnTo>
                  <a:pt x="0" y="0"/>
                </a:lnTo>
              </a:path>
            </a:pathLst>
          </a:custGeom>
          <a:ln w="278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06081" y="4896694"/>
            <a:ext cx="554355" cy="754380"/>
          </a:xfrm>
          <a:prstGeom prst="rect">
            <a:avLst/>
          </a:prstGeom>
          <a:solidFill>
            <a:srgbClr val="FFFF00"/>
          </a:solidFill>
          <a:ln w="24723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570"/>
              </a:spcBef>
            </a:pPr>
            <a:r>
              <a:rPr sz="1800" b="1" spc="-6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06081" y="5793301"/>
            <a:ext cx="554355" cy="744220"/>
          </a:xfrm>
          <a:custGeom>
            <a:avLst/>
            <a:gdLst/>
            <a:ahLst/>
            <a:cxnLst/>
            <a:rect l="l" t="t" r="r" b="b"/>
            <a:pathLst>
              <a:path w="554354" h="744220">
                <a:moveTo>
                  <a:pt x="0" y="743778"/>
                </a:moveTo>
                <a:lnTo>
                  <a:pt x="553936" y="743778"/>
                </a:lnTo>
                <a:lnTo>
                  <a:pt x="553936" y="0"/>
                </a:lnTo>
                <a:lnTo>
                  <a:pt x="0" y="0"/>
                </a:lnTo>
                <a:lnTo>
                  <a:pt x="0" y="743778"/>
                </a:lnTo>
                <a:close/>
              </a:path>
            </a:pathLst>
          </a:custGeom>
          <a:ln w="246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21194" y="5826541"/>
            <a:ext cx="527050" cy="698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2230">
              <a:lnSpc>
                <a:spcPts val="1580"/>
              </a:lnSpc>
            </a:pPr>
            <a:r>
              <a:rPr sz="2700" b="1" spc="-112" baseline="-26234" dirty="0">
                <a:latin typeface="Arial"/>
                <a:cs typeface="Arial"/>
              </a:rPr>
              <a:t>A</a:t>
            </a:r>
            <a:r>
              <a:rPr sz="1150" b="1" spc="-75" dirty="0">
                <a:latin typeface="Arial"/>
                <a:cs typeface="Arial"/>
              </a:rPr>
              <a:t>+</a:t>
            </a:r>
            <a:endParaRPr sz="11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60027" y="5349113"/>
            <a:ext cx="277495" cy="594995"/>
          </a:xfrm>
          <a:custGeom>
            <a:avLst/>
            <a:gdLst/>
            <a:ahLst/>
            <a:cxnLst/>
            <a:rect l="l" t="t" r="r" b="b"/>
            <a:pathLst>
              <a:path w="277495" h="594995">
                <a:moveTo>
                  <a:pt x="0" y="594786"/>
                </a:moveTo>
                <a:lnTo>
                  <a:pt x="276968" y="0"/>
                </a:lnTo>
              </a:path>
            </a:pathLst>
          </a:custGeom>
          <a:ln w="24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60027" y="6241489"/>
            <a:ext cx="830580" cy="0"/>
          </a:xfrm>
          <a:custGeom>
            <a:avLst/>
            <a:gdLst/>
            <a:ahLst/>
            <a:cxnLst/>
            <a:rect l="l" t="t" r="r" b="b"/>
            <a:pathLst>
              <a:path w="830579">
                <a:moveTo>
                  <a:pt x="0" y="0"/>
                </a:moveTo>
                <a:lnTo>
                  <a:pt x="830535" y="0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60027" y="5349113"/>
            <a:ext cx="277495" cy="594995"/>
          </a:xfrm>
          <a:custGeom>
            <a:avLst/>
            <a:gdLst/>
            <a:ahLst/>
            <a:cxnLst/>
            <a:rect l="l" t="t" r="r" b="b"/>
            <a:pathLst>
              <a:path w="277495" h="594995">
                <a:moveTo>
                  <a:pt x="0" y="0"/>
                </a:moveTo>
                <a:lnTo>
                  <a:pt x="276968" y="594786"/>
                </a:lnTo>
              </a:path>
            </a:pathLst>
          </a:custGeom>
          <a:ln w="24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36995" y="5943899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>
                <a:moveTo>
                  <a:pt x="0" y="0"/>
                </a:moveTo>
                <a:lnTo>
                  <a:pt x="596093" y="0"/>
                </a:lnTo>
              </a:path>
            </a:pathLst>
          </a:custGeom>
          <a:ln w="2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30815" y="5495159"/>
            <a:ext cx="14986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6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68317" y="5017770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>
                <a:moveTo>
                  <a:pt x="0" y="0"/>
                </a:moveTo>
                <a:lnTo>
                  <a:pt x="4318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83202" y="5017770"/>
            <a:ext cx="215900" cy="982980"/>
          </a:xfrm>
          <a:custGeom>
            <a:avLst/>
            <a:gdLst/>
            <a:ahLst/>
            <a:cxnLst/>
            <a:rect l="l" t="t" r="r" b="b"/>
            <a:pathLst>
              <a:path w="215900" h="982979">
                <a:moveTo>
                  <a:pt x="0" y="0"/>
                </a:moveTo>
                <a:lnTo>
                  <a:pt x="0" y="982929"/>
                </a:lnTo>
                <a:lnTo>
                  <a:pt x="215900" y="982929"/>
                </a:lnTo>
                <a:lnTo>
                  <a:pt x="215900" y="9366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68317" y="5377434"/>
            <a:ext cx="431800" cy="0"/>
          </a:xfrm>
          <a:custGeom>
            <a:avLst/>
            <a:gdLst/>
            <a:ahLst/>
            <a:cxnLst/>
            <a:rect l="l" t="t" r="r" b="b"/>
            <a:pathLst>
              <a:path w="431800">
                <a:moveTo>
                  <a:pt x="0" y="0"/>
                </a:moveTo>
                <a:lnTo>
                  <a:pt x="4318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13097" y="5377434"/>
            <a:ext cx="287655" cy="936625"/>
          </a:xfrm>
          <a:custGeom>
            <a:avLst/>
            <a:gdLst/>
            <a:ahLst/>
            <a:cxnLst/>
            <a:rect l="l" t="t" r="r" b="b"/>
            <a:pathLst>
              <a:path w="287654" h="936625">
                <a:moveTo>
                  <a:pt x="0" y="0"/>
                </a:moveTo>
                <a:lnTo>
                  <a:pt x="0" y="925791"/>
                </a:lnTo>
                <a:lnTo>
                  <a:pt x="287274" y="925791"/>
                </a:lnTo>
                <a:lnTo>
                  <a:pt x="287274" y="9366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55591" y="1412747"/>
            <a:ext cx="4680204" cy="2065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508753" y="1511553"/>
            <a:ext cx="32238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Helvetica"/>
                <a:cs typeface="Helvetica"/>
              </a:rPr>
              <a:t>[Roth, Fundamentals of Logic</a:t>
            </a:r>
            <a:r>
              <a:rPr sz="1400" b="1" spc="-11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Helvetica"/>
                <a:cs typeface="Helvetica"/>
              </a:rPr>
              <a:t>Design]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64758" y="270586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52108" y="4250258"/>
            <a:ext cx="454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Helvetica"/>
                <a:cs typeface="Helvetica"/>
              </a:rPr>
              <a:t>ECC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51753" y="4533138"/>
            <a:ext cx="2112645" cy="288290"/>
          </a:xfrm>
          <a:custGeom>
            <a:avLst/>
            <a:gdLst/>
            <a:ahLst/>
            <a:cxnLst/>
            <a:rect l="l" t="t" r="r" b="b"/>
            <a:pathLst>
              <a:path w="2112645" h="288289">
                <a:moveTo>
                  <a:pt x="0" y="288036"/>
                </a:moveTo>
                <a:lnTo>
                  <a:pt x="1895" y="231993"/>
                </a:lnTo>
                <a:lnTo>
                  <a:pt x="7064" y="186213"/>
                </a:lnTo>
                <a:lnTo>
                  <a:pt x="14733" y="155340"/>
                </a:lnTo>
                <a:lnTo>
                  <a:pt x="24130" y="144018"/>
                </a:lnTo>
                <a:lnTo>
                  <a:pt x="1032001" y="144018"/>
                </a:lnTo>
                <a:lnTo>
                  <a:pt x="1041398" y="132695"/>
                </a:lnTo>
                <a:lnTo>
                  <a:pt x="1049067" y="101822"/>
                </a:lnTo>
                <a:lnTo>
                  <a:pt x="1054236" y="56042"/>
                </a:lnTo>
                <a:lnTo>
                  <a:pt x="1056131" y="0"/>
                </a:lnTo>
                <a:lnTo>
                  <a:pt x="1058027" y="56042"/>
                </a:lnTo>
                <a:lnTo>
                  <a:pt x="1063196" y="101822"/>
                </a:lnTo>
                <a:lnTo>
                  <a:pt x="1070865" y="132695"/>
                </a:lnTo>
                <a:lnTo>
                  <a:pt x="1080262" y="144018"/>
                </a:lnTo>
                <a:lnTo>
                  <a:pt x="2088134" y="144018"/>
                </a:lnTo>
                <a:lnTo>
                  <a:pt x="2097530" y="155340"/>
                </a:lnTo>
                <a:lnTo>
                  <a:pt x="2105199" y="186213"/>
                </a:lnTo>
                <a:lnTo>
                  <a:pt x="2110368" y="231993"/>
                </a:lnTo>
                <a:lnTo>
                  <a:pt x="2112264" y="288036"/>
                </a:lnTo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76174" y="6399903"/>
            <a:ext cx="5543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19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30224" y="900785"/>
            <a:ext cx="8227975" cy="378565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Definition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Faults that are</a:t>
            </a:r>
            <a:r>
              <a:rPr lang="en-US" sz="2000" b="1" dirty="0">
                <a:latin typeface="Arial"/>
                <a:cs typeface="Arial"/>
              </a:rPr>
              <a:t> testable but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not detected by the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given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2000" b="1" spc="-1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set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Undetected faults happen d</a:t>
            </a:r>
            <a:r>
              <a:rPr sz="2000" b="1" dirty="0">
                <a:latin typeface="Arial"/>
                <a:cs typeface="Arial"/>
              </a:rPr>
              <a:t>ue to ATPG runtime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limitation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Testable because cannot </a:t>
            </a:r>
            <a:r>
              <a:rPr lang="en-US" sz="2000" b="1" spc="-5" dirty="0">
                <a:latin typeface="Arial"/>
                <a:cs typeface="Arial"/>
              </a:rPr>
              <a:t>prove </a:t>
            </a:r>
            <a:r>
              <a:rPr lang="en-US" sz="2000" b="1" dirty="0">
                <a:latin typeface="Arial"/>
                <a:cs typeface="Arial"/>
              </a:rPr>
              <a:t>it</a:t>
            </a:r>
            <a:r>
              <a:rPr lang="en-US" sz="2000" b="1" spc="-30" dirty="0">
                <a:latin typeface="Arial"/>
                <a:cs typeface="Arial"/>
              </a:rPr>
              <a:t> to be </a:t>
            </a:r>
            <a:r>
              <a:rPr lang="en-US" sz="2000" b="1" dirty="0">
                <a:latin typeface="Arial"/>
                <a:cs typeface="Arial"/>
              </a:rPr>
              <a:t>untestable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Cannot find test pattern,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either</a:t>
            </a:r>
            <a:r>
              <a:rPr lang="en-US" sz="2000" b="1" dirty="0">
                <a:latin typeface="Arial"/>
                <a:cs typeface="Arial"/>
              </a:rPr>
              <a:t> because of runtime limitation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</a:pPr>
            <a:endParaRPr sz="3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287145" algn="l"/>
              </a:tabLst>
            </a:pPr>
            <a:r>
              <a:rPr sz="2000" b="1" dirty="0">
                <a:latin typeface="Arial"/>
                <a:cs typeface="Arial"/>
              </a:rPr>
              <a:t>NOTE:	do not confuse </a:t>
            </a:r>
            <a:r>
              <a:rPr sz="2000" b="1" i="1" dirty="0">
                <a:latin typeface="Arial-BoldItalicMT"/>
                <a:cs typeface="Arial-BoldItalicMT"/>
              </a:rPr>
              <a:t>untestable faults </a:t>
            </a:r>
            <a:r>
              <a:rPr sz="2000" b="1" dirty="0">
                <a:latin typeface="Arial"/>
                <a:cs typeface="Arial"/>
              </a:rPr>
              <a:t>with </a:t>
            </a:r>
            <a:r>
              <a:rPr sz="2000" b="1" i="1" dirty="0">
                <a:latin typeface="Arial-BoldItalicMT"/>
                <a:cs typeface="Arial-BoldItalicMT"/>
              </a:rPr>
              <a:t>undetected</a:t>
            </a:r>
            <a:r>
              <a:rPr sz="2000" b="1" i="1" spc="-180" dirty="0">
                <a:latin typeface="Arial-BoldItalicMT"/>
                <a:cs typeface="Arial-BoldItalicMT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faults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Former: no test pattern exists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(proven)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Latter: no test pattern so far (may exist but not</a:t>
            </a:r>
            <a:r>
              <a:rPr sz="2000" b="1" spc="-2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sure)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2567" y="164414"/>
            <a:ext cx="3988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Undetected</a:t>
            </a:r>
            <a:r>
              <a:rPr spc="-70" dirty="0"/>
              <a:t> </a:t>
            </a:r>
            <a:r>
              <a:rPr spc="-5" dirty="0"/>
              <a:t>Faults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223772" y="5794247"/>
                <a:ext cx="6696709" cy="468718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37465" rIns="0" bIns="0" rtlCol="0">
                <a:spAutoFit/>
              </a:bodyPr>
              <a:lstStyle/>
              <a:p>
                <a:pPr marL="91440">
                  <a:lnSpc>
                    <a:spcPct val="100000"/>
                  </a:lnSpc>
                  <a:spcBef>
                    <a:spcPts val="295"/>
                  </a:spcBef>
                </a:pPr>
                <a:r>
                  <a:rPr sz="28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Untestable Faults </a:t>
                </a:r>
                <a14:m>
                  <m:oMath xmlns:m="http://schemas.openxmlformats.org/officeDocument/2006/math">
                    <m:r>
                      <a:rPr lang="en-US" sz="2800" b="1" i="1" spc="-5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≠</m:t>
                    </m:r>
                  </m:oMath>
                </a14:m>
                <a:r>
                  <a:rPr lang="en-US" sz="2800" b="1" spc="-75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2800" b="1" spc="-75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28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Undetected</a:t>
                </a:r>
                <a:r>
                  <a:rPr sz="2800" b="1" spc="10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 </a:t>
                </a:r>
                <a:r>
                  <a:rPr sz="28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Faults</a:t>
                </a:r>
                <a:endParaRPr sz="2800" dirty="0"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772" y="5794247"/>
                <a:ext cx="6696709" cy="468718"/>
              </a:xfrm>
              <a:prstGeom prst="rect">
                <a:avLst/>
              </a:prstGeom>
              <a:blipFill>
                <a:blip r:embed="rId2"/>
                <a:stretch>
                  <a:fillRect l="-1894" t="-12821" r="-568" b="-43590"/>
                </a:stretch>
              </a:blipFill>
              <a:ln w="9144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77178" y="6514800"/>
            <a:ext cx="3390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VLSI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9078" y="6514800"/>
            <a:ext cx="42925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200" b="1" spc="-25" dirty="0">
                <a:solidFill>
                  <a:srgbClr val="B1B1B1"/>
                </a:solidFill>
                <a:latin typeface="Helvetica"/>
                <a:cs typeface="Helvetica"/>
              </a:rPr>
              <a:t>Test</a:t>
            </a:r>
            <a:r>
              <a:rPr sz="1200" b="1" spc="-95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3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8333" y="2360485"/>
            <a:ext cx="4596436" cy="1381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sp>
        <p:nvSpPr>
          <p:cNvPr id="8" name="object 8"/>
          <p:cNvSpPr/>
          <p:nvPr/>
        </p:nvSpPr>
        <p:spPr>
          <a:xfrm>
            <a:off x="5702300" y="6419786"/>
            <a:ext cx="481965" cy="292735"/>
          </a:xfrm>
          <a:custGeom>
            <a:avLst/>
            <a:gdLst/>
            <a:ahLst/>
            <a:cxnLst/>
            <a:rect l="l" t="t" r="r" b="b"/>
            <a:pathLst>
              <a:path w="481964" h="292734">
                <a:moveTo>
                  <a:pt x="0" y="292265"/>
                </a:moveTo>
                <a:lnTo>
                  <a:pt x="481838" y="292265"/>
                </a:lnTo>
                <a:lnTo>
                  <a:pt x="481838" y="0"/>
                </a:lnTo>
                <a:lnTo>
                  <a:pt x="0" y="0"/>
                </a:lnTo>
                <a:lnTo>
                  <a:pt x="0" y="2922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84138" y="6419786"/>
            <a:ext cx="481965" cy="292735"/>
          </a:xfrm>
          <a:custGeom>
            <a:avLst/>
            <a:gdLst/>
            <a:ahLst/>
            <a:cxnLst/>
            <a:rect l="l" t="t" r="r" b="b"/>
            <a:pathLst>
              <a:path w="481965" h="292734">
                <a:moveTo>
                  <a:pt x="0" y="292265"/>
                </a:moveTo>
                <a:lnTo>
                  <a:pt x="481838" y="292265"/>
                </a:lnTo>
                <a:lnTo>
                  <a:pt x="481838" y="0"/>
                </a:lnTo>
                <a:lnTo>
                  <a:pt x="0" y="0"/>
                </a:lnTo>
                <a:lnTo>
                  <a:pt x="0" y="2922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665110"/>
              </p:ext>
            </p:extLst>
          </p:nvPr>
        </p:nvGraphicFramePr>
        <p:xfrm>
          <a:off x="1828800" y="3859179"/>
          <a:ext cx="4831708" cy="29226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226">
                <a:tc gridSpan="3"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227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C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good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spc="5" dirty="0">
                          <a:latin typeface="Arial-BoldItalicMT"/>
                          <a:cs typeface="Arial-BoldItalicMT"/>
                        </a:rPr>
                        <a:t>F/1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226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54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226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227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328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265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277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265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24611" y="949452"/>
            <a:ext cx="8667115" cy="1324610"/>
          </a:xfrm>
          <a:prstGeom prst="rect">
            <a:avLst/>
          </a:prstGeom>
          <a:solidFill>
            <a:srgbClr val="66FF66"/>
          </a:solidFill>
          <a:ln w="9144">
            <a:solidFill>
              <a:srgbClr val="00AF5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  <a:tabLst>
                <a:tab pos="4319905" algn="l"/>
              </a:tabLst>
            </a:pPr>
            <a:r>
              <a:rPr sz="2000" b="1" dirty="0">
                <a:latin typeface="Helvetica"/>
                <a:cs typeface="Helvetica"/>
              </a:rPr>
              <a:t>Q1: Apply </a:t>
            </a:r>
            <a:r>
              <a:rPr sz="2000" b="1" spc="5" dirty="0">
                <a:latin typeface="Helvetica"/>
                <a:cs typeface="Helvetica"/>
              </a:rPr>
              <a:t>two </a:t>
            </a:r>
            <a:r>
              <a:rPr sz="2000" b="1" dirty="0">
                <a:latin typeface="Helvetica"/>
                <a:cs typeface="Helvetica"/>
              </a:rPr>
              <a:t>patterns</a:t>
            </a:r>
            <a:r>
              <a:rPr sz="2000" b="1" spc="-16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{000,</a:t>
            </a:r>
            <a:r>
              <a:rPr sz="2000" b="1" spc="-2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001}.	Which fault (s) are</a:t>
            </a:r>
            <a:r>
              <a:rPr sz="2000" b="1" spc="-10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undetected?</a:t>
            </a:r>
            <a:endParaRPr sz="2000" dirty="0">
              <a:latin typeface="Helvetica"/>
              <a:cs typeface="Helvetica"/>
            </a:endParaRPr>
          </a:p>
          <a:p>
            <a:pPr marL="1004569">
              <a:lnSpc>
                <a:spcPct val="100000"/>
              </a:lnSpc>
            </a:pPr>
            <a:r>
              <a:rPr sz="2000" b="1" spc="5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Q2: </a:t>
            </a:r>
            <a:r>
              <a:rPr sz="2000" b="1" spc="-5" dirty="0">
                <a:latin typeface="Helvetica"/>
                <a:cs typeface="Helvetica"/>
              </a:rPr>
              <a:t>Now </a:t>
            </a:r>
            <a:r>
              <a:rPr sz="2000" b="1" dirty="0">
                <a:latin typeface="Helvetica"/>
                <a:cs typeface="Helvetica"/>
              </a:rPr>
              <a:t>consider all patterns. Which fault(s) are</a:t>
            </a:r>
            <a:r>
              <a:rPr sz="2000" b="1" spc="-204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untestable?</a:t>
            </a:r>
            <a:endParaRPr sz="2000" dirty="0">
              <a:latin typeface="Helvetica"/>
              <a:cs typeface="Helvetica"/>
            </a:endParaRPr>
          </a:p>
          <a:p>
            <a:pPr marL="1004569">
              <a:lnSpc>
                <a:spcPct val="100000"/>
              </a:lnSpc>
            </a:pPr>
            <a:r>
              <a:rPr sz="2000" b="1" spc="5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3931" y="4187444"/>
            <a:ext cx="20427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Helvetica"/>
                <a:cs typeface="Helvetica"/>
              </a:rPr>
              <a:t>Consider only  six faults on</a:t>
            </a:r>
            <a:r>
              <a:rPr sz="2000" b="1" spc="-125" dirty="0">
                <a:latin typeface="Helvetica"/>
                <a:cs typeface="Helvetica"/>
              </a:rPr>
              <a:t> </a:t>
            </a:r>
            <a:r>
              <a:rPr sz="2000" b="1" i="1" dirty="0">
                <a:latin typeface="HelveticaNeue-BoldItalic"/>
                <a:cs typeface="HelveticaNeue-BoldItalic"/>
              </a:rPr>
              <a:t>EFL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9AA88D4-56A0-1AB9-74D6-A4700B1E1E5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2206625" cy="180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Coverage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4067" y="164414"/>
            <a:ext cx="28473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spc="-80" dirty="0"/>
              <a:t> </a:t>
            </a:r>
            <a:r>
              <a:rPr dirty="0"/>
              <a:t>Metrics</a:t>
            </a:r>
          </a:p>
        </p:txBody>
      </p:sp>
      <p:sp>
        <p:nvSpPr>
          <p:cNvPr id="4" name="object 4"/>
          <p:cNvSpPr/>
          <p:nvPr/>
        </p:nvSpPr>
        <p:spPr>
          <a:xfrm>
            <a:off x="2487167" y="3311652"/>
            <a:ext cx="4168140" cy="838200"/>
          </a:xfrm>
          <a:custGeom>
            <a:avLst/>
            <a:gdLst/>
            <a:ahLst/>
            <a:cxnLst/>
            <a:rect l="l" t="t" r="r" b="b"/>
            <a:pathLst>
              <a:path w="4168140" h="838200">
                <a:moveTo>
                  <a:pt x="0" y="838200"/>
                </a:moveTo>
                <a:lnTo>
                  <a:pt x="4168139" y="838200"/>
                </a:lnTo>
                <a:lnTo>
                  <a:pt x="4168139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35117" y="3743400"/>
            <a:ext cx="3164205" cy="0"/>
          </a:xfrm>
          <a:custGeom>
            <a:avLst/>
            <a:gdLst/>
            <a:ahLst/>
            <a:cxnLst/>
            <a:rect l="l" t="t" r="r" b="b"/>
            <a:pathLst>
              <a:path w="3164204">
                <a:moveTo>
                  <a:pt x="0" y="0"/>
                </a:moveTo>
                <a:lnTo>
                  <a:pt x="3164189" y="0"/>
                </a:lnTo>
              </a:path>
            </a:pathLst>
          </a:custGeom>
          <a:ln w="114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7167" y="1412747"/>
            <a:ext cx="4170045" cy="838200"/>
          </a:xfrm>
          <a:custGeom>
            <a:avLst/>
            <a:gdLst/>
            <a:ahLst/>
            <a:cxnLst/>
            <a:rect l="l" t="t" r="r" b="b"/>
            <a:pathLst>
              <a:path w="4170045" h="838200">
                <a:moveTo>
                  <a:pt x="0" y="838200"/>
                </a:moveTo>
                <a:lnTo>
                  <a:pt x="4169663" y="838200"/>
                </a:lnTo>
                <a:lnTo>
                  <a:pt x="4169663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7E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35134" y="1844496"/>
            <a:ext cx="3165475" cy="0"/>
          </a:xfrm>
          <a:custGeom>
            <a:avLst/>
            <a:gdLst/>
            <a:ahLst/>
            <a:cxnLst/>
            <a:rect l="l" t="t" r="r" b="b"/>
            <a:pathLst>
              <a:path w="3165475">
                <a:moveTo>
                  <a:pt x="0" y="0"/>
                </a:moveTo>
                <a:lnTo>
                  <a:pt x="3165369" y="0"/>
                </a:lnTo>
              </a:path>
            </a:pathLst>
          </a:custGeom>
          <a:ln w="114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46504" y="5183123"/>
            <a:ext cx="5651500" cy="838200"/>
          </a:xfrm>
          <a:custGeom>
            <a:avLst/>
            <a:gdLst/>
            <a:ahLst/>
            <a:cxnLst/>
            <a:rect l="l" t="t" r="r" b="b"/>
            <a:pathLst>
              <a:path w="5651500" h="838200">
                <a:moveTo>
                  <a:pt x="0" y="838200"/>
                </a:moveTo>
                <a:lnTo>
                  <a:pt x="5650992" y="838200"/>
                </a:lnTo>
                <a:lnTo>
                  <a:pt x="5650992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4442" y="5614872"/>
            <a:ext cx="4658360" cy="0"/>
          </a:xfrm>
          <a:custGeom>
            <a:avLst/>
            <a:gdLst/>
            <a:ahLst/>
            <a:cxnLst/>
            <a:rect l="l" t="t" r="r" b="b"/>
            <a:pathLst>
              <a:path w="4658360">
                <a:moveTo>
                  <a:pt x="0" y="0"/>
                </a:moveTo>
                <a:lnTo>
                  <a:pt x="4658290" y="0"/>
                </a:lnTo>
              </a:path>
            </a:pathLst>
          </a:custGeom>
          <a:ln w="12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625" y="810943"/>
            <a:ext cx="8206740" cy="5253361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457200" indent="-342900">
              <a:lnSpc>
                <a:spcPct val="100000"/>
              </a:lnSpc>
              <a:spcBef>
                <a:spcPts val="1285"/>
              </a:spcBef>
              <a:buSzPct val="120000"/>
              <a:buFont typeface="Arial"/>
              <a:buChar char="•"/>
              <a:tabLst>
                <a:tab pos="456565" algn="l"/>
                <a:tab pos="4572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 coverage (FC): </a:t>
            </a:r>
            <a:r>
              <a:rPr sz="2000" b="1" dirty="0">
                <a:latin typeface="Arial"/>
                <a:cs typeface="Arial"/>
              </a:rPr>
              <a:t>measure quality of test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set</a:t>
            </a:r>
            <a:endParaRPr sz="2000" dirty="0">
              <a:latin typeface="Arial"/>
              <a:cs typeface="Arial"/>
            </a:endParaRPr>
          </a:p>
          <a:p>
            <a:pPr marL="691515" algn="ctr">
              <a:lnSpc>
                <a:spcPct val="100000"/>
              </a:lnSpc>
              <a:spcBef>
                <a:spcPts val="1355"/>
              </a:spcBef>
              <a:tabLst>
                <a:tab pos="2046605" algn="l"/>
                <a:tab pos="3183255" algn="l"/>
              </a:tabLst>
            </a:pPr>
            <a:r>
              <a:rPr sz="2250" i="1" dirty="0">
                <a:latin typeface="Times New Roman"/>
                <a:cs typeface="Times New Roman"/>
              </a:rPr>
              <a:t>number</a:t>
            </a:r>
            <a:r>
              <a:rPr sz="2250" i="1" spc="229" dirty="0">
                <a:latin typeface="Times New Roman"/>
                <a:cs typeface="Times New Roman"/>
              </a:rPr>
              <a:t> </a:t>
            </a:r>
            <a:r>
              <a:rPr sz="2250" i="1" spc="5" dirty="0">
                <a:latin typeface="Times New Roman"/>
                <a:cs typeface="Times New Roman"/>
              </a:rPr>
              <a:t>of	</a:t>
            </a:r>
            <a:r>
              <a:rPr sz="2250" b="1" i="1" spc="-5" dirty="0">
                <a:latin typeface="TimesNewRomanPS-BoldItalicMT"/>
                <a:cs typeface="TimesNewRomanPS-BoldItalicMT"/>
              </a:rPr>
              <a:t>detected	</a:t>
            </a:r>
            <a:r>
              <a:rPr sz="2250" i="1" dirty="0">
                <a:latin typeface="Times New Roman"/>
                <a:cs typeface="Times New Roman"/>
              </a:rPr>
              <a:t>faults</a:t>
            </a:r>
            <a:r>
              <a:rPr sz="2250" i="1" spc="10" dirty="0">
                <a:latin typeface="Times New Roman"/>
                <a:cs typeface="Times New Roman"/>
              </a:rPr>
              <a:t> </a:t>
            </a:r>
            <a:r>
              <a:rPr lang="en-US" sz="3375" spc="-120" baseline="-34567" dirty="0">
                <a:latin typeface="Times New Roman"/>
                <a:cs typeface="Times New Roman"/>
              </a:rPr>
              <a:t>X 1</a:t>
            </a:r>
            <a:r>
              <a:rPr sz="3375" spc="-120" baseline="-34567" dirty="0">
                <a:latin typeface="Times New Roman"/>
                <a:cs typeface="Times New Roman"/>
              </a:rPr>
              <a:t>00%</a:t>
            </a:r>
            <a:endParaRPr sz="3375" baseline="-34567" dirty="0">
              <a:latin typeface="Times New Roman"/>
              <a:cs typeface="Times New Roman"/>
            </a:endParaRPr>
          </a:p>
          <a:p>
            <a:pPr marR="222885" algn="ctr">
              <a:lnSpc>
                <a:spcPct val="100000"/>
              </a:lnSpc>
              <a:spcBef>
                <a:spcPts val="475"/>
              </a:spcBef>
              <a:tabLst>
                <a:tab pos="1358265" algn="l"/>
                <a:tab pos="2048510" algn="l"/>
              </a:tabLst>
            </a:pPr>
            <a:r>
              <a:rPr sz="2250" i="1" dirty="0">
                <a:latin typeface="Times New Roman"/>
                <a:cs typeface="Times New Roman"/>
              </a:rPr>
              <a:t>number</a:t>
            </a:r>
            <a:r>
              <a:rPr sz="2250" i="1" spc="225" dirty="0">
                <a:latin typeface="Times New Roman"/>
                <a:cs typeface="Times New Roman"/>
              </a:rPr>
              <a:t> </a:t>
            </a:r>
            <a:r>
              <a:rPr sz="2250" i="1" spc="5" dirty="0">
                <a:latin typeface="Times New Roman"/>
                <a:cs typeface="Times New Roman"/>
              </a:rPr>
              <a:t>of	</a:t>
            </a:r>
            <a:r>
              <a:rPr sz="2250" b="1" i="1" dirty="0">
                <a:latin typeface="TimesNewRomanPS-BoldItalicMT"/>
                <a:cs typeface="TimesNewRomanPS-BoldItalicMT"/>
              </a:rPr>
              <a:t>total	</a:t>
            </a:r>
            <a:r>
              <a:rPr sz="2250" i="1" dirty="0">
                <a:latin typeface="Times New Roman"/>
                <a:cs typeface="Times New Roman"/>
              </a:rPr>
              <a:t>faults</a:t>
            </a:r>
            <a:endParaRPr sz="2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 dirty="0">
              <a:latin typeface="Times New Roman"/>
              <a:cs typeface="Times New Roman"/>
            </a:endParaRPr>
          </a:p>
          <a:p>
            <a:pPr marL="457200" indent="-342900">
              <a:lnSpc>
                <a:spcPct val="100000"/>
              </a:lnSpc>
              <a:spcBef>
                <a:spcPts val="1895"/>
              </a:spcBef>
              <a:buSzPct val="120000"/>
              <a:buFont typeface="Arial"/>
              <a:buChar char="•"/>
              <a:tabLst>
                <a:tab pos="456565" algn="l"/>
                <a:tab pos="4572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 coverage : </a:t>
            </a:r>
            <a:r>
              <a:rPr sz="2000" b="1" dirty="0">
                <a:latin typeface="Arial"/>
                <a:cs typeface="Arial"/>
              </a:rPr>
              <a:t>measure quality of test set </a:t>
            </a:r>
            <a:r>
              <a:rPr lang="en-US" sz="2000" b="1" dirty="0">
                <a:latin typeface="Arial"/>
                <a:cs typeface="Arial"/>
              </a:rPr>
              <a:t>for </a:t>
            </a:r>
            <a:r>
              <a:rPr sz="2000" b="1" dirty="0">
                <a:latin typeface="Arial"/>
                <a:cs typeface="Arial"/>
              </a:rPr>
              <a:t>testable faults</a:t>
            </a:r>
            <a:endParaRPr sz="2000" dirty="0">
              <a:latin typeface="Arial"/>
              <a:cs typeface="Arial"/>
            </a:endParaRPr>
          </a:p>
          <a:p>
            <a:pPr marL="690245" algn="ctr">
              <a:lnSpc>
                <a:spcPct val="100000"/>
              </a:lnSpc>
              <a:spcBef>
                <a:spcPts val="1905"/>
              </a:spcBef>
              <a:tabLst>
                <a:tab pos="2044700" algn="l"/>
                <a:tab pos="3180715" algn="l"/>
              </a:tabLst>
            </a:pPr>
            <a:r>
              <a:rPr sz="2250" i="1" dirty="0">
                <a:latin typeface="Times New Roman"/>
                <a:cs typeface="Times New Roman"/>
              </a:rPr>
              <a:t>number</a:t>
            </a:r>
            <a:r>
              <a:rPr sz="2250" i="1" spc="225" dirty="0">
                <a:latin typeface="Times New Roman"/>
                <a:cs typeface="Times New Roman"/>
              </a:rPr>
              <a:t> </a:t>
            </a:r>
            <a:r>
              <a:rPr sz="2250" i="1" spc="5" dirty="0">
                <a:latin typeface="Times New Roman"/>
                <a:cs typeface="Times New Roman"/>
              </a:rPr>
              <a:t>of	</a:t>
            </a:r>
            <a:r>
              <a:rPr sz="2250" b="1" i="1" spc="-5" dirty="0">
                <a:latin typeface="TimesNewRomanPS-BoldItalicMT"/>
                <a:cs typeface="TimesNewRomanPS-BoldItalicMT"/>
              </a:rPr>
              <a:t>detected	</a:t>
            </a:r>
            <a:r>
              <a:rPr sz="2250" i="1" dirty="0">
                <a:latin typeface="Times New Roman"/>
                <a:cs typeface="Times New Roman"/>
              </a:rPr>
              <a:t>faults</a:t>
            </a:r>
            <a:r>
              <a:rPr sz="2250" i="1" spc="5" dirty="0">
                <a:latin typeface="Times New Roman"/>
                <a:cs typeface="Times New Roman"/>
              </a:rPr>
              <a:t> </a:t>
            </a:r>
            <a:r>
              <a:rPr lang="en-US" sz="3375" spc="-120" baseline="-34567" dirty="0">
                <a:latin typeface="Times New Roman"/>
                <a:cs typeface="Times New Roman"/>
              </a:rPr>
              <a:t>X 1</a:t>
            </a:r>
            <a:r>
              <a:rPr sz="3375" spc="-120" baseline="-34567" dirty="0">
                <a:latin typeface="Times New Roman"/>
                <a:cs typeface="Times New Roman"/>
              </a:rPr>
              <a:t>00%</a:t>
            </a:r>
            <a:endParaRPr sz="3375" baseline="-34567" dirty="0">
              <a:latin typeface="Times New Roman"/>
              <a:cs typeface="Times New Roman"/>
            </a:endParaRPr>
          </a:p>
          <a:p>
            <a:pPr marR="224154" algn="ctr">
              <a:lnSpc>
                <a:spcPct val="100000"/>
              </a:lnSpc>
              <a:spcBef>
                <a:spcPts val="475"/>
              </a:spcBef>
              <a:tabLst>
                <a:tab pos="1358265" algn="l"/>
                <a:tab pos="2411730" algn="l"/>
              </a:tabLst>
            </a:pPr>
            <a:r>
              <a:rPr sz="2250" i="1" dirty="0">
                <a:latin typeface="Times New Roman"/>
                <a:cs typeface="Times New Roman"/>
              </a:rPr>
              <a:t>number</a:t>
            </a:r>
            <a:r>
              <a:rPr sz="2250" i="1" spc="225" dirty="0">
                <a:latin typeface="Times New Roman"/>
                <a:cs typeface="Times New Roman"/>
              </a:rPr>
              <a:t> </a:t>
            </a:r>
            <a:r>
              <a:rPr sz="2250" i="1" spc="5" dirty="0">
                <a:latin typeface="Times New Roman"/>
                <a:cs typeface="Times New Roman"/>
              </a:rPr>
              <a:t>of	</a:t>
            </a:r>
            <a:r>
              <a:rPr sz="2250" b="1" i="1" spc="-5" dirty="0">
                <a:latin typeface="TimesNewRomanPS-BoldItalicMT"/>
                <a:cs typeface="TimesNewRomanPS-BoldItalicMT"/>
              </a:rPr>
              <a:t>testable	</a:t>
            </a:r>
            <a:r>
              <a:rPr sz="2250" i="1" dirty="0">
                <a:latin typeface="Times New Roman"/>
                <a:cs typeface="Times New Roman"/>
              </a:rPr>
              <a:t>faults</a:t>
            </a:r>
            <a:endParaRPr sz="2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 dirty="0">
              <a:latin typeface="Times New Roman"/>
              <a:cs typeface="Times New Roman"/>
            </a:endParaRPr>
          </a:p>
          <a:p>
            <a:pPr marL="457200" indent="-342900">
              <a:lnSpc>
                <a:spcPct val="100000"/>
              </a:lnSpc>
              <a:buSzPct val="120000"/>
              <a:buFont typeface="Arial"/>
              <a:buChar char="•"/>
              <a:tabLst>
                <a:tab pos="456565" algn="l"/>
                <a:tab pos="4572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ATPG effectiveness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000" b="1" dirty="0">
                <a:latin typeface="Arial"/>
                <a:cs typeface="Arial"/>
              </a:rPr>
              <a:t>measure quality of ATPG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algorithm</a:t>
            </a:r>
            <a:endParaRPr sz="2000" dirty="0">
              <a:latin typeface="Arial"/>
              <a:cs typeface="Arial"/>
            </a:endParaRPr>
          </a:p>
          <a:p>
            <a:pPr marL="702310" algn="ctr">
              <a:lnSpc>
                <a:spcPct val="100000"/>
              </a:lnSpc>
              <a:spcBef>
                <a:spcPts val="2235"/>
              </a:spcBef>
              <a:tabLst>
                <a:tab pos="2057400" algn="l"/>
                <a:tab pos="4686935" algn="l"/>
              </a:tabLst>
            </a:pPr>
            <a:r>
              <a:rPr sz="2250" i="1" spc="-5" dirty="0">
                <a:latin typeface="Times New Roman"/>
                <a:cs typeface="Times New Roman"/>
              </a:rPr>
              <a:t>number</a:t>
            </a:r>
            <a:r>
              <a:rPr sz="2250" i="1" spc="24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of	</a:t>
            </a:r>
            <a:r>
              <a:rPr sz="2250" b="1" i="1" spc="-5" dirty="0">
                <a:latin typeface="TimesNewRomanPS-BoldItalicMT"/>
                <a:cs typeface="TimesNewRomanPS-BoldItalicMT"/>
              </a:rPr>
              <a:t>detected</a:t>
            </a:r>
            <a:r>
              <a:rPr sz="2250" b="1" i="1" spc="145" dirty="0">
                <a:latin typeface="TimesNewRomanPS-BoldItalicMT"/>
                <a:cs typeface="TimesNewRomanPS-BoldItalicMT"/>
              </a:rPr>
              <a:t> </a:t>
            </a:r>
            <a:r>
              <a:rPr sz="2250" spc="-50" dirty="0">
                <a:latin typeface="Arial"/>
                <a:cs typeface="Arial"/>
              </a:rPr>
              <a:t>+</a:t>
            </a:r>
            <a:r>
              <a:rPr sz="2250" spc="-170" dirty="0">
                <a:latin typeface="Arial"/>
                <a:cs typeface="Arial"/>
              </a:rPr>
              <a:t> </a:t>
            </a:r>
            <a:r>
              <a:rPr sz="2250" b="1" i="1" spc="-5" dirty="0">
                <a:latin typeface="TimesNewRomanPS-BoldItalicMT"/>
                <a:cs typeface="TimesNewRomanPS-BoldItalicMT"/>
              </a:rPr>
              <a:t>untestable	</a:t>
            </a:r>
            <a:r>
              <a:rPr sz="2250" i="1" spc="-5" dirty="0">
                <a:latin typeface="Times New Roman"/>
                <a:cs typeface="Times New Roman"/>
              </a:rPr>
              <a:t>faults</a:t>
            </a:r>
            <a:r>
              <a:rPr sz="2250" i="1" spc="15" dirty="0">
                <a:latin typeface="Times New Roman"/>
                <a:cs typeface="Times New Roman"/>
              </a:rPr>
              <a:t> </a:t>
            </a:r>
            <a:r>
              <a:rPr lang="en-US" sz="3375" spc="-120" baseline="-34567" dirty="0">
                <a:latin typeface="Times New Roman"/>
                <a:cs typeface="Times New Roman"/>
              </a:rPr>
              <a:t>X 1</a:t>
            </a:r>
            <a:r>
              <a:rPr sz="3375" spc="-120" baseline="-34567" dirty="0">
                <a:latin typeface="Times New Roman"/>
                <a:cs typeface="Times New Roman"/>
              </a:rPr>
              <a:t>00%</a:t>
            </a:r>
            <a:endParaRPr sz="3375" baseline="-34567" dirty="0">
              <a:latin typeface="Times New Roman"/>
              <a:cs typeface="Times New Roman"/>
            </a:endParaRPr>
          </a:p>
          <a:p>
            <a:pPr marR="213360" algn="ctr">
              <a:lnSpc>
                <a:spcPct val="100000"/>
              </a:lnSpc>
              <a:spcBef>
                <a:spcPts val="475"/>
              </a:spcBef>
              <a:tabLst>
                <a:tab pos="1358900" algn="l"/>
                <a:tab pos="2049145" algn="l"/>
              </a:tabLst>
            </a:pPr>
            <a:r>
              <a:rPr sz="2250" i="1" spc="-5" dirty="0">
                <a:latin typeface="Times New Roman"/>
                <a:cs typeface="Times New Roman"/>
              </a:rPr>
              <a:t>number</a:t>
            </a:r>
            <a:r>
              <a:rPr sz="2250" i="1" spc="240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of	</a:t>
            </a:r>
            <a:r>
              <a:rPr sz="2250" b="1" i="1" spc="-5" dirty="0">
                <a:latin typeface="TimesNewRomanPS-BoldItalicMT"/>
                <a:cs typeface="TimesNewRomanPS-BoldItalicMT"/>
              </a:rPr>
              <a:t>total	</a:t>
            </a:r>
            <a:r>
              <a:rPr sz="2250" i="1" spc="-5" dirty="0">
                <a:latin typeface="Times New Roman"/>
                <a:cs typeface="Times New Roman"/>
              </a:rPr>
              <a:t>faults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05325"/>
              </p:ext>
            </p:extLst>
          </p:nvPr>
        </p:nvGraphicFramePr>
        <p:xfrm>
          <a:off x="1820862" y="1290637"/>
          <a:ext cx="4768213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Item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Number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30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34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Detected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,0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Untestable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230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Undetected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AF5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Coverage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12700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AF50"/>
                      </a:solidFill>
                      <a:prstDash val="soli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4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Coverage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319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ATPG</a:t>
                      </a:r>
                      <a:r>
                        <a:rPr sz="1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effectiveness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2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AF5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3">
            <a:extLst>
              <a:ext uri="{FF2B5EF4-FFF2-40B4-BE49-F238E27FC236}">
                <a16:creationId xmlns:a16="http://schemas.microsoft.com/office/drawing/2014/main" id="{48FC9B98-1601-49D0-3DA2-D4298F8A6170}"/>
              </a:ext>
            </a:extLst>
          </p:cNvPr>
          <p:cNvSpPr txBox="1"/>
          <p:nvPr/>
        </p:nvSpPr>
        <p:spPr>
          <a:xfrm>
            <a:off x="5308727" y="3733864"/>
            <a:ext cx="1205230" cy="1183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spc="-5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0</a:t>
            </a:r>
            <a:r>
              <a:rPr sz="1800" b="1" spc="-5" dirty="0">
                <a:latin typeface="Arial"/>
                <a:cs typeface="Arial"/>
              </a:rPr>
              <a:t>0</a:t>
            </a:r>
            <a:r>
              <a:rPr sz="1800" b="1" spc="-15" dirty="0">
                <a:latin typeface="Arial"/>
                <a:cs typeface="Arial"/>
              </a:rPr>
              <a:t>0</a:t>
            </a:r>
            <a:r>
              <a:rPr sz="1800" b="1" dirty="0">
                <a:latin typeface="Arial"/>
                <a:cs typeface="Arial"/>
              </a:rPr>
              <a:t>/1,2</a:t>
            </a:r>
            <a:r>
              <a:rPr sz="1800" b="1" spc="-15" dirty="0">
                <a:latin typeface="Arial"/>
                <a:cs typeface="Arial"/>
              </a:rPr>
              <a:t>3</a:t>
            </a:r>
            <a:r>
              <a:rPr sz="1800" b="1" spc="-5" dirty="0"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r>
              <a:rPr sz="1800" b="1" spc="-5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0</a:t>
            </a:r>
            <a:r>
              <a:rPr sz="1800" b="1" spc="-5" dirty="0">
                <a:latin typeface="Arial"/>
                <a:cs typeface="Arial"/>
              </a:rPr>
              <a:t>0</a:t>
            </a:r>
            <a:r>
              <a:rPr sz="1800" b="1" spc="-15" dirty="0">
                <a:latin typeface="Arial"/>
                <a:cs typeface="Arial"/>
              </a:rPr>
              <a:t>0</a:t>
            </a:r>
            <a:r>
              <a:rPr sz="1800" b="1" dirty="0">
                <a:latin typeface="Arial"/>
                <a:cs typeface="Arial"/>
              </a:rPr>
              <a:t>/1,0</a:t>
            </a:r>
            <a:r>
              <a:rPr sz="1800" b="1" spc="-15" dirty="0">
                <a:latin typeface="Arial"/>
                <a:cs typeface="Arial"/>
              </a:rPr>
              <a:t>0</a:t>
            </a:r>
            <a:r>
              <a:rPr sz="1800" b="1" spc="-5" dirty="0"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r>
              <a:rPr sz="1800" b="1" spc="-5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2</a:t>
            </a:r>
            <a:r>
              <a:rPr sz="1800" b="1" spc="-5" dirty="0">
                <a:latin typeface="Arial"/>
                <a:cs typeface="Arial"/>
              </a:rPr>
              <a:t>3</a:t>
            </a:r>
            <a:r>
              <a:rPr sz="1800" b="1" spc="-15" dirty="0">
                <a:latin typeface="Arial"/>
                <a:cs typeface="Arial"/>
              </a:rPr>
              <a:t>0</a:t>
            </a:r>
            <a:r>
              <a:rPr sz="1800" b="1" dirty="0">
                <a:latin typeface="Arial"/>
                <a:cs typeface="Arial"/>
              </a:rPr>
              <a:t>/1,2</a:t>
            </a:r>
            <a:r>
              <a:rPr sz="1800" b="1" spc="-15" dirty="0">
                <a:latin typeface="Arial"/>
                <a:cs typeface="Arial"/>
              </a:rPr>
              <a:t>3</a:t>
            </a:r>
            <a:r>
              <a:rPr sz="1800" b="1" spc="-5" dirty="0"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644" y="164414"/>
            <a:ext cx="4551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929764" algn="l"/>
              </a:tabLst>
            </a:pPr>
            <a:r>
              <a:rPr dirty="0"/>
              <a:t>Revisit:	DL</a:t>
            </a:r>
            <a:r>
              <a:rPr spc="-55" dirty="0"/>
              <a:t> </a:t>
            </a:r>
            <a:r>
              <a:rPr spc="-5" dirty="0"/>
              <a:t>=1-Y</a:t>
            </a:r>
            <a:r>
              <a:rPr sz="3600" spc="-7" baseline="25462" dirty="0"/>
              <a:t>(1-FC)</a:t>
            </a:r>
            <a:endParaRPr sz="3600" baseline="25462"/>
          </a:p>
        </p:txBody>
      </p:sp>
      <p:sp>
        <p:nvSpPr>
          <p:cNvPr id="3" name="object 3"/>
          <p:cNvSpPr/>
          <p:nvPr/>
        </p:nvSpPr>
        <p:spPr>
          <a:xfrm>
            <a:off x="1526286" y="3083814"/>
            <a:ext cx="1801495" cy="1455420"/>
          </a:xfrm>
          <a:custGeom>
            <a:avLst/>
            <a:gdLst/>
            <a:ahLst/>
            <a:cxnLst/>
            <a:rect l="l" t="t" r="r" b="b"/>
            <a:pathLst>
              <a:path w="1801495" h="1455420">
                <a:moveTo>
                  <a:pt x="0" y="727710"/>
                </a:moveTo>
                <a:lnTo>
                  <a:pt x="1528" y="684946"/>
                </a:lnTo>
                <a:lnTo>
                  <a:pt x="6059" y="642834"/>
                </a:lnTo>
                <a:lnTo>
                  <a:pt x="13506" y="601441"/>
                </a:lnTo>
                <a:lnTo>
                  <a:pt x="23786" y="560836"/>
                </a:lnTo>
                <a:lnTo>
                  <a:pt x="36814" y="521087"/>
                </a:lnTo>
                <a:lnTo>
                  <a:pt x="52505" y="482262"/>
                </a:lnTo>
                <a:lnTo>
                  <a:pt x="70776" y="444430"/>
                </a:lnTo>
                <a:lnTo>
                  <a:pt x="91542" y="407658"/>
                </a:lnTo>
                <a:lnTo>
                  <a:pt x="114717" y="372016"/>
                </a:lnTo>
                <a:lnTo>
                  <a:pt x="140219" y="337570"/>
                </a:lnTo>
                <a:lnTo>
                  <a:pt x="167962" y="304389"/>
                </a:lnTo>
                <a:lnTo>
                  <a:pt x="197862" y="272542"/>
                </a:lnTo>
                <a:lnTo>
                  <a:pt x="229834" y="242097"/>
                </a:lnTo>
                <a:lnTo>
                  <a:pt x="263794" y="213121"/>
                </a:lnTo>
                <a:lnTo>
                  <a:pt x="299658" y="185684"/>
                </a:lnTo>
                <a:lnTo>
                  <a:pt x="337341" y="159853"/>
                </a:lnTo>
                <a:lnTo>
                  <a:pt x="376759" y="135696"/>
                </a:lnTo>
                <a:lnTo>
                  <a:pt x="417826" y="113282"/>
                </a:lnTo>
                <a:lnTo>
                  <a:pt x="460460" y="92680"/>
                </a:lnTo>
                <a:lnTo>
                  <a:pt x="504575" y="73956"/>
                </a:lnTo>
                <a:lnTo>
                  <a:pt x="550086" y="57179"/>
                </a:lnTo>
                <a:lnTo>
                  <a:pt x="596910" y="42418"/>
                </a:lnTo>
                <a:lnTo>
                  <a:pt x="644962" y="29741"/>
                </a:lnTo>
                <a:lnTo>
                  <a:pt x="694157" y="19216"/>
                </a:lnTo>
                <a:lnTo>
                  <a:pt x="744411" y="10911"/>
                </a:lnTo>
                <a:lnTo>
                  <a:pt x="795640" y="4895"/>
                </a:lnTo>
                <a:lnTo>
                  <a:pt x="847759" y="1235"/>
                </a:lnTo>
                <a:lnTo>
                  <a:pt x="900683" y="0"/>
                </a:lnTo>
                <a:lnTo>
                  <a:pt x="953608" y="1235"/>
                </a:lnTo>
                <a:lnTo>
                  <a:pt x="1005727" y="4895"/>
                </a:lnTo>
                <a:lnTo>
                  <a:pt x="1056956" y="10911"/>
                </a:lnTo>
                <a:lnTo>
                  <a:pt x="1107210" y="19216"/>
                </a:lnTo>
                <a:lnTo>
                  <a:pt x="1156405" y="29741"/>
                </a:lnTo>
                <a:lnTo>
                  <a:pt x="1204457" y="42418"/>
                </a:lnTo>
                <a:lnTo>
                  <a:pt x="1251281" y="57179"/>
                </a:lnTo>
                <a:lnTo>
                  <a:pt x="1296792" y="73956"/>
                </a:lnTo>
                <a:lnTo>
                  <a:pt x="1340907" y="92680"/>
                </a:lnTo>
                <a:lnTo>
                  <a:pt x="1383541" y="113282"/>
                </a:lnTo>
                <a:lnTo>
                  <a:pt x="1424608" y="135696"/>
                </a:lnTo>
                <a:lnTo>
                  <a:pt x="1464026" y="159853"/>
                </a:lnTo>
                <a:lnTo>
                  <a:pt x="1501709" y="185684"/>
                </a:lnTo>
                <a:lnTo>
                  <a:pt x="1537573" y="213121"/>
                </a:lnTo>
                <a:lnTo>
                  <a:pt x="1571533" y="242097"/>
                </a:lnTo>
                <a:lnTo>
                  <a:pt x="1603505" y="272542"/>
                </a:lnTo>
                <a:lnTo>
                  <a:pt x="1633405" y="304389"/>
                </a:lnTo>
                <a:lnTo>
                  <a:pt x="1661148" y="337570"/>
                </a:lnTo>
                <a:lnTo>
                  <a:pt x="1686650" y="372016"/>
                </a:lnTo>
                <a:lnTo>
                  <a:pt x="1709825" y="407658"/>
                </a:lnTo>
                <a:lnTo>
                  <a:pt x="1730591" y="444430"/>
                </a:lnTo>
                <a:lnTo>
                  <a:pt x="1748862" y="482262"/>
                </a:lnTo>
                <a:lnTo>
                  <a:pt x="1764553" y="521087"/>
                </a:lnTo>
                <a:lnTo>
                  <a:pt x="1777581" y="560836"/>
                </a:lnTo>
                <a:lnTo>
                  <a:pt x="1787861" y="601441"/>
                </a:lnTo>
                <a:lnTo>
                  <a:pt x="1795308" y="642834"/>
                </a:lnTo>
                <a:lnTo>
                  <a:pt x="1799839" y="684946"/>
                </a:lnTo>
                <a:lnTo>
                  <a:pt x="1801367" y="727710"/>
                </a:lnTo>
                <a:lnTo>
                  <a:pt x="1799839" y="770473"/>
                </a:lnTo>
                <a:lnTo>
                  <a:pt x="1795308" y="812585"/>
                </a:lnTo>
                <a:lnTo>
                  <a:pt x="1787861" y="853978"/>
                </a:lnTo>
                <a:lnTo>
                  <a:pt x="1777581" y="894583"/>
                </a:lnTo>
                <a:lnTo>
                  <a:pt x="1764553" y="934332"/>
                </a:lnTo>
                <a:lnTo>
                  <a:pt x="1748862" y="973157"/>
                </a:lnTo>
                <a:lnTo>
                  <a:pt x="1730591" y="1010989"/>
                </a:lnTo>
                <a:lnTo>
                  <a:pt x="1709825" y="1047761"/>
                </a:lnTo>
                <a:lnTo>
                  <a:pt x="1686650" y="1083403"/>
                </a:lnTo>
                <a:lnTo>
                  <a:pt x="1661148" y="1117849"/>
                </a:lnTo>
                <a:lnTo>
                  <a:pt x="1633405" y="1151030"/>
                </a:lnTo>
                <a:lnTo>
                  <a:pt x="1603505" y="1182877"/>
                </a:lnTo>
                <a:lnTo>
                  <a:pt x="1571533" y="1213322"/>
                </a:lnTo>
                <a:lnTo>
                  <a:pt x="1537573" y="1242298"/>
                </a:lnTo>
                <a:lnTo>
                  <a:pt x="1501709" y="1269735"/>
                </a:lnTo>
                <a:lnTo>
                  <a:pt x="1464026" y="1295566"/>
                </a:lnTo>
                <a:lnTo>
                  <a:pt x="1424608" y="1319723"/>
                </a:lnTo>
                <a:lnTo>
                  <a:pt x="1383541" y="1342137"/>
                </a:lnTo>
                <a:lnTo>
                  <a:pt x="1340907" y="1362739"/>
                </a:lnTo>
                <a:lnTo>
                  <a:pt x="1296792" y="1381463"/>
                </a:lnTo>
                <a:lnTo>
                  <a:pt x="1251281" y="1398240"/>
                </a:lnTo>
                <a:lnTo>
                  <a:pt x="1204457" y="1413001"/>
                </a:lnTo>
                <a:lnTo>
                  <a:pt x="1156405" y="1425678"/>
                </a:lnTo>
                <a:lnTo>
                  <a:pt x="1107210" y="1436203"/>
                </a:lnTo>
                <a:lnTo>
                  <a:pt x="1056956" y="1444508"/>
                </a:lnTo>
                <a:lnTo>
                  <a:pt x="1005727" y="1450524"/>
                </a:lnTo>
                <a:lnTo>
                  <a:pt x="953608" y="1454184"/>
                </a:lnTo>
                <a:lnTo>
                  <a:pt x="900683" y="1455420"/>
                </a:lnTo>
                <a:lnTo>
                  <a:pt x="847759" y="1454184"/>
                </a:lnTo>
                <a:lnTo>
                  <a:pt x="795640" y="1450524"/>
                </a:lnTo>
                <a:lnTo>
                  <a:pt x="744411" y="1444508"/>
                </a:lnTo>
                <a:lnTo>
                  <a:pt x="694157" y="1436203"/>
                </a:lnTo>
                <a:lnTo>
                  <a:pt x="644962" y="1425678"/>
                </a:lnTo>
                <a:lnTo>
                  <a:pt x="596910" y="1413001"/>
                </a:lnTo>
                <a:lnTo>
                  <a:pt x="550086" y="1398240"/>
                </a:lnTo>
                <a:lnTo>
                  <a:pt x="504575" y="1381463"/>
                </a:lnTo>
                <a:lnTo>
                  <a:pt x="460460" y="1362739"/>
                </a:lnTo>
                <a:lnTo>
                  <a:pt x="417826" y="1342137"/>
                </a:lnTo>
                <a:lnTo>
                  <a:pt x="376759" y="1319723"/>
                </a:lnTo>
                <a:lnTo>
                  <a:pt x="337341" y="1295566"/>
                </a:lnTo>
                <a:lnTo>
                  <a:pt x="299658" y="1269735"/>
                </a:lnTo>
                <a:lnTo>
                  <a:pt x="263794" y="1242298"/>
                </a:lnTo>
                <a:lnTo>
                  <a:pt x="229834" y="1213322"/>
                </a:lnTo>
                <a:lnTo>
                  <a:pt x="197862" y="1182877"/>
                </a:lnTo>
                <a:lnTo>
                  <a:pt x="167962" y="1151030"/>
                </a:lnTo>
                <a:lnTo>
                  <a:pt x="140219" y="1117849"/>
                </a:lnTo>
                <a:lnTo>
                  <a:pt x="114717" y="1083403"/>
                </a:lnTo>
                <a:lnTo>
                  <a:pt x="91542" y="1047761"/>
                </a:lnTo>
                <a:lnTo>
                  <a:pt x="70776" y="1010989"/>
                </a:lnTo>
                <a:lnTo>
                  <a:pt x="52505" y="973157"/>
                </a:lnTo>
                <a:lnTo>
                  <a:pt x="36814" y="934332"/>
                </a:lnTo>
                <a:lnTo>
                  <a:pt x="23786" y="894583"/>
                </a:lnTo>
                <a:lnTo>
                  <a:pt x="13506" y="853978"/>
                </a:lnTo>
                <a:lnTo>
                  <a:pt x="6059" y="812585"/>
                </a:lnTo>
                <a:lnTo>
                  <a:pt x="1528" y="770473"/>
                </a:lnTo>
                <a:lnTo>
                  <a:pt x="0" y="72771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3074" y="2350770"/>
            <a:ext cx="3089275" cy="2508885"/>
          </a:xfrm>
          <a:custGeom>
            <a:avLst/>
            <a:gdLst/>
            <a:ahLst/>
            <a:cxnLst/>
            <a:rect l="l" t="t" r="r" b="b"/>
            <a:pathLst>
              <a:path w="3089275" h="2508885">
                <a:moveTo>
                  <a:pt x="0" y="1254252"/>
                </a:moveTo>
                <a:lnTo>
                  <a:pt x="895" y="1211135"/>
                </a:lnTo>
                <a:lnTo>
                  <a:pt x="3563" y="1168383"/>
                </a:lnTo>
                <a:lnTo>
                  <a:pt x="7974" y="1126019"/>
                </a:lnTo>
                <a:lnTo>
                  <a:pt x="14099" y="1084067"/>
                </a:lnTo>
                <a:lnTo>
                  <a:pt x="21911" y="1042549"/>
                </a:lnTo>
                <a:lnTo>
                  <a:pt x="31379" y="1001489"/>
                </a:lnTo>
                <a:lnTo>
                  <a:pt x="42476" y="960911"/>
                </a:lnTo>
                <a:lnTo>
                  <a:pt x="55172" y="920838"/>
                </a:lnTo>
                <a:lnTo>
                  <a:pt x="69439" y="881292"/>
                </a:lnTo>
                <a:lnTo>
                  <a:pt x="85248" y="842299"/>
                </a:lnTo>
                <a:lnTo>
                  <a:pt x="102571" y="803880"/>
                </a:lnTo>
                <a:lnTo>
                  <a:pt x="121378" y="766060"/>
                </a:lnTo>
                <a:lnTo>
                  <a:pt x="141641" y="728861"/>
                </a:lnTo>
                <a:lnTo>
                  <a:pt x="163330" y="692307"/>
                </a:lnTo>
                <a:lnTo>
                  <a:pt x="186418" y="656421"/>
                </a:lnTo>
                <a:lnTo>
                  <a:pt x="210876" y="621227"/>
                </a:lnTo>
                <a:lnTo>
                  <a:pt x="236674" y="586748"/>
                </a:lnTo>
                <a:lnTo>
                  <a:pt x="263785" y="553008"/>
                </a:lnTo>
                <a:lnTo>
                  <a:pt x="292178" y="520029"/>
                </a:lnTo>
                <a:lnTo>
                  <a:pt x="321827" y="487835"/>
                </a:lnTo>
                <a:lnTo>
                  <a:pt x="352700" y="456450"/>
                </a:lnTo>
                <a:lnTo>
                  <a:pt x="384771" y="425897"/>
                </a:lnTo>
                <a:lnTo>
                  <a:pt x="418011" y="396198"/>
                </a:lnTo>
                <a:lnTo>
                  <a:pt x="452389" y="367379"/>
                </a:lnTo>
                <a:lnTo>
                  <a:pt x="487879" y="339461"/>
                </a:lnTo>
                <a:lnTo>
                  <a:pt x="524450" y="312469"/>
                </a:lnTo>
                <a:lnTo>
                  <a:pt x="562075" y="286425"/>
                </a:lnTo>
                <a:lnTo>
                  <a:pt x="600724" y="261353"/>
                </a:lnTo>
                <a:lnTo>
                  <a:pt x="640369" y="237276"/>
                </a:lnTo>
                <a:lnTo>
                  <a:pt x="680981" y="214218"/>
                </a:lnTo>
                <a:lnTo>
                  <a:pt x="722531" y="192202"/>
                </a:lnTo>
                <a:lnTo>
                  <a:pt x="764991" y="171252"/>
                </a:lnTo>
                <a:lnTo>
                  <a:pt x="808331" y="151390"/>
                </a:lnTo>
                <a:lnTo>
                  <a:pt x="852524" y="132641"/>
                </a:lnTo>
                <a:lnTo>
                  <a:pt x="897539" y="115027"/>
                </a:lnTo>
                <a:lnTo>
                  <a:pt x="943350" y="98571"/>
                </a:lnTo>
                <a:lnTo>
                  <a:pt x="989925" y="83298"/>
                </a:lnTo>
                <a:lnTo>
                  <a:pt x="1037238" y="69231"/>
                </a:lnTo>
                <a:lnTo>
                  <a:pt x="1085259" y="56392"/>
                </a:lnTo>
                <a:lnTo>
                  <a:pt x="1133960" y="44806"/>
                </a:lnTo>
                <a:lnTo>
                  <a:pt x="1183311" y="34495"/>
                </a:lnTo>
                <a:lnTo>
                  <a:pt x="1233284" y="25483"/>
                </a:lnTo>
                <a:lnTo>
                  <a:pt x="1283850" y="17794"/>
                </a:lnTo>
                <a:lnTo>
                  <a:pt x="1334981" y="11450"/>
                </a:lnTo>
                <a:lnTo>
                  <a:pt x="1386647" y="6476"/>
                </a:lnTo>
                <a:lnTo>
                  <a:pt x="1438821" y="2893"/>
                </a:lnTo>
                <a:lnTo>
                  <a:pt x="1491472" y="727"/>
                </a:lnTo>
                <a:lnTo>
                  <a:pt x="1544574" y="0"/>
                </a:lnTo>
                <a:lnTo>
                  <a:pt x="1597675" y="727"/>
                </a:lnTo>
                <a:lnTo>
                  <a:pt x="1650326" y="2893"/>
                </a:lnTo>
                <a:lnTo>
                  <a:pt x="1702500" y="6476"/>
                </a:lnTo>
                <a:lnTo>
                  <a:pt x="1754166" y="11450"/>
                </a:lnTo>
                <a:lnTo>
                  <a:pt x="1805297" y="17794"/>
                </a:lnTo>
                <a:lnTo>
                  <a:pt x="1855863" y="25483"/>
                </a:lnTo>
                <a:lnTo>
                  <a:pt x="1905836" y="34495"/>
                </a:lnTo>
                <a:lnTo>
                  <a:pt x="1955187" y="44806"/>
                </a:lnTo>
                <a:lnTo>
                  <a:pt x="2003888" y="56392"/>
                </a:lnTo>
                <a:lnTo>
                  <a:pt x="2051909" y="69231"/>
                </a:lnTo>
                <a:lnTo>
                  <a:pt x="2099222" y="83298"/>
                </a:lnTo>
                <a:lnTo>
                  <a:pt x="2145797" y="98571"/>
                </a:lnTo>
                <a:lnTo>
                  <a:pt x="2191608" y="115027"/>
                </a:lnTo>
                <a:lnTo>
                  <a:pt x="2236623" y="132641"/>
                </a:lnTo>
                <a:lnTo>
                  <a:pt x="2280816" y="151390"/>
                </a:lnTo>
                <a:lnTo>
                  <a:pt x="2324156" y="171252"/>
                </a:lnTo>
                <a:lnTo>
                  <a:pt x="2366616" y="192202"/>
                </a:lnTo>
                <a:lnTo>
                  <a:pt x="2408166" y="214218"/>
                </a:lnTo>
                <a:lnTo>
                  <a:pt x="2448778" y="237276"/>
                </a:lnTo>
                <a:lnTo>
                  <a:pt x="2488423" y="261353"/>
                </a:lnTo>
                <a:lnTo>
                  <a:pt x="2527072" y="286425"/>
                </a:lnTo>
                <a:lnTo>
                  <a:pt x="2564697" y="312469"/>
                </a:lnTo>
                <a:lnTo>
                  <a:pt x="2601268" y="339461"/>
                </a:lnTo>
                <a:lnTo>
                  <a:pt x="2636758" y="367379"/>
                </a:lnTo>
                <a:lnTo>
                  <a:pt x="2671136" y="396198"/>
                </a:lnTo>
                <a:lnTo>
                  <a:pt x="2704376" y="425897"/>
                </a:lnTo>
                <a:lnTo>
                  <a:pt x="2736447" y="456450"/>
                </a:lnTo>
                <a:lnTo>
                  <a:pt x="2767320" y="487835"/>
                </a:lnTo>
                <a:lnTo>
                  <a:pt x="2796969" y="520029"/>
                </a:lnTo>
                <a:lnTo>
                  <a:pt x="2825362" y="553008"/>
                </a:lnTo>
                <a:lnTo>
                  <a:pt x="2852473" y="586748"/>
                </a:lnTo>
                <a:lnTo>
                  <a:pt x="2878271" y="621227"/>
                </a:lnTo>
                <a:lnTo>
                  <a:pt x="2902729" y="656421"/>
                </a:lnTo>
                <a:lnTo>
                  <a:pt x="2925817" y="692307"/>
                </a:lnTo>
                <a:lnTo>
                  <a:pt x="2947506" y="728861"/>
                </a:lnTo>
                <a:lnTo>
                  <a:pt x="2967769" y="766060"/>
                </a:lnTo>
                <a:lnTo>
                  <a:pt x="2986576" y="803880"/>
                </a:lnTo>
                <a:lnTo>
                  <a:pt x="3003899" y="842299"/>
                </a:lnTo>
                <a:lnTo>
                  <a:pt x="3019708" y="881292"/>
                </a:lnTo>
                <a:lnTo>
                  <a:pt x="3033975" y="920838"/>
                </a:lnTo>
                <a:lnTo>
                  <a:pt x="3046671" y="960911"/>
                </a:lnTo>
                <a:lnTo>
                  <a:pt x="3057768" y="1001489"/>
                </a:lnTo>
                <a:lnTo>
                  <a:pt x="3067236" y="1042549"/>
                </a:lnTo>
                <a:lnTo>
                  <a:pt x="3075048" y="1084067"/>
                </a:lnTo>
                <a:lnTo>
                  <a:pt x="3081173" y="1126019"/>
                </a:lnTo>
                <a:lnTo>
                  <a:pt x="3085584" y="1168383"/>
                </a:lnTo>
                <a:lnTo>
                  <a:pt x="3088252" y="1211135"/>
                </a:lnTo>
                <a:lnTo>
                  <a:pt x="3089148" y="1254252"/>
                </a:lnTo>
                <a:lnTo>
                  <a:pt x="3088252" y="1297368"/>
                </a:lnTo>
                <a:lnTo>
                  <a:pt x="3085584" y="1340120"/>
                </a:lnTo>
                <a:lnTo>
                  <a:pt x="3081173" y="1382484"/>
                </a:lnTo>
                <a:lnTo>
                  <a:pt x="3075048" y="1424436"/>
                </a:lnTo>
                <a:lnTo>
                  <a:pt x="3067236" y="1465954"/>
                </a:lnTo>
                <a:lnTo>
                  <a:pt x="3057768" y="1507014"/>
                </a:lnTo>
                <a:lnTo>
                  <a:pt x="3046671" y="1547592"/>
                </a:lnTo>
                <a:lnTo>
                  <a:pt x="3033975" y="1587665"/>
                </a:lnTo>
                <a:lnTo>
                  <a:pt x="3019708" y="1627211"/>
                </a:lnTo>
                <a:lnTo>
                  <a:pt x="3003899" y="1666204"/>
                </a:lnTo>
                <a:lnTo>
                  <a:pt x="2986576" y="1704623"/>
                </a:lnTo>
                <a:lnTo>
                  <a:pt x="2967769" y="1742443"/>
                </a:lnTo>
                <a:lnTo>
                  <a:pt x="2947506" y="1779642"/>
                </a:lnTo>
                <a:lnTo>
                  <a:pt x="2925817" y="1816196"/>
                </a:lnTo>
                <a:lnTo>
                  <a:pt x="2902729" y="1852082"/>
                </a:lnTo>
                <a:lnTo>
                  <a:pt x="2878271" y="1887276"/>
                </a:lnTo>
                <a:lnTo>
                  <a:pt x="2852473" y="1921755"/>
                </a:lnTo>
                <a:lnTo>
                  <a:pt x="2825362" y="1955495"/>
                </a:lnTo>
                <a:lnTo>
                  <a:pt x="2796969" y="1988474"/>
                </a:lnTo>
                <a:lnTo>
                  <a:pt x="2767320" y="2020668"/>
                </a:lnTo>
                <a:lnTo>
                  <a:pt x="2736447" y="2052053"/>
                </a:lnTo>
                <a:lnTo>
                  <a:pt x="2704376" y="2082606"/>
                </a:lnTo>
                <a:lnTo>
                  <a:pt x="2671136" y="2112305"/>
                </a:lnTo>
                <a:lnTo>
                  <a:pt x="2636758" y="2141124"/>
                </a:lnTo>
                <a:lnTo>
                  <a:pt x="2601268" y="2169042"/>
                </a:lnTo>
                <a:lnTo>
                  <a:pt x="2564697" y="2196034"/>
                </a:lnTo>
                <a:lnTo>
                  <a:pt x="2527072" y="2222078"/>
                </a:lnTo>
                <a:lnTo>
                  <a:pt x="2488423" y="2247150"/>
                </a:lnTo>
                <a:lnTo>
                  <a:pt x="2448778" y="2271227"/>
                </a:lnTo>
                <a:lnTo>
                  <a:pt x="2408166" y="2294285"/>
                </a:lnTo>
                <a:lnTo>
                  <a:pt x="2366616" y="2316301"/>
                </a:lnTo>
                <a:lnTo>
                  <a:pt x="2324156" y="2337251"/>
                </a:lnTo>
                <a:lnTo>
                  <a:pt x="2280816" y="2357113"/>
                </a:lnTo>
                <a:lnTo>
                  <a:pt x="2236623" y="2375862"/>
                </a:lnTo>
                <a:lnTo>
                  <a:pt x="2191608" y="2393476"/>
                </a:lnTo>
                <a:lnTo>
                  <a:pt x="2145797" y="2409932"/>
                </a:lnTo>
                <a:lnTo>
                  <a:pt x="2099222" y="2425205"/>
                </a:lnTo>
                <a:lnTo>
                  <a:pt x="2051909" y="2439272"/>
                </a:lnTo>
                <a:lnTo>
                  <a:pt x="2003888" y="2452111"/>
                </a:lnTo>
                <a:lnTo>
                  <a:pt x="1955187" y="2463697"/>
                </a:lnTo>
                <a:lnTo>
                  <a:pt x="1905836" y="2474008"/>
                </a:lnTo>
                <a:lnTo>
                  <a:pt x="1855863" y="2483020"/>
                </a:lnTo>
                <a:lnTo>
                  <a:pt x="1805297" y="2490709"/>
                </a:lnTo>
                <a:lnTo>
                  <a:pt x="1754166" y="2497053"/>
                </a:lnTo>
                <a:lnTo>
                  <a:pt x="1702500" y="2502027"/>
                </a:lnTo>
                <a:lnTo>
                  <a:pt x="1650326" y="2505610"/>
                </a:lnTo>
                <a:lnTo>
                  <a:pt x="1597675" y="2507776"/>
                </a:lnTo>
                <a:lnTo>
                  <a:pt x="1544574" y="2508504"/>
                </a:lnTo>
                <a:lnTo>
                  <a:pt x="1491472" y="2507776"/>
                </a:lnTo>
                <a:lnTo>
                  <a:pt x="1438821" y="2505610"/>
                </a:lnTo>
                <a:lnTo>
                  <a:pt x="1386647" y="2502027"/>
                </a:lnTo>
                <a:lnTo>
                  <a:pt x="1334981" y="2497053"/>
                </a:lnTo>
                <a:lnTo>
                  <a:pt x="1283850" y="2490709"/>
                </a:lnTo>
                <a:lnTo>
                  <a:pt x="1233284" y="2483020"/>
                </a:lnTo>
                <a:lnTo>
                  <a:pt x="1183311" y="2474008"/>
                </a:lnTo>
                <a:lnTo>
                  <a:pt x="1133960" y="2463697"/>
                </a:lnTo>
                <a:lnTo>
                  <a:pt x="1085259" y="2452111"/>
                </a:lnTo>
                <a:lnTo>
                  <a:pt x="1037238" y="2439272"/>
                </a:lnTo>
                <a:lnTo>
                  <a:pt x="989925" y="2425205"/>
                </a:lnTo>
                <a:lnTo>
                  <a:pt x="943350" y="2409932"/>
                </a:lnTo>
                <a:lnTo>
                  <a:pt x="897539" y="2393476"/>
                </a:lnTo>
                <a:lnTo>
                  <a:pt x="852524" y="2375862"/>
                </a:lnTo>
                <a:lnTo>
                  <a:pt x="808331" y="2357113"/>
                </a:lnTo>
                <a:lnTo>
                  <a:pt x="764991" y="2337251"/>
                </a:lnTo>
                <a:lnTo>
                  <a:pt x="722531" y="2316301"/>
                </a:lnTo>
                <a:lnTo>
                  <a:pt x="680981" y="2294285"/>
                </a:lnTo>
                <a:lnTo>
                  <a:pt x="640369" y="2271227"/>
                </a:lnTo>
                <a:lnTo>
                  <a:pt x="600724" y="2247150"/>
                </a:lnTo>
                <a:lnTo>
                  <a:pt x="562075" y="2222078"/>
                </a:lnTo>
                <a:lnTo>
                  <a:pt x="524450" y="2196034"/>
                </a:lnTo>
                <a:lnTo>
                  <a:pt x="487879" y="2169042"/>
                </a:lnTo>
                <a:lnTo>
                  <a:pt x="452389" y="2141124"/>
                </a:lnTo>
                <a:lnTo>
                  <a:pt x="418011" y="2112305"/>
                </a:lnTo>
                <a:lnTo>
                  <a:pt x="384771" y="2082606"/>
                </a:lnTo>
                <a:lnTo>
                  <a:pt x="352700" y="2052053"/>
                </a:lnTo>
                <a:lnTo>
                  <a:pt x="321827" y="2020668"/>
                </a:lnTo>
                <a:lnTo>
                  <a:pt x="292178" y="1988474"/>
                </a:lnTo>
                <a:lnTo>
                  <a:pt x="263785" y="1955495"/>
                </a:lnTo>
                <a:lnTo>
                  <a:pt x="236674" y="1921755"/>
                </a:lnTo>
                <a:lnTo>
                  <a:pt x="210876" y="1887276"/>
                </a:lnTo>
                <a:lnTo>
                  <a:pt x="186418" y="1852082"/>
                </a:lnTo>
                <a:lnTo>
                  <a:pt x="163330" y="1816196"/>
                </a:lnTo>
                <a:lnTo>
                  <a:pt x="141641" y="1779642"/>
                </a:lnTo>
                <a:lnTo>
                  <a:pt x="121378" y="1742443"/>
                </a:lnTo>
                <a:lnTo>
                  <a:pt x="102571" y="1704623"/>
                </a:lnTo>
                <a:lnTo>
                  <a:pt x="85248" y="1666204"/>
                </a:lnTo>
                <a:lnTo>
                  <a:pt x="69439" y="1627211"/>
                </a:lnTo>
                <a:lnTo>
                  <a:pt x="55172" y="1587665"/>
                </a:lnTo>
                <a:lnTo>
                  <a:pt x="42476" y="1547592"/>
                </a:lnTo>
                <a:lnTo>
                  <a:pt x="31379" y="1507014"/>
                </a:lnTo>
                <a:lnTo>
                  <a:pt x="21911" y="1465954"/>
                </a:lnTo>
                <a:lnTo>
                  <a:pt x="14099" y="1424436"/>
                </a:lnTo>
                <a:lnTo>
                  <a:pt x="7974" y="1382484"/>
                </a:lnTo>
                <a:lnTo>
                  <a:pt x="3563" y="1340120"/>
                </a:lnTo>
                <a:lnTo>
                  <a:pt x="895" y="1297368"/>
                </a:lnTo>
                <a:lnTo>
                  <a:pt x="0" y="125425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2070" y="5107051"/>
            <a:ext cx="2959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Helvetica"/>
                <a:cs typeface="Helvetica"/>
              </a:rPr>
              <a:t>Fault</a:t>
            </a:r>
            <a:r>
              <a:rPr sz="3200" b="1" spc="-95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Coverage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24144" y="2819400"/>
            <a:ext cx="1789430" cy="1594485"/>
          </a:xfrm>
          <a:custGeom>
            <a:avLst/>
            <a:gdLst/>
            <a:ahLst/>
            <a:cxnLst/>
            <a:rect l="l" t="t" r="r" b="b"/>
            <a:pathLst>
              <a:path w="1789429" h="1594485">
                <a:moveTo>
                  <a:pt x="0" y="797051"/>
                </a:moveTo>
                <a:lnTo>
                  <a:pt x="1416" y="751824"/>
                </a:lnTo>
                <a:lnTo>
                  <a:pt x="5614" y="707258"/>
                </a:lnTo>
                <a:lnTo>
                  <a:pt x="12519" y="663421"/>
                </a:lnTo>
                <a:lnTo>
                  <a:pt x="22055" y="620380"/>
                </a:lnTo>
                <a:lnTo>
                  <a:pt x="34147" y="578203"/>
                </a:lnTo>
                <a:lnTo>
                  <a:pt x="48719" y="536957"/>
                </a:lnTo>
                <a:lnTo>
                  <a:pt x="65695" y="496709"/>
                </a:lnTo>
                <a:lnTo>
                  <a:pt x="85000" y="457526"/>
                </a:lnTo>
                <a:lnTo>
                  <a:pt x="106558" y="419476"/>
                </a:lnTo>
                <a:lnTo>
                  <a:pt x="130295" y="382626"/>
                </a:lnTo>
                <a:lnTo>
                  <a:pt x="156133" y="347044"/>
                </a:lnTo>
                <a:lnTo>
                  <a:pt x="183998" y="312796"/>
                </a:lnTo>
                <a:lnTo>
                  <a:pt x="213815" y="279950"/>
                </a:lnTo>
                <a:lnTo>
                  <a:pt x="245507" y="248574"/>
                </a:lnTo>
                <a:lnTo>
                  <a:pt x="278999" y="218734"/>
                </a:lnTo>
                <a:lnTo>
                  <a:pt x="314215" y="190497"/>
                </a:lnTo>
                <a:lnTo>
                  <a:pt x="351081" y="163932"/>
                </a:lnTo>
                <a:lnTo>
                  <a:pt x="389520" y="139106"/>
                </a:lnTo>
                <a:lnTo>
                  <a:pt x="429456" y="116085"/>
                </a:lnTo>
                <a:lnTo>
                  <a:pt x="470815" y="94937"/>
                </a:lnTo>
                <a:lnTo>
                  <a:pt x="513521" y="75730"/>
                </a:lnTo>
                <a:lnTo>
                  <a:pt x="557499" y="58530"/>
                </a:lnTo>
                <a:lnTo>
                  <a:pt x="602671" y="43405"/>
                </a:lnTo>
                <a:lnTo>
                  <a:pt x="648964" y="30423"/>
                </a:lnTo>
                <a:lnTo>
                  <a:pt x="696302" y="19650"/>
                </a:lnTo>
                <a:lnTo>
                  <a:pt x="744609" y="11154"/>
                </a:lnTo>
                <a:lnTo>
                  <a:pt x="793809" y="5002"/>
                </a:lnTo>
                <a:lnTo>
                  <a:pt x="843827" y="1261"/>
                </a:lnTo>
                <a:lnTo>
                  <a:pt x="894587" y="0"/>
                </a:lnTo>
                <a:lnTo>
                  <a:pt x="945348" y="1261"/>
                </a:lnTo>
                <a:lnTo>
                  <a:pt x="995366" y="5002"/>
                </a:lnTo>
                <a:lnTo>
                  <a:pt x="1044566" y="11154"/>
                </a:lnTo>
                <a:lnTo>
                  <a:pt x="1092873" y="19650"/>
                </a:lnTo>
                <a:lnTo>
                  <a:pt x="1140211" y="30423"/>
                </a:lnTo>
                <a:lnTo>
                  <a:pt x="1186504" y="43405"/>
                </a:lnTo>
                <a:lnTo>
                  <a:pt x="1231676" y="58530"/>
                </a:lnTo>
                <a:lnTo>
                  <a:pt x="1275654" y="75730"/>
                </a:lnTo>
                <a:lnTo>
                  <a:pt x="1318360" y="94937"/>
                </a:lnTo>
                <a:lnTo>
                  <a:pt x="1359719" y="116085"/>
                </a:lnTo>
                <a:lnTo>
                  <a:pt x="1399655" y="139106"/>
                </a:lnTo>
                <a:lnTo>
                  <a:pt x="1438094" y="163932"/>
                </a:lnTo>
                <a:lnTo>
                  <a:pt x="1474960" y="190497"/>
                </a:lnTo>
                <a:lnTo>
                  <a:pt x="1510176" y="218734"/>
                </a:lnTo>
                <a:lnTo>
                  <a:pt x="1543668" y="248574"/>
                </a:lnTo>
                <a:lnTo>
                  <a:pt x="1575360" y="279950"/>
                </a:lnTo>
                <a:lnTo>
                  <a:pt x="1605177" y="312796"/>
                </a:lnTo>
                <a:lnTo>
                  <a:pt x="1633042" y="347044"/>
                </a:lnTo>
                <a:lnTo>
                  <a:pt x="1658880" y="382626"/>
                </a:lnTo>
                <a:lnTo>
                  <a:pt x="1682617" y="419476"/>
                </a:lnTo>
                <a:lnTo>
                  <a:pt x="1704175" y="457526"/>
                </a:lnTo>
                <a:lnTo>
                  <a:pt x="1723480" y="496709"/>
                </a:lnTo>
                <a:lnTo>
                  <a:pt x="1740456" y="536957"/>
                </a:lnTo>
                <a:lnTo>
                  <a:pt x="1755028" y="578203"/>
                </a:lnTo>
                <a:lnTo>
                  <a:pt x="1767120" y="620380"/>
                </a:lnTo>
                <a:lnTo>
                  <a:pt x="1776656" y="663421"/>
                </a:lnTo>
                <a:lnTo>
                  <a:pt x="1783561" y="707258"/>
                </a:lnTo>
                <a:lnTo>
                  <a:pt x="1787759" y="751824"/>
                </a:lnTo>
                <a:lnTo>
                  <a:pt x="1789176" y="797051"/>
                </a:lnTo>
                <a:lnTo>
                  <a:pt x="1787759" y="842279"/>
                </a:lnTo>
                <a:lnTo>
                  <a:pt x="1783561" y="886845"/>
                </a:lnTo>
                <a:lnTo>
                  <a:pt x="1776656" y="930682"/>
                </a:lnTo>
                <a:lnTo>
                  <a:pt x="1767120" y="973723"/>
                </a:lnTo>
                <a:lnTo>
                  <a:pt x="1755028" y="1015900"/>
                </a:lnTo>
                <a:lnTo>
                  <a:pt x="1740456" y="1057146"/>
                </a:lnTo>
                <a:lnTo>
                  <a:pt x="1723480" y="1097394"/>
                </a:lnTo>
                <a:lnTo>
                  <a:pt x="1704175" y="1136577"/>
                </a:lnTo>
                <a:lnTo>
                  <a:pt x="1682617" y="1174627"/>
                </a:lnTo>
                <a:lnTo>
                  <a:pt x="1658880" y="1211477"/>
                </a:lnTo>
                <a:lnTo>
                  <a:pt x="1633042" y="1247059"/>
                </a:lnTo>
                <a:lnTo>
                  <a:pt x="1605177" y="1281307"/>
                </a:lnTo>
                <a:lnTo>
                  <a:pt x="1575360" y="1314153"/>
                </a:lnTo>
                <a:lnTo>
                  <a:pt x="1543668" y="1345529"/>
                </a:lnTo>
                <a:lnTo>
                  <a:pt x="1510176" y="1375369"/>
                </a:lnTo>
                <a:lnTo>
                  <a:pt x="1474960" y="1403606"/>
                </a:lnTo>
                <a:lnTo>
                  <a:pt x="1438094" y="1430171"/>
                </a:lnTo>
                <a:lnTo>
                  <a:pt x="1399655" y="1454997"/>
                </a:lnTo>
                <a:lnTo>
                  <a:pt x="1359719" y="1478018"/>
                </a:lnTo>
                <a:lnTo>
                  <a:pt x="1318360" y="1499166"/>
                </a:lnTo>
                <a:lnTo>
                  <a:pt x="1275654" y="1518373"/>
                </a:lnTo>
                <a:lnTo>
                  <a:pt x="1231676" y="1535573"/>
                </a:lnTo>
                <a:lnTo>
                  <a:pt x="1186504" y="1550698"/>
                </a:lnTo>
                <a:lnTo>
                  <a:pt x="1140211" y="1563680"/>
                </a:lnTo>
                <a:lnTo>
                  <a:pt x="1092873" y="1574453"/>
                </a:lnTo>
                <a:lnTo>
                  <a:pt x="1044566" y="1582949"/>
                </a:lnTo>
                <a:lnTo>
                  <a:pt x="995366" y="1589101"/>
                </a:lnTo>
                <a:lnTo>
                  <a:pt x="945348" y="1592842"/>
                </a:lnTo>
                <a:lnTo>
                  <a:pt x="894587" y="1594104"/>
                </a:lnTo>
                <a:lnTo>
                  <a:pt x="843827" y="1592842"/>
                </a:lnTo>
                <a:lnTo>
                  <a:pt x="793809" y="1589101"/>
                </a:lnTo>
                <a:lnTo>
                  <a:pt x="744609" y="1582949"/>
                </a:lnTo>
                <a:lnTo>
                  <a:pt x="696302" y="1574453"/>
                </a:lnTo>
                <a:lnTo>
                  <a:pt x="648964" y="1563680"/>
                </a:lnTo>
                <a:lnTo>
                  <a:pt x="602671" y="1550698"/>
                </a:lnTo>
                <a:lnTo>
                  <a:pt x="557499" y="1535573"/>
                </a:lnTo>
                <a:lnTo>
                  <a:pt x="513521" y="1518373"/>
                </a:lnTo>
                <a:lnTo>
                  <a:pt x="470815" y="1499166"/>
                </a:lnTo>
                <a:lnTo>
                  <a:pt x="429456" y="1478018"/>
                </a:lnTo>
                <a:lnTo>
                  <a:pt x="389520" y="1454997"/>
                </a:lnTo>
                <a:lnTo>
                  <a:pt x="351081" y="1430171"/>
                </a:lnTo>
                <a:lnTo>
                  <a:pt x="314215" y="1403606"/>
                </a:lnTo>
                <a:lnTo>
                  <a:pt x="278999" y="1375369"/>
                </a:lnTo>
                <a:lnTo>
                  <a:pt x="245507" y="1345529"/>
                </a:lnTo>
                <a:lnTo>
                  <a:pt x="213815" y="1314153"/>
                </a:lnTo>
                <a:lnTo>
                  <a:pt x="183998" y="1281307"/>
                </a:lnTo>
                <a:lnTo>
                  <a:pt x="156133" y="1247059"/>
                </a:lnTo>
                <a:lnTo>
                  <a:pt x="130295" y="1211477"/>
                </a:lnTo>
                <a:lnTo>
                  <a:pt x="106558" y="1174627"/>
                </a:lnTo>
                <a:lnTo>
                  <a:pt x="85000" y="1136577"/>
                </a:lnTo>
                <a:lnTo>
                  <a:pt x="65695" y="1097394"/>
                </a:lnTo>
                <a:lnTo>
                  <a:pt x="48719" y="1057146"/>
                </a:lnTo>
                <a:lnTo>
                  <a:pt x="34147" y="1015900"/>
                </a:lnTo>
                <a:lnTo>
                  <a:pt x="22055" y="973723"/>
                </a:lnTo>
                <a:lnTo>
                  <a:pt x="12519" y="930682"/>
                </a:lnTo>
                <a:lnTo>
                  <a:pt x="5614" y="886845"/>
                </a:lnTo>
                <a:lnTo>
                  <a:pt x="1416" y="842279"/>
                </a:lnTo>
                <a:lnTo>
                  <a:pt x="0" y="797051"/>
                </a:lnTo>
                <a:close/>
              </a:path>
            </a:pathLst>
          </a:custGeom>
          <a:ln w="76200">
            <a:solidFill>
              <a:srgbClr val="959595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31308" y="1767839"/>
            <a:ext cx="3214370" cy="3175000"/>
          </a:xfrm>
          <a:custGeom>
            <a:avLst/>
            <a:gdLst/>
            <a:ahLst/>
            <a:cxnLst/>
            <a:rect l="l" t="t" r="r" b="b"/>
            <a:pathLst>
              <a:path w="3214370" h="3175000">
                <a:moveTo>
                  <a:pt x="0" y="1587246"/>
                </a:moveTo>
                <a:lnTo>
                  <a:pt x="710" y="1539601"/>
                </a:lnTo>
                <a:lnTo>
                  <a:pt x="2827" y="1492306"/>
                </a:lnTo>
                <a:lnTo>
                  <a:pt x="6332" y="1445378"/>
                </a:lnTo>
                <a:lnTo>
                  <a:pt x="11204" y="1398839"/>
                </a:lnTo>
                <a:lnTo>
                  <a:pt x="17423" y="1352707"/>
                </a:lnTo>
                <a:lnTo>
                  <a:pt x="24970" y="1307002"/>
                </a:lnTo>
                <a:lnTo>
                  <a:pt x="33825" y="1261745"/>
                </a:lnTo>
                <a:lnTo>
                  <a:pt x="43967" y="1216953"/>
                </a:lnTo>
                <a:lnTo>
                  <a:pt x="55378" y="1172648"/>
                </a:lnTo>
                <a:lnTo>
                  <a:pt x="68037" y="1128849"/>
                </a:lnTo>
                <a:lnTo>
                  <a:pt x="81924" y="1085575"/>
                </a:lnTo>
                <a:lnTo>
                  <a:pt x="97019" y="1042847"/>
                </a:lnTo>
                <a:lnTo>
                  <a:pt x="113302" y="1000683"/>
                </a:lnTo>
                <a:lnTo>
                  <a:pt x="130755" y="959103"/>
                </a:lnTo>
                <a:lnTo>
                  <a:pt x="149356" y="918128"/>
                </a:lnTo>
                <a:lnTo>
                  <a:pt x="169085" y="877776"/>
                </a:lnTo>
                <a:lnTo>
                  <a:pt x="189924" y="838068"/>
                </a:lnTo>
                <a:lnTo>
                  <a:pt x="211851" y="799022"/>
                </a:lnTo>
                <a:lnTo>
                  <a:pt x="234848" y="760659"/>
                </a:lnTo>
                <a:lnTo>
                  <a:pt x="258894" y="722999"/>
                </a:lnTo>
                <a:lnTo>
                  <a:pt x="283969" y="686060"/>
                </a:lnTo>
                <a:lnTo>
                  <a:pt x="310054" y="649864"/>
                </a:lnTo>
                <a:lnTo>
                  <a:pt x="337129" y="614428"/>
                </a:lnTo>
                <a:lnTo>
                  <a:pt x="365173" y="579773"/>
                </a:lnTo>
                <a:lnTo>
                  <a:pt x="394167" y="545919"/>
                </a:lnTo>
                <a:lnTo>
                  <a:pt x="424091" y="512885"/>
                </a:lnTo>
                <a:lnTo>
                  <a:pt x="454925" y="480691"/>
                </a:lnTo>
                <a:lnTo>
                  <a:pt x="486650" y="449356"/>
                </a:lnTo>
                <a:lnTo>
                  <a:pt x="519244" y="418900"/>
                </a:lnTo>
                <a:lnTo>
                  <a:pt x="552689" y="389344"/>
                </a:lnTo>
                <a:lnTo>
                  <a:pt x="586965" y="360705"/>
                </a:lnTo>
                <a:lnTo>
                  <a:pt x="622051" y="333005"/>
                </a:lnTo>
                <a:lnTo>
                  <a:pt x="657929" y="306263"/>
                </a:lnTo>
                <a:lnTo>
                  <a:pt x="694577" y="280497"/>
                </a:lnTo>
                <a:lnTo>
                  <a:pt x="731976" y="255729"/>
                </a:lnTo>
                <a:lnTo>
                  <a:pt x="770106" y="231978"/>
                </a:lnTo>
                <a:lnTo>
                  <a:pt x="808948" y="209263"/>
                </a:lnTo>
                <a:lnTo>
                  <a:pt x="848481" y="187603"/>
                </a:lnTo>
                <a:lnTo>
                  <a:pt x="888685" y="167020"/>
                </a:lnTo>
                <a:lnTo>
                  <a:pt x="929541" y="147532"/>
                </a:lnTo>
                <a:lnTo>
                  <a:pt x="971029" y="129158"/>
                </a:lnTo>
                <a:lnTo>
                  <a:pt x="1013129" y="111919"/>
                </a:lnTo>
                <a:lnTo>
                  <a:pt x="1055820" y="95835"/>
                </a:lnTo>
                <a:lnTo>
                  <a:pt x="1099084" y="80924"/>
                </a:lnTo>
                <a:lnTo>
                  <a:pt x="1142900" y="67207"/>
                </a:lnTo>
                <a:lnTo>
                  <a:pt x="1187248" y="54703"/>
                </a:lnTo>
                <a:lnTo>
                  <a:pt x="1232109" y="43431"/>
                </a:lnTo>
                <a:lnTo>
                  <a:pt x="1277462" y="33412"/>
                </a:lnTo>
                <a:lnTo>
                  <a:pt x="1323288" y="24666"/>
                </a:lnTo>
                <a:lnTo>
                  <a:pt x="1369567" y="17211"/>
                </a:lnTo>
                <a:lnTo>
                  <a:pt x="1416279" y="11067"/>
                </a:lnTo>
                <a:lnTo>
                  <a:pt x="1463404" y="6254"/>
                </a:lnTo>
                <a:lnTo>
                  <a:pt x="1510922" y="2793"/>
                </a:lnTo>
                <a:lnTo>
                  <a:pt x="1558813" y="701"/>
                </a:lnTo>
                <a:lnTo>
                  <a:pt x="1607058" y="0"/>
                </a:lnTo>
                <a:lnTo>
                  <a:pt x="1655302" y="701"/>
                </a:lnTo>
                <a:lnTo>
                  <a:pt x="1703193" y="2793"/>
                </a:lnTo>
                <a:lnTo>
                  <a:pt x="1750711" y="6254"/>
                </a:lnTo>
                <a:lnTo>
                  <a:pt x="1797836" y="11067"/>
                </a:lnTo>
                <a:lnTo>
                  <a:pt x="1844548" y="17211"/>
                </a:lnTo>
                <a:lnTo>
                  <a:pt x="1890827" y="24666"/>
                </a:lnTo>
                <a:lnTo>
                  <a:pt x="1936653" y="33412"/>
                </a:lnTo>
                <a:lnTo>
                  <a:pt x="1982006" y="43431"/>
                </a:lnTo>
                <a:lnTo>
                  <a:pt x="2026867" y="54703"/>
                </a:lnTo>
                <a:lnTo>
                  <a:pt x="2071215" y="67207"/>
                </a:lnTo>
                <a:lnTo>
                  <a:pt x="2115031" y="80924"/>
                </a:lnTo>
                <a:lnTo>
                  <a:pt x="2158295" y="95835"/>
                </a:lnTo>
                <a:lnTo>
                  <a:pt x="2200986" y="111919"/>
                </a:lnTo>
                <a:lnTo>
                  <a:pt x="2243086" y="129158"/>
                </a:lnTo>
                <a:lnTo>
                  <a:pt x="2284574" y="147532"/>
                </a:lnTo>
                <a:lnTo>
                  <a:pt x="2325430" y="167020"/>
                </a:lnTo>
                <a:lnTo>
                  <a:pt x="2365634" y="187603"/>
                </a:lnTo>
                <a:lnTo>
                  <a:pt x="2405167" y="209263"/>
                </a:lnTo>
                <a:lnTo>
                  <a:pt x="2444009" y="231978"/>
                </a:lnTo>
                <a:lnTo>
                  <a:pt x="2482139" y="255729"/>
                </a:lnTo>
                <a:lnTo>
                  <a:pt x="2519538" y="280497"/>
                </a:lnTo>
                <a:lnTo>
                  <a:pt x="2556186" y="306263"/>
                </a:lnTo>
                <a:lnTo>
                  <a:pt x="2592064" y="333005"/>
                </a:lnTo>
                <a:lnTo>
                  <a:pt x="2627150" y="360705"/>
                </a:lnTo>
                <a:lnTo>
                  <a:pt x="2661426" y="389344"/>
                </a:lnTo>
                <a:lnTo>
                  <a:pt x="2694871" y="418900"/>
                </a:lnTo>
                <a:lnTo>
                  <a:pt x="2727465" y="449356"/>
                </a:lnTo>
                <a:lnTo>
                  <a:pt x="2759190" y="480691"/>
                </a:lnTo>
                <a:lnTo>
                  <a:pt x="2790024" y="512885"/>
                </a:lnTo>
                <a:lnTo>
                  <a:pt x="2819948" y="545919"/>
                </a:lnTo>
                <a:lnTo>
                  <a:pt x="2848942" y="579773"/>
                </a:lnTo>
                <a:lnTo>
                  <a:pt x="2876986" y="614428"/>
                </a:lnTo>
                <a:lnTo>
                  <a:pt x="2904061" y="649864"/>
                </a:lnTo>
                <a:lnTo>
                  <a:pt x="2930146" y="686060"/>
                </a:lnTo>
                <a:lnTo>
                  <a:pt x="2955221" y="722999"/>
                </a:lnTo>
                <a:lnTo>
                  <a:pt x="2979267" y="760659"/>
                </a:lnTo>
                <a:lnTo>
                  <a:pt x="3002264" y="799022"/>
                </a:lnTo>
                <a:lnTo>
                  <a:pt x="3024191" y="838068"/>
                </a:lnTo>
                <a:lnTo>
                  <a:pt x="3045030" y="877776"/>
                </a:lnTo>
                <a:lnTo>
                  <a:pt x="3064759" y="918128"/>
                </a:lnTo>
                <a:lnTo>
                  <a:pt x="3083360" y="959103"/>
                </a:lnTo>
                <a:lnTo>
                  <a:pt x="3100813" y="1000683"/>
                </a:lnTo>
                <a:lnTo>
                  <a:pt x="3117096" y="1042847"/>
                </a:lnTo>
                <a:lnTo>
                  <a:pt x="3132191" y="1085575"/>
                </a:lnTo>
                <a:lnTo>
                  <a:pt x="3146078" y="1128849"/>
                </a:lnTo>
                <a:lnTo>
                  <a:pt x="3158737" y="1172648"/>
                </a:lnTo>
                <a:lnTo>
                  <a:pt x="3170148" y="1216953"/>
                </a:lnTo>
                <a:lnTo>
                  <a:pt x="3180290" y="1261745"/>
                </a:lnTo>
                <a:lnTo>
                  <a:pt x="3189145" y="1307002"/>
                </a:lnTo>
                <a:lnTo>
                  <a:pt x="3196692" y="1352707"/>
                </a:lnTo>
                <a:lnTo>
                  <a:pt x="3202911" y="1398839"/>
                </a:lnTo>
                <a:lnTo>
                  <a:pt x="3207783" y="1445378"/>
                </a:lnTo>
                <a:lnTo>
                  <a:pt x="3211288" y="1492306"/>
                </a:lnTo>
                <a:lnTo>
                  <a:pt x="3213405" y="1539601"/>
                </a:lnTo>
                <a:lnTo>
                  <a:pt x="3214116" y="1587246"/>
                </a:lnTo>
                <a:lnTo>
                  <a:pt x="3213405" y="1634890"/>
                </a:lnTo>
                <a:lnTo>
                  <a:pt x="3211288" y="1682185"/>
                </a:lnTo>
                <a:lnTo>
                  <a:pt x="3207783" y="1729113"/>
                </a:lnTo>
                <a:lnTo>
                  <a:pt x="3202911" y="1775652"/>
                </a:lnTo>
                <a:lnTo>
                  <a:pt x="3196692" y="1821784"/>
                </a:lnTo>
                <a:lnTo>
                  <a:pt x="3189145" y="1867489"/>
                </a:lnTo>
                <a:lnTo>
                  <a:pt x="3180290" y="1912746"/>
                </a:lnTo>
                <a:lnTo>
                  <a:pt x="3170148" y="1957538"/>
                </a:lnTo>
                <a:lnTo>
                  <a:pt x="3158737" y="2001843"/>
                </a:lnTo>
                <a:lnTo>
                  <a:pt x="3146078" y="2045642"/>
                </a:lnTo>
                <a:lnTo>
                  <a:pt x="3132191" y="2088916"/>
                </a:lnTo>
                <a:lnTo>
                  <a:pt x="3117096" y="2131644"/>
                </a:lnTo>
                <a:lnTo>
                  <a:pt x="3100813" y="2173808"/>
                </a:lnTo>
                <a:lnTo>
                  <a:pt x="3083360" y="2215388"/>
                </a:lnTo>
                <a:lnTo>
                  <a:pt x="3064759" y="2256363"/>
                </a:lnTo>
                <a:lnTo>
                  <a:pt x="3045030" y="2296715"/>
                </a:lnTo>
                <a:lnTo>
                  <a:pt x="3024191" y="2336423"/>
                </a:lnTo>
                <a:lnTo>
                  <a:pt x="3002264" y="2375469"/>
                </a:lnTo>
                <a:lnTo>
                  <a:pt x="2979267" y="2413832"/>
                </a:lnTo>
                <a:lnTo>
                  <a:pt x="2955221" y="2451492"/>
                </a:lnTo>
                <a:lnTo>
                  <a:pt x="2930146" y="2488431"/>
                </a:lnTo>
                <a:lnTo>
                  <a:pt x="2904061" y="2524627"/>
                </a:lnTo>
                <a:lnTo>
                  <a:pt x="2876986" y="2560063"/>
                </a:lnTo>
                <a:lnTo>
                  <a:pt x="2848942" y="2594718"/>
                </a:lnTo>
                <a:lnTo>
                  <a:pt x="2819948" y="2628572"/>
                </a:lnTo>
                <a:lnTo>
                  <a:pt x="2790024" y="2661606"/>
                </a:lnTo>
                <a:lnTo>
                  <a:pt x="2759190" y="2693800"/>
                </a:lnTo>
                <a:lnTo>
                  <a:pt x="2727465" y="2725135"/>
                </a:lnTo>
                <a:lnTo>
                  <a:pt x="2694871" y="2755591"/>
                </a:lnTo>
                <a:lnTo>
                  <a:pt x="2661426" y="2785147"/>
                </a:lnTo>
                <a:lnTo>
                  <a:pt x="2627150" y="2813786"/>
                </a:lnTo>
                <a:lnTo>
                  <a:pt x="2592064" y="2841486"/>
                </a:lnTo>
                <a:lnTo>
                  <a:pt x="2556186" y="2868228"/>
                </a:lnTo>
                <a:lnTo>
                  <a:pt x="2519538" y="2893994"/>
                </a:lnTo>
                <a:lnTo>
                  <a:pt x="2482139" y="2918762"/>
                </a:lnTo>
                <a:lnTo>
                  <a:pt x="2444009" y="2942513"/>
                </a:lnTo>
                <a:lnTo>
                  <a:pt x="2405167" y="2965228"/>
                </a:lnTo>
                <a:lnTo>
                  <a:pt x="2365634" y="2986888"/>
                </a:lnTo>
                <a:lnTo>
                  <a:pt x="2325430" y="3007471"/>
                </a:lnTo>
                <a:lnTo>
                  <a:pt x="2284574" y="3026959"/>
                </a:lnTo>
                <a:lnTo>
                  <a:pt x="2243086" y="3045333"/>
                </a:lnTo>
                <a:lnTo>
                  <a:pt x="2200986" y="3062572"/>
                </a:lnTo>
                <a:lnTo>
                  <a:pt x="2158295" y="3078656"/>
                </a:lnTo>
                <a:lnTo>
                  <a:pt x="2115031" y="3093567"/>
                </a:lnTo>
                <a:lnTo>
                  <a:pt x="2071215" y="3107284"/>
                </a:lnTo>
                <a:lnTo>
                  <a:pt x="2026867" y="3119788"/>
                </a:lnTo>
                <a:lnTo>
                  <a:pt x="1982006" y="3131060"/>
                </a:lnTo>
                <a:lnTo>
                  <a:pt x="1936653" y="3141079"/>
                </a:lnTo>
                <a:lnTo>
                  <a:pt x="1890827" y="3149825"/>
                </a:lnTo>
                <a:lnTo>
                  <a:pt x="1844548" y="3157280"/>
                </a:lnTo>
                <a:lnTo>
                  <a:pt x="1797836" y="3163424"/>
                </a:lnTo>
                <a:lnTo>
                  <a:pt x="1750711" y="3168237"/>
                </a:lnTo>
                <a:lnTo>
                  <a:pt x="1703193" y="3171698"/>
                </a:lnTo>
                <a:lnTo>
                  <a:pt x="1655302" y="3173790"/>
                </a:lnTo>
                <a:lnTo>
                  <a:pt x="1607058" y="3174492"/>
                </a:lnTo>
                <a:lnTo>
                  <a:pt x="1558813" y="3173790"/>
                </a:lnTo>
                <a:lnTo>
                  <a:pt x="1510922" y="3171698"/>
                </a:lnTo>
                <a:lnTo>
                  <a:pt x="1463404" y="3168237"/>
                </a:lnTo>
                <a:lnTo>
                  <a:pt x="1416279" y="3163424"/>
                </a:lnTo>
                <a:lnTo>
                  <a:pt x="1369567" y="3157280"/>
                </a:lnTo>
                <a:lnTo>
                  <a:pt x="1323288" y="3149825"/>
                </a:lnTo>
                <a:lnTo>
                  <a:pt x="1277462" y="3141079"/>
                </a:lnTo>
                <a:lnTo>
                  <a:pt x="1232109" y="3131060"/>
                </a:lnTo>
                <a:lnTo>
                  <a:pt x="1187248" y="3119788"/>
                </a:lnTo>
                <a:lnTo>
                  <a:pt x="1142900" y="3107284"/>
                </a:lnTo>
                <a:lnTo>
                  <a:pt x="1099084" y="3093567"/>
                </a:lnTo>
                <a:lnTo>
                  <a:pt x="1055820" y="3078656"/>
                </a:lnTo>
                <a:lnTo>
                  <a:pt x="1013129" y="3062572"/>
                </a:lnTo>
                <a:lnTo>
                  <a:pt x="971029" y="3045333"/>
                </a:lnTo>
                <a:lnTo>
                  <a:pt x="929541" y="3026959"/>
                </a:lnTo>
                <a:lnTo>
                  <a:pt x="888685" y="3007471"/>
                </a:lnTo>
                <a:lnTo>
                  <a:pt x="848481" y="2986888"/>
                </a:lnTo>
                <a:lnTo>
                  <a:pt x="808948" y="2965228"/>
                </a:lnTo>
                <a:lnTo>
                  <a:pt x="770106" y="2942513"/>
                </a:lnTo>
                <a:lnTo>
                  <a:pt x="731976" y="2918762"/>
                </a:lnTo>
                <a:lnTo>
                  <a:pt x="694577" y="2893994"/>
                </a:lnTo>
                <a:lnTo>
                  <a:pt x="657929" y="2868228"/>
                </a:lnTo>
                <a:lnTo>
                  <a:pt x="622051" y="2841486"/>
                </a:lnTo>
                <a:lnTo>
                  <a:pt x="586965" y="2813786"/>
                </a:lnTo>
                <a:lnTo>
                  <a:pt x="552689" y="2785147"/>
                </a:lnTo>
                <a:lnTo>
                  <a:pt x="519244" y="2755591"/>
                </a:lnTo>
                <a:lnTo>
                  <a:pt x="486650" y="2725135"/>
                </a:lnTo>
                <a:lnTo>
                  <a:pt x="454925" y="2693800"/>
                </a:lnTo>
                <a:lnTo>
                  <a:pt x="424091" y="2661606"/>
                </a:lnTo>
                <a:lnTo>
                  <a:pt x="394167" y="2628572"/>
                </a:lnTo>
                <a:lnTo>
                  <a:pt x="365173" y="2594718"/>
                </a:lnTo>
                <a:lnTo>
                  <a:pt x="337129" y="2560063"/>
                </a:lnTo>
                <a:lnTo>
                  <a:pt x="310054" y="2524627"/>
                </a:lnTo>
                <a:lnTo>
                  <a:pt x="283969" y="2488431"/>
                </a:lnTo>
                <a:lnTo>
                  <a:pt x="258894" y="2451492"/>
                </a:lnTo>
                <a:lnTo>
                  <a:pt x="234848" y="2413832"/>
                </a:lnTo>
                <a:lnTo>
                  <a:pt x="211851" y="2375469"/>
                </a:lnTo>
                <a:lnTo>
                  <a:pt x="189924" y="2336423"/>
                </a:lnTo>
                <a:lnTo>
                  <a:pt x="169085" y="2296715"/>
                </a:lnTo>
                <a:lnTo>
                  <a:pt x="149356" y="2256363"/>
                </a:lnTo>
                <a:lnTo>
                  <a:pt x="130755" y="2215388"/>
                </a:lnTo>
                <a:lnTo>
                  <a:pt x="113302" y="2173808"/>
                </a:lnTo>
                <a:lnTo>
                  <a:pt x="97019" y="2131644"/>
                </a:lnTo>
                <a:lnTo>
                  <a:pt x="81924" y="2088916"/>
                </a:lnTo>
                <a:lnTo>
                  <a:pt x="68037" y="2045642"/>
                </a:lnTo>
                <a:lnTo>
                  <a:pt x="55378" y="2001843"/>
                </a:lnTo>
                <a:lnTo>
                  <a:pt x="43967" y="1957538"/>
                </a:lnTo>
                <a:lnTo>
                  <a:pt x="33825" y="1912746"/>
                </a:lnTo>
                <a:lnTo>
                  <a:pt x="24970" y="1867489"/>
                </a:lnTo>
                <a:lnTo>
                  <a:pt x="17423" y="1821784"/>
                </a:lnTo>
                <a:lnTo>
                  <a:pt x="11204" y="1775652"/>
                </a:lnTo>
                <a:lnTo>
                  <a:pt x="6332" y="1729113"/>
                </a:lnTo>
                <a:lnTo>
                  <a:pt x="2827" y="1682185"/>
                </a:lnTo>
                <a:lnTo>
                  <a:pt x="710" y="1634890"/>
                </a:lnTo>
                <a:lnTo>
                  <a:pt x="0" y="1587246"/>
                </a:lnTo>
                <a:close/>
              </a:path>
            </a:pathLst>
          </a:custGeom>
          <a:ln w="76200">
            <a:solidFill>
              <a:srgbClr val="959595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72480" y="5107051"/>
            <a:ext cx="323024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Helvetica"/>
                <a:cs typeface="Helvetica"/>
              </a:rPr>
              <a:t>Defect</a:t>
            </a:r>
            <a:r>
              <a:rPr sz="3200" b="1" spc="-90" dirty="0">
                <a:latin typeface="Helvetica"/>
                <a:cs typeface="Helvetica"/>
              </a:rPr>
              <a:t> </a:t>
            </a:r>
            <a:r>
              <a:rPr sz="3200" b="1" dirty="0">
                <a:latin typeface="Helvetica"/>
                <a:cs typeface="Helvetica"/>
              </a:rPr>
              <a:t>Coverage</a:t>
            </a:r>
            <a:endParaRPr sz="32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Helvetica"/>
                <a:cs typeface="Helvetica"/>
              </a:rPr>
              <a:t>=?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5470" y="3488258"/>
            <a:ext cx="13131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Helvetica"/>
                <a:cs typeface="Helvetica"/>
              </a:rPr>
              <a:t>Detected</a:t>
            </a:r>
            <a:endParaRPr sz="2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Helvetica"/>
                <a:cs typeface="Helvetica"/>
              </a:rPr>
              <a:t>faults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225" y="900785"/>
            <a:ext cx="7672705" cy="2052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 practice, does 100% FC mean 0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DPM?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136144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NO!	</a:t>
            </a:r>
            <a:r>
              <a:rPr sz="2000" b="1" dirty="0">
                <a:latin typeface="Arial"/>
                <a:cs typeface="Arial"/>
              </a:rPr>
              <a:t>Fault </a:t>
            </a:r>
            <a:r>
              <a:rPr sz="2000" b="1" spc="-5" dirty="0">
                <a:latin typeface="Arial"/>
                <a:cs typeface="Arial"/>
              </a:rPr>
              <a:t>coverage </a:t>
            </a:r>
            <a:r>
              <a:rPr sz="2000" b="1" dirty="0">
                <a:latin typeface="Arial"/>
                <a:cs typeface="Arial"/>
              </a:rPr>
              <a:t>does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NOT </a:t>
            </a:r>
            <a:r>
              <a:rPr sz="2000" b="1" dirty="0">
                <a:latin typeface="Arial"/>
                <a:cs typeface="Arial"/>
              </a:rPr>
              <a:t>represent defect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coverage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Arial"/>
              <a:cs typeface="Arial"/>
            </a:endParaRPr>
          </a:p>
          <a:p>
            <a:pPr marL="6007100" marR="224790">
              <a:lnSpc>
                <a:spcPct val="100000"/>
              </a:lnSpc>
            </a:pPr>
            <a:r>
              <a:rPr sz="2400" b="1" spc="-40" dirty="0">
                <a:latin typeface="Helvetica"/>
                <a:cs typeface="Helvetica"/>
              </a:rPr>
              <a:t>Total  </a:t>
            </a:r>
            <a:r>
              <a:rPr sz="2400" b="1" dirty="0">
                <a:latin typeface="Helvetica"/>
                <a:cs typeface="Helvetica"/>
              </a:rPr>
              <a:t>d</a:t>
            </a:r>
            <a:r>
              <a:rPr sz="2400" b="1" spc="-10" dirty="0">
                <a:latin typeface="Helvetica"/>
                <a:cs typeface="Helvetica"/>
              </a:rPr>
              <a:t>e</a:t>
            </a:r>
            <a:r>
              <a:rPr sz="2400" b="1" dirty="0">
                <a:latin typeface="Helvetica"/>
                <a:cs typeface="Helvetica"/>
              </a:rPr>
              <a:t>fects=?</a:t>
            </a:r>
            <a:endParaRPr sz="2400">
              <a:latin typeface="Helvetica"/>
              <a:cs typeface="Helvetica"/>
            </a:endParaRPr>
          </a:p>
          <a:p>
            <a:pPr marL="1480185">
              <a:lnSpc>
                <a:spcPts val="2295"/>
              </a:lnSpc>
            </a:pPr>
            <a:r>
              <a:rPr sz="2400" b="1" spc="-40" dirty="0">
                <a:latin typeface="Helvetica"/>
                <a:cs typeface="Helvetica"/>
              </a:rPr>
              <a:t>Total</a:t>
            </a:r>
            <a:r>
              <a:rPr sz="2400" b="1" spc="-20" dirty="0">
                <a:latin typeface="Helvetica"/>
                <a:cs typeface="Helvetica"/>
              </a:rPr>
              <a:t> </a:t>
            </a:r>
            <a:r>
              <a:rPr sz="2400" b="1" dirty="0">
                <a:latin typeface="Helvetica"/>
                <a:cs typeface="Helvetica"/>
              </a:rPr>
              <a:t>faults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75782" y="3242564"/>
            <a:ext cx="15411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Helvetica"/>
                <a:cs typeface="Helvetica"/>
              </a:rPr>
              <a:t>Detected  defects=?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83202" y="3431285"/>
            <a:ext cx="666115" cy="0"/>
          </a:xfrm>
          <a:custGeom>
            <a:avLst/>
            <a:gdLst/>
            <a:ahLst/>
            <a:cxnLst/>
            <a:rect l="l" t="t" r="r" b="b"/>
            <a:pathLst>
              <a:path w="666114">
                <a:moveTo>
                  <a:pt x="0" y="0"/>
                </a:moveTo>
                <a:lnTo>
                  <a:pt x="66598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3409" y="3307841"/>
            <a:ext cx="581025" cy="553720"/>
          </a:xfrm>
          <a:custGeom>
            <a:avLst/>
            <a:gdLst/>
            <a:ahLst/>
            <a:cxnLst/>
            <a:rect l="l" t="t" r="r" b="b"/>
            <a:pathLst>
              <a:path w="581025" h="553720">
                <a:moveTo>
                  <a:pt x="0" y="0"/>
                </a:moveTo>
                <a:lnTo>
                  <a:pt x="580643" y="553212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9965" y="3632453"/>
            <a:ext cx="664845" cy="0"/>
          </a:xfrm>
          <a:custGeom>
            <a:avLst/>
            <a:gdLst/>
            <a:ahLst/>
            <a:cxnLst/>
            <a:rect l="l" t="t" r="r" b="b"/>
            <a:pathLst>
              <a:path w="664845">
                <a:moveTo>
                  <a:pt x="0" y="0"/>
                </a:moveTo>
                <a:lnTo>
                  <a:pt x="664463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1648" y="164414"/>
            <a:ext cx="3470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Defect </a:t>
            </a:r>
            <a:r>
              <a:rPr b="0" spc="-75" dirty="0">
                <a:latin typeface="Arial"/>
                <a:cs typeface="Arial"/>
              </a:rPr>
              <a:t>→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spc="-5" dirty="0"/>
              <a:t>Faults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7914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Sometimes, one defect can be modeled by more than one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2730215"/>
            <a:ext cx="5311775" cy="1869101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unwanted </a:t>
            </a:r>
            <a:r>
              <a:rPr sz="2000" b="1" spc="5" dirty="0">
                <a:latin typeface="Arial"/>
                <a:cs typeface="Arial"/>
              </a:rPr>
              <a:t>wire between </a:t>
            </a:r>
            <a:r>
              <a:rPr sz="2000" b="1" dirty="0">
                <a:latin typeface="Arial"/>
                <a:cs typeface="Arial"/>
              </a:rPr>
              <a:t>b and</a:t>
            </a:r>
            <a:r>
              <a:rPr sz="2000" b="1" spc="-2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ground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b </a:t>
            </a:r>
            <a:r>
              <a:rPr sz="2000" b="1" dirty="0">
                <a:latin typeface="Arial"/>
                <a:cs typeface="Arial"/>
              </a:rPr>
              <a:t>stuck-at zero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SSF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b </a:t>
            </a:r>
            <a:r>
              <a:rPr sz="2000" b="1" dirty="0">
                <a:latin typeface="Arial"/>
                <a:cs typeface="Arial"/>
              </a:rPr>
              <a:t>slow-to-rise transition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40101" y="1558289"/>
            <a:ext cx="1584960" cy="934719"/>
          </a:xfrm>
          <a:custGeom>
            <a:avLst/>
            <a:gdLst/>
            <a:ahLst/>
            <a:cxnLst/>
            <a:rect l="l" t="t" r="r" b="b"/>
            <a:pathLst>
              <a:path w="1584960" h="934719">
                <a:moveTo>
                  <a:pt x="0" y="467106"/>
                </a:moveTo>
                <a:lnTo>
                  <a:pt x="8593" y="398089"/>
                </a:lnTo>
                <a:lnTo>
                  <a:pt x="33555" y="332213"/>
                </a:lnTo>
                <a:lnTo>
                  <a:pt x="73660" y="270202"/>
                </a:lnTo>
                <a:lnTo>
                  <a:pt x="99008" y="240872"/>
                </a:lnTo>
                <a:lnTo>
                  <a:pt x="127681" y="212778"/>
                </a:lnTo>
                <a:lnTo>
                  <a:pt x="159527" y="186013"/>
                </a:lnTo>
                <a:lnTo>
                  <a:pt x="194393" y="160665"/>
                </a:lnTo>
                <a:lnTo>
                  <a:pt x="232124" y="136826"/>
                </a:lnTo>
                <a:lnTo>
                  <a:pt x="272568" y="114586"/>
                </a:lnTo>
                <a:lnTo>
                  <a:pt x="315571" y="94035"/>
                </a:lnTo>
                <a:lnTo>
                  <a:pt x="360980" y="75263"/>
                </a:lnTo>
                <a:lnTo>
                  <a:pt x="408642" y="58361"/>
                </a:lnTo>
                <a:lnTo>
                  <a:pt x="458404" y="43420"/>
                </a:lnTo>
                <a:lnTo>
                  <a:pt x="510112" y="30529"/>
                </a:lnTo>
                <a:lnTo>
                  <a:pt x="563613" y="19779"/>
                </a:lnTo>
                <a:lnTo>
                  <a:pt x="618753" y="11261"/>
                </a:lnTo>
                <a:lnTo>
                  <a:pt x="675380" y="5065"/>
                </a:lnTo>
                <a:lnTo>
                  <a:pt x="733340" y="1281"/>
                </a:lnTo>
                <a:lnTo>
                  <a:pt x="792480" y="0"/>
                </a:lnTo>
                <a:lnTo>
                  <a:pt x="851619" y="1281"/>
                </a:lnTo>
                <a:lnTo>
                  <a:pt x="909579" y="5065"/>
                </a:lnTo>
                <a:lnTo>
                  <a:pt x="966206" y="11261"/>
                </a:lnTo>
                <a:lnTo>
                  <a:pt x="1021346" y="19779"/>
                </a:lnTo>
                <a:lnTo>
                  <a:pt x="1074847" y="30529"/>
                </a:lnTo>
                <a:lnTo>
                  <a:pt x="1126555" y="43420"/>
                </a:lnTo>
                <a:lnTo>
                  <a:pt x="1176317" y="58361"/>
                </a:lnTo>
                <a:lnTo>
                  <a:pt x="1223979" y="75263"/>
                </a:lnTo>
                <a:lnTo>
                  <a:pt x="1269388" y="94035"/>
                </a:lnTo>
                <a:lnTo>
                  <a:pt x="1312391" y="114586"/>
                </a:lnTo>
                <a:lnTo>
                  <a:pt x="1352835" y="136826"/>
                </a:lnTo>
                <a:lnTo>
                  <a:pt x="1390566" y="160665"/>
                </a:lnTo>
                <a:lnTo>
                  <a:pt x="1425432" y="186013"/>
                </a:lnTo>
                <a:lnTo>
                  <a:pt x="1457278" y="212778"/>
                </a:lnTo>
                <a:lnTo>
                  <a:pt x="1485951" y="240872"/>
                </a:lnTo>
                <a:lnTo>
                  <a:pt x="1511299" y="270202"/>
                </a:lnTo>
                <a:lnTo>
                  <a:pt x="1551404" y="332213"/>
                </a:lnTo>
                <a:lnTo>
                  <a:pt x="1576366" y="398089"/>
                </a:lnTo>
                <a:lnTo>
                  <a:pt x="1584960" y="467106"/>
                </a:lnTo>
                <a:lnTo>
                  <a:pt x="1582786" y="501961"/>
                </a:lnTo>
                <a:lnTo>
                  <a:pt x="1565855" y="569498"/>
                </a:lnTo>
                <a:lnTo>
                  <a:pt x="1533168" y="633532"/>
                </a:lnTo>
                <a:lnTo>
                  <a:pt x="1485951" y="693339"/>
                </a:lnTo>
                <a:lnTo>
                  <a:pt x="1457278" y="721433"/>
                </a:lnTo>
                <a:lnTo>
                  <a:pt x="1425432" y="748198"/>
                </a:lnTo>
                <a:lnTo>
                  <a:pt x="1390566" y="773546"/>
                </a:lnTo>
                <a:lnTo>
                  <a:pt x="1352835" y="797385"/>
                </a:lnTo>
                <a:lnTo>
                  <a:pt x="1312391" y="819625"/>
                </a:lnTo>
                <a:lnTo>
                  <a:pt x="1269388" y="840176"/>
                </a:lnTo>
                <a:lnTo>
                  <a:pt x="1223979" y="858948"/>
                </a:lnTo>
                <a:lnTo>
                  <a:pt x="1176317" y="875850"/>
                </a:lnTo>
                <a:lnTo>
                  <a:pt x="1126555" y="890791"/>
                </a:lnTo>
                <a:lnTo>
                  <a:pt x="1074847" y="903682"/>
                </a:lnTo>
                <a:lnTo>
                  <a:pt x="1021346" y="914432"/>
                </a:lnTo>
                <a:lnTo>
                  <a:pt x="966206" y="922950"/>
                </a:lnTo>
                <a:lnTo>
                  <a:pt x="909579" y="929146"/>
                </a:lnTo>
                <a:lnTo>
                  <a:pt x="851619" y="932930"/>
                </a:lnTo>
                <a:lnTo>
                  <a:pt x="792480" y="934212"/>
                </a:lnTo>
                <a:lnTo>
                  <a:pt x="733340" y="932930"/>
                </a:lnTo>
                <a:lnTo>
                  <a:pt x="675380" y="929146"/>
                </a:lnTo>
                <a:lnTo>
                  <a:pt x="618753" y="922950"/>
                </a:lnTo>
                <a:lnTo>
                  <a:pt x="563613" y="914432"/>
                </a:lnTo>
                <a:lnTo>
                  <a:pt x="510112" y="903682"/>
                </a:lnTo>
                <a:lnTo>
                  <a:pt x="458404" y="890791"/>
                </a:lnTo>
                <a:lnTo>
                  <a:pt x="408642" y="875850"/>
                </a:lnTo>
                <a:lnTo>
                  <a:pt x="360980" y="858948"/>
                </a:lnTo>
                <a:lnTo>
                  <a:pt x="315571" y="840176"/>
                </a:lnTo>
                <a:lnTo>
                  <a:pt x="272568" y="819625"/>
                </a:lnTo>
                <a:lnTo>
                  <a:pt x="232124" y="797385"/>
                </a:lnTo>
                <a:lnTo>
                  <a:pt x="194393" y="773546"/>
                </a:lnTo>
                <a:lnTo>
                  <a:pt x="159527" y="748198"/>
                </a:lnTo>
                <a:lnTo>
                  <a:pt x="127681" y="721433"/>
                </a:lnTo>
                <a:lnTo>
                  <a:pt x="99008" y="693339"/>
                </a:lnTo>
                <a:lnTo>
                  <a:pt x="73660" y="664009"/>
                </a:lnTo>
                <a:lnTo>
                  <a:pt x="33555" y="601998"/>
                </a:lnTo>
                <a:lnTo>
                  <a:pt x="8593" y="536122"/>
                </a:lnTo>
                <a:lnTo>
                  <a:pt x="0" y="46710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89170" y="1558289"/>
            <a:ext cx="1079500" cy="1079500"/>
          </a:xfrm>
          <a:custGeom>
            <a:avLst/>
            <a:gdLst/>
            <a:ahLst/>
            <a:cxnLst/>
            <a:rect l="l" t="t" r="r" b="b"/>
            <a:pathLst>
              <a:path w="1079500" h="1079500">
                <a:moveTo>
                  <a:pt x="0" y="539496"/>
                </a:moveTo>
                <a:lnTo>
                  <a:pt x="2204" y="490392"/>
                </a:lnTo>
                <a:lnTo>
                  <a:pt x="8692" y="442524"/>
                </a:lnTo>
                <a:lnTo>
                  <a:pt x="19272" y="396081"/>
                </a:lnTo>
                <a:lnTo>
                  <a:pt x="33753" y="351253"/>
                </a:lnTo>
                <a:lnTo>
                  <a:pt x="51946" y="308232"/>
                </a:lnTo>
                <a:lnTo>
                  <a:pt x="73660" y="267208"/>
                </a:lnTo>
                <a:lnTo>
                  <a:pt x="98703" y="228370"/>
                </a:lnTo>
                <a:lnTo>
                  <a:pt x="126887" y="191911"/>
                </a:lnTo>
                <a:lnTo>
                  <a:pt x="158019" y="158019"/>
                </a:lnTo>
                <a:lnTo>
                  <a:pt x="191911" y="126887"/>
                </a:lnTo>
                <a:lnTo>
                  <a:pt x="228370" y="98703"/>
                </a:lnTo>
                <a:lnTo>
                  <a:pt x="267207" y="73660"/>
                </a:lnTo>
                <a:lnTo>
                  <a:pt x="308232" y="51946"/>
                </a:lnTo>
                <a:lnTo>
                  <a:pt x="351253" y="33753"/>
                </a:lnTo>
                <a:lnTo>
                  <a:pt x="396081" y="19272"/>
                </a:lnTo>
                <a:lnTo>
                  <a:pt x="442524" y="8692"/>
                </a:lnTo>
                <a:lnTo>
                  <a:pt x="490392" y="2204"/>
                </a:lnTo>
                <a:lnTo>
                  <a:pt x="539495" y="0"/>
                </a:lnTo>
                <a:lnTo>
                  <a:pt x="588599" y="2204"/>
                </a:lnTo>
                <a:lnTo>
                  <a:pt x="636467" y="8692"/>
                </a:lnTo>
                <a:lnTo>
                  <a:pt x="682910" y="19272"/>
                </a:lnTo>
                <a:lnTo>
                  <a:pt x="727738" y="33753"/>
                </a:lnTo>
                <a:lnTo>
                  <a:pt x="770759" y="51946"/>
                </a:lnTo>
                <a:lnTo>
                  <a:pt x="811783" y="73660"/>
                </a:lnTo>
                <a:lnTo>
                  <a:pt x="850621" y="98703"/>
                </a:lnTo>
                <a:lnTo>
                  <a:pt x="887080" y="126887"/>
                </a:lnTo>
                <a:lnTo>
                  <a:pt x="920972" y="158019"/>
                </a:lnTo>
                <a:lnTo>
                  <a:pt x="952104" y="191911"/>
                </a:lnTo>
                <a:lnTo>
                  <a:pt x="980288" y="228370"/>
                </a:lnTo>
                <a:lnTo>
                  <a:pt x="1005331" y="267208"/>
                </a:lnTo>
                <a:lnTo>
                  <a:pt x="1027045" y="308232"/>
                </a:lnTo>
                <a:lnTo>
                  <a:pt x="1045238" y="351253"/>
                </a:lnTo>
                <a:lnTo>
                  <a:pt x="1059719" y="396081"/>
                </a:lnTo>
                <a:lnTo>
                  <a:pt x="1070299" y="442524"/>
                </a:lnTo>
                <a:lnTo>
                  <a:pt x="1076787" y="490392"/>
                </a:lnTo>
                <a:lnTo>
                  <a:pt x="1078991" y="539496"/>
                </a:lnTo>
                <a:lnTo>
                  <a:pt x="1076787" y="588599"/>
                </a:lnTo>
                <a:lnTo>
                  <a:pt x="1070299" y="636467"/>
                </a:lnTo>
                <a:lnTo>
                  <a:pt x="1059719" y="682910"/>
                </a:lnTo>
                <a:lnTo>
                  <a:pt x="1045238" y="727738"/>
                </a:lnTo>
                <a:lnTo>
                  <a:pt x="1027045" y="770759"/>
                </a:lnTo>
                <a:lnTo>
                  <a:pt x="1005331" y="811783"/>
                </a:lnTo>
                <a:lnTo>
                  <a:pt x="980288" y="850621"/>
                </a:lnTo>
                <a:lnTo>
                  <a:pt x="952104" y="887080"/>
                </a:lnTo>
                <a:lnTo>
                  <a:pt x="920972" y="920972"/>
                </a:lnTo>
                <a:lnTo>
                  <a:pt x="887080" y="952104"/>
                </a:lnTo>
                <a:lnTo>
                  <a:pt x="850621" y="980288"/>
                </a:lnTo>
                <a:lnTo>
                  <a:pt x="811783" y="1005331"/>
                </a:lnTo>
                <a:lnTo>
                  <a:pt x="770759" y="1027045"/>
                </a:lnTo>
                <a:lnTo>
                  <a:pt x="727738" y="1045238"/>
                </a:lnTo>
                <a:lnTo>
                  <a:pt x="682910" y="1059719"/>
                </a:lnTo>
                <a:lnTo>
                  <a:pt x="636467" y="1070299"/>
                </a:lnTo>
                <a:lnTo>
                  <a:pt x="588599" y="1076787"/>
                </a:lnTo>
                <a:lnTo>
                  <a:pt x="539495" y="1078992"/>
                </a:lnTo>
                <a:lnTo>
                  <a:pt x="490392" y="1076787"/>
                </a:lnTo>
                <a:lnTo>
                  <a:pt x="442524" y="1070299"/>
                </a:lnTo>
                <a:lnTo>
                  <a:pt x="396081" y="1059719"/>
                </a:lnTo>
                <a:lnTo>
                  <a:pt x="351253" y="1045238"/>
                </a:lnTo>
                <a:lnTo>
                  <a:pt x="308232" y="1027045"/>
                </a:lnTo>
                <a:lnTo>
                  <a:pt x="267208" y="1005332"/>
                </a:lnTo>
                <a:lnTo>
                  <a:pt x="228370" y="980288"/>
                </a:lnTo>
                <a:lnTo>
                  <a:pt x="191911" y="952104"/>
                </a:lnTo>
                <a:lnTo>
                  <a:pt x="158019" y="920972"/>
                </a:lnTo>
                <a:lnTo>
                  <a:pt x="126887" y="887080"/>
                </a:lnTo>
                <a:lnTo>
                  <a:pt x="98703" y="850621"/>
                </a:lnTo>
                <a:lnTo>
                  <a:pt x="73660" y="811784"/>
                </a:lnTo>
                <a:lnTo>
                  <a:pt x="51946" y="770759"/>
                </a:lnTo>
                <a:lnTo>
                  <a:pt x="33753" y="727738"/>
                </a:lnTo>
                <a:lnTo>
                  <a:pt x="19272" y="682910"/>
                </a:lnTo>
                <a:lnTo>
                  <a:pt x="8692" y="636467"/>
                </a:lnTo>
                <a:lnTo>
                  <a:pt x="2204" y="588599"/>
                </a:lnTo>
                <a:lnTo>
                  <a:pt x="0" y="53949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47028" y="2448559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faults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79135" y="1760220"/>
            <a:ext cx="100583" cy="99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95544" y="2048255"/>
            <a:ext cx="99059" cy="100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5544" y="2337816"/>
            <a:ext cx="99059" cy="100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79135" y="2478023"/>
            <a:ext cx="100583" cy="1005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50920" y="2046732"/>
            <a:ext cx="99059" cy="1005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06495" y="1814702"/>
            <a:ext cx="1442720" cy="260985"/>
          </a:xfrm>
          <a:custGeom>
            <a:avLst/>
            <a:gdLst/>
            <a:ahLst/>
            <a:cxnLst/>
            <a:rect l="l" t="t" r="r" b="b"/>
            <a:pathLst>
              <a:path w="1442720" h="260985">
                <a:moveTo>
                  <a:pt x="1354289" y="28685"/>
                </a:moveTo>
                <a:lnTo>
                  <a:pt x="0" y="232156"/>
                </a:lnTo>
                <a:lnTo>
                  <a:pt x="4317" y="260858"/>
                </a:lnTo>
                <a:lnTo>
                  <a:pt x="1358554" y="57270"/>
                </a:lnTo>
                <a:lnTo>
                  <a:pt x="1354289" y="28685"/>
                </a:lnTo>
                <a:close/>
              </a:path>
              <a:path w="1442720" h="260985">
                <a:moveTo>
                  <a:pt x="1431430" y="26543"/>
                </a:moveTo>
                <a:lnTo>
                  <a:pt x="1368552" y="26543"/>
                </a:lnTo>
                <a:lnTo>
                  <a:pt x="1372869" y="55118"/>
                </a:lnTo>
                <a:lnTo>
                  <a:pt x="1358554" y="57270"/>
                </a:lnTo>
                <a:lnTo>
                  <a:pt x="1362837" y="85979"/>
                </a:lnTo>
                <a:lnTo>
                  <a:pt x="1442339" y="30099"/>
                </a:lnTo>
                <a:lnTo>
                  <a:pt x="1431430" y="26543"/>
                </a:lnTo>
                <a:close/>
              </a:path>
              <a:path w="1442720" h="260985">
                <a:moveTo>
                  <a:pt x="1368552" y="26543"/>
                </a:moveTo>
                <a:lnTo>
                  <a:pt x="1354289" y="28685"/>
                </a:lnTo>
                <a:lnTo>
                  <a:pt x="1358554" y="57270"/>
                </a:lnTo>
                <a:lnTo>
                  <a:pt x="1372869" y="55118"/>
                </a:lnTo>
                <a:lnTo>
                  <a:pt x="1368552" y="26543"/>
                </a:lnTo>
                <a:close/>
              </a:path>
              <a:path w="1442720" h="260985">
                <a:moveTo>
                  <a:pt x="1350009" y="0"/>
                </a:moveTo>
                <a:lnTo>
                  <a:pt x="1354289" y="28685"/>
                </a:lnTo>
                <a:lnTo>
                  <a:pt x="1368552" y="26543"/>
                </a:lnTo>
                <a:lnTo>
                  <a:pt x="1431430" y="26543"/>
                </a:lnTo>
                <a:lnTo>
                  <a:pt x="1350009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08653" y="2017776"/>
            <a:ext cx="1656714" cy="86995"/>
          </a:xfrm>
          <a:custGeom>
            <a:avLst/>
            <a:gdLst/>
            <a:ahLst/>
            <a:cxnLst/>
            <a:rect l="l" t="t" r="r" b="b"/>
            <a:pathLst>
              <a:path w="1656714" h="86994">
                <a:moveTo>
                  <a:pt x="1569720" y="0"/>
                </a:moveTo>
                <a:lnTo>
                  <a:pt x="1569720" y="86868"/>
                </a:lnTo>
                <a:lnTo>
                  <a:pt x="1627632" y="57912"/>
                </a:lnTo>
                <a:lnTo>
                  <a:pt x="1584198" y="57912"/>
                </a:lnTo>
                <a:lnTo>
                  <a:pt x="1584198" y="28956"/>
                </a:lnTo>
                <a:lnTo>
                  <a:pt x="1627632" y="28956"/>
                </a:lnTo>
                <a:lnTo>
                  <a:pt x="1569720" y="0"/>
                </a:lnTo>
                <a:close/>
              </a:path>
              <a:path w="1656714" h="86994">
                <a:moveTo>
                  <a:pt x="1569720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569720" y="57912"/>
                </a:lnTo>
                <a:lnTo>
                  <a:pt x="1569720" y="28956"/>
                </a:lnTo>
                <a:close/>
              </a:path>
              <a:path w="1656714" h="86994">
                <a:moveTo>
                  <a:pt x="1627632" y="28956"/>
                </a:moveTo>
                <a:lnTo>
                  <a:pt x="1584198" y="28956"/>
                </a:lnTo>
                <a:lnTo>
                  <a:pt x="1584198" y="57912"/>
                </a:lnTo>
                <a:lnTo>
                  <a:pt x="1627632" y="57912"/>
                </a:lnTo>
                <a:lnTo>
                  <a:pt x="1656588" y="43434"/>
                </a:lnTo>
                <a:lnTo>
                  <a:pt x="1627632" y="2895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06876" y="2046858"/>
            <a:ext cx="1803400" cy="263525"/>
          </a:xfrm>
          <a:custGeom>
            <a:avLst/>
            <a:gdLst/>
            <a:ahLst/>
            <a:cxnLst/>
            <a:rect l="l" t="t" r="r" b="b"/>
            <a:pathLst>
              <a:path w="1803400" h="263525">
                <a:moveTo>
                  <a:pt x="1715180" y="234755"/>
                </a:moveTo>
                <a:lnTo>
                  <a:pt x="1711706" y="263525"/>
                </a:lnTo>
                <a:lnTo>
                  <a:pt x="1787197" y="236474"/>
                </a:lnTo>
                <a:lnTo>
                  <a:pt x="1729486" y="236474"/>
                </a:lnTo>
                <a:lnTo>
                  <a:pt x="1715180" y="234755"/>
                </a:lnTo>
                <a:close/>
              </a:path>
              <a:path w="1803400" h="263525">
                <a:moveTo>
                  <a:pt x="1718647" y="206042"/>
                </a:moveTo>
                <a:lnTo>
                  <a:pt x="1715180" y="234755"/>
                </a:lnTo>
                <a:lnTo>
                  <a:pt x="1729486" y="236474"/>
                </a:lnTo>
                <a:lnTo>
                  <a:pt x="1733041" y="207771"/>
                </a:lnTo>
                <a:lnTo>
                  <a:pt x="1718647" y="206042"/>
                </a:lnTo>
                <a:close/>
              </a:path>
              <a:path w="1803400" h="263525">
                <a:moveTo>
                  <a:pt x="1722120" y="177291"/>
                </a:moveTo>
                <a:lnTo>
                  <a:pt x="1718647" y="206042"/>
                </a:lnTo>
                <a:lnTo>
                  <a:pt x="1733041" y="207771"/>
                </a:lnTo>
                <a:lnTo>
                  <a:pt x="1729486" y="236474"/>
                </a:lnTo>
                <a:lnTo>
                  <a:pt x="1787197" y="236474"/>
                </a:lnTo>
                <a:lnTo>
                  <a:pt x="1803146" y="230758"/>
                </a:lnTo>
                <a:lnTo>
                  <a:pt x="1722120" y="177291"/>
                </a:lnTo>
                <a:close/>
              </a:path>
              <a:path w="1803400" h="263525">
                <a:moveTo>
                  <a:pt x="3556" y="0"/>
                </a:moveTo>
                <a:lnTo>
                  <a:pt x="0" y="28701"/>
                </a:lnTo>
                <a:lnTo>
                  <a:pt x="1715180" y="234755"/>
                </a:lnTo>
                <a:lnTo>
                  <a:pt x="1718647" y="206042"/>
                </a:lnTo>
                <a:lnTo>
                  <a:pt x="355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98850" y="2448559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defe</a:t>
            </a:r>
            <a:r>
              <a:rPr sz="1800" b="1" spc="-15" dirty="0">
                <a:latin typeface="Helvetica"/>
                <a:cs typeface="Helvetica"/>
              </a:rPr>
              <a:t>c</a:t>
            </a:r>
            <a:r>
              <a:rPr sz="1800" b="1" spc="-5" dirty="0">
                <a:latin typeface="Helvetica"/>
                <a:cs typeface="Helvetica"/>
              </a:rPr>
              <a:t>ts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34511" y="2336292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46476" y="1830323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30067" y="1687067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79291" y="1830323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03220" y="2191511"/>
            <a:ext cx="99059" cy="1005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86811" y="1975104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46470" y="4124578"/>
            <a:ext cx="153035" cy="88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500"/>
              </a:lnSpc>
              <a:spcBef>
                <a:spcPts val="100"/>
              </a:spcBef>
            </a:pPr>
            <a:r>
              <a:rPr sz="1800" i="1" spc="-5" dirty="0">
                <a:latin typeface="Helvetica"/>
                <a:cs typeface="Helvetica"/>
              </a:rPr>
              <a:t>a  b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07705" y="4453204"/>
            <a:ext cx="89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Helvetica"/>
                <a:cs typeface="Helvetica"/>
              </a:rPr>
              <a:t>f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72473" y="4582828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4">
                <a:moveTo>
                  <a:pt x="0" y="0"/>
                </a:moveTo>
                <a:lnTo>
                  <a:pt x="501732" y="0"/>
                </a:lnTo>
              </a:path>
            </a:pathLst>
          </a:custGeom>
          <a:ln w="8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72473" y="4833113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4">
                <a:moveTo>
                  <a:pt x="0" y="0"/>
                </a:moveTo>
                <a:lnTo>
                  <a:pt x="501732" y="0"/>
                </a:lnTo>
              </a:path>
            </a:pathLst>
          </a:custGeom>
          <a:ln w="8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74205" y="4707935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4">
                <a:moveTo>
                  <a:pt x="501732" y="0"/>
                </a:moveTo>
                <a:lnTo>
                  <a:pt x="0" y="0"/>
                </a:lnTo>
              </a:path>
            </a:pathLst>
          </a:custGeom>
          <a:ln w="8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48118" y="4457650"/>
            <a:ext cx="652780" cy="501015"/>
          </a:xfrm>
          <a:custGeom>
            <a:avLst/>
            <a:gdLst/>
            <a:ahLst/>
            <a:cxnLst/>
            <a:rect l="l" t="t" r="r" b="b"/>
            <a:pathLst>
              <a:path w="652779" h="501014">
                <a:moveTo>
                  <a:pt x="195680" y="0"/>
                </a:moveTo>
                <a:lnTo>
                  <a:pt x="0" y="0"/>
                </a:lnTo>
                <a:lnTo>
                  <a:pt x="30032" y="43845"/>
                </a:lnTo>
                <a:lnTo>
                  <a:pt x="54059" y="88691"/>
                </a:lnTo>
                <a:lnTo>
                  <a:pt x="72078" y="134315"/>
                </a:lnTo>
                <a:lnTo>
                  <a:pt x="84091" y="180493"/>
                </a:lnTo>
                <a:lnTo>
                  <a:pt x="90098" y="227005"/>
                </a:lnTo>
                <a:lnTo>
                  <a:pt x="90098" y="273628"/>
                </a:lnTo>
                <a:lnTo>
                  <a:pt x="84092" y="320138"/>
                </a:lnTo>
                <a:lnTo>
                  <a:pt x="72078" y="366314"/>
                </a:lnTo>
                <a:lnTo>
                  <a:pt x="54059" y="411933"/>
                </a:lnTo>
                <a:lnTo>
                  <a:pt x="30033" y="456774"/>
                </a:lnTo>
                <a:lnTo>
                  <a:pt x="0" y="500612"/>
                </a:lnTo>
                <a:lnTo>
                  <a:pt x="195681" y="500612"/>
                </a:lnTo>
                <a:lnTo>
                  <a:pt x="251647" y="489907"/>
                </a:lnTo>
                <a:lnTo>
                  <a:pt x="305431" y="476402"/>
                </a:lnTo>
                <a:lnTo>
                  <a:pt x="356796" y="460229"/>
                </a:lnTo>
                <a:lnTo>
                  <a:pt x="405505" y="441517"/>
                </a:lnTo>
                <a:lnTo>
                  <a:pt x="451320" y="420397"/>
                </a:lnTo>
                <a:lnTo>
                  <a:pt x="494005" y="396997"/>
                </a:lnTo>
                <a:lnTo>
                  <a:pt x="533323" y="371448"/>
                </a:lnTo>
                <a:lnTo>
                  <a:pt x="569036" y="343879"/>
                </a:lnTo>
                <a:lnTo>
                  <a:pt x="600907" y="314421"/>
                </a:lnTo>
                <a:lnTo>
                  <a:pt x="628699" y="283203"/>
                </a:lnTo>
                <a:lnTo>
                  <a:pt x="652174" y="250355"/>
                </a:lnTo>
                <a:lnTo>
                  <a:pt x="629002" y="217359"/>
                </a:lnTo>
                <a:lnTo>
                  <a:pt x="601429" y="186007"/>
                </a:lnTo>
                <a:lnTo>
                  <a:pt x="569702" y="156434"/>
                </a:lnTo>
                <a:lnTo>
                  <a:pt x="534064" y="128773"/>
                </a:lnTo>
                <a:lnTo>
                  <a:pt x="494762" y="103160"/>
                </a:lnTo>
                <a:lnTo>
                  <a:pt x="452038" y="79729"/>
                </a:lnTo>
                <a:lnTo>
                  <a:pt x="406139" y="58613"/>
                </a:lnTo>
                <a:lnTo>
                  <a:pt x="357309" y="39948"/>
                </a:lnTo>
                <a:lnTo>
                  <a:pt x="305793" y="23868"/>
                </a:lnTo>
                <a:lnTo>
                  <a:pt x="251835" y="10507"/>
                </a:lnTo>
                <a:lnTo>
                  <a:pt x="1956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48118" y="4457650"/>
            <a:ext cx="652780" cy="501015"/>
          </a:xfrm>
          <a:custGeom>
            <a:avLst/>
            <a:gdLst/>
            <a:ahLst/>
            <a:cxnLst/>
            <a:rect l="l" t="t" r="r" b="b"/>
            <a:pathLst>
              <a:path w="652779" h="501014">
                <a:moveTo>
                  <a:pt x="652174" y="250355"/>
                </a:moveTo>
                <a:lnTo>
                  <a:pt x="628699" y="283203"/>
                </a:lnTo>
                <a:lnTo>
                  <a:pt x="600907" y="314421"/>
                </a:lnTo>
                <a:lnTo>
                  <a:pt x="569036" y="343879"/>
                </a:lnTo>
                <a:lnTo>
                  <a:pt x="533323" y="371448"/>
                </a:lnTo>
                <a:lnTo>
                  <a:pt x="494005" y="396997"/>
                </a:lnTo>
                <a:lnTo>
                  <a:pt x="451320" y="420397"/>
                </a:lnTo>
                <a:lnTo>
                  <a:pt x="405505" y="441517"/>
                </a:lnTo>
                <a:lnTo>
                  <a:pt x="356796" y="460229"/>
                </a:lnTo>
                <a:lnTo>
                  <a:pt x="305431" y="476402"/>
                </a:lnTo>
                <a:lnTo>
                  <a:pt x="251647" y="489907"/>
                </a:lnTo>
                <a:lnTo>
                  <a:pt x="195681" y="500612"/>
                </a:lnTo>
                <a:lnTo>
                  <a:pt x="0" y="500612"/>
                </a:lnTo>
                <a:lnTo>
                  <a:pt x="30033" y="456774"/>
                </a:lnTo>
                <a:lnTo>
                  <a:pt x="54059" y="411933"/>
                </a:lnTo>
                <a:lnTo>
                  <a:pt x="72078" y="366314"/>
                </a:lnTo>
                <a:lnTo>
                  <a:pt x="84092" y="320138"/>
                </a:lnTo>
                <a:lnTo>
                  <a:pt x="90098" y="273628"/>
                </a:lnTo>
                <a:lnTo>
                  <a:pt x="90098" y="227005"/>
                </a:lnTo>
                <a:lnTo>
                  <a:pt x="84091" y="180493"/>
                </a:lnTo>
                <a:lnTo>
                  <a:pt x="72078" y="134315"/>
                </a:lnTo>
                <a:lnTo>
                  <a:pt x="54059" y="88691"/>
                </a:lnTo>
                <a:lnTo>
                  <a:pt x="30032" y="43845"/>
                </a:lnTo>
                <a:lnTo>
                  <a:pt x="0" y="0"/>
                </a:lnTo>
                <a:lnTo>
                  <a:pt x="195680" y="0"/>
                </a:lnTo>
                <a:lnTo>
                  <a:pt x="251835" y="10507"/>
                </a:lnTo>
                <a:lnTo>
                  <a:pt x="305793" y="23868"/>
                </a:lnTo>
                <a:lnTo>
                  <a:pt x="357309" y="39948"/>
                </a:lnTo>
                <a:lnTo>
                  <a:pt x="406139" y="58613"/>
                </a:lnTo>
                <a:lnTo>
                  <a:pt x="452038" y="79729"/>
                </a:lnTo>
                <a:lnTo>
                  <a:pt x="494762" y="103160"/>
                </a:lnTo>
                <a:lnTo>
                  <a:pt x="534064" y="128773"/>
                </a:lnTo>
                <a:lnTo>
                  <a:pt x="569702" y="156434"/>
                </a:lnTo>
                <a:lnTo>
                  <a:pt x="601429" y="186007"/>
                </a:lnTo>
                <a:lnTo>
                  <a:pt x="629002" y="217359"/>
                </a:lnTo>
                <a:lnTo>
                  <a:pt x="652174" y="250355"/>
                </a:lnTo>
                <a:close/>
              </a:path>
            </a:pathLst>
          </a:custGeom>
          <a:ln w="8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48118" y="4457650"/>
            <a:ext cx="652780" cy="501015"/>
          </a:xfrm>
          <a:custGeom>
            <a:avLst/>
            <a:gdLst/>
            <a:ahLst/>
            <a:cxnLst/>
            <a:rect l="l" t="t" r="r" b="b"/>
            <a:pathLst>
              <a:path w="652779" h="501014">
                <a:moveTo>
                  <a:pt x="401343" y="0"/>
                </a:moveTo>
                <a:lnTo>
                  <a:pt x="0" y="0"/>
                </a:lnTo>
                <a:lnTo>
                  <a:pt x="0" y="500612"/>
                </a:lnTo>
                <a:lnTo>
                  <a:pt x="401344" y="500612"/>
                </a:lnTo>
                <a:lnTo>
                  <a:pt x="446436" y="496579"/>
                </a:lnTo>
                <a:lnTo>
                  <a:pt x="488874" y="484951"/>
                </a:lnTo>
                <a:lnTo>
                  <a:pt x="527951" y="466434"/>
                </a:lnTo>
                <a:lnTo>
                  <a:pt x="562958" y="441737"/>
                </a:lnTo>
                <a:lnTo>
                  <a:pt x="593188" y="411565"/>
                </a:lnTo>
                <a:lnTo>
                  <a:pt x="617933" y="376627"/>
                </a:lnTo>
                <a:lnTo>
                  <a:pt x="636484" y="337630"/>
                </a:lnTo>
                <a:lnTo>
                  <a:pt x="648134" y="295280"/>
                </a:lnTo>
                <a:lnTo>
                  <a:pt x="652174" y="250285"/>
                </a:lnTo>
                <a:lnTo>
                  <a:pt x="648134" y="205291"/>
                </a:lnTo>
                <a:lnTo>
                  <a:pt x="636484" y="162945"/>
                </a:lnTo>
                <a:lnTo>
                  <a:pt x="617933" y="123953"/>
                </a:lnTo>
                <a:lnTo>
                  <a:pt x="593188" y="89022"/>
                </a:lnTo>
                <a:lnTo>
                  <a:pt x="562958" y="58858"/>
                </a:lnTo>
                <a:lnTo>
                  <a:pt x="527951" y="34167"/>
                </a:lnTo>
                <a:lnTo>
                  <a:pt x="488874" y="15656"/>
                </a:lnTo>
                <a:lnTo>
                  <a:pt x="446435" y="4031"/>
                </a:lnTo>
                <a:lnTo>
                  <a:pt x="4013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48118" y="4457650"/>
            <a:ext cx="652780" cy="501015"/>
          </a:xfrm>
          <a:custGeom>
            <a:avLst/>
            <a:gdLst/>
            <a:ahLst/>
            <a:cxnLst/>
            <a:rect l="l" t="t" r="r" b="b"/>
            <a:pathLst>
              <a:path w="652779" h="501014">
                <a:moveTo>
                  <a:pt x="401344" y="500612"/>
                </a:moveTo>
                <a:lnTo>
                  <a:pt x="0" y="500612"/>
                </a:lnTo>
                <a:lnTo>
                  <a:pt x="0" y="0"/>
                </a:lnTo>
                <a:lnTo>
                  <a:pt x="401343" y="0"/>
                </a:lnTo>
                <a:lnTo>
                  <a:pt x="446435" y="4031"/>
                </a:lnTo>
                <a:lnTo>
                  <a:pt x="488874" y="15656"/>
                </a:lnTo>
                <a:lnTo>
                  <a:pt x="527951" y="34167"/>
                </a:lnTo>
                <a:lnTo>
                  <a:pt x="562958" y="58858"/>
                </a:lnTo>
                <a:lnTo>
                  <a:pt x="593188" y="89022"/>
                </a:lnTo>
                <a:lnTo>
                  <a:pt x="617933" y="123953"/>
                </a:lnTo>
                <a:lnTo>
                  <a:pt x="636484" y="162945"/>
                </a:lnTo>
                <a:lnTo>
                  <a:pt x="648134" y="205291"/>
                </a:lnTo>
                <a:lnTo>
                  <a:pt x="652174" y="250285"/>
                </a:lnTo>
                <a:lnTo>
                  <a:pt x="648134" y="295280"/>
                </a:lnTo>
                <a:lnTo>
                  <a:pt x="636484" y="337630"/>
                </a:lnTo>
                <a:lnTo>
                  <a:pt x="617933" y="376627"/>
                </a:lnTo>
                <a:lnTo>
                  <a:pt x="593188" y="411565"/>
                </a:lnTo>
                <a:lnTo>
                  <a:pt x="562958" y="441737"/>
                </a:lnTo>
                <a:lnTo>
                  <a:pt x="527951" y="466434"/>
                </a:lnTo>
                <a:lnTo>
                  <a:pt x="488874" y="484951"/>
                </a:lnTo>
                <a:lnTo>
                  <a:pt x="446436" y="496579"/>
                </a:lnTo>
                <a:lnTo>
                  <a:pt x="401344" y="500612"/>
                </a:lnTo>
                <a:close/>
              </a:path>
            </a:pathLst>
          </a:custGeom>
          <a:ln w="8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70796" y="4833113"/>
            <a:ext cx="502284" cy="605790"/>
          </a:xfrm>
          <a:custGeom>
            <a:avLst/>
            <a:gdLst/>
            <a:ahLst/>
            <a:cxnLst/>
            <a:rect l="l" t="t" r="r" b="b"/>
            <a:pathLst>
              <a:path w="502284" h="605789">
                <a:moveTo>
                  <a:pt x="501676" y="0"/>
                </a:moveTo>
                <a:lnTo>
                  <a:pt x="0" y="0"/>
                </a:lnTo>
                <a:lnTo>
                  <a:pt x="0" y="605742"/>
                </a:lnTo>
              </a:path>
            </a:pathLst>
          </a:custGeom>
          <a:ln w="8488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70457" y="5438856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>
                <a:moveTo>
                  <a:pt x="0" y="0"/>
                </a:moveTo>
                <a:lnTo>
                  <a:pt x="2006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70110" y="5438856"/>
            <a:ext cx="401955" cy="0"/>
          </a:xfrm>
          <a:custGeom>
            <a:avLst/>
            <a:gdLst/>
            <a:ahLst/>
            <a:cxnLst/>
            <a:rect l="l" t="t" r="r" b="b"/>
            <a:pathLst>
              <a:path w="401954">
                <a:moveTo>
                  <a:pt x="0" y="0"/>
                </a:moveTo>
                <a:lnTo>
                  <a:pt x="401365" y="0"/>
                </a:lnTo>
              </a:path>
            </a:pathLst>
          </a:custGeom>
          <a:ln w="8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70457" y="5538977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>
                <a:moveTo>
                  <a:pt x="0" y="0"/>
                </a:moveTo>
                <a:lnTo>
                  <a:pt x="200678" y="0"/>
                </a:lnTo>
              </a:path>
            </a:pathLst>
          </a:custGeom>
          <a:ln w="8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69431" y="4838129"/>
            <a:ext cx="401955" cy="20320"/>
          </a:xfrm>
          <a:custGeom>
            <a:avLst/>
            <a:gdLst/>
            <a:ahLst/>
            <a:cxnLst/>
            <a:rect l="l" t="t" r="r" b="b"/>
            <a:pathLst>
              <a:path w="401954" h="20320">
                <a:moveTo>
                  <a:pt x="0" y="0"/>
                </a:moveTo>
                <a:lnTo>
                  <a:pt x="401365" y="0"/>
                </a:lnTo>
                <a:lnTo>
                  <a:pt x="401365" y="19991"/>
                </a:lnTo>
              </a:path>
            </a:pathLst>
          </a:custGeom>
          <a:ln w="847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69431" y="4577812"/>
            <a:ext cx="903605" cy="5080"/>
          </a:xfrm>
          <a:custGeom>
            <a:avLst/>
            <a:gdLst/>
            <a:ahLst/>
            <a:cxnLst/>
            <a:rect l="l" t="t" r="r" b="b"/>
            <a:pathLst>
              <a:path w="903604" h="5079">
                <a:moveTo>
                  <a:pt x="0" y="0"/>
                </a:moveTo>
                <a:lnTo>
                  <a:pt x="903041" y="5015"/>
                </a:lnTo>
              </a:path>
            </a:pathLst>
          </a:custGeom>
          <a:ln w="8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460360" y="4455921"/>
            <a:ext cx="3422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Helvetica"/>
                <a:cs typeface="Helvetica"/>
              </a:rPr>
              <a:t>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092695" y="2787395"/>
            <a:ext cx="900683" cy="9738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748" y="164414"/>
            <a:ext cx="41560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Defect </a:t>
            </a:r>
            <a:r>
              <a:rPr b="0" spc="-75" dirty="0">
                <a:latin typeface="Arial"/>
                <a:cs typeface="Arial"/>
              </a:rPr>
              <a:t>→ </a:t>
            </a:r>
            <a:r>
              <a:rPr spc="-5" dirty="0"/>
              <a:t>Faults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75444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Sometimes, one defect cannot be well modeled by any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30225" y="2778125"/>
            <a:ext cx="7846975" cy="11265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>
                <a:solidFill>
                  <a:schemeClr val="tx1"/>
                </a:solidFill>
              </a:rPr>
              <a:t>Examples:</a:t>
            </a: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Fault</a:t>
            </a:r>
            <a:r>
              <a:rPr sz="2000" b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masking</a:t>
            </a: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 (for multiple Stuck </a:t>
            </a: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at Faults)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40101" y="1558289"/>
            <a:ext cx="1584960" cy="934719"/>
          </a:xfrm>
          <a:custGeom>
            <a:avLst/>
            <a:gdLst/>
            <a:ahLst/>
            <a:cxnLst/>
            <a:rect l="l" t="t" r="r" b="b"/>
            <a:pathLst>
              <a:path w="1584960" h="934719">
                <a:moveTo>
                  <a:pt x="0" y="467106"/>
                </a:moveTo>
                <a:lnTo>
                  <a:pt x="8593" y="398089"/>
                </a:lnTo>
                <a:lnTo>
                  <a:pt x="33555" y="332213"/>
                </a:lnTo>
                <a:lnTo>
                  <a:pt x="73660" y="270202"/>
                </a:lnTo>
                <a:lnTo>
                  <a:pt x="99008" y="240872"/>
                </a:lnTo>
                <a:lnTo>
                  <a:pt x="127681" y="212778"/>
                </a:lnTo>
                <a:lnTo>
                  <a:pt x="159527" y="186013"/>
                </a:lnTo>
                <a:lnTo>
                  <a:pt x="194393" y="160665"/>
                </a:lnTo>
                <a:lnTo>
                  <a:pt x="232124" y="136826"/>
                </a:lnTo>
                <a:lnTo>
                  <a:pt x="272568" y="114586"/>
                </a:lnTo>
                <a:lnTo>
                  <a:pt x="315571" y="94035"/>
                </a:lnTo>
                <a:lnTo>
                  <a:pt x="360980" y="75263"/>
                </a:lnTo>
                <a:lnTo>
                  <a:pt x="408642" y="58361"/>
                </a:lnTo>
                <a:lnTo>
                  <a:pt x="458404" y="43420"/>
                </a:lnTo>
                <a:lnTo>
                  <a:pt x="510112" y="30529"/>
                </a:lnTo>
                <a:lnTo>
                  <a:pt x="563613" y="19779"/>
                </a:lnTo>
                <a:lnTo>
                  <a:pt x="618753" y="11261"/>
                </a:lnTo>
                <a:lnTo>
                  <a:pt x="675380" y="5065"/>
                </a:lnTo>
                <a:lnTo>
                  <a:pt x="733340" y="1281"/>
                </a:lnTo>
                <a:lnTo>
                  <a:pt x="792480" y="0"/>
                </a:lnTo>
                <a:lnTo>
                  <a:pt x="851619" y="1281"/>
                </a:lnTo>
                <a:lnTo>
                  <a:pt x="909579" y="5065"/>
                </a:lnTo>
                <a:lnTo>
                  <a:pt x="966206" y="11261"/>
                </a:lnTo>
                <a:lnTo>
                  <a:pt x="1021346" y="19779"/>
                </a:lnTo>
                <a:lnTo>
                  <a:pt x="1074847" y="30529"/>
                </a:lnTo>
                <a:lnTo>
                  <a:pt x="1126555" y="43420"/>
                </a:lnTo>
                <a:lnTo>
                  <a:pt x="1176317" y="58361"/>
                </a:lnTo>
                <a:lnTo>
                  <a:pt x="1223979" y="75263"/>
                </a:lnTo>
                <a:lnTo>
                  <a:pt x="1269388" y="94035"/>
                </a:lnTo>
                <a:lnTo>
                  <a:pt x="1312391" y="114586"/>
                </a:lnTo>
                <a:lnTo>
                  <a:pt x="1352835" y="136826"/>
                </a:lnTo>
                <a:lnTo>
                  <a:pt x="1390566" y="160665"/>
                </a:lnTo>
                <a:lnTo>
                  <a:pt x="1425432" y="186013"/>
                </a:lnTo>
                <a:lnTo>
                  <a:pt x="1457278" y="212778"/>
                </a:lnTo>
                <a:lnTo>
                  <a:pt x="1485951" y="240872"/>
                </a:lnTo>
                <a:lnTo>
                  <a:pt x="1511299" y="270202"/>
                </a:lnTo>
                <a:lnTo>
                  <a:pt x="1551404" y="332213"/>
                </a:lnTo>
                <a:lnTo>
                  <a:pt x="1576366" y="398089"/>
                </a:lnTo>
                <a:lnTo>
                  <a:pt x="1584960" y="467106"/>
                </a:lnTo>
                <a:lnTo>
                  <a:pt x="1582786" y="501961"/>
                </a:lnTo>
                <a:lnTo>
                  <a:pt x="1565855" y="569498"/>
                </a:lnTo>
                <a:lnTo>
                  <a:pt x="1533168" y="633532"/>
                </a:lnTo>
                <a:lnTo>
                  <a:pt x="1485951" y="693339"/>
                </a:lnTo>
                <a:lnTo>
                  <a:pt x="1457278" y="721433"/>
                </a:lnTo>
                <a:lnTo>
                  <a:pt x="1425432" y="748198"/>
                </a:lnTo>
                <a:lnTo>
                  <a:pt x="1390566" y="773546"/>
                </a:lnTo>
                <a:lnTo>
                  <a:pt x="1352835" y="797385"/>
                </a:lnTo>
                <a:lnTo>
                  <a:pt x="1312391" y="819625"/>
                </a:lnTo>
                <a:lnTo>
                  <a:pt x="1269388" y="840176"/>
                </a:lnTo>
                <a:lnTo>
                  <a:pt x="1223979" y="858948"/>
                </a:lnTo>
                <a:lnTo>
                  <a:pt x="1176317" y="875850"/>
                </a:lnTo>
                <a:lnTo>
                  <a:pt x="1126555" y="890791"/>
                </a:lnTo>
                <a:lnTo>
                  <a:pt x="1074847" y="903682"/>
                </a:lnTo>
                <a:lnTo>
                  <a:pt x="1021346" y="914432"/>
                </a:lnTo>
                <a:lnTo>
                  <a:pt x="966206" y="922950"/>
                </a:lnTo>
                <a:lnTo>
                  <a:pt x="909579" y="929146"/>
                </a:lnTo>
                <a:lnTo>
                  <a:pt x="851619" y="932930"/>
                </a:lnTo>
                <a:lnTo>
                  <a:pt x="792480" y="934212"/>
                </a:lnTo>
                <a:lnTo>
                  <a:pt x="733340" y="932930"/>
                </a:lnTo>
                <a:lnTo>
                  <a:pt x="675380" y="929146"/>
                </a:lnTo>
                <a:lnTo>
                  <a:pt x="618753" y="922950"/>
                </a:lnTo>
                <a:lnTo>
                  <a:pt x="563613" y="914432"/>
                </a:lnTo>
                <a:lnTo>
                  <a:pt x="510112" y="903682"/>
                </a:lnTo>
                <a:lnTo>
                  <a:pt x="458404" y="890791"/>
                </a:lnTo>
                <a:lnTo>
                  <a:pt x="408642" y="875850"/>
                </a:lnTo>
                <a:lnTo>
                  <a:pt x="360980" y="858948"/>
                </a:lnTo>
                <a:lnTo>
                  <a:pt x="315571" y="840176"/>
                </a:lnTo>
                <a:lnTo>
                  <a:pt x="272568" y="819625"/>
                </a:lnTo>
                <a:lnTo>
                  <a:pt x="232124" y="797385"/>
                </a:lnTo>
                <a:lnTo>
                  <a:pt x="194393" y="773546"/>
                </a:lnTo>
                <a:lnTo>
                  <a:pt x="159527" y="748198"/>
                </a:lnTo>
                <a:lnTo>
                  <a:pt x="127681" y="721433"/>
                </a:lnTo>
                <a:lnTo>
                  <a:pt x="99008" y="693339"/>
                </a:lnTo>
                <a:lnTo>
                  <a:pt x="73660" y="664009"/>
                </a:lnTo>
                <a:lnTo>
                  <a:pt x="33555" y="601998"/>
                </a:lnTo>
                <a:lnTo>
                  <a:pt x="8593" y="536122"/>
                </a:lnTo>
                <a:lnTo>
                  <a:pt x="0" y="46710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89170" y="1558289"/>
            <a:ext cx="1079500" cy="1079500"/>
          </a:xfrm>
          <a:custGeom>
            <a:avLst/>
            <a:gdLst/>
            <a:ahLst/>
            <a:cxnLst/>
            <a:rect l="l" t="t" r="r" b="b"/>
            <a:pathLst>
              <a:path w="1079500" h="1079500">
                <a:moveTo>
                  <a:pt x="0" y="539496"/>
                </a:moveTo>
                <a:lnTo>
                  <a:pt x="2204" y="490392"/>
                </a:lnTo>
                <a:lnTo>
                  <a:pt x="8692" y="442524"/>
                </a:lnTo>
                <a:lnTo>
                  <a:pt x="19272" y="396081"/>
                </a:lnTo>
                <a:lnTo>
                  <a:pt x="33753" y="351253"/>
                </a:lnTo>
                <a:lnTo>
                  <a:pt x="51946" y="308232"/>
                </a:lnTo>
                <a:lnTo>
                  <a:pt x="73660" y="267208"/>
                </a:lnTo>
                <a:lnTo>
                  <a:pt x="98703" y="228370"/>
                </a:lnTo>
                <a:lnTo>
                  <a:pt x="126887" y="191911"/>
                </a:lnTo>
                <a:lnTo>
                  <a:pt x="158019" y="158019"/>
                </a:lnTo>
                <a:lnTo>
                  <a:pt x="191911" y="126887"/>
                </a:lnTo>
                <a:lnTo>
                  <a:pt x="228370" y="98703"/>
                </a:lnTo>
                <a:lnTo>
                  <a:pt x="267207" y="73660"/>
                </a:lnTo>
                <a:lnTo>
                  <a:pt x="308232" y="51946"/>
                </a:lnTo>
                <a:lnTo>
                  <a:pt x="351253" y="33753"/>
                </a:lnTo>
                <a:lnTo>
                  <a:pt x="396081" y="19272"/>
                </a:lnTo>
                <a:lnTo>
                  <a:pt x="442524" y="8692"/>
                </a:lnTo>
                <a:lnTo>
                  <a:pt x="490392" y="2204"/>
                </a:lnTo>
                <a:lnTo>
                  <a:pt x="539495" y="0"/>
                </a:lnTo>
                <a:lnTo>
                  <a:pt x="588599" y="2204"/>
                </a:lnTo>
                <a:lnTo>
                  <a:pt x="636467" y="8692"/>
                </a:lnTo>
                <a:lnTo>
                  <a:pt x="682910" y="19272"/>
                </a:lnTo>
                <a:lnTo>
                  <a:pt x="727738" y="33753"/>
                </a:lnTo>
                <a:lnTo>
                  <a:pt x="770759" y="51946"/>
                </a:lnTo>
                <a:lnTo>
                  <a:pt x="811783" y="73660"/>
                </a:lnTo>
                <a:lnTo>
                  <a:pt x="850621" y="98703"/>
                </a:lnTo>
                <a:lnTo>
                  <a:pt x="887080" y="126887"/>
                </a:lnTo>
                <a:lnTo>
                  <a:pt x="920972" y="158019"/>
                </a:lnTo>
                <a:lnTo>
                  <a:pt x="952104" y="191911"/>
                </a:lnTo>
                <a:lnTo>
                  <a:pt x="980288" y="228370"/>
                </a:lnTo>
                <a:lnTo>
                  <a:pt x="1005331" y="267208"/>
                </a:lnTo>
                <a:lnTo>
                  <a:pt x="1027045" y="308232"/>
                </a:lnTo>
                <a:lnTo>
                  <a:pt x="1045238" y="351253"/>
                </a:lnTo>
                <a:lnTo>
                  <a:pt x="1059719" y="396081"/>
                </a:lnTo>
                <a:lnTo>
                  <a:pt x="1070299" y="442524"/>
                </a:lnTo>
                <a:lnTo>
                  <a:pt x="1076787" y="490392"/>
                </a:lnTo>
                <a:lnTo>
                  <a:pt x="1078991" y="539496"/>
                </a:lnTo>
                <a:lnTo>
                  <a:pt x="1076787" y="588599"/>
                </a:lnTo>
                <a:lnTo>
                  <a:pt x="1070299" y="636467"/>
                </a:lnTo>
                <a:lnTo>
                  <a:pt x="1059719" y="682910"/>
                </a:lnTo>
                <a:lnTo>
                  <a:pt x="1045238" y="727738"/>
                </a:lnTo>
                <a:lnTo>
                  <a:pt x="1027045" y="770759"/>
                </a:lnTo>
                <a:lnTo>
                  <a:pt x="1005331" y="811783"/>
                </a:lnTo>
                <a:lnTo>
                  <a:pt x="980288" y="850621"/>
                </a:lnTo>
                <a:lnTo>
                  <a:pt x="952104" y="887080"/>
                </a:lnTo>
                <a:lnTo>
                  <a:pt x="920972" y="920972"/>
                </a:lnTo>
                <a:lnTo>
                  <a:pt x="887080" y="952104"/>
                </a:lnTo>
                <a:lnTo>
                  <a:pt x="850621" y="980288"/>
                </a:lnTo>
                <a:lnTo>
                  <a:pt x="811783" y="1005331"/>
                </a:lnTo>
                <a:lnTo>
                  <a:pt x="770759" y="1027045"/>
                </a:lnTo>
                <a:lnTo>
                  <a:pt x="727738" y="1045238"/>
                </a:lnTo>
                <a:lnTo>
                  <a:pt x="682910" y="1059719"/>
                </a:lnTo>
                <a:lnTo>
                  <a:pt x="636467" y="1070299"/>
                </a:lnTo>
                <a:lnTo>
                  <a:pt x="588599" y="1076787"/>
                </a:lnTo>
                <a:lnTo>
                  <a:pt x="539495" y="1078992"/>
                </a:lnTo>
                <a:lnTo>
                  <a:pt x="490392" y="1076787"/>
                </a:lnTo>
                <a:lnTo>
                  <a:pt x="442524" y="1070299"/>
                </a:lnTo>
                <a:lnTo>
                  <a:pt x="396081" y="1059719"/>
                </a:lnTo>
                <a:lnTo>
                  <a:pt x="351253" y="1045238"/>
                </a:lnTo>
                <a:lnTo>
                  <a:pt x="308232" y="1027045"/>
                </a:lnTo>
                <a:lnTo>
                  <a:pt x="267208" y="1005332"/>
                </a:lnTo>
                <a:lnTo>
                  <a:pt x="228370" y="980288"/>
                </a:lnTo>
                <a:lnTo>
                  <a:pt x="191911" y="952104"/>
                </a:lnTo>
                <a:lnTo>
                  <a:pt x="158019" y="920972"/>
                </a:lnTo>
                <a:lnTo>
                  <a:pt x="126887" y="887080"/>
                </a:lnTo>
                <a:lnTo>
                  <a:pt x="98703" y="850621"/>
                </a:lnTo>
                <a:lnTo>
                  <a:pt x="73660" y="811784"/>
                </a:lnTo>
                <a:lnTo>
                  <a:pt x="51946" y="770759"/>
                </a:lnTo>
                <a:lnTo>
                  <a:pt x="33753" y="727738"/>
                </a:lnTo>
                <a:lnTo>
                  <a:pt x="19272" y="682910"/>
                </a:lnTo>
                <a:lnTo>
                  <a:pt x="8692" y="636467"/>
                </a:lnTo>
                <a:lnTo>
                  <a:pt x="2204" y="588599"/>
                </a:lnTo>
                <a:lnTo>
                  <a:pt x="0" y="53949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64707" y="2161159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faults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79135" y="1760220"/>
            <a:ext cx="100583" cy="99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95544" y="2048255"/>
            <a:ext cx="99059" cy="100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5544" y="2337816"/>
            <a:ext cx="99059" cy="1005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79135" y="2478023"/>
            <a:ext cx="100583" cy="1005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50920" y="2046732"/>
            <a:ext cx="99059" cy="1005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89452" y="2336926"/>
            <a:ext cx="1371600" cy="460375"/>
          </a:xfrm>
          <a:custGeom>
            <a:avLst/>
            <a:gdLst/>
            <a:ahLst/>
            <a:cxnLst/>
            <a:rect l="l" t="t" r="r" b="b"/>
            <a:pathLst>
              <a:path w="1371600" h="460375">
                <a:moveTo>
                  <a:pt x="1284175" y="432791"/>
                </a:moveTo>
                <a:lnTo>
                  <a:pt x="1275461" y="460375"/>
                </a:lnTo>
                <a:lnTo>
                  <a:pt x="1371346" y="445135"/>
                </a:lnTo>
                <a:lnTo>
                  <a:pt x="1363089" y="437134"/>
                </a:lnTo>
                <a:lnTo>
                  <a:pt x="1297939" y="437134"/>
                </a:lnTo>
                <a:lnTo>
                  <a:pt x="1284175" y="432791"/>
                </a:lnTo>
                <a:close/>
              </a:path>
              <a:path w="1371600" h="460375">
                <a:moveTo>
                  <a:pt x="1292888" y="405216"/>
                </a:moveTo>
                <a:lnTo>
                  <a:pt x="1284175" y="432791"/>
                </a:lnTo>
                <a:lnTo>
                  <a:pt x="1297939" y="437134"/>
                </a:lnTo>
                <a:lnTo>
                  <a:pt x="1306702" y="409575"/>
                </a:lnTo>
                <a:lnTo>
                  <a:pt x="1292888" y="405216"/>
                </a:lnTo>
                <a:close/>
              </a:path>
              <a:path w="1371600" h="460375">
                <a:moveTo>
                  <a:pt x="1301623" y="377571"/>
                </a:moveTo>
                <a:lnTo>
                  <a:pt x="1292888" y="405216"/>
                </a:lnTo>
                <a:lnTo>
                  <a:pt x="1306702" y="409575"/>
                </a:lnTo>
                <a:lnTo>
                  <a:pt x="1297939" y="437134"/>
                </a:lnTo>
                <a:lnTo>
                  <a:pt x="1363089" y="437134"/>
                </a:lnTo>
                <a:lnTo>
                  <a:pt x="1301623" y="377571"/>
                </a:lnTo>
                <a:close/>
              </a:path>
              <a:path w="1371600" h="460375">
                <a:moveTo>
                  <a:pt x="8636" y="0"/>
                </a:moveTo>
                <a:lnTo>
                  <a:pt x="0" y="27686"/>
                </a:lnTo>
                <a:lnTo>
                  <a:pt x="1284175" y="432791"/>
                </a:lnTo>
                <a:lnTo>
                  <a:pt x="1292888" y="405216"/>
                </a:lnTo>
                <a:lnTo>
                  <a:pt x="863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37817" y="2161159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defe</a:t>
            </a:r>
            <a:r>
              <a:rPr sz="1800" b="1" spc="-15" dirty="0">
                <a:latin typeface="Helvetica"/>
                <a:cs typeface="Helvetica"/>
              </a:rPr>
              <a:t>c</a:t>
            </a:r>
            <a:r>
              <a:rPr sz="1800" b="1" spc="-5" dirty="0">
                <a:latin typeface="Helvetica"/>
                <a:cs typeface="Helvetica"/>
              </a:rPr>
              <a:t>ts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34511" y="2336292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46476" y="1830323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30067" y="1687067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79291" y="1830323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03220" y="2191511"/>
            <a:ext cx="99059" cy="1005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86811" y="1975104"/>
            <a:ext cx="10058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67402" y="2586989"/>
            <a:ext cx="2743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Helvetica"/>
                <a:cs typeface="Helvetica"/>
              </a:rPr>
              <a:t>?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2206625" cy="180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3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Conclusion</a:t>
            </a:r>
            <a:r>
              <a:rPr lang="en-US"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6244" y="164414"/>
            <a:ext cx="459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Concluding</a:t>
            </a:r>
            <a:r>
              <a:rPr spc="-50" dirty="0"/>
              <a:t> </a:t>
            </a:r>
            <a:r>
              <a:rPr dirty="0"/>
              <a:t>Remarks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484745" cy="372922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 model is </a:t>
            </a:r>
            <a:r>
              <a:rPr sz="2000" b="1" spc="-5" dirty="0">
                <a:latin typeface="Arial"/>
                <a:cs typeface="Arial"/>
              </a:rPr>
              <a:t>very </a:t>
            </a:r>
            <a:r>
              <a:rPr sz="2000" b="1" dirty="0">
                <a:latin typeface="Arial"/>
                <a:cs typeface="Arial"/>
              </a:rPr>
              <a:t>important for test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automation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Automatic test pattern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generation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Quantify quality of test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Although many fault models, only a </a:t>
            </a:r>
            <a:r>
              <a:rPr sz="2000" b="1" spc="-5" dirty="0">
                <a:latin typeface="Arial"/>
                <a:cs typeface="Arial"/>
              </a:rPr>
              <a:t>few </a:t>
            </a:r>
            <a:r>
              <a:rPr sz="2000" b="1" dirty="0">
                <a:latin typeface="Arial"/>
                <a:cs typeface="Arial"/>
              </a:rPr>
              <a:t>used </a:t>
            </a:r>
            <a:r>
              <a:rPr sz="2000" b="1" spc="-5" dirty="0">
                <a:latin typeface="Arial"/>
                <a:cs typeface="Arial"/>
              </a:rPr>
              <a:t>in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practice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Single stuck-at faults </a:t>
            </a:r>
            <a:r>
              <a:rPr sz="2000" b="1" dirty="0">
                <a:latin typeface="Arial"/>
                <a:cs typeface="Arial"/>
              </a:rPr>
              <a:t>is applied for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sure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Transition delay faults </a:t>
            </a:r>
            <a:r>
              <a:rPr sz="2000" b="1" dirty="0">
                <a:latin typeface="Arial"/>
                <a:cs typeface="Arial"/>
              </a:rPr>
              <a:t>may be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applied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Other fault models adopted according to product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needs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539875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NOTICE!	Fault model can be</a:t>
            </a:r>
            <a:r>
              <a:rPr sz="20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deceiving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 models do </a:t>
            </a:r>
            <a:r>
              <a:rPr sz="2000" b="1" spc="-5" dirty="0">
                <a:latin typeface="Arial"/>
                <a:cs typeface="Arial"/>
              </a:rPr>
              <a:t>not always </a:t>
            </a:r>
            <a:r>
              <a:rPr sz="2000" b="1" dirty="0">
                <a:latin typeface="Arial"/>
                <a:cs typeface="Arial"/>
              </a:rPr>
              <a:t>match </a:t>
            </a:r>
            <a:r>
              <a:rPr sz="2000" b="1" spc="-5" dirty="0">
                <a:latin typeface="Arial"/>
                <a:cs typeface="Arial"/>
              </a:rPr>
              <a:t>behavior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defects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100% fault </a:t>
            </a:r>
            <a:r>
              <a:rPr sz="2000" b="1" spc="-5" dirty="0">
                <a:latin typeface="Arial"/>
                <a:cs typeface="Arial"/>
              </a:rPr>
              <a:t>coverage </a:t>
            </a:r>
            <a:r>
              <a:rPr sz="2000" b="1" dirty="0">
                <a:latin typeface="Arial"/>
                <a:cs typeface="Arial"/>
              </a:rPr>
              <a:t>DOES NOT guarantee zero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DPM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852" y="164414"/>
            <a:ext cx="2492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877" y="792607"/>
            <a:ext cx="8902065" cy="573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8895" indent="-342900" algn="just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[Barzilai </a:t>
            </a:r>
            <a:r>
              <a:rPr sz="1200" b="1" dirty="0">
                <a:latin typeface="Arial"/>
                <a:cs typeface="Arial"/>
              </a:rPr>
              <a:t>83] Z. </a:t>
            </a:r>
            <a:r>
              <a:rPr sz="1200" b="1" spc="-5" dirty="0">
                <a:latin typeface="Arial"/>
                <a:cs typeface="Arial"/>
              </a:rPr>
              <a:t>Barzilai </a:t>
            </a:r>
            <a:r>
              <a:rPr sz="1200" b="1" dirty="0">
                <a:latin typeface="Arial"/>
                <a:cs typeface="Arial"/>
              </a:rPr>
              <a:t>and </a:t>
            </a:r>
            <a:r>
              <a:rPr sz="1200" b="1" spc="-5" dirty="0">
                <a:latin typeface="Arial"/>
                <a:cs typeface="Arial"/>
              </a:rPr>
              <a:t>B. K. Rosen, “Comparison </a:t>
            </a:r>
            <a:r>
              <a:rPr sz="1200" b="1" dirty="0">
                <a:latin typeface="Arial"/>
                <a:cs typeface="Arial"/>
              </a:rPr>
              <a:t>of </a:t>
            </a:r>
            <a:r>
              <a:rPr sz="1200" b="1" spc="-20" dirty="0">
                <a:latin typeface="Arial"/>
                <a:cs typeface="Arial"/>
              </a:rPr>
              <a:t>AC </a:t>
            </a:r>
            <a:r>
              <a:rPr sz="1200" b="1" dirty="0">
                <a:latin typeface="Arial"/>
                <a:cs typeface="Arial"/>
              </a:rPr>
              <a:t>Self-Testing Procedures,” IEEE Int’l Test </a:t>
            </a:r>
            <a:r>
              <a:rPr sz="1200" b="1" spc="-5" dirty="0">
                <a:latin typeface="Arial"/>
                <a:cs typeface="Arial"/>
              </a:rPr>
              <a:t>Conf., </a:t>
            </a:r>
            <a:r>
              <a:rPr sz="1200" b="1" dirty="0">
                <a:latin typeface="Arial"/>
                <a:cs typeface="Arial"/>
              </a:rPr>
              <a:t>pp.89-94,  </a:t>
            </a:r>
            <a:r>
              <a:rPr sz="1200" b="1" spc="-5" dirty="0">
                <a:latin typeface="Arial"/>
                <a:cs typeface="Arial"/>
              </a:rPr>
              <a:t>1983.</a:t>
            </a:r>
            <a:endParaRPr sz="12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[Breuer </a:t>
            </a:r>
            <a:r>
              <a:rPr sz="1200" b="1" dirty="0">
                <a:latin typeface="Arial"/>
                <a:cs typeface="Arial"/>
              </a:rPr>
              <a:t>74] </a:t>
            </a:r>
            <a:r>
              <a:rPr sz="1200" b="1" spc="-5" dirty="0">
                <a:latin typeface="Arial"/>
                <a:cs typeface="Arial"/>
              </a:rPr>
              <a:t>M.A Breuer, </a:t>
            </a:r>
            <a:r>
              <a:rPr sz="1200" b="1" dirty="0">
                <a:latin typeface="Arial"/>
                <a:cs typeface="Arial"/>
              </a:rPr>
              <a:t>“The </a:t>
            </a:r>
            <a:r>
              <a:rPr sz="1200" b="1" spc="-5" dirty="0">
                <a:latin typeface="Arial"/>
                <a:cs typeface="Arial"/>
              </a:rPr>
              <a:t>Effects </a:t>
            </a:r>
            <a:r>
              <a:rPr sz="1200" b="1" dirty="0">
                <a:latin typeface="Arial"/>
                <a:cs typeface="Arial"/>
              </a:rPr>
              <a:t>of </a:t>
            </a:r>
            <a:r>
              <a:rPr sz="1200" b="1" spc="-5" dirty="0">
                <a:latin typeface="Arial"/>
                <a:cs typeface="Arial"/>
              </a:rPr>
              <a:t>Races, </a:t>
            </a:r>
            <a:r>
              <a:rPr sz="1200" b="1" spc="-10" dirty="0">
                <a:latin typeface="Arial"/>
                <a:cs typeface="Arial"/>
              </a:rPr>
              <a:t>Delays </a:t>
            </a:r>
            <a:r>
              <a:rPr sz="1200" b="1" dirty="0">
                <a:latin typeface="Arial"/>
                <a:cs typeface="Arial"/>
              </a:rPr>
              <a:t>and </a:t>
            </a:r>
            <a:r>
              <a:rPr sz="1200" b="1" spc="-5" dirty="0">
                <a:latin typeface="Arial"/>
                <a:cs typeface="Arial"/>
              </a:rPr>
              <a:t>Delay </a:t>
            </a:r>
            <a:r>
              <a:rPr sz="1200" b="1" dirty="0">
                <a:latin typeface="Arial"/>
                <a:cs typeface="Arial"/>
              </a:rPr>
              <a:t>Faults on Test Generation,” IEEE Trans.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Computers, </a:t>
            </a:r>
            <a:r>
              <a:rPr sz="1200" b="1" dirty="0">
                <a:latin typeface="Arial"/>
                <a:cs typeface="Arial"/>
              </a:rPr>
              <a:t>pp.1078-1092,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1974.</a:t>
            </a:r>
            <a:endParaRPr sz="1200">
              <a:latin typeface="Arial"/>
              <a:cs typeface="Arial"/>
            </a:endParaRPr>
          </a:p>
          <a:p>
            <a:pPr marL="355600" marR="86360" indent="-342900" algn="just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5600" algn="l"/>
              </a:tabLst>
            </a:pPr>
            <a:r>
              <a:rPr sz="1200" b="1" dirty="0">
                <a:latin typeface="Arial"/>
                <a:cs typeface="Arial"/>
              </a:rPr>
              <a:t>[Friedman </a:t>
            </a:r>
            <a:r>
              <a:rPr sz="1200" b="1" spc="-5" dirty="0">
                <a:latin typeface="Arial"/>
                <a:cs typeface="Arial"/>
              </a:rPr>
              <a:t>74] </a:t>
            </a:r>
            <a:r>
              <a:rPr sz="1200" b="1" dirty="0">
                <a:latin typeface="Arial"/>
                <a:cs typeface="Arial"/>
              </a:rPr>
              <a:t>Friedman, </a:t>
            </a:r>
            <a:r>
              <a:rPr sz="1200" b="1" spc="-10" dirty="0">
                <a:latin typeface="Arial"/>
                <a:cs typeface="Arial"/>
              </a:rPr>
              <a:t>Arthur </a:t>
            </a:r>
            <a:r>
              <a:rPr sz="1200" b="1" dirty="0">
                <a:latin typeface="Arial"/>
                <a:cs typeface="Arial"/>
              </a:rPr>
              <a:t>D. "Diagnosis of short-circuit faults in combinational circuits." IEEE Transactions on  </a:t>
            </a:r>
            <a:r>
              <a:rPr sz="1200" b="1" spc="-5" dirty="0">
                <a:latin typeface="Arial"/>
                <a:cs typeface="Arial"/>
              </a:rPr>
              <a:t>Computers 100.7 (1974):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746-752.</a:t>
            </a:r>
            <a:endParaRPr sz="1200">
              <a:latin typeface="Arial"/>
              <a:cs typeface="Arial"/>
            </a:endParaRPr>
          </a:p>
          <a:p>
            <a:pPr marL="355600" marR="466090" indent="-342900" algn="just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5600" algn="l"/>
              </a:tabLst>
            </a:pPr>
            <a:r>
              <a:rPr sz="1200" b="1" dirty="0">
                <a:latin typeface="Arial"/>
                <a:cs typeface="Arial"/>
              </a:rPr>
              <a:t>[Galey </a:t>
            </a:r>
            <a:r>
              <a:rPr sz="1200" b="1" spc="-5" dirty="0">
                <a:latin typeface="Arial"/>
                <a:cs typeface="Arial"/>
              </a:rPr>
              <a:t>61] Galey, </a:t>
            </a:r>
            <a:r>
              <a:rPr sz="1200" b="1" dirty="0">
                <a:latin typeface="Arial"/>
                <a:cs typeface="Arial"/>
              </a:rPr>
              <a:t>J. </a:t>
            </a:r>
            <a:r>
              <a:rPr sz="1200" b="1" spc="-5" dirty="0">
                <a:latin typeface="Arial"/>
                <a:cs typeface="Arial"/>
              </a:rPr>
              <a:t>M., </a:t>
            </a:r>
            <a:r>
              <a:rPr sz="1200" b="1" dirty="0">
                <a:latin typeface="Arial"/>
                <a:cs typeface="Arial"/>
              </a:rPr>
              <a:t>R. E. </a:t>
            </a:r>
            <a:r>
              <a:rPr sz="1200" b="1" spc="-10" dirty="0">
                <a:latin typeface="Arial"/>
                <a:cs typeface="Arial"/>
              </a:rPr>
              <a:t>Norby, </a:t>
            </a:r>
            <a:r>
              <a:rPr sz="1200" b="1" dirty="0">
                <a:latin typeface="Arial"/>
                <a:cs typeface="Arial"/>
              </a:rPr>
              <a:t>and J. P. </a:t>
            </a:r>
            <a:r>
              <a:rPr sz="1200" b="1" spc="-5" dirty="0">
                <a:latin typeface="Arial"/>
                <a:cs typeface="Arial"/>
              </a:rPr>
              <a:t>Roth. "Techniques for </a:t>
            </a:r>
            <a:r>
              <a:rPr sz="1200" b="1" dirty="0">
                <a:latin typeface="Arial"/>
                <a:cs typeface="Arial"/>
              </a:rPr>
              <a:t>the diagnosis of switching circuit failures."  Proceedings of </a:t>
            </a:r>
            <a:r>
              <a:rPr sz="1200" b="1" spc="-5" dirty="0">
                <a:latin typeface="Arial"/>
                <a:cs typeface="Arial"/>
              </a:rPr>
              <a:t>the </a:t>
            </a:r>
            <a:r>
              <a:rPr sz="1200" b="1" dirty="0">
                <a:latin typeface="Arial"/>
                <a:cs typeface="Arial"/>
              </a:rPr>
              <a:t>2nd </a:t>
            </a:r>
            <a:r>
              <a:rPr sz="1200" b="1" spc="-10" dirty="0">
                <a:latin typeface="Arial"/>
                <a:cs typeface="Arial"/>
              </a:rPr>
              <a:t>Annual </a:t>
            </a:r>
            <a:r>
              <a:rPr sz="1200" b="1" spc="-5" dirty="0">
                <a:latin typeface="Arial"/>
                <a:cs typeface="Arial"/>
              </a:rPr>
              <a:t>Symposium </a:t>
            </a:r>
            <a:r>
              <a:rPr sz="1200" b="1" dirty="0">
                <a:latin typeface="Arial"/>
                <a:cs typeface="Arial"/>
              </a:rPr>
              <a:t>on Switching Circuit Theory and Logical Design (SWCT 1961). IEEE  </a:t>
            </a:r>
            <a:r>
              <a:rPr sz="1200" b="1" spc="-5" dirty="0">
                <a:latin typeface="Arial"/>
                <a:cs typeface="Arial"/>
              </a:rPr>
              <a:t>Computer Society,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1961.</a:t>
            </a:r>
            <a:endParaRPr sz="12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[Hapke </a:t>
            </a:r>
            <a:r>
              <a:rPr sz="1200" b="1" dirty="0">
                <a:latin typeface="Arial"/>
                <a:cs typeface="Arial"/>
              </a:rPr>
              <a:t>09] F. Hapke, et al. </a:t>
            </a:r>
            <a:r>
              <a:rPr sz="1200" b="1" spc="-5" dirty="0">
                <a:latin typeface="Arial"/>
                <a:cs typeface="Arial"/>
              </a:rPr>
              <a:t>"Defect-oriented </a:t>
            </a:r>
            <a:r>
              <a:rPr sz="1200" b="1" dirty="0">
                <a:latin typeface="Arial"/>
                <a:cs typeface="Arial"/>
              </a:rPr>
              <a:t>cell-aware </a:t>
            </a:r>
            <a:r>
              <a:rPr sz="1200" b="1" spc="-10" dirty="0">
                <a:latin typeface="Arial"/>
                <a:cs typeface="Arial"/>
              </a:rPr>
              <a:t>ATPG </a:t>
            </a:r>
            <a:r>
              <a:rPr sz="1200" b="1" dirty="0">
                <a:latin typeface="Arial"/>
                <a:cs typeface="Arial"/>
              </a:rPr>
              <a:t>and fault simulation </a:t>
            </a:r>
            <a:r>
              <a:rPr sz="1200" b="1" spc="-5" dirty="0">
                <a:latin typeface="Arial"/>
                <a:cs typeface="Arial"/>
              </a:rPr>
              <a:t>for </a:t>
            </a:r>
            <a:r>
              <a:rPr sz="1200" b="1" dirty="0">
                <a:latin typeface="Arial"/>
                <a:cs typeface="Arial"/>
              </a:rPr>
              <a:t>industrial cell libraries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designs." IEEE </a:t>
            </a:r>
            <a:r>
              <a:rPr sz="1200" b="1" spc="-5" dirty="0">
                <a:latin typeface="Arial"/>
                <a:cs typeface="Arial"/>
              </a:rPr>
              <a:t>Int’l </a:t>
            </a:r>
            <a:r>
              <a:rPr sz="1200" b="1" dirty="0">
                <a:latin typeface="Arial"/>
                <a:cs typeface="Arial"/>
              </a:rPr>
              <a:t>Test </a:t>
            </a:r>
            <a:r>
              <a:rPr sz="1200" b="1" spc="-5" dirty="0">
                <a:latin typeface="Arial"/>
                <a:cs typeface="Arial"/>
              </a:rPr>
              <a:t>Conference,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2009.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[Hapke </a:t>
            </a:r>
            <a:r>
              <a:rPr sz="1200" b="1" dirty="0">
                <a:latin typeface="Arial"/>
                <a:cs typeface="Arial"/>
              </a:rPr>
              <a:t>14] F. </a:t>
            </a:r>
            <a:r>
              <a:rPr sz="1200" b="1" spc="-5" dirty="0">
                <a:latin typeface="Arial"/>
                <a:cs typeface="Arial"/>
              </a:rPr>
              <a:t>Hapke, </a:t>
            </a:r>
            <a:r>
              <a:rPr sz="1200" b="1" dirty="0">
                <a:latin typeface="Arial"/>
                <a:cs typeface="Arial"/>
              </a:rPr>
              <a:t>et al. “Cell-aware </a:t>
            </a:r>
            <a:r>
              <a:rPr sz="1200" b="1" spc="-5" dirty="0">
                <a:latin typeface="Arial"/>
                <a:cs typeface="Arial"/>
              </a:rPr>
              <a:t>Test" </a:t>
            </a:r>
            <a:r>
              <a:rPr sz="1200" b="1" dirty="0">
                <a:latin typeface="Arial"/>
                <a:cs typeface="Arial"/>
              </a:rPr>
              <a:t>IEEE Trans. on </a:t>
            </a:r>
            <a:r>
              <a:rPr sz="1200" b="1" spc="-15" dirty="0">
                <a:latin typeface="Arial"/>
                <a:cs typeface="Arial"/>
              </a:rPr>
              <a:t>CAD,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2014.</a:t>
            </a:r>
            <a:endParaRPr sz="1200">
              <a:latin typeface="Arial"/>
              <a:cs typeface="Arial"/>
            </a:endParaRPr>
          </a:p>
          <a:p>
            <a:pPr marL="355600" marR="598170" indent="-34290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[Levendel </a:t>
            </a:r>
            <a:r>
              <a:rPr sz="1200" b="1" dirty="0">
                <a:latin typeface="Arial"/>
                <a:cs typeface="Arial"/>
              </a:rPr>
              <a:t>86] </a:t>
            </a:r>
            <a:r>
              <a:rPr sz="1200" b="1" spc="-5" dirty="0">
                <a:latin typeface="Arial"/>
                <a:cs typeface="Arial"/>
              </a:rPr>
              <a:t>Y. Levendel </a:t>
            </a:r>
            <a:r>
              <a:rPr sz="1200" b="1" dirty="0">
                <a:latin typeface="Arial"/>
                <a:cs typeface="Arial"/>
              </a:rPr>
              <a:t>and P.R. </a:t>
            </a:r>
            <a:r>
              <a:rPr sz="1200" b="1" spc="-5" dirty="0">
                <a:latin typeface="Arial"/>
                <a:cs typeface="Arial"/>
              </a:rPr>
              <a:t>Menon, </a:t>
            </a:r>
            <a:r>
              <a:rPr sz="1200" b="1" dirty="0">
                <a:latin typeface="Arial"/>
                <a:cs typeface="Arial"/>
              </a:rPr>
              <a:t>“Transition Faults in </a:t>
            </a:r>
            <a:r>
              <a:rPr sz="1200" b="1" spc="-5" dirty="0">
                <a:latin typeface="Arial"/>
                <a:cs typeface="Arial"/>
              </a:rPr>
              <a:t>Combinational Circuits: </a:t>
            </a:r>
            <a:r>
              <a:rPr sz="1200" b="1" dirty="0">
                <a:latin typeface="Arial"/>
                <a:cs typeface="Arial"/>
              </a:rPr>
              <a:t>Input Transition Test  Generation and Fault Simulation,” Int’l </a:t>
            </a:r>
            <a:r>
              <a:rPr sz="1200" b="1" spc="-10" dirty="0">
                <a:latin typeface="Arial"/>
                <a:cs typeface="Arial"/>
              </a:rPr>
              <a:t>Symp. </a:t>
            </a:r>
            <a:r>
              <a:rPr sz="1200" b="1" dirty="0">
                <a:latin typeface="Arial"/>
                <a:cs typeface="Arial"/>
              </a:rPr>
              <a:t>in Fault-tolerant </a:t>
            </a:r>
            <a:r>
              <a:rPr sz="1200" b="1" spc="-5" dirty="0">
                <a:latin typeface="Arial"/>
                <a:cs typeface="Arial"/>
              </a:rPr>
              <a:t>Computing Systems,</a:t>
            </a:r>
            <a:r>
              <a:rPr sz="1200" b="1" spc="10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1986.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[Li </a:t>
            </a:r>
            <a:r>
              <a:rPr sz="1200" b="1" dirty="0">
                <a:latin typeface="Arial"/>
                <a:cs typeface="Arial"/>
              </a:rPr>
              <a:t>01] </a:t>
            </a:r>
            <a:r>
              <a:rPr sz="1200" b="1" spc="-5" dirty="0">
                <a:latin typeface="Arial"/>
                <a:cs typeface="Arial"/>
              </a:rPr>
              <a:t>JCM </a:t>
            </a:r>
            <a:r>
              <a:rPr sz="1200" b="1" dirty="0">
                <a:latin typeface="Arial"/>
                <a:cs typeface="Arial"/>
              </a:rPr>
              <a:t>Li, </a:t>
            </a:r>
            <a:r>
              <a:rPr sz="1200" b="1" spc="-5" dirty="0">
                <a:latin typeface="Arial"/>
                <a:cs typeface="Arial"/>
              </a:rPr>
              <a:t>CW </a:t>
            </a:r>
            <a:r>
              <a:rPr sz="1200" b="1" dirty="0">
                <a:latin typeface="Arial"/>
                <a:cs typeface="Arial"/>
              </a:rPr>
              <a:t>Tseng, EJ </a:t>
            </a:r>
            <a:r>
              <a:rPr sz="1200" b="1" spc="-10" dirty="0">
                <a:latin typeface="Arial"/>
                <a:cs typeface="Arial"/>
              </a:rPr>
              <a:t>McCluskey, </a:t>
            </a:r>
            <a:r>
              <a:rPr sz="1200" b="1" dirty="0">
                <a:latin typeface="Arial"/>
                <a:cs typeface="Arial"/>
              </a:rPr>
              <a:t>“Testing </a:t>
            </a:r>
            <a:r>
              <a:rPr sz="1200" b="1" spc="-5" dirty="0">
                <a:latin typeface="Arial"/>
                <a:cs typeface="Arial"/>
              </a:rPr>
              <a:t>for resistive </a:t>
            </a:r>
            <a:r>
              <a:rPr sz="1200" b="1" dirty="0">
                <a:latin typeface="Arial"/>
                <a:cs typeface="Arial"/>
              </a:rPr>
              <a:t>opens and </a:t>
            </a:r>
            <a:r>
              <a:rPr sz="1200" b="1" spc="-5" dirty="0">
                <a:latin typeface="Arial"/>
                <a:cs typeface="Arial"/>
              </a:rPr>
              <a:t>stuck </a:t>
            </a:r>
            <a:r>
              <a:rPr sz="1200" b="1" dirty="0">
                <a:latin typeface="Arial"/>
                <a:cs typeface="Arial"/>
              </a:rPr>
              <a:t>opens,” Int’l Test </a:t>
            </a:r>
            <a:r>
              <a:rPr sz="1200" b="1" spc="-5" dirty="0">
                <a:latin typeface="Arial"/>
                <a:cs typeface="Arial"/>
              </a:rPr>
              <a:t>Conf.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2001.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[Li </a:t>
            </a:r>
            <a:r>
              <a:rPr sz="1200" b="1" dirty="0">
                <a:latin typeface="Arial"/>
                <a:cs typeface="Arial"/>
              </a:rPr>
              <a:t>02] </a:t>
            </a:r>
            <a:r>
              <a:rPr sz="1200" b="1" spc="-5" dirty="0">
                <a:latin typeface="Arial"/>
                <a:cs typeface="Arial"/>
              </a:rPr>
              <a:t>JCM </a:t>
            </a:r>
            <a:r>
              <a:rPr sz="1200" b="1" dirty="0">
                <a:latin typeface="Arial"/>
                <a:cs typeface="Arial"/>
              </a:rPr>
              <a:t>Li, “Test and </a:t>
            </a:r>
            <a:r>
              <a:rPr sz="1200" b="1" spc="-5" dirty="0">
                <a:latin typeface="Arial"/>
                <a:cs typeface="Arial"/>
              </a:rPr>
              <a:t>Diagnosis for </a:t>
            </a:r>
            <a:r>
              <a:rPr sz="1200" b="1" dirty="0">
                <a:latin typeface="Arial"/>
                <a:cs typeface="Arial"/>
              </a:rPr>
              <a:t>Open </a:t>
            </a:r>
            <a:r>
              <a:rPr sz="1200" b="1" spc="-5" dirty="0">
                <a:latin typeface="Arial"/>
                <a:cs typeface="Arial"/>
              </a:rPr>
              <a:t>Defects </a:t>
            </a:r>
            <a:r>
              <a:rPr sz="1200" b="1" dirty="0">
                <a:latin typeface="Arial"/>
                <a:cs typeface="Arial"/>
              </a:rPr>
              <a:t>in digital </a:t>
            </a:r>
            <a:r>
              <a:rPr sz="1200" b="1" spc="-5" dirty="0">
                <a:latin typeface="Arial"/>
                <a:cs typeface="Arial"/>
              </a:rPr>
              <a:t>CMOS IC,” </a:t>
            </a:r>
            <a:r>
              <a:rPr sz="1200" b="1" dirty="0">
                <a:latin typeface="Arial"/>
                <a:cs typeface="Arial"/>
              </a:rPr>
              <a:t>PhD Thesis, </a:t>
            </a:r>
            <a:r>
              <a:rPr sz="1200" b="1" spc="-5" dirty="0">
                <a:latin typeface="Arial"/>
                <a:cs typeface="Arial"/>
              </a:rPr>
              <a:t>Stanford </a:t>
            </a:r>
            <a:r>
              <a:rPr sz="1200" b="1" spc="-10" dirty="0">
                <a:latin typeface="Arial"/>
                <a:cs typeface="Arial"/>
              </a:rPr>
              <a:t>Univ.</a:t>
            </a:r>
            <a:r>
              <a:rPr sz="1200" b="1" spc="7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2002.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[Millman </a:t>
            </a:r>
            <a:r>
              <a:rPr sz="1200" b="1" dirty="0">
                <a:latin typeface="Arial"/>
                <a:cs typeface="Arial"/>
              </a:rPr>
              <a:t>88] S.D. Millman, </a:t>
            </a:r>
            <a:r>
              <a:rPr sz="1200" b="1" spc="-5" dirty="0">
                <a:latin typeface="Arial"/>
                <a:cs typeface="Arial"/>
              </a:rPr>
              <a:t>McCluskey, </a:t>
            </a:r>
            <a:r>
              <a:rPr sz="1200" b="1" dirty="0">
                <a:latin typeface="Arial"/>
                <a:cs typeface="Arial"/>
              </a:rPr>
              <a:t>“Detecting bridging faults </a:t>
            </a:r>
            <a:r>
              <a:rPr sz="1200" b="1" spc="5" dirty="0">
                <a:latin typeface="Arial"/>
                <a:cs typeface="Arial"/>
              </a:rPr>
              <a:t>with </a:t>
            </a:r>
            <a:r>
              <a:rPr sz="1200" b="1" dirty="0">
                <a:latin typeface="Arial"/>
                <a:cs typeface="Arial"/>
              </a:rPr>
              <a:t>stuck-at test sets,” ITC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1988.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[Millman </a:t>
            </a:r>
            <a:r>
              <a:rPr sz="1200" b="1" dirty="0">
                <a:latin typeface="Arial"/>
                <a:cs typeface="Arial"/>
              </a:rPr>
              <a:t>89] S.D. Millman, </a:t>
            </a:r>
            <a:r>
              <a:rPr sz="1200" b="1" spc="-5" dirty="0">
                <a:latin typeface="Arial"/>
                <a:cs typeface="Arial"/>
              </a:rPr>
              <a:t>McCluskey, </a:t>
            </a:r>
            <a:r>
              <a:rPr sz="1200" b="1" dirty="0">
                <a:latin typeface="Arial"/>
                <a:cs typeface="Arial"/>
              </a:rPr>
              <a:t>“Detecting stuck-open faults </a:t>
            </a:r>
            <a:r>
              <a:rPr sz="1200" b="1" spc="5" dirty="0">
                <a:latin typeface="Arial"/>
                <a:cs typeface="Arial"/>
              </a:rPr>
              <a:t>with </a:t>
            </a:r>
            <a:r>
              <a:rPr sz="1200" b="1" dirty="0">
                <a:latin typeface="Arial"/>
                <a:cs typeface="Arial"/>
              </a:rPr>
              <a:t>stuck-at test sets,” ITC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1989.</a:t>
            </a:r>
            <a:endParaRPr sz="1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[Hughes </a:t>
            </a:r>
            <a:r>
              <a:rPr sz="1200" b="1" dirty="0">
                <a:latin typeface="Arial"/>
                <a:cs typeface="Arial"/>
              </a:rPr>
              <a:t>86] J </a:t>
            </a:r>
            <a:r>
              <a:rPr sz="1200" b="1" spc="-5" dirty="0">
                <a:latin typeface="Arial"/>
                <a:cs typeface="Arial"/>
              </a:rPr>
              <a:t>Hughes </a:t>
            </a:r>
            <a:r>
              <a:rPr sz="1200" b="1" dirty="0">
                <a:latin typeface="Arial"/>
                <a:cs typeface="Arial"/>
              </a:rPr>
              <a:t>and EJ </a:t>
            </a:r>
            <a:r>
              <a:rPr sz="1200" b="1" spc="-10" dirty="0">
                <a:latin typeface="Arial"/>
                <a:cs typeface="Arial"/>
              </a:rPr>
              <a:t>McCluskey, </a:t>
            </a:r>
            <a:r>
              <a:rPr sz="1200" b="1" spc="-5" dirty="0">
                <a:latin typeface="Arial"/>
                <a:cs typeface="Arial"/>
              </a:rPr>
              <a:t>“Multiple </a:t>
            </a:r>
            <a:r>
              <a:rPr sz="1200" b="1" dirty="0">
                <a:latin typeface="Arial"/>
                <a:cs typeface="Arial"/>
              </a:rPr>
              <a:t>stuck-at fault </a:t>
            </a:r>
            <a:r>
              <a:rPr sz="1200" b="1" spc="-5" dirty="0">
                <a:latin typeface="Arial"/>
                <a:cs typeface="Arial"/>
              </a:rPr>
              <a:t>coverage </a:t>
            </a:r>
            <a:r>
              <a:rPr sz="1200" b="1" dirty="0">
                <a:latin typeface="Arial"/>
                <a:cs typeface="Arial"/>
              </a:rPr>
              <a:t>of single stuck-at fault test sets,” Int’l Test  </a:t>
            </a:r>
            <a:r>
              <a:rPr sz="1200" b="1" spc="-5" dirty="0">
                <a:latin typeface="Arial"/>
                <a:cs typeface="Arial"/>
              </a:rPr>
              <a:t>Conf.,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1986.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[McCluskey </a:t>
            </a:r>
            <a:r>
              <a:rPr sz="1200" b="1" dirty="0">
                <a:latin typeface="Arial"/>
                <a:cs typeface="Arial"/>
              </a:rPr>
              <a:t>00] EJ </a:t>
            </a:r>
            <a:r>
              <a:rPr sz="1200" b="1" spc="-5" dirty="0">
                <a:latin typeface="Arial"/>
                <a:cs typeface="Arial"/>
              </a:rPr>
              <a:t>McCluskey </a:t>
            </a:r>
            <a:r>
              <a:rPr sz="1200" b="1" dirty="0">
                <a:latin typeface="Arial"/>
                <a:cs typeface="Arial"/>
              </a:rPr>
              <a:t>and </a:t>
            </a:r>
            <a:r>
              <a:rPr sz="1200" b="1" spc="-5" dirty="0">
                <a:latin typeface="Arial"/>
                <a:cs typeface="Arial"/>
              </a:rPr>
              <a:t>CW </a:t>
            </a:r>
            <a:r>
              <a:rPr sz="1200" b="1" dirty="0">
                <a:latin typeface="Arial"/>
                <a:cs typeface="Arial"/>
              </a:rPr>
              <a:t>Tseng, “Stuck-fault tests </a:t>
            </a:r>
            <a:r>
              <a:rPr sz="1200" b="1" spc="-10" dirty="0">
                <a:latin typeface="Arial"/>
                <a:cs typeface="Arial"/>
              </a:rPr>
              <a:t>vs. </a:t>
            </a:r>
            <a:r>
              <a:rPr sz="1200" b="1" spc="-5" dirty="0">
                <a:latin typeface="Arial"/>
                <a:cs typeface="Arial"/>
              </a:rPr>
              <a:t>actual </a:t>
            </a:r>
            <a:r>
              <a:rPr sz="1200" b="1" dirty="0">
                <a:latin typeface="Arial"/>
                <a:cs typeface="Arial"/>
              </a:rPr>
              <a:t>defects, ” </a:t>
            </a:r>
            <a:r>
              <a:rPr sz="1200" b="1" spc="-5" dirty="0">
                <a:latin typeface="Arial"/>
                <a:cs typeface="Arial"/>
              </a:rPr>
              <a:t>Int’l </a:t>
            </a:r>
            <a:r>
              <a:rPr sz="1200" b="1" dirty="0">
                <a:latin typeface="Arial"/>
                <a:cs typeface="Arial"/>
              </a:rPr>
              <a:t>Test </a:t>
            </a:r>
            <a:r>
              <a:rPr sz="1200" b="1" spc="-5" dirty="0">
                <a:latin typeface="Arial"/>
                <a:cs typeface="Arial"/>
              </a:rPr>
              <a:t>Conf.,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2000.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dirty="0">
                <a:latin typeface="Arial"/>
                <a:cs typeface="Arial"/>
              </a:rPr>
              <a:t>[Smith 85] G.L. </a:t>
            </a:r>
            <a:r>
              <a:rPr sz="1200" b="1" spc="-5" dirty="0">
                <a:latin typeface="Arial"/>
                <a:cs typeface="Arial"/>
              </a:rPr>
              <a:t>Smith, “Model for </a:t>
            </a:r>
            <a:r>
              <a:rPr sz="1200" b="1" dirty="0">
                <a:latin typeface="Arial"/>
                <a:cs typeface="Arial"/>
              </a:rPr>
              <a:t>Delay Faults,” IEEE Int’l Test </a:t>
            </a:r>
            <a:r>
              <a:rPr sz="1200" b="1" spc="-5" dirty="0">
                <a:latin typeface="Arial"/>
                <a:cs typeface="Arial"/>
              </a:rPr>
              <a:t>Conf., </a:t>
            </a:r>
            <a:r>
              <a:rPr sz="1200" b="1" dirty="0">
                <a:latin typeface="Arial"/>
                <a:cs typeface="Arial"/>
              </a:rPr>
              <a:t>pp.342-349, </a:t>
            </a:r>
            <a:r>
              <a:rPr sz="1200" b="1" spc="-5" dirty="0">
                <a:latin typeface="Arial"/>
                <a:cs typeface="Arial"/>
              </a:rPr>
              <a:t>1985.</a:t>
            </a:r>
            <a:endParaRPr sz="1200">
              <a:latin typeface="Arial"/>
              <a:cs typeface="Arial"/>
            </a:endParaRPr>
          </a:p>
          <a:p>
            <a:pPr marL="355600" marR="74295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dirty="0">
                <a:latin typeface="Arial"/>
                <a:cs typeface="Arial"/>
              </a:rPr>
              <a:t>[Wadsack 78] </a:t>
            </a:r>
            <a:r>
              <a:rPr sz="1200" b="1" spc="-5" dirty="0">
                <a:latin typeface="Arial"/>
                <a:cs typeface="Arial"/>
              </a:rPr>
              <a:t>RL Wadsack, </a:t>
            </a:r>
            <a:r>
              <a:rPr sz="1200" b="1" dirty="0">
                <a:latin typeface="Arial"/>
                <a:cs typeface="Arial"/>
              </a:rPr>
              <a:t>“Fault </a:t>
            </a:r>
            <a:r>
              <a:rPr sz="1200" b="1" spc="-5" dirty="0">
                <a:latin typeface="Arial"/>
                <a:cs typeface="Arial"/>
              </a:rPr>
              <a:t>modeling </a:t>
            </a:r>
            <a:r>
              <a:rPr sz="1200" b="1" dirty="0">
                <a:latin typeface="Arial"/>
                <a:cs typeface="Arial"/>
              </a:rPr>
              <a:t>and logic simulation of </a:t>
            </a:r>
            <a:r>
              <a:rPr sz="1200" b="1" spc="-5" dirty="0">
                <a:latin typeface="Arial"/>
                <a:cs typeface="Arial"/>
              </a:rPr>
              <a:t>CMOS </a:t>
            </a:r>
            <a:r>
              <a:rPr sz="1200" b="1" dirty="0">
                <a:latin typeface="Arial"/>
                <a:cs typeface="Arial"/>
              </a:rPr>
              <a:t>and </a:t>
            </a:r>
            <a:r>
              <a:rPr sz="1200" b="1" spc="-5" dirty="0">
                <a:latin typeface="Arial"/>
                <a:cs typeface="Arial"/>
              </a:rPr>
              <a:t>MOS integrated </a:t>
            </a:r>
            <a:r>
              <a:rPr sz="1200" b="1" dirty="0">
                <a:latin typeface="Arial"/>
                <a:cs typeface="Arial"/>
              </a:rPr>
              <a:t>circuits” </a:t>
            </a:r>
            <a:r>
              <a:rPr sz="1200" b="1" spc="-5" dirty="0">
                <a:latin typeface="Arial"/>
                <a:cs typeface="Arial"/>
              </a:rPr>
              <a:t>Bell </a:t>
            </a:r>
            <a:r>
              <a:rPr sz="1200" b="1" spc="-10" dirty="0">
                <a:latin typeface="Arial"/>
                <a:cs typeface="Arial"/>
              </a:rPr>
              <a:t>System  </a:t>
            </a:r>
            <a:r>
              <a:rPr sz="1200" b="1" spc="-5" dirty="0">
                <a:latin typeface="Arial"/>
                <a:cs typeface="Arial"/>
              </a:rPr>
              <a:t>Technology,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1978.</a:t>
            </a:r>
            <a:endParaRPr sz="1200">
              <a:latin typeface="Arial"/>
              <a:cs typeface="Arial"/>
            </a:endParaRPr>
          </a:p>
          <a:p>
            <a:pPr marL="355600" marR="64769" indent="-34290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dirty="0">
                <a:latin typeface="Arial"/>
                <a:cs typeface="Arial"/>
              </a:rPr>
              <a:t>[Williams </a:t>
            </a:r>
            <a:r>
              <a:rPr sz="1200" b="1" spc="-5" dirty="0">
                <a:latin typeface="Arial"/>
                <a:cs typeface="Arial"/>
              </a:rPr>
              <a:t>73] MJY </a:t>
            </a:r>
            <a:r>
              <a:rPr sz="1200" b="1" dirty="0">
                <a:latin typeface="Arial"/>
                <a:cs typeface="Arial"/>
              </a:rPr>
              <a:t>Williams and </a:t>
            </a:r>
            <a:r>
              <a:rPr sz="1200" b="1" spc="-5" dirty="0">
                <a:latin typeface="Arial"/>
                <a:cs typeface="Arial"/>
              </a:rPr>
              <a:t>JB </a:t>
            </a:r>
            <a:r>
              <a:rPr sz="1200" b="1" spc="-10" dirty="0">
                <a:latin typeface="Arial"/>
                <a:cs typeface="Arial"/>
              </a:rPr>
              <a:t>Angell, </a:t>
            </a:r>
            <a:r>
              <a:rPr sz="1200" b="1" spc="-5" dirty="0">
                <a:latin typeface="Arial"/>
                <a:cs typeface="Arial"/>
              </a:rPr>
              <a:t>"Enhancing </a:t>
            </a:r>
            <a:r>
              <a:rPr sz="1200" b="1" dirty="0">
                <a:latin typeface="Arial"/>
                <a:cs typeface="Arial"/>
              </a:rPr>
              <a:t>testability of large-scale integrated circuits </a:t>
            </a:r>
            <a:r>
              <a:rPr sz="1200" b="1" spc="-10" dirty="0">
                <a:latin typeface="Arial"/>
                <a:cs typeface="Arial"/>
              </a:rPr>
              <a:t>via </a:t>
            </a:r>
            <a:r>
              <a:rPr sz="1200" b="1" spc="-5" dirty="0">
                <a:latin typeface="Arial"/>
                <a:cs typeface="Arial"/>
              </a:rPr>
              <a:t>test points </a:t>
            </a:r>
            <a:r>
              <a:rPr sz="1200" b="1" dirty="0">
                <a:latin typeface="Arial"/>
                <a:cs typeface="Arial"/>
              </a:rPr>
              <a:t>and  additional logic." IEEE Transactions on </a:t>
            </a:r>
            <a:r>
              <a:rPr sz="1200" b="1" spc="-5" dirty="0">
                <a:latin typeface="Arial"/>
                <a:cs typeface="Arial"/>
              </a:rPr>
              <a:t>Computers 100.1 (1973):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46-60.</a:t>
            </a:r>
            <a:endParaRPr sz="1200">
              <a:latin typeface="Arial"/>
              <a:cs typeface="Arial"/>
            </a:endParaRPr>
          </a:p>
          <a:p>
            <a:pPr marL="355600" marR="46990" indent="-34290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2083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200" b="1" spc="-5" dirty="0">
                <a:latin typeface="Arial"/>
                <a:cs typeface="Arial"/>
              </a:rPr>
              <a:t>[Woodhall 87] </a:t>
            </a:r>
            <a:r>
              <a:rPr sz="1200" b="1" dirty="0">
                <a:latin typeface="Arial"/>
                <a:cs typeface="Arial"/>
              </a:rPr>
              <a:t>BW Woodhall, </a:t>
            </a:r>
            <a:r>
              <a:rPr sz="1200" b="1" spc="-5" dirty="0">
                <a:latin typeface="Arial"/>
                <a:cs typeface="Arial"/>
              </a:rPr>
              <a:t>BD </a:t>
            </a:r>
            <a:r>
              <a:rPr sz="1200" b="1" dirty="0">
                <a:latin typeface="Arial"/>
                <a:cs typeface="Arial"/>
              </a:rPr>
              <a:t>Newman, </a:t>
            </a:r>
            <a:r>
              <a:rPr sz="1200" b="1" spc="-20" dirty="0">
                <a:latin typeface="Arial"/>
                <a:cs typeface="Arial"/>
              </a:rPr>
              <a:t>AG </a:t>
            </a:r>
            <a:r>
              <a:rPr sz="1200" b="1" dirty="0">
                <a:latin typeface="Arial"/>
                <a:cs typeface="Arial"/>
              </a:rPr>
              <a:t>Sammuli, </a:t>
            </a:r>
            <a:r>
              <a:rPr sz="1200" b="1" spc="-5" dirty="0">
                <a:latin typeface="Arial"/>
                <a:cs typeface="Arial"/>
              </a:rPr>
              <a:t>“Empirical results </a:t>
            </a:r>
            <a:r>
              <a:rPr sz="1200" b="1" dirty="0">
                <a:latin typeface="Arial"/>
                <a:cs typeface="Arial"/>
              </a:rPr>
              <a:t>on undetected </a:t>
            </a:r>
            <a:r>
              <a:rPr sz="1200" b="1" spc="-5" dirty="0">
                <a:latin typeface="Arial"/>
                <a:cs typeface="Arial"/>
              </a:rPr>
              <a:t>CMOS </a:t>
            </a:r>
            <a:r>
              <a:rPr sz="1200" b="1" dirty="0">
                <a:latin typeface="Arial"/>
                <a:cs typeface="Arial"/>
              </a:rPr>
              <a:t>stuck-open failures”  Int’l Test </a:t>
            </a:r>
            <a:r>
              <a:rPr sz="1200" b="1" spc="-5" dirty="0">
                <a:latin typeface="Arial"/>
                <a:cs typeface="Arial"/>
              </a:rPr>
              <a:t>Conf.,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1987.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27174</TotalTime>
  <Words>2303</Words>
  <Application>Microsoft Macintosh PowerPoint</Application>
  <PresentationFormat>On-screen Show (4:3)</PresentationFormat>
  <Paragraphs>585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Arial-BoldItalicMT</vt:lpstr>
      <vt:lpstr>Calibri</vt:lpstr>
      <vt:lpstr>Cambria Math</vt:lpstr>
      <vt:lpstr>Helvetica</vt:lpstr>
      <vt:lpstr>HelveticaNeue-BoldItalic</vt:lpstr>
      <vt:lpstr>Times New Roman</vt:lpstr>
      <vt:lpstr>TimesNewRomanPS-BoldItalicMT</vt:lpstr>
      <vt:lpstr>Wingdings</vt:lpstr>
      <vt:lpstr>Office Theme</vt:lpstr>
      <vt:lpstr>ECE 553: TESTING AND TESTABLE DESIGN OF DIGITAL SYSTEMS</vt:lpstr>
      <vt:lpstr>Fault Modeling</vt:lpstr>
      <vt:lpstr>Why Faulty NAND Has Memory ?</vt:lpstr>
      <vt:lpstr>Classification of Fault Models</vt:lpstr>
      <vt:lpstr>Stuck-open Fault [Wadsack 78]</vt:lpstr>
      <vt:lpstr>Sequence Dependency</vt:lpstr>
      <vt:lpstr>Classification of Fault Models</vt:lpstr>
      <vt:lpstr>Stuck-On Fault</vt:lpstr>
      <vt:lpstr>IDDQ Testing [Mark 81]</vt:lpstr>
      <vt:lpstr>Classification of Fault Models</vt:lpstr>
      <vt:lpstr>Cell-aware Test (CAT) [Hapke 09]</vt:lpstr>
      <vt:lpstr>Fault Modeling</vt:lpstr>
      <vt:lpstr>Classification of Fault Models</vt:lpstr>
      <vt:lpstr>Summary</vt:lpstr>
      <vt:lpstr>Fault Modeling</vt:lpstr>
      <vt:lpstr>Fault Detection</vt:lpstr>
      <vt:lpstr>Activation &amp; Propagation</vt:lpstr>
      <vt:lpstr>Fault Classes</vt:lpstr>
      <vt:lpstr>Untestable Faults</vt:lpstr>
      <vt:lpstr>Undetected Faults</vt:lpstr>
      <vt:lpstr>Quiz</vt:lpstr>
      <vt:lpstr>Fault Modeling</vt:lpstr>
      <vt:lpstr>More Metrics</vt:lpstr>
      <vt:lpstr>Quiz</vt:lpstr>
      <vt:lpstr>Revisit: DL =1-Y(1-FC)</vt:lpstr>
      <vt:lpstr>Defect → Faults</vt:lpstr>
      <vt:lpstr>Defect → Faults (2)</vt:lpstr>
      <vt:lpstr>Fault Modeling</vt:lpstr>
      <vt:lpstr>Concluding Remarks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cmli</dc:creator>
  <cp:lastModifiedBy>Azadeh Davoodi</cp:lastModifiedBy>
  <cp:revision>266</cp:revision>
  <cp:lastPrinted>2025-02-03T14:25:21Z</cp:lastPrinted>
  <dcterms:created xsi:type="dcterms:W3CDTF">2022-08-17T00:47:06Z</dcterms:created>
  <dcterms:modified xsi:type="dcterms:W3CDTF">2026-09-17T14:20:47Z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2022-08-17T00:00:00Z</vt:filetime>
  </property>
</Properties>
</file>