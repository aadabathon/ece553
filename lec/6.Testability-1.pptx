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22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4"/>
    <p:restoredTop sz="86798"/>
  </p:normalViewPr>
  <p:slideViewPr>
    <p:cSldViewPr>
      <p:cViewPr varScale="1">
        <p:scale>
          <a:sx n="102" d="100"/>
          <a:sy n="102" d="100"/>
        </p:scale>
        <p:origin x="96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138C7-BBC3-024B-8CB8-DC3310746DDC}" type="datetimeFigureOut">
              <a:rPr lang="en-US" smtClean="0"/>
              <a:t>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0E862-1780-1B4D-BC74-84E0E7BA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0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CC0 = 2 for y. This is by </a:t>
            </a:r>
            <a:r>
              <a:rPr lang="en-US"/>
              <a:t>setting bh=</a:t>
            </a:r>
            <a:r>
              <a:rPr lang="en-US" dirty="0"/>
              <a:t>0 and going through gate # 5. So 1 PI + 1 gate = 2 to compute CC0.</a:t>
            </a:r>
          </a:p>
          <a:p>
            <a:endParaRPr lang="en-US" dirty="0"/>
          </a:p>
          <a:p>
            <a:r>
              <a:rPr lang="en-US" dirty="0"/>
              <a:t>CC1=7 for y. It is obtained by a=0, b=1, c=0, going through gates # 1, #2,  #3, #5 which gives 7 (3 PIs + 4 gates). The assignment was calculated by following the path on how CC1 was 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0E862-1780-1B4D-BC74-84E0E7BA5F0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80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6.1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rgbClr val="9933FF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6.1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rgbClr val="9933FF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6.1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rgbClr val="9933FF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6.1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6.1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82746" y="1558290"/>
            <a:ext cx="2778506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>
                <a:solidFill>
                  <a:srgbClr val="9933FF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1100" y="1978025"/>
            <a:ext cx="6788150" cy="2249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3772" y="6560329"/>
            <a:ext cx="3132454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6.1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448712A-7B4A-AE3A-614D-656387799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>
                <a:solidFill>
                  <a:srgbClr val="FF0000"/>
                </a:solidFill>
                <a:latin typeface="Arial"/>
                <a:cs typeface="Arial"/>
              </a:rPr>
              <a:t>Testability</a:t>
            </a:r>
            <a:r>
              <a:rPr lang="en-US" sz="36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3600" b="1" spc="-5" dirty="0">
                <a:solidFill>
                  <a:srgbClr val="FF0000"/>
                </a:solidFill>
                <a:latin typeface="Arial"/>
                <a:cs typeface="Arial"/>
              </a:rPr>
              <a:t>Measures</a:t>
            </a:r>
            <a:endParaRPr lang="en-US"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574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0079" y="164414"/>
            <a:ext cx="6934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0665" algn="l"/>
              </a:tabLst>
            </a:pPr>
            <a:r>
              <a:rPr i="0" dirty="0">
                <a:latin typeface="Arial"/>
                <a:cs typeface="Arial"/>
              </a:rPr>
              <a:t>Course</a:t>
            </a:r>
            <a:r>
              <a:rPr i="0" spc="10" dirty="0">
                <a:latin typeface="Arial"/>
                <a:cs typeface="Arial"/>
              </a:rPr>
              <a:t> </a:t>
            </a:r>
            <a:r>
              <a:rPr i="0" spc="-5" dirty="0">
                <a:latin typeface="Arial"/>
                <a:cs typeface="Arial"/>
              </a:rPr>
              <a:t>Roadmap	</a:t>
            </a:r>
            <a:r>
              <a:rPr i="0" dirty="0">
                <a:latin typeface="Arial"/>
                <a:cs typeface="Arial"/>
              </a:rPr>
              <a:t>(EDA</a:t>
            </a:r>
            <a:r>
              <a:rPr i="0" spc="-60" dirty="0">
                <a:latin typeface="Arial"/>
                <a:cs typeface="Arial"/>
              </a:rPr>
              <a:t> </a:t>
            </a:r>
            <a:r>
              <a:rPr i="0" spc="-5" dirty="0">
                <a:latin typeface="Arial"/>
                <a:cs typeface="Arial"/>
              </a:rPr>
              <a:t>Topics)</a:t>
            </a:r>
          </a:p>
        </p:txBody>
      </p:sp>
      <p:sp>
        <p:nvSpPr>
          <p:cNvPr id="5" name="object 5"/>
          <p:cNvSpPr/>
          <p:nvPr/>
        </p:nvSpPr>
        <p:spPr>
          <a:xfrm>
            <a:off x="2921507" y="836675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3191" y="1560575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3"/>
                </a:moveTo>
                <a:lnTo>
                  <a:pt x="0" y="260603"/>
                </a:lnTo>
                <a:lnTo>
                  <a:pt x="425958" y="521208"/>
                </a:lnTo>
                <a:lnTo>
                  <a:pt x="851916" y="260603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3"/>
                </a:lnTo>
                <a:lnTo>
                  <a:pt x="638937" y="260603"/>
                </a:lnTo>
                <a:lnTo>
                  <a:pt x="638937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1507" y="2157983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32505" y="2210562"/>
            <a:ext cx="31832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3200" b="1" spc="-5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Simulation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41291" y="2881883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1"/>
                </a:moveTo>
                <a:lnTo>
                  <a:pt x="0" y="259841"/>
                </a:lnTo>
                <a:lnTo>
                  <a:pt x="425958" y="519683"/>
                </a:lnTo>
                <a:lnTo>
                  <a:pt x="851916" y="259841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1"/>
                </a:lnTo>
                <a:lnTo>
                  <a:pt x="638937" y="259841"/>
                </a:lnTo>
                <a:lnTo>
                  <a:pt x="638937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21507" y="3503676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80359" y="3557142"/>
            <a:ext cx="24866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Comb.</a:t>
            </a:r>
            <a:r>
              <a:rPr sz="3200" b="1" spc="-21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79391" y="4227576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4"/>
                </a:moveTo>
                <a:lnTo>
                  <a:pt x="0" y="260604"/>
                </a:lnTo>
                <a:lnTo>
                  <a:pt x="425958" y="521207"/>
                </a:lnTo>
                <a:lnTo>
                  <a:pt x="851916" y="260604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4"/>
                </a:lnTo>
                <a:lnTo>
                  <a:pt x="638937" y="260604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21507" y="4824984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83051" y="4878070"/>
            <a:ext cx="20815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Seq.</a:t>
            </a:r>
            <a:r>
              <a:rPr sz="3200" b="1" spc="-204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17491" y="5548884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1"/>
                </a:moveTo>
                <a:lnTo>
                  <a:pt x="0" y="259841"/>
                </a:lnTo>
                <a:lnTo>
                  <a:pt x="425958" y="519683"/>
                </a:lnTo>
                <a:lnTo>
                  <a:pt x="851916" y="259841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1"/>
                </a:lnTo>
                <a:lnTo>
                  <a:pt x="638937" y="259841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21507" y="6106667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83"/>
                </a:lnTo>
                <a:lnTo>
                  <a:pt x="31638" y="31619"/>
                </a:lnTo>
                <a:lnTo>
                  <a:pt x="8491" y="65933"/>
                </a:lnTo>
                <a:lnTo>
                  <a:pt x="0" y="107949"/>
                </a:lnTo>
                <a:lnTo>
                  <a:pt x="0" y="539749"/>
                </a:lnTo>
                <a:lnTo>
                  <a:pt x="8491" y="581766"/>
                </a:lnTo>
                <a:lnTo>
                  <a:pt x="31638" y="616080"/>
                </a:lnTo>
                <a:lnTo>
                  <a:pt x="65954" y="639216"/>
                </a:lnTo>
                <a:lnTo>
                  <a:pt x="107950" y="647699"/>
                </a:lnTo>
                <a:lnTo>
                  <a:pt x="3295142" y="647699"/>
                </a:lnTo>
                <a:lnTo>
                  <a:pt x="3337137" y="639216"/>
                </a:lnTo>
                <a:lnTo>
                  <a:pt x="3371453" y="616080"/>
                </a:lnTo>
                <a:lnTo>
                  <a:pt x="3394600" y="581766"/>
                </a:lnTo>
                <a:lnTo>
                  <a:pt x="3403092" y="539749"/>
                </a:lnTo>
                <a:lnTo>
                  <a:pt x="3403092" y="107949"/>
                </a:lnTo>
                <a:lnTo>
                  <a:pt x="3394600" y="65933"/>
                </a:lnTo>
                <a:lnTo>
                  <a:pt x="3371453" y="31619"/>
                </a:lnTo>
                <a:lnTo>
                  <a:pt x="3337137" y="8483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10483" y="6160719"/>
            <a:ext cx="20250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Delay</a:t>
            </a:r>
            <a:r>
              <a:rPr sz="3200" b="1" spc="-8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5" dirty="0">
                <a:solidFill>
                  <a:srgbClr val="FFFFFF"/>
                </a:solidFill>
                <a:latin typeface="Helvetica"/>
                <a:cs typeface="Helvetica"/>
              </a:rPr>
              <a:t>Test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68440" y="2170176"/>
            <a:ext cx="2296795" cy="647700"/>
          </a:xfrm>
          <a:custGeom>
            <a:avLst/>
            <a:gdLst/>
            <a:ahLst/>
            <a:cxnLst/>
            <a:rect l="l" t="t" r="r" b="b"/>
            <a:pathLst>
              <a:path w="2296795" h="647700">
                <a:moveTo>
                  <a:pt x="2188717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2188717" y="647700"/>
                </a:lnTo>
                <a:lnTo>
                  <a:pt x="2230713" y="639208"/>
                </a:lnTo>
                <a:lnTo>
                  <a:pt x="2265029" y="616061"/>
                </a:lnTo>
                <a:lnTo>
                  <a:pt x="2288176" y="581745"/>
                </a:lnTo>
                <a:lnTo>
                  <a:pt x="2296667" y="539750"/>
                </a:lnTo>
                <a:lnTo>
                  <a:pt x="2296667" y="107950"/>
                </a:lnTo>
                <a:lnTo>
                  <a:pt x="2288176" y="65954"/>
                </a:lnTo>
                <a:lnTo>
                  <a:pt x="2265029" y="31638"/>
                </a:lnTo>
                <a:lnTo>
                  <a:pt x="2230713" y="8491"/>
                </a:lnTo>
                <a:lnTo>
                  <a:pt x="2188717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80454" y="2223262"/>
            <a:ext cx="2007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FFFFFF"/>
                </a:solidFill>
                <a:latin typeface="Helvetica"/>
                <a:cs typeface="Helvetica"/>
              </a:rPr>
              <a:t>Testability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4904" y="848867"/>
            <a:ext cx="2342515" cy="647700"/>
          </a:xfrm>
          <a:custGeom>
            <a:avLst/>
            <a:gdLst/>
            <a:ahLst/>
            <a:cxnLst/>
            <a:rect l="l" t="t" r="r" b="b"/>
            <a:pathLst>
              <a:path w="2342515" h="647700">
                <a:moveTo>
                  <a:pt x="2234438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234438" y="647700"/>
                </a:lnTo>
                <a:lnTo>
                  <a:pt x="2276433" y="639208"/>
                </a:lnTo>
                <a:lnTo>
                  <a:pt x="2310749" y="616061"/>
                </a:lnTo>
                <a:lnTo>
                  <a:pt x="2333896" y="581745"/>
                </a:lnTo>
                <a:lnTo>
                  <a:pt x="2342388" y="539750"/>
                </a:lnTo>
                <a:lnTo>
                  <a:pt x="2342388" y="107950"/>
                </a:lnTo>
                <a:lnTo>
                  <a:pt x="2333896" y="65954"/>
                </a:lnTo>
                <a:lnTo>
                  <a:pt x="2310749" y="31638"/>
                </a:lnTo>
                <a:lnTo>
                  <a:pt x="2276433" y="8491"/>
                </a:lnTo>
                <a:lnTo>
                  <a:pt x="2234438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5038" y="901649"/>
            <a:ext cx="55835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06370" algn="l"/>
              </a:tabLst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Logic</a:t>
            </a:r>
            <a:r>
              <a:rPr sz="3200" b="1" spc="-3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Sim.	</a:t>
            </a:r>
            <a:r>
              <a:rPr sz="4800" b="1" spc="-7" baseline="1736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4800" b="1" spc="-142" baseline="1736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4800" b="1" baseline="1736" dirty="0">
                <a:solidFill>
                  <a:srgbClr val="FFFFFF"/>
                </a:solidFill>
                <a:latin typeface="Helvetica"/>
                <a:cs typeface="Helvetica"/>
              </a:rPr>
              <a:t>Modeling</a:t>
            </a:r>
            <a:endParaRPr sz="4800" baseline="1736">
              <a:latin typeface="Helvetica"/>
              <a:cs typeface="Helvetic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53055" y="1542033"/>
            <a:ext cx="678815" cy="593090"/>
          </a:xfrm>
          <a:custGeom>
            <a:avLst/>
            <a:gdLst/>
            <a:ahLst/>
            <a:cxnLst/>
            <a:rect l="l" t="t" r="r" b="b"/>
            <a:pathLst>
              <a:path w="678814" h="593089">
                <a:moveTo>
                  <a:pt x="351917" y="0"/>
                </a:moveTo>
                <a:lnTo>
                  <a:pt x="12573" y="256666"/>
                </a:lnTo>
                <a:lnTo>
                  <a:pt x="169671" y="464312"/>
                </a:lnTo>
                <a:lnTo>
                  <a:pt x="0" y="592581"/>
                </a:lnTo>
                <a:lnTo>
                  <a:pt x="496443" y="543560"/>
                </a:lnTo>
                <a:lnTo>
                  <a:pt x="628327" y="207644"/>
                </a:lnTo>
                <a:lnTo>
                  <a:pt x="509016" y="207644"/>
                </a:lnTo>
                <a:lnTo>
                  <a:pt x="351917" y="0"/>
                </a:lnTo>
                <a:close/>
              </a:path>
              <a:path w="678814" h="593089">
                <a:moveTo>
                  <a:pt x="678688" y="79375"/>
                </a:moveTo>
                <a:lnTo>
                  <a:pt x="509016" y="207644"/>
                </a:lnTo>
                <a:lnTo>
                  <a:pt x="628327" y="207644"/>
                </a:lnTo>
                <a:lnTo>
                  <a:pt x="678688" y="79375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46291" y="2880232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5" h="558164">
                <a:moveTo>
                  <a:pt x="0" y="122046"/>
                </a:moveTo>
                <a:lnTo>
                  <a:pt x="242316" y="557911"/>
                </a:lnTo>
                <a:lnTo>
                  <a:pt x="740790" y="540512"/>
                </a:lnTo>
                <a:lnTo>
                  <a:pt x="555625" y="435863"/>
                </a:lnTo>
                <a:lnTo>
                  <a:pt x="673810" y="226694"/>
                </a:lnTo>
                <a:lnTo>
                  <a:pt x="185166" y="226694"/>
                </a:lnTo>
                <a:lnTo>
                  <a:pt x="0" y="122046"/>
                </a:lnTo>
                <a:close/>
              </a:path>
              <a:path w="741045" h="558164">
                <a:moveTo>
                  <a:pt x="313309" y="0"/>
                </a:moveTo>
                <a:lnTo>
                  <a:pt x="185166" y="226694"/>
                </a:lnTo>
                <a:lnTo>
                  <a:pt x="673810" y="226694"/>
                </a:lnTo>
                <a:lnTo>
                  <a:pt x="683640" y="209295"/>
                </a:lnTo>
                <a:lnTo>
                  <a:pt x="313309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2148" y="4824984"/>
            <a:ext cx="2295525" cy="647700"/>
          </a:xfrm>
          <a:custGeom>
            <a:avLst/>
            <a:gdLst/>
            <a:ahLst/>
            <a:cxnLst/>
            <a:rect l="l" t="t" r="r" b="b"/>
            <a:pathLst>
              <a:path w="2295525" h="647700">
                <a:moveTo>
                  <a:pt x="2187194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187194" y="647700"/>
                </a:lnTo>
                <a:lnTo>
                  <a:pt x="2229189" y="639208"/>
                </a:lnTo>
                <a:lnTo>
                  <a:pt x="2263505" y="616061"/>
                </a:lnTo>
                <a:lnTo>
                  <a:pt x="2286652" y="581745"/>
                </a:lnTo>
                <a:lnTo>
                  <a:pt x="2295144" y="539750"/>
                </a:lnTo>
                <a:lnTo>
                  <a:pt x="2295144" y="107950"/>
                </a:lnTo>
                <a:lnTo>
                  <a:pt x="2286652" y="65954"/>
                </a:lnTo>
                <a:lnTo>
                  <a:pt x="2263505" y="31638"/>
                </a:lnTo>
                <a:lnTo>
                  <a:pt x="2229189" y="8491"/>
                </a:lnTo>
                <a:lnTo>
                  <a:pt x="2187194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32587" y="4878070"/>
            <a:ext cx="19697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Diagnosis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47341" y="4156583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4" h="558164">
                <a:moveTo>
                  <a:pt x="0" y="122047"/>
                </a:moveTo>
                <a:lnTo>
                  <a:pt x="242442" y="557911"/>
                </a:lnTo>
                <a:lnTo>
                  <a:pt x="740917" y="540512"/>
                </a:lnTo>
                <a:lnTo>
                  <a:pt x="555625" y="435864"/>
                </a:lnTo>
                <a:lnTo>
                  <a:pt x="673927" y="226695"/>
                </a:lnTo>
                <a:lnTo>
                  <a:pt x="185292" y="226695"/>
                </a:lnTo>
                <a:lnTo>
                  <a:pt x="0" y="122047"/>
                </a:lnTo>
                <a:close/>
              </a:path>
              <a:path w="741044" h="558164">
                <a:moveTo>
                  <a:pt x="313308" y="0"/>
                </a:moveTo>
                <a:lnTo>
                  <a:pt x="185292" y="226695"/>
                </a:lnTo>
                <a:lnTo>
                  <a:pt x="673927" y="226695"/>
                </a:lnTo>
                <a:lnTo>
                  <a:pt x="683767" y="209296"/>
                </a:lnTo>
                <a:lnTo>
                  <a:pt x="313308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2360" y="164414"/>
            <a:ext cx="42691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5" dirty="0">
                <a:latin typeface="Arial"/>
                <a:cs typeface="Arial"/>
              </a:rPr>
              <a:t>Testability</a:t>
            </a:r>
            <a:r>
              <a:rPr i="0" spc="-5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Measure</a:t>
            </a:r>
          </a:p>
        </p:txBody>
      </p:sp>
      <p:sp>
        <p:nvSpPr>
          <p:cNvPr id="3" name="object 3"/>
          <p:cNvSpPr/>
          <p:nvPr/>
        </p:nvSpPr>
        <p:spPr>
          <a:xfrm>
            <a:off x="3546123" y="3221457"/>
            <a:ext cx="4803365" cy="25461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5130" y="3904615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7721" y="4387342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225" y="1326895"/>
            <a:ext cx="4149090" cy="1783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SCOAP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(1979)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COP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(1984)</a:t>
            </a:r>
            <a:endParaRPr sz="2000" dirty="0">
              <a:latin typeface="Arial"/>
              <a:cs typeface="Arial"/>
            </a:endParaRPr>
          </a:p>
          <a:p>
            <a:pPr marL="3401060">
              <a:lnSpc>
                <a:spcPts val="2030"/>
              </a:lnSpc>
              <a:spcBef>
                <a:spcPts val="1605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 dirty="0">
              <a:latin typeface="Helvetica"/>
              <a:cs typeface="Helvetica"/>
            </a:endParaRPr>
          </a:p>
          <a:p>
            <a:pPr marL="3401060">
              <a:lnSpc>
                <a:spcPts val="2030"/>
              </a:lnSpc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 dirty="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48603" y="3239261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</a:t>
            </a:r>
            <a:r>
              <a:rPr sz="1800" spc="-15" dirty="0">
                <a:solidFill>
                  <a:srgbClr val="FF0000"/>
                </a:solidFill>
                <a:latin typeface="Helvetica"/>
                <a:cs typeface="Helvetica"/>
              </a:rPr>
              <a:t>2</a:t>
            </a: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87797" y="4024629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48603" y="4146042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</a:t>
            </a:r>
            <a:r>
              <a:rPr sz="1800" spc="-15" dirty="0">
                <a:solidFill>
                  <a:srgbClr val="FF0000"/>
                </a:solidFill>
                <a:latin typeface="Helvetica"/>
                <a:cs typeface="Helvetica"/>
              </a:rPr>
              <a:t>2</a:t>
            </a: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5</a:t>
            </a:r>
            <a:endParaRPr sz="1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4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4344" y="164414"/>
            <a:ext cx="4523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Testability</a:t>
            </a:r>
            <a:r>
              <a:rPr spc="-50" dirty="0"/>
              <a:t> </a:t>
            </a:r>
            <a:r>
              <a:rPr dirty="0"/>
              <a:t>Measures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949565" cy="299569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What is testability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measure?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Metric to measure degree of difficulty to test a</a:t>
            </a:r>
            <a:r>
              <a:rPr sz="2000" b="1" spc="-20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5" dirty="0">
                <a:latin typeface="Arial"/>
                <a:cs typeface="Arial"/>
              </a:rPr>
              <a:t>Two </a:t>
            </a:r>
            <a:r>
              <a:rPr sz="2000" b="1" dirty="0">
                <a:latin typeface="Arial"/>
                <a:cs typeface="Arial"/>
              </a:rPr>
              <a:t>important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components: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Controllability</a:t>
            </a:r>
            <a:endParaRPr sz="2000" dirty="0">
              <a:latin typeface="Arial-BoldItalicMT"/>
              <a:cs typeface="Arial-BoldItalicMT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degree of difficulty to </a:t>
            </a:r>
            <a:r>
              <a:rPr sz="2000" b="1" u="sng" dirty="0">
                <a:latin typeface="Arial"/>
                <a:cs typeface="Arial"/>
              </a:rPr>
              <a:t>control</a:t>
            </a:r>
            <a:r>
              <a:rPr sz="2000" b="1" dirty="0">
                <a:latin typeface="Arial"/>
                <a:cs typeface="Arial"/>
              </a:rPr>
              <a:t> a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signal to 0 or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Observability</a:t>
            </a:r>
            <a:endParaRPr sz="2000" dirty="0">
              <a:latin typeface="Arial-BoldItalicMT"/>
              <a:cs typeface="Arial-BoldItalicMT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degree of difficulty to </a:t>
            </a:r>
            <a:r>
              <a:rPr sz="2000" b="1" u="sng" spc="-5" dirty="0">
                <a:latin typeface="Arial"/>
                <a:cs typeface="Arial"/>
              </a:rPr>
              <a:t>observe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 </a:t>
            </a:r>
            <a:r>
              <a:rPr sz="2000" b="1" spc="-5" dirty="0">
                <a:latin typeface="Arial"/>
                <a:cs typeface="Arial"/>
              </a:rPr>
              <a:t>logic value </a:t>
            </a:r>
            <a:r>
              <a:rPr sz="2000" b="1" dirty="0">
                <a:latin typeface="Arial"/>
                <a:cs typeface="Arial"/>
              </a:rPr>
              <a:t>of a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35" dirty="0">
                <a:latin typeface="Arial"/>
                <a:cs typeface="Arial"/>
              </a:rPr>
              <a:t>signal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8451" y="5876544"/>
            <a:ext cx="8007350" cy="46228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2400" b="1" spc="-20" dirty="0">
                <a:solidFill>
                  <a:srgbClr val="FF0000"/>
                </a:solidFill>
                <a:latin typeface="Helvetica"/>
                <a:cs typeface="Helvetica"/>
              </a:rPr>
              <a:t>Testability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Measures Controllability and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 Observability</a:t>
            </a:r>
            <a:endParaRPr sz="24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5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0167" y="164414"/>
            <a:ext cx="4293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5" dirty="0">
                <a:latin typeface="Arial"/>
                <a:cs typeface="Arial"/>
              </a:rPr>
              <a:t>Testability</a:t>
            </a:r>
            <a:r>
              <a:rPr i="0" spc="-25" dirty="0">
                <a:latin typeface="Arial"/>
                <a:cs typeface="Arial"/>
              </a:rPr>
              <a:t> </a:t>
            </a:r>
            <a:r>
              <a:rPr i="0" spc="-5" dirty="0">
                <a:latin typeface="Arial"/>
                <a:cs typeface="Arial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535035" cy="372922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What is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Testability</a:t>
            </a:r>
            <a:r>
              <a:rPr sz="2000" b="1" i="1" spc="-8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Analysis</a:t>
            </a:r>
            <a:r>
              <a:rPr sz="2000" b="1" dirty="0">
                <a:latin typeface="Arial"/>
                <a:cs typeface="Arial"/>
              </a:rPr>
              <a:t>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Calculate testability measures for a </a:t>
            </a:r>
            <a:r>
              <a:rPr sz="2000" b="1" spc="-5" dirty="0">
                <a:latin typeface="Arial"/>
                <a:cs typeface="Arial"/>
              </a:rPr>
              <a:t>given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Why </a:t>
            </a:r>
            <a:r>
              <a:rPr sz="2000" b="1" spc="-5" dirty="0">
                <a:latin typeface="Arial"/>
                <a:cs typeface="Arial"/>
              </a:rPr>
              <a:t>testability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analysis?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1.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Help ATPG </a:t>
            </a:r>
            <a:r>
              <a:rPr sz="2000" b="1" dirty="0">
                <a:latin typeface="Arial"/>
                <a:cs typeface="Arial"/>
              </a:rPr>
              <a:t>make smart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decision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2.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Insert DFT </a:t>
            </a:r>
            <a:r>
              <a:rPr sz="2000" b="1" dirty="0">
                <a:latin typeface="Arial"/>
                <a:cs typeface="Arial"/>
              </a:rPr>
              <a:t>circuits to </a:t>
            </a:r>
            <a:r>
              <a:rPr sz="2000" b="1" spc="-5" dirty="0">
                <a:latin typeface="Arial"/>
                <a:cs typeface="Arial"/>
              </a:rPr>
              <a:t>improve controllability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observability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When </a:t>
            </a:r>
            <a:r>
              <a:rPr sz="2000" b="1" spc="-5" dirty="0">
                <a:latin typeface="Arial"/>
                <a:cs typeface="Arial"/>
              </a:rPr>
              <a:t>testability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analysis?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In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preprocess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stage </a:t>
            </a:r>
            <a:r>
              <a:rPr sz="2000" b="1" dirty="0">
                <a:latin typeface="Arial"/>
                <a:cs typeface="Arial"/>
              </a:rPr>
              <a:t>of ATPG or DFT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insertion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Requirements of testability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Should run </a:t>
            </a:r>
            <a:r>
              <a:rPr sz="2000" b="1" spc="-5" dirty="0">
                <a:latin typeface="Arial"/>
                <a:cs typeface="Arial"/>
              </a:rPr>
              <a:t>very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fast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Sometimes, accuracy is not </a:t>
            </a:r>
            <a:r>
              <a:rPr sz="2000" b="1" spc="-5" dirty="0">
                <a:latin typeface="Arial"/>
                <a:cs typeface="Arial"/>
              </a:rPr>
              <a:t>very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important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6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863" y="164414"/>
            <a:ext cx="73437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Arial"/>
                <a:cs typeface="Arial"/>
              </a:rPr>
              <a:t>Categories of </a:t>
            </a:r>
            <a:r>
              <a:rPr i="0" spc="-5" dirty="0">
                <a:latin typeface="Arial"/>
                <a:cs typeface="Arial"/>
              </a:rPr>
              <a:t>Testability</a:t>
            </a:r>
            <a:r>
              <a:rPr i="0" spc="-5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997190" cy="411138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1.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Topology-based</a:t>
            </a:r>
            <a:r>
              <a:rPr sz="2000" b="1" i="1" spc="-4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spc="-5" dirty="0"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Only </a:t>
            </a:r>
            <a:r>
              <a:rPr sz="2000" b="1" spc="-5" dirty="0">
                <a:latin typeface="Arial"/>
                <a:cs typeface="Arial"/>
              </a:rPr>
              <a:t>analyzes </a:t>
            </a:r>
            <a:r>
              <a:rPr sz="2000" b="1" dirty="0">
                <a:latin typeface="Arial"/>
                <a:cs typeface="Arial"/>
              </a:rPr>
              <a:t>structure of circuit. </a:t>
            </a:r>
            <a:r>
              <a:rPr sz="2000" b="1" spc="5" dirty="0">
                <a:latin typeface="Arial"/>
                <a:cs typeface="Arial"/>
              </a:rPr>
              <a:t>No </a:t>
            </a:r>
            <a:r>
              <a:rPr sz="2000" b="1" dirty="0">
                <a:latin typeface="Arial"/>
                <a:cs typeface="Arial"/>
              </a:rPr>
              <a:t>test </a:t>
            </a:r>
            <a:r>
              <a:rPr sz="2000" b="1" spc="-5" dirty="0">
                <a:latin typeface="Arial"/>
                <a:cs typeface="Arial"/>
              </a:rPr>
              <a:t>vectors </a:t>
            </a:r>
            <a:r>
              <a:rPr sz="2000" b="1" dirty="0">
                <a:latin typeface="Arial"/>
                <a:cs typeface="Arial"/>
              </a:rPr>
              <a:t>are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given.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SCOAP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2.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Probability-based</a:t>
            </a:r>
            <a:r>
              <a:rPr sz="2000" b="1" i="1" spc="-6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spc="-5" dirty="0"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Uses </a:t>
            </a:r>
            <a:r>
              <a:rPr sz="2000" b="1" i="1" dirty="0">
                <a:latin typeface="Arial-BoldItalicMT"/>
                <a:cs typeface="Arial-BoldItalicMT"/>
              </a:rPr>
              <a:t>signal probability </a:t>
            </a:r>
            <a:r>
              <a:rPr sz="2000" b="1" dirty="0">
                <a:latin typeface="Arial"/>
                <a:cs typeface="Arial"/>
              </a:rPr>
              <a:t>to estimate the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testability</a:t>
            </a:r>
            <a:r>
              <a:rPr lang="en-US" sz="2000" b="1" spc="-5" dirty="0">
                <a:latin typeface="Arial"/>
                <a:cs typeface="Arial"/>
              </a:rPr>
              <a:t>. No test vectors are given but probability is specified for each PI.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COP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3.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High-level</a:t>
            </a:r>
            <a:r>
              <a:rPr sz="2000" b="1" i="1" spc="-12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spc="-5" dirty="0"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Performs </a:t>
            </a:r>
            <a:r>
              <a:rPr sz="2000" b="1" spc="-5" dirty="0">
                <a:latin typeface="Arial"/>
                <a:cs typeface="Arial"/>
              </a:rPr>
              <a:t>testability analysis </a:t>
            </a:r>
            <a:r>
              <a:rPr sz="2000" b="1" dirty="0">
                <a:latin typeface="Arial"/>
                <a:cs typeface="Arial"/>
              </a:rPr>
              <a:t>before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synthesis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Example: RTL testability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2360" y="164414"/>
            <a:ext cx="42691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5" dirty="0">
                <a:latin typeface="Arial"/>
                <a:cs typeface="Arial"/>
              </a:rPr>
              <a:t>Testability</a:t>
            </a:r>
            <a:r>
              <a:rPr i="0" spc="-50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Measure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4092575" cy="1808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SCOAP</a:t>
            </a:r>
            <a:r>
              <a:rPr sz="20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(1979)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Combinational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Sequential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COP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(1984)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77184" y="3585972"/>
            <a:ext cx="5164073" cy="32697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5130" y="4410582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7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721" y="4893055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18991" y="3804920"/>
            <a:ext cx="343535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  <a:p>
            <a:pPr marL="12700">
              <a:lnSpc>
                <a:spcPts val="2030"/>
              </a:lnSpc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603" y="3744544"/>
            <a:ext cx="4705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r>
              <a:rPr sz="1800" dirty="0">
                <a:solidFill>
                  <a:srgbClr val="FF0000"/>
                </a:solidFill>
                <a:latin typeface="Helvetica"/>
                <a:cs typeface="Helvetica"/>
              </a:rPr>
              <a:t>.25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87797" y="4530344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48603" y="4651324"/>
            <a:ext cx="4705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r>
              <a:rPr sz="1800" dirty="0">
                <a:solidFill>
                  <a:srgbClr val="FF0000"/>
                </a:solidFill>
                <a:latin typeface="Helvetica"/>
                <a:cs typeface="Helvetica"/>
              </a:rPr>
              <a:t>.25</a:t>
            </a:r>
            <a:endParaRPr sz="1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4507" y="225374"/>
            <a:ext cx="14738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latin typeface="Arial"/>
                <a:cs typeface="Arial"/>
              </a:rPr>
              <a:t>SCOAP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17821" y="403682"/>
            <a:ext cx="1800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933FF"/>
                </a:solidFill>
                <a:latin typeface="Arial"/>
                <a:cs typeface="Arial"/>
              </a:rPr>
              <a:t>[Goldstein</a:t>
            </a:r>
            <a:r>
              <a:rPr sz="1800" b="1" spc="-85" dirty="0">
                <a:solidFill>
                  <a:srgbClr val="9933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933FF"/>
                </a:solidFill>
                <a:latin typeface="Arial"/>
                <a:cs typeface="Arial"/>
              </a:rPr>
              <a:t>1979]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4837" y="2701925"/>
          <a:ext cx="7924164" cy="30559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76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0-controllability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1-controllability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Observability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6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Combinational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N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N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N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Sequential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N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N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SO(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N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92125" y="1204087"/>
            <a:ext cx="8442325" cy="15113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Sandia Controllability Observability Analysis</a:t>
            </a:r>
            <a:r>
              <a:rPr sz="2000" b="1" i="1" spc="-12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Program</a:t>
            </a:r>
            <a:r>
              <a:rPr sz="1950" b="1" i="1" baseline="25641" dirty="0">
                <a:latin typeface="Arial-BoldItalicMT"/>
                <a:cs typeface="Arial-BoldItalicMT"/>
              </a:rPr>
              <a:t>*</a:t>
            </a:r>
            <a:endParaRPr sz="1950" baseline="25641" dirty="0">
              <a:latin typeface="Arial-BoldItalicMT"/>
              <a:cs typeface="Arial-BoldItalicMT"/>
            </a:endParaRPr>
          </a:p>
          <a:p>
            <a:pPr marL="3937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SCOAP computes 6 numbers for each node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N</a:t>
            </a:r>
            <a:r>
              <a:rPr lang="en-US" sz="2000" b="1" i="1" dirty="0">
                <a:latin typeface="Arial-BoldItalicMT"/>
                <a:cs typeface="Arial-BoldItalicMT"/>
              </a:rPr>
              <a:t> </a:t>
            </a:r>
            <a:r>
              <a:rPr lang="en-US" sz="2000" b="1" dirty="0">
                <a:latin typeface="Arial-BoldItalicMT"/>
                <a:cs typeface="Arial-BoldItalicMT"/>
              </a:rPr>
              <a:t>(i.e., node is output pin of a gate or a primary input)</a:t>
            </a:r>
            <a:endParaRPr sz="2000" dirty="0">
              <a:latin typeface="Arial-BoldItalicMT"/>
              <a:cs typeface="Arial-BoldItalicMT"/>
            </a:endParaRPr>
          </a:p>
          <a:p>
            <a:pPr marR="17780" algn="r">
              <a:lnSpc>
                <a:spcPct val="100000"/>
              </a:lnSpc>
              <a:spcBef>
                <a:spcPts val="2260"/>
              </a:spcBef>
            </a:pPr>
            <a:r>
              <a:rPr sz="1400" b="1" spc="-5" dirty="0">
                <a:solidFill>
                  <a:srgbClr val="A6A6A6"/>
                </a:solidFill>
                <a:latin typeface="Helvetica"/>
                <a:cs typeface="Helvetica"/>
              </a:rPr>
              <a:t>*Sandia </a:t>
            </a:r>
            <a:r>
              <a:rPr sz="1400" b="1" dirty="0">
                <a:solidFill>
                  <a:srgbClr val="A6A6A6"/>
                </a:solidFill>
                <a:latin typeface="Helvetica"/>
                <a:cs typeface="Helvetica"/>
              </a:rPr>
              <a:t>is </a:t>
            </a:r>
            <a:r>
              <a:rPr sz="1400" b="1" spc="-5" dirty="0">
                <a:solidFill>
                  <a:srgbClr val="A6A6A6"/>
                </a:solidFill>
                <a:latin typeface="Helvetica"/>
                <a:cs typeface="Helvetica"/>
              </a:rPr>
              <a:t>name of </a:t>
            </a:r>
            <a:r>
              <a:rPr sz="1400" b="1" dirty="0">
                <a:solidFill>
                  <a:srgbClr val="A6A6A6"/>
                </a:solidFill>
                <a:latin typeface="Helvetica"/>
                <a:cs typeface="Helvetica"/>
              </a:rPr>
              <a:t>research</a:t>
            </a:r>
            <a:r>
              <a:rPr sz="1400" b="1" spc="-110" dirty="0">
                <a:solidFill>
                  <a:srgbClr val="A6A6A6"/>
                </a:solidFill>
                <a:latin typeface="Helvetica"/>
                <a:cs typeface="Helvetica"/>
              </a:rPr>
              <a:t> </a:t>
            </a:r>
            <a:r>
              <a:rPr sz="1400" b="1" spc="-5" dirty="0">
                <a:solidFill>
                  <a:srgbClr val="A6A6A6"/>
                </a:solidFill>
                <a:latin typeface="Helvetica"/>
                <a:cs typeface="Helvetica"/>
              </a:rPr>
              <a:t>lab.</a:t>
            </a:r>
            <a:endParaRPr sz="14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6830" y="164414"/>
            <a:ext cx="63988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5" dirty="0">
                <a:latin typeface="Arial"/>
                <a:cs typeface="Arial"/>
              </a:rPr>
              <a:t>Combinational</a:t>
            </a:r>
            <a:r>
              <a:rPr i="0" spc="5" dirty="0">
                <a:latin typeface="Arial"/>
                <a:cs typeface="Arial"/>
              </a:rPr>
              <a:t> </a:t>
            </a:r>
            <a:r>
              <a:rPr i="0" spc="-5" dirty="0">
                <a:latin typeface="Arial"/>
                <a:cs typeface="Arial"/>
              </a:rPr>
              <a:t>Controllability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217525" y="850614"/>
                <a:ext cx="8141970" cy="5139227"/>
              </a:xfrm>
              <a:prstGeom prst="rect">
                <a:avLst/>
              </a:prstGeom>
            </p:spPr>
            <p:txBody>
              <a:bodyPr vert="horz" wrap="square" lIns="0" tIns="123825" rIns="0" bIns="0" rtlCol="0">
                <a:spAutoFit/>
              </a:bodyPr>
              <a:lstStyle/>
              <a:p>
                <a:pPr marL="368300" indent="-342900">
                  <a:lnSpc>
                    <a:spcPct val="100000"/>
                  </a:lnSpc>
                  <a:spcBef>
                    <a:spcPts val="975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67665" algn="l"/>
                    <a:tab pos="368300" algn="l"/>
                  </a:tabLst>
                </a:pPr>
                <a:r>
                  <a:rPr lang="en-US" sz="2000" b="1" i="1" spc="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CC</a:t>
                </a:r>
                <a:r>
                  <a:rPr lang="en-US" sz="1950" b="1" i="1" spc="7" baseline="2564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0</a:t>
                </a:r>
                <a:r>
                  <a:rPr lang="en-US" sz="2000" b="1" i="1" spc="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(N),</a:t>
                </a:r>
                <a:r>
                  <a:rPr lang="en-US" sz="2000" b="1" i="1" spc="-50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CC</a:t>
                </a:r>
                <a:r>
                  <a:rPr lang="en-US" sz="1950" b="1" i="1" baseline="2564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1</a:t>
                </a:r>
                <a:r>
                  <a:rPr lang="en-US"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(N)</a:t>
                </a:r>
                <a:endParaRPr lang="en-US" sz="2000" dirty="0">
                  <a:latin typeface="Arial-BoldItalicMT"/>
                  <a:cs typeface="Arial-BoldItalicMT"/>
                </a:endParaRPr>
              </a:p>
              <a:p>
                <a:pPr marL="768985" marR="17780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  <a:tab pos="4150360" algn="l"/>
                  </a:tabLst>
                </a:pPr>
                <a:r>
                  <a:rPr lang="en-US" sz="2000" b="1" spc="-5" dirty="0">
                    <a:latin typeface="Arial"/>
                    <a:cs typeface="Arial"/>
                  </a:rPr>
                  <a:t>minimum </a:t>
                </a:r>
                <a:r>
                  <a:rPr lang="en-US" sz="2000" b="1" dirty="0">
                    <a:latin typeface="Arial"/>
                    <a:cs typeface="Arial"/>
                  </a:rPr>
                  <a:t>number of PI assignments and</a:t>
                </a:r>
                <a:r>
                  <a:rPr lang="en-US" sz="2000" b="1" spc="-110" dirty="0">
                    <a:latin typeface="Arial"/>
                    <a:cs typeface="Arial"/>
                  </a:rPr>
                  <a:t> </a:t>
                </a:r>
                <a:r>
                  <a:rPr lang="en-US" sz="2000" b="1" spc="-5" dirty="0">
                    <a:latin typeface="Arial"/>
                    <a:cs typeface="Arial"/>
                  </a:rPr>
                  <a:t>logic  levels </a:t>
                </a:r>
                <a:r>
                  <a:rPr lang="en-US" sz="2000" b="1" dirty="0">
                    <a:latin typeface="Arial"/>
                    <a:cs typeface="Arial"/>
                  </a:rPr>
                  <a:t>required to control</a:t>
                </a:r>
                <a:r>
                  <a:rPr lang="en-US" sz="2000" b="1" spc="-20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a 0 or a 1 on node</a:t>
                </a:r>
                <a:r>
                  <a:rPr lang="en-US" sz="2000" b="1" spc="-60" dirty="0">
                    <a:latin typeface="Arial"/>
                    <a:cs typeface="Arial"/>
                  </a:rPr>
                  <a:t>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N</a:t>
                </a:r>
                <a:endParaRPr lang="en-US" sz="2000" dirty="0">
                  <a:latin typeface="Arial-BoldItalicMT"/>
                  <a:cs typeface="Arial-BoldItalicMT"/>
                </a:endParaRP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i="1" spc="-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Smaller </a:t>
                </a:r>
                <a:r>
                  <a:rPr lang="en-US" sz="2000" b="1" dirty="0">
                    <a:latin typeface="Arial"/>
                    <a:cs typeface="Arial"/>
                  </a:rPr>
                  <a:t>number, </a:t>
                </a:r>
                <a:r>
                  <a:rPr lang="en-US"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easier </a:t>
                </a:r>
                <a:r>
                  <a:rPr lang="en-US" sz="2000" b="1" dirty="0">
                    <a:latin typeface="Arial"/>
                    <a:cs typeface="Arial"/>
                  </a:rPr>
                  <a:t>to</a:t>
                </a:r>
                <a:r>
                  <a:rPr lang="en-US" sz="2000" b="1" spc="-80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control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368300" indent="-34290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67665" algn="l"/>
                    <a:tab pos="368300" algn="l"/>
                  </a:tabLst>
                </a:pPr>
                <a:r>
                  <a:rPr lang="en-US" sz="2000" b="1" spc="-5" dirty="0">
                    <a:latin typeface="Arial"/>
                    <a:cs typeface="Arial"/>
                  </a:rPr>
                  <a:t>How </a:t>
                </a:r>
                <a:r>
                  <a:rPr lang="en-US" sz="2000" b="1" dirty="0">
                    <a:latin typeface="Arial"/>
                    <a:cs typeface="Arial"/>
                  </a:rPr>
                  <a:t>to calculate</a:t>
                </a:r>
                <a:r>
                  <a:rPr lang="en-US" sz="2000" b="1" spc="-65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CC?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CC(PI) =</a:t>
                </a:r>
                <a:r>
                  <a:rPr lang="en-US" sz="2000" b="1" spc="-50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1.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  <a:tab pos="2670175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From </a:t>
                </a:r>
                <a:r>
                  <a:rPr lang="en-US" sz="2000" b="1" spc="-5" dirty="0">
                    <a:latin typeface="Arial"/>
                    <a:cs typeface="Arial"/>
                  </a:rPr>
                  <a:t>PI</a:t>
                </a:r>
                <a:r>
                  <a:rPr lang="en-US" sz="2000" b="1" spc="-15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to</a:t>
                </a:r>
                <a:r>
                  <a:rPr lang="en-US" sz="2000" b="1" spc="-5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PO.	</a:t>
                </a:r>
                <a:r>
                  <a:rPr lang="en-US" sz="2000" b="1" spc="-5" dirty="0">
                    <a:latin typeface="Arial"/>
                    <a:cs typeface="Arial"/>
                  </a:rPr>
                  <a:t>following the gate propagation rules below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368300" indent="-342900">
                  <a:lnSpc>
                    <a:spcPct val="100000"/>
                  </a:lnSpc>
                  <a:spcBef>
                    <a:spcPts val="484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67665" algn="l"/>
                    <a:tab pos="36830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Gate propagation</a:t>
                </a:r>
                <a:r>
                  <a:rPr lang="en-US" sz="2000" b="1" spc="-70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rules: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68985" lvl="1" indent="-287020"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CC(branches)=CC(stem)</a:t>
                </a: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If all inputs needed to set gate</a:t>
                </a:r>
                <a:r>
                  <a:rPr lang="en-US" sz="2000" b="1" spc="-140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output: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939800">
                  <a:lnSpc>
                    <a:spcPct val="100000"/>
                  </a:lnSpc>
                  <a:spcBef>
                    <a:spcPts val="480"/>
                  </a:spcBef>
                </a:pPr>
                <a:r>
                  <a:rPr lang="en-US" spc="-600" dirty="0">
                    <a:solidFill>
                      <a:srgbClr val="FF0000"/>
                    </a:solidFill>
                    <a:latin typeface="Arial"/>
                    <a:cs typeface="Arial"/>
                  </a:rPr>
                  <a:t></a:t>
                </a:r>
                <a:r>
                  <a:rPr lang="en-US" spc="390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CC(gate_output) = </a:t>
                </a:r>
                <a14:m>
                  <m:oMath xmlns:m="http://schemas.openxmlformats.org/officeDocument/2006/math">
                    <m:r>
                      <a:rPr lang="en-US" sz="2000" b="1" spc="-5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/>
                      </a:rPr>
                      <m:t>𝚺</m:t>
                    </m:r>
                    <m:r>
                      <a:rPr lang="en-US" sz="2000" b="1" spc="-5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lang="en-US" sz="2000" b="1" dirty="0">
                    <a:latin typeface="Arial"/>
                    <a:cs typeface="Arial"/>
                  </a:rPr>
                  <a:t>CC(gate_input) +</a:t>
                </a:r>
                <a:r>
                  <a:rPr lang="en-US" sz="2000" b="1" spc="-110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1</a:t>
                </a: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If only one input controls gate</a:t>
                </a:r>
                <a:r>
                  <a:rPr lang="en-US" sz="2000" b="1" spc="-105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output (e.g., having a 0 on one </a:t>
                </a:r>
                <a:r>
                  <a:rPr lang="en-US" sz="2000" b="1" dirty="0" err="1">
                    <a:latin typeface="Arial"/>
                    <a:cs typeface="Arial"/>
                  </a:rPr>
                  <a:t>fanin</a:t>
                </a:r>
                <a:r>
                  <a:rPr lang="en-US" sz="2000" b="1" dirty="0">
                    <a:latin typeface="Arial"/>
                    <a:cs typeface="Arial"/>
                  </a:rPr>
                  <a:t> of a multi-</a:t>
                </a:r>
                <a:r>
                  <a:rPr lang="en-US" sz="2000" b="1" dirty="0" err="1">
                    <a:latin typeface="Arial"/>
                    <a:cs typeface="Arial"/>
                  </a:rPr>
                  <a:t>fanin</a:t>
                </a:r>
                <a:r>
                  <a:rPr lang="en-US" sz="2000" b="1" dirty="0">
                    <a:latin typeface="Arial"/>
                    <a:cs typeface="Arial"/>
                  </a:rPr>
                  <a:t> AND gate for </a:t>
                </a:r>
                <a:r>
                  <a:rPr lang="en-US" sz="2000" b="1" i="1" spc="5" dirty="0">
                    <a:latin typeface="Arial-BoldItalicMT"/>
                    <a:cs typeface="Arial-BoldItalicMT"/>
                  </a:rPr>
                  <a:t>CC</a:t>
                </a:r>
                <a:r>
                  <a:rPr lang="en-US" sz="1950" b="1" i="1" spc="7" baseline="25641" dirty="0">
                    <a:latin typeface="Arial-BoldItalicMT"/>
                    <a:cs typeface="Arial-BoldItalicMT"/>
                  </a:rPr>
                  <a:t>0</a:t>
                </a:r>
                <a:r>
                  <a:rPr lang="en-US" sz="2000" b="1" i="1" spc="5" dirty="0">
                    <a:latin typeface="Arial-BoldItalicMT"/>
                    <a:cs typeface="Arial-BoldItalicMT"/>
                  </a:rPr>
                  <a:t>(N)</a:t>
                </a:r>
                <a:r>
                  <a:rPr lang="en-US" sz="2000" b="1" dirty="0">
                    <a:latin typeface="Arial"/>
                    <a:cs typeface="Arial"/>
                  </a:rPr>
                  <a:t>):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939800">
                  <a:lnSpc>
                    <a:spcPct val="100000"/>
                  </a:lnSpc>
                  <a:spcBef>
                    <a:spcPts val="480"/>
                  </a:spcBef>
                </a:pPr>
                <a:r>
                  <a:rPr lang="en-US" sz="1800" spc="-600" dirty="0">
                    <a:solidFill>
                      <a:srgbClr val="FF0000"/>
                    </a:solidFill>
                    <a:latin typeface="Arial"/>
                    <a:cs typeface="Arial"/>
                  </a:rPr>
                  <a:t></a:t>
                </a:r>
                <a:r>
                  <a:rPr lang="en-US" sz="1800" spc="390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CC(gate_output) = </a:t>
                </a:r>
                <a:r>
                  <a:rPr lang="en-US" sz="2000" b="1" spc="-5" dirty="0">
                    <a:solidFill>
                      <a:srgbClr val="0000FF"/>
                    </a:solidFill>
                    <a:latin typeface="Arial"/>
                    <a:cs typeface="Arial"/>
                  </a:rPr>
                  <a:t>min </a:t>
                </a:r>
                <a:r>
                  <a:rPr lang="en-US" sz="2000" b="1" dirty="0">
                    <a:latin typeface="Arial"/>
                    <a:cs typeface="Arial"/>
                  </a:rPr>
                  <a:t>{ CC(gate_input) } +</a:t>
                </a:r>
                <a:r>
                  <a:rPr lang="en-US" sz="2000" b="1" spc="-135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1</a:t>
                </a:r>
                <a:endParaRPr lang="en-US" sz="20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25" y="850614"/>
                <a:ext cx="8141970" cy="5139227"/>
              </a:xfrm>
              <a:prstGeom prst="rect">
                <a:avLst/>
              </a:prstGeom>
              <a:blipFill>
                <a:blip r:embed="rId2"/>
                <a:stretch>
                  <a:fillRect l="-1869" t="-247" r="-2336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1195" y="164414"/>
            <a:ext cx="35921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Arial"/>
                <a:cs typeface="Arial"/>
              </a:rPr>
              <a:t>CC</a:t>
            </a:r>
            <a:r>
              <a:rPr sz="3600" i="0" baseline="25462" dirty="0">
                <a:latin typeface="Arial"/>
                <a:cs typeface="Arial"/>
              </a:rPr>
              <a:t>0</a:t>
            </a:r>
            <a:r>
              <a:rPr sz="3600" i="0" dirty="0">
                <a:latin typeface="Arial"/>
                <a:cs typeface="Arial"/>
              </a:rPr>
              <a:t>(N) &amp;</a:t>
            </a:r>
            <a:r>
              <a:rPr sz="3600" i="0" spc="-85" dirty="0">
                <a:latin typeface="Arial"/>
                <a:cs typeface="Arial"/>
              </a:rPr>
              <a:t> </a:t>
            </a:r>
            <a:r>
              <a:rPr sz="3600" i="0" dirty="0">
                <a:latin typeface="Arial"/>
                <a:cs typeface="Arial"/>
              </a:rPr>
              <a:t>CC</a:t>
            </a:r>
            <a:r>
              <a:rPr sz="3600" i="0" baseline="25462" dirty="0">
                <a:latin typeface="Arial"/>
                <a:cs typeface="Arial"/>
              </a:rPr>
              <a:t>1</a:t>
            </a:r>
            <a:r>
              <a:rPr sz="3600" i="0" dirty="0">
                <a:latin typeface="Arial"/>
                <a:cs typeface="Arial"/>
              </a:rPr>
              <a:t>(N)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1187" y="2060575"/>
            <a:ext cx="2240280" cy="1079500"/>
          </a:xfrm>
          <a:custGeom>
            <a:avLst/>
            <a:gdLst/>
            <a:ahLst/>
            <a:cxnLst/>
            <a:rect l="l" t="t" r="r" b="b"/>
            <a:pathLst>
              <a:path w="2240280" h="1079500">
                <a:moveTo>
                  <a:pt x="0" y="1079500"/>
                </a:moveTo>
                <a:lnTo>
                  <a:pt x="2240026" y="1079500"/>
                </a:lnTo>
                <a:lnTo>
                  <a:pt x="2240026" y="0"/>
                </a:lnTo>
                <a:lnTo>
                  <a:pt x="0" y="0"/>
                </a:lnTo>
                <a:lnTo>
                  <a:pt x="0" y="10795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1187" y="3140138"/>
            <a:ext cx="2240280" cy="1081405"/>
          </a:xfrm>
          <a:custGeom>
            <a:avLst/>
            <a:gdLst/>
            <a:ahLst/>
            <a:cxnLst/>
            <a:rect l="l" t="t" r="r" b="b"/>
            <a:pathLst>
              <a:path w="2240280" h="1081404">
                <a:moveTo>
                  <a:pt x="0" y="1081087"/>
                </a:moveTo>
                <a:lnTo>
                  <a:pt x="2240026" y="1081087"/>
                </a:lnTo>
                <a:lnTo>
                  <a:pt x="2240026" y="0"/>
                </a:lnTo>
                <a:lnTo>
                  <a:pt x="0" y="0"/>
                </a:lnTo>
                <a:lnTo>
                  <a:pt x="0" y="108108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1187" y="4221226"/>
            <a:ext cx="2240280" cy="1079500"/>
          </a:xfrm>
          <a:custGeom>
            <a:avLst/>
            <a:gdLst/>
            <a:ahLst/>
            <a:cxnLst/>
            <a:rect l="l" t="t" r="r" b="b"/>
            <a:pathLst>
              <a:path w="2240280" h="1079500">
                <a:moveTo>
                  <a:pt x="0" y="1079500"/>
                </a:moveTo>
                <a:lnTo>
                  <a:pt x="2240026" y="1079500"/>
                </a:lnTo>
                <a:lnTo>
                  <a:pt x="2240026" y="0"/>
                </a:lnTo>
                <a:lnTo>
                  <a:pt x="0" y="0"/>
                </a:lnTo>
                <a:lnTo>
                  <a:pt x="0" y="10795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1187" y="5300662"/>
            <a:ext cx="2240280" cy="649605"/>
          </a:xfrm>
          <a:custGeom>
            <a:avLst/>
            <a:gdLst/>
            <a:ahLst/>
            <a:cxnLst/>
            <a:rect l="l" t="t" r="r" b="b"/>
            <a:pathLst>
              <a:path w="2240280" h="649604">
                <a:moveTo>
                  <a:pt x="0" y="649287"/>
                </a:moveTo>
                <a:lnTo>
                  <a:pt x="2240026" y="649287"/>
                </a:lnTo>
                <a:lnTo>
                  <a:pt x="2240026" y="0"/>
                </a:lnTo>
                <a:lnTo>
                  <a:pt x="0" y="0"/>
                </a:lnTo>
                <a:lnTo>
                  <a:pt x="0" y="64928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1187" y="5949950"/>
            <a:ext cx="2240280" cy="649605"/>
          </a:xfrm>
          <a:custGeom>
            <a:avLst/>
            <a:gdLst/>
            <a:ahLst/>
            <a:cxnLst/>
            <a:rect l="l" t="t" r="r" b="b"/>
            <a:pathLst>
              <a:path w="2240280" h="649604">
                <a:moveTo>
                  <a:pt x="0" y="649287"/>
                </a:moveTo>
                <a:lnTo>
                  <a:pt x="2240026" y="649287"/>
                </a:lnTo>
                <a:lnTo>
                  <a:pt x="2240026" y="0"/>
                </a:lnTo>
                <a:lnTo>
                  <a:pt x="0" y="0"/>
                </a:lnTo>
                <a:lnTo>
                  <a:pt x="0" y="64928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66266" y="2350770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12569" y="2349245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12569" y="2637282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3861" y="249250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55826" y="2277617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69" h="429894">
                <a:moveTo>
                  <a:pt x="216407" y="0"/>
                </a:moveTo>
                <a:lnTo>
                  <a:pt x="0" y="0"/>
                </a:lnTo>
                <a:lnTo>
                  <a:pt x="0" y="429768"/>
                </a:lnTo>
                <a:lnTo>
                  <a:pt x="216407" y="429768"/>
                </a:lnTo>
                <a:lnTo>
                  <a:pt x="266024" y="424089"/>
                </a:lnTo>
                <a:lnTo>
                  <a:pt x="311573" y="407916"/>
                </a:lnTo>
                <a:lnTo>
                  <a:pt x="351755" y="382541"/>
                </a:lnTo>
                <a:lnTo>
                  <a:pt x="385269" y="349258"/>
                </a:lnTo>
                <a:lnTo>
                  <a:pt x="410817" y="309358"/>
                </a:lnTo>
                <a:lnTo>
                  <a:pt x="427099" y="264136"/>
                </a:lnTo>
                <a:lnTo>
                  <a:pt x="432816" y="214884"/>
                </a:lnTo>
                <a:lnTo>
                  <a:pt x="427099" y="165631"/>
                </a:lnTo>
                <a:lnTo>
                  <a:pt x="410817" y="120409"/>
                </a:lnTo>
                <a:lnTo>
                  <a:pt x="385269" y="80509"/>
                </a:lnTo>
                <a:lnTo>
                  <a:pt x="351755" y="47226"/>
                </a:lnTo>
                <a:lnTo>
                  <a:pt x="311573" y="21851"/>
                </a:lnTo>
                <a:lnTo>
                  <a:pt x="266024" y="5678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55826" y="2277617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69" h="429894">
                <a:moveTo>
                  <a:pt x="0" y="0"/>
                </a:moveTo>
                <a:lnTo>
                  <a:pt x="216407" y="0"/>
                </a:lnTo>
                <a:lnTo>
                  <a:pt x="266024" y="5678"/>
                </a:lnTo>
                <a:lnTo>
                  <a:pt x="311573" y="21851"/>
                </a:lnTo>
                <a:lnTo>
                  <a:pt x="351755" y="47226"/>
                </a:lnTo>
                <a:lnTo>
                  <a:pt x="385269" y="80509"/>
                </a:lnTo>
                <a:lnTo>
                  <a:pt x="410817" y="120409"/>
                </a:lnTo>
                <a:lnTo>
                  <a:pt x="427099" y="165631"/>
                </a:lnTo>
                <a:lnTo>
                  <a:pt x="432816" y="214884"/>
                </a:lnTo>
                <a:lnTo>
                  <a:pt x="427099" y="264136"/>
                </a:lnTo>
                <a:lnTo>
                  <a:pt x="410817" y="309358"/>
                </a:lnTo>
                <a:lnTo>
                  <a:pt x="385269" y="349258"/>
                </a:lnTo>
                <a:lnTo>
                  <a:pt x="351755" y="382541"/>
                </a:lnTo>
                <a:lnTo>
                  <a:pt x="311573" y="407916"/>
                </a:lnTo>
                <a:lnTo>
                  <a:pt x="266024" y="424089"/>
                </a:lnTo>
                <a:lnTo>
                  <a:pt x="216407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66266" y="2637282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31898" y="2492501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14094" y="3428238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14094" y="3717797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45385" y="3573017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55826" y="3356609"/>
            <a:ext cx="434340" cy="431800"/>
          </a:xfrm>
          <a:custGeom>
            <a:avLst/>
            <a:gdLst/>
            <a:ahLst/>
            <a:cxnLst/>
            <a:rect l="l" t="t" r="r" b="b"/>
            <a:pathLst>
              <a:path w="434339" h="431800">
                <a:moveTo>
                  <a:pt x="0" y="0"/>
                </a:moveTo>
                <a:lnTo>
                  <a:pt x="25065" y="42333"/>
                </a:lnTo>
                <a:lnTo>
                  <a:pt x="44561" y="85197"/>
                </a:lnTo>
                <a:lnTo>
                  <a:pt x="58487" y="128459"/>
                </a:lnTo>
                <a:lnTo>
                  <a:pt x="66842" y="171986"/>
                </a:lnTo>
                <a:lnTo>
                  <a:pt x="69627" y="215645"/>
                </a:lnTo>
                <a:lnTo>
                  <a:pt x="66842" y="259305"/>
                </a:lnTo>
                <a:lnTo>
                  <a:pt x="58487" y="302832"/>
                </a:lnTo>
                <a:lnTo>
                  <a:pt x="44561" y="346094"/>
                </a:lnTo>
                <a:lnTo>
                  <a:pt x="25065" y="388958"/>
                </a:lnTo>
                <a:lnTo>
                  <a:pt x="0" y="431291"/>
                </a:lnTo>
                <a:lnTo>
                  <a:pt x="64188" y="428954"/>
                </a:lnTo>
                <a:lnTo>
                  <a:pt x="125451" y="422164"/>
                </a:lnTo>
                <a:lnTo>
                  <a:pt x="183117" y="411253"/>
                </a:lnTo>
                <a:lnTo>
                  <a:pt x="236513" y="396557"/>
                </a:lnTo>
                <a:lnTo>
                  <a:pt x="284968" y="378407"/>
                </a:lnTo>
                <a:lnTo>
                  <a:pt x="327811" y="357136"/>
                </a:lnTo>
                <a:lnTo>
                  <a:pt x="364371" y="333079"/>
                </a:lnTo>
                <a:lnTo>
                  <a:pt x="393975" y="306569"/>
                </a:lnTo>
                <a:lnTo>
                  <a:pt x="429631" y="247518"/>
                </a:lnTo>
                <a:lnTo>
                  <a:pt x="434340" y="215645"/>
                </a:lnTo>
                <a:lnTo>
                  <a:pt x="429631" y="183773"/>
                </a:lnTo>
                <a:lnTo>
                  <a:pt x="393975" y="124722"/>
                </a:lnTo>
                <a:lnTo>
                  <a:pt x="364371" y="98212"/>
                </a:lnTo>
                <a:lnTo>
                  <a:pt x="327811" y="74155"/>
                </a:lnTo>
                <a:lnTo>
                  <a:pt x="284968" y="52884"/>
                </a:lnTo>
                <a:lnTo>
                  <a:pt x="236513" y="34734"/>
                </a:lnTo>
                <a:lnTo>
                  <a:pt x="183117" y="20038"/>
                </a:lnTo>
                <a:lnTo>
                  <a:pt x="125451" y="9127"/>
                </a:lnTo>
                <a:lnTo>
                  <a:pt x="64188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55826" y="3356609"/>
            <a:ext cx="434340" cy="431800"/>
          </a:xfrm>
          <a:custGeom>
            <a:avLst/>
            <a:gdLst/>
            <a:ahLst/>
            <a:cxnLst/>
            <a:rect l="l" t="t" r="r" b="b"/>
            <a:pathLst>
              <a:path w="434339" h="431800">
                <a:moveTo>
                  <a:pt x="0" y="431291"/>
                </a:moveTo>
                <a:lnTo>
                  <a:pt x="64188" y="428954"/>
                </a:lnTo>
                <a:lnTo>
                  <a:pt x="125451" y="422164"/>
                </a:lnTo>
                <a:lnTo>
                  <a:pt x="183117" y="411253"/>
                </a:lnTo>
                <a:lnTo>
                  <a:pt x="236513" y="396557"/>
                </a:lnTo>
                <a:lnTo>
                  <a:pt x="284968" y="378407"/>
                </a:lnTo>
                <a:lnTo>
                  <a:pt x="327811" y="357136"/>
                </a:lnTo>
                <a:lnTo>
                  <a:pt x="364371" y="333079"/>
                </a:lnTo>
                <a:lnTo>
                  <a:pt x="393975" y="306569"/>
                </a:lnTo>
                <a:lnTo>
                  <a:pt x="429631" y="247518"/>
                </a:lnTo>
                <a:lnTo>
                  <a:pt x="434340" y="215645"/>
                </a:lnTo>
                <a:lnTo>
                  <a:pt x="429631" y="183773"/>
                </a:lnTo>
                <a:lnTo>
                  <a:pt x="393975" y="124722"/>
                </a:lnTo>
                <a:lnTo>
                  <a:pt x="364371" y="98212"/>
                </a:lnTo>
                <a:lnTo>
                  <a:pt x="327811" y="74155"/>
                </a:lnTo>
                <a:lnTo>
                  <a:pt x="284968" y="52884"/>
                </a:lnTo>
                <a:lnTo>
                  <a:pt x="236513" y="34734"/>
                </a:lnTo>
                <a:lnTo>
                  <a:pt x="183117" y="20038"/>
                </a:lnTo>
                <a:lnTo>
                  <a:pt x="125451" y="9127"/>
                </a:lnTo>
                <a:lnTo>
                  <a:pt x="64188" y="2337"/>
                </a:lnTo>
                <a:lnTo>
                  <a:pt x="0" y="0"/>
                </a:lnTo>
                <a:lnTo>
                  <a:pt x="25065" y="42333"/>
                </a:lnTo>
                <a:lnTo>
                  <a:pt x="44561" y="85197"/>
                </a:lnTo>
                <a:lnTo>
                  <a:pt x="58487" y="128459"/>
                </a:lnTo>
                <a:lnTo>
                  <a:pt x="66842" y="171986"/>
                </a:lnTo>
                <a:lnTo>
                  <a:pt x="69627" y="215645"/>
                </a:lnTo>
                <a:lnTo>
                  <a:pt x="66842" y="259305"/>
                </a:lnTo>
                <a:lnTo>
                  <a:pt x="58487" y="302832"/>
                </a:lnTo>
                <a:lnTo>
                  <a:pt x="44561" y="346094"/>
                </a:lnTo>
                <a:lnTo>
                  <a:pt x="25065" y="388958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67789" y="3429761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67789" y="3717797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33422" y="3573017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14094" y="4507229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14094" y="4798314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45385" y="465353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55826" y="4435602"/>
            <a:ext cx="434340" cy="434340"/>
          </a:xfrm>
          <a:custGeom>
            <a:avLst/>
            <a:gdLst/>
            <a:ahLst/>
            <a:cxnLst/>
            <a:rect l="l" t="t" r="r" b="b"/>
            <a:pathLst>
              <a:path w="434339" h="434339">
                <a:moveTo>
                  <a:pt x="0" y="0"/>
                </a:moveTo>
                <a:lnTo>
                  <a:pt x="25065" y="42638"/>
                </a:lnTo>
                <a:lnTo>
                  <a:pt x="44561" y="85807"/>
                </a:lnTo>
                <a:lnTo>
                  <a:pt x="58487" y="129373"/>
                </a:lnTo>
                <a:lnTo>
                  <a:pt x="66842" y="173205"/>
                </a:lnTo>
                <a:lnTo>
                  <a:pt x="69627" y="217170"/>
                </a:lnTo>
                <a:lnTo>
                  <a:pt x="66842" y="261134"/>
                </a:lnTo>
                <a:lnTo>
                  <a:pt x="58487" y="304966"/>
                </a:lnTo>
                <a:lnTo>
                  <a:pt x="44561" y="348532"/>
                </a:lnTo>
                <a:lnTo>
                  <a:pt x="25065" y="391701"/>
                </a:lnTo>
                <a:lnTo>
                  <a:pt x="0" y="434340"/>
                </a:lnTo>
                <a:lnTo>
                  <a:pt x="64188" y="431984"/>
                </a:lnTo>
                <a:lnTo>
                  <a:pt x="125451" y="425141"/>
                </a:lnTo>
                <a:lnTo>
                  <a:pt x="183117" y="414147"/>
                </a:lnTo>
                <a:lnTo>
                  <a:pt x="236513" y="399339"/>
                </a:lnTo>
                <a:lnTo>
                  <a:pt x="284968" y="381054"/>
                </a:lnTo>
                <a:lnTo>
                  <a:pt x="327811" y="359628"/>
                </a:lnTo>
                <a:lnTo>
                  <a:pt x="364371" y="335398"/>
                </a:lnTo>
                <a:lnTo>
                  <a:pt x="393975" y="308701"/>
                </a:lnTo>
                <a:lnTo>
                  <a:pt x="429631" y="249250"/>
                </a:lnTo>
                <a:lnTo>
                  <a:pt x="434340" y="217170"/>
                </a:lnTo>
                <a:lnTo>
                  <a:pt x="429631" y="185089"/>
                </a:lnTo>
                <a:lnTo>
                  <a:pt x="393975" y="125638"/>
                </a:lnTo>
                <a:lnTo>
                  <a:pt x="364371" y="98941"/>
                </a:lnTo>
                <a:lnTo>
                  <a:pt x="327811" y="74711"/>
                </a:lnTo>
                <a:lnTo>
                  <a:pt x="284968" y="53285"/>
                </a:lnTo>
                <a:lnTo>
                  <a:pt x="236513" y="35000"/>
                </a:lnTo>
                <a:lnTo>
                  <a:pt x="183117" y="20192"/>
                </a:lnTo>
                <a:lnTo>
                  <a:pt x="125451" y="9198"/>
                </a:lnTo>
                <a:lnTo>
                  <a:pt x="64188" y="23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55826" y="4435602"/>
            <a:ext cx="434340" cy="434340"/>
          </a:xfrm>
          <a:custGeom>
            <a:avLst/>
            <a:gdLst/>
            <a:ahLst/>
            <a:cxnLst/>
            <a:rect l="l" t="t" r="r" b="b"/>
            <a:pathLst>
              <a:path w="434339" h="434339">
                <a:moveTo>
                  <a:pt x="0" y="434340"/>
                </a:moveTo>
                <a:lnTo>
                  <a:pt x="64188" y="431984"/>
                </a:lnTo>
                <a:lnTo>
                  <a:pt x="125451" y="425141"/>
                </a:lnTo>
                <a:lnTo>
                  <a:pt x="183117" y="414147"/>
                </a:lnTo>
                <a:lnTo>
                  <a:pt x="236513" y="399339"/>
                </a:lnTo>
                <a:lnTo>
                  <a:pt x="284968" y="381054"/>
                </a:lnTo>
                <a:lnTo>
                  <a:pt x="327811" y="359628"/>
                </a:lnTo>
                <a:lnTo>
                  <a:pt x="364371" y="335398"/>
                </a:lnTo>
                <a:lnTo>
                  <a:pt x="393975" y="308701"/>
                </a:lnTo>
                <a:lnTo>
                  <a:pt x="429631" y="249250"/>
                </a:lnTo>
                <a:lnTo>
                  <a:pt x="434340" y="217170"/>
                </a:lnTo>
                <a:lnTo>
                  <a:pt x="429631" y="185089"/>
                </a:lnTo>
                <a:lnTo>
                  <a:pt x="393975" y="125638"/>
                </a:lnTo>
                <a:lnTo>
                  <a:pt x="364371" y="98941"/>
                </a:lnTo>
                <a:lnTo>
                  <a:pt x="327811" y="74711"/>
                </a:lnTo>
                <a:lnTo>
                  <a:pt x="284968" y="53285"/>
                </a:lnTo>
                <a:lnTo>
                  <a:pt x="236513" y="35000"/>
                </a:lnTo>
                <a:lnTo>
                  <a:pt x="183117" y="20192"/>
                </a:lnTo>
                <a:lnTo>
                  <a:pt x="125451" y="9198"/>
                </a:lnTo>
                <a:lnTo>
                  <a:pt x="64188" y="2355"/>
                </a:lnTo>
                <a:lnTo>
                  <a:pt x="0" y="0"/>
                </a:lnTo>
                <a:lnTo>
                  <a:pt x="25065" y="42638"/>
                </a:lnTo>
                <a:lnTo>
                  <a:pt x="44561" y="85807"/>
                </a:lnTo>
                <a:lnTo>
                  <a:pt x="58487" y="129373"/>
                </a:lnTo>
                <a:lnTo>
                  <a:pt x="66842" y="173205"/>
                </a:lnTo>
                <a:lnTo>
                  <a:pt x="69627" y="217170"/>
                </a:lnTo>
                <a:lnTo>
                  <a:pt x="66842" y="261134"/>
                </a:lnTo>
                <a:lnTo>
                  <a:pt x="58487" y="304966"/>
                </a:lnTo>
                <a:lnTo>
                  <a:pt x="44561" y="348532"/>
                </a:lnTo>
                <a:lnTo>
                  <a:pt x="25065" y="391701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85722" y="4435602"/>
            <a:ext cx="78740" cy="434340"/>
          </a:xfrm>
          <a:custGeom>
            <a:avLst/>
            <a:gdLst/>
            <a:ahLst/>
            <a:cxnLst/>
            <a:rect l="l" t="t" r="r" b="b"/>
            <a:pathLst>
              <a:path w="78739" h="434339">
                <a:moveTo>
                  <a:pt x="0" y="0"/>
                </a:moveTo>
                <a:lnTo>
                  <a:pt x="22042" y="40417"/>
                </a:lnTo>
                <a:lnTo>
                  <a:pt x="42132" y="79216"/>
                </a:lnTo>
                <a:lnTo>
                  <a:pt x="58935" y="114728"/>
                </a:lnTo>
                <a:lnTo>
                  <a:pt x="77231" y="168628"/>
                </a:lnTo>
                <a:lnTo>
                  <a:pt x="78295" y="185991"/>
                </a:lnTo>
                <a:lnTo>
                  <a:pt x="76977" y="200973"/>
                </a:lnTo>
                <a:lnTo>
                  <a:pt x="75946" y="217170"/>
                </a:lnTo>
                <a:lnTo>
                  <a:pt x="76977" y="233604"/>
                </a:lnTo>
                <a:lnTo>
                  <a:pt x="78295" y="249110"/>
                </a:lnTo>
                <a:lnTo>
                  <a:pt x="77231" y="266997"/>
                </a:lnTo>
                <a:lnTo>
                  <a:pt x="71120" y="290575"/>
                </a:lnTo>
                <a:lnTo>
                  <a:pt x="58935" y="320932"/>
                </a:lnTo>
                <a:lnTo>
                  <a:pt x="42132" y="355885"/>
                </a:lnTo>
                <a:lnTo>
                  <a:pt x="22042" y="394124"/>
                </a:lnTo>
                <a:lnTo>
                  <a:pt x="0" y="43434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67789" y="4508753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67789" y="4798314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233422" y="4652009"/>
            <a:ext cx="144780" cy="0"/>
          </a:xfrm>
          <a:custGeom>
            <a:avLst/>
            <a:gdLst/>
            <a:ahLst/>
            <a:cxnLst/>
            <a:rect l="l" t="t" r="r" b="b"/>
            <a:pathLst>
              <a:path w="144780">
                <a:moveTo>
                  <a:pt x="0" y="0"/>
                </a:moveTo>
                <a:lnTo>
                  <a:pt x="1445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85722" y="5590794"/>
            <a:ext cx="502920" cy="0"/>
          </a:xfrm>
          <a:custGeom>
            <a:avLst/>
            <a:gdLst/>
            <a:ahLst/>
            <a:cxnLst/>
            <a:rect l="l" t="t" r="r" b="b"/>
            <a:pathLst>
              <a:path w="502919">
                <a:moveTo>
                  <a:pt x="50292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335" y="5532120"/>
            <a:ext cx="109727" cy="111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55826" y="5446014"/>
            <a:ext cx="288290" cy="287020"/>
          </a:xfrm>
          <a:custGeom>
            <a:avLst/>
            <a:gdLst/>
            <a:ahLst/>
            <a:cxnLst/>
            <a:rect l="l" t="t" r="r" b="b"/>
            <a:pathLst>
              <a:path w="288289" h="287020">
                <a:moveTo>
                  <a:pt x="0" y="0"/>
                </a:moveTo>
                <a:lnTo>
                  <a:pt x="0" y="286512"/>
                </a:lnTo>
                <a:lnTo>
                  <a:pt x="288036" y="1432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655826" y="5446014"/>
            <a:ext cx="288290" cy="287020"/>
          </a:xfrm>
          <a:custGeom>
            <a:avLst/>
            <a:gdLst/>
            <a:ahLst/>
            <a:cxnLst/>
            <a:rect l="l" t="t" r="r" b="b"/>
            <a:pathLst>
              <a:path w="288289" h="287020">
                <a:moveTo>
                  <a:pt x="0" y="0"/>
                </a:moveTo>
                <a:lnTo>
                  <a:pt x="288036" y="143256"/>
                </a:lnTo>
                <a:lnTo>
                  <a:pt x="0" y="28651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67789" y="5590794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5">
                <a:moveTo>
                  <a:pt x="0" y="0"/>
                </a:moveTo>
                <a:lnTo>
                  <a:pt x="2175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088642" y="5590794"/>
            <a:ext cx="288925" cy="0"/>
          </a:xfrm>
          <a:custGeom>
            <a:avLst/>
            <a:gdLst/>
            <a:ahLst/>
            <a:cxnLst/>
            <a:rect l="l" t="t" r="r" b="b"/>
            <a:pathLst>
              <a:path w="288925">
                <a:moveTo>
                  <a:pt x="0" y="0"/>
                </a:moveTo>
                <a:lnTo>
                  <a:pt x="2889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86433" y="6093714"/>
            <a:ext cx="1009650" cy="214629"/>
          </a:xfrm>
          <a:custGeom>
            <a:avLst/>
            <a:gdLst/>
            <a:ahLst/>
            <a:cxnLst/>
            <a:rect l="l" t="t" r="r" b="b"/>
            <a:pathLst>
              <a:path w="1009650" h="214629">
                <a:moveTo>
                  <a:pt x="0" y="214312"/>
                </a:moveTo>
                <a:lnTo>
                  <a:pt x="504824" y="214312"/>
                </a:lnTo>
                <a:lnTo>
                  <a:pt x="504824" y="0"/>
                </a:lnTo>
                <a:lnTo>
                  <a:pt x="100964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934629"/>
              </p:ext>
            </p:extLst>
          </p:nvPr>
        </p:nvGraphicFramePr>
        <p:xfrm>
          <a:off x="604837" y="974725"/>
          <a:ext cx="8389619" cy="56199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326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4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74">
                <a:tc gridSpan="4"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Primary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inputs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                    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                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marR="476250">
                        <a:lnSpc>
                          <a:spcPts val="2260"/>
                        </a:lnSpc>
                        <a:spcBef>
                          <a:spcPts val="1215"/>
                        </a:spcBef>
                      </a:pPr>
                      <a:r>
                        <a:rPr sz="2000" i="1" spc="5" dirty="0"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latin typeface="Helvetica"/>
                          <a:cs typeface="Helvetica"/>
                        </a:rPr>
                        <a:t>1  </a:t>
                      </a:r>
                      <a:r>
                        <a:rPr sz="2000" i="1" spc="5" dirty="0"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latin typeface="Helvetica"/>
                          <a:cs typeface="Helvetica"/>
                        </a:rPr>
                        <a:t>2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1543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905">
                        <a:lnSpc>
                          <a:spcPct val="100000"/>
                        </a:lnSpc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54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min[CC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),CC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)]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11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marR="474980">
                        <a:lnSpc>
                          <a:spcPts val="2260"/>
                        </a:lnSpc>
                        <a:spcBef>
                          <a:spcPts val="1215"/>
                        </a:spcBef>
                      </a:pPr>
                      <a:r>
                        <a:rPr sz="2000" i="1" spc="5" dirty="0"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latin typeface="Helvetica"/>
                          <a:cs typeface="Helvetica"/>
                        </a:rPr>
                        <a:t>1  </a:t>
                      </a:r>
                      <a:r>
                        <a:rPr sz="2000" i="1" spc="5" dirty="0"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latin typeface="Helvetica"/>
                          <a:cs typeface="Helvetica"/>
                        </a:rPr>
                        <a:t>2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1543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3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54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85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8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min[CC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),CC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)]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>
                        <a:lnSpc>
                          <a:spcPts val="2340"/>
                        </a:lnSpc>
                        <a:spcBef>
                          <a:spcPts val="1015"/>
                        </a:spcBef>
                      </a:pPr>
                      <a:r>
                        <a:rPr sz="2000" i="1" spc="10" dirty="0"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spc="15" baseline="-21367" dirty="0">
                          <a:latin typeface="Helvetica"/>
                          <a:cs typeface="Helvetica"/>
                        </a:rPr>
                        <a:t>1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  <a:p>
                      <a:pPr marL="4445">
                        <a:lnSpc>
                          <a:spcPts val="2340"/>
                        </a:lnSpc>
                      </a:pPr>
                      <a:r>
                        <a:rPr sz="2000" i="1" spc="10" dirty="0"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spc="15" baseline="-21367" dirty="0">
                          <a:latin typeface="Helvetica"/>
                          <a:cs typeface="Helvetica"/>
                        </a:rPr>
                        <a:t>2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1289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905">
                        <a:lnSpc>
                          <a:spcPct val="100000"/>
                        </a:lnSpc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127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min[CC</a:t>
                      </a:r>
                      <a:r>
                        <a:rPr sz="1800" b="1" spc="-7" baseline="25462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),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L="5365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)]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259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7210" marR="143510" indent="-445134">
                        <a:lnSpc>
                          <a:spcPct val="130100"/>
                        </a:lnSpc>
                        <a:spcBef>
                          <a:spcPts val="125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min[CC</a:t>
                      </a:r>
                      <a:r>
                        <a:rPr sz="1800" b="1" spc="-7" baseline="25462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),  CC</a:t>
                      </a:r>
                      <a:r>
                        <a:rPr sz="1800" b="1" spc="-7" baseline="25462" dirty="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)]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x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13081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13081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 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28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x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1993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80"/>
                        </a:lnSpc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r>
                        <a:rPr sz="1950" baseline="-21367" dirty="0">
                          <a:latin typeface="Helvetica"/>
                          <a:cs typeface="Helvetica"/>
                        </a:rPr>
                        <a:t>1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  <a:p>
                      <a:pPr algn="r">
                        <a:lnSpc>
                          <a:spcPts val="1730"/>
                        </a:lnSpc>
                        <a:spcBef>
                          <a:spcPts val="1000"/>
                        </a:spcBef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r>
                        <a:rPr sz="1950" baseline="-21367" dirty="0">
                          <a:latin typeface="Helvetica"/>
                          <a:cs typeface="Helvetica"/>
                        </a:rPr>
                        <a:t>2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)=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828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)=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object 41"/>
          <p:cNvSpPr/>
          <p:nvPr/>
        </p:nvSpPr>
        <p:spPr>
          <a:xfrm>
            <a:off x="1186433" y="6308597"/>
            <a:ext cx="1009650" cy="217804"/>
          </a:xfrm>
          <a:custGeom>
            <a:avLst/>
            <a:gdLst/>
            <a:ahLst/>
            <a:cxnLst/>
            <a:rect l="l" t="t" r="r" b="b"/>
            <a:pathLst>
              <a:path w="1009650" h="217804">
                <a:moveTo>
                  <a:pt x="0" y="0"/>
                </a:moveTo>
                <a:lnTo>
                  <a:pt x="504824" y="0"/>
                </a:lnTo>
                <a:lnTo>
                  <a:pt x="504824" y="217487"/>
                </a:lnTo>
                <a:lnTo>
                  <a:pt x="1009649" y="21748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5575" y="4628033"/>
            <a:ext cx="72477" cy="78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67116" y="4497176"/>
            <a:ext cx="302260" cy="340360"/>
          </a:xfrm>
          <a:custGeom>
            <a:avLst/>
            <a:gdLst/>
            <a:ahLst/>
            <a:cxnLst/>
            <a:rect l="l" t="t" r="r" b="b"/>
            <a:pathLst>
              <a:path w="302260" h="340360">
                <a:moveTo>
                  <a:pt x="0" y="0"/>
                </a:moveTo>
                <a:lnTo>
                  <a:pt x="302045" y="169932"/>
                </a:lnTo>
                <a:lnTo>
                  <a:pt x="0" y="339841"/>
                </a:lnTo>
                <a:lnTo>
                  <a:pt x="0" y="0"/>
                </a:lnTo>
                <a:close/>
              </a:path>
            </a:pathLst>
          </a:custGeom>
          <a:ln w="26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55575" y="5681558"/>
            <a:ext cx="72477" cy="781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67116" y="5550700"/>
            <a:ext cx="302260" cy="340360"/>
          </a:xfrm>
          <a:custGeom>
            <a:avLst/>
            <a:gdLst/>
            <a:ahLst/>
            <a:cxnLst/>
            <a:rect l="l" t="t" r="r" b="b"/>
            <a:pathLst>
              <a:path w="302260" h="340360">
                <a:moveTo>
                  <a:pt x="0" y="0"/>
                </a:moveTo>
                <a:lnTo>
                  <a:pt x="302045" y="169923"/>
                </a:lnTo>
                <a:lnTo>
                  <a:pt x="0" y="339846"/>
                </a:lnTo>
                <a:lnTo>
                  <a:pt x="0" y="0"/>
                </a:lnTo>
                <a:close/>
              </a:path>
            </a:pathLst>
          </a:custGeom>
          <a:ln w="26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88216" y="3545654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0" y="0"/>
                </a:moveTo>
                <a:lnTo>
                  <a:pt x="36248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88216" y="3749516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0" y="0"/>
                </a:moveTo>
                <a:lnTo>
                  <a:pt x="36248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50697" y="364756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362267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15009" y="344374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141284" y="0"/>
                </a:moveTo>
                <a:lnTo>
                  <a:pt x="0" y="0"/>
                </a:lnTo>
                <a:lnTo>
                  <a:pt x="25950" y="43741"/>
                </a:lnTo>
                <a:lnTo>
                  <a:pt x="45413" y="88646"/>
                </a:lnTo>
                <a:lnTo>
                  <a:pt x="58388" y="134383"/>
                </a:lnTo>
                <a:lnTo>
                  <a:pt x="64876" y="180622"/>
                </a:lnTo>
                <a:lnTo>
                  <a:pt x="64876" y="227029"/>
                </a:lnTo>
                <a:lnTo>
                  <a:pt x="58388" y="273275"/>
                </a:lnTo>
                <a:lnTo>
                  <a:pt x="45413" y="319027"/>
                </a:lnTo>
                <a:lnTo>
                  <a:pt x="25950" y="363953"/>
                </a:lnTo>
                <a:lnTo>
                  <a:pt x="0" y="407723"/>
                </a:lnTo>
                <a:lnTo>
                  <a:pt x="141284" y="407723"/>
                </a:lnTo>
                <a:lnTo>
                  <a:pt x="196529" y="395136"/>
                </a:lnTo>
                <a:lnTo>
                  <a:pt x="248655" y="378314"/>
                </a:lnTo>
                <a:lnTo>
                  <a:pt x="297220" y="357530"/>
                </a:lnTo>
                <a:lnTo>
                  <a:pt x="341783" y="333061"/>
                </a:lnTo>
                <a:lnTo>
                  <a:pt x="381900" y="305182"/>
                </a:lnTo>
                <a:lnTo>
                  <a:pt x="417129" y="274168"/>
                </a:lnTo>
                <a:lnTo>
                  <a:pt x="447030" y="240294"/>
                </a:lnTo>
                <a:lnTo>
                  <a:pt x="471160" y="203837"/>
                </a:lnTo>
                <a:lnTo>
                  <a:pt x="447292" y="167190"/>
                </a:lnTo>
                <a:lnTo>
                  <a:pt x="417549" y="133167"/>
                </a:lnTo>
                <a:lnTo>
                  <a:pt x="382387" y="102050"/>
                </a:lnTo>
                <a:lnTo>
                  <a:pt x="342262" y="74125"/>
                </a:lnTo>
                <a:lnTo>
                  <a:pt x="297632" y="49673"/>
                </a:lnTo>
                <a:lnTo>
                  <a:pt x="248955" y="28980"/>
                </a:lnTo>
                <a:lnTo>
                  <a:pt x="196686" y="12327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15009" y="344374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471160" y="203837"/>
                </a:moveTo>
                <a:lnTo>
                  <a:pt x="447030" y="240294"/>
                </a:lnTo>
                <a:lnTo>
                  <a:pt x="417129" y="274168"/>
                </a:lnTo>
                <a:lnTo>
                  <a:pt x="381900" y="305182"/>
                </a:lnTo>
                <a:lnTo>
                  <a:pt x="341783" y="333061"/>
                </a:lnTo>
                <a:lnTo>
                  <a:pt x="297220" y="357530"/>
                </a:lnTo>
                <a:lnTo>
                  <a:pt x="248655" y="378314"/>
                </a:lnTo>
                <a:lnTo>
                  <a:pt x="196529" y="395136"/>
                </a:lnTo>
                <a:lnTo>
                  <a:pt x="141284" y="407723"/>
                </a:lnTo>
                <a:lnTo>
                  <a:pt x="0" y="407723"/>
                </a:lnTo>
                <a:lnTo>
                  <a:pt x="25950" y="363953"/>
                </a:lnTo>
                <a:lnTo>
                  <a:pt x="45413" y="319027"/>
                </a:lnTo>
                <a:lnTo>
                  <a:pt x="58388" y="273275"/>
                </a:lnTo>
                <a:lnTo>
                  <a:pt x="64876" y="227029"/>
                </a:lnTo>
                <a:lnTo>
                  <a:pt x="64876" y="180622"/>
                </a:lnTo>
                <a:lnTo>
                  <a:pt x="58388" y="134383"/>
                </a:lnTo>
                <a:lnTo>
                  <a:pt x="45413" y="88646"/>
                </a:lnTo>
                <a:lnTo>
                  <a:pt x="25950" y="43741"/>
                </a:lnTo>
                <a:lnTo>
                  <a:pt x="0" y="0"/>
                </a:lnTo>
                <a:lnTo>
                  <a:pt x="141284" y="0"/>
                </a:lnTo>
                <a:lnTo>
                  <a:pt x="196686" y="12327"/>
                </a:lnTo>
                <a:lnTo>
                  <a:pt x="248955" y="28980"/>
                </a:lnTo>
                <a:lnTo>
                  <a:pt x="297632" y="49673"/>
                </a:lnTo>
                <a:lnTo>
                  <a:pt x="342262" y="74125"/>
                </a:lnTo>
                <a:lnTo>
                  <a:pt x="382387" y="102050"/>
                </a:lnTo>
                <a:lnTo>
                  <a:pt x="417549" y="133167"/>
                </a:lnTo>
                <a:lnTo>
                  <a:pt x="447292" y="167190"/>
                </a:lnTo>
                <a:lnTo>
                  <a:pt x="471160" y="203837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27115" y="269587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27115" y="279801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27115" y="2899924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89382" y="279801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36248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53909" y="2593964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5">
                <a:moveTo>
                  <a:pt x="141284" y="0"/>
                </a:moveTo>
                <a:lnTo>
                  <a:pt x="0" y="0"/>
                </a:lnTo>
                <a:lnTo>
                  <a:pt x="25887" y="43771"/>
                </a:lnTo>
                <a:lnTo>
                  <a:pt x="45303" y="88703"/>
                </a:lnTo>
                <a:lnTo>
                  <a:pt x="58246" y="134463"/>
                </a:lnTo>
                <a:lnTo>
                  <a:pt x="64718" y="180721"/>
                </a:lnTo>
                <a:lnTo>
                  <a:pt x="64718" y="227145"/>
                </a:lnTo>
                <a:lnTo>
                  <a:pt x="58246" y="273403"/>
                </a:lnTo>
                <a:lnTo>
                  <a:pt x="45303" y="319163"/>
                </a:lnTo>
                <a:lnTo>
                  <a:pt x="25887" y="364095"/>
                </a:lnTo>
                <a:lnTo>
                  <a:pt x="0" y="407867"/>
                </a:lnTo>
                <a:lnTo>
                  <a:pt x="141284" y="407867"/>
                </a:lnTo>
                <a:lnTo>
                  <a:pt x="196468" y="395313"/>
                </a:lnTo>
                <a:lnTo>
                  <a:pt x="248565" y="378516"/>
                </a:lnTo>
                <a:lnTo>
                  <a:pt x="297127" y="357751"/>
                </a:lnTo>
                <a:lnTo>
                  <a:pt x="341703" y="333295"/>
                </a:lnTo>
                <a:lnTo>
                  <a:pt x="381843" y="305421"/>
                </a:lnTo>
                <a:lnTo>
                  <a:pt x="417099" y="274406"/>
                </a:lnTo>
                <a:lnTo>
                  <a:pt x="447021" y="240525"/>
                </a:lnTo>
                <a:lnTo>
                  <a:pt x="471160" y="204053"/>
                </a:lnTo>
                <a:lnTo>
                  <a:pt x="447292" y="167413"/>
                </a:lnTo>
                <a:lnTo>
                  <a:pt x="417549" y="133393"/>
                </a:lnTo>
                <a:lnTo>
                  <a:pt x="382387" y="102272"/>
                </a:lnTo>
                <a:lnTo>
                  <a:pt x="342262" y="74332"/>
                </a:lnTo>
                <a:lnTo>
                  <a:pt x="297632" y="49853"/>
                </a:lnTo>
                <a:lnTo>
                  <a:pt x="248955" y="29118"/>
                </a:lnTo>
                <a:lnTo>
                  <a:pt x="196686" y="12406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53908" y="2593964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5">
                <a:moveTo>
                  <a:pt x="471160" y="204053"/>
                </a:moveTo>
                <a:lnTo>
                  <a:pt x="447021" y="240525"/>
                </a:lnTo>
                <a:lnTo>
                  <a:pt x="417099" y="274406"/>
                </a:lnTo>
                <a:lnTo>
                  <a:pt x="381843" y="305421"/>
                </a:lnTo>
                <a:lnTo>
                  <a:pt x="341703" y="333295"/>
                </a:lnTo>
                <a:lnTo>
                  <a:pt x="297127" y="357751"/>
                </a:lnTo>
                <a:lnTo>
                  <a:pt x="248565" y="378516"/>
                </a:lnTo>
                <a:lnTo>
                  <a:pt x="196468" y="395313"/>
                </a:lnTo>
                <a:lnTo>
                  <a:pt x="141284" y="407867"/>
                </a:lnTo>
                <a:lnTo>
                  <a:pt x="0" y="407867"/>
                </a:lnTo>
                <a:lnTo>
                  <a:pt x="25887" y="364095"/>
                </a:lnTo>
                <a:lnTo>
                  <a:pt x="45303" y="319163"/>
                </a:lnTo>
                <a:lnTo>
                  <a:pt x="58246" y="273403"/>
                </a:lnTo>
                <a:lnTo>
                  <a:pt x="64718" y="227145"/>
                </a:lnTo>
                <a:lnTo>
                  <a:pt x="64718" y="180721"/>
                </a:lnTo>
                <a:lnTo>
                  <a:pt x="58246" y="134463"/>
                </a:lnTo>
                <a:lnTo>
                  <a:pt x="45303" y="88703"/>
                </a:lnTo>
                <a:lnTo>
                  <a:pt x="25887" y="43771"/>
                </a:lnTo>
                <a:lnTo>
                  <a:pt x="0" y="0"/>
                </a:lnTo>
                <a:lnTo>
                  <a:pt x="141284" y="0"/>
                </a:lnTo>
                <a:lnTo>
                  <a:pt x="196686" y="12406"/>
                </a:lnTo>
                <a:lnTo>
                  <a:pt x="248955" y="29118"/>
                </a:lnTo>
                <a:lnTo>
                  <a:pt x="297632" y="49853"/>
                </a:lnTo>
                <a:lnTo>
                  <a:pt x="342262" y="74332"/>
                </a:lnTo>
                <a:lnTo>
                  <a:pt x="382387" y="102272"/>
                </a:lnTo>
                <a:lnTo>
                  <a:pt x="417549" y="133393"/>
                </a:lnTo>
                <a:lnTo>
                  <a:pt x="447292" y="167413"/>
                </a:lnTo>
                <a:lnTo>
                  <a:pt x="471160" y="204053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09991" y="2753739"/>
            <a:ext cx="81512" cy="883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27115" y="442919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27115" y="463310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89382" y="4531153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36248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53909" y="4327243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141284" y="0"/>
                </a:moveTo>
                <a:lnTo>
                  <a:pt x="0" y="0"/>
                </a:lnTo>
                <a:lnTo>
                  <a:pt x="25887" y="43769"/>
                </a:lnTo>
                <a:lnTo>
                  <a:pt x="45303" y="88697"/>
                </a:lnTo>
                <a:lnTo>
                  <a:pt x="58246" y="134451"/>
                </a:lnTo>
                <a:lnTo>
                  <a:pt x="64718" y="180701"/>
                </a:lnTo>
                <a:lnTo>
                  <a:pt x="64718" y="227117"/>
                </a:lnTo>
                <a:lnTo>
                  <a:pt x="58246" y="273367"/>
                </a:lnTo>
                <a:lnTo>
                  <a:pt x="45303" y="319122"/>
                </a:lnTo>
                <a:lnTo>
                  <a:pt x="25887" y="364049"/>
                </a:lnTo>
                <a:lnTo>
                  <a:pt x="0" y="407819"/>
                </a:lnTo>
                <a:lnTo>
                  <a:pt x="141284" y="407819"/>
                </a:lnTo>
                <a:lnTo>
                  <a:pt x="196468" y="395232"/>
                </a:lnTo>
                <a:lnTo>
                  <a:pt x="248565" y="378410"/>
                </a:lnTo>
                <a:lnTo>
                  <a:pt x="297127" y="357626"/>
                </a:lnTo>
                <a:lnTo>
                  <a:pt x="341703" y="333157"/>
                </a:lnTo>
                <a:lnTo>
                  <a:pt x="381843" y="305278"/>
                </a:lnTo>
                <a:lnTo>
                  <a:pt x="417099" y="274264"/>
                </a:lnTo>
                <a:lnTo>
                  <a:pt x="447021" y="240390"/>
                </a:lnTo>
                <a:lnTo>
                  <a:pt x="471160" y="203933"/>
                </a:lnTo>
                <a:lnTo>
                  <a:pt x="447292" y="167315"/>
                </a:lnTo>
                <a:lnTo>
                  <a:pt x="417549" y="133308"/>
                </a:lnTo>
                <a:lnTo>
                  <a:pt x="382387" y="102196"/>
                </a:lnTo>
                <a:lnTo>
                  <a:pt x="342262" y="74263"/>
                </a:lnTo>
                <a:lnTo>
                  <a:pt x="297632" y="49792"/>
                </a:lnTo>
                <a:lnTo>
                  <a:pt x="248955" y="29069"/>
                </a:lnTo>
                <a:lnTo>
                  <a:pt x="196686" y="12377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53909" y="4327244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471160" y="203933"/>
                </a:moveTo>
                <a:lnTo>
                  <a:pt x="447021" y="240390"/>
                </a:lnTo>
                <a:lnTo>
                  <a:pt x="417099" y="274264"/>
                </a:lnTo>
                <a:lnTo>
                  <a:pt x="381843" y="305278"/>
                </a:lnTo>
                <a:lnTo>
                  <a:pt x="341703" y="333157"/>
                </a:lnTo>
                <a:lnTo>
                  <a:pt x="297127" y="357626"/>
                </a:lnTo>
                <a:lnTo>
                  <a:pt x="248565" y="378409"/>
                </a:lnTo>
                <a:lnTo>
                  <a:pt x="196468" y="395232"/>
                </a:lnTo>
                <a:lnTo>
                  <a:pt x="141284" y="407819"/>
                </a:lnTo>
                <a:lnTo>
                  <a:pt x="0" y="407819"/>
                </a:lnTo>
                <a:lnTo>
                  <a:pt x="25887" y="364049"/>
                </a:lnTo>
                <a:lnTo>
                  <a:pt x="45303" y="319122"/>
                </a:lnTo>
                <a:lnTo>
                  <a:pt x="58246" y="273367"/>
                </a:lnTo>
                <a:lnTo>
                  <a:pt x="64718" y="227117"/>
                </a:lnTo>
                <a:lnTo>
                  <a:pt x="64718" y="180701"/>
                </a:lnTo>
                <a:lnTo>
                  <a:pt x="58246" y="134451"/>
                </a:lnTo>
                <a:lnTo>
                  <a:pt x="45303" y="88697"/>
                </a:lnTo>
                <a:lnTo>
                  <a:pt x="25887" y="43769"/>
                </a:lnTo>
                <a:lnTo>
                  <a:pt x="0" y="0"/>
                </a:lnTo>
                <a:lnTo>
                  <a:pt x="141284" y="0"/>
                </a:lnTo>
                <a:lnTo>
                  <a:pt x="196686" y="12377"/>
                </a:lnTo>
                <a:lnTo>
                  <a:pt x="248955" y="29069"/>
                </a:lnTo>
                <a:lnTo>
                  <a:pt x="297632" y="49792"/>
                </a:lnTo>
                <a:lnTo>
                  <a:pt x="342262" y="74263"/>
                </a:lnTo>
                <a:lnTo>
                  <a:pt x="382387" y="102196"/>
                </a:lnTo>
                <a:lnTo>
                  <a:pt x="417549" y="133308"/>
                </a:lnTo>
                <a:lnTo>
                  <a:pt x="447292" y="167315"/>
                </a:lnTo>
                <a:lnTo>
                  <a:pt x="471160" y="203933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53909" y="4327243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89813" y="0"/>
                </a:moveTo>
                <a:lnTo>
                  <a:pt x="0" y="0"/>
                </a:lnTo>
                <a:lnTo>
                  <a:pt x="0" y="407819"/>
                </a:lnTo>
                <a:lnTo>
                  <a:pt x="289813" y="407819"/>
                </a:lnTo>
                <a:lnTo>
                  <a:pt x="331395" y="402434"/>
                </a:lnTo>
                <a:lnTo>
                  <a:pt x="369565" y="387095"/>
                </a:lnTo>
                <a:lnTo>
                  <a:pt x="403237" y="363025"/>
                </a:lnTo>
                <a:lnTo>
                  <a:pt x="431320" y="331448"/>
                </a:lnTo>
                <a:lnTo>
                  <a:pt x="452728" y="293587"/>
                </a:lnTo>
                <a:lnTo>
                  <a:pt x="466370" y="250666"/>
                </a:lnTo>
                <a:lnTo>
                  <a:pt x="471160" y="203909"/>
                </a:lnTo>
                <a:lnTo>
                  <a:pt x="466370" y="157159"/>
                </a:lnTo>
                <a:lnTo>
                  <a:pt x="452728" y="114241"/>
                </a:lnTo>
                <a:lnTo>
                  <a:pt x="431320" y="76380"/>
                </a:lnTo>
                <a:lnTo>
                  <a:pt x="403237" y="44801"/>
                </a:lnTo>
                <a:lnTo>
                  <a:pt x="369565" y="20728"/>
                </a:lnTo>
                <a:lnTo>
                  <a:pt x="331395" y="5386"/>
                </a:lnTo>
                <a:lnTo>
                  <a:pt x="2898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53909" y="4327244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89813" y="407819"/>
                </a:moveTo>
                <a:lnTo>
                  <a:pt x="0" y="407819"/>
                </a:lnTo>
                <a:lnTo>
                  <a:pt x="0" y="0"/>
                </a:lnTo>
                <a:lnTo>
                  <a:pt x="289813" y="0"/>
                </a:lnTo>
                <a:lnTo>
                  <a:pt x="331395" y="5386"/>
                </a:lnTo>
                <a:lnTo>
                  <a:pt x="369565" y="20728"/>
                </a:lnTo>
                <a:lnTo>
                  <a:pt x="403237" y="44801"/>
                </a:lnTo>
                <a:lnTo>
                  <a:pt x="431320" y="76380"/>
                </a:lnTo>
                <a:lnTo>
                  <a:pt x="452728" y="114241"/>
                </a:lnTo>
                <a:lnTo>
                  <a:pt x="466370" y="157159"/>
                </a:lnTo>
                <a:lnTo>
                  <a:pt x="471160" y="203909"/>
                </a:lnTo>
                <a:lnTo>
                  <a:pt x="466370" y="250666"/>
                </a:lnTo>
                <a:lnTo>
                  <a:pt x="452728" y="293587"/>
                </a:lnTo>
                <a:lnTo>
                  <a:pt x="431320" y="331448"/>
                </a:lnTo>
                <a:lnTo>
                  <a:pt x="403237" y="363025"/>
                </a:lnTo>
                <a:lnTo>
                  <a:pt x="369565" y="387095"/>
                </a:lnTo>
                <a:lnTo>
                  <a:pt x="331395" y="402434"/>
                </a:lnTo>
                <a:lnTo>
                  <a:pt x="289813" y="407819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26321" y="514288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26321" y="534679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88588" y="5244836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36248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53114" y="504092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141284" y="0"/>
                </a:moveTo>
                <a:lnTo>
                  <a:pt x="0" y="0"/>
                </a:lnTo>
                <a:lnTo>
                  <a:pt x="25950" y="43769"/>
                </a:lnTo>
                <a:lnTo>
                  <a:pt x="45413" y="88697"/>
                </a:lnTo>
                <a:lnTo>
                  <a:pt x="58388" y="134451"/>
                </a:lnTo>
                <a:lnTo>
                  <a:pt x="64876" y="180701"/>
                </a:lnTo>
                <a:lnTo>
                  <a:pt x="64876" y="227117"/>
                </a:lnTo>
                <a:lnTo>
                  <a:pt x="58388" y="273367"/>
                </a:lnTo>
                <a:lnTo>
                  <a:pt x="45413" y="319122"/>
                </a:lnTo>
                <a:lnTo>
                  <a:pt x="25950" y="364049"/>
                </a:lnTo>
                <a:lnTo>
                  <a:pt x="0" y="407819"/>
                </a:lnTo>
                <a:lnTo>
                  <a:pt x="141284" y="407819"/>
                </a:lnTo>
                <a:lnTo>
                  <a:pt x="196529" y="395232"/>
                </a:lnTo>
                <a:lnTo>
                  <a:pt x="248655" y="378410"/>
                </a:lnTo>
                <a:lnTo>
                  <a:pt x="297220" y="357626"/>
                </a:lnTo>
                <a:lnTo>
                  <a:pt x="341783" y="333157"/>
                </a:lnTo>
                <a:lnTo>
                  <a:pt x="381900" y="305278"/>
                </a:lnTo>
                <a:lnTo>
                  <a:pt x="417129" y="274264"/>
                </a:lnTo>
                <a:lnTo>
                  <a:pt x="447030" y="240390"/>
                </a:lnTo>
                <a:lnTo>
                  <a:pt x="471160" y="203933"/>
                </a:lnTo>
                <a:lnTo>
                  <a:pt x="447292" y="167315"/>
                </a:lnTo>
                <a:lnTo>
                  <a:pt x="417549" y="133308"/>
                </a:lnTo>
                <a:lnTo>
                  <a:pt x="382387" y="102196"/>
                </a:lnTo>
                <a:lnTo>
                  <a:pt x="342262" y="74263"/>
                </a:lnTo>
                <a:lnTo>
                  <a:pt x="297632" y="49792"/>
                </a:lnTo>
                <a:lnTo>
                  <a:pt x="248955" y="29069"/>
                </a:lnTo>
                <a:lnTo>
                  <a:pt x="196686" y="12377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953114" y="504092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471160" y="203933"/>
                </a:moveTo>
                <a:lnTo>
                  <a:pt x="447030" y="240390"/>
                </a:lnTo>
                <a:lnTo>
                  <a:pt x="417129" y="274264"/>
                </a:lnTo>
                <a:lnTo>
                  <a:pt x="381900" y="305278"/>
                </a:lnTo>
                <a:lnTo>
                  <a:pt x="341783" y="333157"/>
                </a:lnTo>
                <a:lnTo>
                  <a:pt x="297220" y="357626"/>
                </a:lnTo>
                <a:lnTo>
                  <a:pt x="248655" y="378409"/>
                </a:lnTo>
                <a:lnTo>
                  <a:pt x="196529" y="395232"/>
                </a:lnTo>
                <a:lnTo>
                  <a:pt x="141284" y="407819"/>
                </a:lnTo>
                <a:lnTo>
                  <a:pt x="0" y="407819"/>
                </a:lnTo>
                <a:lnTo>
                  <a:pt x="25950" y="364049"/>
                </a:lnTo>
                <a:lnTo>
                  <a:pt x="45413" y="319122"/>
                </a:lnTo>
                <a:lnTo>
                  <a:pt x="58388" y="273367"/>
                </a:lnTo>
                <a:lnTo>
                  <a:pt x="64876" y="227117"/>
                </a:lnTo>
                <a:lnTo>
                  <a:pt x="64876" y="180701"/>
                </a:lnTo>
                <a:lnTo>
                  <a:pt x="58388" y="134451"/>
                </a:lnTo>
                <a:lnTo>
                  <a:pt x="45413" y="88697"/>
                </a:lnTo>
                <a:lnTo>
                  <a:pt x="25950" y="43769"/>
                </a:lnTo>
                <a:lnTo>
                  <a:pt x="0" y="0"/>
                </a:lnTo>
                <a:lnTo>
                  <a:pt x="141284" y="0"/>
                </a:lnTo>
                <a:lnTo>
                  <a:pt x="196686" y="12377"/>
                </a:lnTo>
                <a:lnTo>
                  <a:pt x="248955" y="29069"/>
                </a:lnTo>
                <a:lnTo>
                  <a:pt x="297632" y="49792"/>
                </a:lnTo>
                <a:lnTo>
                  <a:pt x="342262" y="74263"/>
                </a:lnTo>
                <a:lnTo>
                  <a:pt x="382387" y="102196"/>
                </a:lnTo>
                <a:lnTo>
                  <a:pt x="417549" y="133308"/>
                </a:lnTo>
                <a:lnTo>
                  <a:pt x="447292" y="167315"/>
                </a:lnTo>
                <a:lnTo>
                  <a:pt x="471160" y="203933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53114" y="504092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90026" y="0"/>
                </a:moveTo>
                <a:lnTo>
                  <a:pt x="0" y="0"/>
                </a:lnTo>
                <a:lnTo>
                  <a:pt x="0" y="407819"/>
                </a:lnTo>
                <a:lnTo>
                  <a:pt x="290026" y="407819"/>
                </a:lnTo>
                <a:lnTo>
                  <a:pt x="331529" y="402434"/>
                </a:lnTo>
                <a:lnTo>
                  <a:pt x="369643" y="387095"/>
                </a:lnTo>
                <a:lnTo>
                  <a:pt x="403277" y="363025"/>
                </a:lnTo>
                <a:lnTo>
                  <a:pt x="431337" y="331448"/>
                </a:lnTo>
                <a:lnTo>
                  <a:pt x="452733" y="293587"/>
                </a:lnTo>
                <a:lnTo>
                  <a:pt x="466371" y="250666"/>
                </a:lnTo>
                <a:lnTo>
                  <a:pt x="471160" y="203909"/>
                </a:lnTo>
                <a:lnTo>
                  <a:pt x="466371" y="157152"/>
                </a:lnTo>
                <a:lnTo>
                  <a:pt x="452733" y="114231"/>
                </a:lnTo>
                <a:lnTo>
                  <a:pt x="431337" y="76370"/>
                </a:lnTo>
                <a:lnTo>
                  <a:pt x="403277" y="44793"/>
                </a:lnTo>
                <a:lnTo>
                  <a:pt x="369643" y="20724"/>
                </a:lnTo>
                <a:lnTo>
                  <a:pt x="331529" y="5384"/>
                </a:lnTo>
                <a:lnTo>
                  <a:pt x="2900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53114" y="504092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90026" y="407819"/>
                </a:moveTo>
                <a:lnTo>
                  <a:pt x="0" y="407819"/>
                </a:lnTo>
                <a:lnTo>
                  <a:pt x="0" y="0"/>
                </a:lnTo>
                <a:lnTo>
                  <a:pt x="290026" y="0"/>
                </a:lnTo>
                <a:lnTo>
                  <a:pt x="331529" y="5384"/>
                </a:lnTo>
                <a:lnTo>
                  <a:pt x="369643" y="20724"/>
                </a:lnTo>
                <a:lnTo>
                  <a:pt x="403277" y="44793"/>
                </a:lnTo>
                <a:lnTo>
                  <a:pt x="431337" y="76370"/>
                </a:lnTo>
                <a:lnTo>
                  <a:pt x="452733" y="114231"/>
                </a:lnTo>
                <a:lnTo>
                  <a:pt x="466371" y="157152"/>
                </a:lnTo>
                <a:lnTo>
                  <a:pt x="471160" y="203909"/>
                </a:lnTo>
                <a:lnTo>
                  <a:pt x="466371" y="250666"/>
                </a:lnTo>
                <a:lnTo>
                  <a:pt x="452733" y="293587"/>
                </a:lnTo>
                <a:lnTo>
                  <a:pt x="431337" y="331448"/>
                </a:lnTo>
                <a:lnTo>
                  <a:pt x="403277" y="363025"/>
                </a:lnTo>
                <a:lnTo>
                  <a:pt x="369643" y="387095"/>
                </a:lnTo>
                <a:lnTo>
                  <a:pt x="331529" y="402434"/>
                </a:lnTo>
                <a:lnTo>
                  <a:pt x="290026" y="407819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17471" y="5346791"/>
            <a:ext cx="1009015" cy="374015"/>
          </a:xfrm>
          <a:custGeom>
            <a:avLst/>
            <a:gdLst/>
            <a:ahLst/>
            <a:cxnLst/>
            <a:rect l="l" t="t" r="r" b="b"/>
            <a:pathLst>
              <a:path w="1009014" h="374014">
                <a:moveTo>
                  <a:pt x="0" y="373832"/>
                </a:moveTo>
                <a:lnTo>
                  <a:pt x="462103" y="373832"/>
                </a:lnTo>
                <a:lnTo>
                  <a:pt x="462103" y="0"/>
                </a:lnTo>
                <a:lnTo>
                  <a:pt x="1008849" y="0"/>
                </a:lnTo>
              </a:path>
            </a:pathLst>
          </a:custGeom>
          <a:ln w="28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814466" y="4667108"/>
            <a:ext cx="1012190" cy="476250"/>
          </a:xfrm>
          <a:custGeom>
            <a:avLst/>
            <a:gdLst/>
            <a:ahLst/>
            <a:cxnLst/>
            <a:rect l="l" t="t" r="r" b="b"/>
            <a:pathLst>
              <a:path w="1012189" h="476250">
                <a:moveTo>
                  <a:pt x="0" y="0"/>
                </a:moveTo>
                <a:lnTo>
                  <a:pt x="468134" y="0"/>
                </a:lnTo>
                <a:lnTo>
                  <a:pt x="468134" y="475772"/>
                </a:lnTo>
                <a:lnTo>
                  <a:pt x="1011854" y="475773"/>
                </a:lnTo>
              </a:path>
            </a:pathLst>
          </a:custGeom>
          <a:ln w="28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034375" y="4633108"/>
            <a:ext cx="393065" cy="0"/>
          </a:xfrm>
          <a:custGeom>
            <a:avLst/>
            <a:gdLst/>
            <a:ahLst/>
            <a:cxnLst/>
            <a:rect l="l" t="t" r="r" b="b"/>
            <a:pathLst>
              <a:path w="393064">
                <a:moveTo>
                  <a:pt x="39274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74920" y="4566209"/>
            <a:ext cx="118908" cy="1337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034375" y="2899924"/>
            <a:ext cx="393065" cy="2345055"/>
          </a:xfrm>
          <a:custGeom>
            <a:avLst/>
            <a:gdLst/>
            <a:ahLst/>
            <a:cxnLst/>
            <a:rect l="l" t="t" r="r" b="b"/>
            <a:pathLst>
              <a:path w="393064" h="2345054">
                <a:moveTo>
                  <a:pt x="392740" y="0"/>
                </a:moveTo>
                <a:lnTo>
                  <a:pt x="0" y="0"/>
                </a:lnTo>
                <a:lnTo>
                  <a:pt x="0" y="2344911"/>
                </a:lnTo>
              </a:path>
            </a:pathLst>
          </a:custGeom>
          <a:ln w="25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74920" y="5177937"/>
            <a:ext cx="118908" cy="1337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75234" y="2831827"/>
            <a:ext cx="1751964" cy="1597660"/>
          </a:xfrm>
          <a:custGeom>
            <a:avLst/>
            <a:gdLst/>
            <a:ahLst/>
            <a:cxnLst/>
            <a:rect l="l" t="t" r="r" b="b"/>
            <a:pathLst>
              <a:path w="1751964" h="1597660">
                <a:moveTo>
                  <a:pt x="1751881" y="1597371"/>
                </a:moveTo>
                <a:lnTo>
                  <a:pt x="1409432" y="1597371"/>
                </a:lnTo>
                <a:lnTo>
                  <a:pt x="1405469" y="1575331"/>
                </a:lnTo>
                <a:lnTo>
                  <a:pt x="1394675" y="1557328"/>
                </a:lnTo>
                <a:lnTo>
                  <a:pt x="1378686" y="1545187"/>
                </a:lnTo>
                <a:lnTo>
                  <a:pt x="1359141" y="1540735"/>
                </a:lnTo>
                <a:lnTo>
                  <a:pt x="1339595" y="1545187"/>
                </a:lnTo>
                <a:lnTo>
                  <a:pt x="1323606" y="1557328"/>
                </a:lnTo>
                <a:lnTo>
                  <a:pt x="1312812" y="1575331"/>
                </a:lnTo>
                <a:lnTo>
                  <a:pt x="1308849" y="1597371"/>
                </a:lnTo>
                <a:lnTo>
                  <a:pt x="0" y="1597371"/>
                </a:lnTo>
                <a:lnTo>
                  <a:pt x="0" y="0"/>
                </a:lnTo>
              </a:path>
            </a:pathLst>
          </a:custGeom>
          <a:ln w="27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91239" y="3522875"/>
            <a:ext cx="2084070" cy="57150"/>
          </a:xfrm>
          <a:custGeom>
            <a:avLst/>
            <a:gdLst/>
            <a:ahLst/>
            <a:cxnLst/>
            <a:rect l="l" t="t" r="r" b="b"/>
            <a:pathLst>
              <a:path w="2084070" h="57150">
                <a:moveTo>
                  <a:pt x="0" y="56708"/>
                </a:moveTo>
                <a:lnTo>
                  <a:pt x="221494" y="56708"/>
                </a:lnTo>
                <a:lnTo>
                  <a:pt x="225448" y="34646"/>
                </a:lnTo>
                <a:lnTo>
                  <a:pt x="236232" y="16619"/>
                </a:lnTo>
                <a:lnTo>
                  <a:pt x="252231" y="4460"/>
                </a:lnTo>
                <a:lnTo>
                  <a:pt x="271828" y="0"/>
                </a:lnTo>
                <a:lnTo>
                  <a:pt x="291424" y="4460"/>
                </a:lnTo>
                <a:lnTo>
                  <a:pt x="307423" y="16619"/>
                </a:lnTo>
                <a:lnTo>
                  <a:pt x="318208" y="34646"/>
                </a:lnTo>
                <a:lnTo>
                  <a:pt x="322162" y="56708"/>
                </a:lnTo>
                <a:lnTo>
                  <a:pt x="2083994" y="56708"/>
                </a:lnTo>
              </a:path>
            </a:pathLst>
          </a:custGeom>
          <a:ln w="287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615779" y="3512804"/>
            <a:ext cx="118908" cy="1336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95476" y="3749516"/>
            <a:ext cx="393065" cy="781685"/>
          </a:xfrm>
          <a:custGeom>
            <a:avLst/>
            <a:gdLst/>
            <a:ahLst/>
            <a:cxnLst/>
            <a:rect l="l" t="t" r="r" b="b"/>
            <a:pathLst>
              <a:path w="393065" h="781685">
                <a:moveTo>
                  <a:pt x="392740" y="0"/>
                </a:moveTo>
                <a:lnTo>
                  <a:pt x="0" y="0"/>
                </a:lnTo>
                <a:lnTo>
                  <a:pt x="0" y="781637"/>
                </a:lnTo>
              </a:path>
            </a:pathLst>
          </a:custGeom>
          <a:ln w="26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36022" y="4464254"/>
            <a:ext cx="118908" cy="1337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51862" y="2798018"/>
            <a:ext cx="936625" cy="748030"/>
          </a:xfrm>
          <a:custGeom>
            <a:avLst/>
            <a:gdLst/>
            <a:ahLst/>
            <a:cxnLst/>
            <a:rect l="l" t="t" r="r" b="b"/>
            <a:pathLst>
              <a:path w="936625" h="748029">
                <a:moveTo>
                  <a:pt x="0" y="0"/>
                </a:moveTo>
                <a:lnTo>
                  <a:pt x="543613" y="0"/>
                </a:lnTo>
                <a:lnTo>
                  <a:pt x="543613" y="747636"/>
                </a:lnTo>
                <a:lnTo>
                  <a:pt x="936353" y="747636"/>
                </a:lnTo>
              </a:path>
            </a:pathLst>
          </a:custGeom>
          <a:ln w="27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675234" y="2798018"/>
            <a:ext cx="1751964" cy="34290"/>
          </a:xfrm>
          <a:custGeom>
            <a:avLst/>
            <a:gdLst/>
            <a:ahLst/>
            <a:cxnLst/>
            <a:rect l="l" t="t" r="r" b="b"/>
            <a:pathLst>
              <a:path w="1751964" h="34289">
                <a:moveTo>
                  <a:pt x="1751881" y="0"/>
                </a:moveTo>
                <a:lnTo>
                  <a:pt x="0" y="0"/>
                </a:lnTo>
                <a:lnTo>
                  <a:pt x="0" y="33809"/>
                </a:lnTo>
              </a:path>
            </a:pathLst>
          </a:custGeom>
          <a:ln w="287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63067" y="2695871"/>
            <a:ext cx="604520" cy="1971675"/>
          </a:xfrm>
          <a:custGeom>
            <a:avLst/>
            <a:gdLst/>
            <a:ahLst/>
            <a:cxnLst/>
            <a:rect l="l" t="t" r="r" b="b"/>
            <a:pathLst>
              <a:path w="604519" h="1971675">
                <a:moveTo>
                  <a:pt x="604048" y="1971237"/>
                </a:moveTo>
                <a:lnTo>
                  <a:pt x="0" y="1971237"/>
                </a:lnTo>
                <a:lnTo>
                  <a:pt x="0" y="0"/>
                </a:lnTo>
              </a:path>
            </a:pathLst>
          </a:custGeom>
          <a:ln w="258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03612" y="2628972"/>
            <a:ext cx="118908" cy="133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91239" y="5720623"/>
            <a:ext cx="876300" cy="0"/>
          </a:xfrm>
          <a:custGeom>
            <a:avLst/>
            <a:gdLst/>
            <a:ahLst/>
            <a:cxnLst/>
            <a:rect l="l" t="t" r="r" b="b"/>
            <a:pathLst>
              <a:path w="876300">
                <a:moveTo>
                  <a:pt x="875876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151862" y="4531153"/>
            <a:ext cx="1903095" cy="0"/>
          </a:xfrm>
          <a:custGeom>
            <a:avLst/>
            <a:gdLst/>
            <a:ahLst/>
            <a:cxnLst/>
            <a:rect l="l" t="t" r="r" b="b"/>
            <a:pathLst>
              <a:path w="1903095">
                <a:moveTo>
                  <a:pt x="0" y="0"/>
                </a:moveTo>
                <a:lnTo>
                  <a:pt x="1902754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551068" y="5244836"/>
            <a:ext cx="3503929" cy="0"/>
          </a:xfrm>
          <a:custGeom>
            <a:avLst/>
            <a:gdLst/>
            <a:ahLst/>
            <a:cxnLst/>
            <a:rect l="l" t="t" r="r" b="b"/>
            <a:pathLst>
              <a:path w="3503929">
                <a:moveTo>
                  <a:pt x="0" y="0"/>
                </a:moveTo>
                <a:lnTo>
                  <a:pt x="3503549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812964" y="3647561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4">
                <a:moveTo>
                  <a:pt x="0" y="0"/>
                </a:moveTo>
                <a:lnTo>
                  <a:pt x="241653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591239" y="2695871"/>
            <a:ext cx="3836035" cy="0"/>
          </a:xfrm>
          <a:custGeom>
            <a:avLst/>
            <a:gdLst/>
            <a:ahLst/>
            <a:cxnLst/>
            <a:rect l="l" t="t" r="r" b="b"/>
            <a:pathLst>
              <a:path w="3836035">
                <a:moveTo>
                  <a:pt x="3835876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1396746" y="164414"/>
            <a:ext cx="62210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Arial"/>
                <a:cs typeface="Arial"/>
              </a:rPr>
              <a:t>An </a:t>
            </a:r>
            <a:r>
              <a:rPr i="0" spc="-5" dirty="0">
                <a:latin typeface="Arial"/>
                <a:cs typeface="Arial"/>
              </a:rPr>
              <a:t>Example </a:t>
            </a:r>
            <a:r>
              <a:rPr i="0" dirty="0">
                <a:latin typeface="Helvetica"/>
                <a:cs typeface="Helvetica"/>
              </a:rPr>
              <a:t>–</a:t>
            </a:r>
            <a:r>
              <a:rPr i="0" spc="-30" dirty="0">
                <a:latin typeface="Helvetica"/>
                <a:cs typeface="Helvetica"/>
              </a:rPr>
              <a:t> </a:t>
            </a:r>
            <a:r>
              <a:rPr i="0" spc="-5" dirty="0">
                <a:latin typeface="Arial"/>
                <a:cs typeface="Arial"/>
              </a:rPr>
              <a:t>Controllability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220776" y="881633"/>
            <a:ext cx="3215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Forward: From PI to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PO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851909" y="1677161"/>
            <a:ext cx="2016760" cy="504825"/>
          </a:xfrm>
          <a:custGeom>
            <a:avLst/>
            <a:gdLst/>
            <a:ahLst/>
            <a:cxnLst/>
            <a:rect l="l" t="t" r="r" b="b"/>
            <a:pathLst>
              <a:path w="2016760" h="504825">
                <a:moveTo>
                  <a:pt x="0" y="126111"/>
                </a:moveTo>
                <a:lnTo>
                  <a:pt x="1512569" y="126111"/>
                </a:lnTo>
                <a:lnTo>
                  <a:pt x="1512569" y="0"/>
                </a:lnTo>
                <a:lnTo>
                  <a:pt x="2016252" y="252222"/>
                </a:lnTo>
                <a:lnTo>
                  <a:pt x="1512569" y="504443"/>
                </a:lnTo>
                <a:lnTo>
                  <a:pt x="1512569" y="378333"/>
                </a:lnTo>
                <a:lnTo>
                  <a:pt x="0" y="378333"/>
                </a:lnTo>
                <a:lnTo>
                  <a:pt x="0" y="12611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87705" y="1722882"/>
            <a:ext cx="10725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Helvetica"/>
                <a:cs typeface="Helvetica"/>
              </a:rPr>
              <a:t>CC</a:t>
            </a:r>
            <a:r>
              <a:rPr sz="1950" spc="7" baseline="25641" dirty="0">
                <a:latin typeface="Helvetica"/>
                <a:cs typeface="Helvetica"/>
              </a:rPr>
              <a:t>0</a:t>
            </a:r>
            <a:r>
              <a:rPr sz="2000" spc="5" dirty="0">
                <a:latin typeface="Helvetica"/>
                <a:cs typeface="Helvetica"/>
              </a:rPr>
              <a:t>/CC</a:t>
            </a:r>
            <a:r>
              <a:rPr sz="1950" spc="7" baseline="25641" dirty="0">
                <a:latin typeface="Helvetica"/>
                <a:cs typeface="Helvetica"/>
              </a:rPr>
              <a:t>1</a:t>
            </a:r>
            <a:endParaRPr sz="1950" baseline="25641">
              <a:latin typeface="Helvetica"/>
              <a:cs typeface="Helvetic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61428" y="2091689"/>
            <a:ext cx="624205" cy="179070"/>
          </a:xfrm>
          <a:custGeom>
            <a:avLst/>
            <a:gdLst/>
            <a:ahLst/>
            <a:cxnLst/>
            <a:rect l="l" t="t" r="r" b="b"/>
            <a:pathLst>
              <a:path w="624205" h="179069">
                <a:moveTo>
                  <a:pt x="559312" y="137208"/>
                </a:moveTo>
                <a:lnTo>
                  <a:pt x="540854" y="159638"/>
                </a:lnTo>
                <a:lnTo>
                  <a:pt x="623912" y="178562"/>
                </a:lnTo>
                <a:lnTo>
                  <a:pt x="608446" y="143890"/>
                </a:lnTo>
                <a:lnTo>
                  <a:pt x="571842" y="143890"/>
                </a:lnTo>
                <a:lnTo>
                  <a:pt x="559312" y="137208"/>
                </a:lnTo>
                <a:close/>
              </a:path>
              <a:path w="624205" h="179069">
                <a:moveTo>
                  <a:pt x="567550" y="127197"/>
                </a:moveTo>
                <a:lnTo>
                  <a:pt x="559312" y="137208"/>
                </a:lnTo>
                <a:lnTo>
                  <a:pt x="571842" y="143890"/>
                </a:lnTo>
                <a:lnTo>
                  <a:pt x="577811" y="132714"/>
                </a:lnTo>
                <a:lnTo>
                  <a:pt x="567550" y="127197"/>
                </a:lnTo>
                <a:close/>
              </a:path>
              <a:path w="624205" h="179069">
                <a:moveTo>
                  <a:pt x="589241" y="100837"/>
                </a:moveTo>
                <a:lnTo>
                  <a:pt x="567550" y="127197"/>
                </a:lnTo>
                <a:lnTo>
                  <a:pt x="577811" y="132714"/>
                </a:lnTo>
                <a:lnTo>
                  <a:pt x="571842" y="143890"/>
                </a:lnTo>
                <a:lnTo>
                  <a:pt x="608446" y="143890"/>
                </a:lnTo>
                <a:lnTo>
                  <a:pt x="589241" y="100837"/>
                </a:lnTo>
                <a:close/>
              </a:path>
              <a:path w="624205" h="179069">
                <a:moveTo>
                  <a:pt x="545260" y="129713"/>
                </a:moveTo>
                <a:lnTo>
                  <a:pt x="559312" y="137208"/>
                </a:lnTo>
                <a:lnTo>
                  <a:pt x="565205" y="130048"/>
                </a:lnTo>
                <a:lnTo>
                  <a:pt x="546315" y="130048"/>
                </a:lnTo>
                <a:lnTo>
                  <a:pt x="545260" y="129713"/>
                </a:lnTo>
                <a:close/>
              </a:path>
              <a:path w="624205" h="179069">
                <a:moveTo>
                  <a:pt x="545172" y="129667"/>
                </a:moveTo>
                <a:lnTo>
                  <a:pt x="546315" y="130048"/>
                </a:lnTo>
                <a:lnTo>
                  <a:pt x="545172" y="129667"/>
                </a:lnTo>
                <a:close/>
              </a:path>
              <a:path w="624205" h="179069">
                <a:moveTo>
                  <a:pt x="565518" y="129667"/>
                </a:moveTo>
                <a:lnTo>
                  <a:pt x="545172" y="129667"/>
                </a:lnTo>
                <a:lnTo>
                  <a:pt x="546315" y="130048"/>
                </a:lnTo>
                <a:lnTo>
                  <a:pt x="565205" y="130048"/>
                </a:lnTo>
                <a:lnTo>
                  <a:pt x="565518" y="129667"/>
                </a:lnTo>
                <a:close/>
              </a:path>
              <a:path w="624205" h="179069">
                <a:moveTo>
                  <a:pt x="12623" y="0"/>
                </a:moveTo>
                <a:lnTo>
                  <a:pt x="0" y="1524"/>
                </a:lnTo>
                <a:lnTo>
                  <a:pt x="520" y="6096"/>
                </a:lnTo>
                <a:lnTo>
                  <a:pt x="2082" y="11049"/>
                </a:lnTo>
                <a:lnTo>
                  <a:pt x="2438" y="11937"/>
                </a:lnTo>
                <a:lnTo>
                  <a:pt x="4533" y="16129"/>
                </a:lnTo>
                <a:lnTo>
                  <a:pt x="4698" y="16383"/>
                </a:lnTo>
                <a:lnTo>
                  <a:pt x="4902" y="16763"/>
                </a:lnTo>
                <a:lnTo>
                  <a:pt x="5213" y="17145"/>
                </a:lnTo>
                <a:lnTo>
                  <a:pt x="8166" y="21082"/>
                </a:lnTo>
                <a:lnTo>
                  <a:pt x="12420" y="25781"/>
                </a:lnTo>
                <a:lnTo>
                  <a:pt x="52120" y="50673"/>
                </a:lnTo>
                <a:lnTo>
                  <a:pt x="100914" y="67945"/>
                </a:lnTo>
                <a:lnTo>
                  <a:pt x="148183" y="79501"/>
                </a:lnTo>
                <a:lnTo>
                  <a:pt x="200698" y="88392"/>
                </a:lnTo>
                <a:lnTo>
                  <a:pt x="256946" y="94107"/>
                </a:lnTo>
                <a:lnTo>
                  <a:pt x="344004" y="96520"/>
                </a:lnTo>
                <a:lnTo>
                  <a:pt x="372452" y="98044"/>
                </a:lnTo>
                <a:lnTo>
                  <a:pt x="427697" y="103632"/>
                </a:lnTo>
                <a:lnTo>
                  <a:pt x="479513" y="112395"/>
                </a:lnTo>
                <a:lnTo>
                  <a:pt x="525868" y="123571"/>
                </a:lnTo>
                <a:lnTo>
                  <a:pt x="545260" y="129713"/>
                </a:lnTo>
                <a:lnTo>
                  <a:pt x="565518" y="129667"/>
                </a:lnTo>
                <a:lnTo>
                  <a:pt x="567550" y="127197"/>
                </a:lnTo>
                <a:lnTo>
                  <a:pt x="529043" y="111251"/>
                </a:lnTo>
                <a:lnTo>
                  <a:pt x="481799" y="99822"/>
                </a:lnTo>
                <a:lnTo>
                  <a:pt x="429221" y="91059"/>
                </a:lnTo>
                <a:lnTo>
                  <a:pt x="373087" y="85344"/>
                </a:lnTo>
                <a:lnTo>
                  <a:pt x="286473" y="82804"/>
                </a:lnTo>
                <a:lnTo>
                  <a:pt x="258025" y="81407"/>
                </a:lnTo>
                <a:lnTo>
                  <a:pt x="202641" y="75819"/>
                </a:lnTo>
                <a:lnTo>
                  <a:pt x="150952" y="67183"/>
                </a:lnTo>
                <a:lnTo>
                  <a:pt x="104686" y="55880"/>
                </a:lnTo>
                <a:lnTo>
                  <a:pt x="65760" y="42672"/>
                </a:lnTo>
                <a:lnTo>
                  <a:pt x="30695" y="24384"/>
                </a:lnTo>
                <a:lnTo>
                  <a:pt x="16055" y="10413"/>
                </a:lnTo>
                <a:lnTo>
                  <a:pt x="15900" y="10413"/>
                </a:lnTo>
                <a:lnTo>
                  <a:pt x="15316" y="9398"/>
                </a:lnTo>
                <a:lnTo>
                  <a:pt x="14249" y="7112"/>
                </a:lnTo>
                <a:lnTo>
                  <a:pt x="13804" y="6223"/>
                </a:lnTo>
                <a:lnTo>
                  <a:pt x="13202" y="4190"/>
                </a:lnTo>
                <a:lnTo>
                  <a:pt x="12826" y="3048"/>
                </a:lnTo>
                <a:lnTo>
                  <a:pt x="12965" y="3048"/>
                </a:lnTo>
                <a:lnTo>
                  <a:pt x="12623" y="0"/>
                </a:lnTo>
                <a:close/>
              </a:path>
              <a:path w="624205" h="179069">
                <a:moveTo>
                  <a:pt x="15316" y="9398"/>
                </a:moveTo>
                <a:lnTo>
                  <a:pt x="15900" y="10413"/>
                </a:lnTo>
                <a:lnTo>
                  <a:pt x="15560" y="9733"/>
                </a:lnTo>
                <a:lnTo>
                  <a:pt x="15316" y="9398"/>
                </a:lnTo>
                <a:close/>
              </a:path>
              <a:path w="624205" h="179069">
                <a:moveTo>
                  <a:pt x="15560" y="9733"/>
                </a:moveTo>
                <a:lnTo>
                  <a:pt x="15900" y="10413"/>
                </a:lnTo>
                <a:lnTo>
                  <a:pt x="16055" y="10413"/>
                </a:lnTo>
                <a:lnTo>
                  <a:pt x="15560" y="9733"/>
                </a:lnTo>
                <a:close/>
              </a:path>
              <a:path w="624205" h="179069">
                <a:moveTo>
                  <a:pt x="15392" y="9398"/>
                </a:moveTo>
                <a:lnTo>
                  <a:pt x="15560" y="9733"/>
                </a:lnTo>
                <a:lnTo>
                  <a:pt x="15392" y="9398"/>
                </a:lnTo>
                <a:close/>
              </a:path>
              <a:path w="624205" h="179069">
                <a:moveTo>
                  <a:pt x="13804" y="6223"/>
                </a:moveTo>
                <a:lnTo>
                  <a:pt x="14160" y="7112"/>
                </a:lnTo>
                <a:lnTo>
                  <a:pt x="13990" y="6594"/>
                </a:lnTo>
                <a:lnTo>
                  <a:pt x="13804" y="6223"/>
                </a:lnTo>
                <a:close/>
              </a:path>
              <a:path w="624205" h="179069">
                <a:moveTo>
                  <a:pt x="13990" y="6594"/>
                </a:moveTo>
                <a:lnTo>
                  <a:pt x="14160" y="7112"/>
                </a:lnTo>
                <a:lnTo>
                  <a:pt x="13990" y="6594"/>
                </a:lnTo>
                <a:close/>
              </a:path>
              <a:path w="624205" h="179069">
                <a:moveTo>
                  <a:pt x="13868" y="6223"/>
                </a:moveTo>
                <a:lnTo>
                  <a:pt x="13990" y="6594"/>
                </a:lnTo>
                <a:lnTo>
                  <a:pt x="13868" y="6223"/>
                </a:lnTo>
                <a:close/>
              </a:path>
              <a:path w="624205" h="179069">
                <a:moveTo>
                  <a:pt x="12826" y="3048"/>
                </a:moveTo>
                <a:lnTo>
                  <a:pt x="13093" y="4190"/>
                </a:lnTo>
                <a:lnTo>
                  <a:pt x="13037" y="3689"/>
                </a:lnTo>
                <a:lnTo>
                  <a:pt x="12826" y="3048"/>
                </a:lnTo>
                <a:close/>
              </a:path>
              <a:path w="624205" h="179069">
                <a:moveTo>
                  <a:pt x="13037" y="3689"/>
                </a:moveTo>
                <a:lnTo>
                  <a:pt x="13093" y="4190"/>
                </a:lnTo>
                <a:lnTo>
                  <a:pt x="13037" y="3689"/>
                </a:lnTo>
                <a:close/>
              </a:path>
              <a:path w="624205" h="179069">
                <a:moveTo>
                  <a:pt x="12965" y="3048"/>
                </a:moveTo>
                <a:lnTo>
                  <a:pt x="12826" y="3048"/>
                </a:lnTo>
                <a:lnTo>
                  <a:pt x="13037" y="3689"/>
                </a:lnTo>
                <a:lnTo>
                  <a:pt x="12965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405255" y="2284552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7" name="object 8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58" name="object 58"/>
          <p:cNvSpPr txBox="1"/>
          <p:nvPr/>
        </p:nvSpPr>
        <p:spPr>
          <a:xfrm>
            <a:off x="1385442" y="5249672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917954" y="3925315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72559" y="4093590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72559" y="2864612"/>
            <a:ext cx="37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850007" y="4331970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2/2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850007" y="5367020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2/2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72888" y="2990214"/>
            <a:ext cx="37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3/5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072888" y="4693361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3/5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464811" y="5276469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3/5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090665" y="4201109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2/7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683245" y="4608067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2/7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686293" y="3287013"/>
            <a:ext cx="37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5/7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681721" y="5352389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3/5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398767" y="2358008"/>
            <a:ext cx="37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2/6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283588" y="252196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a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332102" y="3162757"/>
            <a:ext cx="452755" cy="614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725">
              <a:lnSpc>
                <a:spcPts val="231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  <a:p>
            <a:pPr marL="12700">
              <a:lnSpc>
                <a:spcPts val="2310"/>
              </a:lnSpc>
            </a:pPr>
            <a:r>
              <a:rPr sz="2000" i="1" dirty="0">
                <a:latin typeface="Helvetica"/>
                <a:cs typeface="Helvetica"/>
              </a:rPr>
              <a:t>b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394586" y="552582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c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491485" y="451332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1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491485" y="556605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2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096892" y="509142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3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692266" y="264083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4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699505" y="437273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363206" y="350100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6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174228" y="3488182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x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207756" y="4359986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y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173973" y="5078984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z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861809" y="1607057"/>
            <a:ext cx="1496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A6A6A6"/>
                </a:solidFill>
                <a:latin typeface="Helvetica"/>
                <a:cs typeface="Helvetica"/>
              </a:rPr>
              <a:t>(BA Fig.</a:t>
            </a:r>
            <a:r>
              <a:rPr sz="2000" b="1" spc="-185" dirty="0">
                <a:solidFill>
                  <a:srgbClr val="A6A6A6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A6A6A6"/>
                </a:solidFill>
                <a:latin typeface="Helvetica"/>
                <a:cs typeface="Helvetica"/>
              </a:rPr>
              <a:t>6.5)</a:t>
            </a:r>
            <a:endParaRPr sz="2000">
              <a:latin typeface="Helvetica"/>
              <a:cs typeface="Helveti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3" grpId="0"/>
      <p:bldP spid="64" grpId="0"/>
      <p:bldP spid="65" grpId="0"/>
      <p:bldP spid="66" grpId="0"/>
      <p:bldP spid="67" grpId="0"/>
      <p:bldP spid="68" grpId="0"/>
      <p:bldP spid="70" grpId="0"/>
      <p:bldP spid="71" grpId="0"/>
      <p:bldP spid="72" grpId="0"/>
      <p:bldP spid="7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246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Arial"/>
                <a:cs typeface="Arial"/>
              </a:rPr>
              <a:t>Q</a:t>
            </a:r>
            <a:r>
              <a:rPr i="0" spc="-15" dirty="0">
                <a:latin typeface="Arial"/>
                <a:cs typeface="Arial"/>
              </a:rPr>
              <a:t>u</a:t>
            </a:r>
            <a:r>
              <a:rPr i="0" dirty="0">
                <a:latin typeface="Arial"/>
                <a:cs typeface="Arial"/>
              </a:rPr>
              <a:t>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7527" y="908303"/>
            <a:ext cx="6029325" cy="707390"/>
          </a:xfrm>
          <a:prstGeom prst="rect">
            <a:avLst/>
          </a:prstGeom>
          <a:solidFill>
            <a:srgbClr val="00FF00"/>
          </a:solidFill>
          <a:ln w="9144">
            <a:solidFill>
              <a:srgbClr val="00AF5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  <a:tabLst>
                <a:tab pos="3218180" algn="l"/>
              </a:tabLst>
            </a:pPr>
            <a:r>
              <a:rPr sz="2000" b="1" dirty="0">
                <a:latin typeface="Helvetica"/>
                <a:cs typeface="Helvetica"/>
              </a:rPr>
              <a:t>Q: </a:t>
            </a:r>
            <a:r>
              <a:rPr sz="2000" b="1" spc="-5" dirty="0">
                <a:latin typeface="Helvetica"/>
                <a:cs typeface="Helvetica"/>
              </a:rPr>
              <a:t>how </a:t>
            </a:r>
            <a:r>
              <a:rPr sz="2000" b="1" dirty="0">
                <a:latin typeface="Helvetica"/>
                <a:cs typeface="Helvetica"/>
              </a:rPr>
              <a:t>to control </a:t>
            </a:r>
            <a:r>
              <a:rPr sz="2000" b="1" i="1" dirty="0">
                <a:latin typeface="HelveticaNeue-BoldItalic"/>
                <a:cs typeface="HelveticaNeue-BoldItalic"/>
              </a:rPr>
              <a:t>y</a:t>
            </a:r>
            <a:r>
              <a:rPr sz="2000" b="1" i="1" spc="25" dirty="0">
                <a:latin typeface="HelveticaNeue-BoldItalic"/>
                <a:cs typeface="HelveticaNeue-BoldItalic"/>
              </a:rPr>
              <a:t> </a:t>
            </a:r>
            <a:r>
              <a:rPr sz="2000" b="1" dirty="0">
                <a:latin typeface="Helvetica"/>
                <a:cs typeface="Helvetica"/>
              </a:rPr>
              <a:t>to</a:t>
            </a:r>
            <a:r>
              <a:rPr sz="2000" b="1" spc="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0?	</a:t>
            </a:r>
            <a:r>
              <a:rPr sz="2000" b="1" spc="-5" dirty="0">
                <a:latin typeface="Helvetica"/>
                <a:cs typeface="Helvetica"/>
              </a:rPr>
              <a:t>How </a:t>
            </a:r>
            <a:r>
              <a:rPr sz="2000" b="1" dirty="0">
                <a:latin typeface="Helvetica"/>
                <a:cs typeface="Helvetica"/>
              </a:rPr>
              <a:t>to control </a:t>
            </a:r>
            <a:r>
              <a:rPr sz="2000" b="1" i="1" dirty="0">
                <a:latin typeface="HelveticaNeue-BoldItalic"/>
                <a:cs typeface="HelveticaNeue-BoldItalic"/>
              </a:rPr>
              <a:t>y </a:t>
            </a:r>
            <a:r>
              <a:rPr sz="2000" b="1" dirty="0">
                <a:latin typeface="Helvetica"/>
                <a:cs typeface="Helvetica"/>
              </a:rPr>
              <a:t>to</a:t>
            </a:r>
            <a:r>
              <a:rPr sz="2000" b="1" spc="-3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1?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55575" y="4628033"/>
            <a:ext cx="72477" cy="78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67116" y="4497176"/>
            <a:ext cx="302260" cy="340360"/>
          </a:xfrm>
          <a:custGeom>
            <a:avLst/>
            <a:gdLst/>
            <a:ahLst/>
            <a:cxnLst/>
            <a:rect l="l" t="t" r="r" b="b"/>
            <a:pathLst>
              <a:path w="302260" h="340360">
                <a:moveTo>
                  <a:pt x="0" y="0"/>
                </a:moveTo>
                <a:lnTo>
                  <a:pt x="302045" y="169932"/>
                </a:lnTo>
                <a:lnTo>
                  <a:pt x="0" y="339841"/>
                </a:lnTo>
                <a:lnTo>
                  <a:pt x="0" y="0"/>
                </a:lnTo>
                <a:close/>
              </a:path>
            </a:pathLst>
          </a:custGeom>
          <a:ln w="26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55575" y="5681558"/>
            <a:ext cx="72477" cy="781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67116" y="5550700"/>
            <a:ext cx="302260" cy="340360"/>
          </a:xfrm>
          <a:custGeom>
            <a:avLst/>
            <a:gdLst/>
            <a:ahLst/>
            <a:cxnLst/>
            <a:rect l="l" t="t" r="r" b="b"/>
            <a:pathLst>
              <a:path w="302260" h="340360">
                <a:moveTo>
                  <a:pt x="0" y="0"/>
                </a:moveTo>
                <a:lnTo>
                  <a:pt x="302045" y="169923"/>
                </a:lnTo>
                <a:lnTo>
                  <a:pt x="0" y="339846"/>
                </a:lnTo>
                <a:lnTo>
                  <a:pt x="0" y="0"/>
                </a:lnTo>
                <a:close/>
              </a:path>
            </a:pathLst>
          </a:custGeom>
          <a:ln w="26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88216" y="3545654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0" y="0"/>
                </a:moveTo>
                <a:lnTo>
                  <a:pt x="36248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88216" y="3749516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0" y="0"/>
                </a:moveTo>
                <a:lnTo>
                  <a:pt x="36248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50697" y="364756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362267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15009" y="344374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141284" y="0"/>
                </a:moveTo>
                <a:lnTo>
                  <a:pt x="0" y="0"/>
                </a:lnTo>
                <a:lnTo>
                  <a:pt x="25950" y="43741"/>
                </a:lnTo>
                <a:lnTo>
                  <a:pt x="45413" y="88646"/>
                </a:lnTo>
                <a:lnTo>
                  <a:pt x="58388" y="134383"/>
                </a:lnTo>
                <a:lnTo>
                  <a:pt x="64876" y="180622"/>
                </a:lnTo>
                <a:lnTo>
                  <a:pt x="64876" y="227029"/>
                </a:lnTo>
                <a:lnTo>
                  <a:pt x="58388" y="273275"/>
                </a:lnTo>
                <a:lnTo>
                  <a:pt x="45413" y="319027"/>
                </a:lnTo>
                <a:lnTo>
                  <a:pt x="25950" y="363953"/>
                </a:lnTo>
                <a:lnTo>
                  <a:pt x="0" y="407723"/>
                </a:lnTo>
                <a:lnTo>
                  <a:pt x="141284" y="407723"/>
                </a:lnTo>
                <a:lnTo>
                  <a:pt x="196529" y="395136"/>
                </a:lnTo>
                <a:lnTo>
                  <a:pt x="248655" y="378314"/>
                </a:lnTo>
                <a:lnTo>
                  <a:pt x="297220" y="357530"/>
                </a:lnTo>
                <a:lnTo>
                  <a:pt x="341783" y="333061"/>
                </a:lnTo>
                <a:lnTo>
                  <a:pt x="381900" y="305182"/>
                </a:lnTo>
                <a:lnTo>
                  <a:pt x="417129" y="274168"/>
                </a:lnTo>
                <a:lnTo>
                  <a:pt x="447030" y="240294"/>
                </a:lnTo>
                <a:lnTo>
                  <a:pt x="471160" y="203837"/>
                </a:lnTo>
                <a:lnTo>
                  <a:pt x="447292" y="167190"/>
                </a:lnTo>
                <a:lnTo>
                  <a:pt x="417549" y="133167"/>
                </a:lnTo>
                <a:lnTo>
                  <a:pt x="382387" y="102050"/>
                </a:lnTo>
                <a:lnTo>
                  <a:pt x="342262" y="74125"/>
                </a:lnTo>
                <a:lnTo>
                  <a:pt x="297632" y="49673"/>
                </a:lnTo>
                <a:lnTo>
                  <a:pt x="248955" y="28980"/>
                </a:lnTo>
                <a:lnTo>
                  <a:pt x="196686" y="12327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15009" y="344374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471160" y="203837"/>
                </a:moveTo>
                <a:lnTo>
                  <a:pt x="447030" y="240294"/>
                </a:lnTo>
                <a:lnTo>
                  <a:pt x="417129" y="274168"/>
                </a:lnTo>
                <a:lnTo>
                  <a:pt x="381900" y="305182"/>
                </a:lnTo>
                <a:lnTo>
                  <a:pt x="341783" y="333061"/>
                </a:lnTo>
                <a:lnTo>
                  <a:pt x="297220" y="357530"/>
                </a:lnTo>
                <a:lnTo>
                  <a:pt x="248655" y="378314"/>
                </a:lnTo>
                <a:lnTo>
                  <a:pt x="196529" y="395136"/>
                </a:lnTo>
                <a:lnTo>
                  <a:pt x="141284" y="407723"/>
                </a:lnTo>
                <a:lnTo>
                  <a:pt x="0" y="407723"/>
                </a:lnTo>
                <a:lnTo>
                  <a:pt x="25950" y="363953"/>
                </a:lnTo>
                <a:lnTo>
                  <a:pt x="45413" y="319027"/>
                </a:lnTo>
                <a:lnTo>
                  <a:pt x="58388" y="273275"/>
                </a:lnTo>
                <a:lnTo>
                  <a:pt x="64876" y="227029"/>
                </a:lnTo>
                <a:lnTo>
                  <a:pt x="64876" y="180622"/>
                </a:lnTo>
                <a:lnTo>
                  <a:pt x="58388" y="134383"/>
                </a:lnTo>
                <a:lnTo>
                  <a:pt x="45413" y="88646"/>
                </a:lnTo>
                <a:lnTo>
                  <a:pt x="25950" y="43741"/>
                </a:lnTo>
                <a:lnTo>
                  <a:pt x="0" y="0"/>
                </a:lnTo>
                <a:lnTo>
                  <a:pt x="141284" y="0"/>
                </a:lnTo>
                <a:lnTo>
                  <a:pt x="196686" y="12327"/>
                </a:lnTo>
                <a:lnTo>
                  <a:pt x="248955" y="28980"/>
                </a:lnTo>
                <a:lnTo>
                  <a:pt x="297632" y="49673"/>
                </a:lnTo>
                <a:lnTo>
                  <a:pt x="342262" y="74125"/>
                </a:lnTo>
                <a:lnTo>
                  <a:pt x="382387" y="102050"/>
                </a:lnTo>
                <a:lnTo>
                  <a:pt x="417549" y="133167"/>
                </a:lnTo>
                <a:lnTo>
                  <a:pt x="447292" y="167190"/>
                </a:lnTo>
                <a:lnTo>
                  <a:pt x="471160" y="203837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27115" y="269587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27115" y="279801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27115" y="2899924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89382" y="279801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36248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53909" y="2593964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5">
                <a:moveTo>
                  <a:pt x="141284" y="0"/>
                </a:moveTo>
                <a:lnTo>
                  <a:pt x="0" y="0"/>
                </a:lnTo>
                <a:lnTo>
                  <a:pt x="25887" y="43771"/>
                </a:lnTo>
                <a:lnTo>
                  <a:pt x="45303" y="88703"/>
                </a:lnTo>
                <a:lnTo>
                  <a:pt x="58246" y="134463"/>
                </a:lnTo>
                <a:lnTo>
                  <a:pt x="64718" y="180721"/>
                </a:lnTo>
                <a:lnTo>
                  <a:pt x="64718" y="227145"/>
                </a:lnTo>
                <a:lnTo>
                  <a:pt x="58246" y="273403"/>
                </a:lnTo>
                <a:lnTo>
                  <a:pt x="45303" y="319163"/>
                </a:lnTo>
                <a:lnTo>
                  <a:pt x="25887" y="364095"/>
                </a:lnTo>
                <a:lnTo>
                  <a:pt x="0" y="407867"/>
                </a:lnTo>
                <a:lnTo>
                  <a:pt x="141284" y="407867"/>
                </a:lnTo>
                <a:lnTo>
                  <a:pt x="196468" y="395313"/>
                </a:lnTo>
                <a:lnTo>
                  <a:pt x="248565" y="378516"/>
                </a:lnTo>
                <a:lnTo>
                  <a:pt x="297127" y="357751"/>
                </a:lnTo>
                <a:lnTo>
                  <a:pt x="341703" y="333295"/>
                </a:lnTo>
                <a:lnTo>
                  <a:pt x="381843" y="305421"/>
                </a:lnTo>
                <a:lnTo>
                  <a:pt x="417099" y="274406"/>
                </a:lnTo>
                <a:lnTo>
                  <a:pt x="447021" y="240525"/>
                </a:lnTo>
                <a:lnTo>
                  <a:pt x="471160" y="204053"/>
                </a:lnTo>
                <a:lnTo>
                  <a:pt x="447292" y="167413"/>
                </a:lnTo>
                <a:lnTo>
                  <a:pt x="417549" y="133393"/>
                </a:lnTo>
                <a:lnTo>
                  <a:pt x="382387" y="102272"/>
                </a:lnTo>
                <a:lnTo>
                  <a:pt x="342262" y="74332"/>
                </a:lnTo>
                <a:lnTo>
                  <a:pt x="297632" y="49853"/>
                </a:lnTo>
                <a:lnTo>
                  <a:pt x="248955" y="29118"/>
                </a:lnTo>
                <a:lnTo>
                  <a:pt x="196686" y="12406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53908" y="2593964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5">
                <a:moveTo>
                  <a:pt x="471160" y="204053"/>
                </a:moveTo>
                <a:lnTo>
                  <a:pt x="447021" y="240525"/>
                </a:lnTo>
                <a:lnTo>
                  <a:pt x="417099" y="274406"/>
                </a:lnTo>
                <a:lnTo>
                  <a:pt x="381843" y="305421"/>
                </a:lnTo>
                <a:lnTo>
                  <a:pt x="341703" y="333295"/>
                </a:lnTo>
                <a:lnTo>
                  <a:pt x="297127" y="357751"/>
                </a:lnTo>
                <a:lnTo>
                  <a:pt x="248565" y="378516"/>
                </a:lnTo>
                <a:lnTo>
                  <a:pt x="196468" y="395313"/>
                </a:lnTo>
                <a:lnTo>
                  <a:pt x="141284" y="407867"/>
                </a:lnTo>
                <a:lnTo>
                  <a:pt x="0" y="407867"/>
                </a:lnTo>
                <a:lnTo>
                  <a:pt x="25887" y="364095"/>
                </a:lnTo>
                <a:lnTo>
                  <a:pt x="45303" y="319163"/>
                </a:lnTo>
                <a:lnTo>
                  <a:pt x="58246" y="273403"/>
                </a:lnTo>
                <a:lnTo>
                  <a:pt x="64718" y="227145"/>
                </a:lnTo>
                <a:lnTo>
                  <a:pt x="64718" y="180721"/>
                </a:lnTo>
                <a:lnTo>
                  <a:pt x="58246" y="134463"/>
                </a:lnTo>
                <a:lnTo>
                  <a:pt x="45303" y="88703"/>
                </a:lnTo>
                <a:lnTo>
                  <a:pt x="25887" y="43771"/>
                </a:lnTo>
                <a:lnTo>
                  <a:pt x="0" y="0"/>
                </a:lnTo>
                <a:lnTo>
                  <a:pt x="141284" y="0"/>
                </a:lnTo>
                <a:lnTo>
                  <a:pt x="196686" y="12406"/>
                </a:lnTo>
                <a:lnTo>
                  <a:pt x="248955" y="29118"/>
                </a:lnTo>
                <a:lnTo>
                  <a:pt x="297632" y="49853"/>
                </a:lnTo>
                <a:lnTo>
                  <a:pt x="342262" y="74332"/>
                </a:lnTo>
                <a:lnTo>
                  <a:pt x="382387" y="102272"/>
                </a:lnTo>
                <a:lnTo>
                  <a:pt x="417549" y="133393"/>
                </a:lnTo>
                <a:lnTo>
                  <a:pt x="447292" y="167413"/>
                </a:lnTo>
                <a:lnTo>
                  <a:pt x="471160" y="204053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09991" y="2753739"/>
            <a:ext cx="81512" cy="883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27115" y="442919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27115" y="463310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89382" y="4531153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36248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53909" y="4327243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141284" y="0"/>
                </a:moveTo>
                <a:lnTo>
                  <a:pt x="0" y="0"/>
                </a:lnTo>
                <a:lnTo>
                  <a:pt x="25887" y="43769"/>
                </a:lnTo>
                <a:lnTo>
                  <a:pt x="45303" y="88697"/>
                </a:lnTo>
                <a:lnTo>
                  <a:pt x="58246" y="134451"/>
                </a:lnTo>
                <a:lnTo>
                  <a:pt x="64718" y="180701"/>
                </a:lnTo>
                <a:lnTo>
                  <a:pt x="64718" y="227117"/>
                </a:lnTo>
                <a:lnTo>
                  <a:pt x="58246" y="273367"/>
                </a:lnTo>
                <a:lnTo>
                  <a:pt x="45303" y="319122"/>
                </a:lnTo>
                <a:lnTo>
                  <a:pt x="25887" y="364049"/>
                </a:lnTo>
                <a:lnTo>
                  <a:pt x="0" y="407819"/>
                </a:lnTo>
                <a:lnTo>
                  <a:pt x="141284" y="407819"/>
                </a:lnTo>
                <a:lnTo>
                  <a:pt x="196468" y="395232"/>
                </a:lnTo>
                <a:lnTo>
                  <a:pt x="248565" y="378410"/>
                </a:lnTo>
                <a:lnTo>
                  <a:pt x="297127" y="357626"/>
                </a:lnTo>
                <a:lnTo>
                  <a:pt x="341703" y="333157"/>
                </a:lnTo>
                <a:lnTo>
                  <a:pt x="381843" y="305278"/>
                </a:lnTo>
                <a:lnTo>
                  <a:pt x="417099" y="274264"/>
                </a:lnTo>
                <a:lnTo>
                  <a:pt x="447021" y="240390"/>
                </a:lnTo>
                <a:lnTo>
                  <a:pt x="471160" y="203933"/>
                </a:lnTo>
                <a:lnTo>
                  <a:pt x="447292" y="167315"/>
                </a:lnTo>
                <a:lnTo>
                  <a:pt x="417549" y="133308"/>
                </a:lnTo>
                <a:lnTo>
                  <a:pt x="382387" y="102196"/>
                </a:lnTo>
                <a:lnTo>
                  <a:pt x="342262" y="74263"/>
                </a:lnTo>
                <a:lnTo>
                  <a:pt x="297632" y="49792"/>
                </a:lnTo>
                <a:lnTo>
                  <a:pt x="248955" y="29069"/>
                </a:lnTo>
                <a:lnTo>
                  <a:pt x="196686" y="12377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53909" y="4327244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471160" y="203933"/>
                </a:moveTo>
                <a:lnTo>
                  <a:pt x="447021" y="240390"/>
                </a:lnTo>
                <a:lnTo>
                  <a:pt x="417099" y="274264"/>
                </a:lnTo>
                <a:lnTo>
                  <a:pt x="381843" y="305278"/>
                </a:lnTo>
                <a:lnTo>
                  <a:pt x="341703" y="333157"/>
                </a:lnTo>
                <a:lnTo>
                  <a:pt x="297127" y="357626"/>
                </a:lnTo>
                <a:lnTo>
                  <a:pt x="248565" y="378409"/>
                </a:lnTo>
                <a:lnTo>
                  <a:pt x="196468" y="395232"/>
                </a:lnTo>
                <a:lnTo>
                  <a:pt x="141284" y="407819"/>
                </a:lnTo>
                <a:lnTo>
                  <a:pt x="0" y="407819"/>
                </a:lnTo>
                <a:lnTo>
                  <a:pt x="25887" y="364049"/>
                </a:lnTo>
                <a:lnTo>
                  <a:pt x="45303" y="319122"/>
                </a:lnTo>
                <a:lnTo>
                  <a:pt x="58246" y="273367"/>
                </a:lnTo>
                <a:lnTo>
                  <a:pt x="64718" y="227117"/>
                </a:lnTo>
                <a:lnTo>
                  <a:pt x="64718" y="180701"/>
                </a:lnTo>
                <a:lnTo>
                  <a:pt x="58246" y="134451"/>
                </a:lnTo>
                <a:lnTo>
                  <a:pt x="45303" y="88697"/>
                </a:lnTo>
                <a:lnTo>
                  <a:pt x="25887" y="43769"/>
                </a:lnTo>
                <a:lnTo>
                  <a:pt x="0" y="0"/>
                </a:lnTo>
                <a:lnTo>
                  <a:pt x="141284" y="0"/>
                </a:lnTo>
                <a:lnTo>
                  <a:pt x="196686" y="12377"/>
                </a:lnTo>
                <a:lnTo>
                  <a:pt x="248955" y="29069"/>
                </a:lnTo>
                <a:lnTo>
                  <a:pt x="297632" y="49792"/>
                </a:lnTo>
                <a:lnTo>
                  <a:pt x="342262" y="74263"/>
                </a:lnTo>
                <a:lnTo>
                  <a:pt x="382387" y="102196"/>
                </a:lnTo>
                <a:lnTo>
                  <a:pt x="417549" y="133308"/>
                </a:lnTo>
                <a:lnTo>
                  <a:pt x="447292" y="167315"/>
                </a:lnTo>
                <a:lnTo>
                  <a:pt x="471160" y="203933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53909" y="4327243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89813" y="0"/>
                </a:moveTo>
                <a:lnTo>
                  <a:pt x="0" y="0"/>
                </a:lnTo>
                <a:lnTo>
                  <a:pt x="0" y="407819"/>
                </a:lnTo>
                <a:lnTo>
                  <a:pt x="289813" y="407819"/>
                </a:lnTo>
                <a:lnTo>
                  <a:pt x="331395" y="402434"/>
                </a:lnTo>
                <a:lnTo>
                  <a:pt x="369565" y="387095"/>
                </a:lnTo>
                <a:lnTo>
                  <a:pt x="403237" y="363025"/>
                </a:lnTo>
                <a:lnTo>
                  <a:pt x="431320" y="331448"/>
                </a:lnTo>
                <a:lnTo>
                  <a:pt x="452728" y="293587"/>
                </a:lnTo>
                <a:lnTo>
                  <a:pt x="466370" y="250666"/>
                </a:lnTo>
                <a:lnTo>
                  <a:pt x="471160" y="203909"/>
                </a:lnTo>
                <a:lnTo>
                  <a:pt x="466370" y="157159"/>
                </a:lnTo>
                <a:lnTo>
                  <a:pt x="452728" y="114241"/>
                </a:lnTo>
                <a:lnTo>
                  <a:pt x="431320" y="76380"/>
                </a:lnTo>
                <a:lnTo>
                  <a:pt x="403237" y="44801"/>
                </a:lnTo>
                <a:lnTo>
                  <a:pt x="369565" y="20728"/>
                </a:lnTo>
                <a:lnTo>
                  <a:pt x="331395" y="5386"/>
                </a:lnTo>
                <a:lnTo>
                  <a:pt x="2898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53909" y="4327244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89813" y="407819"/>
                </a:moveTo>
                <a:lnTo>
                  <a:pt x="0" y="407819"/>
                </a:lnTo>
                <a:lnTo>
                  <a:pt x="0" y="0"/>
                </a:lnTo>
                <a:lnTo>
                  <a:pt x="289813" y="0"/>
                </a:lnTo>
                <a:lnTo>
                  <a:pt x="331395" y="5386"/>
                </a:lnTo>
                <a:lnTo>
                  <a:pt x="369565" y="20728"/>
                </a:lnTo>
                <a:lnTo>
                  <a:pt x="403237" y="44801"/>
                </a:lnTo>
                <a:lnTo>
                  <a:pt x="431320" y="76380"/>
                </a:lnTo>
                <a:lnTo>
                  <a:pt x="452728" y="114241"/>
                </a:lnTo>
                <a:lnTo>
                  <a:pt x="466370" y="157159"/>
                </a:lnTo>
                <a:lnTo>
                  <a:pt x="471160" y="203909"/>
                </a:lnTo>
                <a:lnTo>
                  <a:pt x="466370" y="250666"/>
                </a:lnTo>
                <a:lnTo>
                  <a:pt x="452728" y="293587"/>
                </a:lnTo>
                <a:lnTo>
                  <a:pt x="431320" y="331448"/>
                </a:lnTo>
                <a:lnTo>
                  <a:pt x="403237" y="363025"/>
                </a:lnTo>
                <a:lnTo>
                  <a:pt x="369565" y="387095"/>
                </a:lnTo>
                <a:lnTo>
                  <a:pt x="331395" y="402434"/>
                </a:lnTo>
                <a:lnTo>
                  <a:pt x="289813" y="407819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26321" y="514288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826321" y="5346791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88588" y="5244836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36248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53114" y="504092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141284" y="0"/>
                </a:moveTo>
                <a:lnTo>
                  <a:pt x="0" y="0"/>
                </a:lnTo>
                <a:lnTo>
                  <a:pt x="25950" y="43769"/>
                </a:lnTo>
                <a:lnTo>
                  <a:pt x="45413" y="88697"/>
                </a:lnTo>
                <a:lnTo>
                  <a:pt x="58388" y="134451"/>
                </a:lnTo>
                <a:lnTo>
                  <a:pt x="64876" y="180701"/>
                </a:lnTo>
                <a:lnTo>
                  <a:pt x="64876" y="227117"/>
                </a:lnTo>
                <a:lnTo>
                  <a:pt x="58388" y="273367"/>
                </a:lnTo>
                <a:lnTo>
                  <a:pt x="45413" y="319122"/>
                </a:lnTo>
                <a:lnTo>
                  <a:pt x="25950" y="364049"/>
                </a:lnTo>
                <a:lnTo>
                  <a:pt x="0" y="407819"/>
                </a:lnTo>
                <a:lnTo>
                  <a:pt x="141284" y="407819"/>
                </a:lnTo>
                <a:lnTo>
                  <a:pt x="196529" y="395232"/>
                </a:lnTo>
                <a:lnTo>
                  <a:pt x="248655" y="378410"/>
                </a:lnTo>
                <a:lnTo>
                  <a:pt x="297220" y="357626"/>
                </a:lnTo>
                <a:lnTo>
                  <a:pt x="341783" y="333157"/>
                </a:lnTo>
                <a:lnTo>
                  <a:pt x="381900" y="305278"/>
                </a:lnTo>
                <a:lnTo>
                  <a:pt x="417129" y="274264"/>
                </a:lnTo>
                <a:lnTo>
                  <a:pt x="447030" y="240390"/>
                </a:lnTo>
                <a:lnTo>
                  <a:pt x="471160" y="203933"/>
                </a:lnTo>
                <a:lnTo>
                  <a:pt x="447292" y="167315"/>
                </a:lnTo>
                <a:lnTo>
                  <a:pt x="417549" y="133308"/>
                </a:lnTo>
                <a:lnTo>
                  <a:pt x="382387" y="102196"/>
                </a:lnTo>
                <a:lnTo>
                  <a:pt x="342262" y="74263"/>
                </a:lnTo>
                <a:lnTo>
                  <a:pt x="297632" y="49792"/>
                </a:lnTo>
                <a:lnTo>
                  <a:pt x="248955" y="29069"/>
                </a:lnTo>
                <a:lnTo>
                  <a:pt x="196686" y="12377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53114" y="504092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471160" y="203933"/>
                </a:moveTo>
                <a:lnTo>
                  <a:pt x="447030" y="240390"/>
                </a:lnTo>
                <a:lnTo>
                  <a:pt x="417129" y="274264"/>
                </a:lnTo>
                <a:lnTo>
                  <a:pt x="381900" y="305278"/>
                </a:lnTo>
                <a:lnTo>
                  <a:pt x="341783" y="333157"/>
                </a:lnTo>
                <a:lnTo>
                  <a:pt x="297220" y="357626"/>
                </a:lnTo>
                <a:lnTo>
                  <a:pt x="248655" y="378409"/>
                </a:lnTo>
                <a:lnTo>
                  <a:pt x="196529" y="395232"/>
                </a:lnTo>
                <a:lnTo>
                  <a:pt x="141284" y="407819"/>
                </a:lnTo>
                <a:lnTo>
                  <a:pt x="0" y="407819"/>
                </a:lnTo>
                <a:lnTo>
                  <a:pt x="25950" y="364049"/>
                </a:lnTo>
                <a:lnTo>
                  <a:pt x="45413" y="319122"/>
                </a:lnTo>
                <a:lnTo>
                  <a:pt x="58388" y="273367"/>
                </a:lnTo>
                <a:lnTo>
                  <a:pt x="64876" y="227117"/>
                </a:lnTo>
                <a:lnTo>
                  <a:pt x="64876" y="180701"/>
                </a:lnTo>
                <a:lnTo>
                  <a:pt x="58388" y="134451"/>
                </a:lnTo>
                <a:lnTo>
                  <a:pt x="45413" y="88697"/>
                </a:lnTo>
                <a:lnTo>
                  <a:pt x="25950" y="43769"/>
                </a:lnTo>
                <a:lnTo>
                  <a:pt x="0" y="0"/>
                </a:lnTo>
                <a:lnTo>
                  <a:pt x="141284" y="0"/>
                </a:lnTo>
                <a:lnTo>
                  <a:pt x="196686" y="12377"/>
                </a:lnTo>
                <a:lnTo>
                  <a:pt x="248955" y="29069"/>
                </a:lnTo>
                <a:lnTo>
                  <a:pt x="297632" y="49792"/>
                </a:lnTo>
                <a:lnTo>
                  <a:pt x="342262" y="74263"/>
                </a:lnTo>
                <a:lnTo>
                  <a:pt x="382387" y="102196"/>
                </a:lnTo>
                <a:lnTo>
                  <a:pt x="417549" y="133308"/>
                </a:lnTo>
                <a:lnTo>
                  <a:pt x="447292" y="167315"/>
                </a:lnTo>
                <a:lnTo>
                  <a:pt x="471160" y="203933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53114" y="504092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90026" y="0"/>
                </a:moveTo>
                <a:lnTo>
                  <a:pt x="0" y="0"/>
                </a:lnTo>
                <a:lnTo>
                  <a:pt x="0" y="407819"/>
                </a:lnTo>
                <a:lnTo>
                  <a:pt x="290026" y="407819"/>
                </a:lnTo>
                <a:lnTo>
                  <a:pt x="331529" y="402434"/>
                </a:lnTo>
                <a:lnTo>
                  <a:pt x="369643" y="387095"/>
                </a:lnTo>
                <a:lnTo>
                  <a:pt x="403277" y="363025"/>
                </a:lnTo>
                <a:lnTo>
                  <a:pt x="431337" y="331448"/>
                </a:lnTo>
                <a:lnTo>
                  <a:pt x="452733" y="293587"/>
                </a:lnTo>
                <a:lnTo>
                  <a:pt x="466371" y="250666"/>
                </a:lnTo>
                <a:lnTo>
                  <a:pt x="471160" y="203909"/>
                </a:lnTo>
                <a:lnTo>
                  <a:pt x="466371" y="157152"/>
                </a:lnTo>
                <a:lnTo>
                  <a:pt x="452733" y="114231"/>
                </a:lnTo>
                <a:lnTo>
                  <a:pt x="431337" y="76370"/>
                </a:lnTo>
                <a:lnTo>
                  <a:pt x="403277" y="44793"/>
                </a:lnTo>
                <a:lnTo>
                  <a:pt x="369643" y="20724"/>
                </a:lnTo>
                <a:lnTo>
                  <a:pt x="331529" y="5384"/>
                </a:lnTo>
                <a:lnTo>
                  <a:pt x="2900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953114" y="5040927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90026" y="407819"/>
                </a:moveTo>
                <a:lnTo>
                  <a:pt x="0" y="407819"/>
                </a:lnTo>
                <a:lnTo>
                  <a:pt x="0" y="0"/>
                </a:lnTo>
                <a:lnTo>
                  <a:pt x="290026" y="0"/>
                </a:lnTo>
                <a:lnTo>
                  <a:pt x="331529" y="5384"/>
                </a:lnTo>
                <a:lnTo>
                  <a:pt x="369643" y="20724"/>
                </a:lnTo>
                <a:lnTo>
                  <a:pt x="403277" y="44793"/>
                </a:lnTo>
                <a:lnTo>
                  <a:pt x="431337" y="76370"/>
                </a:lnTo>
                <a:lnTo>
                  <a:pt x="452733" y="114231"/>
                </a:lnTo>
                <a:lnTo>
                  <a:pt x="466371" y="157152"/>
                </a:lnTo>
                <a:lnTo>
                  <a:pt x="471160" y="203909"/>
                </a:lnTo>
                <a:lnTo>
                  <a:pt x="466371" y="250666"/>
                </a:lnTo>
                <a:lnTo>
                  <a:pt x="452733" y="293587"/>
                </a:lnTo>
                <a:lnTo>
                  <a:pt x="431337" y="331448"/>
                </a:lnTo>
                <a:lnTo>
                  <a:pt x="403277" y="363025"/>
                </a:lnTo>
                <a:lnTo>
                  <a:pt x="369643" y="387095"/>
                </a:lnTo>
                <a:lnTo>
                  <a:pt x="331529" y="402434"/>
                </a:lnTo>
                <a:lnTo>
                  <a:pt x="290026" y="407819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817471" y="5346791"/>
            <a:ext cx="1009015" cy="374015"/>
          </a:xfrm>
          <a:custGeom>
            <a:avLst/>
            <a:gdLst/>
            <a:ahLst/>
            <a:cxnLst/>
            <a:rect l="l" t="t" r="r" b="b"/>
            <a:pathLst>
              <a:path w="1009014" h="374014">
                <a:moveTo>
                  <a:pt x="0" y="373832"/>
                </a:moveTo>
                <a:lnTo>
                  <a:pt x="462103" y="373832"/>
                </a:lnTo>
                <a:lnTo>
                  <a:pt x="462103" y="0"/>
                </a:lnTo>
                <a:lnTo>
                  <a:pt x="1008849" y="0"/>
                </a:lnTo>
              </a:path>
            </a:pathLst>
          </a:custGeom>
          <a:ln w="28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814466" y="4667108"/>
            <a:ext cx="1012190" cy="476250"/>
          </a:xfrm>
          <a:custGeom>
            <a:avLst/>
            <a:gdLst/>
            <a:ahLst/>
            <a:cxnLst/>
            <a:rect l="l" t="t" r="r" b="b"/>
            <a:pathLst>
              <a:path w="1012189" h="476250">
                <a:moveTo>
                  <a:pt x="0" y="0"/>
                </a:moveTo>
                <a:lnTo>
                  <a:pt x="468134" y="0"/>
                </a:lnTo>
                <a:lnTo>
                  <a:pt x="468134" y="475772"/>
                </a:lnTo>
                <a:lnTo>
                  <a:pt x="1011854" y="475773"/>
                </a:lnTo>
              </a:path>
            </a:pathLst>
          </a:custGeom>
          <a:ln w="28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034375" y="4633108"/>
            <a:ext cx="393065" cy="0"/>
          </a:xfrm>
          <a:custGeom>
            <a:avLst/>
            <a:gdLst/>
            <a:ahLst/>
            <a:cxnLst/>
            <a:rect l="l" t="t" r="r" b="b"/>
            <a:pathLst>
              <a:path w="393064">
                <a:moveTo>
                  <a:pt x="39274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74920" y="4566209"/>
            <a:ext cx="118908" cy="1337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034375" y="2899924"/>
            <a:ext cx="393065" cy="2345055"/>
          </a:xfrm>
          <a:custGeom>
            <a:avLst/>
            <a:gdLst/>
            <a:ahLst/>
            <a:cxnLst/>
            <a:rect l="l" t="t" r="r" b="b"/>
            <a:pathLst>
              <a:path w="393064" h="2345054">
                <a:moveTo>
                  <a:pt x="392740" y="0"/>
                </a:moveTo>
                <a:lnTo>
                  <a:pt x="0" y="0"/>
                </a:lnTo>
                <a:lnTo>
                  <a:pt x="0" y="2344911"/>
                </a:lnTo>
              </a:path>
            </a:pathLst>
          </a:custGeom>
          <a:ln w="25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74920" y="5177937"/>
            <a:ext cx="118908" cy="1337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675234" y="2831827"/>
            <a:ext cx="1751964" cy="1597660"/>
          </a:xfrm>
          <a:custGeom>
            <a:avLst/>
            <a:gdLst/>
            <a:ahLst/>
            <a:cxnLst/>
            <a:rect l="l" t="t" r="r" b="b"/>
            <a:pathLst>
              <a:path w="1751964" h="1597660">
                <a:moveTo>
                  <a:pt x="1751881" y="1597371"/>
                </a:moveTo>
                <a:lnTo>
                  <a:pt x="1409432" y="1597371"/>
                </a:lnTo>
                <a:lnTo>
                  <a:pt x="1405469" y="1575331"/>
                </a:lnTo>
                <a:lnTo>
                  <a:pt x="1394675" y="1557328"/>
                </a:lnTo>
                <a:lnTo>
                  <a:pt x="1378686" y="1545187"/>
                </a:lnTo>
                <a:lnTo>
                  <a:pt x="1359141" y="1540735"/>
                </a:lnTo>
                <a:lnTo>
                  <a:pt x="1339595" y="1545187"/>
                </a:lnTo>
                <a:lnTo>
                  <a:pt x="1323606" y="1557328"/>
                </a:lnTo>
                <a:lnTo>
                  <a:pt x="1312812" y="1575331"/>
                </a:lnTo>
                <a:lnTo>
                  <a:pt x="1308849" y="1597371"/>
                </a:lnTo>
                <a:lnTo>
                  <a:pt x="0" y="1597371"/>
                </a:lnTo>
                <a:lnTo>
                  <a:pt x="0" y="0"/>
                </a:lnTo>
              </a:path>
            </a:pathLst>
          </a:custGeom>
          <a:ln w="27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591239" y="3522875"/>
            <a:ext cx="2084070" cy="57150"/>
          </a:xfrm>
          <a:custGeom>
            <a:avLst/>
            <a:gdLst/>
            <a:ahLst/>
            <a:cxnLst/>
            <a:rect l="l" t="t" r="r" b="b"/>
            <a:pathLst>
              <a:path w="2084070" h="57150">
                <a:moveTo>
                  <a:pt x="0" y="56708"/>
                </a:moveTo>
                <a:lnTo>
                  <a:pt x="221494" y="56708"/>
                </a:lnTo>
                <a:lnTo>
                  <a:pt x="225448" y="34646"/>
                </a:lnTo>
                <a:lnTo>
                  <a:pt x="236232" y="16619"/>
                </a:lnTo>
                <a:lnTo>
                  <a:pt x="252231" y="4460"/>
                </a:lnTo>
                <a:lnTo>
                  <a:pt x="271828" y="0"/>
                </a:lnTo>
                <a:lnTo>
                  <a:pt x="291424" y="4460"/>
                </a:lnTo>
                <a:lnTo>
                  <a:pt x="307423" y="16619"/>
                </a:lnTo>
                <a:lnTo>
                  <a:pt x="318208" y="34646"/>
                </a:lnTo>
                <a:lnTo>
                  <a:pt x="322162" y="56708"/>
                </a:lnTo>
                <a:lnTo>
                  <a:pt x="2083994" y="56708"/>
                </a:lnTo>
              </a:path>
            </a:pathLst>
          </a:custGeom>
          <a:ln w="287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615779" y="3512804"/>
            <a:ext cx="118908" cy="1336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95476" y="3749516"/>
            <a:ext cx="393065" cy="781685"/>
          </a:xfrm>
          <a:custGeom>
            <a:avLst/>
            <a:gdLst/>
            <a:ahLst/>
            <a:cxnLst/>
            <a:rect l="l" t="t" r="r" b="b"/>
            <a:pathLst>
              <a:path w="393065" h="781685">
                <a:moveTo>
                  <a:pt x="392740" y="0"/>
                </a:moveTo>
                <a:lnTo>
                  <a:pt x="0" y="0"/>
                </a:lnTo>
                <a:lnTo>
                  <a:pt x="0" y="781637"/>
                </a:lnTo>
              </a:path>
            </a:pathLst>
          </a:custGeom>
          <a:ln w="26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36022" y="4464254"/>
            <a:ext cx="118908" cy="1337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51862" y="2798018"/>
            <a:ext cx="936625" cy="748030"/>
          </a:xfrm>
          <a:custGeom>
            <a:avLst/>
            <a:gdLst/>
            <a:ahLst/>
            <a:cxnLst/>
            <a:rect l="l" t="t" r="r" b="b"/>
            <a:pathLst>
              <a:path w="936625" h="748029">
                <a:moveTo>
                  <a:pt x="0" y="0"/>
                </a:moveTo>
                <a:lnTo>
                  <a:pt x="543613" y="0"/>
                </a:lnTo>
                <a:lnTo>
                  <a:pt x="543613" y="747636"/>
                </a:lnTo>
                <a:lnTo>
                  <a:pt x="936353" y="747636"/>
                </a:lnTo>
              </a:path>
            </a:pathLst>
          </a:custGeom>
          <a:ln w="27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675234" y="2798018"/>
            <a:ext cx="1751964" cy="34290"/>
          </a:xfrm>
          <a:custGeom>
            <a:avLst/>
            <a:gdLst/>
            <a:ahLst/>
            <a:cxnLst/>
            <a:rect l="l" t="t" r="r" b="b"/>
            <a:pathLst>
              <a:path w="1751964" h="34289">
                <a:moveTo>
                  <a:pt x="1751881" y="0"/>
                </a:moveTo>
                <a:lnTo>
                  <a:pt x="0" y="0"/>
                </a:lnTo>
                <a:lnTo>
                  <a:pt x="0" y="33809"/>
                </a:lnTo>
              </a:path>
            </a:pathLst>
          </a:custGeom>
          <a:ln w="287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63067" y="2695871"/>
            <a:ext cx="604520" cy="1971675"/>
          </a:xfrm>
          <a:custGeom>
            <a:avLst/>
            <a:gdLst/>
            <a:ahLst/>
            <a:cxnLst/>
            <a:rect l="l" t="t" r="r" b="b"/>
            <a:pathLst>
              <a:path w="604519" h="1971675">
                <a:moveTo>
                  <a:pt x="604048" y="1971237"/>
                </a:moveTo>
                <a:lnTo>
                  <a:pt x="0" y="1971237"/>
                </a:lnTo>
                <a:lnTo>
                  <a:pt x="0" y="0"/>
                </a:lnTo>
              </a:path>
            </a:pathLst>
          </a:custGeom>
          <a:ln w="258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03612" y="2628972"/>
            <a:ext cx="118908" cy="133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591239" y="5720623"/>
            <a:ext cx="876300" cy="0"/>
          </a:xfrm>
          <a:custGeom>
            <a:avLst/>
            <a:gdLst/>
            <a:ahLst/>
            <a:cxnLst/>
            <a:rect l="l" t="t" r="r" b="b"/>
            <a:pathLst>
              <a:path w="876300">
                <a:moveTo>
                  <a:pt x="875876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151862" y="4531153"/>
            <a:ext cx="1903095" cy="0"/>
          </a:xfrm>
          <a:custGeom>
            <a:avLst/>
            <a:gdLst/>
            <a:ahLst/>
            <a:cxnLst/>
            <a:rect l="l" t="t" r="r" b="b"/>
            <a:pathLst>
              <a:path w="1903095">
                <a:moveTo>
                  <a:pt x="0" y="0"/>
                </a:moveTo>
                <a:lnTo>
                  <a:pt x="1902754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551068" y="5244836"/>
            <a:ext cx="3503929" cy="0"/>
          </a:xfrm>
          <a:custGeom>
            <a:avLst/>
            <a:gdLst/>
            <a:ahLst/>
            <a:cxnLst/>
            <a:rect l="l" t="t" r="r" b="b"/>
            <a:pathLst>
              <a:path w="3503929">
                <a:moveTo>
                  <a:pt x="0" y="0"/>
                </a:moveTo>
                <a:lnTo>
                  <a:pt x="3503549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812964" y="3647561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4">
                <a:moveTo>
                  <a:pt x="0" y="0"/>
                </a:moveTo>
                <a:lnTo>
                  <a:pt x="241653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591239" y="2695871"/>
            <a:ext cx="3836035" cy="0"/>
          </a:xfrm>
          <a:custGeom>
            <a:avLst/>
            <a:gdLst/>
            <a:ahLst/>
            <a:cxnLst/>
            <a:rect l="l" t="t" r="r" b="b"/>
            <a:pathLst>
              <a:path w="3836035">
                <a:moveTo>
                  <a:pt x="3835876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87705" y="1722882"/>
            <a:ext cx="10725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Helvetica"/>
                <a:cs typeface="Helvetica"/>
              </a:rPr>
              <a:t>CC</a:t>
            </a:r>
            <a:r>
              <a:rPr sz="1950" spc="7" baseline="25641" dirty="0">
                <a:latin typeface="Helvetica"/>
                <a:cs typeface="Helvetica"/>
              </a:rPr>
              <a:t>0</a:t>
            </a:r>
            <a:r>
              <a:rPr sz="2000" spc="5" dirty="0">
                <a:latin typeface="Helvetica"/>
                <a:cs typeface="Helvetica"/>
              </a:rPr>
              <a:t>/CC</a:t>
            </a:r>
            <a:r>
              <a:rPr sz="1950" spc="7" baseline="25641" dirty="0">
                <a:latin typeface="Helvetica"/>
                <a:cs typeface="Helvetica"/>
              </a:rPr>
              <a:t>1</a:t>
            </a:r>
            <a:endParaRPr sz="1950" baseline="25641">
              <a:latin typeface="Helvetica"/>
              <a:cs typeface="Helvetic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61428" y="2091689"/>
            <a:ext cx="624205" cy="179070"/>
          </a:xfrm>
          <a:custGeom>
            <a:avLst/>
            <a:gdLst/>
            <a:ahLst/>
            <a:cxnLst/>
            <a:rect l="l" t="t" r="r" b="b"/>
            <a:pathLst>
              <a:path w="624205" h="179069">
                <a:moveTo>
                  <a:pt x="559312" y="137208"/>
                </a:moveTo>
                <a:lnTo>
                  <a:pt x="540854" y="159638"/>
                </a:lnTo>
                <a:lnTo>
                  <a:pt x="623912" y="178562"/>
                </a:lnTo>
                <a:lnTo>
                  <a:pt x="608446" y="143890"/>
                </a:lnTo>
                <a:lnTo>
                  <a:pt x="571842" y="143890"/>
                </a:lnTo>
                <a:lnTo>
                  <a:pt x="559312" y="137208"/>
                </a:lnTo>
                <a:close/>
              </a:path>
              <a:path w="624205" h="179069">
                <a:moveTo>
                  <a:pt x="567550" y="127197"/>
                </a:moveTo>
                <a:lnTo>
                  <a:pt x="559312" y="137208"/>
                </a:lnTo>
                <a:lnTo>
                  <a:pt x="571842" y="143890"/>
                </a:lnTo>
                <a:lnTo>
                  <a:pt x="577811" y="132714"/>
                </a:lnTo>
                <a:lnTo>
                  <a:pt x="567550" y="127197"/>
                </a:lnTo>
                <a:close/>
              </a:path>
              <a:path w="624205" h="179069">
                <a:moveTo>
                  <a:pt x="589241" y="100837"/>
                </a:moveTo>
                <a:lnTo>
                  <a:pt x="567550" y="127197"/>
                </a:lnTo>
                <a:lnTo>
                  <a:pt x="577811" y="132714"/>
                </a:lnTo>
                <a:lnTo>
                  <a:pt x="571842" y="143890"/>
                </a:lnTo>
                <a:lnTo>
                  <a:pt x="608446" y="143890"/>
                </a:lnTo>
                <a:lnTo>
                  <a:pt x="589241" y="100837"/>
                </a:lnTo>
                <a:close/>
              </a:path>
              <a:path w="624205" h="179069">
                <a:moveTo>
                  <a:pt x="545260" y="129713"/>
                </a:moveTo>
                <a:lnTo>
                  <a:pt x="559312" y="137208"/>
                </a:lnTo>
                <a:lnTo>
                  <a:pt x="565205" y="130048"/>
                </a:lnTo>
                <a:lnTo>
                  <a:pt x="546315" y="130048"/>
                </a:lnTo>
                <a:lnTo>
                  <a:pt x="545260" y="129713"/>
                </a:lnTo>
                <a:close/>
              </a:path>
              <a:path w="624205" h="179069">
                <a:moveTo>
                  <a:pt x="545172" y="129667"/>
                </a:moveTo>
                <a:lnTo>
                  <a:pt x="546315" y="130048"/>
                </a:lnTo>
                <a:lnTo>
                  <a:pt x="545172" y="129667"/>
                </a:lnTo>
                <a:close/>
              </a:path>
              <a:path w="624205" h="179069">
                <a:moveTo>
                  <a:pt x="565518" y="129667"/>
                </a:moveTo>
                <a:lnTo>
                  <a:pt x="545172" y="129667"/>
                </a:lnTo>
                <a:lnTo>
                  <a:pt x="546315" y="130048"/>
                </a:lnTo>
                <a:lnTo>
                  <a:pt x="565205" y="130048"/>
                </a:lnTo>
                <a:lnTo>
                  <a:pt x="565518" y="129667"/>
                </a:lnTo>
                <a:close/>
              </a:path>
              <a:path w="624205" h="179069">
                <a:moveTo>
                  <a:pt x="12623" y="0"/>
                </a:moveTo>
                <a:lnTo>
                  <a:pt x="0" y="1524"/>
                </a:lnTo>
                <a:lnTo>
                  <a:pt x="520" y="6096"/>
                </a:lnTo>
                <a:lnTo>
                  <a:pt x="2082" y="11049"/>
                </a:lnTo>
                <a:lnTo>
                  <a:pt x="2438" y="11937"/>
                </a:lnTo>
                <a:lnTo>
                  <a:pt x="4533" y="16129"/>
                </a:lnTo>
                <a:lnTo>
                  <a:pt x="4698" y="16383"/>
                </a:lnTo>
                <a:lnTo>
                  <a:pt x="4902" y="16763"/>
                </a:lnTo>
                <a:lnTo>
                  <a:pt x="5213" y="17145"/>
                </a:lnTo>
                <a:lnTo>
                  <a:pt x="8166" y="21082"/>
                </a:lnTo>
                <a:lnTo>
                  <a:pt x="12420" y="25781"/>
                </a:lnTo>
                <a:lnTo>
                  <a:pt x="52120" y="50673"/>
                </a:lnTo>
                <a:lnTo>
                  <a:pt x="100914" y="67945"/>
                </a:lnTo>
                <a:lnTo>
                  <a:pt x="148183" y="79501"/>
                </a:lnTo>
                <a:lnTo>
                  <a:pt x="200698" y="88392"/>
                </a:lnTo>
                <a:lnTo>
                  <a:pt x="256946" y="94107"/>
                </a:lnTo>
                <a:lnTo>
                  <a:pt x="344004" y="96520"/>
                </a:lnTo>
                <a:lnTo>
                  <a:pt x="372452" y="98044"/>
                </a:lnTo>
                <a:lnTo>
                  <a:pt x="427697" y="103632"/>
                </a:lnTo>
                <a:lnTo>
                  <a:pt x="479513" y="112395"/>
                </a:lnTo>
                <a:lnTo>
                  <a:pt x="525868" y="123571"/>
                </a:lnTo>
                <a:lnTo>
                  <a:pt x="545260" y="129713"/>
                </a:lnTo>
                <a:lnTo>
                  <a:pt x="565518" y="129667"/>
                </a:lnTo>
                <a:lnTo>
                  <a:pt x="567550" y="127197"/>
                </a:lnTo>
                <a:lnTo>
                  <a:pt x="529043" y="111251"/>
                </a:lnTo>
                <a:lnTo>
                  <a:pt x="481799" y="99822"/>
                </a:lnTo>
                <a:lnTo>
                  <a:pt x="429221" y="91059"/>
                </a:lnTo>
                <a:lnTo>
                  <a:pt x="373087" y="85344"/>
                </a:lnTo>
                <a:lnTo>
                  <a:pt x="286473" y="82804"/>
                </a:lnTo>
                <a:lnTo>
                  <a:pt x="258025" y="81407"/>
                </a:lnTo>
                <a:lnTo>
                  <a:pt x="202641" y="75819"/>
                </a:lnTo>
                <a:lnTo>
                  <a:pt x="150952" y="67183"/>
                </a:lnTo>
                <a:lnTo>
                  <a:pt x="104686" y="55880"/>
                </a:lnTo>
                <a:lnTo>
                  <a:pt x="65760" y="42672"/>
                </a:lnTo>
                <a:lnTo>
                  <a:pt x="30695" y="24384"/>
                </a:lnTo>
                <a:lnTo>
                  <a:pt x="16055" y="10413"/>
                </a:lnTo>
                <a:lnTo>
                  <a:pt x="15900" y="10413"/>
                </a:lnTo>
                <a:lnTo>
                  <a:pt x="15316" y="9398"/>
                </a:lnTo>
                <a:lnTo>
                  <a:pt x="14249" y="7112"/>
                </a:lnTo>
                <a:lnTo>
                  <a:pt x="13804" y="6223"/>
                </a:lnTo>
                <a:lnTo>
                  <a:pt x="13202" y="4190"/>
                </a:lnTo>
                <a:lnTo>
                  <a:pt x="12826" y="3048"/>
                </a:lnTo>
                <a:lnTo>
                  <a:pt x="12965" y="3048"/>
                </a:lnTo>
                <a:lnTo>
                  <a:pt x="12623" y="0"/>
                </a:lnTo>
                <a:close/>
              </a:path>
              <a:path w="624205" h="179069">
                <a:moveTo>
                  <a:pt x="15316" y="9398"/>
                </a:moveTo>
                <a:lnTo>
                  <a:pt x="15900" y="10413"/>
                </a:lnTo>
                <a:lnTo>
                  <a:pt x="15560" y="9733"/>
                </a:lnTo>
                <a:lnTo>
                  <a:pt x="15316" y="9398"/>
                </a:lnTo>
                <a:close/>
              </a:path>
              <a:path w="624205" h="179069">
                <a:moveTo>
                  <a:pt x="15560" y="9733"/>
                </a:moveTo>
                <a:lnTo>
                  <a:pt x="15900" y="10413"/>
                </a:lnTo>
                <a:lnTo>
                  <a:pt x="16055" y="10413"/>
                </a:lnTo>
                <a:lnTo>
                  <a:pt x="15560" y="9733"/>
                </a:lnTo>
                <a:close/>
              </a:path>
              <a:path w="624205" h="179069">
                <a:moveTo>
                  <a:pt x="15392" y="9398"/>
                </a:moveTo>
                <a:lnTo>
                  <a:pt x="15560" y="9733"/>
                </a:lnTo>
                <a:lnTo>
                  <a:pt x="15392" y="9398"/>
                </a:lnTo>
                <a:close/>
              </a:path>
              <a:path w="624205" h="179069">
                <a:moveTo>
                  <a:pt x="13804" y="6223"/>
                </a:moveTo>
                <a:lnTo>
                  <a:pt x="14160" y="7112"/>
                </a:lnTo>
                <a:lnTo>
                  <a:pt x="13990" y="6594"/>
                </a:lnTo>
                <a:lnTo>
                  <a:pt x="13804" y="6223"/>
                </a:lnTo>
                <a:close/>
              </a:path>
              <a:path w="624205" h="179069">
                <a:moveTo>
                  <a:pt x="13990" y="6594"/>
                </a:moveTo>
                <a:lnTo>
                  <a:pt x="14160" y="7112"/>
                </a:lnTo>
                <a:lnTo>
                  <a:pt x="13990" y="6594"/>
                </a:lnTo>
                <a:close/>
              </a:path>
              <a:path w="624205" h="179069">
                <a:moveTo>
                  <a:pt x="13868" y="6223"/>
                </a:moveTo>
                <a:lnTo>
                  <a:pt x="13990" y="6594"/>
                </a:lnTo>
                <a:lnTo>
                  <a:pt x="13868" y="6223"/>
                </a:lnTo>
                <a:close/>
              </a:path>
              <a:path w="624205" h="179069">
                <a:moveTo>
                  <a:pt x="12826" y="3048"/>
                </a:moveTo>
                <a:lnTo>
                  <a:pt x="13093" y="4190"/>
                </a:lnTo>
                <a:lnTo>
                  <a:pt x="13037" y="3689"/>
                </a:lnTo>
                <a:lnTo>
                  <a:pt x="12826" y="3048"/>
                </a:lnTo>
                <a:close/>
              </a:path>
              <a:path w="624205" h="179069">
                <a:moveTo>
                  <a:pt x="13037" y="3689"/>
                </a:moveTo>
                <a:lnTo>
                  <a:pt x="13093" y="4190"/>
                </a:lnTo>
                <a:lnTo>
                  <a:pt x="13037" y="3689"/>
                </a:lnTo>
                <a:close/>
              </a:path>
              <a:path w="624205" h="179069">
                <a:moveTo>
                  <a:pt x="12965" y="3048"/>
                </a:moveTo>
                <a:lnTo>
                  <a:pt x="12826" y="3048"/>
                </a:lnTo>
                <a:lnTo>
                  <a:pt x="13037" y="3689"/>
                </a:lnTo>
                <a:lnTo>
                  <a:pt x="12965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405255" y="2284552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57" name="object 57"/>
          <p:cNvSpPr txBox="1"/>
          <p:nvPr/>
        </p:nvSpPr>
        <p:spPr>
          <a:xfrm>
            <a:off x="1385442" y="5249672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917954" y="3925315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972559" y="4093590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72559" y="2864612"/>
            <a:ext cx="37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78909" y="2284552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850007" y="4331970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2/2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850007" y="5367020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2/2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72888" y="2990214"/>
            <a:ext cx="37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3/5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72888" y="4693361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3/5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464811" y="5276469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3/5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90665" y="4201109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2/7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800468" y="3804665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2/7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683245" y="4608067"/>
            <a:ext cx="379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2/7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686293" y="3287013"/>
            <a:ext cx="37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5/7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681721" y="5352389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3/5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398767" y="2358008"/>
            <a:ext cx="379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2/6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283588" y="252196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a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332102" y="3162757"/>
            <a:ext cx="452755" cy="614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725">
              <a:lnSpc>
                <a:spcPts val="231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1/1</a:t>
            </a:r>
            <a:endParaRPr sz="2000">
              <a:latin typeface="Helvetica"/>
              <a:cs typeface="Helvetica"/>
            </a:endParaRPr>
          </a:p>
          <a:p>
            <a:pPr marL="12700">
              <a:lnSpc>
                <a:spcPts val="2310"/>
              </a:lnSpc>
            </a:pPr>
            <a:r>
              <a:rPr sz="2000" i="1" dirty="0">
                <a:latin typeface="Helvetica"/>
                <a:cs typeface="Helvetica"/>
              </a:rPr>
              <a:t>b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394586" y="552582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c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491485" y="451332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1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491485" y="556605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2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096892" y="509142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3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692266" y="264083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4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699505" y="437273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363206" y="350100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6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174228" y="3488182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x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207756" y="4359986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y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173973" y="5078984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z</a:t>
            </a:r>
            <a:endParaRPr sz="2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5222" y="164414"/>
            <a:ext cx="6224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5" dirty="0">
                <a:latin typeface="Arial"/>
                <a:cs typeface="Arial"/>
              </a:rPr>
              <a:t>Combinational</a:t>
            </a:r>
            <a:r>
              <a:rPr i="0" spc="-45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Observability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230225" y="900785"/>
                <a:ext cx="8116570" cy="5396349"/>
              </a:xfrm>
              <a:prstGeom prst="rect">
                <a:avLst/>
              </a:prstGeom>
            </p:spPr>
            <p:txBody>
              <a:bodyPr vert="horz" wrap="square" lIns="0" tIns="73660" rIns="0" bIns="0" rtlCol="0">
                <a:spAutoFit/>
              </a:bodyPr>
              <a:lstStyle/>
              <a:p>
                <a:pPr marL="355600" indent="-342900">
                  <a:lnSpc>
                    <a:spcPct val="100000"/>
                  </a:lnSpc>
                  <a:spcBef>
                    <a:spcPts val="5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CO(N)</a:t>
                </a:r>
                <a:endParaRPr sz="2000" dirty="0">
                  <a:latin typeface="Arial-BoldItalicMT"/>
                  <a:cs typeface="Arial-BoldItalicMT"/>
                </a:endParaRPr>
              </a:p>
              <a:p>
                <a:pPr marL="756285" marR="5080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spc="-5" dirty="0">
                    <a:latin typeface="Arial"/>
                    <a:cs typeface="Arial"/>
                  </a:rPr>
                  <a:t>minimum </a:t>
                </a:r>
                <a:r>
                  <a:rPr sz="2000" b="1" dirty="0">
                    <a:latin typeface="Arial"/>
                    <a:cs typeface="Arial"/>
                  </a:rPr>
                  <a:t>number of combinational PI assignments and</a:t>
                </a:r>
                <a:r>
                  <a:rPr sz="2000" b="1" spc="-110" dirty="0">
                    <a:latin typeface="Arial"/>
                    <a:cs typeface="Arial"/>
                  </a:rPr>
                  <a:t> </a:t>
                </a:r>
                <a:r>
                  <a:rPr sz="2000" b="1" spc="-5" dirty="0">
                    <a:latin typeface="Arial"/>
                    <a:cs typeface="Arial"/>
                  </a:rPr>
                  <a:t>logic  levels </a:t>
                </a:r>
                <a:r>
                  <a:rPr sz="2000" b="1" dirty="0">
                    <a:latin typeface="Arial"/>
                    <a:cs typeface="Arial"/>
                  </a:rPr>
                  <a:t>required to </a:t>
                </a:r>
                <a:r>
                  <a:rPr sz="2000" b="1" u="sng" dirty="0">
                    <a:latin typeface="Arial"/>
                    <a:cs typeface="Arial"/>
                  </a:rPr>
                  <a:t>propagate</a:t>
                </a:r>
                <a:r>
                  <a:rPr sz="2000" b="1" dirty="0">
                    <a:latin typeface="Arial"/>
                    <a:cs typeface="Arial"/>
                  </a:rPr>
                  <a:t> </a:t>
                </a:r>
                <a:r>
                  <a:rPr sz="2000" b="1" spc="-5" dirty="0">
                    <a:latin typeface="Arial"/>
                    <a:cs typeface="Arial"/>
                  </a:rPr>
                  <a:t>logical value </a:t>
                </a:r>
                <a:r>
                  <a:rPr sz="2000" b="1" u="sng" dirty="0">
                    <a:latin typeface="Arial"/>
                    <a:cs typeface="Arial"/>
                  </a:rPr>
                  <a:t>on node </a:t>
                </a:r>
                <a:r>
                  <a:rPr sz="2000" b="1" i="1" u="sng" dirty="0">
                    <a:latin typeface="Arial-BoldItalicMT"/>
                    <a:cs typeface="Arial-BoldItalicMT"/>
                  </a:rPr>
                  <a:t>N </a:t>
                </a:r>
                <a:r>
                  <a:rPr sz="2000" b="1" u="sng" dirty="0">
                    <a:latin typeface="Arial"/>
                    <a:cs typeface="Arial"/>
                  </a:rPr>
                  <a:t>to</a:t>
                </a:r>
                <a:r>
                  <a:rPr sz="2000" b="1" u="sng" spc="-85" dirty="0">
                    <a:latin typeface="Arial"/>
                    <a:cs typeface="Arial"/>
                  </a:rPr>
                  <a:t> </a:t>
                </a:r>
                <a:r>
                  <a:rPr sz="2000" b="1" u="sng" dirty="0">
                    <a:latin typeface="Arial"/>
                    <a:cs typeface="Arial"/>
                  </a:rPr>
                  <a:t>PO</a:t>
                </a:r>
                <a:endParaRPr sz="2000" u="sng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i="1" spc="-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Smaller </a:t>
                </a:r>
                <a:r>
                  <a:rPr sz="2000" b="1" dirty="0">
                    <a:latin typeface="Arial"/>
                    <a:cs typeface="Arial"/>
                  </a:rPr>
                  <a:t>number, </a:t>
                </a:r>
                <a:r>
                  <a:rPr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easier </a:t>
                </a:r>
                <a:r>
                  <a:rPr sz="2000" b="1" dirty="0">
                    <a:latin typeface="Arial"/>
                    <a:cs typeface="Arial"/>
                  </a:rPr>
                  <a:t>to</a:t>
                </a:r>
                <a:r>
                  <a:rPr sz="2000" b="1" spc="-80" dirty="0">
                    <a:latin typeface="Arial"/>
                    <a:cs typeface="Arial"/>
                  </a:rPr>
                  <a:t> </a:t>
                </a:r>
                <a:r>
                  <a:rPr sz="2000" b="1" spc="-5" dirty="0">
                    <a:latin typeface="Arial"/>
                    <a:cs typeface="Arial"/>
                  </a:rPr>
                  <a:t>observe</a:t>
                </a:r>
                <a:endParaRPr sz="2000" dirty="0">
                  <a:latin typeface="Arial"/>
                  <a:cs typeface="Arial"/>
                </a:endParaRPr>
              </a:p>
              <a:p>
                <a:pPr marL="355600" indent="-34290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sz="2000" b="1" spc="-5" dirty="0">
                    <a:latin typeface="Arial"/>
                    <a:cs typeface="Arial"/>
                  </a:rPr>
                  <a:t>How </a:t>
                </a:r>
                <a:r>
                  <a:rPr sz="2000" b="1" dirty="0">
                    <a:latin typeface="Arial"/>
                    <a:cs typeface="Arial"/>
                  </a:rPr>
                  <a:t>to calculate</a:t>
                </a:r>
                <a:r>
                  <a:rPr sz="2000" b="1" spc="-6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CO(N)?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CO(PO)</a:t>
                </a:r>
                <a:r>
                  <a:rPr lang="en-US" sz="2000" b="1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=</a:t>
                </a:r>
                <a:r>
                  <a:rPr lang="en-US" sz="2000" b="1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0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Moving backward from</a:t>
                </a:r>
                <a:r>
                  <a:rPr sz="2000" b="1" dirty="0">
                    <a:latin typeface="Arial"/>
                    <a:cs typeface="Arial"/>
                  </a:rPr>
                  <a:t> POs to PIs, </a:t>
                </a:r>
                <a:r>
                  <a:rPr lang="en-US" sz="2000" b="1" spc="-5" dirty="0">
                    <a:latin typeface="Arial"/>
                    <a:cs typeface="Arial"/>
                  </a:rPr>
                  <a:t>follow the rules below when calculating CO of a gate input pin from the CO of the gate output pin:</a:t>
                </a:r>
                <a:endParaRPr sz="2000" dirty="0">
                  <a:latin typeface="Arial"/>
                  <a:cs typeface="Arial"/>
                </a:endParaRPr>
              </a:p>
              <a:p>
                <a:pPr marL="355600" indent="-342900">
                  <a:lnSpc>
                    <a:spcPct val="100000"/>
                  </a:lnSpc>
                  <a:spcBef>
                    <a:spcPts val="484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CO(</a:t>
                </a:r>
                <a:r>
                  <a:rPr sz="2000" b="1" dirty="0" err="1">
                    <a:latin typeface="Arial"/>
                    <a:cs typeface="Arial"/>
                  </a:rPr>
                  <a:t>gate_input</a:t>
                </a:r>
                <a:r>
                  <a:rPr sz="2000" b="1" dirty="0">
                    <a:latin typeface="Arial"/>
                    <a:cs typeface="Arial"/>
                  </a:rPr>
                  <a:t>)</a:t>
                </a:r>
                <a:r>
                  <a:rPr lang="en-US" sz="2000" b="1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=</a:t>
                </a:r>
                <a:r>
                  <a:rPr sz="2000" b="1" spc="-50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spc="-5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/>
                      </a:rPr>
                      <m:t>𝚺</m:t>
                    </m:r>
                  </m:oMath>
                </a14:m>
                <a:endParaRPr sz="2000" b="1" spc="-5" dirty="0">
                  <a:solidFill>
                    <a:srgbClr val="0000FF"/>
                  </a:solidFill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(1)</a:t>
                </a:r>
                <a:r>
                  <a:rPr sz="2000" b="1" spc="-30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CO(gate_output)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(2) CC(setting all other inputs to non-controlling</a:t>
                </a:r>
                <a:r>
                  <a:rPr sz="2000" b="1" spc="-170" dirty="0">
                    <a:latin typeface="Arial"/>
                    <a:cs typeface="Arial"/>
                  </a:rPr>
                  <a:t> </a:t>
                </a:r>
                <a:r>
                  <a:rPr sz="2000" b="1" spc="-5" dirty="0">
                    <a:latin typeface="Arial"/>
                    <a:cs typeface="Arial"/>
                  </a:rPr>
                  <a:t>value)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(3) + 1 for </a:t>
                </a:r>
                <a:r>
                  <a:rPr sz="2000" b="1" spc="-5" dirty="0">
                    <a:latin typeface="Arial"/>
                    <a:cs typeface="Arial"/>
                  </a:rPr>
                  <a:t>logic</a:t>
                </a:r>
                <a:r>
                  <a:rPr sz="2000" b="1" spc="-90" dirty="0">
                    <a:latin typeface="Arial"/>
                    <a:cs typeface="Arial"/>
                  </a:rPr>
                  <a:t> </a:t>
                </a:r>
                <a:r>
                  <a:rPr sz="2000" b="1" spc="-5" dirty="0">
                    <a:latin typeface="Arial"/>
                    <a:cs typeface="Arial"/>
                  </a:rPr>
                  <a:t>level</a:t>
                </a:r>
                <a:endParaRPr sz="2000" dirty="0">
                  <a:latin typeface="Arial"/>
                  <a:cs typeface="Arial"/>
                </a:endParaRPr>
              </a:p>
              <a:p>
                <a:pPr marL="355600" indent="-34290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  <a:tab pos="3457575" algn="l"/>
                  </a:tabLst>
                </a:pPr>
                <a:r>
                  <a:rPr sz="2000" b="1" spc="-5" dirty="0">
                    <a:latin typeface="Arial"/>
                    <a:cs typeface="Arial"/>
                  </a:rPr>
                  <a:t>How </a:t>
                </a:r>
                <a:r>
                  <a:rPr sz="2000" b="1" dirty="0">
                    <a:latin typeface="Arial"/>
                    <a:cs typeface="Arial"/>
                  </a:rPr>
                  <a:t>about</a:t>
                </a:r>
                <a:r>
                  <a:rPr sz="2000" b="1" spc="-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fanout</a:t>
                </a:r>
                <a:r>
                  <a:rPr sz="2000" b="1" spc="-1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stem?	Assume they are</a:t>
                </a:r>
                <a:r>
                  <a:rPr sz="2000" b="1" spc="-4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independent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  <a:tab pos="4698365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CO(stem) = </a:t>
                </a:r>
                <a:r>
                  <a:rPr sz="2000" b="1" spc="-5" dirty="0">
                    <a:solidFill>
                      <a:srgbClr val="0000FF"/>
                    </a:solidFill>
                    <a:latin typeface="Arial"/>
                    <a:cs typeface="Arial"/>
                  </a:rPr>
                  <a:t>min</a:t>
                </a:r>
                <a:r>
                  <a:rPr sz="2000" b="1" spc="-35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{</a:t>
                </a:r>
                <a:r>
                  <a:rPr sz="2000" b="1" spc="20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CO(branches)	}</a:t>
                </a:r>
                <a:endParaRPr sz="20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25" y="900785"/>
                <a:ext cx="8116570" cy="5396349"/>
              </a:xfrm>
              <a:prstGeom prst="rect">
                <a:avLst/>
              </a:prstGeom>
              <a:blipFill>
                <a:blip r:embed="rId2"/>
                <a:stretch>
                  <a:fillRect l="-2031" t="-1176" r="-3125" b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3876" y="164414"/>
            <a:ext cx="1346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Arial"/>
                <a:cs typeface="Arial"/>
              </a:rPr>
              <a:t>CO(N)</a:t>
            </a:r>
          </a:p>
        </p:txBody>
      </p:sp>
      <p:sp>
        <p:nvSpPr>
          <p:cNvPr id="3" name="object 3"/>
          <p:cNvSpPr/>
          <p:nvPr/>
        </p:nvSpPr>
        <p:spPr>
          <a:xfrm>
            <a:off x="1189037" y="2420937"/>
            <a:ext cx="2376805" cy="792480"/>
          </a:xfrm>
          <a:custGeom>
            <a:avLst/>
            <a:gdLst/>
            <a:ahLst/>
            <a:cxnLst/>
            <a:rect l="l" t="t" r="r" b="b"/>
            <a:pathLst>
              <a:path w="2376804" h="792480">
                <a:moveTo>
                  <a:pt x="0" y="792162"/>
                </a:moveTo>
                <a:lnTo>
                  <a:pt x="2376424" y="792162"/>
                </a:lnTo>
                <a:lnTo>
                  <a:pt x="2376424" y="0"/>
                </a:lnTo>
                <a:lnTo>
                  <a:pt x="0" y="0"/>
                </a:lnTo>
                <a:lnTo>
                  <a:pt x="0" y="79216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9037" y="3213163"/>
            <a:ext cx="2376805" cy="792480"/>
          </a:xfrm>
          <a:custGeom>
            <a:avLst/>
            <a:gdLst/>
            <a:ahLst/>
            <a:cxnLst/>
            <a:rect l="l" t="t" r="r" b="b"/>
            <a:pathLst>
              <a:path w="2376804" h="792479">
                <a:moveTo>
                  <a:pt x="0" y="792162"/>
                </a:moveTo>
                <a:lnTo>
                  <a:pt x="2376424" y="792162"/>
                </a:lnTo>
                <a:lnTo>
                  <a:pt x="2376424" y="0"/>
                </a:lnTo>
                <a:lnTo>
                  <a:pt x="0" y="0"/>
                </a:lnTo>
                <a:lnTo>
                  <a:pt x="0" y="79216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9037" y="4005262"/>
            <a:ext cx="2376805" cy="792480"/>
          </a:xfrm>
          <a:custGeom>
            <a:avLst/>
            <a:gdLst/>
            <a:ahLst/>
            <a:cxnLst/>
            <a:rect l="l" t="t" r="r" b="b"/>
            <a:pathLst>
              <a:path w="2376804" h="792479">
                <a:moveTo>
                  <a:pt x="0" y="792162"/>
                </a:moveTo>
                <a:lnTo>
                  <a:pt x="2376424" y="792162"/>
                </a:lnTo>
                <a:lnTo>
                  <a:pt x="2376424" y="0"/>
                </a:lnTo>
                <a:lnTo>
                  <a:pt x="0" y="0"/>
                </a:lnTo>
                <a:lnTo>
                  <a:pt x="0" y="79216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9037" y="4797488"/>
            <a:ext cx="2376805" cy="719455"/>
          </a:xfrm>
          <a:custGeom>
            <a:avLst/>
            <a:gdLst/>
            <a:ahLst/>
            <a:cxnLst/>
            <a:rect l="l" t="t" r="r" b="b"/>
            <a:pathLst>
              <a:path w="2376804" h="719454">
                <a:moveTo>
                  <a:pt x="0" y="719137"/>
                </a:moveTo>
                <a:lnTo>
                  <a:pt x="2376424" y="719137"/>
                </a:lnTo>
                <a:lnTo>
                  <a:pt x="2376424" y="0"/>
                </a:lnTo>
                <a:lnTo>
                  <a:pt x="0" y="0"/>
                </a:lnTo>
                <a:lnTo>
                  <a:pt x="0" y="71913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9037" y="5516562"/>
            <a:ext cx="2376805" cy="792480"/>
          </a:xfrm>
          <a:custGeom>
            <a:avLst/>
            <a:gdLst/>
            <a:ahLst/>
            <a:cxnLst/>
            <a:rect l="l" t="t" r="r" b="b"/>
            <a:pathLst>
              <a:path w="2376804" h="792479">
                <a:moveTo>
                  <a:pt x="0" y="792162"/>
                </a:moveTo>
                <a:lnTo>
                  <a:pt x="2376424" y="792162"/>
                </a:lnTo>
                <a:lnTo>
                  <a:pt x="2376424" y="0"/>
                </a:lnTo>
                <a:lnTo>
                  <a:pt x="0" y="0"/>
                </a:lnTo>
                <a:lnTo>
                  <a:pt x="0" y="79216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4133" y="2638805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80438" y="2637282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80438" y="2926842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11729" y="278206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25217" y="2565654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15645" y="0"/>
                </a:moveTo>
                <a:lnTo>
                  <a:pt x="0" y="0"/>
                </a:lnTo>
                <a:lnTo>
                  <a:pt x="0" y="431292"/>
                </a:lnTo>
                <a:lnTo>
                  <a:pt x="215645" y="431292"/>
                </a:lnTo>
                <a:lnTo>
                  <a:pt x="265100" y="425598"/>
                </a:lnTo>
                <a:lnTo>
                  <a:pt x="310493" y="409378"/>
                </a:lnTo>
                <a:lnTo>
                  <a:pt x="350533" y="383925"/>
                </a:lnTo>
                <a:lnTo>
                  <a:pt x="383925" y="350533"/>
                </a:lnTo>
                <a:lnTo>
                  <a:pt x="409378" y="310493"/>
                </a:lnTo>
                <a:lnTo>
                  <a:pt x="425598" y="265100"/>
                </a:lnTo>
                <a:lnTo>
                  <a:pt x="431292" y="215646"/>
                </a:lnTo>
                <a:lnTo>
                  <a:pt x="425598" y="166191"/>
                </a:lnTo>
                <a:lnTo>
                  <a:pt x="409378" y="120798"/>
                </a:lnTo>
                <a:lnTo>
                  <a:pt x="383925" y="80758"/>
                </a:lnTo>
                <a:lnTo>
                  <a:pt x="350533" y="47366"/>
                </a:lnTo>
                <a:lnTo>
                  <a:pt x="310493" y="21913"/>
                </a:lnTo>
                <a:lnTo>
                  <a:pt x="265100" y="5693"/>
                </a:lnTo>
                <a:lnTo>
                  <a:pt x="215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25217" y="2565654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0"/>
                </a:moveTo>
                <a:lnTo>
                  <a:pt x="215645" y="0"/>
                </a:lnTo>
                <a:lnTo>
                  <a:pt x="265100" y="5693"/>
                </a:lnTo>
                <a:lnTo>
                  <a:pt x="310493" y="21913"/>
                </a:lnTo>
                <a:lnTo>
                  <a:pt x="350533" y="47366"/>
                </a:lnTo>
                <a:lnTo>
                  <a:pt x="383925" y="80758"/>
                </a:lnTo>
                <a:lnTo>
                  <a:pt x="409378" y="120798"/>
                </a:lnTo>
                <a:lnTo>
                  <a:pt x="425598" y="166191"/>
                </a:lnTo>
                <a:lnTo>
                  <a:pt x="431292" y="215646"/>
                </a:lnTo>
                <a:lnTo>
                  <a:pt x="425598" y="265100"/>
                </a:lnTo>
                <a:lnTo>
                  <a:pt x="409378" y="310493"/>
                </a:lnTo>
                <a:lnTo>
                  <a:pt x="383925" y="350533"/>
                </a:lnTo>
                <a:lnTo>
                  <a:pt x="350533" y="383925"/>
                </a:lnTo>
                <a:lnTo>
                  <a:pt x="310493" y="409378"/>
                </a:lnTo>
                <a:lnTo>
                  <a:pt x="265100" y="425598"/>
                </a:lnTo>
                <a:lnTo>
                  <a:pt x="215645" y="431292"/>
                </a:lnTo>
                <a:lnTo>
                  <a:pt x="0" y="43129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34133" y="2926842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99766" y="2782061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80438" y="342976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80438" y="371932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11729" y="357454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23694" y="335813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69" h="431800">
                <a:moveTo>
                  <a:pt x="0" y="0"/>
                </a:move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6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23694" y="335813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69" h="431800">
                <a:moveTo>
                  <a:pt x="0" y="431291"/>
                </a:move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6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34133" y="3431285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34133" y="3719321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99766" y="3574541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80438" y="4293870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80438" y="4583429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11729" y="4438650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23694" y="4222241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69" h="433070">
                <a:moveTo>
                  <a:pt x="0" y="0"/>
                </a:move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7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5"/>
                </a:ln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6" y="216407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23694" y="4222241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69" h="433070">
                <a:moveTo>
                  <a:pt x="0" y="432815"/>
                </a:move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6" y="216407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7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5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52066" y="4222241"/>
            <a:ext cx="78740" cy="433070"/>
          </a:xfrm>
          <a:custGeom>
            <a:avLst/>
            <a:gdLst/>
            <a:ahLst/>
            <a:cxnLst/>
            <a:rect l="l" t="t" r="r" b="b"/>
            <a:pathLst>
              <a:path w="78739" h="433070">
                <a:moveTo>
                  <a:pt x="0" y="0"/>
                </a:moveTo>
                <a:lnTo>
                  <a:pt x="22042" y="40302"/>
                </a:lnTo>
                <a:lnTo>
                  <a:pt x="42132" y="78962"/>
                </a:lnTo>
                <a:lnTo>
                  <a:pt x="58935" y="114335"/>
                </a:lnTo>
                <a:lnTo>
                  <a:pt x="77231" y="168044"/>
                </a:lnTo>
                <a:lnTo>
                  <a:pt x="78295" y="185356"/>
                </a:lnTo>
                <a:lnTo>
                  <a:pt x="76977" y="200286"/>
                </a:lnTo>
                <a:lnTo>
                  <a:pt x="75945" y="216407"/>
                </a:lnTo>
                <a:lnTo>
                  <a:pt x="76977" y="232767"/>
                </a:lnTo>
                <a:lnTo>
                  <a:pt x="78295" y="248221"/>
                </a:lnTo>
                <a:lnTo>
                  <a:pt x="77231" y="266057"/>
                </a:lnTo>
                <a:lnTo>
                  <a:pt x="71119" y="289559"/>
                </a:lnTo>
                <a:lnTo>
                  <a:pt x="58935" y="319819"/>
                </a:lnTo>
                <a:lnTo>
                  <a:pt x="42132" y="354663"/>
                </a:lnTo>
                <a:lnTo>
                  <a:pt x="22042" y="392769"/>
                </a:lnTo>
                <a:lnTo>
                  <a:pt x="0" y="43281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34133" y="4295394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34133" y="4583429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60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99766" y="4437126"/>
            <a:ext cx="144780" cy="0"/>
          </a:xfrm>
          <a:custGeom>
            <a:avLst/>
            <a:gdLst/>
            <a:ahLst/>
            <a:cxnLst/>
            <a:rect l="l" t="t" r="r" b="b"/>
            <a:pathLst>
              <a:path w="144780">
                <a:moveTo>
                  <a:pt x="0" y="0"/>
                </a:moveTo>
                <a:lnTo>
                  <a:pt x="1445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052066" y="5157978"/>
            <a:ext cx="502920" cy="0"/>
          </a:xfrm>
          <a:custGeom>
            <a:avLst/>
            <a:gdLst/>
            <a:ahLst/>
            <a:cxnLst/>
            <a:rect l="l" t="t" r="r" b="b"/>
            <a:pathLst>
              <a:path w="502919">
                <a:moveTo>
                  <a:pt x="50291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92679" y="5099303"/>
            <a:ext cx="109727" cy="11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123694" y="5014721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19" h="287020">
                <a:moveTo>
                  <a:pt x="0" y="0"/>
                </a:moveTo>
                <a:lnTo>
                  <a:pt x="0" y="286511"/>
                </a:lnTo>
                <a:lnTo>
                  <a:pt x="286512" y="1432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123694" y="5014721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19" h="287020">
                <a:moveTo>
                  <a:pt x="0" y="0"/>
                </a:moveTo>
                <a:lnTo>
                  <a:pt x="286512" y="143255"/>
                </a:lnTo>
                <a:lnTo>
                  <a:pt x="0" y="28651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34133" y="5157978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5">
                <a:moveTo>
                  <a:pt x="0" y="0"/>
                </a:moveTo>
                <a:lnTo>
                  <a:pt x="21755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554985" y="5157978"/>
            <a:ext cx="288925" cy="0"/>
          </a:xfrm>
          <a:custGeom>
            <a:avLst/>
            <a:gdLst/>
            <a:ahLst/>
            <a:cxnLst/>
            <a:rect l="l" t="t" r="r" b="b"/>
            <a:pathLst>
              <a:path w="288925">
                <a:moveTo>
                  <a:pt x="0" y="0"/>
                </a:moveTo>
                <a:lnTo>
                  <a:pt x="2889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690877" y="5662421"/>
            <a:ext cx="1009650" cy="214629"/>
          </a:xfrm>
          <a:custGeom>
            <a:avLst/>
            <a:gdLst/>
            <a:ahLst/>
            <a:cxnLst/>
            <a:rect l="l" t="t" r="r" b="b"/>
            <a:pathLst>
              <a:path w="1009650" h="214629">
                <a:moveTo>
                  <a:pt x="0" y="214312"/>
                </a:moveTo>
                <a:lnTo>
                  <a:pt x="504825" y="214312"/>
                </a:lnTo>
                <a:lnTo>
                  <a:pt x="504825" y="0"/>
                </a:lnTo>
                <a:lnTo>
                  <a:pt x="10096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635453"/>
              </p:ext>
            </p:extLst>
          </p:nvPr>
        </p:nvGraphicFramePr>
        <p:xfrm>
          <a:off x="1182687" y="901700"/>
          <a:ext cx="6695440" cy="5400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9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7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71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22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Primary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outputs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                 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99">
                <a:tc>
                  <a:txBody>
                    <a:bodyPr/>
                    <a:lstStyle/>
                    <a:p>
                      <a:pPr marL="354965" marR="494030">
                        <a:lnSpc>
                          <a:spcPts val="2260"/>
                        </a:lnSpc>
                        <a:spcBef>
                          <a:spcPts val="650"/>
                        </a:spcBef>
                      </a:pPr>
                      <a:r>
                        <a:rPr sz="2000" i="1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1  </a:t>
                      </a:r>
                      <a:r>
                        <a:rPr sz="2000" i="1" dirty="0"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latin typeface="Helvetica"/>
                          <a:cs typeface="Helvetica"/>
                        </a:rPr>
                        <a:t>2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9900" algn="r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0129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9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CO(y)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33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226">
                <a:tc>
                  <a:txBody>
                    <a:bodyPr/>
                    <a:lstStyle/>
                    <a:p>
                      <a:pPr marL="354965" marR="494030">
                        <a:lnSpc>
                          <a:spcPts val="2260"/>
                        </a:lnSpc>
                        <a:spcBef>
                          <a:spcPts val="655"/>
                        </a:spcBef>
                      </a:pPr>
                      <a:r>
                        <a:rPr sz="2000" i="1" spc="5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1  </a:t>
                      </a:r>
                      <a:r>
                        <a:rPr sz="2000" i="1" spc="5" dirty="0"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latin typeface="Helvetica"/>
                          <a:cs typeface="Helvetica"/>
                        </a:rPr>
                        <a:t>2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9900" algn="r">
                        <a:lnSpc>
                          <a:spcPct val="100000"/>
                        </a:lnSpc>
                        <a:spcBef>
                          <a:spcPts val="1585"/>
                        </a:spcBef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0129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99">
                <a:tc>
                  <a:txBody>
                    <a:bodyPr/>
                    <a:lstStyle/>
                    <a:p>
                      <a:pPr marL="354965" marR="494030">
                        <a:lnSpc>
                          <a:spcPts val="2280"/>
                        </a:lnSpc>
                        <a:spcBef>
                          <a:spcPts val="1200"/>
                        </a:spcBef>
                      </a:pPr>
                      <a:r>
                        <a:rPr sz="2000" i="1" spc="5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1  </a:t>
                      </a:r>
                      <a:r>
                        <a:rPr sz="2000" i="1" spc="5" dirty="0"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baseline="-21367" dirty="0">
                          <a:latin typeface="Helvetica"/>
                          <a:cs typeface="Helvetica"/>
                        </a:rPr>
                        <a:t>2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R="47180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54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min[CC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,CC</a:t>
                      </a:r>
                      <a:r>
                        <a:rPr sz="1800" b="1" spc="-7" baseline="2546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x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)]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9201"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sz="2000" i="1" spc="10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spc="15" baseline="-21367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2019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1805" algn="r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sz="2000" i="1" dirty="0">
                          <a:latin typeface="Helvetica"/>
                          <a:cs typeface="Helvetica"/>
                        </a:rPr>
                        <a:t>y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0193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71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099"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000" i="1" spc="10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x</a:t>
                      </a:r>
                      <a:r>
                        <a:rPr sz="1950" spc="15" baseline="-21367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ctr">
                        <a:lnSpc>
                          <a:spcPts val="2290"/>
                        </a:lnSpc>
                      </a:pPr>
                      <a:r>
                        <a:rPr sz="2000" i="1" spc="10" dirty="0">
                          <a:latin typeface="Helvetica"/>
                          <a:cs typeface="Helvetica"/>
                        </a:rPr>
                        <a:t>y</a:t>
                      </a:r>
                      <a:r>
                        <a:rPr sz="1950" spc="15" baseline="-21367" dirty="0">
                          <a:latin typeface="Helvetica"/>
                          <a:cs typeface="Helvetica"/>
                        </a:rPr>
                        <a:t>1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  <a:p>
                      <a:pPr marR="6350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2000" i="1" spc="10" dirty="0">
                          <a:latin typeface="Helvetica"/>
                          <a:cs typeface="Helvetica"/>
                        </a:rPr>
                        <a:t>y</a:t>
                      </a:r>
                      <a:r>
                        <a:rPr sz="1950" spc="15" baseline="-21367" dirty="0">
                          <a:latin typeface="Helvetica"/>
                          <a:cs typeface="Helvetica"/>
                        </a:rPr>
                        <a:t>2</a:t>
                      </a:r>
                      <a:endParaRPr sz="1950" baseline="-21367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min[CO(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),CO(</a:t>
                      </a: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y</a:t>
                      </a:r>
                      <a:r>
                        <a:rPr sz="1800" b="1" spc="-7" baseline="-2083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)]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2540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object 41"/>
          <p:cNvSpPr/>
          <p:nvPr/>
        </p:nvSpPr>
        <p:spPr>
          <a:xfrm>
            <a:off x="1690877" y="5875782"/>
            <a:ext cx="1009650" cy="217804"/>
          </a:xfrm>
          <a:custGeom>
            <a:avLst/>
            <a:gdLst/>
            <a:ahLst/>
            <a:cxnLst/>
            <a:rect l="l" t="t" r="r" b="b"/>
            <a:pathLst>
              <a:path w="1009650" h="217804">
                <a:moveTo>
                  <a:pt x="0" y="0"/>
                </a:moveTo>
                <a:lnTo>
                  <a:pt x="504825" y="0"/>
                </a:lnTo>
                <a:lnTo>
                  <a:pt x="504825" y="217487"/>
                </a:lnTo>
                <a:lnTo>
                  <a:pt x="1009650" y="21748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5575" y="4495445"/>
            <a:ext cx="72477" cy="78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67116" y="4364588"/>
            <a:ext cx="302260" cy="340360"/>
          </a:xfrm>
          <a:custGeom>
            <a:avLst/>
            <a:gdLst/>
            <a:ahLst/>
            <a:cxnLst/>
            <a:rect l="l" t="t" r="r" b="b"/>
            <a:pathLst>
              <a:path w="302260" h="340360">
                <a:moveTo>
                  <a:pt x="0" y="0"/>
                </a:moveTo>
                <a:lnTo>
                  <a:pt x="302045" y="169932"/>
                </a:lnTo>
                <a:lnTo>
                  <a:pt x="0" y="339841"/>
                </a:lnTo>
                <a:lnTo>
                  <a:pt x="0" y="0"/>
                </a:lnTo>
                <a:close/>
              </a:path>
            </a:pathLst>
          </a:custGeom>
          <a:ln w="26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55575" y="5548970"/>
            <a:ext cx="72477" cy="781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67116" y="5418113"/>
            <a:ext cx="302260" cy="340360"/>
          </a:xfrm>
          <a:custGeom>
            <a:avLst/>
            <a:gdLst/>
            <a:ahLst/>
            <a:cxnLst/>
            <a:rect l="l" t="t" r="r" b="b"/>
            <a:pathLst>
              <a:path w="302260" h="340360">
                <a:moveTo>
                  <a:pt x="0" y="0"/>
                </a:moveTo>
                <a:lnTo>
                  <a:pt x="302045" y="169923"/>
                </a:lnTo>
                <a:lnTo>
                  <a:pt x="0" y="339846"/>
                </a:lnTo>
                <a:lnTo>
                  <a:pt x="0" y="0"/>
                </a:lnTo>
                <a:close/>
              </a:path>
            </a:pathLst>
          </a:custGeom>
          <a:ln w="26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88216" y="3413066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0" y="0"/>
                </a:moveTo>
                <a:lnTo>
                  <a:pt x="36248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88216" y="361692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0" y="0"/>
                </a:moveTo>
                <a:lnTo>
                  <a:pt x="36248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50697" y="3514973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4">
                <a:moveTo>
                  <a:pt x="362267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15009" y="3311159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141284" y="0"/>
                </a:moveTo>
                <a:lnTo>
                  <a:pt x="0" y="0"/>
                </a:lnTo>
                <a:lnTo>
                  <a:pt x="25950" y="43741"/>
                </a:lnTo>
                <a:lnTo>
                  <a:pt x="45413" y="88646"/>
                </a:lnTo>
                <a:lnTo>
                  <a:pt x="58388" y="134383"/>
                </a:lnTo>
                <a:lnTo>
                  <a:pt x="64876" y="180622"/>
                </a:lnTo>
                <a:lnTo>
                  <a:pt x="64876" y="227029"/>
                </a:lnTo>
                <a:lnTo>
                  <a:pt x="58388" y="273275"/>
                </a:lnTo>
                <a:lnTo>
                  <a:pt x="45413" y="319027"/>
                </a:lnTo>
                <a:lnTo>
                  <a:pt x="25950" y="363953"/>
                </a:lnTo>
                <a:lnTo>
                  <a:pt x="0" y="407723"/>
                </a:lnTo>
                <a:lnTo>
                  <a:pt x="141284" y="407723"/>
                </a:lnTo>
                <a:lnTo>
                  <a:pt x="196529" y="395136"/>
                </a:lnTo>
                <a:lnTo>
                  <a:pt x="248655" y="378314"/>
                </a:lnTo>
                <a:lnTo>
                  <a:pt x="297220" y="357530"/>
                </a:lnTo>
                <a:lnTo>
                  <a:pt x="341783" y="333061"/>
                </a:lnTo>
                <a:lnTo>
                  <a:pt x="381900" y="305182"/>
                </a:lnTo>
                <a:lnTo>
                  <a:pt x="417129" y="274168"/>
                </a:lnTo>
                <a:lnTo>
                  <a:pt x="447030" y="240294"/>
                </a:lnTo>
                <a:lnTo>
                  <a:pt x="471160" y="203837"/>
                </a:lnTo>
                <a:lnTo>
                  <a:pt x="447292" y="167190"/>
                </a:lnTo>
                <a:lnTo>
                  <a:pt x="417549" y="133167"/>
                </a:lnTo>
                <a:lnTo>
                  <a:pt x="382387" y="102050"/>
                </a:lnTo>
                <a:lnTo>
                  <a:pt x="342262" y="74125"/>
                </a:lnTo>
                <a:lnTo>
                  <a:pt x="297632" y="49673"/>
                </a:lnTo>
                <a:lnTo>
                  <a:pt x="248955" y="28980"/>
                </a:lnTo>
                <a:lnTo>
                  <a:pt x="196686" y="12327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15009" y="3311159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471160" y="203837"/>
                </a:moveTo>
                <a:lnTo>
                  <a:pt x="447030" y="240294"/>
                </a:lnTo>
                <a:lnTo>
                  <a:pt x="417129" y="274168"/>
                </a:lnTo>
                <a:lnTo>
                  <a:pt x="381900" y="305182"/>
                </a:lnTo>
                <a:lnTo>
                  <a:pt x="341783" y="333061"/>
                </a:lnTo>
                <a:lnTo>
                  <a:pt x="297220" y="357530"/>
                </a:lnTo>
                <a:lnTo>
                  <a:pt x="248655" y="378314"/>
                </a:lnTo>
                <a:lnTo>
                  <a:pt x="196529" y="395136"/>
                </a:lnTo>
                <a:lnTo>
                  <a:pt x="141284" y="407723"/>
                </a:lnTo>
                <a:lnTo>
                  <a:pt x="0" y="407723"/>
                </a:lnTo>
                <a:lnTo>
                  <a:pt x="25950" y="363953"/>
                </a:lnTo>
                <a:lnTo>
                  <a:pt x="45413" y="319027"/>
                </a:lnTo>
                <a:lnTo>
                  <a:pt x="58388" y="273275"/>
                </a:lnTo>
                <a:lnTo>
                  <a:pt x="64876" y="227029"/>
                </a:lnTo>
                <a:lnTo>
                  <a:pt x="64876" y="180622"/>
                </a:lnTo>
                <a:lnTo>
                  <a:pt x="58388" y="134383"/>
                </a:lnTo>
                <a:lnTo>
                  <a:pt x="45413" y="88646"/>
                </a:lnTo>
                <a:lnTo>
                  <a:pt x="25950" y="43741"/>
                </a:lnTo>
                <a:lnTo>
                  <a:pt x="0" y="0"/>
                </a:lnTo>
                <a:lnTo>
                  <a:pt x="141284" y="0"/>
                </a:lnTo>
                <a:lnTo>
                  <a:pt x="196686" y="12327"/>
                </a:lnTo>
                <a:lnTo>
                  <a:pt x="248955" y="28980"/>
                </a:lnTo>
                <a:lnTo>
                  <a:pt x="297632" y="49673"/>
                </a:lnTo>
                <a:lnTo>
                  <a:pt x="342262" y="74125"/>
                </a:lnTo>
                <a:lnTo>
                  <a:pt x="382387" y="102050"/>
                </a:lnTo>
                <a:lnTo>
                  <a:pt x="417549" y="133167"/>
                </a:lnTo>
                <a:lnTo>
                  <a:pt x="447292" y="167190"/>
                </a:lnTo>
                <a:lnTo>
                  <a:pt x="471160" y="203837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27115" y="2563283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27115" y="2665430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27115" y="2767337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89382" y="2665430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36248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53909" y="2461376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5">
                <a:moveTo>
                  <a:pt x="141284" y="0"/>
                </a:moveTo>
                <a:lnTo>
                  <a:pt x="0" y="0"/>
                </a:lnTo>
                <a:lnTo>
                  <a:pt x="25887" y="43771"/>
                </a:lnTo>
                <a:lnTo>
                  <a:pt x="45303" y="88703"/>
                </a:lnTo>
                <a:lnTo>
                  <a:pt x="58246" y="134463"/>
                </a:lnTo>
                <a:lnTo>
                  <a:pt x="64718" y="180721"/>
                </a:lnTo>
                <a:lnTo>
                  <a:pt x="64718" y="227145"/>
                </a:lnTo>
                <a:lnTo>
                  <a:pt x="58246" y="273403"/>
                </a:lnTo>
                <a:lnTo>
                  <a:pt x="45303" y="319163"/>
                </a:lnTo>
                <a:lnTo>
                  <a:pt x="25887" y="364095"/>
                </a:lnTo>
                <a:lnTo>
                  <a:pt x="0" y="407867"/>
                </a:lnTo>
                <a:lnTo>
                  <a:pt x="141284" y="407867"/>
                </a:lnTo>
                <a:lnTo>
                  <a:pt x="196468" y="395313"/>
                </a:lnTo>
                <a:lnTo>
                  <a:pt x="248565" y="378516"/>
                </a:lnTo>
                <a:lnTo>
                  <a:pt x="297127" y="357751"/>
                </a:lnTo>
                <a:lnTo>
                  <a:pt x="341703" y="333295"/>
                </a:lnTo>
                <a:lnTo>
                  <a:pt x="381843" y="305421"/>
                </a:lnTo>
                <a:lnTo>
                  <a:pt x="417099" y="274406"/>
                </a:lnTo>
                <a:lnTo>
                  <a:pt x="447021" y="240525"/>
                </a:lnTo>
                <a:lnTo>
                  <a:pt x="471160" y="204053"/>
                </a:lnTo>
                <a:lnTo>
                  <a:pt x="447292" y="167413"/>
                </a:lnTo>
                <a:lnTo>
                  <a:pt x="417549" y="133393"/>
                </a:lnTo>
                <a:lnTo>
                  <a:pt x="382387" y="102272"/>
                </a:lnTo>
                <a:lnTo>
                  <a:pt x="342262" y="74332"/>
                </a:lnTo>
                <a:lnTo>
                  <a:pt x="297632" y="49853"/>
                </a:lnTo>
                <a:lnTo>
                  <a:pt x="248955" y="29118"/>
                </a:lnTo>
                <a:lnTo>
                  <a:pt x="196686" y="12406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53908" y="2461376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5">
                <a:moveTo>
                  <a:pt x="471160" y="204053"/>
                </a:moveTo>
                <a:lnTo>
                  <a:pt x="447021" y="240525"/>
                </a:lnTo>
                <a:lnTo>
                  <a:pt x="417099" y="274406"/>
                </a:lnTo>
                <a:lnTo>
                  <a:pt x="381843" y="305421"/>
                </a:lnTo>
                <a:lnTo>
                  <a:pt x="341703" y="333295"/>
                </a:lnTo>
                <a:lnTo>
                  <a:pt x="297127" y="357751"/>
                </a:lnTo>
                <a:lnTo>
                  <a:pt x="248565" y="378516"/>
                </a:lnTo>
                <a:lnTo>
                  <a:pt x="196468" y="395313"/>
                </a:lnTo>
                <a:lnTo>
                  <a:pt x="141284" y="407867"/>
                </a:lnTo>
                <a:lnTo>
                  <a:pt x="0" y="407867"/>
                </a:lnTo>
                <a:lnTo>
                  <a:pt x="25887" y="364095"/>
                </a:lnTo>
                <a:lnTo>
                  <a:pt x="45303" y="319163"/>
                </a:lnTo>
                <a:lnTo>
                  <a:pt x="58246" y="273403"/>
                </a:lnTo>
                <a:lnTo>
                  <a:pt x="64718" y="227145"/>
                </a:lnTo>
                <a:lnTo>
                  <a:pt x="64718" y="180721"/>
                </a:lnTo>
                <a:lnTo>
                  <a:pt x="58246" y="134463"/>
                </a:lnTo>
                <a:lnTo>
                  <a:pt x="45303" y="88703"/>
                </a:lnTo>
                <a:lnTo>
                  <a:pt x="25887" y="43771"/>
                </a:lnTo>
                <a:lnTo>
                  <a:pt x="0" y="0"/>
                </a:lnTo>
                <a:lnTo>
                  <a:pt x="141284" y="0"/>
                </a:lnTo>
                <a:lnTo>
                  <a:pt x="196686" y="12406"/>
                </a:lnTo>
                <a:lnTo>
                  <a:pt x="248955" y="29118"/>
                </a:lnTo>
                <a:lnTo>
                  <a:pt x="297632" y="49853"/>
                </a:lnTo>
                <a:lnTo>
                  <a:pt x="342262" y="74332"/>
                </a:lnTo>
                <a:lnTo>
                  <a:pt x="382387" y="102272"/>
                </a:lnTo>
                <a:lnTo>
                  <a:pt x="417549" y="133393"/>
                </a:lnTo>
                <a:lnTo>
                  <a:pt x="447292" y="167413"/>
                </a:lnTo>
                <a:lnTo>
                  <a:pt x="471160" y="204053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09991" y="2621152"/>
            <a:ext cx="81512" cy="883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27115" y="4296610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27115" y="4500520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89382" y="4398565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36248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53909" y="4194655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141284" y="0"/>
                </a:moveTo>
                <a:lnTo>
                  <a:pt x="0" y="0"/>
                </a:lnTo>
                <a:lnTo>
                  <a:pt x="25887" y="43769"/>
                </a:lnTo>
                <a:lnTo>
                  <a:pt x="45303" y="88697"/>
                </a:lnTo>
                <a:lnTo>
                  <a:pt x="58246" y="134451"/>
                </a:lnTo>
                <a:lnTo>
                  <a:pt x="64718" y="180701"/>
                </a:lnTo>
                <a:lnTo>
                  <a:pt x="64718" y="227117"/>
                </a:lnTo>
                <a:lnTo>
                  <a:pt x="58246" y="273367"/>
                </a:lnTo>
                <a:lnTo>
                  <a:pt x="45303" y="319122"/>
                </a:lnTo>
                <a:lnTo>
                  <a:pt x="25887" y="364049"/>
                </a:lnTo>
                <a:lnTo>
                  <a:pt x="0" y="407819"/>
                </a:lnTo>
                <a:lnTo>
                  <a:pt x="141284" y="407819"/>
                </a:lnTo>
                <a:lnTo>
                  <a:pt x="196468" y="395232"/>
                </a:lnTo>
                <a:lnTo>
                  <a:pt x="248565" y="378410"/>
                </a:lnTo>
                <a:lnTo>
                  <a:pt x="297127" y="357626"/>
                </a:lnTo>
                <a:lnTo>
                  <a:pt x="341703" y="333157"/>
                </a:lnTo>
                <a:lnTo>
                  <a:pt x="381843" y="305278"/>
                </a:lnTo>
                <a:lnTo>
                  <a:pt x="417099" y="274264"/>
                </a:lnTo>
                <a:lnTo>
                  <a:pt x="447021" y="240390"/>
                </a:lnTo>
                <a:lnTo>
                  <a:pt x="471160" y="203933"/>
                </a:lnTo>
                <a:lnTo>
                  <a:pt x="447292" y="167315"/>
                </a:lnTo>
                <a:lnTo>
                  <a:pt x="417549" y="133308"/>
                </a:lnTo>
                <a:lnTo>
                  <a:pt x="382387" y="102196"/>
                </a:lnTo>
                <a:lnTo>
                  <a:pt x="342262" y="74263"/>
                </a:lnTo>
                <a:lnTo>
                  <a:pt x="297632" y="49792"/>
                </a:lnTo>
                <a:lnTo>
                  <a:pt x="248955" y="29069"/>
                </a:lnTo>
                <a:lnTo>
                  <a:pt x="196686" y="12377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53909" y="4194655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471160" y="203933"/>
                </a:moveTo>
                <a:lnTo>
                  <a:pt x="447021" y="240390"/>
                </a:lnTo>
                <a:lnTo>
                  <a:pt x="417099" y="274264"/>
                </a:lnTo>
                <a:lnTo>
                  <a:pt x="381843" y="305278"/>
                </a:lnTo>
                <a:lnTo>
                  <a:pt x="341703" y="333157"/>
                </a:lnTo>
                <a:lnTo>
                  <a:pt x="297127" y="357626"/>
                </a:lnTo>
                <a:lnTo>
                  <a:pt x="248565" y="378409"/>
                </a:lnTo>
                <a:lnTo>
                  <a:pt x="196468" y="395232"/>
                </a:lnTo>
                <a:lnTo>
                  <a:pt x="141284" y="407819"/>
                </a:lnTo>
                <a:lnTo>
                  <a:pt x="0" y="407819"/>
                </a:lnTo>
                <a:lnTo>
                  <a:pt x="25887" y="364049"/>
                </a:lnTo>
                <a:lnTo>
                  <a:pt x="45303" y="319122"/>
                </a:lnTo>
                <a:lnTo>
                  <a:pt x="58246" y="273367"/>
                </a:lnTo>
                <a:lnTo>
                  <a:pt x="64718" y="227117"/>
                </a:lnTo>
                <a:lnTo>
                  <a:pt x="64718" y="180701"/>
                </a:lnTo>
                <a:lnTo>
                  <a:pt x="58246" y="134451"/>
                </a:lnTo>
                <a:lnTo>
                  <a:pt x="45303" y="88697"/>
                </a:lnTo>
                <a:lnTo>
                  <a:pt x="25887" y="43769"/>
                </a:lnTo>
                <a:lnTo>
                  <a:pt x="0" y="0"/>
                </a:lnTo>
                <a:lnTo>
                  <a:pt x="141284" y="0"/>
                </a:lnTo>
                <a:lnTo>
                  <a:pt x="196686" y="12377"/>
                </a:lnTo>
                <a:lnTo>
                  <a:pt x="248955" y="29069"/>
                </a:lnTo>
                <a:lnTo>
                  <a:pt x="297632" y="49792"/>
                </a:lnTo>
                <a:lnTo>
                  <a:pt x="342262" y="74263"/>
                </a:lnTo>
                <a:lnTo>
                  <a:pt x="382387" y="102196"/>
                </a:lnTo>
                <a:lnTo>
                  <a:pt x="417549" y="133308"/>
                </a:lnTo>
                <a:lnTo>
                  <a:pt x="447292" y="167315"/>
                </a:lnTo>
                <a:lnTo>
                  <a:pt x="471160" y="203933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53909" y="4194655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89813" y="0"/>
                </a:moveTo>
                <a:lnTo>
                  <a:pt x="0" y="0"/>
                </a:lnTo>
                <a:lnTo>
                  <a:pt x="0" y="407819"/>
                </a:lnTo>
                <a:lnTo>
                  <a:pt x="289813" y="407819"/>
                </a:lnTo>
                <a:lnTo>
                  <a:pt x="331395" y="402434"/>
                </a:lnTo>
                <a:lnTo>
                  <a:pt x="369565" y="387095"/>
                </a:lnTo>
                <a:lnTo>
                  <a:pt x="403237" y="363025"/>
                </a:lnTo>
                <a:lnTo>
                  <a:pt x="431320" y="331448"/>
                </a:lnTo>
                <a:lnTo>
                  <a:pt x="452728" y="293587"/>
                </a:lnTo>
                <a:lnTo>
                  <a:pt x="466370" y="250666"/>
                </a:lnTo>
                <a:lnTo>
                  <a:pt x="471160" y="203909"/>
                </a:lnTo>
                <a:lnTo>
                  <a:pt x="466370" y="157159"/>
                </a:lnTo>
                <a:lnTo>
                  <a:pt x="452728" y="114241"/>
                </a:lnTo>
                <a:lnTo>
                  <a:pt x="431320" y="76380"/>
                </a:lnTo>
                <a:lnTo>
                  <a:pt x="403237" y="44801"/>
                </a:lnTo>
                <a:lnTo>
                  <a:pt x="369565" y="20728"/>
                </a:lnTo>
                <a:lnTo>
                  <a:pt x="331395" y="5386"/>
                </a:lnTo>
                <a:lnTo>
                  <a:pt x="2898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53909" y="4194655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89813" y="407819"/>
                </a:moveTo>
                <a:lnTo>
                  <a:pt x="0" y="407819"/>
                </a:lnTo>
                <a:lnTo>
                  <a:pt x="0" y="0"/>
                </a:lnTo>
                <a:lnTo>
                  <a:pt x="289813" y="0"/>
                </a:lnTo>
                <a:lnTo>
                  <a:pt x="331395" y="5386"/>
                </a:lnTo>
                <a:lnTo>
                  <a:pt x="369565" y="20728"/>
                </a:lnTo>
                <a:lnTo>
                  <a:pt x="403237" y="44801"/>
                </a:lnTo>
                <a:lnTo>
                  <a:pt x="431320" y="76380"/>
                </a:lnTo>
                <a:lnTo>
                  <a:pt x="452728" y="114241"/>
                </a:lnTo>
                <a:lnTo>
                  <a:pt x="466370" y="157159"/>
                </a:lnTo>
                <a:lnTo>
                  <a:pt x="471160" y="203909"/>
                </a:lnTo>
                <a:lnTo>
                  <a:pt x="466370" y="250666"/>
                </a:lnTo>
                <a:lnTo>
                  <a:pt x="452728" y="293587"/>
                </a:lnTo>
                <a:lnTo>
                  <a:pt x="431320" y="331448"/>
                </a:lnTo>
                <a:lnTo>
                  <a:pt x="403237" y="363025"/>
                </a:lnTo>
                <a:lnTo>
                  <a:pt x="369565" y="387095"/>
                </a:lnTo>
                <a:lnTo>
                  <a:pt x="331395" y="402434"/>
                </a:lnTo>
                <a:lnTo>
                  <a:pt x="289813" y="407819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26321" y="5010293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26321" y="5214203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0" y="0"/>
                </a:moveTo>
                <a:lnTo>
                  <a:pt x="362267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88588" y="511224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>
                <a:moveTo>
                  <a:pt x="36248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53114" y="4908339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141284" y="0"/>
                </a:moveTo>
                <a:lnTo>
                  <a:pt x="0" y="0"/>
                </a:lnTo>
                <a:lnTo>
                  <a:pt x="25950" y="43769"/>
                </a:lnTo>
                <a:lnTo>
                  <a:pt x="45413" y="88697"/>
                </a:lnTo>
                <a:lnTo>
                  <a:pt x="58388" y="134451"/>
                </a:lnTo>
                <a:lnTo>
                  <a:pt x="64876" y="180701"/>
                </a:lnTo>
                <a:lnTo>
                  <a:pt x="64876" y="227117"/>
                </a:lnTo>
                <a:lnTo>
                  <a:pt x="58388" y="273367"/>
                </a:lnTo>
                <a:lnTo>
                  <a:pt x="45413" y="319122"/>
                </a:lnTo>
                <a:lnTo>
                  <a:pt x="25950" y="364049"/>
                </a:lnTo>
                <a:lnTo>
                  <a:pt x="0" y="407819"/>
                </a:lnTo>
                <a:lnTo>
                  <a:pt x="141284" y="407819"/>
                </a:lnTo>
                <a:lnTo>
                  <a:pt x="196529" y="395232"/>
                </a:lnTo>
                <a:lnTo>
                  <a:pt x="248655" y="378410"/>
                </a:lnTo>
                <a:lnTo>
                  <a:pt x="297220" y="357626"/>
                </a:lnTo>
                <a:lnTo>
                  <a:pt x="341783" y="333157"/>
                </a:lnTo>
                <a:lnTo>
                  <a:pt x="381900" y="305278"/>
                </a:lnTo>
                <a:lnTo>
                  <a:pt x="417129" y="274264"/>
                </a:lnTo>
                <a:lnTo>
                  <a:pt x="447030" y="240390"/>
                </a:lnTo>
                <a:lnTo>
                  <a:pt x="471160" y="203933"/>
                </a:lnTo>
                <a:lnTo>
                  <a:pt x="447292" y="167315"/>
                </a:lnTo>
                <a:lnTo>
                  <a:pt x="417549" y="133308"/>
                </a:lnTo>
                <a:lnTo>
                  <a:pt x="382387" y="102196"/>
                </a:lnTo>
                <a:lnTo>
                  <a:pt x="342262" y="74263"/>
                </a:lnTo>
                <a:lnTo>
                  <a:pt x="297632" y="49792"/>
                </a:lnTo>
                <a:lnTo>
                  <a:pt x="248955" y="29069"/>
                </a:lnTo>
                <a:lnTo>
                  <a:pt x="196686" y="12377"/>
                </a:lnTo>
                <a:lnTo>
                  <a:pt x="141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953114" y="4908339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471160" y="203933"/>
                </a:moveTo>
                <a:lnTo>
                  <a:pt x="447030" y="240390"/>
                </a:lnTo>
                <a:lnTo>
                  <a:pt x="417129" y="274264"/>
                </a:lnTo>
                <a:lnTo>
                  <a:pt x="381900" y="305278"/>
                </a:lnTo>
                <a:lnTo>
                  <a:pt x="341783" y="333157"/>
                </a:lnTo>
                <a:lnTo>
                  <a:pt x="297220" y="357626"/>
                </a:lnTo>
                <a:lnTo>
                  <a:pt x="248655" y="378409"/>
                </a:lnTo>
                <a:lnTo>
                  <a:pt x="196529" y="395232"/>
                </a:lnTo>
                <a:lnTo>
                  <a:pt x="141284" y="407819"/>
                </a:lnTo>
                <a:lnTo>
                  <a:pt x="0" y="407819"/>
                </a:lnTo>
                <a:lnTo>
                  <a:pt x="25950" y="364049"/>
                </a:lnTo>
                <a:lnTo>
                  <a:pt x="45413" y="319122"/>
                </a:lnTo>
                <a:lnTo>
                  <a:pt x="58388" y="273367"/>
                </a:lnTo>
                <a:lnTo>
                  <a:pt x="64876" y="227117"/>
                </a:lnTo>
                <a:lnTo>
                  <a:pt x="64876" y="180701"/>
                </a:lnTo>
                <a:lnTo>
                  <a:pt x="58388" y="134451"/>
                </a:lnTo>
                <a:lnTo>
                  <a:pt x="45413" y="88697"/>
                </a:lnTo>
                <a:lnTo>
                  <a:pt x="25950" y="43769"/>
                </a:lnTo>
                <a:lnTo>
                  <a:pt x="0" y="0"/>
                </a:lnTo>
                <a:lnTo>
                  <a:pt x="141284" y="0"/>
                </a:lnTo>
                <a:lnTo>
                  <a:pt x="196686" y="12377"/>
                </a:lnTo>
                <a:lnTo>
                  <a:pt x="248955" y="29069"/>
                </a:lnTo>
                <a:lnTo>
                  <a:pt x="297632" y="49792"/>
                </a:lnTo>
                <a:lnTo>
                  <a:pt x="342262" y="74263"/>
                </a:lnTo>
                <a:lnTo>
                  <a:pt x="382387" y="102196"/>
                </a:lnTo>
                <a:lnTo>
                  <a:pt x="417549" y="133308"/>
                </a:lnTo>
                <a:lnTo>
                  <a:pt x="447292" y="167315"/>
                </a:lnTo>
                <a:lnTo>
                  <a:pt x="471160" y="203933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53114" y="4908339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90026" y="0"/>
                </a:moveTo>
                <a:lnTo>
                  <a:pt x="0" y="0"/>
                </a:lnTo>
                <a:lnTo>
                  <a:pt x="0" y="407819"/>
                </a:lnTo>
                <a:lnTo>
                  <a:pt x="290026" y="407819"/>
                </a:lnTo>
                <a:lnTo>
                  <a:pt x="331529" y="402434"/>
                </a:lnTo>
                <a:lnTo>
                  <a:pt x="369643" y="387095"/>
                </a:lnTo>
                <a:lnTo>
                  <a:pt x="403277" y="363025"/>
                </a:lnTo>
                <a:lnTo>
                  <a:pt x="431337" y="331448"/>
                </a:lnTo>
                <a:lnTo>
                  <a:pt x="452733" y="293587"/>
                </a:lnTo>
                <a:lnTo>
                  <a:pt x="466371" y="250666"/>
                </a:lnTo>
                <a:lnTo>
                  <a:pt x="471160" y="203909"/>
                </a:lnTo>
                <a:lnTo>
                  <a:pt x="466371" y="157152"/>
                </a:lnTo>
                <a:lnTo>
                  <a:pt x="452733" y="114231"/>
                </a:lnTo>
                <a:lnTo>
                  <a:pt x="431337" y="76370"/>
                </a:lnTo>
                <a:lnTo>
                  <a:pt x="403277" y="44793"/>
                </a:lnTo>
                <a:lnTo>
                  <a:pt x="369643" y="20724"/>
                </a:lnTo>
                <a:lnTo>
                  <a:pt x="331529" y="5384"/>
                </a:lnTo>
                <a:lnTo>
                  <a:pt x="2900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53114" y="4908339"/>
            <a:ext cx="471170" cy="408305"/>
          </a:xfrm>
          <a:custGeom>
            <a:avLst/>
            <a:gdLst/>
            <a:ahLst/>
            <a:cxnLst/>
            <a:rect l="l" t="t" r="r" b="b"/>
            <a:pathLst>
              <a:path w="471170" h="408304">
                <a:moveTo>
                  <a:pt x="290026" y="407819"/>
                </a:moveTo>
                <a:lnTo>
                  <a:pt x="0" y="407819"/>
                </a:lnTo>
                <a:lnTo>
                  <a:pt x="0" y="0"/>
                </a:lnTo>
                <a:lnTo>
                  <a:pt x="290026" y="0"/>
                </a:lnTo>
                <a:lnTo>
                  <a:pt x="331529" y="5384"/>
                </a:lnTo>
                <a:lnTo>
                  <a:pt x="369643" y="20724"/>
                </a:lnTo>
                <a:lnTo>
                  <a:pt x="403277" y="44793"/>
                </a:lnTo>
                <a:lnTo>
                  <a:pt x="431337" y="76370"/>
                </a:lnTo>
                <a:lnTo>
                  <a:pt x="452733" y="114231"/>
                </a:lnTo>
                <a:lnTo>
                  <a:pt x="466371" y="157152"/>
                </a:lnTo>
                <a:lnTo>
                  <a:pt x="471160" y="203909"/>
                </a:lnTo>
                <a:lnTo>
                  <a:pt x="466371" y="250666"/>
                </a:lnTo>
                <a:lnTo>
                  <a:pt x="452733" y="293587"/>
                </a:lnTo>
                <a:lnTo>
                  <a:pt x="431337" y="331448"/>
                </a:lnTo>
                <a:lnTo>
                  <a:pt x="403277" y="363025"/>
                </a:lnTo>
                <a:lnTo>
                  <a:pt x="369643" y="387095"/>
                </a:lnTo>
                <a:lnTo>
                  <a:pt x="331529" y="402434"/>
                </a:lnTo>
                <a:lnTo>
                  <a:pt x="290026" y="407819"/>
                </a:lnTo>
                <a:close/>
              </a:path>
            </a:pathLst>
          </a:custGeom>
          <a:ln w="27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17471" y="5214203"/>
            <a:ext cx="1009015" cy="374015"/>
          </a:xfrm>
          <a:custGeom>
            <a:avLst/>
            <a:gdLst/>
            <a:ahLst/>
            <a:cxnLst/>
            <a:rect l="l" t="t" r="r" b="b"/>
            <a:pathLst>
              <a:path w="1009014" h="374014">
                <a:moveTo>
                  <a:pt x="0" y="373832"/>
                </a:moveTo>
                <a:lnTo>
                  <a:pt x="462103" y="373832"/>
                </a:lnTo>
                <a:lnTo>
                  <a:pt x="462103" y="0"/>
                </a:lnTo>
                <a:lnTo>
                  <a:pt x="1008849" y="0"/>
                </a:lnTo>
              </a:path>
            </a:pathLst>
          </a:custGeom>
          <a:ln w="283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814466" y="4534520"/>
            <a:ext cx="1012190" cy="476250"/>
          </a:xfrm>
          <a:custGeom>
            <a:avLst/>
            <a:gdLst/>
            <a:ahLst/>
            <a:cxnLst/>
            <a:rect l="l" t="t" r="r" b="b"/>
            <a:pathLst>
              <a:path w="1012189" h="476250">
                <a:moveTo>
                  <a:pt x="0" y="0"/>
                </a:moveTo>
                <a:lnTo>
                  <a:pt x="468134" y="0"/>
                </a:lnTo>
                <a:lnTo>
                  <a:pt x="468134" y="475772"/>
                </a:lnTo>
                <a:lnTo>
                  <a:pt x="1011854" y="475773"/>
                </a:lnTo>
              </a:path>
            </a:pathLst>
          </a:custGeom>
          <a:ln w="28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034375" y="4500520"/>
            <a:ext cx="393065" cy="0"/>
          </a:xfrm>
          <a:custGeom>
            <a:avLst/>
            <a:gdLst/>
            <a:ahLst/>
            <a:cxnLst/>
            <a:rect l="l" t="t" r="r" b="b"/>
            <a:pathLst>
              <a:path w="393064">
                <a:moveTo>
                  <a:pt x="392740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74920" y="4433621"/>
            <a:ext cx="118908" cy="1337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034375" y="2767336"/>
            <a:ext cx="393065" cy="2345055"/>
          </a:xfrm>
          <a:custGeom>
            <a:avLst/>
            <a:gdLst/>
            <a:ahLst/>
            <a:cxnLst/>
            <a:rect l="l" t="t" r="r" b="b"/>
            <a:pathLst>
              <a:path w="393064" h="2345054">
                <a:moveTo>
                  <a:pt x="392740" y="0"/>
                </a:moveTo>
                <a:lnTo>
                  <a:pt x="0" y="0"/>
                </a:lnTo>
                <a:lnTo>
                  <a:pt x="0" y="2344911"/>
                </a:lnTo>
              </a:path>
            </a:pathLst>
          </a:custGeom>
          <a:ln w="25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74920" y="5045349"/>
            <a:ext cx="118908" cy="1337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75234" y="2699239"/>
            <a:ext cx="1751964" cy="1597660"/>
          </a:xfrm>
          <a:custGeom>
            <a:avLst/>
            <a:gdLst/>
            <a:ahLst/>
            <a:cxnLst/>
            <a:rect l="l" t="t" r="r" b="b"/>
            <a:pathLst>
              <a:path w="1751964" h="1597660">
                <a:moveTo>
                  <a:pt x="1751881" y="1597371"/>
                </a:moveTo>
                <a:lnTo>
                  <a:pt x="1409432" y="1597371"/>
                </a:lnTo>
                <a:lnTo>
                  <a:pt x="1405469" y="1575331"/>
                </a:lnTo>
                <a:lnTo>
                  <a:pt x="1394675" y="1557328"/>
                </a:lnTo>
                <a:lnTo>
                  <a:pt x="1378686" y="1545187"/>
                </a:lnTo>
                <a:lnTo>
                  <a:pt x="1359141" y="1540735"/>
                </a:lnTo>
                <a:lnTo>
                  <a:pt x="1339595" y="1545187"/>
                </a:lnTo>
                <a:lnTo>
                  <a:pt x="1323606" y="1557328"/>
                </a:lnTo>
                <a:lnTo>
                  <a:pt x="1312812" y="1575331"/>
                </a:lnTo>
                <a:lnTo>
                  <a:pt x="1308849" y="1597371"/>
                </a:lnTo>
                <a:lnTo>
                  <a:pt x="0" y="1597371"/>
                </a:lnTo>
                <a:lnTo>
                  <a:pt x="0" y="0"/>
                </a:lnTo>
              </a:path>
            </a:pathLst>
          </a:custGeom>
          <a:ln w="27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91239" y="3390287"/>
            <a:ext cx="2084070" cy="57150"/>
          </a:xfrm>
          <a:custGeom>
            <a:avLst/>
            <a:gdLst/>
            <a:ahLst/>
            <a:cxnLst/>
            <a:rect l="l" t="t" r="r" b="b"/>
            <a:pathLst>
              <a:path w="2084070" h="57150">
                <a:moveTo>
                  <a:pt x="0" y="56708"/>
                </a:moveTo>
                <a:lnTo>
                  <a:pt x="221494" y="56708"/>
                </a:lnTo>
                <a:lnTo>
                  <a:pt x="225448" y="34646"/>
                </a:lnTo>
                <a:lnTo>
                  <a:pt x="236232" y="16619"/>
                </a:lnTo>
                <a:lnTo>
                  <a:pt x="252231" y="4460"/>
                </a:lnTo>
                <a:lnTo>
                  <a:pt x="271828" y="0"/>
                </a:lnTo>
                <a:lnTo>
                  <a:pt x="291424" y="4460"/>
                </a:lnTo>
                <a:lnTo>
                  <a:pt x="307423" y="16619"/>
                </a:lnTo>
                <a:lnTo>
                  <a:pt x="318208" y="34646"/>
                </a:lnTo>
                <a:lnTo>
                  <a:pt x="322162" y="56708"/>
                </a:lnTo>
                <a:lnTo>
                  <a:pt x="2083994" y="56708"/>
                </a:lnTo>
              </a:path>
            </a:pathLst>
          </a:custGeom>
          <a:ln w="287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615779" y="3380216"/>
            <a:ext cx="118908" cy="1336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95476" y="3616928"/>
            <a:ext cx="393065" cy="781685"/>
          </a:xfrm>
          <a:custGeom>
            <a:avLst/>
            <a:gdLst/>
            <a:ahLst/>
            <a:cxnLst/>
            <a:rect l="l" t="t" r="r" b="b"/>
            <a:pathLst>
              <a:path w="393065" h="781685">
                <a:moveTo>
                  <a:pt x="392740" y="0"/>
                </a:moveTo>
                <a:lnTo>
                  <a:pt x="0" y="0"/>
                </a:lnTo>
                <a:lnTo>
                  <a:pt x="0" y="781637"/>
                </a:lnTo>
              </a:path>
            </a:pathLst>
          </a:custGeom>
          <a:ln w="26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36022" y="4331666"/>
            <a:ext cx="118908" cy="1337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51862" y="2665430"/>
            <a:ext cx="936625" cy="748030"/>
          </a:xfrm>
          <a:custGeom>
            <a:avLst/>
            <a:gdLst/>
            <a:ahLst/>
            <a:cxnLst/>
            <a:rect l="l" t="t" r="r" b="b"/>
            <a:pathLst>
              <a:path w="936625" h="748029">
                <a:moveTo>
                  <a:pt x="0" y="0"/>
                </a:moveTo>
                <a:lnTo>
                  <a:pt x="543613" y="0"/>
                </a:lnTo>
                <a:lnTo>
                  <a:pt x="543613" y="747636"/>
                </a:lnTo>
                <a:lnTo>
                  <a:pt x="936353" y="747636"/>
                </a:lnTo>
              </a:path>
            </a:pathLst>
          </a:custGeom>
          <a:ln w="27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675234" y="2665430"/>
            <a:ext cx="1751964" cy="34290"/>
          </a:xfrm>
          <a:custGeom>
            <a:avLst/>
            <a:gdLst/>
            <a:ahLst/>
            <a:cxnLst/>
            <a:rect l="l" t="t" r="r" b="b"/>
            <a:pathLst>
              <a:path w="1751964" h="34289">
                <a:moveTo>
                  <a:pt x="1751881" y="0"/>
                </a:moveTo>
                <a:lnTo>
                  <a:pt x="0" y="0"/>
                </a:lnTo>
                <a:lnTo>
                  <a:pt x="0" y="33809"/>
                </a:lnTo>
              </a:path>
            </a:pathLst>
          </a:custGeom>
          <a:ln w="287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63067" y="2563283"/>
            <a:ext cx="604520" cy="1971675"/>
          </a:xfrm>
          <a:custGeom>
            <a:avLst/>
            <a:gdLst/>
            <a:ahLst/>
            <a:cxnLst/>
            <a:rect l="l" t="t" r="r" b="b"/>
            <a:pathLst>
              <a:path w="604519" h="1971675">
                <a:moveTo>
                  <a:pt x="604048" y="1971237"/>
                </a:moveTo>
                <a:lnTo>
                  <a:pt x="0" y="1971237"/>
                </a:lnTo>
                <a:lnTo>
                  <a:pt x="0" y="0"/>
                </a:lnTo>
              </a:path>
            </a:pathLst>
          </a:custGeom>
          <a:ln w="258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03612" y="2496384"/>
            <a:ext cx="118908" cy="133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91239" y="5588036"/>
            <a:ext cx="876300" cy="0"/>
          </a:xfrm>
          <a:custGeom>
            <a:avLst/>
            <a:gdLst/>
            <a:ahLst/>
            <a:cxnLst/>
            <a:rect l="l" t="t" r="r" b="b"/>
            <a:pathLst>
              <a:path w="876300">
                <a:moveTo>
                  <a:pt x="875876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151862" y="4398565"/>
            <a:ext cx="1903095" cy="0"/>
          </a:xfrm>
          <a:custGeom>
            <a:avLst/>
            <a:gdLst/>
            <a:ahLst/>
            <a:cxnLst/>
            <a:rect l="l" t="t" r="r" b="b"/>
            <a:pathLst>
              <a:path w="1903095">
                <a:moveTo>
                  <a:pt x="0" y="0"/>
                </a:moveTo>
                <a:lnTo>
                  <a:pt x="1902754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551068" y="5112248"/>
            <a:ext cx="3503929" cy="0"/>
          </a:xfrm>
          <a:custGeom>
            <a:avLst/>
            <a:gdLst/>
            <a:ahLst/>
            <a:cxnLst/>
            <a:rect l="l" t="t" r="r" b="b"/>
            <a:pathLst>
              <a:path w="3503929">
                <a:moveTo>
                  <a:pt x="0" y="0"/>
                </a:moveTo>
                <a:lnTo>
                  <a:pt x="3503549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812964" y="3514973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4">
                <a:moveTo>
                  <a:pt x="0" y="0"/>
                </a:moveTo>
                <a:lnTo>
                  <a:pt x="241653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591239" y="2563283"/>
            <a:ext cx="3836035" cy="0"/>
          </a:xfrm>
          <a:custGeom>
            <a:avLst/>
            <a:gdLst/>
            <a:ahLst/>
            <a:cxnLst/>
            <a:rect l="l" t="t" r="r" b="b"/>
            <a:pathLst>
              <a:path w="3836035">
                <a:moveTo>
                  <a:pt x="3835876" y="0"/>
                </a:moveTo>
                <a:lnTo>
                  <a:pt x="0" y="0"/>
                </a:lnTo>
              </a:path>
            </a:pathLst>
          </a:custGeom>
          <a:ln w="287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1483613" y="164414"/>
            <a:ext cx="6045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Arial"/>
                <a:cs typeface="Arial"/>
              </a:rPr>
              <a:t>An </a:t>
            </a:r>
            <a:r>
              <a:rPr i="0" spc="-5" dirty="0">
                <a:latin typeface="Arial"/>
                <a:cs typeface="Arial"/>
              </a:rPr>
              <a:t>Example </a:t>
            </a:r>
            <a:r>
              <a:rPr i="0" dirty="0">
                <a:latin typeface="Helvetica"/>
                <a:cs typeface="Helvetica"/>
              </a:rPr>
              <a:t>–</a:t>
            </a:r>
            <a:r>
              <a:rPr i="0" spc="-30" dirty="0">
                <a:latin typeface="Helvetica"/>
                <a:cs typeface="Helvetica"/>
              </a:rPr>
              <a:t> </a:t>
            </a:r>
            <a:r>
              <a:rPr i="0" spc="-5" dirty="0">
                <a:latin typeface="Arial"/>
                <a:cs typeface="Arial"/>
              </a:rPr>
              <a:t>Observability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283588" y="238848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a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91485" y="437972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1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491485" y="543285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2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096892" y="495795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3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692266" y="25077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4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99505" y="423925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363206" y="336753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6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174228" y="3354400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x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07756" y="4227067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y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173973" y="4945507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z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851909" y="1544574"/>
            <a:ext cx="2016760" cy="504825"/>
          </a:xfrm>
          <a:custGeom>
            <a:avLst/>
            <a:gdLst/>
            <a:ahLst/>
            <a:cxnLst/>
            <a:rect l="l" t="t" r="r" b="b"/>
            <a:pathLst>
              <a:path w="2016760" h="504825">
                <a:moveTo>
                  <a:pt x="2016252" y="126111"/>
                </a:moveTo>
                <a:lnTo>
                  <a:pt x="503681" y="126111"/>
                </a:lnTo>
                <a:lnTo>
                  <a:pt x="503681" y="0"/>
                </a:lnTo>
                <a:lnTo>
                  <a:pt x="0" y="252222"/>
                </a:lnTo>
                <a:lnTo>
                  <a:pt x="503681" y="504443"/>
                </a:lnTo>
                <a:lnTo>
                  <a:pt x="503681" y="378333"/>
                </a:lnTo>
                <a:lnTo>
                  <a:pt x="2016252" y="378333"/>
                </a:lnTo>
                <a:lnTo>
                  <a:pt x="2016252" y="126111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590802" y="2211400"/>
            <a:ext cx="307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8000"/>
                </a:solidFill>
                <a:latin typeface="Helvetica"/>
                <a:cs typeface="Helvetica"/>
              </a:rPr>
              <a:t>1/1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394586" y="5234762"/>
            <a:ext cx="523240" cy="48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965">
              <a:lnSpc>
                <a:spcPts val="1585"/>
              </a:lnSpc>
              <a:spcBef>
                <a:spcPts val="95"/>
              </a:spcBef>
            </a:pPr>
            <a:r>
              <a:rPr sz="1600" spc="-10" dirty="0">
                <a:solidFill>
                  <a:srgbClr val="FF8000"/>
                </a:solidFill>
                <a:latin typeface="Helvetica"/>
                <a:cs typeface="Helvetica"/>
              </a:rPr>
              <a:t>1/1</a:t>
            </a:r>
            <a:endParaRPr sz="1600" dirty="0">
              <a:latin typeface="Helvetica"/>
              <a:cs typeface="Helvetica"/>
            </a:endParaRPr>
          </a:p>
          <a:p>
            <a:pPr marL="12700">
              <a:lnSpc>
                <a:spcPts val="2065"/>
              </a:lnSpc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945383" y="4212158"/>
            <a:ext cx="307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8000"/>
                </a:solidFill>
                <a:latin typeface="Helvetica"/>
                <a:cs typeface="Helvetica"/>
              </a:rPr>
              <a:t>2/2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853308" y="5019294"/>
            <a:ext cx="307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8000"/>
                </a:solidFill>
                <a:latin typeface="Helvetica"/>
                <a:cs typeface="Helvetica"/>
              </a:rPr>
              <a:t>2/2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182615" y="4553534"/>
            <a:ext cx="307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8000"/>
                </a:solidFill>
                <a:latin typeface="Helvetica"/>
                <a:cs typeface="Helvetica"/>
              </a:rPr>
              <a:t>3/5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208267" y="2380233"/>
            <a:ext cx="307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8000"/>
                </a:solidFill>
                <a:latin typeface="Helvetica"/>
                <a:cs typeface="Helvetica"/>
              </a:rPr>
              <a:t>2/6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716393" y="3215386"/>
            <a:ext cx="307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8000"/>
                </a:solidFill>
                <a:latin typeface="Helvetica"/>
                <a:cs typeface="Helvetica"/>
              </a:rPr>
              <a:t>5/7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716393" y="5165216"/>
            <a:ext cx="307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8000"/>
                </a:solidFill>
                <a:latin typeface="Helvetica"/>
                <a:cs typeface="Helvetica"/>
              </a:rPr>
              <a:t>3/5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525136" y="5171694"/>
            <a:ext cx="307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8000"/>
                </a:solidFill>
                <a:latin typeface="Helvetica"/>
                <a:cs typeface="Helvetica"/>
              </a:rPr>
              <a:t>3/5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081140" y="3990213"/>
            <a:ext cx="307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8000"/>
                </a:solidFill>
                <a:latin typeface="Helvetica"/>
                <a:cs typeface="Helvetica"/>
              </a:rPr>
              <a:t>2/7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584452" y="260731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4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997455" y="3651477"/>
            <a:ext cx="307975" cy="640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endParaRPr sz="1600" dirty="0">
              <a:latin typeface="Helvetica"/>
              <a:cs typeface="Helvetica"/>
            </a:endParaRPr>
          </a:p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4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679829" y="5651398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4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332102" y="3107562"/>
            <a:ext cx="506095" cy="759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820">
              <a:lnSpc>
                <a:spcPts val="1770"/>
              </a:lnSpc>
              <a:spcBef>
                <a:spcPts val="95"/>
              </a:spcBef>
            </a:pPr>
            <a:endParaRPr sz="1600" dirty="0">
              <a:latin typeface="Helvetica"/>
              <a:cs typeface="Helvetica"/>
            </a:endParaRPr>
          </a:p>
          <a:p>
            <a:pPr marL="12700">
              <a:lnSpc>
                <a:spcPts val="1900"/>
              </a:lnSpc>
            </a:pPr>
            <a:endParaRPr sz="2000" dirty="0">
              <a:latin typeface="Helvetica"/>
              <a:cs typeface="Helvetica"/>
            </a:endParaRPr>
          </a:p>
          <a:p>
            <a:pPr marL="274320">
              <a:lnSpc>
                <a:spcPts val="2050"/>
              </a:lnSpc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6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007611" y="3936872"/>
            <a:ext cx="5499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>
                <a:solidFill>
                  <a:srgbClr val="FF8000"/>
                </a:solidFill>
                <a:latin typeface="Helvetica"/>
                <a:cs typeface="Helvetica"/>
              </a:rPr>
              <a:t>   </a:t>
            </a:r>
            <a:r>
              <a:rPr sz="1600" spc="265" dirty="0">
                <a:solidFill>
                  <a:srgbClr val="FF8000"/>
                </a:solidFill>
                <a:latin typeface="Helvetica"/>
                <a:cs typeface="Helvetica"/>
              </a:rPr>
              <a:t> </a:t>
            </a:r>
            <a:r>
              <a:rPr sz="3000" baseline="-5555" dirty="0">
                <a:solidFill>
                  <a:srgbClr val="FF00FF"/>
                </a:solidFill>
                <a:latin typeface="Helvetica"/>
                <a:cs typeface="Helvetica"/>
              </a:rPr>
              <a:t>6</a:t>
            </a:r>
            <a:endParaRPr sz="3000" baseline="-5555" dirty="0">
              <a:latin typeface="Helvetica"/>
              <a:cs typeface="Helvetic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138165" y="2791460"/>
            <a:ext cx="307975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endParaRPr sz="1600" dirty="0">
              <a:latin typeface="Helvetica"/>
              <a:cs typeface="Helvetica"/>
            </a:endParaRPr>
          </a:p>
          <a:p>
            <a:pPr marL="81915">
              <a:lnSpc>
                <a:spcPts val="2305"/>
              </a:lnSpc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6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989833" y="4559046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3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921635" y="5286247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3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825742" y="3658361"/>
            <a:ext cx="307975" cy="547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14"/>
              </a:lnSpc>
              <a:spcBef>
                <a:spcPts val="95"/>
              </a:spcBef>
            </a:pPr>
            <a:endParaRPr sz="1600" dirty="0">
              <a:latin typeface="Helvetica"/>
              <a:cs typeface="Helvetica"/>
            </a:endParaRPr>
          </a:p>
          <a:p>
            <a:pPr marL="83820">
              <a:lnSpc>
                <a:spcPts val="2295"/>
              </a:lnSpc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3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279641" y="2670505"/>
            <a:ext cx="167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3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982211" y="2159888"/>
            <a:ext cx="5956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n-US" sz="3000" baseline="-6944" dirty="0">
                <a:solidFill>
                  <a:srgbClr val="FF00FF"/>
                </a:solidFill>
                <a:latin typeface="Helvetica"/>
                <a:cs typeface="Helvetica"/>
              </a:rPr>
              <a:t>     </a:t>
            </a:r>
            <a:r>
              <a:rPr sz="3000" baseline="-6944" dirty="0">
                <a:solidFill>
                  <a:srgbClr val="FF00FF"/>
                </a:solidFill>
                <a:latin typeface="Helvetica"/>
                <a:cs typeface="Helvetica"/>
              </a:rPr>
              <a:t>8</a:t>
            </a:r>
            <a:endParaRPr sz="3000" baseline="-6944" dirty="0">
              <a:latin typeface="Helvetica"/>
              <a:cs typeface="Helvetic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007611" y="2664968"/>
            <a:ext cx="544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600" spc="-5" dirty="0">
                <a:solidFill>
                  <a:srgbClr val="FF8000"/>
                </a:solidFill>
                <a:latin typeface="Helvetica"/>
                <a:cs typeface="Helvetica"/>
              </a:rPr>
              <a:t>    </a:t>
            </a:r>
            <a:r>
              <a:rPr sz="1600" spc="229" dirty="0">
                <a:solidFill>
                  <a:srgbClr val="FF8000"/>
                </a:solidFill>
                <a:latin typeface="Helvetica"/>
                <a:cs typeface="Helvetica"/>
              </a:rPr>
              <a:t> </a:t>
            </a:r>
            <a:r>
              <a:rPr sz="3000" baseline="-5555" dirty="0">
                <a:solidFill>
                  <a:srgbClr val="FF00FF"/>
                </a:solidFill>
                <a:latin typeface="Helvetica"/>
                <a:cs typeface="Helvetica"/>
              </a:rPr>
              <a:t>8</a:t>
            </a:r>
            <a:endParaRPr sz="3000" baseline="-5555" dirty="0">
              <a:latin typeface="Helvetica"/>
              <a:cs typeface="Helvetic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402963" y="4643120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52515" y="4465065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786496" y="352844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786496" y="4082541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716393" y="4350844"/>
            <a:ext cx="307340" cy="7918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600" spc="-10" dirty="0">
                <a:solidFill>
                  <a:srgbClr val="FF8000"/>
                </a:solidFill>
                <a:latin typeface="Helvetica"/>
                <a:cs typeface="Helvetica"/>
              </a:rPr>
              <a:t>2/7</a:t>
            </a:r>
            <a:endParaRPr sz="1600" dirty="0">
              <a:latin typeface="Helvetica"/>
              <a:cs typeface="Helvetica"/>
            </a:endParaRPr>
          </a:p>
          <a:p>
            <a:pPr marL="86995">
              <a:lnSpc>
                <a:spcPct val="100000"/>
              </a:lnSpc>
              <a:spcBef>
                <a:spcPts val="955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257038" y="4245990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FF"/>
                </a:solidFill>
                <a:latin typeface="Helvetica"/>
                <a:cs typeface="Helvetica"/>
              </a:rPr>
              <a:t>2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08076" y="920952"/>
            <a:ext cx="3439160" cy="11599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Backward: From </a:t>
            </a:r>
            <a:r>
              <a:rPr sz="2000" b="1" spc="-5" dirty="0">
                <a:latin typeface="Arial"/>
                <a:cs typeface="Arial"/>
              </a:rPr>
              <a:t>PO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PI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50" dirty="0">
              <a:latin typeface="Arial"/>
              <a:cs typeface="Arial"/>
            </a:endParaRPr>
          </a:p>
          <a:p>
            <a:pPr marL="21082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8000"/>
                </a:solidFill>
                <a:latin typeface="Helvetica"/>
              </a:rPr>
              <a:t>CC0/CC1</a:t>
            </a:r>
          </a:p>
        </p:txBody>
      </p:sp>
      <p:sp>
        <p:nvSpPr>
          <p:cNvPr id="93" name="object 93"/>
          <p:cNvSpPr/>
          <p:nvPr/>
        </p:nvSpPr>
        <p:spPr>
          <a:xfrm>
            <a:off x="1060488" y="2030729"/>
            <a:ext cx="624205" cy="179070"/>
          </a:xfrm>
          <a:custGeom>
            <a:avLst/>
            <a:gdLst/>
            <a:ahLst/>
            <a:cxnLst/>
            <a:rect l="l" t="t" r="r" b="b"/>
            <a:pathLst>
              <a:path w="624205" h="179069">
                <a:moveTo>
                  <a:pt x="559312" y="137208"/>
                </a:moveTo>
                <a:lnTo>
                  <a:pt x="540854" y="159639"/>
                </a:lnTo>
                <a:lnTo>
                  <a:pt x="623912" y="178562"/>
                </a:lnTo>
                <a:lnTo>
                  <a:pt x="608446" y="143891"/>
                </a:lnTo>
                <a:lnTo>
                  <a:pt x="571842" y="143891"/>
                </a:lnTo>
                <a:lnTo>
                  <a:pt x="559312" y="137208"/>
                </a:lnTo>
                <a:close/>
              </a:path>
              <a:path w="624205" h="179069">
                <a:moveTo>
                  <a:pt x="567550" y="127197"/>
                </a:moveTo>
                <a:lnTo>
                  <a:pt x="559312" y="137208"/>
                </a:lnTo>
                <a:lnTo>
                  <a:pt x="571842" y="143891"/>
                </a:lnTo>
                <a:lnTo>
                  <a:pt x="577811" y="132715"/>
                </a:lnTo>
                <a:lnTo>
                  <a:pt x="567550" y="127197"/>
                </a:lnTo>
                <a:close/>
              </a:path>
              <a:path w="624205" h="179069">
                <a:moveTo>
                  <a:pt x="589241" y="100837"/>
                </a:moveTo>
                <a:lnTo>
                  <a:pt x="567550" y="127197"/>
                </a:lnTo>
                <a:lnTo>
                  <a:pt x="577811" y="132715"/>
                </a:lnTo>
                <a:lnTo>
                  <a:pt x="571842" y="143891"/>
                </a:lnTo>
                <a:lnTo>
                  <a:pt x="608446" y="143891"/>
                </a:lnTo>
                <a:lnTo>
                  <a:pt x="589241" y="100837"/>
                </a:lnTo>
                <a:close/>
              </a:path>
              <a:path w="624205" h="179069">
                <a:moveTo>
                  <a:pt x="545260" y="129713"/>
                </a:moveTo>
                <a:lnTo>
                  <a:pt x="559312" y="137208"/>
                </a:lnTo>
                <a:lnTo>
                  <a:pt x="565205" y="130048"/>
                </a:lnTo>
                <a:lnTo>
                  <a:pt x="546315" y="130048"/>
                </a:lnTo>
                <a:lnTo>
                  <a:pt x="545260" y="129713"/>
                </a:lnTo>
                <a:close/>
              </a:path>
              <a:path w="624205" h="179069">
                <a:moveTo>
                  <a:pt x="545172" y="129667"/>
                </a:moveTo>
                <a:lnTo>
                  <a:pt x="546315" y="130048"/>
                </a:lnTo>
                <a:lnTo>
                  <a:pt x="545172" y="129667"/>
                </a:lnTo>
                <a:close/>
              </a:path>
              <a:path w="624205" h="179069">
                <a:moveTo>
                  <a:pt x="565518" y="129667"/>
                </a:moveTo>
                <a:lnTo>
                  <a:pt x="545172" y="129667"/>
                </a:lnTo>
                <a:lnTo>
                  <a:pt x="546315" y="130048"/>
                </a:lnTo>
                <a:lnTo>
                  <a:pt x="565205" y="130048"/>
                </a:lnTo>
                <a:lnTo>
                  <a:pt x="565518" y="129667"/>
                </a:lnTo>
                <a:close/>
              </a:path>
              <a:path w="624205" h="179069">
                <a:moveTo>
                  <a:pt x="12623" y="0"/>
                </a:moveTo>
                <a:lnTo>
                  <a:pt x="0" y="1524"/>
                </a:lnTo>
                <a:lnTo>
                  <a:pt x="520" y="6096"/>
                </a:lnTo>
                <a:lnTo>
                  <a:pt x="2082" y="11049"/>
                </a:lnTo>
                <a:lnTo>
                  <a:pt x="2438" y="11937"/>
                </a:lnTo>
                <a:lnTo>
                  <a:pt x="4533" y="16129"/>
                </a:lnTo>
                <a:lnTo>
                  <a:pt x="4699" y="16383"/>
                </a:lnTo>
                <a:lnTo>
                  <a:pt x="4902" y="16764"/>
                </a:lnTo>
                <a:lnTo>
                  <a:pt x="5213" y="17145"/>
                </a:lnTo>
                <a:lnTo>
                  <a:pt x="8166" y="21082"/>
                </a:lnTo>
                <a:lnTo>
                  <a:pt x="12420" y="25781"/>
                </a:lnTo>
                <a:lnTo>
                  <a:pt x="52120" y="50673"/>
                </a:lnTo>
                <a:lnTo>
                  <a:pt x="100914" y="67945"/>
                </a:lnTo>
                <a:lnTo>
                  <a:pt x="148183" y="79502"/>
                </a:lnTo>
                <a:lnTo>
                  <a:pt x="200698" y="88392"/>
                </a:lnTo>
                <a:lnTo>
                  <a:pt x="257009" y="94107"/>
                </a:lnTo>
                <a:lnTo>
                  <a:pt x="344004" y="96520"/>
                </a:lnTo>
                <a:lnTo>
                  <a:pt x="372452" y="98044"/>
                </a:lnTo>
                <a:lnTo>
                  <a:pt x="427697" y="103632"/>
                </a:lnTo>
                <a:lnTo>
                  <a:pt x="479513" y="112395"/>
                </a:lnTo>
                <a:lnTo>
                  <a:pt x="525868" y="123571"/>
                </a:lnTo>
                <a:lnTo>
                  <a:pt x="545260" y="129713"/>
                </a:lnTo>
                <a:lnTo>
                  <a:pt x="565518" y="129667"/>
                </a:lnTo>
                <a:lnTo>
                  <a:pt x="567550" y="127197"/>
                </a:lnTo>
                <a:lnTo>
                  <a:pt x="529043" y="111252"/>
                </a:lnTo>
                <a:lnTo>
                  <a:pt x="481799" y="99822"/>
                </a:lnTo>
                <a:lnTo>
                  <a:pt x="429221" y="91059"/>
                </a:lnTo>
                <a:lnTo>
                  <a:pt x="373087" y="85344"/>
                </a:lnTo>
                <a:lnTo>
                  <a:pt x="286473" y="82804"/>
                </a:lnTo>
                <a:lnTo>
                  <a:pt x="258025" y="81407"/>
                </a:lnTo>
                <a:lnTo>
                  <a:pt x="202641" y="75819"/>
                </a:lnTo>
                <a:lnTo>
                  <a:pt x="150952" y="67183"/>
                </a:lnTo>
                <a:lnTo>
                  <a:pt x="104686" y="55880"/>
                </a:lnTo>
                <a:lnTo>
                  <a:pt x="65760" y="42672"/>
                </a:lnTo>
                <a:lnTo>
                  <a:pt x="30695" y="24511"/>
                </a:lnTo>
                <a:lnTo>
                  <a:pt x="16055" y="10414"/>
                </a:lnTo>
                <a:lnTo>
                  <a:pt x="15900" y="10414"/>
                </a:lnTo>
                <a:lnTo>
                  <a:pt x="15316" y="9398"/>
                </a:lnTo>
                <a:lnTo>
                  <a:pt x="14249" y="7112"/>
                </a:lnTo>
                <a:lnTo>
                  <a:pt x="13804" y="6223"/>
                </a:lnTo>
                <a:lnTo>
                  <a:pt x="13202" y="4191"/>
                </a:lnTo>
                <a:lnTo>
                  <a:pt x="12827" y="3048"/>
                </a:lnTo>
                <a:lnTo>
                  <a:pt x="12965" y="3048"/>
                </a:lnTo>
                <a:lnTo>
                  <a:pt x="12623" y="0"/>
                </a:lnTo>
                <a:close/>
              </a:path>
              <a:path w="624205" h="179069">
                <a:moveTo>
                  <a:pt x="15316" y="9398"/>
                </a:moveTo>
                <a:lnTo>
                  <a:pt x="15900" y="10414"/>
                </a:lnTo>
                <a:lnTo>
                  <a:pt x="15560" y="9733"/>
                </a:lnTo>
                <a:lnTo>
                  <a:pt x="15316" y="9398"/>
                </a:lnTo>
                <a:close/>
              </a:path>
              <a:path w="624205" h="179069">
                <a:moveTo>
                  <a:pt x="15560" y="9733"/>
                </a:moveTo>
                <a:lnTo>
                  <a:pt x="15900" y="10414"/>
                </a:lnTo>
                <a:lnTo>
                  <a:pt x="16055" y="10414"/>
                </a:lnTo>
                <a:lnTo>
                  <a:pt x="15560" y="9733"/>
                </a:lnTo>
                <a:close/>
              </a:path>
              <a:path w="624205" h="179069">
                <a:moveTo>
                  <a:pt x="15392" y="9398"/>
                </a:moveTo>
                <a:lnTo>
                  <a:pt x="15560" y="9733"/>
                </a:lnTo>
                <a:lnTo>
                  <a:pt x="15392" y="9398"/>
                </a:lnTo>
                <a:close/>
              </a:path>
              <a:path w="624205" h="179069">
                <a:moveTo>
                  <a:pt x="13804" y="6223"/>
                </a:moveTo>
                <a:lnTo>
                  <a:pt x="14160" y="7112"/>
                </a:lnTo>
                <a:lnTo>
                  <a:pt x="13990" y="6594"/>
                </a:lnTo>
                <a:lnTo>
                  <a:pt x="13804" y="6223"/>
                </a:lnTo>
                <a:close/>
              </a:path>
              <a:path w="624205" h="179069">
                <a:moveTo>
                  <a:pt x="13990" y="6594"/>
                </a:moveTo>
                <a:lnTo>
                  <a:pt x="14160" y="7112"/>
                </a:lnTo>
                <a:lnTo>
                  <a:pt x="13990" y="6594"/>
                </a:lnTo>
                <a:close/>
              </a:path>
              <a:path w="624205" h="179069">
                <a:moveTo>
                  <a:pt x="13868" y="6223"/>
                </a:moveTo>
                <a:lnTo>
                  <a:pt x="13990" y="6594"/>
                </a:lnTo>
                <a:lnTo>
                  <a:pt x="13868" y="6223"/>
                </a:lnTo>
                <a:close/>
              </a:path>
              <a:path w="624205" h="179069">
                <a:moveTo>
                  <a:pt x="12827" y="3048"/>
                </a:moveTo>
                <a:lnTo>
                  <a:pt x="13093" y="4191"/>
                </a:lnTo>
                <a:lnTo>
                  <a:pt x="13037" y="3689"/>
                </a:lnTo>
                <a:lnTo>
                  <a:pt x="12827" y="3048"/>
                </a:lnTo>
                <a:close/>
              </a:path>
              <a:path w="624205" h="179069">
                <a:moveTo>
                  <a:pt x="13037" y="3689"/>
                </a:moveTo>
                <a:lnTo>
                  <a:pt x="13093" y="4191"/>
                </a:lnTo>
                <a:lnTo>
                  <a:pt x="13037" y="3689"/>
                </a:lnTo>
                <a:close/>
              </a:path>
              <a:path w="624205" h="179069">
                <a:moveTo>
                  <a:pt x="12965" y="3048"/>
                </a:moveTo>
                <a:lnTo>
                  <a:pt x="12827" y="3048"/>
                </a:lnTo>
                <a:lnTo>
                  <a:pt x="13037" y="3689"/>
                </a:lnTo>
                <a:lnTo>
                  <a:pt x="12965" y="3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95" name="object 69">
            <a:extLst>
              <a:ext uri="{FF2B5EF4-FFF2-40B4-BE49-F238E27FC236}">
                <a16:creationId xmlns:a16="http://schemas.microsoft.com/office/drawing/2014/main" id="{9FD3E820-B6E3-8839-A787-7460747937FB}"/>
              </a:ext>
            </a:extLst>
          </p:cNvPr>
          <p:cNvSpPr txBox="1"/>
          <p:nvPr/>
        </p:nvSpPr>
        <p:spPr>
          <a:xfrm>
            <a:off x="5105400" y="2789596"/>
            <a:ext cx="3079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-5" dirty="0">
                <a:solidFill>
                  <a:srgbClr val="FF8000"/>
                </a:solidFill>
                <a:latin typeface="Helvetica"/>
                <a:cs typeface="Helvetica"/>
              </a:rPr>
              <a:t>3</a:t>
            </a:r>
            <a:r>
              <a:rPr sz="1600" spc="-5" dirty="0">
                <a:solidFill>
                  <a:srgbClr val="FF8000"/>
                </a:solidFill>
                <a:latin typeface="Helvetica"/>
                <a:cs typeface="Helvetica"/>
              </a:rPr>
              <a:t>/</a:t>
            </a:r>
            <a:r>
              <a:rPr lang="en-US" sz="1600" spc="-5" dirty="0">
                <a:solidFill>
                  <a:srgbClr val="FF8000"/>
                </a:solidFill>
                <a:latin typeface="Helvetica"/>
                <a:cs typeface="Helvetica"/>
              </a:rPr>
              <a:t>5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97" name="object 73">
            <a:extLst>
              <a:ext uri="{FF2B5EF4-FFF2-40B4-BE49-F238E27FC236}">
                <a16:creationId xmlns:a16="http://schemas.microsoft.com/office/drawing/2014/main" id="{1E652114-9A48-EF17-5179-74C8FC0BEB7C}"/>
              </a:ext>
            </a:extLst>
          </p:cNvPr>
          <p:cNvSpPr txBox="1"/>
          <p:nvPr/>
        </p:nvSpPr>
        <p:spPr>
          <a:xfrm>
            <a:off x="6781800" y="3657600"/>
            <a:ext cx="307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8000"/>
                </a:solidFill>
                <a:latin typeface="Helvetica"/>
                <a:cs typeface="Helvetica"/>
              </a:rPr>
              <a:t>2/7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B1C4ADE-FA8B-A848-76C1-C10935ED12EF}"/>
              </a:ext>
            </a:extLst>
          </p:cNvPr>
          <p:cNvSpPr txBox="1"/>
          <p:nvPr/>
        </p:nvSpPr>
        <p:spPr>
          <a:xfrm>
            <a:off x="3787776" y="2176046"/>
            <a:ext cx="631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0" dirty="0">
                <a:solidFill>
                  <a:srgbClr val="FF8000"/>
                </a:solidFill>
                <a:latin typeface="Helvetica"/>
                <a:cs typeface="Helvetica"/>
              </a:rPr>
              <a:t>1/1</a:t>
            </a:r>
            <a:endParaRPr lang="en-US" sz="1600" dirty="0"/>
          </a:p>
        </p:txBody>
      </p:sp>
      <p:sp>
        <p:nvSpPr>
          <p:cNvPr id="102" name="object 65">
            <a:extLst>
              <a:ext uri="{FF2B5EF4-FFF2-40B4-BE49-F238E27FC236}">
                <a16:creationId xmlns:a16="http://schemas.microsoft.com/office/drawing/2014/main" id="{C162C8F4-0FF5-B250-9424-DCA641138E68}"/>
              </a:ext>
            </a:extLst>
          </p:cNvPr>
          <p:cNvSpPr txBox="1"/>
          <p:nvPr/>
        </p:nvSpPr>
        <p:spPr>
          <a:xfrm>
            <a:off x="1295400" y="5226050"/>
            <a:ext cx="523240" cy="48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965">
              <a:lnSpc>
                <a:spcPts val="1585"/>
              </a:lnSpc>
              <a:spcBef>
                <a:spcPts val="95"/>
              </a:spcBef>
            </a:pPr>
            <a:endParaRPr sz="1600" dirty="0">
              <a:latin typeface="Helvetica"/>
              <a:cs typeface="Helvetica"/>
            </a:endParaRPr>
          </a:p>
          <a:p>
            <a:pPr marL="12700">
              <a:lnSpc>
                <a:spcPts val="2065"/>
              </a:lnSpc>
            </a:pPr>
            <a:r>
              <a:rPr sz="2000" i="1" dirty="0">
                <a:latin typeface="Helvetica"/>
                <a:cs typeface="Helvetica"/>
              </a:rPr>
              <a:t>c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03" name="object 53">
            <a:extLst>
              <a:ext uri="{FF2B5EF4-FFF2-40B4-BE49-F238E27FC236}">
                <a16:creationId xmlns:a16="http://schemas.microsoft.com/office/drawing/2014/main" id="{E6292030-2422-8BEA-077D-FBD8A1AE9BD1}"/>
              </a:ext>
            </a:extLst>
          </p:cNvPr>
          <p:cNvSpPr txBox="1"/>
          <p:nvPr/>
        </p:nvSpPr>
        <p:spPr>
          <a:xfrm>
            <a:off x="1356995" y="327660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i="1" dirty="0">
                <a:latin typeface="Helvetica"/>
                <a:cs typeface="Helvetica"/>
              </a:rPr>
              <a:t>b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FF375BD-A7B7-6DAA-5DFF-644C18A5CCA8}"/>
              </a:ext>
            </a:extLst>
          </p:cNvPr>
          <p:cNvSpPr txBox="1"/>
          <p:nvPr/>
        </p:nvSpPr>
        <p:spPr>
          <a:xfrm>
            <a:off x="1447800" y="3166646"/>
            <a:ext cx="631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0" dirty="0">
                <a:solidFill>
                  <a:srgbClr val="FF8000"/>
                </a:solidFill>
                <a:latin typeface="Helvetica"/>
                <a:cs typeface="Helvetica"/>
              </a:rPr>
              <a:t>1/1</a:t>
            </a:r>
            <a:endParaRPr lang="en-US" sz="16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0AC67E-0D74-7776-F243-57207A7799A5}"/>
              </a:ext>
            </a:extLst>
          </p:cNvPr>
          <p:cNvSpPr txBox="1"/>
          <p:nvPr/>
        </p:nvSpPr>
        <p:spPr>
          <a:xfrm>
            <a:off x="1958976" y="3733800"/>
            <a:ext cx="631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0" dirty="0">
                <a:solidFill>
                  <a:srgbClr val="FF8000"/>
                </a:solidFill>
                <a:latin typeface="Helvetica"/>
                <a:cs typeface="Helvetica"/>
              </a:rPr>
              <a:t>1/1</a:t>
            </a:r>
            <a:endParaRPr lang="en-US" sz="16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E4FEF4E-7967-0C48-E143-BDF359AB092F}"/>
              </a:ext>
            </a:extLst>
          </p:cNvPr>
          <p:cNvSpPr txBox="1"/>
          <p:nvPr/>
        </p:nvSpPr>
        <p:spPr>
          <a:xfrm>
            <a:off x="3810000" y="2633246"/>
            <a:ext cx="631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-10" dirty="0">
                <a:solidFill>
                  <a:srgbClr val="FF8000"/>
                </a:solidFill>
                <a:latin typeface="Helvetica"/>
                <a:cs typeface="Helvetica"/>
              </a:rPr>
              <a:t>1/1</a:t>
            </a:r>
            <a:endParaRPr lang="en-US" sz="1600" dirty="0"/>
          </a:p>
        </p:txBody>
      </p:sp>
      <p:sp>
        <p:nvSpPr>
          <p:cNvPr id="107" name="object 64">
            <a:extLst>
              <a:ext uri="{FF2B5EF4-FFF2-40B4-BE49-F238E27FC236}">
                <a16:creationId xmlns:a16="http://schemas.microsoft.com/office/drawing/2014/main" id="{4BEA22CF-229C-17C7-4965-623FAE3C03D3}"/>
              </a:ext>
            </a:extLst>
          </p:cNvPr>
          <p:cNvSpPr txBox="1"/>
          <p:nvPr/>
        </p:nvSpPr>
        <p:spPr>
          <a:xfrm>
            <a:off x="3886200" y="4074160"/>
            <a:ext cx="307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8000"/>
                </a:solidFill>
                <a:latin typeface="Helvetica"/>
                <a:cs typeface="Helvetica"/>
              </a:rPr>
              <a:t>1/1</a:t>
            </a:r>
            <a:endParaRPr sz="1600" dirty="0">
              <a:latin typeface="Helvetica"/>
              <a:cs typeface="Helveti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Arial"/>
                <a:cs typeface="Arial"/>
              </a:rPr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125" y="900785"/>
            <a:ext cx="7243445" cy="18548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dirty="0">
                <a:latin typeface="Arial"/>
                <a:cs typeface="Arial"/>
              </a:rPr>
              <a:t>Metric to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measure degree of difficulty to test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20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  <a:tab pos="2684145" algn="l"/>
              </a:tabLst>
            </a:pPr>
            <a:r>
              <a:rPr sz="2000" b="1" dirty="0">
                <a:latin typeface="Arial"/>
                <a:cs typeface="Arial"/>
              </a:rPr>
              <a:t>Helps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1.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ATPG	2.</a:t>
            </a:r>
            <a:r>
              <a:rPr sz="20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endParaRPr sz="2000" dirty="0">
              <a:latin typeface="Arial"/>
              <a:cs typeface="Arial"/>
            </a:endParaRPr>
          </a:p>
          <a:p>
            <a:pPr marL="3937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SCOAP: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Combinational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CC</a:t>
            </a:r>
            <a:r>
              <a:rPr sz="1950" b="1" spc="7" baseline="25641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, CC</a:t>
            </a:r>
            <a:r>
              <a:rPr sz="1950" b="1" spc="7" baseline="25641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77184" y="3585972"/>
            <a:ext cx="5164073" cy="32697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5130" y="4410582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3617721" y="4893055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18991" y="3804920"/>
            <a:ext cx="343535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  <a:p>
            <a:pPr marL="12700">
              <a:lnSpc>
                <a:spcPts val="2030"/>
              </a:lnSpc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603" y="3744544"/>
            <a:ext cx="4705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r>
              <a:rPr sz="1800" dirty="0">
                <a:solidFill>
                  <a:srgbClr val="FF0000"/>
                </a:solidFill>
                <a:latin typeface="Helvetica"/>
                <a:cs typeface="Helvetica"/>
              </a:rPr>
              <a:t>.25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87797" y="4530344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Helvetica"/>
                <a:cs typeface="Helvetica"/>
              </a:rPr>
              <a:t>0.5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48603" y="4651324"/>
            <a:ext cx="4705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Helvetica"/>
                <a:cs typeface="Helvetica"/>
              </a:rPr>
              <a:t>0</a:t>
            </a:r>
            <a:r>
              <a:rPr sz="1800" dirty="0">
                <a:solidFill>
                  <a:srgbClr val="FF0000"/>
                </a:solidFill>
                <a:latin typeface="Helvetica"/>
                <a:cs typeface="Helvetica"/>
              </a:rPr>
              <a:t>.25</a:t>
            </a:r>
            <a:endParaRPr sz="1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13534</TotalTime>
  <Words>1160</Words>
  <Application>Microsoft Macintosh PowerPoint</Application>
  <PresentationFormat>On-screen Show (4:3)</PresentationFormat>
  <Paragraphs>334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Arial-BoldItalicMT</vt:lpstr>
      <vt:lpstr>Calibri</vt:lpstr>
      <vt:lpstr>Cambria Math</vt:lpstr>
      <vt:lpstr>Helvetica</vt:lpstr>
      <vt:lpstr>HelveticaNeue-BoldItalic</vt:lpstr>
      <vt:lpstr>Times New Roman</vt:lpstr>
      <vt:lpstr>Office Theme</vt:lpstr>
      <vt:lpstr>ECE 553: TESTING AND TESTABLE DESIGN OF DIGITAL SYSTEMS</vt:lpstr>
      <vt:lpstr>Course Roadmap (EDA Topics)</vt:lpstr>
      <vt:lpstr>Testability Measure</vt:lpstr>
      <vt:lpstr>Testability Measures</vt:lpstr>
      <vt:lpstr>Testability Analysis</vt:lpstr>
      <vt:lpstr>Categories of Testability Analysis</vt:lpstr>
      <vt:lpstr>Testability Measure</vt:lpstr>
      <vt:lpstr>SCOAP</vt:lpstr>
      <vt:lpstr>Combinational Controllability</vt:lpstr>
      <vt:lpstr>CC0(N) &amp; CC1(N)</vt:lpstr>
      <vt:lpstr>An Example – Controllability</vt:lpstr>
      <vt:lpstr>Quiz</vt:lpstr>
      <vt:lpstr>Combinational Observability</vt:lpstr>
      <vt:lpstr>CO(N)</vt:lpstr>
      <vt:lpstr>An Example – Observability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user</dc:creator>
  <cp:lastModifiedBy>Azadeh Davoodi</cp:lastModifiedBy>
  <cp:revision>120</cp:revision>
  <cp:lastPrinted>2024-04-02T14:11:35Z</cp:lastPrinted>
  <dcterms:created xsi:type="dcterms:W3CDTF">2022-09-12T15:13:55Z</dcterms:created>
  <dcterms:modified xsi:type="dcterms:W3CDTF">2025-02-17T15:42:50Z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2022-09-12T00:00:00Z</vt:filetime>
  </property>
</Properties>
</file>