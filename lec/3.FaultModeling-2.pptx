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322" r:id="rId2"/>
    <p:sldId id="335" r:id="rId3"/>
    <p:sldId id="336" r:id="rId4"/>
    <p:sldId id="337" r:id="rId5"/>
    <p:sldId id="338" r:id="rId6"/>
    <p:sldId id="339" r:id="rId7"/>
    <p:sldId id="342" r:id="rId8"/>
    <p:sldId id="344" r:id="rId9"/>
    <p:sldId id="347" r:id="rId10"/>
    <p:sldId id="349" r:id="rId11"/>
    <p:sldId id="350" r:id="rId12"/>
    <p:sldId id="351" r:id="rId13"/>
    <p:sldId id="355" r:id="rId14"/>
    <p:sldId id="356" r:id="rId15"/>
    <p:sldId id="353" r:id="rId16"/>
    <p:sldId id="357" r:id="rId17"/>
    <p:sldId id="358" r:id="rId18"/>
    <p:sldId id="359" r:id="rId19"/>
    <p:sldId id="360" r:id="rId20"/>
    <p:sldId id="362" r:id="rId21"/>
    <p:sldId id="363" r:id="rId2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2A82"/>
    <a:srgbClr val="255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45"/>
    <p:restoredTop sz="85513"/>
  </p:normalViewPr>
  <p:slideViewPr>
    <p:cSldViewPr>
      <p:cViewPr varScale="1">
        <p:scale>
          <a:sx n="100" d="100"/>
          <a:sy n="100" d="100"/>
        </p:scale>
        <p:origin x="234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7T19:40:15.029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33 1715 16383,'0'-14'0,"0"1"0,0-13 0,0-34 0,-6-3 0,4-16 0,-3 23 0,5 15 0,0 1 0,-5 12 0,4 7 0,-8 7 0,8 5 0,-3-4 0,4-2 0,0-3 0,0-8 0,0 9 0,0-8 0,0 15 0,0-9 0,0 8 0,0-2 0,0 4 0,0 1 0,0-1 0,0-10 0,0-4 0,0-10 0,0-7 0,5 5 0,-4 1 0,9 8 0,-9 6 0,3 5 0,-4 1 0,0 4 0,0 2 0,0-11 0,0 3 0,0-8 0,0 4 0,0 4 0,0 2 0,0 5 0,0 0 0,0-7 0,0-5 0,0-9 0,0-17 0,0 3 0,0-12 0,0 8 0,0 7 0,0 6 0,0 9 0,0 11 0,0 1 0,0 5 0,0 0 0,0 0 0,0-5 0,0 4 0,0-4 0,0 0 0,0 3 0,0-3 0,0 5 0,0 0 0,0 1 0,0-1 0,0 1 0,0-1 0,0 0 0,0 1 0,0-1 0,0 0 0,0 0 0,0 0 0,4 4 0,-3-2 0,2 2 0,1 0 0,-3-3 0,3 3 0,0 0 0,-3-2 0,7 6 0,-7-3 0,2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7T19:40:15.382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0 0 16383,'0'0'0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43DA4-C7C3-C64B-B9EC-F9256B075DA1}" type="datetimeFigureOut">
              <a:rPr lang="en-US" smtClean="0"/>
              <a:t>1/29/25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9BBE0-496F-2447-BD52-767521AC6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56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why it cannot be detected</a:t>
            </a:r>
          </a:p>
          <a:p>
            <a:r>
              <a:rPr lang="en-US" dirty="0"/>
              <a:t>T1: 00 makes it feedback latch which makes the output “unchanged” whatever was the last state (it is not a 0)</a:t>
            </a:r>
          </a:p>
          <a:p>
            <a:r>
              <a:rPr lang="en-US" dirty="0"/>
              <a:t>T2: apply 10 or 11, output is 1 and can be detected </a:t>
            </a:r>
          </a:p>
          <a:p>
            <a:r>
              <a:rPr lang="en-US" dirty="0"/>
              <a:t>Potential detection will be discussed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84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Both"/>
            </a:pPr>
            <a:r>
              <a:rPr lang="en-US" dirty="0"/>
              <a:t>Is really stuck-at fault</a:t>
            </a:r>
          </a:p>
          <a:p>
            <a:pPr marL="228600" indent="-228600">
              <a:buAutoNum type="arabicParenBoth"/>
            </a:pPr>
            <a:r>
              <a:rPr lang="en-US" dirty="0"/>
              <a:t> Defect resistance value (i.e., a resistance value for a line different than intended) is broader than bridging (when resistance = 0)</a:t>
            </a:r>
          </a:p>
          <a:p>
            <a:pPr marL="228600" indent="-228600">
              <a:buAutoNum type="arabicParenBoth"/>
            </a:pPr>
            <a:r>
              <a:rPr lang="en-US" dirty="0"/>
              <a:t> Anything within a gate is modeled using transistor-level fault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3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Both"/>
            </a:pPr>
            <a:r>
              <a:rPr lang="en-US" dirty="0"/>
              <a:t>Test pattern should ensure a propagating transition at the output (through the path). </a:t>
            </a:r>
          </a:p>
          <a:p>
            <a:pPr marL="228600" indent="-228600">
              <a:buAutoNum type="arabicParenBoth"/>
            </a:pPr>
            <a:r>
              <a:rPr lang="en-US" dirty="0"/>
              <a:t>Test is done by applying a large-enough T (clock period) to detect the transition t the output and then gradually decrease T until the transition is not detected. Test is considered a pass if the desired clock period is within the range that the transition is detected.</a:t>
            </a:r>
          </a:p>
          <a:p>
            <a:pPr marL="228600" indent="-228600">
              <a:buAutoNum type="arabicParenBoth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05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90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is taking controlling value –&gt; G1 =0 in both cycles</a:t>
            </a:r>
          </a:p>
          <a:p>
            <a:r>
              <a:rPr lang="en-US" dirty="0"/>
              <a:t>C is taking non-controlling value </a:t>
            </a:r>
            <a:r>
              <a:rPr lang="en-US" dirty="0">
                <a:sym typeface="Wingdings" pitchFamily="2" charset="2"/>
              </a:rPr>
              <a:t> G3 = B in both cycles</a:t>
            </a:r>
          </a:p>
          <a:p>
            <a:r>
              <a:rPr lang="en-US" dirty="0">
                <a:sym typeface="Wingdings" pitchFamily="2" charset="2"/>
              </a:rPr>
              <a:t>G4 has non-controlling value fed by G1  K= output of G3   transition is detected which means the two-cycle test can detect the path-delay fault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63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0066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57% of chips are detected by any of the 3 tests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0.5% of chips  are only detected by stuck-at tests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Overall, all tests are necessary but stuck-at test pretty good (not covered by stuck-at tests (20%+12%+3%)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25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Linear in number of nodes while exponential number of paths can be formed between nodes in worst-case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Trade off between model accuracy and complexity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81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3.1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3.1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3.1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3.1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3.1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70553" y="164414"/>
            <a:ext cx="1802892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225" y="1998319"/>
            <a:ext cx="4365625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03772" y="6558488"/>
            <a:ext cx="313182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3.1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1538681"/>
            <a:ext cx="6491350" cy="16671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algn="ctr">
              <a:lnSpc>
                <a:spcPts val="4305"/>
              </a:lnSpc>
              <a:spcBef>
                <a:spcPts val="100"/>
              </a:spcBef>
            </a:pPr>
            <a:r>
              <a:rPr lang="en-US" altLang="en-US" sz="3600" i="0" dirty="0">
                <a:solidFill>
                  <a:srgbClr val="00B050"/>
                </a:solidFill>
                <a:latin typeface="Arial"/>
                <a:cs typeface="Arial"/>
              </a:rPr>
              <a:t>ECE 553: TESTING AND TESTABLE DESIGN OF DIGITAL SYSTEMS</a:t>
            </a:r>
            <a:endParaRPr sz="3600" i="0"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448712A-7B4A-AE3A-614D-656387799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4849" y="3419602"/>
            <a:ext cx="67343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 marR="149225" algn="ctr">
              <a:lnSpc>
                <a:spcPct val="100000"/>
              </a:lnSpc>
              <a:spcBef>
                <a:spcPts val="100"/>
              </a:spcBef>
            </a:pPr>
            <a:r>
              <a:rPr lang="en-US" sz="3600" i="1" spc="-5" dirty="0">
                <a:solidFill>
                  <a:srgbClr val="FF0000"/>
                </a:solidFill>
                <a:latin typeface="Arial-BoldItalicMT"/>
              </a:rPr>
              <a:t>Fault Modeling (2)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164414"/>
            <a:ext cx="32499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45" dirty="0"/>
              <a:t> </a:t>
            </a:r>
            <a:r>
              <a:rPr spc="-5" dirty="0"/>
              <a:t>Modeling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3251835" cy="3267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Fault</a:t>
            </a:r>
            <a:r>
              <a:rPr sz="20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Models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Stuck-at fault</a:t>
            </a:r>
            <a:r>
              <a:rPr sz="2000" b="1" spc="-13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(1961)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Bridging fault</a:t>
            </a:r>
            <a:r>
              <a:rPr sz="2000" b="1" u="sng" spc="-1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(1973)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Delay fault</a:t>
            </a:r>
            <a:r>
              <a:rPr sz="2000" b="1" spc="-13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(1974)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Transistor </a:t>
            </a: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level</a:t>
            </a:r>
            <a:r>
              <a:rPr sz="2000" b="1" spc="-9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r>
              <a:rPr sz="2000" b="1" spc="-8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Detection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r>
              <a:rPr sz="2000" b="1" spc="-7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Coverage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Conclusion</a:t>
            </a:r>
            <a:r>
              <a:rPr lang="en-US" sz="2000" b="1" dirty="0">
                <a:solidFill>
                  <a:srgbClr val="A6A6A6"/>
                </a:solidFill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08320" y="3968496"/>
            <a:ext cx="1799844" cy="1946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8730" y="164414"/>
            <a:ext cx="64776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Classification of </a:t>
            </a:r>
            <a:r>
              <a:rPr spc="-5" dirty="0"/>
              <a:t>Fault</a:t>
            </a:r>
            <a:r>
              <a:rPr spc="-85" dirty="0"/>
              <a:t> </a:t>
            </a:r>
            <a:r>
              <a:rPr dirty="0"/>
              <a:t>Models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07EF3A-D804-D8D7-787A-D7A184FF7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066800"/>
            <a:ext cx="7299399" cy="46905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8659" y="164414"/>
            <a:ext cx="67957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Bridging </a:t>
            </a:r>
            <a:r>
              <a:rPr dirty="0"/>
              <a:t>Faults </a:t>
            </a:r>
            <a:r>
              <a:rPr spc="-5" dirty="0"/>
              <a:t>(BF) </a:t>
            </a:r>
            <a:r>
              <a:rPr sz="1400" dirty="0"/>
              <a:t>[Williams 73][Friedman</a:t>
            </a:r>
            <a:r>
              <a:rPr sz="1400" spc="-105" dirty="0"/>
              <a:t> </a:t>
            </a:r>
            <a:r>
              <a:rPr sz="1400" dirty="0"/>
              <a:t>74]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8568055" cy="10617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Definition:</a:t>
            </a:r>
            <a:endParaRPr sz="2000" dirty="0">
              <a:latin typeface="Arial"/>
              <a:cs typeface="Arial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5" dirty="0">
                <a:latin typeface="Arial"/>
                <a:cs typeface="Arial"/>
              </a:rPr>
              <a:t>Two </a:t>
            </a:r>
            <a:r>
              <a:rPr sz="2000" b="1" dirty="0">
                <a:latin typeface="Arial"/>
                <a:cs typeface="Arial"/>
              </a:rPr>
              <a:t>(or more) distinct </a:t>
            </a:r>
            <a:r>
              <a:rPr sz="2000" b="1" spc="-5" dirty="0">
                <a:latin typeface="Arial"/>
                <a:cs typeface="Arial"/>
              </a:rPr>
              <a:t>logic </a:t>
            </a:r>
            <a:r>
              <a:rPr sz="2000" b="1" dirty="0">
                <a:latin typeface="Arial"/>
                <a:cs typeface="Arial"/>
              </a:rPr>
              <a:t>signals unintended shorted</a:t>
            </a:r>
            <a:r>
              <a:rPr sz="2000" b="1" spc="-1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together  and create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wired</a:t>
            </a:r>
            <a:r>
              <a:rPr sz="2000" b="1" i="1" spc="-7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logic</a:t>
            </a:r>
            <a:endParaRPr sz="2000" dirty="0">
              <a:latin typeface="Arial-BoldItalicMT"/>
              <a:cs typeface="Arial-BoldItalic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825" y="3766540"/>
            <a:ext cx="7313295" cy="14890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2000" b="1" dirty="0">
                <a:latin typeface="Arial"/>
                <a:cs typeface="Arial"/>
              </a:rPr>
              <a:t>Q: </a:t>
            </a:r>
            <a:r>
              <a:rPr sz="2000" b="1" spc="-5" dirty="0">
                <a:latin typeface="Arial"/>
                <a:cs typeface="Arial"/>
              </a:rPr>
              <a:t>How </a:t>
            </a:r>
            <a:r>
              <a:rPr sz="2000" b="1" dirty="0">
                <a:latin typeface="Arial"/>
                <a:cs typeface="Arial"/>
              </a:rPr>
              <a:t>many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two-way </a:t>
            </a:r>
            <a:r>
              <a:rPr sz="2000" b="1" spc="5" dirty="0">
                <a:solidFill>
                  <a:srgbClr val="0000FF"/>
                </a:solidFill>
                <a:latin typeface="Arial"/>
                <a:cs typeface="Arial"/>
              </a:rPr>
              <a:t>BF </a:t>
            </a:r>
            <a:r>
              <a:rPr sz="2000" b="1" dirty="0">
                <a:latin typeface="Arial"/>
                <a:cs typeface="Arial"/>
              </a:rPr>
              <a:t>in a circuit of </a:t>
            </a:r>
            <a:r>
              <a:rPr sz="2000" b="1" i="1" dirty="0">
                <a:latin typeface="Arial-BoldItalicMT"/>
                <a:cs typeface="Arial-BoldItalicMT"/>
              </a:rPr>
              <a:t>n</a:t>
            </a:r>
            <a:r>
              <a:rPr sz="2000" b="1" i="1" spc="-195" dirty="0">
                <a:latin typeface="Arial-BoldItalicMT"/>
                <a:cs typeface="Arial-BoldItalicMT"/>
              </a:rPr>
              <a:t> </a:t>
            </a:r>
            <a:r>
              <a:rPr sz="2000" b="1" dirty="0">
                <a:latin typeface="Arial"/>
                <a:cs typeface="Arial"/>
              </a:rPr>
              <a:t>signals?</a:t>
            </a:r>
            <a:endParaRPr sz="2000">
              <a:latin typeface="Arial"/>
              <a:cs typeface="Arial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  <a:tab pos="1993264" algn="l"/>
                <a:tab pos="5010150" algn="l"/>
                <a:tab pos="6050915" algn="l"/>
              </a:tabLst>
            </a:pPr>
            <a:r>
              <a:rPr sz="2000" b="1" dirty="0">
                <a:latin typeface="Arial"/>
                <a:cs typeface="Arial"/>
              </a:rPr>
              <a:t>Arbitrary	choose </a:t>
            </a:r>
            <a:r>
              <a:rPr sz="2000" b="1" spc="5" dirty="0">
                <a:latin typeface="Arial"/>
                <a:cs typeface="Arial"/>
              </a:rPr>
              <a:t>two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signals: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1950" b="1" i="1" spc="22" baseline="25641" dirty="0">
                <a:solidFill>
                  <a:srgbClr val="0000FF"/>
                </a:solidFill>
                <a:latin typeface="Arial-BoldItalicMT"/>
                <a:cs typeface="Arial-BoldItalicMT"/>
              </a:rPr>
              <a:t>n</a:t>
            </a:r>
            <a:r>
              <a:rPr sz="1950" b="1" spc="22" baseline="-21367" dirty="0">
                <a:solidFill>
                  <a:srgbClr val="0000FF"/>
                </a:solidFill>
                <a:latin typeface="Arial"/>
                <a:cs typeface="Arial"/>
              </a:rPr>
              <a:t>2	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O(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n</a:t>
            </a:r>
            <a:r>
              <a:rPr sz="1950" b="1" baseline="2564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).	</a:t>
            </a:r>
            <a:r>
              <a:rPr sz="2000" b="1" dirty="0">
                <a:latin typeface="Arial"/>
                <a:cs typeface="Arial"/>
              </a:rPr>
              <a:t>too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many!</a:t>
            </a:r>
            <a:endParaRPr sz="2000">
              <a:latin typeface="Arial"/>
              <a:cs typeface="Arial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</a:tabLst>
            </a:pPr>
            <a:r>
              <a:rPr sz="2000" b="1" dirty="0">
                <a:latin typeface="Arial"/>
                <a:cs typeface="Arial"/>
              </a:rPr>
              <a:t>Need to identify pairs of neighbor signals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sz="2000" b="1" spc="-1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layout</a:t>
            </a:r>
            <a:endParaRPr sz="2000">
              <a:latin typeface="Arial"/>
              <a:cs typeface="Arial"/>
            </a:endParaRPr>
          </a:p>
          <a:p>
            <a:pPr marL="9525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Fault</a:t>
            </a:r>
            <a:r>
              <a:rPr sz="2000" b="1" i="1" spc="-1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extraction</a:t>
            </a:r>
            <a:endParaRPr sz="2000">
              <a:latin typeface="Arial-BoldItalicMT"/>
              <a:cs typeface="Arial-BoldItalic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73396" y="1889181"/>
            <a:ext cx="1210055" cy="18583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20084" y="2243327"/>
            <a:ext cx="1176527" cy="1600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79676" y="2249551"/>
            <a:ext cx="1504160" cy="14659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07582" y="3026409"/>
            <a:ext cx="2551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7E7E7E"/>
                </a:solidFill>
                <a:latin typeface="Times New Roman"/>
                <a:cs typeface="Times New Roman"/>
              </a:rPr>
              <a:t>CMP= </a:t>
            </a:r>
            <a:r>
              <a:rPr sz="1200" b="1" spc="-5" dirty="0">
                <a:solidFill>
                  <a:srgbClr val="7E7E7E"/>
                </a:solidFill>
                <a:latin typeface="Times New Roman"/>
                <a:cs typeface="Times New Roman"/>
              </a:rPr>
              <a:t>Chemical Mechanical Polishing  </a:t>
            </a:r>
            <a:r>
              <a:rPr sz="1200" b="1" spc="-10" dirty="0">
                <a:solidFill>
                  <a:srgbClr val="7E7E7E"/>
                </a:solidFill>
                <a:latin typeface="Times New Roman"/>
                <a:cs typeface="Times New Roman"/>
              </a:rPr>
              <a:t>Picture source: </a:t>
            </a:r>
            <a:r>
              <a:rPr sz="1200" b="1" spc="-5" dirty="0">
                <a:solidFill>
                  <a:srgbClr val="7E7E7E"/>
                </a:solidFill>
                <a:latin typeface="Times New Roman"/>
                <a:cs typeface="Times New Roman"/>
              </a:rPr>
              <a:t>Mentor</a:t>
            </a:r>
            <a:r>
              <a:rPr sz="1200" b="1" spc="5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200" b="1" spc="-5" dirty="0">
                <a:solidFill>
                  <a:srgbClr val="7E7E7E"/>
                </a:solidFill>
                <a:latin typeface="Times New Roman"/>
                <a:cs typeface="Times New Roman"/>
              </a:rPr>
              <a:t>graphics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43628" y="4329684"/>
            <a:ext cx="3672840" cy="1475740"/>
          </a:xfrm>
          <a:custGeom>
            <a:avLst/>
            <a:gdLst/>
            <a:ahLst/>
            <a:cxnLst/>
            <a:rect l="l" t="t" r="r" b="b"/>
            <a:pathLst>
              <a:path w="3672840" h="1475739">
                <a:moveTo>
                  <a:pt x="0" y="1475231"/>
                </a:moveTo>
                <a:lnTo>
                  <a:pt x="3672839" y="1475231"/>
                </a:lnTo>
                <a:lnTo>
                  <a:pt x="3672839" y="0"/>
                </a:lnTo>
                <a:lnTo>
                  <a:pt x="0" y="0"/>
                </a:lnTo>
                <a:lnTo>
                  <a:pt x="0" y="1475231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3722370" cy="14890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Popular models for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CMOS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Wired-OR</a:t>
            </a:r>
            <a:r>
              <a:rPr sz="2000" b="1" i="1" spc="-11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dirty="0">
                <a:latin typeface="Arial"/>
                <a:cs typeface="Arial"/>
              </a:rPr>
              <a:t>(1-dominant)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Wired-AND</a:t>
            </a:r>
            <a:r>
              <a:rPr sz="2000" b="1" i="1" spc="-10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dirty="0">
                <a:latin typeface="Arial"/>
                <a:cs typeface="Arial"/>
              </a:rPr>
              <a:t>(0-dominant)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A-dominant</a:t>
            </a:r>
            <a:endParaRPr sz="2000">
              <a:latin typeface="Arial-BoldItalicMT"/>
              <a:cs typeface="Arial-BoldItalic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43628" y="2708148"/>
            <a:ext cx="3672840" cy="1477010"/>
          </a:xfrm>
          <a:custGeom>
            <a:avLst/>
            <a:gdLst/>
            <a:ahLst/>
            <a:cxnLst/>
            <a:rect l="l" t="t" r="r" b="b"/>
            <a:pathLst>
              <a:path w="3672840" h="1477010">
                <a:moveTo>
                  <a:pt x="0" y="1476756"/>
                </a:moveTo>
                <a:lnTo>
                  <a:pt x="3672839" y="1476756"/>
                </a:lnTo>
                <a:lnTo>
                  <a:pt x="3672839" y="0"/>
                </a:lnTo>
                <a:lnTo>
                  <a:pt x="0" y="0"/>
                </a:lnTo>
                <a:lnTo>
                  <a:pt x="0" y="147675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3467" y="164414"/>
            <a:ext cx="4826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Bridging </a:t>
            </a:r>
            <a:r>
              <a:rPr dirty="0"/>
              <a:t>Fault</a:t>
            </a:r>
            <a:r>
              <a:rPr spc="-30" dirty="0"/>
              <a:t> </a:t>
            </a:r>
            <a:r>
              <a:rPr spc="-5" dirty="0"/>
              <a:t>Models</a:t>
            </a:r>
          </a:p>
        </p:txBody>
      </p:sp>
      <p:sp>
        <p:nvSpPr>
          <p:cNvPr id="6" name="object 6"/>
          <p:cNvSpPr/>
          <p:nvPr/>
        </p:nvSpPr>
        <p:spPr>
          <a:xfrm>
            <a:off x="928877" y="3940302"/>
            <a:ext cx="1501140" cy="0"/>
          </a:xfrm>
          <a:custGeom>
            <a:avLst/>
            <a:gdLst/>
            <a:ahLst/>
            <a:cxnLst/>
            <a:rect l="l" t="t" r="r" b="b"/>
            <a:pathLst>
              <a:path w="1501139">
                <a:moveTo>
                  <a:pt x="1501140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46504" y="3875532"/>
            <a:ext cx="109727" cy="111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77517" y="3789426"/>
            <a:ext cx="287020" cy="288290"/>
          </a:xfrm>
          <a:custGeom>
            <a:avLst/>
            <a:gdLst/>
            <a:ahLst/>
            <a:cxnLst/>
            <a:rect l="l" t="t" r="r" b="b"/>
            <a:pathLst>
              <a:path w="287019" h="288289">
                <a:moveTo>
                  <a:pt x="0" y="0"/>
                </a:moveTo>
                <a:lnTo>
                  <a:pt x="0" y="288036"/>
                </a:lnTo>
                <a:lnTo>
                  <a:pt x="286512" y="1440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77517" y="3789426"/>
            <a:ext cx="287020" cy="288290"/>
          </a:xfrm>
          <a:custGeom>
            <a:avLst/>
            <a:gdLst/>
            <a:ahLst/>
            <a:cxnLst/>
            <a:rect l="l" t="t" r="r" b="b"/>
            <a:pathLst>
              <a:path w="287019" h="288289">
                <a:moveTo>
                  <a:pt x="0" y="0"/>
                </a:moveTo>
                <a:lnTo>
                  <a:pt x="286512" y="144018"/>
                </a:lnTo>
                <a:lnTo>
                  <a:pt x="0" y="28803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8877" y="4589526"/>
            <a:ext cx="1501140" cy="0"/>
          </a:xfrm>
          <a:custGeom>
            <a:avLst/>
            <a:gdLst/>
            <a:ahLst/>
            <a:cxnLst/>
            <a:rect l="l" t="t" r="r" b="b"/>
            <a:pathLst>
              <a:path w="1501139">
                <a:moveTo>
                  <a:pt x="1501140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46504" y="4521708"/>
            <a:ext cx="109727" cy="1112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77517" y="4435602"/>
            <a:ext cx="287020" cy="288290"/>
          </a:xfrm>
          <a:custGeom>
            <a:avLst/>
            <a:gdLst/>
            <a:ahLst/>
            <a:cxnLst/>
            <a:rect l="l" t="t" r="r" b="b"/>
            <a:pathLst>
              <a:path w="287019" h="288289">
                <a:moveTo>
                  <a:pt x="0" y="0"/>
                </a:moveTo>
                <a:lnTo>
                  <a:pt x="0" y="288036"/>
                </a:lnTo>
                <a:lnTo>
                  <a:pt x="286512" y="1440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77517" y="4435602"/>
            <a:ext cx="287020" cy="288290"/>
          </a:xfrm>
          <a:custGeom>
            <a:avLst/>
            <a:gdLst/>
            <a:ahLst/>
            <a:cxnLst/>
            <a:rect l="l" t="t" r="r" b="b"/>
            <a:pathLst>
              <a:path w="287019" h="288289">
                <a:moveTo>
                  <a:pt x="0" y="0"/>
                </a:moveTo>
                <a:lnTo>
                  <a:pt x="286512" y="144018"/>
                </a:lnTo>
                <a:lnTo>
                  <a:pt x="0" y="28803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474467" y="376135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a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74467" y="440905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b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9066" y="3759834"/>
            <a:ext cx="965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f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4014" y="4407534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g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26742" y="3932682"/>
            <a:ext cx="0" cy="649605"/>
          </a:xfrm>
          <a:custGeom>
            <a:avLst/>
            <a:gdLst/>
            <a:ahLst/>
            <a:cxnLst/>
            <a:rect l="l" t="t" r="r" b="b"/>
            <a:pathLst>
              <a:path h="649604">
                <a:moveTo>
                  <a:pt x="0" y="0"/>
                </a:moveTo>
                <a:lnTo>
                  <a:pt x="0" y="649224"/>
                </a:lnTo>
              </a:path>
            </a:pathLst>
          </a:custGeom>
          <a:ln w="38100">
            <a:solidFill>
              <a:srgbClr val="C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662166" y="3213354"/>
            <a:ext cx="433070" cy="433070"/>
          </a:xfrm>
          <a:custGeom>
            <a:avLst/>
            <a:gdLst/>
            <a:ahLst/>
            <a:cxnLst/>
            <a:rect l="l" t="t" r="r" b="b"/>
            <a:pathLst>
              <a:path w="433070" h="433070">
                <a:moveTo>
                  <a:pt x="0" y="0"/>
                </a:moveTo>
                <a:lnTo>
                  <a:pt x="24997" y="42486"/>
                </a:lnTo>
                <a:lnTo>
                  <a:pt x="44439" y="85502"/>
                </a:lnTo>
                <a:lnTo>
                  <a:pt x="58327" y="128916"/>
                </a:lnTo>
                <a:lnTo>
                  <a:pt x="66659" y="172596"/>
                </a:lnTo>
                <a:lnTo>
                  <a:pt x="69437" y="216408"/>
                </a:lnTo>
                <a:lnTo>
                  <a:pt x="66659" y="260219"/>
                </a:lnTo>
                <a:lnTo>
                  <a:pt x="58327" y="303899"/>
                </a:lnTo>
                <a:lnTo>
                  <a:pt x="44439" y="347313"/>
                </a:lnTo>
                <a:lnTo>
                  <a:pt x="24997" y="390329"/>
                </a:lnTo>
                <a:lnTo>
                  <a:pt x="0" y="432816"/>
                </a:lnTo>
                <a:lnTo>
                  <a:pt x="63953" y="430469"/>
                </a:lnTo>
                <a:lnTo>
                  <a:pt x="124994" y="423652"/>
                </a:lnTo>
                <a:lnTo>
                  <a:pt x="182454" y="412700"/>
                </a:lnTo>
                <a:lnTo>
                  <a:pt x="235662" y="397948"/>
                </a:lnTo>
                <a:lnTo>
                  <a:pt x="283949" y="379730"/>
                </a:lnTo>
                <a:lnTo>
                  <a:pt x="326645" y="358382"/>
                </a:lnTo>
                <a:lnTo>
                  <a:pt x="363080" y="334239"/>
                </a:lnTo>
                <a:lnTo>
                  <a:pt x="392585" y="307635"/>
                </a:lnTo>
                <a:lnTo>
                  <a:pt x="428122" y="248384"/>
                </a:lnTo>
                <a:lnTo>
                  <a:pt x="432815" y="216408"/>
                </a:lnTo>
                <a:lnTo>
                  <a:pt x="428122" y="184431"/>
                </a:lnTo>
                <a:lnTo>
                  <a:pt x="392585" y="125180"/>
                </a:lnTo>
                <a:lnTo>
                  <a:pt x="363080" y="98576"/>
                </a:lnTo>
                <a:lnTo>
                  <a:pt x="326645" y="74433"/>
                </a:lnTo>
                <a:lnTo>
                  <a:pt x="283949" y="53085"/>
                </a:lnTo>
                <a:lnTo>
                  <a:pt x="235662" y="34867"/>
                </a:lnTo>
                <a:lnTo>
                  <a:pt x="182454" y="20115"/>
                </a:lnTo>
                <a:lnTo>
                  <a:pt x="124994" y="9163"/>
                </a:lnTo>
                <a:lnTo>
                  <a:pt x="63953" y="2346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662166" y="3213354"/>
            <a:ext cx="433070" cy="433070"/>
          </a:xfrm>
          <a:custGeom>
            <a:avLst/>
            <a:gdLst/>
            <a:ahLst/>
            <a:cxnLst/>
            <a:rect l="l" t="t" r="r" b="b"/>
            <a:pathLst>
              <a:path w="433070" h="433070">
                <a:moveTo>
                  <a:pt x="0" y="432816"/>
                </a:moveTo>
                <a:lnTo>
                  <a:pt x="63953" y="430469"/>
                </a:lnTo>
                <a:lnTo>
                  <a:pt x="124994" y="423652"/>
                </a:lnTo>
                <a:lnTo>
                  <a:pt x="182454" y="412700"/>
                </a:lnTo>
                <a:lnTo>
                  <a:pt x="235662" y="397948"/>
                </a:lnTo>
                <a:lnTo>
                  <a:pt x="283949" y="379730"/>
                </a:lnTo>
                <a:lnTo>
                  <a:pt x="326645" y="358382"/>
                </a:lnTo>
                <a:lnTo>
                  <a:pt x="363080" y="334239"/>
                </a:lnTo>
                <a:lnTo>
                  <a:pt x="392585" y="307635"/>
                </a:lnTo>
                <a:lnTo>
                  <a:pt x="428122" y="248384"/>
                </a:lnTo>
                <a:lnTo>
                  <a:pt x="432815" y="216408"/>
                </a:lnTo>
                <a:lnTo>
                  <a:pt x="428122" y="184431"/>
                </a:lnTo>
                <a:lnTo>
                  <a:pt x="392585" y="125180"/>
                </a:lnTo>
                <a:lnTo>
                  <a:pt x="363080" y="98576"/>
                </a:lnTo>
                <a:lnTo>
                  <a:pt x="326645" y="74433"/>
                </a:lnTo>
                <a:lnTo>
                  <a:pt x="283949" y="53085"/>
                </a:lnTo>
                <a:lnTo>
                  <a:pt x="235662" y="34867"/>
                </a:lnTo>
                <a:lnTo>
                  <a:pt x="182454" y="20115"/>
                </a:lnTo>
                <a:lnTo>
                  <a:pt x="124994" y="9163"/>
                </a:lnTo>
                <a:lnTo>
                  <a:pt x="63953" y="2346"/>
                </a:lnTo>
                <a:lnTo>
                  <a:pt x="0" y="0"/>
                </a:lnTo>
                <a:lnTo>
                  <a:pt x="24997" y="42486"/>
                </a:lnTo>
                <a:lnTo>
                  <a:pt x="44439" y="85502"/>
                </a:lnTo>
                <a:lnTo>
                  <a:pt x="58327" y="128916"/>
                </a:lnTo>
                <a:lnTo>
                  <a:pt x="66659" y="172596"/>
                </a:lnTo>
                <a:lnTo>
                  <a:pt x="69437" y="216407"/>
                </a:lnTo>
                <a:lnTo>
                  <a:pt x="66659" y="260219"/>
                </a:lnTo>
                <a:lnTo>
                  <a:pt x="58327" y="303899"/>
                </a:lnTo>
                <a:lnTo>
                  <a:pt x="44439" y="347313"/>
                </a:lnTo>
                <a:lnTo>
                  <a:pt x="24997" y="390329"/>
                </a:lnTo>
                <a:lnTo>
                  <a:pt x="0" y="432816"/>
                </a:lnTo>
                <a:close/>
              </a:path>
            </a:pathLst>
          </a:custGeom>
          <a:ln w="381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29378" y="3071622"/>
            <a:ext cx="1013460" cy="0"/>
          </a:xfrm>
          <a:custGeom>
            <a:avLst/>
            <a:gdLst/>
            <a:ahLst/>
            <a:cxnLst/>
            <a:rect l="l" t="t" r="r" b="b"/>
            <a:pathLst>
              <a:path w="1013460">
                <a:moveTo>
                  <a:pt x="1013460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780532" y="3012948"/>
            <a:ext cx="109727" cy="1097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511546" y="2926842"/>
            <a:ext cx="287020" cy="287020"/>
          </a:xfrm>
          <a:custGeom>
            <a:avLst/>
            <a:gdLst/>
            <a:ahLst/>
            <a:cxnLst/>
            <a:rect l="l" t="t" r="r" b="b"/>
            <a:pathLst>
              <a:path w="287020" h="287019">
                <a:moveTo>
                  <a:pt x="0" y="0"/>
                </a:moveTo>
                <a:lnTo>
                  <a:pt x="0" y="286512"/>
                </a:lnTo>
                <a:lnTo>
                  <a:pt x="286512" y="1432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11546" y="2926842"/>
            <a:ext cx="287020" cy="287020"/>
          </a:xfrm>
          <a:custGeom>
            <a:avLst/>
            <a:gdLst/>
            <a:ahLst/>
            <a:cxnLst/>
            <a:rect l="l" t="t" r="r" b="b"/>
            <a:pathLst>
              <a:path w="287020" h="287019">
                <a:moveTo>
                  <a:pt x="0" y="0"/>
                </a:moveTo>
                <a:lnTo>
                  <a:pt x="286512" y="143256"/>
                </a:lnTo>
                <a:lnTo>
                  <a:pt x="0" y="286512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929378" y="3789426"/>
            <a:ext cx="715010" cy="0"/>
          </a:xfrm>
          <a:custGeom>
            <a:avLst/>
            <a:gdLst/>
            <a:ahLst/>
            <a:cxnLst/>
            <a:rect l="l" t="t" r="r" b="b"/>
            <a:pathLst>
              <a:path w="715010">
                <a:moveTo>
                  <a:pt x="71475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780532" y="3730752"/>
            <a:ext cx="109727" cy="1112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11546" y="3646170"/>
            <a:ext cx="287020" cy="287020"/>
          </a:xfrm>
          <a:custGeom>
            <a:avLst/>
            <a:gdLst/>
            <a:ahLst/>
            <a:cxnLst/>
            <a:rect l="l" t="t" r="r" b="b"/>
            <a:pathLst>
              <a:path w="287020" h="287020">
                <a:moveTo>
                  <a:pt x="0" y="0"/>
                </a:moveTo>
                <a:lnTo>
                  <a:pt x="0" y="286511"/>
                </a:lnTo>
                <a:lnTo>
                  <a:pt x="286512" y="1432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11546" y="3646170"/>
            <a:ext cx="287020" cy="287020"/>
          </a:xfrm>
          <a:custGeom>
            <a:avLst/>
            <a:gdLst/>
            <a:ahLst/>
            <a:cxnLst/>
            <a:rect l="l" t="t" r="r" b="b"/>
            <a:pathLst>
              <a:path w="287020" h="287020">
                <a:moveTo>
                  <a:pt x="0" y="0"/>
                </a:moveTo>
                <a:lnTo>
                  <a:pt x="286512" y="143255"/>
                </a:lnTo>
                <a:lnTo>
                  <a:pt x="0" y="286511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741031" y="2897505"/>
            <a:ext cx="3035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Helvetica"/>
                <a:cs typeface="Helvetica"/>
              </a:rPr>
              <a:t>a+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741031" y="3618357"/>
            <a:ext cx="3035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b+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094981" y="3071622"/>
            <a:ext cx="646430" cy="358775"/>
          </a:xfrm>
          <a:custGeom>
            <a:avLst/>
            <a:gdLst/>
            <a:ahLst/>
            <a:cxnLst/>
            <a:rect l="l" t="t" r="r" b="b"/>
            <a:pathLst>
              <a:path w="646429" h="358775">
                <a:moveTo>
                  <a:pt x="0" y="358775"/>
                </a:moveTo>
                <a:lnTo>
                  <a:pt x="323088" y="358775"/>
                </a:lnTo>
                <a:lnTo>
                  <a:pt x="323088" y="0"/>
                </a:lnTo>
                <a:lnTo>
                  <a:pt x="64604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226045" y="3429761"/>
            <a:ext cx="503555" cy="361950"/>
          </a:xfrm>
          <a:custGeom>
            <a:avLst/>
            <a:gdLst/>
            <a:ahLst/>
            <a:cxnLst/>
            <a:rect l="l" t="t" r="r" b="b"/>
            <a:pathLst>
              <a:path w="503554" h="361950">
                <a:moveTo>
                  <a:pt x="0" y="0"/>
                </a:moveTo>
                <a:lnTo>
                  <a:pt x="187325" y="0"/>
                </a:lnTo>
                <a:lnTo>
                  <a:pt x="187325" y="361950"/>
                </a:lnTo>
                <a:lnTo>
                  <a:pt x="503174" y="36195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756150" y="2895981"/>
            <a:ext cx="838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Helvetica"/>
                <a:cs typeface="Helvetica"/>
              </a:rPr>
              <a:t>f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21097" y="3616833"/>
            <a:ext cx="154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g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907785" y="3070098"/>
            <a:ext cx="792480" cy="217804"/>
          </a:xfrm>
          <a:custGeom>
            <a:avLst/>
            <a:gdLst/>
            <a:ahLst/>
            <a:cxnLst/>
            <a:rect l="l" t="t" r="r" b="b"/>
            <a:pathLst>
              <a:path w="792479" h="217804">
                <a:moveTo>
                  <a:pt x="0" y="0"/>
                </a:moveTo>
                <a:lnTo>
                  <a:pt x="320039" y="0"/>
                </a:lnTo>
                <a:lnTo>
                  <a:pt x="320039" y="217424"/>
                </a:lnTo>
                <a:lnTo>
                  <a:pt x="792098" y="2174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868161" y="3580638"/>
            <a:ext cx="844550" cy="206375"/>
          </a:xfrm>
          <a:custGeom>
            <a:avLst/>
            <a:gdLst/>
            <a:ahLst/>
            <a:cxnLst/>
            <a:rect l="l" t="t" r="r" b="b"/>
            <a:pathLst>
              <a:path w="844550" h="206375">
                <a:moveTo>
                  <a:pt x="0" y="206375"/>
                </a:moveTo>
                <a:lnTo>
                  <a:pt x="422275" y="206375"/>
                </a:lnTo>
                <a:lnTo>
                  <a:pt x="422275" y="0"/>
                </a:lnTo>
                <a:lnTo>
                  <a:pt x="84454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663690" y="4862321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215645" y="0"/>
                </a:moveTo>
                <a:lnTo>
                  <a:pt x="0" y="0"/>
                </a:lnTo>
                <a:lnTo>
                  <a:pt x="0" y="429767"/>
                </a:lnTo>
                <a:lnTo>
                  <a:pt x="215645" y="429767"/>
                </a:lnTo>
                <a:lnTo>
                  <a:pt x="265100" y="424089"/>
                </a:lnTo>
                <a:lnTo>
                  <a:pt x="310493" y="407916"/>
                </a:lnTo>
                <a:lnTo>
                  <a:pt x="350533" y="382541"/>
                </a:lnTo>
                <a:lnTo>
                  <a:pt x="383925" y="349258"/>
                </a:lnTo>
                <a:lnTo>
                  <a:pt x="409378" y="309358"/>
                </a:lnTo>
                <a:lnTo>
                  <a:pt x="425598" y="264136"/>
                </a:lnTo>
                <a:lnTo>
                  <a:pt x="431291" y="214883"/>
                </a:lnTo>
                <a:lnTo>
                  <a:pt x="425598" y="165631"/>
                </a:lnTo>
                <a:lnTo>
                  <a:pt x="409378" y="120409"/>
                </a:lnTo>
                <a:lnTo>
                  <a:pt x="383925" y="80509"/>
                </a:lnTo>
                <a:lnTo>
                  <a:pt x="350533" y="47226"/>
                </a:lnTo>
                <a:lnTo>
                  <a:pt x="310493" y="21851"/>
                </a:lnTo>
                <a:lnTo>
                  <a:pt x="265100" y="5678"/>
                </a:lnTo>
                <a:lnTo>
                  <a:pt x="21564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663690" y="4862321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0" y="0"/>
                </a:moveTo>
                <a:lnTo>
                  <a:pt x="215645" y="0"/>
                </a:lnTo>
                <a:lnTo>
                  <a:pt x="265100" y="5678"/>
                </a:lnTo>
                <a:lnTo>
                  <a:pt x="310493" y="21851"/>
                </a:lnTo>
                <a:lnTo>
                  <a:pt x="350533" y="47226"/>
                </a:lnTo>
                <a:lnTo>
                  <a:pt x="383925" y="80509"/>
                </a:lnTo>
                <a:lnTo>
                  <a:pt x="409378" y="120409"/>
                </a:lnTo>
                <a:lnTo>
                  <a:pt x="425598" y="165631"/>
                </a:lnTo>
                <a:lnTo>
                  <a:pt x="431291" y="214883"/>
                </a:lnTo>
                <a:lnTo>
                  <a:pt x="425598" y="264136"/>
                </a:lnTo>
                <a:lnTo>
                  <a:pt x="409378" y="309358"/>
                </a:lnTo>
                <a:lnTo>
                  <a:pt x="383925" y="349258"/>
                </a:lnTo>
                <a:lnTo>
                  <a:pt x="350533" y="382541"/>
                </a:lnTo>
                <a:lnTo>
                  <a:pt x="310493" y="407916"/>
                </a:lnTo>
                <a:lnTo>
                  <a:pt x="265100" y="424089"/>
                </a:lnTo>
                <a:lnTo>
                  <a:pt x="215645" y="429767"/>
                </a:lnTo>
                <a:lnTo>
                  <a:pt x="0" y="42976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29378" y="4723638"/>
            <a:ext cx="786765" cy="0"/>
          </a:xfrm>
          <a:custGeom>
            <a:avLst/>
            <a:gdLst/>
            <a:ahLst/>
            <a:cxnLst/>
            <a:rect l="l" t="t" r="r" b="b"/>
            <a:pathLst>
              <a:path w="786764">
                <a:moveTo>
                  <a:pt x="786384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80532" y="4660391"/>
            <a:ext cx="109727" cy="111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511546" y="4574285"/>
            <a:ext cx="287020" cy="288290"/>
          </a:xfrm>
          <a:custGeom>
            <a:avLst/>
            <a:gdLst/>
            <a:ahLst/>
            <a:cxnLst/>
            <a:rect l="l" t="t" r="r" b="b"/>
            <a:pathLst>
              <a:path w="287020" h="288289">
                <a:moveTo>
                  <a:pt x="0" y="0"/>
                </a:moveTo>
                <a:lnTo>
                  <a:pt x="0" y="288036"/>
                </a:lnTo>
                <a:lnTo>
                  <a:pt x="286512" y="1440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511546" y="4574285"/>
            <a:ext cx="287020" cy="288290"/>
          </a:xfrm>
          <a:custGeom>
            <a:avLst/>
            <a:gdLst/>
            <a:ahLst/>
            <a:cxnLst/>
            <a:rect l="l" t="t" r="r" b="b"/>
            <a:pathLst>
              <a:path w="287020" h="288289">
                <a:moveTo>
                  <a:pt x="0" y="0"/>
                </a:moveTo>
                <a:lnTo>
                  <a:pt x="286512" y="144018"/>
                </a:lnTo>
                <a:lnTo>
                  <a:pt x="0" y="28803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929378" y="5438394"/>
            <a:ext cx="715010" cy="0"/>
          </a:xfrm>
          <a:custGeom>
            <a:avLst/>
            <a:gdLst/>
            <a:ahLst/>
            <a:cxnLst/>
            <a:rect l="l" t="t" r="r" b="b"/>
            <a:pathLst>
              <a:path w="715010">
                <a:moveTo>
                  <a:pt x="71475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780532" y="5379720"/>
            <a:ext cx="109727" cy="1112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511546" y="5293614"/>
            <a:ext cx="287020" cy="287020"/>
          </a:xfrm>
          <a:custGeom>
            <a:avLst/>
            <a:gdLst/>
            <a:ahLst/>
            <a:cxnLst/>
            <a:rect l="l" t="t" r="r" b="b"/>
            <a:pathLst>
              <a:path w="287020" h="287020">
                <a:moveTo>
                  <a:pt x="0" y="0"/>
                </a:moveTo>
                <a:lnTo>
                  <a:pt x="0" y="286512"/>
                </a:lnTo>
                <a:lnTo>
                  <a:pt x="286512" y="1432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511546" y="5293614"/>
            <a:ext cx="287020" cy="287020"/>
          </a:xfrm>
          <a:custGeom>
            <a:avLst/>
            <a:gdLst/>
            <a:ahLst/>
            <a:cxnLst/>
            <a:rect l="l" t="t" r="r" b="b"/>
            <a:pathLst>
              <a:path w="287020" h="287020">
                <a:moveTo>
                  <a:pt x="0" y="0"/>
                </a:moveTo>
                <a:lnTo>
                  <a:pt x="286512" y="143256"/>
                </a:lnTo>
                <a:lnTo>
                  <a:pt x="0" y="286512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741031" y="4545584"/>
            <a:ext cx="3035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a+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741031" y="5266131"/>
            <a:ext cx="3035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Helvetica"/>
                <a:cs typeface="Helvetica"/>
              </a:rPr>
              <a:t>b+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238238" y="4706873"/>
            <a:ext cx="503555" cy="358775"/>
          </a:xfrm>
          <a:custGeom>
            <a:avLst/>
            <a:gdLst/>
            <a:ahLst/>
            <a:cxnLst/>
            <a:rect l="l" t="t" r="r" b="b"/>
            <a:pathLst>
              <a:path w="503554" h="358775">
                <a:moveTo>
                  <a:pt x="0" y="358775"/>
                </a:moveTo>
                <a:lnTo>
                  <a:pt x="180975" y="358775"/>
                </a:lnTo>
                <a:lnTo>
                  <a:pt x="180975" y="0"/>
                </a:lnTo>
                <a:lnTo>
                  <a:pt x="503173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101078" y="5071109"/>
            <a:ext cx="646430" cy="361950"/>
          </a:xfrm>
          <a:custGeom>
            <a:avLst/>
            <a:gdLst/>
            <a:ahLst/>
            <a:cxnLst/>
            <a:rect l="l" t="t" r="r" b="b"/>
            <a:pathLst>
              <a:path w="646429" h="361950">
                <a:moveTo>
                  <a:pt x="0" y="0"/>
                </a:moveTo>
                <a:lnTo>
                  <a:pt x="323088" y="0"/>
                </a:lnTo>
                <a:lnTo>
                  <a:pt x="323088" y="361949"/>
                </a:lnTo>
                <a:lnTo>
                  <a:pt x="646049" y="36194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756150" y="4544059"/>
            <a:ext cx="838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f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721097" y="5264911"/>
            <a:ext cx="154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g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884926" y="4719065"/>
            <a:ext cx="755650" cy="215900"/>
          </a:xfrm>
          <a:custGeom>
            <a:avLst/>
            <a:gdLst/>
            <a:ahLst/>
            <a:cxnLst/>
            <a:rect l="l" t="t" r="r" b="b"/>
            <a:pathLst>
              <a:path w="755650" h="215900">
                <a:moveTo>
                  <a:pt x="0" y="0"/>
                </a:moveTo>
                <a:lnTo>
                  <a:pt x="376809" y="0"/>
                </a:lnTo>
                <a:lnTo>
                  <a:pt x="376809" y="215899"/>
                </a:lnTo>
                <a:lnTo>
                  <a:pt x="755650" y="21589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271265" y="3483990"/>
            <a:ext cx="1066800" cy="395605"/>
          </a:xfrm>
          <a:custGeom>
            <a:avLst/>
            <a:gdLst/>
            <a:ahLst/>
            <a:cxnLst/>
            <a:rect l="l" t="t" r="r" b="b"/>
            <a:pathLst>
              <a:path w="1066800" h="395604">
                <a:moveTo>
                  <a:pt x="952429" y="36110"/>
                </a:moveTo>
                <a:lnTo>
                  <a:pt x="0" y="359029"/>
                </a:lnTo>
                <a:lnTo>
                  <a:pt x="12192" y="395097"/>
                </a:lnTo>
                <a:lnTo>
                  <a:pt x="964659" y="72165"/>
                </a:lnTo>
                <a:lnTo>
                  <a:pt x="952429" y="36110"/>
                </a:lnTo>
                <a:close/>
              </a:path>
              <a:path w="1066800" h="395604">
                <a:moveTo>
                  <a:pt x="1054350" y="29972"/>
                </a:moveTo>
                <a:lnTo>
                  <a:pt x="970534" y="29972"/>
                </a:lnTo>
                <a:lnTo>
                  <a:pt x="982726" y="66039"/>
                </a:lnTo>
                <a:lnTo>
                  <a:pt x="964659" y="72165"/>
                </a:lnTo>
                <a:lnTo>
                  <a:pt x="976884" y="108204"/>
                </a:lnTo>
                <a:lnTo>
                  <a:pt x="1054350" y="29972"/>
                </a:lnTo>
                <a:close/>
              </a:path>
              <a:path w="1066800" h="395604">
                <a:moveTo>
                  <a:pt x="970534" y="29972"/>
                </a:moveTo>
                <a:lnTo>
                  <a:pt x="952429" y="36110"/>
                </a:lnTo>
                <a:lnTo>
                  <a:pt x="964659" y="72165"/>
                </a:lnTo>
                <a:lnTo>
                  <a:pt x="982726" y="66039"/>
                </a:lnTo>
                <a:lnTo>
                  <a:pt x="970534" y="29972"/>
                </a:lnTo>
                <a:close/>
              </a:path>
              <a:path w="1066800" h="395604">
                <a:moveTo>
                  <a:pt x="940181" y="0"/>
                </a:moveTo>
                <a:lnTo>
                  <a:pt x="952429" y="36110"/>
                </a:lnTo>
                <a:lnTo>
                  <a:pt x="970534" y="29972"/>
                </a:lnTo>
                <a:lnTo>
                  <a:pt x="1054350" y="29972"/>
                </a:lnTo>
                <a:lnTo>
                  <a:pt x="1066800" y="17399"/>
                </a:lnTo>
                <a:lnTo>
                  <a:pt x="94018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271265" y="4705603"/>
            <a:ext cx="1013460" cy="377190"/>
          </a:xfrm>
          <a:custGeom>
            <a:avLst/>
            <a:gdLst/>
            <a:ahLst/>
            <a:cxnLst/>
            <a:rect l="l" t="t" r="r" b="b"/>
            <a:pathLst>
              <a:path w="1013460" h="377189">
                <a:moveTo>
                  <a:pt x="899088" y="340702"/>
                </a:moveTo>
                <a:lnTo>
                  <a:pt x="886841" y="376809"/>
                </a:lnTo>
                <a:lnTo>
                  <a:pt x="1013460" y="359410"/>
                </a:lnTo>
                <a:lnTo>
                  <a:pt x="1001010" y="346837"/>
                </a:lnTo>
                <a:lnTo>
                  <a:pt x="917194" y="346837"/>
                </a:lnTo>
                <a:lnTo>
                  <a:pt x="899088" y="340702"/>
                </a:lnTo>
                <a:close/>
              </a:path>
              <a:path w="1013460" h="377189">
                <a:moveTo>
                  <a:pt x="911318" y="304647"/>
                </a:moveTo>
                <a:lnTo>
                  <a:pt x="899088" y="340702"/>
                </a:lnTo>
                <a:lnTo>
                  <a:pt x="917194" y="346837"/>
                </a:lnTo>
                <a:lnTo>
                  <a:pt x="929386" y="310769"/>
                </a:lnTo>
                <a:lnTo>
                  <a:pt x="911318" y="304647"/>
                </a:lnTo>
                <a:close/>
              </a:path>
              <a:path w="1013460" h="377189">
                <a:moveTo>
                  <a:pt x="923544" y="268605"/>
                </a:moveTo>
                <a:lnTo>
                  <a:pt x="911318" y="304647"/>
                </a:lnTo>
                <a:lnTo>
                  <a:pt x="929386" y="310769"/>
                </a:lnTo>
                <a:lnTo>
                  <a:pt x="917194" y="346837"/>
                </a:lnTo>
                <a:lnTo>
                  <a:pt x="1001010" y="346837"/>
                </a:lnTo>
                <a:lnTo>
                  <a:pt x="923544" y="268605"/>
                </a:lnTo>
                <a:close/>
              </a:path>
              <a:path w="1013460" h="377189">
                <a:moveTo>
                  <a:pt x="12192" y="0"/>
                </a:moveTo>
                <a:lnTo>
                  <a:pt x="0" y="36068"/>
                </a:lnTo>
                <a:lnTo>
                  <a:pt x="899088" y="340702"/>
                </a:lnTo>
                <a:lnTo>
                  <a:pt x="911318" y="304647"/>
                </a:lnTo>
                <a:lnTo>
                  <a:pt x="1219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2665602" y="5371896"/>
            <a:ext cx="1585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Helvetica"/>
                <a:cs typeface="Helvetica"/>
              </a:rPr>
              <a:t>wired-AND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765805" y="2875229"/>
            <a:ext cx="13849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20" dirty="0">
                <a:latin typeface="Helvetica"/>
                <a:cs typeface="Helvetica"/>
              </a:rPr>
              <a:t>w</a:t>
            </a:r>
            <a:r>
              <a:rPr sz="2400" b="1" spc="-10" dirty="0">
                <a:latin typeface="Helvetica"/>
                <a:cs typeface="Helvetica"/>
              </a:rPr>
              <a:t>i</a:t>
            </a:r>
            <a:r>
              <a:rPr sz="2400" b="1" dirty="0">
                <a:latin typeface="Helvetica"/>
                <a:cs typeface="Helvetica"/>
              </a:rPr>
              <a:t>re</a:t>
            </a:r>
            <a:r>
              <a:rPr sz="2400" b="1" spc="-5" dirty="0">
                <a:latin typeface="Helvetica"/>
                <a:cs typeface="Helvetica"/>
              </a:rPr>
              <a:t>d</a:t>
            </a:r>
            <a:r>
              <a:rPr sz="2400" b="1" dirty="0">
                <a:latin typeface="Helvetica"/>
                <a:cs typeface="Helvetica"/>
              </a:rPr>
              <a:t>-OR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302628" y="2897505"/>
            <a:ext cx="1543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Helvetica"/>
                <a:cs typeface="Helvetica"/>
              </a:rPr>
              <a:t>a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302628" y="3618357"/>
            <a:ext cx="154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b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878829" y="5221985"/>
            <a:ext cx="792480" cy="215900"/>
          </a:xfrm>
          <a:custGeom>
            <a:avLst/>
            <a:gdLst/>
            <a:ahLst/>
            <a:cxnLst/>
            <a:rect l="l" t="t" r="r" b="b"/>
            <a:pathLst>
              <a:path w="792479" h="215900">
                <a:moveTo>
                  <a:pt x="0" y="215900"/>
                </a:moveTo>
                <a:lnTo>
                  <a:pt x="394970" y="215900"/>
                </a:lnTo>
                <a:lnTo>
                  <a:pt x="394970" y="0"/>
                </a:lnTo>
                <a:lnTo>
                  <a:pt x="7920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6302628" y="4545584"/>
            <a:ext cx="154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a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sp>
        <p:nvSpPr>
          <p:cNvPr id="62" name="object 62"/>
          <p:cNvSpPr txBox="1"/>
          <p:nvPr/>
        </p:nvSpPr>
        <p:spPr>
          <a:xfrm>
            <a:off x="6302628" y="5266131"/>
            <a:ext cx="154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Helvetica"/>
                <a:cs typeface="Helvetica"/>
              </a:rPr>
              <a:t>b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373505" y="6057900"/>
            <a:ext cx="6246495" cy="409086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lang="en-US" sz="2400" b="1" spc="-5" dirty="0">
                <a:solidFill>
                  <a:srgbClr val="FF0000"/>
                </a:solidFill>
                <a:latin typeface="Helvetica"/>
                <a:cs typeface="Helvetica"/>
              </a:rPr>
              <a:t>Dashed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Wired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Logic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Is </a:t>
            </a:r>
            <a:r>
              <a:rPr sz="2400" b="1" spc="-20" dirty="0">
                <a:solidFill>
                  <a:srgbClr val="FF0000"/>
                </a:solidFill>
                <a:latin typeface="Helvetica"/>
                <a:cs typeface="Helvetica"/>
              </a:rPr>
              <a:t>Imaginary,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not</a:t>
            </a:r>
            <a:r>
              <a:rPr sz="2400" b="1" spc="-1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Real</a:t>
            </a:r>
            <a:endParaRPr sz="2400" dirty="0">
              <a:latin typeface="Helvetica"/>
              <a:cs typeface="Helvetica"/>
            </a:endParaRPr>
          </a:p>
        </p:txBody>
      </p:sp>
      <p:graphicFrame>
        <p:nvGraphicFramePr>
          <p:cNvPr id="64" name="object 64"/>
          <p:cNvGraphicFramePr>
            <a:graphicFrameLocks noGrp="1"/>
          </p:cNvGraphicFramePr>
          <p:nvPr/>
        </p:nvGraphicFramePr>
        <p:xfrm>
          <a:off x="4338701" y="1046225"/>
          <a:ext cx="4547233" cy="14780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2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3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665">
                <a:tc>
                  <a:txBody>
                    <a:bodyPr/>
                    <a:lstStyle/>
                    <a:p>
                      <a:pPr marL="320040" marR="125730" indent="-186055">
                        <a:lnSpc>
                          <a:spcPts val="191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orig</a:t>
                      </a:r>
                      <a:r>
                        <a:rPr sz="1600" spc="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nal 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b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321310" marR="83820" indent="-228600">
                        <a:lnSpc>
                          <a:spcPct val="75000"/>
                        </a:lnSpc>
                        <a:spcBef>
                          <a:spcPts val="4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Wired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OR  </a:t>
                      </a:r>
                      <a:r>
                        <a:rPr sz="2400" baseline="-1736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050" spc="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aseline="-1736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+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414655" marR="113664" indent="-291465">
                        <a:lnSpc>
                          <a:spcPct val="75000"/>
                        </a:lnSpc>
                        <a:spcBef>
                          <a:spcPts val="4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Wired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AND  </a:t>
                      </a:r>
                      <a:r>
                        <a:rPr sz="2400" baseline="-1736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050" spc="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aseline="-1736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+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414020" marR="119380" indent="-287020">
                        <a:lnSpc>
                          <a:spcPct val="75000"/>
                        </a:lnSpc>
                        <a:spcBef>
                          <a:spcPts val="4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dom</a:t>
                      </a:r>
                      <a:r>
                        <a:rPr sz="1600" spc="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nant  </a:t>
                      </a:r>
                      <a:r>
                        <a:rPr sz="2400" baseline="-1736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050" spc="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aseline="-1736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050" dirty="0">
                          <a:latin typeface="Arial"/>
                          <a:cs typeface="Arial"/>
                        </a:rPr>
                        <a:t>+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320040">
                        <a:lnSpc>
                          <a:spcPts val="1820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820"/>
                        </a:lnSpc>
                      </a:pPr>
                      <a:r>
                        <a:rPr sz="1600" spc="-5" dirty="0">
                          <a:latin typeface="Helvetica"/>
                          <a:cs typeface="Helvetica"/>
                        </a:rPr>
                        <a:t>0</a:t>
                      </a:r>
                      <a:r>
                        <a:rPr sz="1600" spc="42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600" spc="-5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820"/>
                        </a:lnSpc>
                      </a:pPr>
                      <a:r>
                        <a:rPr sz="1600" spc="-5" dirty="0">
                          <a:latin typeface="Helvetica"/>
                          <a:cs typeface="Helvetica"/>
                        </a:rPr>
                        <a:t>0</a:t>
                      </a:r>
                      <a:r>
                        <a:rPr sz="1600" spc="43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600" spc="-5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820"/>
                        </a:lnSpc>
                      </a:pPr>
                      <a:r>
                        <a:rPr sz="1600" spc="-5" dirty="0">
                          <a:latin typeface="Helvetica"/>
                          <a:cs typeface="Helvetica"/>
                        </a:rPr>
                        <a:t>0  0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39">
                <a:tc>
                  <a:txBody>
                    <a:bodyPr/>
                    <a:lstStyle/>
                    <a:p>
                      <a:pPr marL="320040">
                        <a:lnSpc>
                          <a:spcPts val="1820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820"/>
                        </a:lnSpc>
                      </a:pPr>
                      <a:r>
                        <a:rPr sz="1600" b="1" u="sng" spc="-5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1</a:t>
                      </a:r>
                      <a:r>
                        <a:rPr sz="1600" b="1" spc="430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 </a:t>
                      </a:r>
                      <a:r>
                        <a:rPr sz="1600" spc="-5" dirty="0"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820"/>
                        </a:lnSpc>
                      </a:pPr>
                      <a:r>
                        <a:rPr sz="1600" spc="-5" dirty="0">
                          <a:latin typeface="Helvetica"/>
                          <a:cs typeface="Helvetica"/>
                        </a:rPr>
                        <a:t>0  </a:t>
                      </a:r>
                      <a:r>
                        <a:rPr sz="1600" b="1" u="sng" spc="-5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820"/>
                        </a:lnSpc>
                      </a:pPr>
                      <a:r>
                        <a:rPr sz="1600" spc="-5" dirty="0">
                          <a:latin typeface="Helvetica"/>
                          <a:cs typeface="Helvetica"/>
                        </a:rPr>
                        <a:t>0  </a:t>
                      </a:r>
                      <a:r>
                        <a:rPr sz="1600" b="1" u="sng" spc="-5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39">
                <a:tc>
                  <a:txBody>
                    <a:bodyPr/>
                    <a:lstStyle/>
                    <a:p>
                      <a:pPr marL="320040">
                        <a:lnSpc>
                          <a:spcPts val="1820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820"/>
                        </a:lnSpc>
                      </a:pPr>
                      <a:r>
                        <a:rPr sz="1600" spc="-5" dirty="0">
                          <a:latin typeface="Helvetica"/>
                          <a:cs typeface="Helvetica"/>
                        </a:rPr>
                        <a:t>1</a:t>
                      </a:r>
                      <a:r>
                        <a:rPr sz="1600" spc="43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600" b="1" u="sng" spc="-5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820"/>
                        </a:lnSpc>
                      </a:pPr>
                      <a:r>
                        <a:rPr sz="1600" b="1" u="sng" spc="-5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0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  </a:t>
                      </a:r>
                      <a:r>
                        <a:rPr sz="1600" spc="-5" dirty="0">
                          <a:latin typeface="Helvetica"/>
                          <a:cs typeface="Helvetica"/>
                        </a:rPr>
                        <a:t>0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820"/>
                        </a:lnSpc>
                      </a:pPr>
                      <a:r>
                        <a:rPr sz="1600" spc="-5" dirty="0">
                          <a:latin typeface="Helvetica"/>
                          <a:cs typeface="Helvetica"/>
                        </a:rPr>
                        <a:t>1  </a:t>
                      </a:r>
                      <a:r>
                        <a:rPr sz="1600" b="1" u="sng" spc="-5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39">
                <a:tc>
                  <a:txBody>
                    <a:bodyPr/>
                    <a:lstStyle/>
                    <a:p>
                      <a:pPr marL="320040">
                        <a:lnSpc>
                          <a:spcPts val="1820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820"/>
                        </a:lnSpc>
                      </a:pPr>
                      <a:r>
                        <a:rPr sz="1600" spc="-5" dirty="0">
                          <a:latin typeface="Helvetica"/>
                          <a:cs typeface="Helvetica"/>
                        </a:rPr>
                        <a:t>1</a:t>
                      </a:r>
                      <a:r>
                        <a:rPr sz="1600" spc="42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600" spc="-5" dirty="0"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820"/>
                        </a:lnSpc>
                      </a:pPr>
                      <a:r>
                        <a:rPr sz="1600" spc="-5" dirty="0">
                          <a:latin typeface="Helvetica"/>
                          <a:cs typeface="Helvetica"/>
                        </a:rPr>
                        <a:t>1</a:t>
                      </a:r>
                      <a:r>
                        <a:rPr sz="1600" spc="43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600" spc="-5" dirty="0">
                          <a:latin typeface="Helvetica"/>
                          <a:cs typeface="Helvetica"/>
                        </a:rPr>
                        <a:t>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820"/>
                        </a:lnSpc>
                      </a:pPr>
                      <a:r>
                        <a:rPr sz="1600" spc="-5" dirty="0">
                          <a:latin typeface="Helvetica"/>
                          <a:cs typeface="Helvetica"/>
                        </a:rPr>
                        <a:t>1  1</a:t>
                      </a:r>
                      <a:endParaRPr sz="16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1283" y="225374"/>
            <a:ext cx="78295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Different Models </a:t>
            </a:r>
            <a:r>
              <a:rPr sz="3200" spc="-5" dirty="0"/>
              <a:t>Need </a:t>
            </a:r>
            <a:r>
              <a:rPr sz="3200" dirty="0"/>
              <a:t>Different</a:t>
            </a:r>
            <a:r>
              <a:rPr sz="3200" spc="-180" dirty="0"/>
              <a:t> </a:t>
            </a:r>
            <a:r>
              <a:rPr sz="3200" dirty="0"/>
              <a:t>Patterns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30225" y="897737"/>
            <a:ext cx="8989971" cy="1435008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9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Consider (</a:t>
            </a:r>
            <a:r>
              <a:rPr sz="2000" b="1" i="1" dirty="0">
                <a:latin typeface="TimesNewRomanPS-BoldItalicMT"/>
                <a:cs typeface="TimesNewRomanPS-BoldItalicMT"/>
              </a:rPr>
              <a:t>A, </a:t>
            </a:r>
            <a:r>
              <a:rPr sz="2000" b="1" i="1" spc="-5" dirty="0">
                <a:latin typeface="TimesNewRomanPS-BoldItalicMT"/>
                <a:cs typeface="TimesNewRomanPS-BoldItalicMT"/>
              </a:rPr>
              <a:t>B</a:t>
            </a:r>
            <a:r>
              <a:rPr sz="2000" b="1" spc="-5" dirty="0">
                <a:latin typeface="Arial"/>
                <a:cs typeface="Arial"/>
              </a:rPr>
              <a:t>) </a:t>
            </a:r>
            <a:r>
              <a:rPr sz="2000" b="1" dirty="0">
                <a:latin typeface="Arial"/>
                <a:cs typeface="Arial"/>
              </a:rPr>
              <a:t>bridging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</a:t>
            </a:r>
            <a:r>
              <a:rPr lang="en-US" sz="2000" b="1" dirty="0">
                <a:latin typeface="Arial"/>
                <a:cs typeface="Arial"/>
              </a:rPr>
              <a:t>: : which patterns detect Wired-And and Wired-OR? How about A-dominant?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9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Wired-AND, Wired-OR detected by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011</a:t>
            </a:r>
            <a:r>
              <a:rPr sz="2000" b="1" dirty="0">
                <a:latin typeface="Arial"/>
                <a:cs typeface="Arial"/>
              </a:rPr>
              <a:t>, or</a:t>
            </a:r>
            <a:r>
              <a:rPr sz="2000" b="1" spc="-16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010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2308860" algn="l"/>
                <a:tab pos="5267960" algn="l"/>
              </a:tabLst>
            </a:pPr>
            <a:r>
              <a:rPr sz="2000" b="1" dirty="0">
                <a:latin typeface="Arial"/>
                <a:cs typeface="Arial"/>
              </a:rPr>
              <a:t>A-dominant	model detected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only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by	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010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86000" y="2476859"/>
            <a:ext cx="4174477" cy="12582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2735911" y="2527841"/>
            <a:ext cx="0" cy="883919"/>
          </a:xfrm>
          <a:custGeom>
            <a:avLst/>
            <a:gdLst/>
            <a:ahLst/>
            <a:cxnLst/>
            <a:rect l="l" t="t" r="r" b="b"/>
            <a:pathLst>
              <a:path h="883919">
                <a:moveTo>
                  <a:pt x="0" y="0"/>
                </a:moveTo>
                <a:lnTo>
                  <a:pt x="0" y="883920"/>
                </a:lnTo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65162"/>
              </p:ext>
            </p:extLst>
          </p:nvPr>
        </p:nvGraphicFramePr>
        <p:xfrm>
          <a:off x="1651310" y="3856653"/>
          <a:ext cx="5443855" cy="28321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0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3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3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33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7032">
                <a:tc>
                  <a:txBody>
                    <a:bodyPr/>
                    <a:lstStyle/>
                    <a:p>
                      <a:pPr marL="243204">
                        <a:lnSpc>
                          <a:spcPts val="2120"/>
                        </a:lnSpc>
                      </a:pPr>
                      <a:r>
                        <a:rPr sz="1800" spc="-5" dirty="0">
                          <a:latin typeface="Helvetica"/>
                          <a:cs typeface="Helvetica"/>
                        </a:rPr>
                        <a:t>Inputs</a:t>
                      </a:r>
                      <a:endParaRPr sz="1800">
                        <a:latin typeface="Helvetica"/>
                        <a:cs typeface="Helvetica"/>
                      </a:endParaRPr>
                    </a:p>
                    <a:p>
                      <a:pPr marL="26289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A B</a:t>
                      </a:r>
                      <a:r>
                        <a:rPr sz="1800" spc="-21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800" dirty="0">
                          <a:latin typeface="Helvetica"/>
                          <a:cs typeface="Helvetica"/>
                        </a:rPr>
                        <a:t>C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0"/>
                        </a:lnSpc>
                      </a:pPr>
                      <a:r>
                        <a:rPr sz="1800" spc="-5" dirty="0">
                          <a:latin typeface="Helvetica"/>
                          <a:cs typeface="Helvetica"/>
                        </a:rPr>
                        <a:t>Fault-free</a:t>
                      </a:r>
                      <a:endParaRPr sz="1800">
                        <a:latin typeface="Helvetica"/>
                        <a:cs typeface="Helvetica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Helvetica"/>
                          <a:cs typeface="Helvetica"/>
                        </a:rPr>
                        <a:t>Output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0"/>
                        </a:lnSpc>
                      </a:pPr>
                      <a:r>
                        <a:rPr sz="1800" spc="-5" dirty="0">
                          <a:latin typeface="Helvetica"/>
                          <a:cs typeface="Helvetica"/>
                        </a:rPr>
                        <a:t>Wired-</a:t>
                      </a:r>
                      <a:endParaRPr sz="1800">
                        <a:latin typeface="Helvetica"/>
                        <a:cs typeface="Helvetica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OR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ts val="2120"/>
                        </a:lnSpc>
                      </a:pPr>
                      <a:r>
                        <a:rPr sz="1800" spc="-5" dirty="0">
                          <a:latin typeface="Helvetica"/>
                          <a:cs typeface="Helvetica"/>
                        </a:rPr>
                        <a:t>Wired-</a:t>
                      </a:r>
                      <a:endParaRPr sz="1800">
                        <a:latin typeface="Helvetica"/>
                        <a:cs typeface="Helvetica"/>
                      </a:endParaRPr>
                    </a:p>
                    <a:p>
                      <a:pPr marL="301625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Helvetica"/>
                          <a:cs typeface="Helvetica"/>
                        </a:rPr>
                        <a:t>AND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120"/>
                        </a:lnSpc>
                      </a:pPr>
                      <a:r>
                        <a:rPr sz="1800" spc="-5" dirty="0">
                          <a:latin typeface="Helvetica"/>
                          <a:cs typeface="Helvetica"/>
                        </a:rPr>
                        <a:t>A-</a:t>
                      </a:r>
                      <a:endParaRPr sz="1800">
                        <a:latin typeface="Helvetica"/>
                        <a:cs typeface="Helvetica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Helvetica"/>
                          <a:cs typeface="Helvetica"/>
                        </a:rPr>
                        <a:t>dominant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46"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Helvetica"/>
                          <a:cs typeface="Helvetica"/>
                        </a:rPr>
                        <a:t>0 0</a:t>
                      </a:r>
                      <a:r>
                        <a:rPr sz="1800" spc="-3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800" spc="-5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Helvetica"/>
                          <a:cs typeface="Helvetica"/>
                        </a:rPr>
                        <a:t>0 0</a:t>
                      </a:r>
                      <a:r>
                        <a:rPr sz="1800" spc="-3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800" spc="-5" dirty="0">
                          <a:latin typeface="Helvetica"/>
                          <a:cs typeface="Helvetica"/>
                        </a:rPr>
                        <a:t>1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1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1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1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1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6">
                <a:tc>
                  <a:txBody>
                    <a:bodyPr/>
                    <a:lstStyle/>
                    <a:p>
                      <a:pPr marL="635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0 1</a:t>
                      </a:r>
                      <a:r>
                        <a:rPr sz="1800" spc="-3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1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06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0</a:t>
                      </a:r>
                      <a:endParaRPr sz="1800" dirty="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0</a:t>
                      </a:r>
                      <a:endParaRPr sz="1800" dirty="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Helvetica"/>
                          <a:cs typeface="Helvetica"/>
                        </a:rPr>
                        <a:t>0 1</a:t>
                      </a:r>
                      <a:r>
                        <a:rPr sz="1800" spc="-3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800" spc="-5" dirty="0">
                          <a:latin typeface="Helvetica"/>
                          <a:cs typeface="Helvetica"/>
                        </a:rPr>
                        <a:t>1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1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1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635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1 0</a:t>
                      </a:r>
                      <a:r>
                        <a:rPr sz="1800" spc="-3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70"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Helvetica"/>
                          <a:cs typeface="Helvetica"/>
                        </a:rPr>
                        <a:t>1 0</a:t>
                      </a:r>
                      <a:r>
                        <a:rPr sz="1800" spc="-3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800" spc="-5" dirty="0">
                          <a:latin typeface="Helvetica"/>
                          <a:cs typeface="Helvetica"/>
                        </a:rPr>
                        <a:t>1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83"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Helvetica"/>
                          <a:cs typeface="Helvetica"/>
                        </a:rPr>
                        <a:t>1 1</a:t>
                      </a:r>
                      <a:r>
                        <a:rPr sz="1800" spc="-3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800" spc="-5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96"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Helvetica"/>
                          <a:cs typeface="Helvetica"/>
                        </a:rPr>
                        <a:t>1 1</a:t>
                      </a:r>
                      <a:r>
                        <a:rPr sz="1800" spc="-3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800" spc="-5" dirty="0">
                          <a:latin typeface="Helvetica"/>
                          <a:cs typeface="Helvetica"/>
                        </a:rPr>
                        <a:t>1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0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4DE0050-85E2-C453-C498-EE4DCA49A32D}"/>
                  </a:ext>
                </a:extLst>
              </p14:cNvPr>
              <p14:cNvContentPartPr/>
              <p14:nvPr/>
            </p14:nvContentPartPr>
            <p14:xfrm>
              <a:off x="2732260" y="2765380"/>
              <a:ext cx="20160" cy="617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4DE0050-85E2-C453-C498-EE4DCA49A3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14260" y="2657380"/>
                <a:ext cx="55800" cy="83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1095AFF-E78B-D3DA-94F1-C9603EBC3DE5}"/>
                  </a:ext>
                </a:extLst>
              </p14:cNvPr>
              <p14:cNvContentPartPr/>
              <p14:nvPr/>
            </p14:nvContentPartPr>
            <p14:xfrm>
              <a:off x="2752060" y="276538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1095AFF-E78B-D3DA-94F1-C9603EBC3DE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34060" y="2657380"/>
                <a:ext cx="36000" cy="21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30224" y="900785"/>
            <a:ext cx="5234203" cy="75405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Type</a:t>
            </a:r>
            <a:r>
              <a:rPr lang="en-US" sz="20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2000" b="1" spc="-5" dirty="0">
                <a:latin typeface="Arial"/>
                <a:cs typeface="Arial"/>
              </a:rPr>
              <a:t>: </a:t>
            </a:r>
            <a:r>
              <a:rPr sz="2000" b="1" dirty="0">
                <a:latin typeface="Arial"/>
                <a:cs typeface="Arial"/>
              </a:rPr>
              <a:t>creates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memory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Detected by </a:t>
            </a:r>
            <a:r>
              <a:rPr sz="2000" b="1" i="1" dirty="0">
                <a:latin typeface="Arial-BoldItalicMT"/>
                <a:cs typeface="Arial-BoldItalicMT"/>
              </a:rPr>
              <a:t>test </a:t>
            </a:r>
            <a:r>
              <a:rPr sz="2000" b="1" i="1" dirty="0">
                <a:solidFill>
                  <a:srgbClr val="00B050"/>
                </a:solidFill>
                <a:latin typeface="Arial-BoldItalicMT"/>
                <a:cs typeface="Arial-BoldItalicMT"/>
              </a:rPr>
              <a:t>sequence</a:t>
            </a:r>
            <a:r>
              <a:rPr sz="2000" b="1" i="1" spc="-105" dirty="0">
                <a:latin typeface="Arial-BoldItalicMT"/>
                <a:cs typeface="Arial-BoldItalicMT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01→00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225" y="3461740"/>
            <a:ext cx="4154804" cy="11226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Type</a:t>
            </a:r>
            <a:r>
              <a:rPr lang="en-US" sz="20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000" b="1" spc="-5" dirty="0">
                <a:latin typeface="Arial"/>
                <a:cs typeface="Arial"/>
              </a:rPr>
              <a:t>: </a:t>
            </a:r>
            <a:r>
              <a:rPr sz="2000" b="1" dirty="0">
                <a:latin typeface="Arial"/>
                <a:cs typeface="Arial"/>
              </a:rPr>
              <a:t>creates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oscillation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“hard” detected by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10</a:t>
            </a:r>
            <a:r>
              <a:rPr sz="2000" b="1" dirty="0">
                <a:latin typeface="Arial"/>
                <a:cs typeface="Arial"/>
              </a:rPr>
              <a:t>, or</a:t>
            </a:r>
            <a:r>
              <a:rPr sz="2000" b="1" spc="-160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11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latin typeface="Arial"/>
                <a:cs typeface="Arial"/>
              </a:rPr>
              <a:t>“potentially” </a:t>
            </a:r>
            <a:r>
              <a:rPr sz="2000" b="1" dirty="0">
                <a:latin typeface="Arial"/>
                <a:cs typeface="Arial"/>
              </a:rPr>
              <a:t>detected by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00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00022" y="164414"/>
            <a:ext cx="5613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Feedback Bridging</a:t>
            </a:r>
            <a:r>
              <a:rPr spc="-30" dirty="0"/>
              <a:t> </a:t>
            </a:r>
            <a:r>
              <a:rPr dirty="0"/>
              <a:t>Faults</a:t>
            </a:r>
          </a:p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1252537" y="1693926"/>
          <a:ext cx="3562350" cy="16636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420">
                <a:tc>
                  <a:txBody>
                    <a:bodyPr/>
                    <a:lstStyle/>
                    <a:p>
                      <a:pPr marL="329565" marR="155575" indent="-166370">
                        <a:lnSpc>
                          <a:spcPts val="215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uts  x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279400" marR="125730" indent="-146685">
                        <a:lnSpc>
                          <a:spcPts val="215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Fa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lt-free 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Output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340995" marR="334010" indent="33020">
                        <a:lnSpc>
                          <a:spcPts val="2150"/>
                        </a:lnSpc>
                        <a:spcBef>
                          <a:spcPts val="3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Faulty 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Outp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</a:t>
                      </a: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635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60"/>
                        </a:lnSpc>
                      </a:pPr>
                      <a:r>
                        <a:rPr sz="1800" u="sng" spc="-10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unchanged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635" algn="ctr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635" algn="ctr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635" algn="ctr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" name="object 55"/>
          <p:cNvGraphicFramePr>
            <a:graphicFrameLocks noGrp="1"/>
          </p:cNvGraphicFramePr>
          <p:nvPr/>
        </p:nvGraphicFramePr>
        <p:xfrm>
          <a:off x="1219200" y="4718050"/>
          <a:ext cx="3562350" cy="1643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766">
                <a:tc>
                  <a:txBody>
                    <a:bodyPr/>
                    <a:lstStyle/>
                    <a:p>
                      <a:pPr marL="329565" marR="155575" indent="-166370">
                        <a:lnSpc>
                          <a:spcPts val="2150"/>
                        </a:lnSpc>
                        <a:spcBef>
                          <a:spcPts val="4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uts  x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y</a:t>
                      </a: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279400" marR="125095" indent="-146685">
                        <a:lnSpc>
                          <a:spcPts val="2150"/>
                        </a:lnSpc>
                        <a:spcBef>
                          <a:spcPts val="4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Fa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lt-free  Output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340360" marR="332740" indent="33020">
                        <a:lnSpc>
                          <a:spcPts val="2150"/>
                        </a:lnSpc>
                        <a:spcBef>
                          <a:spcPts val="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Faulty 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Output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906">
                <a:tc>
                  <a:txBody>
                    <a:bodyPr/>
                    <a:lstStyle/>
                    <a:p>
                      <a:pPr marL="635" algn="ctr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oscillation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08">
                <a:tc>
                  <a:txBody>
                    <a:bodyPr/>
                    <a:lstStyle/>
                    <a:p>
                      <a:pPr marL="635" algn="ctr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70"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06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70">
                <a:tc>
                  <a:txBody>
                    <a:bodyPr/>
                    <a:lstStyle/>
                    <a:p>
                      <a:pPr marL="635" algn="ctr">
                        <a:lnSpc>
                          <a:spcPts val="206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6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object 2">
            <a:extLst>
              <a:ext uri="{FF2B5EF4-FFF2-40B4-BE49-F238E27FC236}">
                <a16:creationId xmlns:a16="http://schemas.microsoft.com/office/drawing/2014/main" id="{F754147B-0559-5372-D51A-052EFA827FF4}"/>
              </a:ext>
            </a:extLst>
          </p:cNvPr>
          <p:cNvSpPr/>
          <p:nvPr/>
        </p:nvSpPr>
        <p:spPr>
          <a:xfrm>
            <a:off x="5579364" y="836675"/>
            <a:ext cx="2790825" cy="2735580"/>
          </a:xfrm>
          <a:custGeom>
            <a:avLst/>
            <a:gdLst/>
            <a:ahLst/>
            <a:cxnLst/>
            <a:rect l="l" t="t" r="r" b="b"/>
            <a:pathLst>
              <a:path w="2790825" h="2735579">
                <a:moveTo>
                  <a:pt x="0" y="2735579"/>
                </a:moveTo>
                <a:lnTo>
                  <a:pt x="2790443" y="2735579"/>
                </a:lnTo>
                <a:lnTo>
                  <a:pt x="2790443" y="0"/>
                </a:lnTo>
                <a:lnTo>
                  <a:pt x="0" y="0"/>
                </a:lnTo>
                <a:lnTo>
                  <a:pt x="0" y="273557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25">
            <a:extLst>
              <a:ext uri="{FF2B5EF4-FFF2-40B4-BE49-F238E27FC236}">
                <a16:creationId xmlns:a16="http://schemas.microsoft.com/office/drawing/2014/main" id="{21F2B813-40D6-5ECB-1811-B408C0E8E38E}"/>
              </a:ext>
            </a:extLst>
          </p:cNvPr>
          <p:cNvSpPr/>
          <p:nvPr/>
        </p:nvSpPr>
        <p:spPr>
          <a:xfrm>
            <a:off x="6118097" y="1421130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26">
            <a:extLst>
              <a:ext uri="{FF2B5EF4-FFF2-40B4-BE49-F238E27FC236}">
                <a16:creationId xmlns:a16="http://schemas.microsoft.com/office/drawing/2014/main" id="{914EAA8E-2F8F-D00A-94E2-5D30A9E1127E}"/>
              </a:ext>
            </a:extLst>
          </p:cNvPr>
          <p:cNvSpPr/>
          <p:nvPr/>
        </p:nvSpPr>
        <p:spPr>
          <a:xfrm>
            <a:off x="6118097" y="1709166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27">
            <a:extLst>
              <a:ext uri="{FF2B5EF4-FFF2-40B4-BE49-F238E27FC236}">
                <a16:creationId xmlns:a16="http://schemas.microsoft.com/office/drawing/2014/main" id="{C21FC06B-0A9C-1E1C-3065-B19221F405D4}"/>
              </a:ext>
            </a:extLst>
          </p:cNvPr>
          <p:cNvSpPr/>
          <p:nvPr/>
        </p:nvSpPr>
        <p:spPr>
          <a:xfrm>
            <a:off x="6717030" y="1564386"/>
            <a:ext cx="417830" cy="0"/>
          </a:xfrm>
          <a:custGeom>
            <a:avLst/>
            <a:gdLst/>
            <a:ahLst/>
            <a:cxnLst/>
            <a:rect l="l" t="t" r="r" b="b"/>
            <a:pathLst>
              <a:path w="417829">
                <a:moveTo>
                  <a:pt x="417575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28">
            <a:extLst>
              <a:ext uri="{FF2B5EF4-FFF2-40B4-BE49-F238E27FC236}">
                <a16:creationId xmlns:a16="http://schemas.microsoft.com/office/drawing/2014/main" id="{D8055563-2054-4078-FD7B-B2F4EB13DAA4}"/>
              </a:ext>
            </a:extLst>
          </p:cNvPr>
          <p:cNvSpPr/>
          <p:nvPr/>
        </p:nvSpPr>
        <p:spPr>
          <a:xfrm>
            <a:off x="6259829" y="1349502"/>
            <a:ext cx="434340" cy="431800"/>
          </a:xfrm>
          <a:custGeom>
            <a:avLst/>
            <a:gdLst/>
            <a:ahLst/>
            <a:cxnLst/>
            <a:rect l="l" t="t" r="r" b="b"/>
            <a:pathLst>
              <a:path w="434340" h="431800">
                <a:moveTo>
                  <a:pt x="0" y="0"/>
                </a:moveTo>
                <a:lnTo>
                  <a:pt x="25065" y="42333"/>
                </a:lnTo>
                <a:lnTo>
                  <a:pt x="44561" y="85197"/>
                </a:lnTo>
                <a:lnTo>
                  <a:pt x="58487" y="128459"/>
                </a:lnTo>
                <a:lnTo>
                  <a:pt x="66842" y="171986"/>
                </a:lnTo>
                <a:lnTo>
                  <a:pt x="69627" y="215646"/>
                </a:lnTo>
                <a:lnTo>
                  <a:pt x="66842" y="259305"/>
                </a:lnTo>
                <a:lnTo>
                  <a:pt x="58487" y="302832"/>
                </a:lnTo>
                <a:lnTo>
                  <a:pt x="44561" y="346094"/>
                </a:lnTo>
                <a:lnTo>
                  <a:pt x="25065" y="388958"/>
                </a:lnTo>
                <a:lnTo>
                  <a:pt x="0" y="431292"/>
                </a:lnTo>
                <a:lnTo>
                  <a:pt x="64188" y="428954"/>
                </a:lnTo>
                <a:lnTo>
                  <a:pt x="125451" y="422164"/>
                </a:lnTo>
                <a:lnTo>
                  <a:pt x="183117" y="411253"/>
                </a:lnTo>
                <a:lnTo>
                  <a:pt x="236513" y="396557"/>
                </a:lnTo>
                <a:lnTo>
                  <a:pt x="284968" y="378407"/>
                </a:lnTo>
                <a:lnTo>
                  <a:pt x="327811" y="357136"/>
                </a:lnTo>
                <a:lnTo>
                  <a:pt x="364371" y="333079"/>
                </a:lnTo>
                <a:lnTo>
                  <a:pt x="393975" y="306569"/>
                </a:lnTo>
                <a:lnTo>
                  <a:pt x="429631" y="247518"/>
                </a:lnTo>
                <a:lnTo>
                  <a:pt x="434340" y="215646"/>
                </a:lnTo>
                <a:lnTo>
                  <a:pt x="429631" y="183773"/>
                </a:lnTo>
                <a:lnTo>
                  <a:pt x="393975" y="124722"/>
                </a:lnTo>
                <a:lnTo>
                  <a:pt x="364371" y="98212"/>
                </a:lnTo>
                <a:lnTo>
                  <a:pt x="327811" y="74155"/>
                </a:lnTo>
                <a:lnTo>
                  <a:pt x="284968" y="52884"/>
                </a:lnTo>
                <a:lnTo>
                  <a:pt x="236513" y="34734"/>
                </a:lnTo>
                <a:lnTo>
                  <a:pt x="183117" y="20038"/>
                </a:lnTo>
                <a:lnTo>
                  <a:pt x="125451" y="9127"/>
                </a:lnTo>
                <a:lnTo>
                  <a:pt x="64188" y="2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29">
            <a:extLst>
              <a:ext uri="{FF2B5EF4-FFF2-40B4-BE49-F238E27FC236}">
                <a16:creationId xmlns:a16="http://schemas.microsoft.com/office/drawing/2014/main" id="{32EB1B07-5206-306C-527E-D01330A32438}"/>
              </a:ext>
            </a:extLst>
          </p:cNvPr>
          <p:cNvSpPr/>
          <p:nvPr/>
        </p:nvSpPr>
        <p:spPr>
          <a:xfrm>
            <a:off x="6259829" y="1349502"/>
            <a:ext cx="434340" cy="431800"/>
          </a:xfrm>
          <a:custGeom>
            <a:avLst/>
            <a:gdLst/>
            <a:ahLst/>
            <a:cxnLst/>
            <a:rect l="l" t="t" r="r" b="b"/>
            <a:pathLst>
              <a:path w="434340" h="431800">
                <a:moveTo>
                  <a:pt x="0" y="431292"/>
                </a:moveTo>
                <a:lnTo>
                  <a:pt x="64188" y="428954"/>
                </a:lnTo>
                <a:lnTo>
                  <a:pt x="125451" y="422164"/>
                </a:lnTo>
                <a:lnTo>
                  <a:pt x="183117" y="411253"/>
                </a:lnTo>
                <a:lnTo>
                  <a:pt x="236513" y="396557"/>
                </a:lnTo>
                <a:lnTo>
                  <a:pt x="284968" y="378407"/>
                </a:lnTo>
                <a:lnTo>
                  <a:pt x="327811" y="357136"/>
                </a:lnTo>
                <a:lnTo>
                  <a:pt x="364371" y="333079"/>
                </a:lnTo>
                <a:lnTo>
                  <a:pt x="393975" y="306569"/>
                </a:lnTo>
                <a:lnTo>
                  <a:pt x="429631" y="247518"/>
                </a:lnTo>
                <a:lnTo>
                  <a:pt x="434340" y="215646"/>
                </a:lnTo>
                <a:lnTo>
                  <a:pt x="429631" y="183773"/>
                </a:lnTo>
                <a:lnTo>
                  <a:pt x="393975" y="124722"/>
                </a:lnTo>
                <a:lnTo>
                  <a:pt x="364371" y="98212"/>
                </a:lnTo>
                <a:lnTo>
                  <a:pt x="327811" y="74155"/>
                </a:lnTo>
                <a:lnTo>
                  <a:pt x="284968" y="52884"/>
                </a:lnTo>
                <a:lnTo>
                  <a:pt x="236513" y="34734"/>
                </a:lnTo>
                <a:lnTo>
                  <a:pt x="183117" y="20038"/>
                </a:lnTo>
                <a:lnTo>
                  <a:pt x="125451" y="9127"/>
                </a:lnTo>
                <a:lnTo>
                  <a:pt x="64188" y="2337"/>
                </a:lnTo>
                <a:lnTo>
                  <a:pt x="0" y="0"/>
                </a:lnTo>
                <a:lnTo>
                  <a:pt x="25065" y="42333"/>
                </a:lnTo>
                <a:lnTo>
                  <a:pt x="44561" y="85197"/>
                </a:lnTo>
                <a:lnTo>
                  <a:pt x="58487" y="128459"/>
                </a:lnTo>
                <a:lnTo>
                  <a:pt x="66842" y="171986"/>
                </a:lnTo>
                <a:lnTo>
                  <a:pt x="69627" y="215646"/>
                </a:lnTo>
                <a:lnTo>
                  <a:pt x="66842" y="259305"/>
                </a:lnTo>
                <a:lnTo>
                  <a:pt x="58487" y="302832"/>
                </a:lnTo>
                <a:lnTo>
                  <a:pt x="44561" y="346094"/>
                </a:lnTo>
                <a:lnTo>
                  <a:pt x="25065" y="388958"/>
                </a:lnTo>
                <a:lnTo>
                  <a:pt x="0" y="43129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30">
            <a:extLst>
              <a:ext uri="{FF2B5EF4-FFF2-40B4-BE49-F238E27FC236}">
                <a16:creationId xmlns:a16="http://schemas.microsoft.com/office/drawing/2014/main" id="{3F6B8BDF-28FB-B966-E317-2668DC367D51}"/>
              </a:ext>
            </a:extLst>
          </p:cNvPr>
          <p:cNvSpPr/>
          <p:nvPr/>
        </p:nvSpPr>
        <p:spPr>
          <a:xfrm>
            <a:off x="6119621" y="1055369"/>
            <a:ext cx="970915" cy="528955"/>
          </a:xfrm>
          <a:custGeom>
            <a:avLst/>
            <a:gdLst/>
            <a:ahLst/>
            <a:cxnLst/>
            <a:rect l="l" t="t" r="r" b="b"/>
            <a:pathLst>
              <a:path w="970915" h="528955">
                <a:moveTo>
                  <a:pt x="0" y="357377"/>
                </a:moveTo>
                <a:lnTo>
                  <a:pt x="10858" y="300974"/>
                </a:lnTo>
                <a:lnTo>
                  <a:pt x="28575" y="242950"/>
                </a:lnTo>
                <a:lnTo>
                  <a:pt x="48291" y="209446"/>
                </a:lnTo>
                <a:lnTo>
                  <a:pt x="77382" y="184290"/>
                </a:lnTo>
                <a:lnTo>
                  <a:pt x="120943" y="156664"/>
                </a:lnTo>
                <a:lnTo>
                  <a:pt x="142748" y="142875"/>
                </a:lnTo>
                <a:lnTo>
                  <a:pt x="228473" y="85725"/>
                </a:lnTo>
                <a:lnTo>
                  <a:pt x="271272" y="57150"/>
                </a:lnTo>
                <a:lnTo>
                  <a:pt x="281674" y="49434"/>
                </a:lnTo>
                <a:lnTo>
                  <a:pt x="291909" y="41338"/>
                </a:lnTo>
                <a:lnTo>
                  <a:pt x="302525" y="34004"/>
                </a:lnTo>
                <a:lnTo>
                  <a:pt x="314070" y="28575"/>
                </a:lnTo>
                <a:lnTo>
                  <a:pt x="399796" y="0"/>
                </a:lnTo>
                <a:lnTo>
                  <a:pt x="442618" y="3278"/>
                </a:lnTo>
                <a:lnTo>
                  <a:pt x="485489" y="6318"/>
                </a:lnTo>
                <a:lnTo>
                  <a:pt x="528312" y="9786"/>
                </a:lnTo>
                <a:lnTo>
                  <a:pt x="570992" y="14350"/>
                </a:lnTo>
                <a:lnTo>
                  <a:pt x="622061" y="26542"/>
                </a:lnTo>
                <a:lnTo>
                  <a:pt x="645376" y="34710"/>
                </a:lnTo>
                <a:lnTo>
                  <a:pt x="670941" y="42925"/>
                </a:lnTo>
                <a:lnTo>
                  <a:pt x="692415" y="48355"/>
                </a:lnTo>
                <a:lnTo>
                  <a:pt x="720439" y="55213"/>
                </a:lnTo>
                <a:lnTo>
                  <a:pt x="748700" y="63071"/>
                </a:lnTo>
                <a:lnTo>
                  <a:pt x="770889" y="71500"/>
                </a:lnTo>
                <a:lnTo>
                  <a:pt x="782060" y="77841"/>
                </a:lnTo>
                <a:lnTo>
                  <a:pt x="792718" y="85074"/>
                </a:lnTo>
                <a:lnTo>
                  <a:pt x="803161" y="92664"/>
                </a:lnTo>
                <a:lnTo>
                  <a:pt x="813688" y="100075"/>
                </a:lnTo>
                <a:lnTo>
                  <a:pt x="820475" y="111067"/>
                </a:lnTo>
                <a:lnTo>
                  <a:pt x="827023" y="122285"/>
                </a:lnTo>
                <a:lnTo>
                  <a:pt x="834048" y="133097"/>
                </a:lnTo>
                <a:lnTo>
                  <a:pt x="842263" y="142875"/>
                </a:lnTo>
                <a:lnTo>
                  <a:pt x="852828" y="150447"/>
                </a:lnTo>
                <a:lnTo>
                  <a:pt x="864870" y="156305"/>
                </a:lnTo>
                <a:lnTo>
                  <a:pt x="876339" y="162591"/>
                </a:lnTo>
                <a:lnTo>
                  <a:pt x="885189" y="171450"/>
                </a:lnTo>
                <a:lnTo>
                  <a:pt x="894992" y="191668"/>
                </a:lnTo>
                <a:lnTo>
                  <a:pt x="901795" y="213280"/>
                </a:lnTo>
                <a:lnTo>
                  <a:pt x="907407" y="235440"/>
                </a:lnTo>
                <a:lnTo>
                  <a:pt x="913637" y="257301"/>
                </a:lnTo>
                <a:lnTo>
                  <a:pt x="956563" y="385952"/>
                </a:lnTo>
                <a:lnTo>
                  <a:pt x="960768" y="396533"/>
                </a:lnTo>
                <a:lnTo>
                  <a:pt x="965438" y="407066"/>
                </a:lnTo>
                <a:lnTo>
                  <a:pt x="969226" y="417742"/>
                </a:lnTo>
                <a:lnTo>
                  <a:pt x="970787" y="428751"/>
                </a:lnTo>
                <a:lnTo>
                  <a:pt x="970787" y="528827"/>
                </a:lnTo>
              </a:path>
            </a:pathLst>
          </a:custGeom>
          <a:ln w="28956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31">
            <a:extLst>
              <a:ext uri="{FF2B5EF4-FFF2-40B4-BE49-F238E27FC236}">
                <a16:creationId xmlns:a16="http://schemas.microsoft.com/office/drawing/2014/main" id="{9E60FAA3-01E7-297C-05D5-0117DA2FA336}"/>
              </a:ext>
            </a:extLst>
          </p:cNvPr>
          <p:cNvSpPr/>
          <p:nvPr/>
        </p:nvSpPr>
        <p:spPr>
          <a:xfrm>
            <a:off x="6095238" y="2567177"/>
            <a:ext cx="1643380" cy="672465"/>
          </a:xfrm>
          <a:custGeom>
            <a:avLst/>
            <a:gdLst/>
            <a:ahLst/>
            <a:cxnLst/>
            <a:rect l="l" t="t" r="r" b="b"/>
            <a:pathLst>
              <a:path w="1643379" h="672464">
                <a:moveTo>
                  <a:pt x="0" y="357505"/>
                </a:moveTo>
                <a:lnTo>
                  <a:pt x="0" y="0"/>
                </a:lnTo>
                <a:lnTo>
                  <a:pt x="1642871" y="0"/>
                </a:lnTo>
                <a:lnTo>
                  <a:pt x="1627632" y="672084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32">
            <a:extLst>
              <a:ext uri="{FF2B5EF4-FFF2-40B4-BE49-F238E27FC236}">
                <a16:creationId xmlns:a16="http://schemas.microsoft.com/office/drawing/2014/main" id="{FDC569AF-0285-8F3D-1AE7-29919874C908}"/>
              </a:ext>
            </a:extLst>
          </p:cNvPr>
          <p:cNvSpPr txBox="1"/>
          <p:nvPr/>
        </p:nvSpPr>
        <p:spPr>
          <a:xfrm>
            <a:off x="5798165" y="1262633"/>
            <a:ext cx="175260" cy="60896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9845" marR="5080" indent="-30480">
              <a:lnSpc>
                <a:spcPts val="2190"/>
              </a:lnSpc>
              <a:spcBef>
                <a:spcPts val="350"/>
              </a:spcBef>
            </a:pPr>
            <a:r>
              <a:rPr sz="2000" b="1" i="1" dirty="0">
                <a:latin typeface="HelveticaNeue-BoldItalic"/>
                <a:cs typeface="HelveticaNeue-BoldItalic"/>
              </a:rPr>
              <a:t>x  y</a:t>
            </a:r>
            <a:endParaRPr sz="2000">
              <a:latin typeface="HelveticaNeue-BoldItalic"/>
              <a:cs typeface="HelveticaNeue-BoldItalic"/>
            </a:endParaRPr>
          </a:p>
        </p:txBody>
      </p:sp>
      <p:sp>
        <p:nvSpPr>
          <p:cNvPr id="88" name="object 33">
            <a:extLst>
              <a:ext uri="{FF2B5EF4-FFF2-40B4-BE49-F238E27FC236}">
                <a16:creationId xmlns:a16="http://schemas.microsoft.com/office/drawing/2014/main" id="{79F4DAFE-51A9-C637-7900-8FC7509F622B}"/>
              </a:ext>
            </a:extLst>
          </p:cNvPr>
          <p:cNvSpPr/>
          <p:nvPr/>
        </p:nvSpPr>
        <p:spPr>
          <a:xfrm>
            <a:off x="6095238" y="2925317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34">
            <a:extLst>
              <a:ext uri="{FF2B5EF4-FFF2-40B4-BE49-F238E27FC236}">
                <a16:creationId xmlns:a16="http://schemas.microsoft.com/office/drawing/2014/main" id="{9795D1AF-5792-343E-D0B8-3791CBA5388E}"/>
              </a:ext>
            </a:extLst>
          </p:cNvPr>
          <p:cNvSpPr/>
          <p:nvPr/>
        </p:nvSpPr>
        <p:spPr>
          <a:xfrm>
            <a:off x="6095238" y="3213354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35">
            <a:extLst>
              <a:ext uri="{FF2B5EF4-FFF2-40B4-BE49-F238E27FC236}">
                <a16:creationId xmlns:a16="http://schemas.microsoft.com/office/drawing/2014/main" id="{E3DCB36C-E01A-3609-6FDA-D5284D904438}"/>
              </a:ext>
            </a:extLst>
          </p:cNvPr>
          <p:cNvSpPr/>
          <p:nvPr/>
        </p:nvSpPr>
        <p:spPr>
          <a:xfrm>
            <a:off x="6695693" y="3077717"/>
            <a:ext cx="417830" cy="1905"/>
          </a:xfrm>
          <a:custGeom>
            <a:avLst/>
            <a:gdLst/>
            <a:ahLst/>
            <a:cxnLst/>
            <a:rect l="l" t="t" r="r" b="b"/>
            <a:pathLst>
              <a:path w="417829" h="1905">
                <a:moveTo>
                  <a:pt x="417575" y="0"/>
                </a:moveTo>
                <a:lnTo>
                  <a:pt x="0" y="15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36">
            <a:extLst>
              <a:ext uri="{FF2B5EF4-FFF2-40B4-BE49-F238E27FC236}">
                <a16:creationId xmlns:a16="http://schemas.microsoft.com/office/drawing/2014/main" id="{40CA2CF3-4473-CD70-0DBD-57D395CBEFA5}"/>
              </a:ext>
            </a:extLst>
          </p:cNvPr>
          <p:cNvSpPr/>
          <p:nvPr/>
        </p:nvSpPr>
        <p:spPr>
          <a:xfrm>
            <a:off x="6960869" y="3077717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1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37">
            <a:extLst>
              <a:ext uri="{FF2B5EF4-FFF2-40B4-BE49-F238E27FC236}">
                <a16:creationId xmlns:a16="http://schemas.microsoft.com/office/drawing/2014/main" id="{476EA23D-D274-CBA6-60D2-6177A75FAFBD}"/>
              </a:ext>
            </a:extLst>
          </p:cNvPr>
          <p:cNvSpPr/>
          <p:nvPr/>
        </p:nvSpPr>
        <p:spPr>
          <a:xfrm>
            <a:off x="6948678" y="3358134"/>
            <a:ext cx="288290" cy="0"/>
          </a:xfrm>
          <a:custGeom>
            <a:avLst/>
            <a:gdLst/>
            <a:ahLst/>
            <a:cxnLst/>
            <a:rect l="l" t="t" r="r" b="b"/>
            <a:pathLst>
              <a:path w="288290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38">
            <a:extLst>
              <a:ext uri="{FF2B5EF4-FFF2-40B4-BE49-F238E27FC236}">
                <a16:creationId xmlns:a16="http://schemas.microsoft.com/office/drawing/2014/main" id="{B415EDD9-31BE-5905-06A2-C039F346603C}"/>
              </a:ext>
            </a:extLst>
          </p:cNvPr>
          <p:cNvSpPr/>
          <p:nvPr/>
        </p:nvSpPr>
        <p:spPr>
          <a:xfrm>
            <a:off x="7559802" y="3208782"/>
            <a:ext cx="417830" cy="0"/>
          </a:xfrm>
          <a:custGeom>
            <a:avLst/>
            <a:gdLst/>
            <a:ahLst/>
            <a:cxnLst/>
            <a:rect l="l" t="t" r="r" b="b"/>
            <a:pathLst>
              <a:path w="417829">
                <a:moveTo>
                  <a:pt x="417575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39">
            <a:extLst>
              <a:ext uri="{FF2B5EF4-FFF2-40B4-BE49-F238E27FC236}">
                <a16:creationId xmlns:a16="http://schemas.microsoft.com/office/drawing/2014/main" id="{3F337716-EA84-0A95-3458-3178378DABC5}"/>
              </a:ext>
            </a:extLst>
          </p:cNvPr>
          <p:cNvSpPr/>
          <p:nvPr/>
        </p:nvSpPr>
        <p:spPr>
          <a:xfrm>
            <a:off x="6281165" y="2853689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0"/>
                </a:moveTo>
                <a:lnTo>
                  <a:pt x="24997" y="42333"/>
                </a:lnTo>
                <a:lnTo>
                  <a:pt x="44439" y="85197"/>
                </a:lnTo>
                <a:lnTo>
                  <a:pt x="58327" y="128459"/>
                </a:lnTo>
                <a:lnTo>
                  <a:pt x="66659" y="171986"/>
                </a:lnTo>
                <a:lnTo>
                  <a:pt x="69437" y="215646"/>
                </a:lnTo>
                <a:lnTo>
                  <a:pt x="66659" y="259305"/>
                </a:lnTo>
                <a:lnTo>
                  <a:pt x="58327" y="302832"/>
                </a:lnTo>
                <a:lnTo>
                  <a:pt x="44439" y="346094"/>
                </a:lnTo>
                <a:lnTo>
                  <a:pt x="24997" y="388958"/>
                </a:lnTo>
                <a:lnTo>
                  <a:pt x="0" y="431292"/>
                </a:lnTo>
                <a:lnTo>
                  <a:pt x="63953" y="428954"/>
                </a:lnTo>
                <a:lnTo>
                  <a:pt x="124994" y="422164"/>
                </a:lnTo>
                <a:lnTo>
                  <a:pt x="182454" y="411253"/>
                </a:lnTo>
                <a:lnTo>
                  <a:pt x="235662" y="396557"/>
                </a:lnTo>
                <a:lnTo>
                  <a:pt x="283949" y="378407"/>
                </a:lnTo>
                <a:lnTo>
                  <a:pt x="326645" y="357136"/>
                </a:lnTo>
                <a:lnTo>
                  <a:pt x="363080" y="333079"/>
                </a:lnTo>
                <a:lnTo>
                  <a:pt x="392585" y="306569"/>
                </a:lnTo>
                <a:lnTo>
                  <a:pt x="428122" y="247518"/>
                </a:lnTo>
                <a:lnTo>
                  <a:pt x="432815" y="215646"/>
                </a:lnTo>
                <a:lnTo>
                  <a:pt x="428122" y="183773"/>
                </a:lnTo>
                <a:lnTo>
                  <a:pt x="392585" y="124722"/>
                </a:lnTo>
                <a:lnTo>
                  <a:pt x="363080" y="98212"/>
                </a:lnTo>
                <a:lnTo>
                  <a:pt x="326645" y="74155"/>
                </a:lnTo>
                <a:lnTo>
                  <a:pt x="283949" y="52884"/>
                </a:lnTo>
                <a:lnTo>
                  <a:pt x="235662" y="34734"/>
                </a:lnTo>
                <a:lnTo>
                  <a:pt x="182454" y="20038"/>
                </a:lnTo>
                <a:lnTo>
                  <a:pt x="124994" y="9127"/>
                </a:lnTo>
                <a:lnTo>
                  <a:pt x="63953" y="2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40">
            <a:extLst>
              <a:ext uri="{FF2B5EF4-FFF2-40B4-BE49-F238E27FC236}">
                <a16:creationId xmlns:a16="http://schemas.microsoft.com/office/drawing/2014/main" id="{52E748CB-1814-FD68-575B-DB9D370EEDA0}"/>
              </a:ext>
            </a:extLst>
          </p:cNvPr>
          <p:cNvSpPr/>
          <p:nvPr/>
        </p:nvSpPr>
        <p:spPr>
          <a:xfrm>
            <a:off x="6281165" y="2853689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431292"/>
                </a:moveTo>
                <a:lnTo>
                  <a:pt x="63953" y="428954"/>
                </a:lnTo>
                <a:lnTo>
                  <a:pt x="124994" y="422164"/>
                </a:lnTo>
                <a:lnTo>
                  <a:pt x="182454" y="411253"/>
                </a:lnTo>
                <a:lnTo>
                  <a:pt x="235662" y="396557"/>
                </a:lnTo>
                <a:lnTo>
                  <a:pt x="283949" y="378407"/>
                </a:lnTo>
                <a:lnTo>
                  <a:pt x="326645" y="357136"/>
                </a:lnTo>
                <a:lnTo>
                  <a:pt x="363080" y="333079"/>
                </a:lnTo>
                <a:lnTo>
                  <a:pt x="392585" y="306569"/>
                </a:lnTo>
                <a:lnTo>
                  <a:pt x="428122" y="247518"/>
                </a:lnTo>
                <a:lnTo>
                  <a:pt x="432815" y="215646"/>
                </a:lnTo>
                <a:lnTo>
                  <a:pt x="428122" y="183773"/>
                </a:lnTo>
                <a:lnTo>
                  <a:pt x="392585" y="124722"/>
                </a:lnTo>
                <a:lnTo>
                  <a:pt x="363080" y="98212"/>
                </a:lnTo>
                <a:lnTo>
                  <a:pt x="326645" y="74155"/>
                </a:lnTo>
                <a:lnTo>
                  <a:pt x="283949" y="52884"/>
                </a:lnTo>
                <a:lnTo>
                  <a:pt x="235662" y="34734"/>
                </a:lnTo>
                <a:lnTo>
                  <a:pt x="182454" y="20038"/>
                </a:lnTo>
                <a:lnTo>
                  <a:pt x="124994" y="9127"/>
                </a:lnTo>
                <a:lnTo>
                  <a:pt x="63953" y="2337"/>
                </a:lnTo>
                <a:lnTo>
                  <a:pt x="0" y="0"/>
                </a:lnTo>
                <a:lnTo>
                  <a:pt x="24997" y="42333"/>
                </a:lnTo>
                <a:lnTo>
                  <a:pt x="44439" y="85197"/>
                </a:lnTo>
                <a:lnTo>
                  <a:pt x="58327" y="128459"/>
                </a:lnTo>
                <a:lnTo>
                  <a:pt x="66659" y="171986"/>
                </a:lnTo>
                <a:lnTo>
                  <a:pt x="69437" y="215646"/>
                </a:lnTo>
                <a:lnTo>
                  <a:pt x="66659" y="259305"/>
                </a:lnTo>
                <a:lnTo>
                  <a:pt x="58327" y="302832"/>
                </a:lnTo>
                <a:lnTo>
                  <a:pt x="44439" y="346094"/>
                </a:lnTo>
                <a:lnTo>
                  <a:pt x="24997" y="388958"/>
                </a:lnTo>
                <a:lnTo>
                  <a:pt x="0" y="43129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41">
            <a:extLst>
              <a:ext uri="{FF2B5EF4-FFF2-40B4-BE49-F238E27FC236}">
                <a16:creationId xmlns:a16="http://schemas.microsoft.com/office/drawing/2014/main" id="{2A1FB09F-A9BE-18BA-D8A9-9BF4E3CFB6B3}"/>
              </a:ext>
            </a:extLst>
          </p:cNvPr>
          <p:cNvSpPr/>
          <p:nvPr/>
        </p:nvSpPr>
        <p:spPr>
          <a:xfrm>
            <a:off x="6941819" y="1828800"/>
            <a:ext cx="530860" cy="593090"/>
          </a:xfrm>
          <a:custGeom>
            <a:avLst/>
            <a:gdLst/>
            <a:ahLst/>
            <a:cxnLst/>
            <a:rect l="l" t="t" r="r" b="b"/>
            <a:pathLst>
              <a:path w="530859" h="593089">
                <a:moveTo>
                  <a:pt x="530351" y="327660"/>
                </a:moveTo>
                <a:lnTo>
                  <a:pt x="0" y="327660"/>
                </a:lnTo>
                <a:lnTo>
                  <a:pt x="265175" y="592836"/>
                </a:lnTo>
                <a:lnTo>
                  <a:pt x="530351" y="327660"/>
                </a:lnTo>
                <a:close/>
              </a:path>
              <a:path w="530859" h="593089">
                <a:moveTo>
                  <a:pt x="397763" y="0"/>
                </a:moveTo>
                <a:lnTo>
                  <a:pt x="132587" y="0"/>
                </a:lnTo>
                <a:lnTo>
                  <a:pt x="132587" y="327660"/>
                </a:lnTo>
                <a:lnTo>
                  <a:pt x="397763" y="327660"/>
                </a:lnTo>
                <a:lnTo>
                  <a:pt x="39776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42">
            <a:extLst>
              <a:ext uri="{FF2B5EF4-FFF2-40B4-BE49-F238E27FC236}">
                <a16:creationId xmlns:a16="http://schemas.microsoft.com/office/drawing/2014/main" id="{E54F7B0A-8E3A-C264-E5BA-F1E3C797D07E}"/>
              </a:ext>
            </a:extLst>
          </p:cNvPr>
          <p:cNvSpPr txBox="1"/>
          <p:nvPr/>
        </p:nvSpPr>
        <p:spPr>
          <a:xfrm>
            <a:off x="5912465" y="2983738"/>
            <a:ext cx="1454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HelveticaNeue-BoldItalic"/>
                <a:cs typeface="HelveticaNeue-BoldItalic"/>
              </a:rPr>
              <a:t>y</a:t>
            </a:r>
            <a:endParaRPr sz="2000">
              <a:latin typeface="HelveticaNeue-BoldItalic"/>
              <a:cs typeface="HelveticaNeue-BoldItalic"/>
            </a:endParaRPr>
          </a:p>
        </p:txBody>
      </p:sp>
      <p:sp>
        <p:nvSpPr>
          <p:cNvPr id="98" name="object 43">
            <a:extLst>
              <a:ext uri="{FF2B5EF4-FFF2-40B4-BE49-F238E27FC236}">
                <a16:creationId xmlns:a16="http://schemas.microsoft.com/office/drawing/2014/main" id="{06BCB407-6842-F550-ECA4-A35A1B69E8A4}"/>
              </a:ext>
            </a:extLst>
          </p:cNvPr>
          <p:cNvSpPr txBox="1"/>
          <p:nvPr/>
        </p:nvSpPr>
        <p:spPr>
          <a:xfrm>
            <a:off x="6738092" y="3170631"/>
            <a:ext cx="1454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HelveticaNeue-BoldItalic"/>
                <a:cs typeface="HelveticaNeue-BoldItalic"/>
              </a:rPr>
              <a:t>x</a:t>
            </a:r>
            <a:endParaRPr sz="2000">
              <a:latin typeface="HelveticaNeue-BoldItalic"/>
              <a:cs typeface="HelveticaNeue-BoldItalic"/>
            </a:endParaRPr>
          </a:p>
        </p:txBody>
      </p:sp>
      <p:sp>
        <p:nvSpPr>
          <p:cNvPr id="100" name="object 45">
            <a:extLst>
              <a:ext uri="{FF2B5EF4-FFF2-40B4-BE49-F238E27FC236}">
                <a16:creationId xmlns:a16="http://schemas.microsoft.com/office/drawing/2014/main" id="{B38468AF-31C5-C882-3B4F-C6FAD6942BA0}"/>
              </a:ext>
            </a:extLst>
          </p:cNvPr>
          <p:cNvSpPr txBox="1"/>
          <p:nvPr/>
        </p:nvSpPr>
        <p:spPr>
          <a:xfrm>
            <a:off x="8019160" y="2947162"/>
            <a:ext cx="2908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3000" b="1" i="1" baseline="-16666" dirty="0">
                <a:latin typeface="HelveticaNeue-BoldItalic"/>
                <a:cs typeface="HelveticaNeue-BoldItalic"/>
              </a:rPr>
              <a:t>z</a:t>
            </a:r>
            <a:r>
              <a:rPr sz="1300" b="1" i="1" dirty="0">
                <a:latin typeface="HelveticaNeue-BoldItalic"/>
                <a:cs typeface="HelveticaNeue-BoldItalic"/>
              </a:rPr>
              <a:t>+</a:t>
            </a:r>
            <a:endParaRPr sz="1300">
              <a:latin typeface="HelveticaNeue-BoldItalic"/>
              <a:cs typeface="HelveticaNeue-BoldItalic"/>
            </a:endParaRPr>
          </a:p>
        </p:txBody>
      </p:sp>
      <p:sp>
        <p:nvSpPr>
          <p:cNvPr id="101" name="object 47">
            <a:extLst>
              <a:ext uri="{FF2B5EF4-FFF2-40B4-BE49-F238E27FC236}">
                <a16:creationId xmlns:a16="http://schemas.microsoft.com/office/drawing/2014/main" id="{93344756-DE19-64DF-10F2-218E0472F207}"/>
              </a:ext>
            </a:extLst>
          </p:cNvPr>
          <p:cNvSpPr/>
          <p:nvPr/>
        </p:nvSpPr>
        <p:spPr>
          <a:xfrm>
            <a:off x="7146797" y="2998470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0"/>
                </a:moveTo>
                <a:lnTo>
                  <a:pt x="24997" y="42333"/>
                </a:lnTo>
                <a:lnTo>
                  <a:pt x="44439" y="85197"/>
                </a:lnTo>
                <a:lnTo>
                  <a:pt x="58327" y="128459"/>
                </a:lnTo>
                <a:lnTo>
                  <a:pt x="66659" y="171986"/>
                </a:lnTo>
                <a:lnTo>
                  <a:pt x="69437" y="215645"/>
                </a:lnTo>
                <a:lnTo>
                  <a:pt x="66659" y="259305"/>
                </a:lnTo>
                <a:lnTo>
                  <a:pt x="58327" y="302832"/>
                </a:lnTo>
                <a:lnTo>
                  <a:pt x="44439" y="346094"/>
                </a:lnTo>
                <a:lnTo>
                  <a:pt x="24997" y="388958"/>
                </a:lnTo>
                <a:lnTo>
                  <a:pt x="0" y="431291"/>
                </a:lnTo>
                <a:lnTo>
                  <a:pt x="63953" y="428954"/>
                </a:lnTo>
                <a:lnTo>
                  <a:pt x="124994" y="422164"/>
                </a:lnTo>
                <a:lnTo>
                  <a:pt x="182454" y="411253"/>
                </a:lnTo>
                <a:lnTo>
                  <a:pt x="235662" y="396557"/>
                </a:lnTo>
                <a:lnTo>
                  <a:pt x="283949" y="378407"/>
                </a:lnTo>
                <a:lnTo>
                  <a:pt x="326645" y="357136"/>
                </a:lnTo>
                <a:lnTo>
                  <a:pt x="363080" y="333079"/>
                </a:lnTo>
                <a:lnTo>
                  <a:pt x="392585" y="306569"/>
                </a:lnTo>
                <a:lnTo>
                  <a:pt x="428122" y="247518"/>
                </a:lnTo>
                <a:lnTo>
                  <a:pt x="432816" y="215645"/>
                </a:lnTo>
                <a:lnTo>
                  <a:pt x="428122" y="183773"/>
                </a:lnTo>
                <a:lnTo>
                  <a:pt x="392585" y="124722"/>
                </a:lnTo>
                <a:lnTo>
                  <a:pt x="363080" y="98212"/>
                </a:lnTo>
                <a:lnTo>
                  <a:pt x="326645" y="74155"/>
                </a:lnTo>
                <a:lnTo>
                  <a:pt x="283949" y="52884"/>
                </a:lnTo>
                <a:lnTo>
                  <a:pt x="235662" y="34734"/>
                </a:lnTo>
                <a:lnTo>
                  <a:pt x="182454" y="20038"/>
                </a:lnTo>
                <a:lnTo>
                  <a:pt x="124994" y="9127"/>
                </a:lnTo>
                <a:lnTo>
                  <a:pt x="63953" y="2337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48">
            <a:extLst>
              <a:ext uri="{FF2B5EF4-FFF2-40B4-BE49-F238E27FC236}">
                <a16:creationId xmlns:a16="http://schemas.microsoft.com/office/drawing/2014/main" id="{AFF6C352-7276-39E1-4967-4417B95BA3E8}"/>
              </a:ext>
            </a:extLst>
          </p:cNvPr>
          <p:cNvSpPr/>
          <p:nvPr/>
        </p:nvSpPr>
        <p:spPr>
          <a:xfrm>
            <a:off x="7146797" y="2998470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431291"/>
                </a:moveTo>
                <a:lnTo>
                  <a:pt x="63953" y="428954"/>
                </a:lnTo>
                <a:lnTo>
                  <a:pt x="124994" y="422164"/>
                </a:lnTo>
                <a:lnTo>
                  <a:pt x="182454" y="411253"/>
                </a:lnTo>
                <a:lnTo>
                  <a:pt x="235662" y="396557"/>
                </a:lnTo>
                <a:lnTo>
                  <a:pt x="283949" y="378407"/>
                </a:lnTo>
                <a:lnTo>
                  <a:pt x="326645" y="357136"/>
                </a:lnTo>
                <a:lnTo>
                  <a:pt x="363080" y="333079"/>
                </a:lnTo>
                <a:lnTo>
                  <a:pt x="392585" y="306569"/>
                </a:lnTo>
                <a:lnTo>
                  <a:pt x="428122" y="247518"/>
                </a:lnTo>
                <a:lnTo>
                  <a:pt x="432816" y="215645"/>
                </a:lnTo>
                <a:lnTo>
                  <a:pt x="428122" y="183773"/>
                </a:lnTo>
                <a:lnTo>
                  <a:pt x="392585" y="124722"/>
                </a:lnTo>
                <a:lnTo>
                  <a:pt x="363080" y="98212"/>
                </a:lnTo>
                <a:lnTo>
                  <a:pt x="326645" y="74155"/>
                </a:lnTo>
                <a:lnTo>
                  <a:pt x="283949" y="52884"/>
                </a:lnTo>
                <a:lnTo>
                  <a:pt x="235662" y="34734"/>
                </a:lnTo>
                <a:lnTo>
                  <a:pt x="182454" y="20038"/>
                </a:lnTo>
                <a:lnTo>
                  <a:pt x="124994" y="9127"/>
                </a:lnTo>
                <a:lnTo>
                  <a:pt x="63953" y="2337"/>
                </a:lnTo>
                <a:lnTo>
                  <a:pt x="0" y="0"/>
                </a:lnTo>
                <a:lnTo>
                  <a:pt x="24997" y="42333"/>
                </a:lnTo>
                <a:lnTo>
                  <a:pt x="44439" y="85197"/>
                </a:lnTo>
                <a:lnTo>
                  <a:pt x="58327" y="128459"/>
                </a:lnTo>
                <a:lnTo>
                  <a:pt x="66659" y="171986"/>
                </a:lnTo>
                <a:lnTo>
                  <a:pt x="69437" y="215645"/>
                </a:lnTo>
                <a:lnTo>
                  <a:pt x="66659" y="259305"/>
                </a:lnTo>
                <a:lnTo>
                  <a:pt x="58327" y="302832"/>
                </a:lnTo>
                <a:lnTo>
                  <a:pt x="44439" y="346094"/>
                </a:lnTo>
                <a:lnTo>
                  <a:pt x="24997" y="388958"/>
                </a:lnTo>
                <a:lnTo>
                  <a:pt x="0" y="431291"/>
                </a:lnTo>
                <a:close/>
              </a:path>
            </a:pathLst>
          </a:custGeom>
          <a:ln w="381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56">
            <a:extLst>
              <a:ext uri="{FF2B5EF4-FFF2-40B4-BE49-F238E27FC236}">
                <a16:creationId xmlns:a16="http://schemas.microsoft.com/office/drawing/2014/main" id="{0E8E2706-3220-E64B-60D1-4D0305223FB9}"/>
              </a:ext>
            </a:extLst>
          </p:cNvPr>
          <p:cNvSpPr txBox="1"/>
          <p:nvPr/>
        </p:nvSpPr>
        <p:spPr>
          <a:xfrm>
            <a:off x="6474205" y="863853"/>
            <a:ext cx="1015365" cy="79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Helvetica"/>
                <a:cs typeface="Helvetica"/>
              </a:rPr>
              <a:t>wired</a:t>
            </a:r>
            <a:r>
              <a:rPr sz="1800" b="1" spc="-95" dirty="0">
                <a:latin typeface="Helvetica"/>
                <a:cs typeface="Helvetica"/>
              </a:rPr>
              <a:t> </a:t>
            </a:r>
            <a:r>
              <a:rPr sz="1800" b="1" spc="-5" dirty="0">
                <a:latin typeface="Helvetica"/>
                <a:cs typeface="Helvetica"/>
              </a:rPr>
              <a:t>OR</a:t>
            </a:r>
            <a:endParaRPr sz="1800">
              <a:latin typeface="Helvetica"/>
              <a:cs typeface="Helvetica"/>
            </a:endParaRPr>
          </a:p>
          <a:p>
            <a:pPr marR="44450" algn="r">
              <a:lnSpc>
                <a:spcPct val="100000"/>
              </a:lnSpc>
              <a:spcBef>
                <a:spcPts val="1495"/>
              </a:spcBef>
            </a:pPr>
            <a:r>
              <a:rPr sz="2000" b="1" i="1" dirty="0">
                <a:latin typeface="HelveticaNeue-BoldItalic"/>
                <a:cs typeface="HelveticaNeue-BoldItalic"/>
              </a:rPr>
              <a:t>z</a:t>
            </a:r>
            <a:endParaRPr sz="2000">
              <a:latin typeface="HelveticaNeue-BoldItalic"/>
              <a:cs typeface="HelveticaNeue-BoldItalic"/>
            </a:endParaRP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8652F3E-C1B1-7D46-F2CF-2387F0F6664E}"/>
              </a:ext>
            </a:extLst>
          </p:cNvPr>
          <p:cNvGrpSpPr/>
          <p:nvPr/>
        </p:nvGrpSpPr>
        <p:grpSpPr>
          <a:xfrm>
            <a:off x="5579364" y="3692652"/>
            <a:ext cx="2872612" cy="2734310"/>
            <a:chOff x="5579364" y="3692652"/>
            <a:chExt cx="2872612" cy="2734310"/>
          </a:xfrm>
        </p:grpSpPr>
        <p:sp>
          <p:nvSpPr>
            <p:cNvPr id="61" name="object 5">
              <a:extLst>
                <a:ext uri="{FF2B5EF4-FFF2-40B4-BE49-F238E27FC236}">
                  <a16:creationId xmlns:a16="http://schemas.microsoft.com/office/drawing/2014/main" id="{893505B5-D719-CFE2-4317-E924BDB00FB5}"/>
                </a:ext>
              </a:extLst>
            </p:cNvPr>
            <p:cNvSpPr/>
            <p:nvPr/>
          </p:nvSpPr>
          <p:spPr>
            <a:xfrm>
              <a:off x="5579364" y="3692652"/>
              <a:ext cx="2801620" cy="2734310"/>
            </a:xfrm>
            <a:custGeom>
              <a:avLst/>
              <a:gdLst/>
              <a:ahLst/>
              <a:cxnLst/>
              <a:rect l="l" t="t" r="r" b="b"/>
              <a:pathLst>
                <a:path w="2801620" h="2734310">
                  <a:moveTo>
                    <a:pt x="0" y="2734056"/>
                  </a:moveTo>
                  <a:lnTo>
                    <a:pt x="2801112" y="2734056"/>
                  </a:lnTo>
                  <a:lnTo>
                    <a:pt x="2801112" y="0"/>
                  </a:lnTo>
                  <a:lnTo>
                    <a:pt x="0" y="0"/>
                  </a:lnTo>
                  <a:lnTo>
                    <a:pt x="0" y="2734056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7">
              <a:extLst>
                <a:ext uri="{FF2B5EF4-FFF2-40B4-BE49-F238E27FC236}">
                  <a16:creationId xmlns:a16="http://schemas.microsoft.com/office/drawing/2014/main" id="{B42C90F4-A0C5-3088-DD1E-403AD54CA266}"/>
                </a:ext>
              </a:extLst>
            </p:cNvPr>
            <p:cNvSpPr/>
            <p:nvPr/>
          </p:nvSpPr>
          <p:spPr>
            <a:xfrm>
              <a:off x="6139434" y="4409694"/>
              <a:ext cx="288290" cy="0"/>
            </a:xfrm>
            <a:custGeom>
              <a:avLst/>
              <a:gdLst/>
              <a:ahLst/>
              <a:cxnLst/>
              <a:rect l="l" t="t" r="r" b="b"/>
              <a:pathLst>
                <a:path w="288289">
                  <a:moveTo>
                    <a:pt x="288036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8">
              <a:extLst>
                <a:ext uri="{FF2B5EF4-FFF2-40B4-BE49-F238E27FC236}">
                  <a16:creationId xmlns:a16="http://schemas.microsoft.com/office/drawing/2014/main" id="{D196861F-8CAC-6374-8BED-0437BB158DBD}"/>
                </a:ext>
              </a:extLst>
            </p:cNvPr>
            <p:cNvSpPr/>
            <p:nvPr/>
          </p:nvSpPr>
          <p:spPr>
            <a:xfrm>
              <a:off x="6139434" y="4697729"/>
              <a:ext cx="288290" cy="0"/>
            </a:xfrm>
            <a:custGeom>
              <a:avLst/>
              <a:gdLst/>
              <a:ahLst/>
              <a:cxnLst/>
              <a:rect l="l" t="t" r="r" b="b"/>
              <a:pathLst>
                <a:path w="288289">
                  <a:moveTo>
                    <a:pt x="288036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9">
              <a:extLst>
                <a:ext uri="{FF2B5EF4-FFF2-40B4-BE49-F238E27FC236}">
                  <a16:creationId xmlns:a16="http://schemas.microsoft.com/office/drawing/2014/main" id="{2EBCD010-2622-4644-AE13-9B241D84B474}"/>
                </a:ext>
              </a:extLst>
            </p:cNvPr>
            <p:cNvSpPr/>
            <p:nvPr/>
          </p:nvSpPr>
          <p:spPr>
            <a:xfrm>
              <a:off x="6846569" y="4554473"/>
              <a:ext cx="288290" cy="0"/>
            </a:xfrm>
            <a:custGeom>
              <a:avLst/>
              <a:gdLst/>
              <a:ahLst/>
              <a:cxnLst/>
              <a:rect l="l" t="t" r="r" b="b"/>
              <a:pathLst>
                <a:path w="288290">
                  <a:moveTo>
                    <a:pt x="288035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10">
              <a:extLst>
                <a:ext uri="{FF2B5EF4-FFF2-40B4-BE49-F238E27FC236}">
                  <a16:creationId xmlns:a16="http://schemas.microsoft.com/office/drawing/2014/main" id="{CC172DB8-6441-D00C-AE93-BDEE50C04C1E}"/>
                </a:ext>
              </a:extLst>
            </p:cNvPr>
            <p:cNvSpPr/>
            <p:nvPr/>
          </p:nvSpPr>
          <p:spPr>
            <a:xfrm>
              <a:off x="6282690" y="4338065"/>
              <a:ext cx="433070" cy="431800"/>
            </a:xfrm>
            <a:custGeom>
              <a:avLst/>
              <a:gdLst/>
              <a:ahLst/>
              <a:cxnLst/>
              <a:rect l="l" t="t" r="r" b="b"/>
              <a:pathLst>
                <a:path w="433070" h="431800">
                  <a:moveTo>
                    <a:pt x="0" y="0"/>
                  </a:moveTo>
                  <a:lnTo>
                    <a:pt x="24997" y="42333"/>
                  </a:lnTo>
                  <a:lnTo>
                    <a:pt x="44439" y="85197"/>
                  </a:lnTo>
                  <a:lnTo>
                    <a:pt x="58327" y="128459"/>
                  </a:lnTo>
                  <a:lnTo>
                    <a:pt x="66659" y="171986"/>
                  </a:lnTo>
                  <a:lnTo>
                    <a:pt x="69437" y="215645"/>
                  </a:lnTo>
                  <a:lnTo>
                    <a:pt x="66659" y="259305"/>
                  </a:lnTo>
                  <a:lnTo>
                    <a:pt x="58327" y="302832"/>
                  </a:lnTo>
                  <a:lnTo>
                    <a:pt x="44439" y="346094"/>
                  </a:lnTo>
                  <a:lnTo>
                    <a:pt x="24997" y="388958"/>
                  </a:lnTo>
                  <a:lnTo>
                    <a:pt x="0" y="431291"/>
                  </a:lnTo>
                  <a:lnTo>
                    <a:pt x="63953" y="428954"/>
                  </a:lnTo>
                  <a:lnTo>
                    <a:pt x="124994" y="422164"/>
                  </a:lnTo>
                  <a:lnTo>
                    <a:pt x="182454" y="411253"/>
                  </a:lnTo>
                  <a:lnTo>
                    <a:pt x="235662" y="396557"/>
                  </a:lnTo>
                  <a:lnTo>
                    <a:pt x="283949" y="378407"/>
                  </a:lnTo>
                  <a:lnTo>
                    <a:pt x="326645" y="357136"/>
                  </a:lnTo>
                  <a:lnTo>
                    <a:pt x="363080" y="333079"/>
                  </a:lnTo>
                  <a:lnTo>
                    <a:pt x="392585" y="306569"/>
                  </a:lnTo>
                  <a:lnTo>
                    <a:pt x="428122" y="247518"/>
                  </a:lnTo>
                  <a:lnTo>
                    <a:pt x="432815" y="215645"/>
                  </a:lnTo>
                  <a:lnTo>
                    <a:pt x="428122" y="183773"/>
                  </a:lnTo>
                  <a:lnTo>
                    <a:pt x="392585" y="124722"/>
                  </a:lnTo>
                  <a:lnTo>
                    <a:pt x="363080" y="98212"/>
                  </a:lnTo>
                  <a:lnTo>
                    <a:pt x="326645" y="74155"/>
                  </a:lnTo>
                  <a:lnTo>
                    <a:pt x="283949" y="52884"/>
                  </a:lnTo>
                  <a:lnTo>
                    <a:pt x="235662" y="34734"/>
                  </a:lnTo>
                  <a:lnTo>
                    <a:pt x="182454" y="20038"/>
                  </a:lnTo>
                  <a:lnTo>
                    <a:pt x="124994" y="9127"/>
                  </a:lnTo>
                  <a:lnTo>
                    <a:pt x="63953" y="23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11">
              <a:extLst>
                <a:ext uri="{FF2B5EF4-FFF2-40B4-BE49-F238E27FC236}">
                  <a16:creationId xmlns:a16="http://schemas.microsoft.com/office/drawing/2014/main" id="{D7A2DBDC-72D4-786E-EF50-8B4A392D0907}"/>
                </a:ext>
              </a:extLst>
            </p:cNvPr>
            <p:cNvSpPr/>
            <p:nvPr/>
          </p:nvSpPr>
          <p:spPr>
            <a:xfrm>
              <a:off x="6282690" y="4338065"/>
              <a:ext cx="433070" cy="431800"/>
            </a:xfrm>
            <a:custGeom>
              <a:avLst/>
              <a:gdLst/>
              <a:ahLst/>
              <a:cxnLst/>
              <a:rect l="l" t="t" r="r" b="b"/>
              <a:pathLst>
                <a:path w="433070" h="431800">
                  <a:moveTo>
                    <a:pt x="0" y="431291"/>
                  </a:moveTo>
                  <a:lnTo>
                    <a:pt x="63953" y="428954"/>
                  </a:lnTo>
                  <a:lnTo>
                    <a:pt x="124994" y="422164"/>
                  </a:lnTo>
                  <a:lnTo>
                    <a:pt x="182454" y="411253"/>
                  </a:lnTo>
                  <a:lnTo>
                    <a:pt x="235662" y="396557"/>
                  </a:lnTo>
                  <a:lnTo>
                    <a:pt x="283949" y="378407"/>
                  </a:lnTo>
                  <a:lnTo>
                    <a:pt x="326645" y="357136"/>
                  </a:lnTo>
                  <a:lnTo>
                    <a:pt x="363080" y="333079"/>
                  </a:lnTo>
                  <a:lnTo>
                    <a:pt x="392585" y="306569"/>
                  </a:lnTo>
                  <a:lnTo>
                    <a:pt x="428122" y="247518"/>
                  </a:lnTo>
                  <a:lnTo>
                    <a:pt x="432815" y="215645"/>
                  </a:lnTo>
                  <a:lnTo>
                    <a:pt x="428122" y="183773"/>
                  </a:lnTo>
                  <a:lnTo>
                    <a:pt x="392585" y="124722"/>
                  </a:lnTo>
                  <a:lnTo>
                    <a:pt x="363080" y="98212"/>
                  </a:lnTo>
                  <a:lnTo>
                    <a:pt x="326645" y="74155"/>
                  </a:lnTo>
                  <a:lnTo>
                    <a:pt x="283949" y="52884"/>
                  </a:lnTo>
                  <a:lnTo>
                    <a:pt x="235662" y="34734"/>
                  </a:lnTo>
                  <a:lnTo>
                    <a:pt x="182454" y="20038"/>
                  </a:lnTo>
                  <a:lnTo>
                    <a:pt x="124994" y="9127"/>
                  </a:lnTo>
                  <a:lnTo>
                    <a:pt x="63953" y="2337"/>
                  </a:lnTo>
                  <a:lnTo>
                    <a:pt x="0" y="0"/>
                  </a:lnTo>
                  <a:lnTo>
                    <a:pt x="24997" y="42333"/>
                  </a:lnTo>
                  <a:lnTo>
                    <a:pt x="44439" y="85197"/>
                  </a:lnTo>
                  <a:lnTo>
                    <a:pt x="58327" y="128459"/>
                  </a:lnTo>
                  <a:lnTo>
                    <a:pt x="66659" y="171986"/>
                  </a:lnTo>
                  <a:lnTo>
                    <a:pt x="69437" y="215645"/>
                  </a:lnTo>
                  <a:lnTo>
                    <a:pt x="66659" y="259305"/>
                  </a:lnTo>
                  <a:lnTo>
                    <a:pt x="58327" y="302832"/>
                  </a:lnTo>
                  <a:lnTo>
                    <a:pt x="44439" y="346094"/>
                  </a:lnTo>
                  <a:lnTo>
                    <a:pt x="24997" y="388958"/>
                  </a:lnTo>
                  <a:lnTo>
                    <a:pt x="0" y="431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12">
              <a:extLst>
                <a:ext uri="{FF2B5EF4-FFF2-40B4-BE49-F238E27FC236}">
                  <a16:creationId xmlns:a16="http://schemas.microsoft.com/office/drawing/2014/main" id="{8BD6AEC6-FE69-BBF1-F40E-8AE6243A8C2F}"/>
                </a:ext>
              </a:extLst>
            </p:cNvPr>
            <p:cNvSpPr/>
            <p:nvPr/>
          </p:nvSpPr>
          <p:spPr>
            <a:xfrm>
              <a:off x="6711695" y="4477511"/>
              <a:ext cx="182879" cy="1554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13">
              <a:extLst>
                <a:ext uri="{FF2B5EF4-FFF2-40B4-BE49-F238E27FC236}">
                  <a16:creationId xmlns:a16="http://schemas.microsoft.com/office/drawing/2014/main" id="{F291289C-793C-E70E-166C-A69ED59683E1}"/>
                </a:ext>
              </a:extLst>
            </p:cNvPr>
            <p:cNvSpPr/>
            <p:nvPr/>
          </p:nvSpPr>
          <p:spPr>
            <a:xfrm>
              <a:off x="6140958" y="4042409"/>
              <a:ext cx="972819" cy="528955"/>
            </a:xfrm>
            <a:custGeom>
              <a:avLst/>
              <a:gdLst/>
              <a:ahLst/>
              <a:cxnLst/>
              <a:rect l="l" t="t" r="r" b="b"/>
              <a:pathLst>
                <a:path w="972820" h="528954">
                  <a:moveTo>
                    <a:pt x="0" y="357377"/>
                  </a:moveTo>
                  <a:lnTo>
                    <a:pt x="10858" y="300974"/>
                  </a:lnTo>
                  <a:lnTo>
                    <a:pt x="28575" y="242950"/>
                  </a:lnTo>
                  <a:lnTo>
                    <a:pt x="48363" y="209446"/>
                  </a:lnTo>
                  <a:lnTo>
                    <a:pt x="77475" y="184290"/>
                  </a:lnTo>
                  <a:lnTo>
                    <a:pt x="121175" y="156664"/>
                  </a:lnTo>
                  <a:lnTo>
                    <a:pt x="143001" y="142875"/>
                  </a:lnTo>
                  <a:lnTo>
                    <a:pt x="228726" y="85725"/>
                  </a:lnTo>
                  <a:lnTo>
                    <a:pt x="271652" y="57150"/>
                  </a:lnTo>
                  <a:lnTo>
                    <a:pt x="282128" y="49434"/>
                  </a:lnTo>
                  <a:lnTo>
                    <a:pt x="292401" y="41338"/>
                  </a:lnTo>
                  <a:lnTo>
                    <a:pt x="303031" y="34004"/>
                  </a:lnTo>
                  <a:lnTo>
                    <a:pt x="314578" y="28575"/>
                  </a:lnTo>
                  <a:lnTo>
                    <a:pt x="400303" y="0"/>
                  </a:lnTo>
                  <a:lnTo>
                    <a:pt x="443277" y="3278"/>
                  </a:lnTo>
                  <a:lnTo>
                    <a:pt x="486251" y="6318"/>
                  </a:lnTo>
                  <a:lnTo>
                    <a:pt x="529177" y="9786"/>
                  </a:lnTo>
                  <a:lnTo>
                    <a:pt x="572008" y="14350"/>
                  </a:lnTo>
                  <a:lnTo>
                    <a:pt x="623046" y="26542"/>
                  </a:lnTo>
                  <a:lnTo>
                    <a:pt x="646428" y="34710"/>
                  </a:lnTo>
                  <a:lnTo>
                    <a:pt x="672084" y="42925"/>
                  </a:lnTo>
                  <a:lnTo>
                    <a:pt x="693507" y="48355"/>
                  </a:lnTo>
                  <a:lnTo>
                    <a:pt x="721550" y="55213"/>
                  </a:lnTo>
                  <a:lnTo>
                    <a:pt x="749879" y="63071"/>
                  </a:lnTo>
                  <a:lnTo>
                    <a:pt x="772160" y="71500"/>
                  </a:lnTo>
                  <a:lnTo>
                    <a:pt x="783332" y="77841"/>
                  </a:lnTo>
                  <a:lnTo>
                    <a:pt x="794003" y="85074"/>
                  </a:lnTo>
                  <a:lnTo>
                    <a:pt x="804485" y="92664"/>
                  </a:lnTo>
                  <a:lnTo>
                    <a:pt x="815086" y="100075"/>
                  </a:lnTo>
                  <a:lnTo>
                    <a:pt x="821854" y="111067"/>
                  </a:lnTo>
                  <a:lnTo>
                    <a:pt x="828373" y="122285"/>
                  </a:lnTo>
                  <a:lnTo>
                    <a:pt x="835392" y="133097"/>
                  </a:lnTo>
                  <a:lnTo>
                    <a:pt x="843661" y="142875"/>
                  </a:lnTo>
                  <a:lnTo>
                    <a:pt x="854170" y="150447"/>
                  </a:lnTo>
                  <a:lnTo>
                    <a:pt x="866203" y="156305"/>
                  </a:lnTo>
                  <a:lnTo>
                    <a:pt x="877665" y="162591"/>
                  </a:lnTo>
                  <a:lnTo>
                    <a:pt x="886460" y="171450"/>
                  </a:lnTo>
                  <a:lnTo>
                    <a:pt x="896356" y="191668"/>
                  </a:lnTo>
                  <a:lnTo>
                    <a:pt x="903239" y="213280"/>
                  </a:lnTo>
                  <a:lnTo>
                    <a:pt x="908909" y="235440"/>
                  </a:lnTo>
                  <a:lnTo>
                    <a:pt x="915162" y="257301"/>
                  </a:lnTo>
                  <a:lnTo>
                    <a:pt x="957961" y="385952"/>
                  </a:lnTo>
                  <a:lnTo>
                    <a:pt x="962239" y="396533"/>
                  </a:lnTo>
                  <a:lnTo>
                    <a:pt x="966946" y="407066"/>
                  </a:lnTo>
                  <a:lnTo>
                    <a:pt x="970748" y="417742"/>
                  </a:lnTo>
                  <a:lnTo>
                    <a:pt x="972312" y="428751"/>
                  </a:lnTo>
                  <a:lnTo>
                    <a:pt x="972312" y="528827"/>
                  </a:lnTo>
                </a:path>
              </a:pathLst>
            </a:custGeom>
            <a:ln w="28956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14">
              <a:extLst>
                <a:ext uri="{FF2B5EF4-FFF2-40B4-BE49-F238E27FC236}">
                  <a16:creationId xmlns:a16="http://schemas.microsoft.com/office/drawing/2014/main" id="{F9457E96-CA75-64A8-69EC-A03C98363554}"/>
                </a:ext>
              </a:extLst>
            </p:cNvPr>
            <p:cNvSpPr/>
            <p:nvPr/>
          </p:nvSpPr>
          <p:spPr>
            <a:xfrm>
              <a:off x="6169914" y="5808726"/>
              <a:ext cx="287020" cy="0"/>
            </a:xfrm>
            <a:custGeom>
              <a:avLst/>
              <a:gdLst/>
              <a:ahLst/>
              <a:cxnLst/>
              <a:rect l="l" t="t" r="r" b="b"/>
              <a:pathLst>
                <a:path w="287020">
                  <a:moveTo>
                    <a:pt x="286512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15">
              <a:extLst>
                <a:ext uri="{FF2B5EF4-FFF2-40B4-BE49-F238E27FC236}">
                  <a16:creationId xmlns:a16="http://schemas.microsoft.com/office/drawing/2014/main" id="{82660C68-1860-981C-3C9B-838B49B8ED1C}"/>
                </a:ext>
              </a:extLst>
            </p:cNvPr>
            <p:cNvSpPr/>
            <p:nvPr/>
          </p:nvSpPr>
          <p:spPr>
            <a:xfrm>
              <a:off x="6169914" y="6098285"/>
              <a:ext cx="287020" cy="0"/>
            </a:xfrm>
            <a:custGeom>
              <a:avLst/>
              <a:gdLst/>
              <a:ahLst/>
              <a:cxnLst/>
              <a:rect l="l" t="t" r="r" b="b"/>
              <a:pathLst>
                <a:path w="287020">
                  <a:moveTo>
                    <a:pt x="286512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16">
              <a:extLst>
                <a:ext uri="{FF2B5EF4-FFF2-40B4-BE49-F238E27FC236}">
                  <a16:creationId xmlns:a16="http://schemas.microsoft.com/office/drawing/2014/main" id="{F2255D9C-215B-E89A-8F2F-6C70241D4651}"/>
                </a:ext>
              </a:extLst>
            </p:cNvPr>
            <p:cNvSpPr/>
            <p:nvPr/>
          </p:nvSpPr>
          <p:spPr>
            <a:xfrm>
              <a:off x="6877050" y="5953505"/>
              <a:ext cx="287020" cy="0"/>
            </a:xfrm>
            <a:custGeom>
              <a:avLst/>
              <a:gdLst/>
              <a:ahLst/>
              <a:cxnLst/>
              <a:rect l="l" t="t" r="r" b="b"/>
              <a:pathLst>
                <a:path w="287020">
                  <a:moveTo>
                    <a:pt x="286511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17">
              <a:extLst>
                <a:ext uri="{FF2B5EF4-FFF2-40B4-BE49-F238E27FC236}">
                  <a16:creationId xmlns:a16="http://schemas.microsoft.com/office/drawing/2014/main" id="{E67956B0-0004-9090-EE3A-2977F9B8D85D}"/>
                </a:ext>
              </a:extLst>
            </p:cNvPr>
            <p:cNvSpPr/>
            <p:nvPr/>
          </p:nvSpPr>
          <p:spPr>
            <a:xfrm>
              <a:off x="6313170" y="5738621"/>
              <a:ext cx="433070" cy="431800"/>
            </a:xfrm>
            <a:custGeom>
              <a:avLst/>
              <a:gdLst/>
              <a:ahLst/>
              <a:cxnLst/>
              <a:rect l="l" t="t" r="r" b="b"/>
              <a:pathLst>
                <a:path w="433070" h="431800">
                  <a:moveTo>
                    <a:pt x="0" y="0"/>
                  </a:moveTo>
                  <a:lnTo>
                    <a:pt x="24997" y="42330"/>
                  </a:lnTo>
                  <a:lnTo>
                    <a:pt x="44439" y="85194"/>
                  </a:lnTo>
                  <a:lnTo>
                    <a:pt x="58327" y="128456"/>
                  </a:lnTo>
                  <a:lnTo>
                    <a:pt x="66659" y="171984"/>
                  </a:lnTo>
                  <a:lnTo>
                    <a:pt x="69437" y="215646"/>
                  </a:lnTo>
                  <a:lnTo>
                    <a:pt x="66659" y="259307"/>
                  </a:lnTo>
                  <a:lnTo>
                    <a:pt x="58327" y="302835"/>
                  </a:lnTo>
                  <a:lnTo>
                    <a:pt x="44439" y="346097"/>
                  </a:lnTo>
                  <a:lnTo>
                    <a:pt x="24997" y="388961"/>
                  </a:lnTo>
                  <a:lnTo>
                    <a:pt x="0" y="431291"/>
                  </a:lnTo>
                  <a:lnTo>
                    <a:pt x="63953" y="428953"/>
                  </a:lnTo>
                  <a:lnTo>
                    <a:pt x="124994" y="422161"/>
                  </a:lnTo>
                  <a:lnTo>
                    <a:pt x="182454" y="411249"/>
                  </a:lnTo>
                  <a:lnTo>
                    <a:pt x="235662" y="396550"/>
                  </a:lnTo>
                  <a:lnTo>
                    <a:pt x="283949" y="378398"/>
                  </a:lnTo>
                  <a:lnTo>
                    <a:pt x="326645" y="357126"/>
                  </a:lnTo>
                  <a:lnTo>
                    <a:pt x="363080" y="333068"/>
                  </a:lnTo>
                  <a:lnTo>
                    <a:pt x="392585" y="306558"/>
                  </a:lnTo>
                  <a:lnTo>
                    <a:pt x="428122" y="247513"/>
                  </a:lnTo>
                  <a:lnTo>
                    <a:pt x="432815" y="215646"/>
                  </a:lnTo>
                  <a:lnTo>
                    <a:pt x="428122" y="183778"/>
                  </a:lnTo>
                  <a:lnTo>
                    <a:pt x="392585" y="124733"/>
                  </a:lnTo>
                  <a:lnTo>
                    <a:pt x="363080" y="98223"/>
                  </a:lnTo>
                  <a:lnTo>
                    <a:pt x="326645" y="74165"/>
                  </a:lnTo>
                  <a:lnTo>
                    <a:pt x="283949" y="52893"/>
                  </a:lnTo>
                  <a:lnTo>
                    <a:pt x="235662" y="34741"/>
                  </a:lnTo>
                  <a:lnTo>
                    <a:pt x="182454" y="20042"/>
                  </a:lnTo>
                  <a:lnTo>
                    <a:pt x="124994" y="9130"/>
                  </a:lnTo>
                  <a:lnTo>
                    <a:pt x="63953" y="2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18">
              <a:extLst>
                <a:ext uri="{FF2B5EF4-FFF2-40B4-BE49-F238E27FC236}">
                  <a16:creationId xmlns:a16="http://schemas.microsoft.com/office/drawing/2014/main" id="{C3211A5F-78A6-D55F-7772-E010CA40F251}"/>
                </a:ext>
              </a:extLst>
            </p:cNvPr>
            <p:cNvSpPr/>
            <p:nvPr/>
          </p:nvSpPr>
          <p:spPr>
            <a:xfrm>
              <a:off x="6313170" y="5738621"/>
              <a:ext cx="433070" cy="431800"/>
            </a:xfrm>
            <a:custGeom>
              <a:avLst/>
              <a:gdLst/>
              <a:ahLst/>
              <a:cxnLst/>
              <a:rect l="l" t="t" r="r" b="b"/>
              <a:pathLst>
                <a:path w="433070" h="431800">
                  <a:moveTo>
                    <a:pt x="0" y="431291"/>
                  </a:moveTo>
                  <a:lnTo>
                    <a:pt x="63953" y="428953"/>
                  </a:lnTo>
                  <a:lnTo>
                    <a:pt x="124994" y="422161"/>
                  </a:lnTo>
                  <a:lnTo>
                    <a:pt x="182454" y="411249"/>
                  </a:lnTo>
                  <a:lnTo>
                    <a:pt x="235662" y="396550"/>
                  </a:lnTo>
                  <a:lnTo>
                    <a:pt x="283949" y="378398"/>
                  </a:lnTo>
                  <a:lnTo>
                    <a:pt x="326645" y="357126"/>
                  </a:lnTo>
                  <a:lnTo>
                    <a:pt x="363080" y="333068"/>
                  </a:lnTo>
                  <a:lnTo>
                    <a:pt x="392585" y="306558"/>
                  </a:lnTo>
                  <a:lnTo>
                    <a:pt x="428122" y="247513"/>
                  </a:lnTo>
                  <a:lnTo>
                    <a:pt x="432815" y="215645"/>
                  </a:lnTo>
                  <a:lnTo>
                    <a:pt x="428122" y="183778"/>
                  </a:lnTo>
                  <a:lnTo>
                    <a:pt x="392585" y="124733"/>
                  </a:lnTo>
                  <a:lnTo>
                    <a:pt x="363080" y="98223"/>
                  </a:lnTo>
                  <a:lnTo>
                    <a:pt x="326645" y="74165"/>
                  </a:lnTo>
                  <a:lnTo>
                    <a:pt x="283949" y="52893"/>
                  </a:lnTo>
                  <a:lnTo>
                    <a:pt x="235662" y="34741"/>
                  </a:lnTo>
                  <a:lnTo>
                    <a:pt x="182454" y="20042"/>
                  </a:lnTo>
                  <a:lnTo>
                    <a:pt x="124994" y="9130"/>
                  </a:lnTo>
                  <a:lnTo>
                    <a:pt x="63953" y="2338"/>
                  </a:lnTo>
                  <a:lnTo>
                    <a:pt x="0" y="0"/>
                  </a:lnTo>
                  <a:lnTo>
                    <a:pt x="24997" y="42330"/>
                  </a:lnTo>
                  <a:lnTo>
                    <a:pt x="44439" y="85194"/>
                  </a:lnTo>
                  <a:lnTo>
                    <a:pt x="58327" y="128456"/>
                  </a:lnTo>
                  <a:lnTo>
                    <a:pt x="66659" y="171984"/>
                  </a:lnTo>
                  <a:lnTo>
                    <a:pt x="69437" y="215646"/>
                  </a:lnTo>
                  <a:lnTo>
                    <a:pt x="66659" y="259307"/>
                  </a:lnTo>
                  <a:lnTo>
                    <a:pt x="58327" y="302835"/>
                  </a:lnTo>
                  <a:lnTo>
                    <a:pt x="44439" y="346097"/>
                  </a:lnTo>
                  <a:lnTo>
                    <a:pt x="24997" y="388961"/>
                  </a:lnTo>
                  <a:lnTo>
                    <a:pt x="0" y="431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19">
              <a:extLst>
                <a:ext uri="{FF2B5EF4-FFF2-40B4-BE49-F238E27FC236}">
                  <a16:creationId xmlns:a16="http://schemas.microsoft.com/office/drawing/2014/main" id="{DA5426B9-3BA3-2DA0-A7C6-D3B9C6992EB3}"/>
                </a:ext>
              </a:extLst>
            </p:cNvPr>
            <p:cNvSpPr/>
            <p:nvPr/>
          </p:nvSpPr>
          <p:spPr>
            <a:xfrm>
              <a:off x="6742176" y="5878067"/>
              <a:ext cx="182879" cy="15544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20">
              <a:extLst>
                <a:ext uri="{FF2B5EF4-FFF2-40B4-BE49-F238E27FC236}">
                  <a16:creationId xmlns:a16="http://schemas.microsoft.com/office/drawing/2014/main" id="{51F29649-1193-1A57-F660-1C49BFD160CF}"/>
                </a:ext>
              </a:extLst>
            </p:cNvPr>
            <p:cNvSpPr/>
            <p:nvPr/>
          </p:nvSpPr>
          <p:spPr>
            <a:xfrm>
              <a:off x="6157721" y="5450585"/>
              <a:ext cx="1542415" cy="672465"/>
            </a:xfrm>
            <a:custGeom>
              <a:avLst/>
              <a:gdLst/>
              <a:ahLst/>
              <a:cxnLst/>
              <a:rect l="l" t="t" r="r" b="b"/>
              <a:pathLst>
                <a:path w="1542415" h="672464">
                  <a:moveTo>
                    <a:pt x="0" y="357492"/>
                  </a:moveTo>
                  <a:lnTo>
                    <a:pt x="0" y="0"/>
                  </a:lnTo>
                  <a:lnTo>
                    <a:pt x="1542287" y="0"/>
                  </a:lnTo>
                  <a:lnTo>
                    <a:pt x="1528063" y="672083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21">
              <a:extLst>
                <a:ext uri="{FF2B5EF4-FFF2-40B4-BE49-F238E27FC236}">
                  <a16:creationId xmlns:a16="http://schemas.microsoft.com/office/drawing/2014/main" id="{1D428861-0668-951C-1B07-D2830D15D21C}"/>
                </a:ext>
              </a:extLst>
            </p:cNvPr>
            <p:cNvSpPr txBox="1"/>
            <p:nvPr/>
          </p:nvSpPr>
          <p:spPr>
            <a:xfrm>
              <a:off x="6553581" y="6079947"/>
              <a:ext cx="457834" cy="3308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b="1" dirty="0">
                  <a:latin typeface="Helvetica"/>
                  <a:cs typeface="Helvetica"/>
                </a:rPr>
                <a:t>x</a:t>
              </a:r>
              <a:r>
                <a:rPr sz="2000" b="1" spc="5" dirty="0">
                  <a:latin typeface="Helvetica"/>
                  <a:cs typeface="Helvetica"/>
                </a:rPr>
                <a:t>=</a:t>
              </a:r>
              <a:r>
                <a:rPr sz="2000" b="1" dirty="0">
                  <a:latin typeface="Helvetica"/>
                  <a:cs typeface="Helvetica"/>
                </a:rPr>
                <a:t>0</a:t>
              </a:r>
              <a:endParaRPr sz="2000">
                <a:latin typeface="Helvetica"/>
                <a:cs typeface="Helvetica"/>
              </a:endParaRPr>
            </a:p>
          </p:txBody>
        </p:sp>
        <p:sp>
          <p:nvSpPr>
            <p:cNvPr id="77" name="object 22">
              <a:extLst>
                <a:ext uri="{FF2B5EF4-FFF2-40B4-BE49-F238E27FC236}">
                  <a16:creationId xmlns:a16="http://schemas.microsoft.com/office/drawing/2014/main" id="{058EAF53-CCB9-03B9-B6E0-2B8CBD0979C0}"/>
                </a:ext>
              </a:extLst>
            </p:cNvPr>
            <p:cNvSpPr txBox="1"/>
            <p:nvPr/>
          </p:nvSpPr>
          <p:spPr>
            <a:xfrm>
              <a:off x="5659628" y="5908649"/>
              <a:ext cx="452755" cy="3308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b="1" spc="-35" dirty="0">
                  <a:latin typeface="Helvetica"/>
                  <a:cs typeface="Helvetica"/>
                </a:rPr>
                <a:t>y</a:t>
              </a:r>
              <a:r>
                <a:rPr sz="2000" b="1" dirty="0">
                  <a:latin typeface="Helvetica"/>
                  <a:cs typeface="Helvetica"/>
                </a:rPr>
                <a:t>=0</a:t>
              </a:r>
              <a:endParaRPr sz="2000">
                <a:latin typeface="Helvetica"/>
                <a:cs typeface="Helvetica"/>
              </a:endParaRPr>
            </a:p>
          </p:txBody>
        </p:sp>
        <p:sp>
          <p:nvSpPr>
            <p:cNvPr id="78" name="object 23">
              <a:extLst>
                <a:ext uri="{FF2B5EF4-FFF2-40B4-BE49-F238E27FC236}">
                  <a16:creationId xmlns:a16="http://schemas.microsoft.com/office/drawing/2014/main" id="{973886A7-4254-EE2B-077F-633DBDB1B722}"/>
                </a:ext>
              </a:extLst>
            </p:cNvPr>
            <p:cNvSpPr txBox="1"/>
            <p:nvPr/>
          </p:nvSpPr>
          <p:spPr>
            <a:xfrm>
              <a:off x="5804153" y="4234352"/>
              <a:ext cx="170815" cy="669925"/>
            </a:xfrm>
            <a:prstGeom prst="rect">
              <a:avLst/>
            </a:prstGeom>
          </p:spPr>
          <p:txBody>
            <a:bodyPr vert="horz" wrap="square" lIns="0" tIns="29209" rIns="0" bIns="0" rtlCol="0">
              <a:spAutoFit/>
            </a:bodyPr>
            <a:lstStyle/>
            <a:p>
              <a:pPr marL="15875">
                <a:lnSpc>
                  <a:spcPct val="100000"/>
                </a:lnSpc>
                <a:spcBef>
                  <a:spcPts val="229"/>
                </a:spcBef>
              </a:pPr>
              <a:r>
                <a:rPr sz="2000" b="1" dirty="0">
                  <a:latin typeface="Helvetica"/>
                  <a:cs typeface="Helvetica"/>
                </a:rPr>
                <a:t>x</a:t>
              </a:r>
              <a:endParaRPr sz="2000">
                <a:latin typeface="Helvetica"/>
                <a:cs typeface="Helvetica"/>
              </a:endParaRPr>
            </a:p>
            <a:p>
              <a:pPr marL="12700">
                <a:lnSpc>
                  <a:spcPct val="100000"/>
                </a:lnSpc>
                <a:spcBef>
                  <a:spcPts val="140"/>
                </a:spcBef>
              </a:pPr>
              <a:r>
                <a:rPr sz="2000" b="1" dirty="0">
                  <a:latin typeface="Helvetica"/>
                  <a:cs typeface="Helvetica"/>
                </a:rPr>
                <a:t>y</a:t>
              </a:r>
              <a:endParaRPr sz="2000">
                <a:latin typeface="Helvetica"/>
                <a:cs typeface="Helvetica"/>
              </a:endParaRPr>
            </a:p>
          </p:txBody>
        </p:sp>
        <p:sp>
          <p:nvSpPr>
            <p:cNvPr id="79" name="object 24">
              <a:extLst>
                <a:ext uri="{FF2B5EF4-FFF2-40B4-BE49-F238E27FC236}">
                  <a16:creationId xmlns:a16="http://schemas.microsoft.com/office/drawing/2014/main" id="{8BDEB06E-430B-4451-7DD6-643759084469}"/>
                </a:ext>
              </a:extLst>
            </p:cNvPr>
            <p:cNvSpPr txBox="1"/>
            <p:nvPr/>
          </p:nvSpPr>
          <p:spPr>
            <a:xfrm>
              <a:off x="7849361" y="5654446"/>
              <a:ext cx="602615" cy="20827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200" b="1" dirty="0">
                  <a:latin typeface="Helvetica"/>
                  <a:cs typeface="Helvetica"/>
                </a:rPr>
                <a:t>0101</a:t>
              </a:r>
              <a:r>
                <a:rPr sz="1200" b="1" spc="-10" dirty="0">
                  <a:latin typeface="Helvetica"/>
                  <a:cs typeface="Helvetica"/>
                </a:rPr>
                <a:t>0</a:t>
              </a:r>
              <a:r>
                <a:rPr sz="1200" b="1" dirty="0">
                  <a:latin typeface="Helvetica"/>
                  <a:cs typeface="Helvetica"/>
                </a:rPr>
                <a:t>…</a:t>
              </a:r>
              <a:endParaRPr sz="1200">
                <a:latin typeface="Helvetica"/>
                <a:cs typeface="Helvetica"/>
              </a:endParaRPr>
            </a:p>
          </p:txBody>
        </p:sp>
        <p:sp>
          <p:nvSpPr>
            <p:cNvPr id="99" name="object 44">
              <a:extLst>
                <a:ext uri="{FF2B5EF4-FFF2-40B4-BE49-F238E27FC236}">
                  <a16:creationId xmlns:a16="http://schemas.microsoft.com/office/drawing/2014/main" id="{7FD2FDDC-EFD7-B3D6-4506-484EFEB079DD}"/>
                </a:ext>
              </a:extLst>
            </p:cNvPr>
            <p:cNvSpPr/>
            <p:nvPr/>
          </p:nvSpPr>
          <p:spPr>
            <a:xfrm>
              <a:off x="6995159" y="4802123"/>
              <a:ext cx="530860" cy="593090"/>
            </a:xfrm>
            <a:custGeom>
              <a:avLst/>
              <a:gdLst/>
              <a:ahLst/>
              <a:cxnLst/>
              <a:rect l="l" t="t" r="r" b="b"/>
              <a:pathLst>
                <a:path w="530859" h="593089">
                  <a:moveTo>
                    <a:pt x="530351" y="327659"/>
                  </a:moveTo>
                  <a:lnTo>
                    <a:pt x="0" y="327659"/>
                  </a:lnTo>
                  <a:lnTo>
                    <a:pt x="265175" y="592835"/>
                  </a:lnTo>
                  <a:lnTo>
                    <a:pt x="530351" y="327659"/>
                  </a:lnTo>
                  <a:close/>
                </a:path>
                <a:path w="530859" h="593089">
                  <a:moveTo>
                    <a:pt x="397764" y="0"/>
                  </a:moveTo>
                  <a:lnTo>
                    <a:pt x="132588" y="0"/>
                  </a:lnTo>
                  <a:lnTo>
                    <a:pt x="132588" y="327659"/>
                  </a:lnTo>
                  <a:lnTo>
                    <a:pt x="397764" y="327659"/>
                  </a:lnTo>
                  <a:lnTo>
                    <a:pt x="39776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49">
              <a:extLst>
                <a:ext uri="{FF2B5EF4-FFF2-40B4-BE49-F238E27FC236}">
                  <a16:creationId xmlns:a16="http://schemas.microsoft.com/office/drawing/2014/main" id="{9F63A528-C497-EF37-EBEF-771E4E166BD2}"/>
                </a:ext>
              </a:extLst>
            </p:cNvPr>
            <p:cNvSpPr/>
            <p:nvPr/>
          </p:nvSpPr>
          <p:spPr>
            <a:xfrm>
              <a:off x="7611618" y="6098285"/>
              <a:ext cx="417830" cy="0"/>
            </a:xfrm>
            <a:custGeom>
              <a:avLst/>
              <a:gdLst/>
              <a:ahLst/>
              <a:cxnLst/>
              <a:rect l="l" t="t" r="r" b="b"/>
              <a:pathLst>
                <a:path w="417829">
                  <a:moveTo>
                    <a:pt x="417575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50">
              <a:extLst>
                <a:ext uri="{FF2B5EF4-FFF2-40B4-BE49-F238E27FC236}">
                  <a16:creationId xmlns:a16="http://schemas.microsoft.com/office/drawing/2014/main" id="{7269792B-94C7-6CE7-FE89-E8507EC8FED9}"/>
                </a:ext>
              </a:extLst>
            </p:cNvPr>
            <p:cNvSpPr txBox="1"/>
            <p:nvPr/>
          </p:nvSpPr>
          <p:spPr>
            <a:xfrm>
              <a:off x="7172959" y="4323969"/>
              <a:ext cx="153035" cy="3308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b="1" i="1" dirty="0">
                  <a:latin typeface="HelveticaNeue-BoldItalic"/>
                  <a:cs typeface="HelveticaNeue-BoldItalic"/>
                </a:rPr>
                <a:t>z</a:t>
              </a:r>
              <a:endParaRPr sz="2000">
                <a:latin typeface="HelveticaNeue-BoldItalic"/>
                <a:cs typeface="HelveticaNeue-BoldItalic"/>
              </a:endParaRPr>
            </a:p>
          </p:txBody>
        </p:sp>
        <p:sp>
          <p:nvSpPr>
            <p:cNvPr id="105" name="object 51">
              <a:extLst>
                <a:ext uri="{FF2B5EF4-FFF2-40B4-BE49-F238E27FC236}">
                  <a16:creationId xmlns:a16="http://schemas.microsoft.com/office/drawing/2014/main" id="{2DBEF7DF-F594-3217-5BA7-1CE9A27F375F}"/>
                </a:ext>
              </a:extLst>
            </p:cNvPr>
            <p:cNvSpPr txBox="1"/>
            <p:nvPr/>
          </p:nvSpPr>
          <p:spPr>
            <a:xfrm>
              <a:off x="8031733" y="5832449"/>
              <a:ext cx="303530" cy="33083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3000" b="1" i="1" baseline="-16666" dirty="0">
                  <a:latin typeface="HelveticaNeue-BoldItalic"/>
                  <a:cs typeface="HelveticaNeue-BoldItalic"/>
                </a:rPr>
                <a:t>z</a:t>
              </a:r>
              <a:r>
                <a:rPr sz="1300" b="1" i="1" dirty="0">
                  <a:latin typeface="HelveticaNeue-BoldItalic"/>
                  <a:cs typeface="HelveticaNeue-BoldItalic"/>
                </a:rPr>
                <a:t>+</a:t>
              </a:r>
              <a:endParaRPr sz="1300">
                <a:latin typeface="HelveticaNeue-BoldItalic"/>
                <a:cs typeface="HelveticaNeue-BoldItalic"/>
              </a:endParaRPr>
            </a:p>
          </p:txBody>
        </p:sp>
        <p:sp>
          <p:nvSpPr>
            <p:cNvPr id="106" name="object 52">
              <a:extLst>
                <a:ext uri="{FF2B5EF4-FFF2-40B4-BE49-F238E27FC236}">
                  <a16:creationId xmlns:a16="http://schemas.microsoft.com/office/drawing/2014/main" id="{1371D0C5-6524-31BA-AF76-B36EA9823F20}"/>
                </a:ext>
              </a:extLst>
            </p:cNvPr>
            <p:cNvSpPr/>
            <p:nvPr/>
          </p:nvSpPr>
          <p:spPr>
            <a:xfrm>
              <a:off x="7021830" y="6238494"/>
              <a:ext cx="288290" cy="0"/>
            </a:xfrm>
            <a:custGeom>
              <a:avLst/>
              <a:gdLst/>
              <a:ahLst/>
              <a:cxnLst/>
              <a:rect l="l" t="t" r="r" b="b"/>
              <a:pathLst>
                <a:path w="288290">
                  <a:moveTo>
                    <a:pt x="288036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53">
              <a:extLst>
                <a:ext uri="{FF2B5EF4-FFF2-40B4-BE49-F238E27FC236}">
                  <a16:creationId xmlns:a16="http://schemas.microsoft.com/office/drawing/2014/main" id="{5A9D2BEB-6AEA-8F17-1598-174FF73C8D1E}"/>
                </a:ext>
              </a:extLst>
            </p:cNvPr>
            <p:cNvSpPr/>
            <p:nvPr/>
          </p:nvSpPr>
          <p:spPr>
            <a:xfrm>
              <a:off x="7163561" y="5877305"/>
              <a:ext cx="433070" cy="433070"/>
            </a:xfrm>
            <a:custGeom>
              <a:avLst/>
              <a:gdLst/>
              <a:ahLst/>
              <a:cxnLst/>
              <a:rect l="l" t="t" r="r" b="b"/>
              <a:pathLst>
                <a:path w="433070" h="433070">
                  <a:moveTo>
                    <a:pt x="0" y="0"/>
                  </a:moveTo>
                  <a:lnTo>
                    <a:pt x="24997" y="42480"/>
                  </a:lnTo>
                  <a:lnTo>
                    <a:pt x="44439" y="85495"/>
                  </a:lnTo>
                  <a:lnTo>
                    <a:pt x="58327" y="128910"/>
                  </a:lnTo>
                  <a:lnTo>
                    <a:pt x="66659" y="172592"/>
                  </a:lnTo>
                  <a:lnTo>
                    <a:pt x="69437" y="216408"/>
                  </a:lnTo>
                  <a:lnTo>
                    <a:pt x="66659" y="260223"/>
                  </a:lnTo>
                  <a:lnTo>
                    <a:pt x="58327" y="303905"/>
                  </a:lnTo>
                  <a:lnTo>
                    <a:pt x="44439" y="347320"/>
                  </a:lnTo>
                  <a:lnTo>
                    <a:pt x="24997" y="390335"/>
                  </a:lnTo>
                  <a:lnTo>
                    <a:pt x="0" y="432816"/>
                  </a:lnTo>
                  <a:lnTo>
                    <a:pt x="63953" y="430469"/>
                  </a:lnTo>
                  <a:lnTo>
                    <a:pt x="124994" y="423653"/>
                  </a:lnTo>
                  <a:lnTo>
                    <a:pt x="182454" y="412702"/>
                  </a:lnTo>
                  <a:lnTo>
                    <a:pt x="235662" y="397951"/>
                  </a:lnTo>
                  <a:lnTo>
                    <a:pt x="283949" y="379735"/>
                  </a:lnTo>
                  <a:lnTo>
                    <a:pt x="326645" y="358387"/>
                  </a:lnTo>
                  <a:lnTo>
                    <a:pt x="363080" y="334244"/>
                  </a:lnTo>
                  <a:lnTo>
                    <a:pt x="392585" y="307640"/>
                  </a:lnTo>
                  <a:lnTo>
                    <a:pt x="428122" y="248387"/>
                  </a:lnTo>
                  <a:lnTo>
                    <a:pt x="432816" y="216408"/>
                  </a:lnTo>
                  <a:lnTo>
                    <a:pt x="428122" y="184428"/>
                  </a:lnTo>
                  <a:lnTo>
                    <a:pt x="392585" y="125175"/>
                  </a:lnTo>
                  <a:lnTo>
                    <a:pt x="363080" y="98571"/>
                  </a:lnTo>
                  <a:lnTo>
                    <a:pt x="326645" y="74428"/>
                  </a:lnTo>
                  <a:lnTo>
                    <a:pt x="283949" y="53080"/>
                  </a:lnTo>
                  <a:lnTo>
                    <a:pt x="235662" y="34864"/>
                  </a:lnTo>
                  <a:lnTo>
                    <a:pt x="182454" y="20113"/>
                  </a:lnTo>
                  <a:lnTo>
                    <a:pt x="124994" y="9162"/>
                  </a:lnTo>
                  <a:lnTo>
                    <a:pt x="63953" y="2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54">
              <a:extLst>
                <a:ext uri="{FF2B5EF4-FFF2-40B4-BE49-F238E27FC236}">
                  <a16:creationId xmlns:a16="http://schemas.microsoft.com/office/drawing/2014/main" id="{81BD4DD5-518C-C5B0-51F3-AC68C14BF5F9}"/>
                </a:ext>
              </a:extLst>
            </p:cNvPr>
            <p:cNvSpPr/>
            <p:nvPr/>
          </p:nvSpPr>
          <p:spPr>
            <a:xfrm>
              <a:off x="7163561" y="5877305"/>
              <a:ext cx="433070" cy="433070"/>
            </a:xfrm>
            <a:custGeom>
              <a:avLst/>
              <a:gdLst/>
              <a:ahLst/>
              <a:cxnLst/>
              <a:rect l="l" t="t" r="r" b="b"/>
              <a:pathLst>
                <a:path w="433070" h="433070">
                  <a:moveTo>
                    <a:pt x="0" y="432816"/>
                  </a:moveTo>
                  <a:lnTo>
                    <a:pt x="63953" y="430469"/>
                  </a:lnTo>
                  <a:lnTo>
                    <a:pt x="124994" y="423653"/>
                  </a:lnTo>
                  <a:lnTo>
                    <a:pt x="182454" y="412702"/>
                  </a:lnTo>
                  <a:lnTo>
                    <a:pt x="235662" y="397951"/>
                  </a:lnTo>
                  <a:lnTo>
                    <a:pt x="283949" y="379735"/>
                  </a:lnTo>
                  <a:lnTo>
                    <a:pt x="326645" y="358387"/>
                  </a:lnTo>
                  <a:lnTo>
                    <a:pt x="363080" y="334244"/>
                  </a:lnTo>
                  <a:lnTo>
                    <a:pt x="392585" y="307640"/>
                  </a:lnTo>
                  <a:lnTo>
                    <a:pt x="428122" y="248387"/>
                  </a:lnTo>
                  <a:lnTo>
                    <a:pt x="432816" y="216408"/>
                  </a:lnTo>
                  <a:lnTo>
                    <a:pt x="428122" y="184428"/>
                  </a:lnTo>
                  <a:lnTo>
                    <a:pt x="392585" y="125175"/>
                  </a:lnTo>
                  <a:lnTo>
                    <a:pt x="363080" y="98571"/>
                  </a:lnTo>
                  <a:lnTo>
                    <a:pt x="326645" y="74428"/>
                  </a:lnTo>
                  <a:lnTo>
                    <a:pt x="283949" y="53080"/>
                  </a:lnTo>
                  <a:lnTo>
                    <a:pt x="235662" y="34864"/>
                  </a:lnTo>
                  <a:lnTo>
                    <a:pt x="182454" y="20113"/>
                  </a:lnTo>
                  <a:lnTo>
                    <a:pt x="124994" y="9162"/>
                  </a:lnTo>
                  <a:lnTo>
                    <a:pt x="63953" y="2346"/>
                  </a:lnTo>
                  <a:lnTo>
                    <a:pt x="0" y="0"/>
                  </a:lnTo>
                  <a:lnTo>
                    <a:pt x="24997" y="42480"/>
                  </a:lnTo>
                  <a:lnTo>
                    <a:pt x="44439" y="85495"/>
                  </a:lnTo>
                  <a:lnTo>
                    <a:pt x="58327" y="128910"/>
                  </a:lnTo>
                  <a:lnTo>
                    <a:pt x="66659" y="172592"/>
                  </a:lnTo>
                  <a:lnTo>
                    <a:pt x="69437" y="216408"/>
                  </a:lnTo>
                  <a:lnTo>
                    <a:pt x="66659" y="260223"/>
                  </a:lnTo>
                  <a:lnTo>
                    <a:pt x="58327" y="303905"/>
                  </a:lnTo>
                  <a:lnTo>
                    <a:pt x="44439" y="347320"/>
                  </a:lnTo>
                  <a:lnTo>
                    <a:pt x="24997" y="390335"/>
                  </a:lnTo>
                  <a:lnTo>
                    <a:pt x="0" y="43281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57">
              <a:extLst>
                <a:ext uri="{FF2B5EF4-FFF2-40B4-BE49-F238E27FC236}">
                  <a16:creationId xmlns:a16="http://schemas.microsoft.com/office/drawing/2014/main" id="{2EBC61C8-CDE8-4251-824D-EC24441E4F48}"/>
                </a:ext>
              </a:extLst>
            </p:cNvPr>
            <p:cNvSpPr txBox="1"/>
            <p:nvPr/>
          </p:nvSpPr>
          <p:spPr>
            <a:xfrm>
              <a:off x="6523481" y="3807714"/>
              <a:ext cx="102806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latin typeface="Helvetica"/>
                  <a:cs typeface="Helvetica"/>
                </a:rPr>
                <a:t>wired</a:t>
              </a:r>
              <a:r>
                <a:rPr sz="1800" b="1" spc="-95" dirty="0">
                  <a:latin typeface="Helvetica"/>
                  <a:cs typeface="Helvetica"/>
                </a:rPr>
                <a:t> </a:t>
              </a:r>
              <a:r>
                <a:rPr sz="1800" b="1" spc="-5" dirty="0">
                  <a:latin typeface="Helvetica"/>
                  <a:cs typeface="Helvetica"/>
                </a:rPr>
                <a:t>OR</a:t>
              </a:r>
              <a:endParaRPr sz="1800">
                <a:latin typeface="Helvetica"/>
                <a:cs typeface="Helvetica"/>
              </a:endParaRPr>
            </a:p>
          </p:txBody>
        </p:sp>
      </p:grpSp>
      <p:sp>
        <p:nvSpPr>
          <p:cNvPr id="2" name="object 7">
            <a:extLst>
              <a:ext uri="{FF2B5EF4-FFF2-40B4-BE49-F238E27FC236}">
                <a16:creationId xmlns:a16="http://schemas.microsoft.com/office/drawing/2014/main" id="{6F4FCF6D-BF15-D236-EF0F-4199E1A3128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0578" y="164414"/>
            <a:ext cx="699902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are NOT </a:t>
            </a:r>
            <a:r>
              <a:rPr spc="-5" dirty="0"/>
              <a:t>Bridging</a:t>
            </a:r>
            <a:r>
              <a:rPr spc="-70" dirty="0"/>
              <a:t> </a:t>
            </a:r>
            <a:r>
              <a:rPr dirty="0"/>
              <a:t>Fault</a:t>
            </a:r>
            <a:r>
              <a:rPr lang="en-US" dirty="0"/>
              <a:t>s</a:t>
            </a:r>
            <a:r>
              <a:rPr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10844"/>
            <a:ext cx="6732270" cy="147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Wingdings"/>
                <a:cs typeface="Wingdings"/>
              </a:rPr>
              <a:t></a:t>
            </a:r>
            <a:r>
              <a:rPr sz="2400" spc="-1095" dirty="0">
                <a:solidFill>
                  <a:srgbClr val="FF0000"/>
                </a:solidFill>
                <a:latin typeface="Wingdings"/>
                <a:cs typeface="Wingdings"/>
              </a:rPr>
              <a:t> </a:t>
            </a:r>
            <a:r>
              <a:rPr sz="2000" b="1" dirty="0">
                <a:latin typeface="Arial"/>
                <a:cs typeface="Arial"/>
              </a:rPr>
              <a:t>BF does NOT consider shorts to </a:t>
            </a:r>
            <a:r>
              <a:rPr sz="2000" b="1" spc="5" dirty="0">
                <a:solidFill>
                  <a:srgbClr val="0000FF"/>
                </a:solidFill>
                <a:latin typeface="Arial"/>
                <a:cs typeface="Arial"/>
              </a:rPr>
              <a:t>power </a:t>
            </a:r>
            <a:r>
              <a:rPr sz="2000" b="1" dirty="0">
                <a:latin typeface="Arial"/>
                <a:cs typeface="Arial"/>
              </a:rPr>
              <a:t>and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ground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Wingdings"/>
                <a:cs typeface="Wingdings"/>
              </a:rPr>
              <a:t></a:t>
            </a:r>
            <a:r>
              <a:rPr sz="2400" spc="-1070" dirty="0">
                <a:solidFill>
                  <a:srgbClr val="FF0000"/>
                </a:solidFill>
                <a:latin typeface="Wingdings"/>
                <a:cs typeface="Wingdings"/>
              </a:rPr>
              <a:t> </a:t>
            </a:r>
            <a:r>
              <a:rPr sz="2000" b="1" dirty="0">
                <a:latin typeface="Arial"/>
                <a:cs typeface="Arial"/>
              </a:rPr>
              <a:t>BF does NOT consider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defect resistance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value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Wingdings"/>
                <a:cs typeface="Wingdings"/>
              </a:rPr>
              <a:t></a:t>
            </a:r>
            <a:r>
              <a:rPr sz="2400" spc="-1105" dirty="0">
                <a:solidFill>
                  <a:srgbClr val="FF0000"/>
                </a:solidFill>
                <a:latin typeface="Wingdings"/>
                <a:cs typeface="Wingdings"/>
              </a:rPr>
              <a:t> </a:t>
            </a:r>
            <a:r>
              <a:rPr sz="2000" b="1" dirty="0">
                <a:latin typeface="Arial"/>
                <a:cs typeface="Arial"/>
              </a:rPr>
              <a:t>BF does NOT consider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Intra-cell </a:t>
            </a:r>
            <a:r>
              <a:rPr sz="2000" b="1" dirty="0">
                <a:latin typeface="Arial"/>
                <a:cs typeface="Arial"/>
              </a:rPr>
              <a:t>(intra-gate) defects</a:t>
            </a:r>
            <a:endParaRPr sz="2000" dirty="0">
              <a:latin typeface="Arial"/>
              <a:cs typeface="Arial"/>
            </a:endParaRPr>
          </a:p>
          <a:p>
            <a:pPr marL="870585" indent="-457834">
              <a:lnSpc>
                <a:spcPct val="100000"/>
              </a:lnSpc>
              <a:spcBef>
                <a:spcPts val="400"/>
              </a:spcBef>
              <a:buClr>
                <a:srgbClr val="FF0000"/>
              </a:buClr>
              <a:buSzPct val="62500"/>
              <a:buFont typeface="Wingdings"/>
              <a:buChar char="◆"/>
              <a:tabLst>
                <a:tab pos="870585" algn="l"/>
                <a:tab pos="871219" algn="l"/>
              </a:tabLst>
            </a:pPr>
            <a:r>
              <a:rPr sz="2000" b="1" spc="5" dirty="0">
                <a:latin typeface="Arial"/>
                <a:cs typeface="Arial"/>
              </a:rPr>
              <a:t>BF </a:t>
            </a:r>
            <a:r>
              <a:rPr sz="2000" b="1" dirty="0">
                <a:latin typeface="Arial"/>
                <a:cs typeface="Arial"/>
              </a:rPr>
              <a:t>is 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gate</a:t>
            </a:r>
            <a:r>
              <a:rPr sz="2000" b="1" i="1" dirty="0">
                <a:latin typeface="Arial-BoldItalicMT"/>
                <a:cs typeface="Arial-BoldItalicMT"/>
              </a:rPr>
              <a:t>-level</a:t>
            </a:r>
            <a:r>
              <a:rPr sz="2000" b="1" dirty="0">
                <a:latin typeface="Arial"/>
                <a:cs typeface="Arial"/>
              </a:rPr>
              <a:t>, NOT 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transistor</a:t>
            </a:r>
            <a:r>
              <a:rPr sz="2000" b="1" i="1" dirty="0">
                <a:latin typeface="Arial-BoldItalicMT"/>
                <a:cs typeface="Arial-BoldItalicMT"/>
              </a:rPr>
              <a:t>-level </a:t>
            </a:r>
            <a:r>
              <a:rPr sz="2000" b="1" dirty="0">
                <a:latin typeface="Arial"/>
                <a:cs typeface="Arial"/>
              </a:rPr>
              <a:t>fault</a:t>
            </a:r>
            <a:r>
              <a:rPr sz="2000" b="1" spc="-2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model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28765" y="2460498"/>
            <a:ext cx="0" cy="798830"/>
          </a:xfrm>
          <a:custGeom>
            <a:avLst/>
            <a:gdLst/>
            <a:ahLst/>
            <a:cxnLst/>
            <a:rect l="l" t="t" r="r" b="b"/>
            <a:pathLst>
              <a:path h="798829">
                <a:moveTo>
                  <a:pt x="0" y="0"/>
                </a:moveTo>
                <a:lnTo>
                  <a:pt x="0" y="79857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81878" y="3199638"/>
            <a:ext cx="0" cy="364490"/>
          </a:xfrm>
          <a:custGeom>
            <a:avLst/>
            <a:gdLst/>
            <a:ahLst/>
            <a:cxnLst/>
            <a:rect l="l" t="t" r="r" b="b"/>
            <a:pathLst>
              <a:path h="364489">
                <a:moveTo>
                  <a:pt x="0" y="0"/>
                </a:moveTo>
                <a:lnTo>
                  <a:pt x="0" y="36423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77205" y="3396234"/>
            <a:ext cx="721360" cy="0"/>
          </a:xfrm>
          <a:custGeom>
            <a:avLst/>
            <a:gdLst/>
            <a:ahLst/>
            <a:cxnLst/>
            <a:rect l="l" t="t" r="r" b="b"/>
            <a:pathLst>
              <a:path w="721360">
                <a:moveTo>
                  <a:pt x="0" y="0"/>
                </a:moveTo>
                <a:lnTo>
                  <a:pt x="720852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97702" y="3213354"/>
            <a:ext cx="0" cy="364490"/>
          </a:xfrm>
          <a:custGeom>
            <a:avLst/>
            <a:gdLst/>
            <a:ahLst/>
            <a:cxnLst/>
            <a:rect l="l" t="t" r="r" b="b"/>
            <a:pathLst>
              <a:path h="364489">
                <a:moveTo>
                  <a:pt x="0" y="0"/>
                </a:moveTo>
                <a:lnTo>
                  <a:pt x="0" y="36423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83985" y="3228594"/>
            <a:ext cx="158750" cy="0"/>
          </a:xfrm>
          <a:custGeom>
            <a:avLst/>
            <a:gdLst/>
            <a:ahLst/>
            <a:cxnLst/>
            <a:rect l="l" t="t" r="r" b="b"/>
            <a:pathLst>
              <a:path w="158750">
                <a:moveTo>
                  <a:pt x="0" y="0"/>
                </a:moveTo>
                <a:lnTo>
                  <a:pt x="158496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97702" y="3577590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0" y="0"/>
                </a:moveTo>
                <a:lnTo>
                  <a:pt x="16002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144005" y="3577590"/>
            <a:ext cx="0" cy="361315"/>
          </a:xfrm>
          <a:custGeom>
            <a:avLst/>
            <a:gdLst/>
            <a:ahLst/>
            <a:cxnLst/>
            <a:rect l="l" t="t" r="r" b="b"/>
            <a:pathLst>
              <a:path h="361314">
                <a:moveTo>
                  <a:pt x="0" y="0"/>
                </a:moveTo>
                <a:lnTo>
                  <a:pt x="0" y="36118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98338" y="3443604"/>
            <a:ext cx="494030" cy="525780"/>
          </a:xfrm>
          <a:custGeom>
            <a:avLst/>
            <a:gdLst/>
            <a:ahLst/>
            <a:cxnLst/>
            <a:rect l="l" t="t" r="r" b="b"/>
            <a:pathLst>
              <a:path w="494029" h="525779">
                <a:moveTo>
                  <a:pt x="35560" y="0"/>
                </a:moveTo>
                <a:lnTo>
                  <a:pt x="0" y="251714"/>
                </a:lnTo>
                <a:lnTo>
                  <a:pt x="264795" y="140589"/>
                </a:lnTo>
                <a:lnTo>
                  <a:pt x="144779" y="372999"/>
                </a:lnTo>
                <a:lnTo>
                  <a:pt x="392938" y="321564"/>
                </a:lnTo>
                <a:lnTo>
                  <a:pt x="312038" y="521589"/>
                </a:lnTo>
                <a:lnTo>
                  <a:pt x="493775" y="525399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65241" y="3396234"/>
            <a:ext cx="144780" cy="73660"/>
          </a:xfrm>
          <a:custGeom>
            <a:avLst/>
            <a:gdLst/>
            <a:ahLst/>
            <a:cxnLst/>
            <a:rect l="l" t="t" r="r" b="b"/>
            <a:pathLst>
              <a:path w="144779" h="73660">
                <a:moveTo>
                  <a:pt x="0" y="0"/>
                </a:moveTo>
                <a:lnTo>
                  <a:pt x="144780" y="73151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41314" y="3972305"/>
            <a:ext cx="216535" cy="144780"/>
          </a:xfrm>
          <a:custGeom>
            <a:avLst/>
            <a:gdLst/>
            <a:ahLst/>
            <a:cxnLst/>
            <a:rect l="l" t="t" r="r" b="b"/>
            <a:pathLst>
              <a:path w="216535" h="144779">
                <a:moveTo>
                  <a:pt x="0" y="0"/>
                </a:moveTo>
                <a:lnTo>
                  <a:pt x="216408" y="14478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42482" y="3932682"/>
            <a:ext cx="0" cy="361315"/>
          </a:xfrm>
          <a:custGeom>
            <a:avLst/>
            <a:gdLst/>
            <a:ahLst/>
            <a:cxnLst/>
            <a:rect l="l" t="t" r="r" b="b"/>
            <a:pathLst>
              <a:path h="361314">
                <a:moveTo>
                  <a:pt x="0" y="0"/>
                </a:moveTo>
                <a:lnTo>
                  <a:pt x="0" y="36118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79676" y="2834639"/>
            <a:ext cx="2868168" cy="14157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984373" y="4326458"/>
            <a:ext cx="18681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A6A6A6"/>
                </a:solidFill>
                <a:latin typeface="Helvetica"/>
                <a:cs typeface="Helvetica"/>
              </a:rPr>
              <a:t>Intra-gate </a:t>
            </a:r>
            <a:r>
              <a:rPr sz="1200" b="1" spc="-5" dirty="0">
                <a:solidFill>
                  <a:srgbClr val="A6A6A6"/>
                </a:solidFill>
                <a:latin typeface="Helvetica"/>
                <a:cs typeface="Helvetica"/>
              </a:rPr>
              <a:t>bridging</a:t>
            </a:r>
            <a:r>
              <a:rPr sz="1200" b="1" spc="-30" dirty="0">
                <a:solidFill>
                  <a:srgbClr val="A6A6A6"/>
                </a:solidFill>
                <a:latin typeface="Helvetica"/>
                <a:cs typeface="Helvetica"/>
              </a:rPr>
              <a:t> </a:t>
            </a:r>
            <a:r>
              <a:rPr sz="1200" b="1" u="sng" dirty="0">
                <a:solidFill>
                  <a:srgbClr val="A6A6A6"/>
                </a:solidFill>
                <a:latin typeface="Helvetica"/>
                <a:cs typeface="Helvetica"/>
              </a:rPr>
              <a:t>defect</a:t>
            </a:r>
            <a:r>
              <a:rPr lang="en-US" sz="1200" b="1" dirty="0">
                <a:solidFill>
                  <a:srgbClr val="A6A6A6"/>
                </a:solidFill>
                <a:latin typeface="Helvetica"/>
                <a:cs typeface="Helvetica"/>
              </a:rPr>
              <a:t> is not a bridging fault</a:t>
            </a:r>
            <a:endParaRPr sz="1200" u="sng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A6A6A6"/>
                </a:solidFill>
                <a:latin typeface="Helvetica"/>
                <a:cs typeface="Helvetica"/>
              </a:rPr>
              <a:t>[Mentor</a:t>
            </a:r>
            <a:r>
              <a:rPr sz="1200" b="1" spc="5" dirty="0">
                <a:solidFill>
                  <a:srgbClr val="A6A6A6"/>
                </a:solidFill>
                <a:latin typeface="Helvetica"/>
                <a:cs typeface="Helvetica"/>
              </a:rPr>
              <a:t> </a:t>
            </a:r>
            <a:r>
              <a:rPr sz="1200" b="1" spc="-5" dirty="0">
                <a:solidFill>
                  <a:srgbClr val="A6A6A6"/>
                </a:solidFill>
                <a:latin typeface="Helvetica"/>
                <a:cs typeface="Helvetica"/>
              </a:rPr>
              <a:t>graphics]</a:t>
            </a:r>
            <a:endParaRPr sz="1200" dirty="0">
              <a:latin typeface="Helvetica"/>
              <a:cs typeface="Helvetica"/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3B56F388-4FBF-C278-0AC6-BDE26F8CFD5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352" y="164414"/>
            <a:ext cx="21107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525" y="900785"/>
            <a:ext cx="7478395" cy="261353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Bridging fault models for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CMOS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Wired-OR, wired-AND,</a:t>
            </a:r>
            <a:r>
              <a:rPr sz="2000" b="1" spc="-10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A-dominant</a:t>
            </a:r>
            <a:endParaRPr sz="2000" dirty="0">
              <a:latin typeface="Arial"/>
              <a:cs typeface="Arial"/>
            </a:endParaRPr>
          </a:p>
          <a:p>
            <a:pPr marL="3683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  <a:tab pos="4645660" algn="l"/>
              </a:tabLst>
            </a:pPr>
            <a:r>
              <a:rPr sz="2000" b="1" dirty="0">
                <a:latin typeface="Arial"/>
                <a:cs typeface="Arial"/>
              </a:rPr>
              <a:t>Number of bridging faults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O(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n</a:t>
            </a:r>
            <a:r>
              <a:rPr sz="1950" b="1" i="1" baseline="25641" dirty="0">
                <a:solidFill>
                  <a:srgbClr val="0000FF"/>
                </a:solidFill>
                <a:latin typeface="Arial-BoldItalicMT"/>
                <a:cs typeface="Arial-BoldItalicMT"/>
              </a:rPr>
              <a:t>2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sz="2000" b="1" dirty="0">
                <a:latin typeface="Arial"/>
                <a:cs typeface="Arial"/>
              </a:rPr>
              <a:t>.	too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many!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latin typeface="Arial"/>
                <a:cs typeface="Arial"/>
              </a:rPr>
              <a:t>Needs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fault extraction </a:t>
            </a:r>
            <a:r>
              <a:rPr sz="2000" b="1" dirty="0">
                <a:latin typeface="Arial"/>
                <a:cs typeface="Arial"/>
              </a:rPr>
              <a:t>from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layout</a:t>
            </a:r>
            <a:endParaRPr sz="2000" dirty="0">
              <a:latin typeface="Arial"/>
              <a:cs typeface="Arial"/>
            </a:endParaRPr>
          </a:p>
          <a:p>
            <a:pPr marL="3683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spc="-5" dirty="0">
                <a:latin typeface="Arial"/>
                <a:cs typeface="Arial"/>
              </a:rPr>
              <a:t>SSF </a:t>
            </a:r>
            <a:r>
              <a:rPr sz="2000" b="1" dirty="0">
                <a:latin typeface="Arial"/>
                <a:cs typeface="Arial"/>
              </a:rPr>
              <a:t>test set may not</a:t>
            </a:r>
            <a:r>
              <a:rPr lang="en-US" sz="2000" b="1" dirty="0">
                <a:latin typeface="Arial"/>
                <a:cs typeface="Arial"/>
              </a:rPr>
              <a:t> be</a:t>
            </a:r>
            <a:r>
              <a:rPr sz="2000" b="1" dirty="0">
                <a:latin typeface="Arial"/>
                <a:cs typeface="Arial"/>
              </a:rPr>
              <a:t> good enough to detect all</a:t>
            </a:r>
            <a:r>
              <a:rPr sz="2000" b="1" spc="-1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BF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Feedback </a:t>
            </a:r>
            <a:r>
              <a:rPr sz="2000" b="1" spc="5" dirty="0">
                <a:solidFill>
                  <a:srgbClr val="0000FF"/>
                </a:solidFill>
                <a:latin typeface="Arial"/>
                <a:cs typeface="Arial"/>
              </a:rPr>
              <a:t>BF </a:t>
            </a:r>
            <a:r>
              <a:rPr sz="2000" b="1" dirty="0">
                <a:latin typeface="Arial"/>
                <a:cs typeface="Arial"/>
              </a:rPr>
              <a:t>may cause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memory </a:t>
            </a:r>
            <a:r>
              <a:rPr sz="2000" b="1" spc="-5" dirty="0">
                <a:latin typeface="Arial"/>
                <a:cs typeface="Arial"/>
              </a:rPr>
              <a:t>or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oscillation</a:t>
            </a:r>
            <a:endParaRPr sz="2000" dirty="0">
              <a:latin typeface="Arial"/>
              <a:cs typeface="Arial"/>
            </a:endParaRPr>
          </a:p>
          <a:p>
            <a:pPr marL="3683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BF is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permanent fault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09004" y="4293108"/>
            <a:ext cx="1799844" cy="1946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1B447493-0C3E-F130-C06D-98875E4C644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164414"/>
            <a:ext cx="32499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45" dirty="0"/>
              <a:t> </a:t>
            </a:r>
            <a:r>
              <a:rPr spc="-5" dirty="0"/>
              <a:t>Modeling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4454525" cy="40402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Fault</a:t>
            </a:r>
            <a:r>
              <a:rPr sz="20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Models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Stuck-at fault</a:t>
            </a:r>
            <a:r>
              <a:rPr sz="2000" b="1" spc="-8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(1961)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Bridging fault</a:t>
            </a:r>
            <a:r>
              <a:rPr sz="2000" b="1" spc="-6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(1973)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217805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Delay fault	(1974)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  <a:tabLst>
                <a:tab pos="3170555" algn="l"/>
              </a:tabLst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4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Path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delay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	(PDF)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Transition delay fault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spc="-50" dirty="0">
                <a:latin typeface="Arial"/>
                <a:cs typeface="Arial"/>
              </a:rPr>
              <a:t>(TDF)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Transistor </a:t>
            </a: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level</a:t>
            </a:r>
            <a:r>
              <a:rPr sz="2000" b="1" spc="-4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r>
              <a:rPr sz="2000" b="1" spc="-9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Detection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r>
              <a:rPr sz="2000" b="1" spc="-7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Coverage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Conclusion</a:t>
            </a:r>
            <a:r>
              <a:rPr lang="en-US" sz="2000" b="1" dirty="0">
                <a:solidFill>
                  <a:srgbClr val="A6A6A6"/>
                </a:solidFill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08320" y="3968496"/>
            <a:ext cx="1799844" cy="1946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AE183C93-5E6D-9166-3018-7E238A509EE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8730" y="164414"/>
            <a:ext cx="64776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Classification of </a:t>
            </a:r>
            <a:r>
              <a:rPr spc="-5" dirty="0"/>
              <a:t>Fault</a:t>
            </a:r>
            <a:r>
              <a:rPr spc="-85" dirty="0"/>
              <a:t> </a:t>
            </a:r>
            <a:r>
              <a:rPr dirty="0"/>
              <a:t>Models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9C67EB3-6C4D-9946-4F5C-2B1FD137A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59" y="1063719"/>
            <a:ext cx="8153400" cy="4827672"/>
          </a:xfrm>
          <a:prstGeom prst="rect">
            <a:avLst/>
          </a:prstGeom>
        </p:spPr>
      </p:pic>
      <p:sp>
        <p:nvSpPr>
          <p:cNvPr id="3" name="object 7">
            <a:extLst>
              <a:ext uri="{FF2B5EF4-FFF2-40B4-BE49-F238E27FC236}">
                <a16:creationId xmlns:a16="http://schemas.microsoft.com/office/drawing/2014/main" id="{4547CAAE-D91A-2373-D524-93356F554E4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524" y="945235"/>
            <a:ext cx="8240675" cy="242117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Some defects change circuit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timing </a:t>
            </a:r>
            <a:r>
              <a:rPr sz="2000" b="1" dirty="0">
                <a:latin typeface="Arial"/>
                <a:cs typeface="Arial"/>
              </a:rPr>
              <a:t>but not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function</a:t>
            </a:r>
            <a:endParaRPr lang="en-US" sz="2000" dirty="0">
              <a:latin typeface="Arial"/>
              <a:cs typeface="Arial"/>
            </a:endParaRPr>
          </a:p>
          <a:p>
            <a:pPr marL="482600">
              <a:lnSpc>
                <a:spcPct val="100000"/>
              </a:lnSpc>
              <a:spcBef>
                <a:spcPts val="480"/>
              </a:spcBef>
              <a:tabLst>
                <a:tab pos="939800" algn="l"/>
              </a:tabLst>
            </a:pPr>
            <a:r>
              <a:rPr lang="en-US" sz="2000" spc="-215" dirty="0">
                <a:solidFill>
                  <a:srgbClr val="FF0000"/>
                </a:solidFill>
                <a:latin typeface="Arial Unicode MS"/>
                <a:cs typeface="Arial Unicode MS"/>
              </a:rPr>
              <a:t>	</a:t>
            </a:r>
            <a:r>
              <a:rPr lang="en-US" sz="2000" b="1" spc="-5" dirty="0">
                <a:solidFill>
                  <a:srgbClr val="0000FF"/>
                </a:solidFill>
                <a:latin typeface="Arial"/>
                <a:cs typeface="Arial"/>
              </a:rPr>
              <a:t>Systematic 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defects</a:t>
            </a:r>
            <a:r>
              <a:rPr lang="en-US" sz="2000" b="1" dirty="0">
                <a:latin typeface="Arial"/>
                <a:cs typeface="Arial"/>
              </a:rPr>
              <a:t>: "process </a:t>
            </a:r>
            <a:r>
              <a:rPr lang="en-US" sz="2000" b="1" spc="-5" dirty="0">
                <a:latin typeface="Arial"/>
                <a:cs typeface="Arial"/>
              </a:rPr>
              <a:t>variation </a:t>
            </a:r>
            <a:r>
              <a:rPr lang="en-US" sz="2000" b="1" dirty="0">
                <a:latin typeface="Arial"/>
                <a:cs typeface="Arial"/>
              </a:rPr>
              <a:t>in</a:t>
            </a:r>
            <a:r>
              <a:rPr lang="en-US" sz="2000" b="1" spc="-90" dirty="0">
                <a:latin typeface="Arial"/>
                <a:cs typeface="Arial"/>
              </a:rPr>
              <a:t> </a:t>
            </a:r>
            <a:r>
              <a:rPr lang="en-US" sz="2000" b="1" i="1" dirty="0">
                <a:latin typeface="Arial-BoldItalicMT"/>
                <a:cs typeface="Arial-BoldItalicMT"/>
              </a:rPr>
              <a:t>V</a:t>
            </a:r>
            <a:r>
              <a:rPr lang="en-US" sz="1950" b="1" i="1" baseline="-21367" dirty="0">
                <a:latin typeface="Arial-BoldItalicMT"/>
                <a:cs typeface="Arial-BoldItalicMT"/>
              </a:rPr>
              <a:t>t</a:t>
            </a:r>
            <a:r>
              <a:rPr lang="en-US" sz="2000" b="1" dirty="0">
                <a:latin typeface="Arial"/>
                <a:cs typeface="Arial"/>
              </a:rPr>
              <a:t>” </a:t>
            </a:r>
            <a:r>
              <a:rPr lang="en-US" sz="2000" b="1" spc="-5" dirty="0">
                <a:latin typeface="Arial"/>
                <a:cs typeface="Arial"/>
              </a:rPr>
              <a:t>slows down delay in all gates in a fabricated chip </a:t>
            </a:r>
          </a:p>
          <a:p>
            <a:pPr marL="482600">
              <a:lnSpc>
                <a:spcPct val="100000"/>
              </a:lnSpc>
              <a:spcBef>
                <a:spcPts val="480"/>
              </a:spcBef>
              <a:tabLst>
                <a:tab pos="939800" algn="l"/>
              </a:tabLst>
            </a:pPr>
            <a:endParaRPr lang="en-US" sz="2000" spc="-215" dirty="0">
              <a:solidFill>
                <a:srgbClr val="FF0000"/>
              </a:solidFill>
              <a:latin typeface="Arial Unicode MS"/>
              <a:cs typeface="Arial Unicode MS"/>
            </a:endParaRPr>
          </a:p>
          <a:p>
            <a:pPr marL="482600">
              <a:lnSpc>
                <a:spcPct val="100000"/>
              </a:lnSpc>
              <a:spcBef>
                <a:spcPts val="480"/>
              </a:spcBef>
              <a:tabLst>
                <a:tab pos="939800" algn="l"/>
              </a:tabLst>
            </a:pPr>
            <a:r>
              <a:rPr sz="2000" spc="-215" dirty="0">
                <a:solidFill>
                  <a:srgbClr val="FF0000"/>
                </a:solidFill>
                <a:latin typeface="Arial Unicode MS"/>
                <a:cs typeface="Arial Unicode MS"/>
              </a:rPr>
              <a:t>	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Random defects</a:t>
            </a:r>
            <a:r>
              <a:rPr sz="2000" b="1" dirty="0">
                <a:latin typeface="Arial"/>
                <a:cs typeface="Arial"/>
              </a:rPr>
              <a:t>: </a:t>
            </a:r>
            <a:r>
              <a:rPr lang="en-US" sz="2000" b="1" dirty="0">
                <a:latin typeface="Arial"/>
                <a:cs typeface="Arial"/>
              </a:rPr>
              <a:t>"</a:t>
            </a:r>
            <a:r>
              <a:rPr sz="2000" b="1" spc="-5" dirty="0">
                <a:latin typeface="Arial"/>
                <a:cs typeface="Arial"/>
              </a:rPr>
              <a:t>resistive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open” causing poor contact at a specific location, slowing down signal when passing that location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3505200"/>
            <a:ext cx="6148070" cy="1125308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75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Delay fault </a:t>
            </a:r>
            <a:r>
              <a:rPr sz="2000" b="1" dirty="0">
                <a:latin typeface="Arial"/>
                <a:cs typeface="Arial"/>
              </a:rPr>
              <a:t>cause</a:t>
            </a:r>
            <a:r>
              <a:rPr lang="en-US" sz="2000" b="1" dirty="0">
                <a:latin typeface="Arial"/>
                <a:cs typeface="Arial"/>
              </a:rPr>
              <a:t>s</a:t>
            </a:r>
            <a:r>
              <a:rPr sz="2000" b="1" dirty="0">
                <a:latin typeface="Arial"/>
                <a:cs typeface="Arial"/>
              </a:rPr>
              <a:t> a circuit [Breuer</a:t>
            </a:r>
            <a:r>
              <a:rPr sz="2000" b="1" spc="-1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74]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sz="2000" b="1" dirty="0">
                <a:latin typeface="Arial"/>
                <a:cs typeface="Arial"/>
              </a:rPr>
              <a:t>to </a:t>
            </a:r>
            <a:r>
              <a:rPr sz="2000" b="1" dirty="0">
                <a:latin typeface="Arial"/>
                <a:cs typeface="Arial"/>
              </a:rPr>
              <a:t>fail to operate correctly at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specified</a:t>
            </a:r>
            <a:r>
              <a:rPr sz="2000" b="1" spc="-1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speed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but produces correct output at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slower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speed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90829" y="164414"/>
            <a:ext cx="74353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100"/>
              </a:spcBef>
            </a:pPr>
            <a:r>
              <a:rPr dirty="0"/>
              <a:t>Some Defects Are Not</a:t>
            </a:r>
            <a:r>
              <a:rPr spc="-75" dirty="0"/>
              <a:t> </a:t>
            </a:r>
            <a:r>
              <a:rPr spc="-5" dirty="0"/>
              <a:t>Stuck-at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807464" y="5804915"/>
            <a:ext cx="5529580" cy="52451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Delay Fault Models Are</a:t>
            </a:r>
            <a:r>
              <a:rPr sz="2800" b="1" spc="-5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Needed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lang="en-US" spc="-5" smtClean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2714" y="164414"/>
            <a:ext cx="52120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Two Delay Fault</a:t>
            </a:r>
            <a:r>
              <a:rPr spc="-75" dirty="0"/>
              <a:t> </a:t>
            </a:r>
            <a:r>
              <a:rPr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14400"/>
            <a:ext cx="8136890" cy="1944122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  <a:tab pos="312039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Path Delay</a:t>
            </a:r>
            <a:r>
              <a:rPr sz="2000" b="1" i="1" spc="-2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Fault</a:t>
            </a:r>
            <a:r>
              <a:rPr lang="en-US"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  (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PDF</a:t>
            </a:r>
            <a:r>
              <a:rPr lang="en-US"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)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	</a:t>
            </a:r>
            <a:r>
              <a:rPr sz="1400" b="1" dirty="0">
                <a:latin typeface="Arial"/>
                <a:cs typeface="Arial"/>
              </a:rPr>
              <a:t>[Smith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85]</a:t>
            </a:r>
            <a:endParaRPr sz="14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Path delay of </a:t>
            </a:r>
            <a:r>
              <a:rPr lang="en-US"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one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faulty path</a:t>
            </a:r>
            <a:r>
              <a:rPr sz="2000" b="1" dirty="0">
                <a:latin typeface="Arial"/>
                <a:cs typeface="Arial"/>
              </a:rPr>
              <a:t> &gt; clock</a:t>
            </a:r>
            <a:r>
              <a:rPr sz="2000" b="1" spc="-1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period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Transition Delay Fault, </a:t>
            </a:r>
            <a:r>
              <a:rPr lang="en-US"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(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TDF</a:t>
            </a:r>
            <a:r>
              <a:rPr lang="en-US"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) 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1400" b="1" spc="-5" dirty="0">
                <a:latin typeface="Arial"/>
                <a:cs typeface="Arial"/>
              </a:rPr>
              <a:t>[Barzilai 83] [Levendel</a:t>
            </a:r>
            <a:r>
              <a:rPr sz="1400" b="1" spc="-15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86]</a:t>
            </a:r>
            <a:endParaRPr sz="14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Path delay of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all paths</a:t>
            </a:r>
            <a:r>
              <a:rPr sz="2000" b="1" dirty="0">
                <a:latin typeface="Arial"/>
                <a:cs typeface="Arial"/>
              </a:rPr>
              <a:t> through </a:t>
            </a:r>
            <a:r>
              <a:rPr lang="en-US" sz="2000" b="1" dirty="0">
                <a:latin typeface="Arial"/>
                <a:cs typeface="Arial"/>
              </a:rPr>
              <a:t>a</a:t>
            </a:r>
            <a:r>
              <a:rPr sz="2000" b="1" dirty="0">
                <a:latin typeface="Arial"/>
                <a:cs typeface="Arial"/>
              </a:rPr>
              <a:t> faulty node &gt; clock</a:t>
            </a:r>
            <a:r>
              <a:rPr sz="2000" b="1" spc="-1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period</a:t>
            </a:r>
            <a:endParaRPr sz="2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Arial"/>
              <a:buChar char="◆"/>
            </a:pPr>
            <a:endParaRPr sz="29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79364" y="2997707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79364" y="3285744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12179" y="3140964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24144" y="2926079"/>
            <a:ext cx="433070" cy="429895"/>
          </a:xfrm>
          <a:custGeom>
            <a:avLst/>
            <a:gdLst/>
            <a:ahLst/>
            <a:cxnLst/>
            <a:rect l="l" t="t" r="r" b="b"/>
            <a:pathLst>
              <a:path w="433070" h="429895">
                <a:moveTo>
                  <a:pt x="216407" y="0"/>
                </a:moveTo>
                <a:lnTo>
                  <a:pt x="0" y="0"/>
                </a:lnTo>
                <a:lnTo>
                  <a:pt x="0" y="429768"/>
                </a:lnTo>
                <a:lnTo>
                  <a:pt x="216407" y="429768"/>
                </a:lnTo>
                <a:lnTo>
                  <a:pt x="266024" y="424089"/>
                </a:lnTo>
                <a:lnTo>
                  <a:pt x="311573" y="407916"/>
                </a:lnTo>
                <a:lnTo>
                  <a:pt x="351755" y="382541"/>
                </a:lnTo>
                <a:lnTo>
                  <a:pt x="385269" y="349258"/>
                </a:lnTo>
                <a:lnTo>
                  <a:pt x="410817" y="309358"/>
                </a:lnTo>
                <a:lnTo>
                  <a:pt x="427099" y="264136"/>
                </a:lnTo>
                <a:lnTo>
                  <a:pt x="432815" y="214884"/>
                </a:lnTo>
                <a:lnTo>
                  <a:pt x="427099" y="165631"/>
                </a:lnTo>
                <a:lnTo>
                  <a:pt x="410817" y="120409"/>
                </a:lnTo>
                <a:lnTo>
                  <a:pt x="385269" y="80509"/>
                </a:lnTo>
                <a:lnTo>
                  <a:pt x="351755" y="47226"/>
                </a:lnTo>
                <a:lnTo>
                  <a:pt x="311573" y="21851"/>
                </a:lnTo>
                <a:lnTo>
                  <a:pt x="266024" y="5678"/>
                </a:lnTo>
                <a:lnTo>
                  <a:pt x="2164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24144" y="2926079"/>
            <a:ext cx="433070" cy="429895"/>
          </a:xfrm>
          <a:custGeom>
            <a:avLst/>
            <a:gdLst/>
            <a:ahLst/>
            <a:cxnLst/>
            <a:rect l="l" t="t" r="r" b="b"/>
            <a:pathLst>
              <a:path w="433070" h="429895">
                <a:moveTo>
                  <a:pt x="0" y="0"/>
                </a:moveTo>
                <a:lnTo>
                  <a:pt x="216407" y="0"/>
                </a:lnTo>
                <a:lnTo>
                  <a:pt x="266024" y="5678"/>
                </a:lnTo>
                <a:lnTo>
                  <a:pt x="311573" y="21851"/>
                </a:lnTo>
                <a:lnTo>
                  <a:pt x="351755" y="47226"/>
                </a:lnTo>
                <a:lnTo>
                  <a:pt x="385269" y="80509"/>
                </a:lnTo>
                <a:lnTo>
                  <a:pt x="410817" y="120409"/>
                </a:lnTo>
                <a:lnTo>
                  <a:pt x="427099" y="165631"/>
                </a:lnTo>
                <a:lnTo>
                  <a:pt x="432815" y="214884"/>
                </a:lnTo>
                <a:lnTo>
                  <a:pt x="427099" y="264136"/>
                </a:lnTo>
                <a:lnTo>
                  <a:pt x="410817" y="309358"/>
                </a:lnTo>
                <a:lnTo>
                  <a:pt x="385269" y="349258"/>
                </a:lnTo>
                <a:lnTo>
                  <a:pt x="351755" y="382541"/>
                </a:lnTo>
                <a:lnTo>
                  <a:pt x="311573" y="407916"/>
                </a:lnTo>
                <a:lnTo>
                  <a:pt x="266024" y="424089"/>
                </a:lnTo>
                <a:lnTo>
                  <a:pt x="216407" y="429768"/>
                </a:lnTo>
                <a:lnTo>
                  <a:pt x="0" y="429768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00215" y="3357371"/>
            <a:ext cx="288290" cy="0"/>
          </a:xfrm>
          <a:custGeom>
            <a:avLst/>
            <a:gdLst/>
            <a:ahLst/>
            <a:cxnLst/>
            <a:rect l="l" t="t" r="r" b="b"/>
            <a:pathLst>
              <a:path w="288290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00215" y="3646932"/>
            <a:ext cx="288290" cy="0"/>
          </a:xfrm>
          <a:custGeom>
            <a:avLst/>
            <a:gdLst/>
            <a:ahLst/>
            <a:cxnLst/>
            <a:rect l="l" t="t" r="r" b="b"/>
            <a:pathLst>
              <a:path w="288290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33031" y="3502152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444996" y="3285744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216407" y="0"/>
                </a:moveTo>
                <a:lnTo>
                  <a:pt x="0" y="0"/>
                </a:lnTo>
                <a:lnTo>
                  <a:pt x="0" y="431291"/>
                </a:lnTo>
                <a:lnTo>
                  <a:pt x="216407" y="431291"/>
                </a:lnTo>
                <a:lnTo>
                  <a:pt x="266024" y="425598"/>
                </a:lnTo>
                <a:lnTo>
                  <a:pt x="311573" y="409378"/>
                </a:lnTo>
                <a:lnTo>
                  <a:pt x="351755" y="383925"/>
                </a:lnTo>
                <a:lnTo>
                  <a:pt x="385269" y="350533"/>
                </a:lnTo>
                <a:lnTo>
                  <a:pt x="410817" y="310493"/>
                </a:lnTo>
                <a:lnTo>
                  <a:pt x="427099" y="265100"/>
                </a:lnTo>
                <a:lnTo>
                  <a:pt x="432815" y="215645"/>
                </a:lnTo>
                <a:lnTo>
                  <a:pt x="427099" y="166191"/>
                </a:lnTo>
                <a:lnTo>
                  <a:pt x="410817" y="120798"/>
                </a:lnTo>
                <a:lnTo>
                  <a:pt x="385269" y="80758"/>
                </a:lnTo>
                <a:lnTo>
                  <a:pt x="351755" y="47366"/>
                </a:lnTo>
                <a:lnTo>
                  <a:pt x="311573" y="21913"/>
                </a:lnTo>
                <a:lnTo>
                  <a:pt x="266024" y="5693"/>
                </a:lnTo>
                <a:lnTo>
                  <a:pt x="2164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44996" y="3285744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0"/>
                </a:moveTo>
                <a:lnTo>
                  <a:pt x="216407" y="0"/>
                </a:lnTo>
                <a:lnTo>
                  <a:pt x="266024" y="5693"/>
                </a:lnTo>
                <a:lnTo>
                  <a:pt x="311573" y="21913"/>
                </a:lnTo>
                <a:lnTo>
                  <a:pt x="351755" y="47366"/>
                </a:lnTo>
                <a:lnTo>
                  <a:pt x="385269" y="80758"/>
                </a:lnTo>
                <a:lnTo>
                  <a:pt x="410817" y="120798"/>
                </a:lnTo>
                <a:lnTo>
                  <a:pt x="427099" y="166191"/>
                </a:lnTo>
                <a:lnTo>
                  <a:pt x="432815" y="215645"/>
                </a:lnTo>
                <a:lnTo>
                  <a:pt x="427099" y="265100"/>
                </a:lnTo>
                <a:lnTo>
                  <a:pt x="410817" y="310493"/>
                </a:lnTo>
                <a:lnTo>
                  <a:pt x="385269" y="350533"/>
                </a:lnTo>
                <a:lnTo>
                  <a:pt x="351755" y="383925"/>
                </a:lnTo>
                <a:lnTo>
                  <a:pt x="311573" y="409378"/>
                </a:lnTo>
                <a:lnTo>
                  <a:pt x="266024" y="425598"/>
                </a:lnTo>
                <a:lnTo>
                  <a:pt x="216407" y="431291"/>
                </a:lnTo>
                <a:lnTo>
                  <a:pt x="0" y="431291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19543" y="3788664"/>
            <a:ext cx="288290" cy="0"/>
          </a:xfrm>
          <a:custGeom>
            <a:avLst/>
            <a:gdLst/>
            <a:ahLst/>
            <a:cxnLst/>
            <a:rect l="l" t="t" r="r" b="b"/>
            <a:pathLst>
              <a:path w="288290">
                <a:moveTo>
                  <a:pt x="288035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19543" y="4078223"/>
            <a:ext cx="288290" cy="0"/>
          </a:xfrm>
          <a:custGeom>
            <a:avLst/>
            <a:gdLst/>
            <a:ahLst/>
            <a:cxnLst/>
            <a:rect l="l" t="t" r="r" b="b"/>
            <a:pathLst>
              <a:path w="288290">
                <a:moveTo>
                  <a:pt x="288035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52359" y="3933444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64323" y="3718559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215646" y="0"/>
                </a:moveTo>
                <a:lnTo>
                  <a:pt x="0" y="0"/>
                </a:lnTo>
                <a:lnTo>
                  <a:pt x="0" y="429767"/>
                </a:lnTo>
                <a:lnTo>
                  <a:pt x="215646" y="429767"/>
                </a:lnTo>
                <a:lnTo>
                  <a:pt x="265100" y="424089"/>
                </a:lnTo>
                <a:lnTo>
                  <a:pt x="310493" y="407916"/>
                </a:lnTo>
                <a:lnTo>
                  <a:pt x="350533" y="382541"/>
                </a:lnTo>
                <a:lnTo>
                  <a:pt x="383925" y="349258"/>
                </a:lnTo>
                <a:lnTo>
                  <a:pt x="409378" y="309358"/>
                </a:lnTo>
                <a:lnTo>
                  <a:pt x="425598" y="264136"/>
                </a:lnTo>
                <a:lnTo>
                  <a:pt x="431292" y="214883"/>
                </a:lnTo>
                <a:lnTo>
                  <a:pt x="425598" y="165631"/>
                </a:lnTo>
                <a:lnTo>
                  <a:pt x="409378" y="120409"/>
                </a:lnTo>
                <a:lnTo>
                  <a:pt x="383925" y="80509"/>
                </a:lnTo>
                <a:lnTo>
                  <a:pt x="350533" y="47226"/>
                </a:lnTo>
                <a:lnTo>
                  <a:pt x="310493" y="21851"/>
                </a:lnTo>
                <a:lnTo>
                  <a:pt x="265100" y="5678"/>
                </a:lnTo>
                <a:lnTo>
                  <a:pt x="2156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64323" y="3718559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0" y="0"/>
                </a:moveTo>
                <a:lnTo>
                  <a:pt x="215646" y="0"/>
                </a:lnTo>
                <a:lnTo>
                  <a:pt x="265100" y="5678"/>
                </a:lnTo>
                <a:lnTo>
                  <a:pt x="310493" y="21851"/>
                </a:lnTo>
                <a:lnTo>
                  <a:pt x="350533" y="47226"/>
                </a:lnTo>
                <a:lnTo>
                  <a:pt x="383925" y="80509"/>
                </a:lnTo>
                <a:lnTo>
                  <a:pt x="409378" y="120409"/>
                </a:lnTo>
                <a:lnTo>
                  <a:pt x="425598" y="165631"/>
                </a:lnTo>
                <a:lnTo>
                  <a:pt x="431292" y="214883"/>
                </a:lnTo>
                <a:lnTo>
                  <a:pt x="425598" y="264136"/>
                </a:lnTo>
                <a:lnTo>
                  <a:pt x="409378" y="309358"/>
                </a:lnTo>
                <a:lnTo>
                  <a:pt x="383925" y="349258"/>
                </a:lnTo>
                <a:lnTo>
                  <a:pt x="350533" y="382541"/>
                </a:lnTo>
                <a:lnTo>
                  <a:pt x="310493" y="407916"/>
                </a:lnTo>
                <a:lnTo>
                  <a:pt x="265100" y="424089"/>
                </a:lnTo>
                <a:lnTo>
                  <a:pt x="215646" y="429767"/>
                </a:lnTo>
                <a:lnTo>
                  <a:pt x="0" y="429767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740395" y="4221479"/>
            <a:ext cx="288290" cy="0"/>
          </a:xfrm>
          <a:custGeom>
            <a:avLst/>
            <a:gdLst/>
            <a:ahLst/>
            <a:cxnLst/>
            <a:rect l="l" t="t" r="r" b="b"/>
            <a:pathLst>
              <a:path w="288290">
                <a:moveTo>
                  <a:pt x="288035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740395" y="4509515"/>
            <a:ext cx="288290" cy="0"/>
          </a:xfrm>
          <a:custGeom>
            <a:avLst/>
            <a:gdLst/>
            <a:ahLst/>
            <a:cxnLst/>
            <a:rect l="l" t="t" r="r" b="b"/>
            <a:pathLst>
              <a:path w="288290">
                <a:moveTo>
                  <a:pt x="288035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173211" y="4366259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85176" y="4149852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215646" y="0"/>
                </a:moveTo>
                <a:lnTo>
                  <a:pt x="0" y="0"/>
                </a:lnTo>
                <a:lnTo>
                  <a:pt x="0" y="429768"/>
                </a:lnTo>
                <a:lnTo>
                  <a:pt x="215646" y="429768"/>
                </a:lnTo>
                <a:lnTo>
                  <a:pt x="265100" y="424089"/>
                </a:lnTo>
                <a:lnTo>
                  <a:pt x="310493" y="407916"/>
                </a:lnTo>
                <a:lnTo>
                  <a:pt x="350533" y="382541"/>
                </a:lnTo>
                <a:lnTo>
                  <a:pt x="383925" y="349258"/>
                </a:lnTo>
                <a:lnTo>
                  <a:pt x="409378" y="309358"/>
                </a:lnTo>
                <a:lnTo>
                  <a:pt x="425598" y="264136"/>
                </a:lnTo>
                <a:lnTo>
                  <a:pt x="431292" y="214884"/>
                </a:lnTo>
                <a:lnTo>
                  <a:pt x="425598" y="165631"/>
                </a:lnTo>
                <a:lnTo>
                  <a:pt x="409378" y="120409"/>
                </a:lnTo>
                <a:lnTo>
                  <a:pt x="383925" y="80509"/>
                </a:lnTo>
                <a:lnTo>
                  <a:pt x="350533" y="47226"/>
                </a:lnTo>
                <a:lnTo>
                  <a:pt x="310493" y="21851"/>
                </a:lnTo>
                <a:lnTo>
                  <a:pt x="265100" y="5678"/>
                </a:lnTo>
                <a:lnTo>
                  <a:pt x="2156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885176" y="4149852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0" y="0"/>
                </a:moveTo>
                <a:lnTo>
                  <a:pt x="215646" y="0"/>
                </a:lnTo>
                <a:lnTo>
                  <a:pt x="265100" y="5678"/>
                </a:lnTo>
                <a:lnTo>
                  <a:pt x="310493" y="21851"/>
                </a:lnTo>
                <a:lnTo>
                  <a:pt x="350533" y="47226"/>
                </a:lnTo>
                <a:lnTo>
                  <a:pt x="383925" y="80509"/>
                </a:lnTo>
                <a:lnTo>
                  <a:pt x="409378" y="120409"/>
                </a:lnTo>
                <a:lnTo>
                  <a:pt x="425598" y="165631"/>
                </a:lnTo>
                <a:lnTo>
                  <a:pt x="431292" y="214884"/>
                </a:lnTo>
                <a:lnTo>
                  <a:pt x="425598" y="264136"/>
                </a:lnTo>
                <a:lnTo>
                  <a:pt x="409378" y="309358"/>
                </a:lnTo>
                <a:lnTo>
                  <a:pt x="383925" y="349258"/>
                </a:lnTo>
                <a:lnTo>
                  <a:pt x="350533" y="382541"/>
                </a:lnTo>
                <a:lnTo>
                  <a:pt x="310493" y="407916"/>
                </a:lnTo>
                <a:lnTo>
                  <a:pt x="265100" y="424089"/>
                </a:lnTo>
                <a:lnTo>
                  <a:pt x="215646" y="429768"/>
                </a:lnTo>
                <a:lnTo>
                  <a:pt x="0" y="429768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98691" y="3140964"/>
            <a:ext cx="1905" cy="217804"/>
          </a:xfrm>
          <a:custGeom>
            <a:avLst/>
            <a:gdLst/>
            <a:ahLst/>
            <a:cxnLst/>
            <a:rect l="l" t="t" r="r" b="b"/>
            <a:pathLst>
              <a:path w="1904" h="217804">
                <a:moveTo>
                  <a:pt x="762" y="-6096"/>
                </a:moveTo>
                <a:lnTo>
                  <a:pt x="762" y="223520"/>
                </a:lnTo>
              </a:path>
            </a:pathLst>
          </a:custGeom>
          <a:ln w="137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008368" y="3502152"/>
            <a:ext cx="13335" cy="288925"/>
          </a:xfrm>
          <a:custGeom>
            <a:avLst/>
            <a:gdLst/>
            <a:ahLst/>
            <a:cxnLst/>
            <a:rect l="l" t="t" r="r" b="b"/>
            <a:pathLst>
              <a:path w="13334" h="288925">
                <a:moveTo>
                  <a:pt x="11175" y="0"/>
                </a:moveTo>
                <a:lnTo>
                  <a:pt x="0" y="0"/>
                </a:lnTo>
                <a:lnTo>
                  <a:pt x="0" y="142875"/>
                </a:lnTo>
                <a:lnTo>
                  <a:pt x="0" y="288925"/>
                </a:lnTo>
                <a:lnTo>
                  <a:pt x="12826" y="288925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738871" y="3933444"/>
            <a:ext cx="1905" cy="288925"/>
          </a:xfrm>
          <a:custGeom>
            <a:avLst/>
            <a:gdLst/>
            <a:ahLst/>
            <a:cxnLst/>
            <a:rect l="l" t="t" r="r" b="b"/>
            <a:pathLst>
              <a:path w="1904" h="288925">
                <a:moveTo>
                  <a:pt x="762" y="-6096"/>
                </a:moveTo>
                <a:lnTo>
                  <a:pt x="762" y="295020"/>
                </a:lnTo>
              </a:path>
            </a:pathLst>
          </a:custGeom>
          <a:ln w="137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740395" y="3933444"/>
            <a:ext cx="721360" cy="0"/>
          </a:xfrm>
          <a:custGeom>
            <a:avLst/>
            <a:gdLst/>
            <a:ahLst/>
            <a:cxnLst/>
            <a:rect l="l" t="t" r="r" b="b"/>
            <a:pathLst>
              <a:path w="721359">
                <a:moveTo>
                  <a:pt x="0" y="0"/>
                </a:moveTo>
                <a:lnTo>
                  <a:pt x="720851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652515" y="3645408"/>
            <a:ext cx="647700" cy="0"/>
          </a:xfrm>
          <a:custGeom>
            <a:avLst/>
            <a:gdLst/>
            <a:ahLst/>
            <a:cxnLst/>
            <a:rect l="l" t="t" r="r" b="b"/>
            <a:pathLst>
              <a:path w="647700">
                <a:moveTo>
                  <a:pt x="0" y="0"/>
                </a:moveTo>
                <a:lnTo>
                  <a:pt x="64770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52515" y="4076700"/>
            <a:ext cx="1367155" cy="0"/>
          </a:xfrm>
          <a:custGeom>
            <a:avLst/>
            <a:gdLst/>
            <a:ahLst/>
            <a:cxnLst/>
            <a:rect l="l" t="t" r="r" b="b"/>
            <a:pathLst>
              <a:path w="1367154">
                <a:moveTo>
                  <a:pt x="0" y="0"/>
                </a:moveTo>
                <a:lnTo>
                  <a:pt x="1367028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652515" y="4507991"/>
            <a:ext cx="2159635" cy="0"/>
          </a:xfrm>
          <a:custGeom>
            <a:avLst/>
            <a:gdLst/>
            <a:ahLst/>
            <a:cxnLst/>
            <a:rect l="l" t="t" r="r" b="b"/>
            <a:pathLst>
              <a:path w="2159634">
                <a:moveTo>
                  <a:pt x="0" y="0"/>
                </a:moveTo>
                <a:lnTo>
                  <a:pt x="2159508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120662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3459" y="164414"/>
            <a:ext cx="190753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5010785" cy="18548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Clock period =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10.0ns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good gate delay =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2.0ns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PDF (fault distributed along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path)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3.0</a:t>
            </a:r>
            <a:r>
              <a:rPr sz="2000" b="1" dirty="0">
                <a:latin typeface="Arial"/>
                <a:cs typeface="Arial"/>
              </a:rPr>
              <a:t> +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2.6</a:t>
            </a:r>
            <a:r>
              <a:rPr sz="2000" b="1" dirty="0">
                <a:latin typeface="Arial"/>
                <a:cs typeface="Arial"/>
              </a:rPr>
              <a:t> +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2.7</a:t>
            </a:r>
            <a:r>
              <a:rPr sz="2000" b="1" dirty="0">
                <a:latin typeface="Arial"/>
                <a:cs typeface="Arial"/>
              </a:rPr>
              <a:t> = 8.3 &lt; 10 </a:t>
            </a:r>
            <a:r>
              <a:rPr sz="2000" spc="535" dirty="0">
                <a:solidFill>
                  <a:srgbClr val="00AF50"/>
                </a:solidFill>
                <a:latin typeface="Arial Unicode MS"/>
                <a:cs typeface="Arial Unicode MS"/>
              </a:rPr>
              <a:t>→</a:t>
            </a:r>
            <a:r>
              <a:rPr sz="2000" spc="-175" dirty="0">
                <a:solidFill>
                  <a:srgbClr val="00AF50"/>
                </a:solidFill>
                <a:latin typeface="Arial Unicode MS"/>
                <a:cs typeface="Arial Unicode MS"/>
              </a:rPr>
              <a:t> </a:t>
            </a:r>
            <a:r>
              <a:rPr sz="2000" b="1" dirty="0">
                <a:solidFill>
                  <a:srgbClr val="00AF50"/>
                </a:solidFill>
                <a:latin typeface="Arial"/>
                <a:cs typeface="Arial"/>
              </a:rPr>
              <a:t>pass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430911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3.0</a:t>
            </a:r>
            <a:r>
              <a:rPr sz="2000" b="1" dirty="0">
                <a:latin typeface="Arial"/>
                <a:cs typeface="Arial"/>
              </a:rPr>
              <a:t> +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2.6</a:t>
            </a:r>
            <a:r>
              <a:rPr sz="2000" b="1" dirty="0">
                <a:latin typeface="Arial"/>
                <a:cs typeface="Arial"/>
              </a:rPr>
              <a:t> +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2.7</a:t>
            </a:r>
            <a:r>
              <a:rPr sz="2000" b="1" dirty="0">
                <a:latin typeface="Arial"/>
                <a:cs typeface="Arial"/>
              </a:rPr>
              <a:t> +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2.9</a:t>
            </a:r>
            <a:r>
              <a:rPr sz="2000" b="1" dirty="0">
                <a:latin typeface="Arial"/>
                <a:cs typeface="Arial"/>
              </a:rPr>
              <a:t> = 11.2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&gt;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10	</a:t>
            </a:r>
            <a:r>
              <a:rPr sz="2000" spc="535" dirty="0">
                <a:solidFill>
                  <a:srgbClr val="FF0000"/>
                </a:solidFill>
                <a:latin typeface="Arial Unicode MS"/>
                <a:cs typeface="Arial Unicode MS"/>
              </a:rPr>
              <a:t>→</a:t>
            </a:r>
            <a:r>
              <a:rPr sz="2000" spc="-80" dirty="0">
                <a:solidFill>
                  <a:srgbClr val="FF0000"/>
                </a:solidFill>
                <a:latin typeface="Arial Unicode MS"/>
                <a:cs typeface="Arial Unicode M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fail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226" y="3094902"/>
            <a:ext cx="4926990" cy="1434367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TDF (lumped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 </a:t>
            </a:r>
            <a:r>
              <a:rPr lang="en-US" sz="2000" b="1" dirty="0">
                <a:latin typeface="Arial"/>
                <a:cs typeface="Arial"/>
              </a:rPr>
              <a:t>on interconnect </a:t>
            </a:r>
            <a:r>
              <a:rPr sz="2000" b="1" dirty="0">
                <a:latin typeface="Arial"/>
                <a:cs typeface="Arial"/>
              </a:rPr>
              <a:t>= 9.0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ns)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3390265" algn="l"/>
              </a:tabLst>
            </a:pPr>
            <a:r>
              <a:rPr sz="2000" b="1" spc="-5" dirty="0">
                <a:latin typeface="Arial"/>
                <a:cs typeface="Arial"/>
              </a:rPr>
              <a:t>2.0+2.0+2.0+</a:t>
            </a: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9.0</a:t>
            </a:r>
            <a:r>
              <a:rPr sz="2000" b="1" spc="-5" dirty="0">
                <a:latin typeface="Arial"/>
                <a:cs typeface="Arial"/>
              </a:rPr>
              <a:t>=15.0	</a:t>
            </a:r>
            <a:r>
              <a:rPr sz="2000" spc="535" dirty="0">
                <a:solidFill>
                  <a:srgbClr val="FF0000"/>
                </a:solidFill>
                <a:latin typeface="Arial Unicode MS"/>
                <a:cs typeface="Arial Unicode MS"/>
              </a:rPr>
              <a:t>→</a:t>
            </a:r>
            <a:r>
              <a:rPr sz="2000" spc="-10" dirty="0">
                <a:solidFill>
                  <a:srgbClr val="FF0000"/>
                </a:solidFill>
                <a:latin typeface="Arial Unicode MS"/>
                <a:cs typeface="Arial Unicode M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fail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latin typeface="Arial"/>
                <a:cs typeface="Arial"/>
              </a:rPr>
              <a:t>2.0+2.0+2.0+</a:t>
            </a: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9.0</a:t>
            </a:r>
            <a:r>
              <a:rPr sz="2000" b="1" spc="-5" dirty="0">
                <a:latin typeface="Arial"/>
                <a:cs typeface="Arial"/>
              </a:rPr>
              <a:t>+2.0 </a:t>
            </a:r>
            <a:r>
              <a:rPr sz="2000" b="1" dirty="0">
                <a:latin typeface="Arial"/>
                <a:cs typeface="Arial"/>
              </a:rPr>
              <a:t>= 17.0 </a:t>
            </a:r>
            <a:r>
              <a:rPr sz="2000" spc="535" dirty="0">
                <a:solidFill>
                  <a:srgbClr val="FF0000"/>
                </a:solidFill>
                <a:latin typeface="Arial Unicode MS"/>
                <a:cs typeface="Arial Unicode MS"/>
              </a:rPr>
              <a:t>→</a:t>
            </a:r>
            <a:r>
              <a:rPr sz="2000" spc="-100" dirty="0">
                <a:solidFill>
                  <a:srgbClr val="FF0000"/>
                </a:solidFill>
                <a:latin typeface="Arial Unicode MS"/>
                <a:cs typeface="Arial Unicode M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fail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70320" y="1595627"/>
            <a:ext cx="288290" cy="0"/>
          </a:xfrm>
          <a:custGeom>
            <a:avLst/>
            <a:gdLst/>
            <a:ahLst/>
            <a:cxnLst/>
            <a:rect l="l" t="t" r="r" b="b"/>
            <a:pathLst>
              <a:path w="288290">
                <a:moveTo>
                  <a:pt x="288035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83808" y="1379219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215645" y="0"/>
                </a:moveTo>
                <a:lnTo>
                  <a:pt x="0" y="0"/>
                </a:lnTo>
                <a:lnTo>
                  <a:pt x="0" y="431291"/>
                </a:lnTo>
                <a:lnTo>
                  <a:pt x="215645" y="431291"/>
                </a:lnTo>
                <a:lnTo>
                  <a:pt x="265100" y="425598"/>
                </a:lnTo>
                <a:lnTo>
                  <a:pt x="310493" y="409378"/>
                </a:lnTo>
                <a:lnTo>
                  <a:pt x="350533" y="383925"/>
                </a:lnTo>
                <a:lnTo>
                  <a:pt x="383925" y="350533"/>
                </a:lnTo>
                <a:lnTo>
                  <a:pt x="409378" y="310493"/>
                </a:lnTo>
                <a:lnTo>
                  <a:pt x="425598" y="265100"/>
                </a:lnTo>
                <a:lnTo>
                  <a:pt x="431291" y="215645"/>
                </a:lnTo>
                <a:lnTo>
                  <a:pt x="425598" y="166191"/>
                </a:lnTo>
                <a:lnTo>
                  <a:pt x="409378" y="120798"/>
                </a:lnTo>
                <a:lnTo>
                  <a:pt x="383925" y="80758"/>
                </a:lnTo>
                <a:lnTo>
                  <a:pt x="350533" y="47366"/>
                </a:lnTo>
                <a:lnTo>
                  <a:pt x="310493" y="21913"/>
                </a:lnTo>
                <a:lnTo>
                  <a:pt x="265100" y="5693"/>
                </a:lnTo>
                <a:lnTo>
                  <a:pt x="215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83808" y="1379219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0" y="0"/>
                </a:moveTo>
                <a:lnTo>
                  <a:pt x="215645" y="0"/>
                </a:lnTo>
                <a:lnTo>
                  <a:pt x="265100" y="5693"/>
                </a:lnTo>
                <a:lnTo>
                  <a:pt x="310493" y="21913"/>
                </a:lnTo>
                <a:lnTo>
                  <a:pt x="350533" y="47366"/>
                </a:lnTo>
                <a:lnTo>
                  <a:pt x="383925" y="80758"/>
                </a:lnTo>
                <a:lnTo>
                  <a:pt x="409378" y="120798"/>
                </a:lnTo>
                <a:lnTo>
                  <a:pt x="425598" y="166191"/>
                </a:lnTo>
                <a:lnTo>
                  <a:pt x="431291" y="215645"/>
                </a:lnTo>
                <a:lnTo>
                  <a:pt x="425598" y="265100"/>
                </a:lnTo>
                <a:lnTo>
                  <a:pt x="409378" y="310493"/>
                </a:lnTo>
                <a:lnTo>
                  <a:pt x="383925" y="350533"/>
                </a:lnTo>
                <a:lnTo>
                  <a:pt x="350533" y="383925"/>
                </a:lnTo>
                <a:lnTo>
                  <a:pt x="310493" y="409378"/>
                </a:lnTo>
                <a:lnTo>
                  <a:pt x="265100" y="425598"/>
                </a:lnTo>
                <a:lnTo>
                  <a:pt x="215645" y="431291"/>
                </a:lnTo>
                <a:lnTo>
                  <a:pt x="0" y="431291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59880" y="1812035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59880" y="2100072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091171" y="1955292"/>
            <a:ext cx="288290" cy="0"/>
          </a:xfrm>
          <a:custGeom>
            <a:avLst/>
            <a:gdLst/>
            <a:ahLst/>
            <a:cxnLst/>
            <a:rect l="l" t="t" r="r" b="b"/>
            <a:pathLst>
              <a:path w="288290">
                <a:moveTo>
                  <a:pt x="288035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04659" y="1740407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4">
                <a:moveTo>
                  <a:pt x="215646" y="0"/>
                </a:moveTo>
                <a:lnTo>
                  <a:pt x="0" y="0"/>
                </a:lnTo>
                <a:lnTo>
                  <a:pt x="0" y="429767"/>
                </a:lnTo>
                <a:lnTo>
                  <a:pt x="215646" y="429767"/>
                </a:lnTo>
                <a:lnTo>
                  <a:pt x="265100" y="424089"/>
                </a:lnTo>
                <a:lnTo>
                  <a:pt x="310493" y="407916"/>
                </a:lnTo>
                <a:lnTo>
                  <a:pt x="350533" y="382541"/>
                </a:lnTo>
                <a:lnTo>
                  <a:pt x="383925" y="349258"/>
                </a:lnTo>
                <a:lnTo>
                  <a:pt x="409378" y="309358"/>
                </a:lnTo>
                <a:lnTo>
                  <a:pt x="425598" y="264136"/>
                </a:lnTo>
                <a:lnTo>
                  <a:pt x="431292" y="214883"/>
                </a:lnTo>
                <a:lnTo>
                  <a:pt x="425598" y="165631"/>
                </a:lnTo>
                <a:lnTo>
                  <a:pt x="409378" y="120409"/>
                </a:lnTo>
                <a:lnTo>
                  <a:pt x="383925" y="80509"/>
                </a:lnTo>
                <a:lnTo>
                  <a:pt x="350533" y="47226"/>
                </a:lnTo>
                <a:lnTo>
                  <a:pt x="310493" y="21851"/>
                </a:lnTo>
                <a:lnTo>
                  <a:pt x="265100" y="5678"/>
                </a:lnTo>
                <a:lnTo>
                  <a:pt x="2156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04659" y="1740407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4">
                <a:moveTo>
                  <a:pt x="0" y="0"/>
                </a:moveTo>
                <a:lnTo>
                  <a:pt x="215646" y="0"/>
                </a:lnTo>
                <a:lnTo>
                  <a:pt x="265100" y="5678"/>
                </a:lnTo>
                <a:lnTo>
                  <a:pt x="310493" y="21851"/>
                </a:lnTo>
                <a:lnTo>
                  <a:pt x="350533" y="47226"/>
                </a:lnTo>
                <a:lnTo>
                  <a:pt x="383925" y="80509"/>
                </a:lnTo>
                <a:lnTo>
                  <a:pt x="409378" y="120409"/>
                </a:lnTo>
                <a:lnTo>
                  <a:pt x="425598" y="165631"/>
                </a:lnTo>
                <a:lnTo>
                  <a:pt x="431292" y="214883"/>
                </a:lnTo>
                <a:lnTo>
                  <a:pt x="425598" y="264136"/>
                </a:lnTo>
                <a:lnTo>
                  <a:pt x="409378" y="309358"/>
                </a:lnTo>
                <a:lnTo>
                  <a:pt x="383925" y="349258"/>
                </a:lnTo>
                <a:lnTo>
                  <a:pt x="350533" y="382541"/>
                </a:lnTo>
                <a:lnTo>
                  <a:pt x="310493" y="407916"/>
                </a:lnTo>
                <a:lnTo>
                  <a:pt x="265100" y="424089"/>
                </a:lnTo>
                <a:lnTo>
                  <a:pt x="215646" y="429767"/>
                </a:lnTo>
                <a:lnTo>
                  <a:pt x="0" y="429767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379207" y="2243327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810500" y="2388107"/>
            <a:ext cx="288290" cy="0"/>
          </a:xfrm>
          <a:custGeom>
            <a:avLst/>
            <a:gdLst/>
            <a:ahLst/>
            <a:cxnLst/>
            <a:rect l="l" t="t" r="r" b="b"/>
            <a:pathLst>
              <a:path w="288290">
                <a:moveTo>
                  <a:pt x="288035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522464" y="2171700"/>
            <a:ext cx="433070" cy="429895"/>
          </a:xfrm>
          <a:custGeom>
            <a:avLst/>
            <a:gdLst/>
            <a:ahLst/>
            <a:cxnLst/>
            <a:rect l="l" t="t" r="r" b="b"/>
            <a:pathLst>
              <a:path w="433070" h="429894">
                <a:moveTo>
                  <a:pt x="216407" y="0"/>
                </a:moveTo>
                <a:lnTo>
                  <a:pt x="0" y="0"/>
                </a:lnTo>
                <a:lnTo>
                  <a:pt x="0" y="429767"/>
                </a:lnTo>
                <a:lnTo>
                  <a:pt x="216407" y="429767"/>
                </a:lnTo>
                <a:lnTo>
                  <a:pt x="266024" y="424089"/>
                </a:lnTo>
                <a:lnTo>
                  <a:pt x="311573" y="407916"/>
                </a:lnTo>
                <a:lnTo>
                  <a:pt x="351755" y="382541"/>
                </a:lnTo>
                <a:lnTo>
                  <a:pt x="385269" y="349258"/>
                </a:lnTo>
                <a:lnTo>
                  <a:pt x="410817" y="309358"/>
                </a:lnTo>
                <a:lnTo>
                  <a:pt x="427099" y="264136"/>
                </a:lnTo>
                <a:lnTo>
                  <a:pt x="432815" y="214884"/>
                </a:lnTo>
                <a:lnTo>
                  <a:pt x="427099" y="165631"/>
                </a:lnTo>
                <a:lnTo>
                  <a:pt x="410817" y="120409"/>
                </a:lnTo>
                <a:lnTo>
                  <a:pt x="385269" y="80509"/>
                </a:lnTo>
                <a:lnTo>
                  <a:pt x="351755" y="47226"/>
                </a:lnTo>
                <a:lnTo>
                  <a:pt x="311573" y="21851"/>
                </a:lnTo>
                <a:lnTo>
                  <a:pt x="266024" y="5678"/>
                </a:lnTo>
                <a:lnTo>
                  <a:pt x="2164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522464" y="2171700"/>
            <a:ext cx="433070" cy="429895"/>
          </a:xfrm>
          <a:custGeom>
            <a:avLst/>
            <a:gdLst/>
            <a:ahLst/>
            <a:cxnLst/>
            <a:rect l="l" t="t" r="r" b="b"/>
            <a:pathLst>
              <a:path w="433070" h="429894">
                <a:moveTo>
                  <a:pt x="0" y="0"/>
                </a:moveTo>
                <a:lnTo>
                  <a:pt x="216407" y="0"/>
                </a:lnTo>
                <a:lnTo>
                  <a:pt x="266024" y="5678"/>
                </a:lnTo>
                <a:lnTo>
                  <a:pt x="311573" y="21851"/>
                </a:lnTo>
                <a:lnTo>
                  <a:pt x="351755" y="47226"/>
                </a:lnTo>
                <a:lnTo>
                  <a:pt x="385269" y="80509"/>
                </a:lnTo>
                <a:lnTo>
                  <a:pt x="410817" y="120409"/>
                </a:lnTo>
                <a:lnTo>
                  <a:pt x="427099" y="165631"/>
                </a:lnTo>
                <a:lnTo>
                  <a:pt x="432815" y="214884"/>
                </a:lnTo>
                <a:lnTo>
                  <a:pt x="427099" y="264136"/>
                </a:lnTo>
                <a:lnTo>
                  <a:pt x="410817" y="309358"/>
                </a:lnTo>
                <a:lnTo>
                  <a:pt x="385269" y="349258"/>
                </a:lnTo>
                <a:lnTo>
                  <a:pt x="351755" y="382541"/>
                </a:lnTo>
                <a:lnTo>
                  <a:pt x="311573" y="407916"/>
                </a:lnTo>
                <a:lnTo>
                  <a:pt x="266024" y="424089"/>
                </a:lnTo>
                <a:lnTo>
                  <a:pt x="216407" y="429767"/>
                </a:lnTo>
                <a:lnTo>
                  <a:pt x="0" y="429767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00059" y="2674620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531352" y="2819400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243316" y="2602992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216407" y="0"/>
                </a:moveTo>
                <a:lnTo>
                  <a:pt x="0" y="0"/>
                </a:lnTo>
                <a:lnTo>
                  <a:pt x="0" y="431292"/>
                </a:lnTo>
                <a:lnTo>
                  <a:pt x="216407" y="431292"/>
                </a:lnTo>
                <a:lnTo>
                  <a:pt x="266024" y="425598"/>
                </a:lnTo>
                <a:lnTo>
                  <a:pt x="311573" y="409378"/>
                </a:lnTo>
                <a:lnTo>
                  <a:pt x="351755" y="383925"/>
                </a:lnTo>
                <a:lnTo>
                  <a:pt x="385269" y="350533"/>
                </a:lnTo>
                <a:lnTo>
                  <a:pt x="410817" y="310493"/>
                </a:lnTo>
                <a:lnTo>
                  <a:pt x="427099" y="265100"/>
                </a:lnTo>
                <a:lnTo>
                  <a:pt x="432815" y="215646"/>
                </a:lnTo>
                <a:lnTo>
                  <a:pt x="427099" y="166191"/>
                </a:lnTo>
                <a:lnTo>
                  <a:pt x="410817" y="120798"/>
                </a:lnTo>
                <a:lnTo>
                  <a:pt x="385269" y="80758"/>
                </a:lnTo>
                <a:lnTo>
                  <a:pt x="351755" y="47366"/>
                </a:lnTo>
                <a:lnTo>
                  <a:pt x="311573" y="21913"/>
                </a:lnTo>
                <a:lnTo>
                  <a:pt x="266024" y="5693"/>
                </a:lnTo>
                <a:lnTo>
                  <a:pt x="2164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58356" y="1595627"/>
            <a:ext cx="1905" cy="217804"/>
          </a:xfrm>
          <a:custGeom>
            <a:avLst/>
            <a:gdLst/>
            <a:ahLst/>
            <a:cxnLst/>
            <a:rect l="l" t="t" r="r" b="b"/>
            <a:pathLst>
              <a:path w="1904" h="217805">
                <a:moveTo>
                  <a:pt x="825" y="-6096"/>
                </a:moveTo>
                <a:lnTo>
                  <a:pt x="825" y="223520"/>
                </a:lnTo>
              </a:path>
            </a:pathLst>
          </a:custGeom>
          <a:ln w="13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368031" y="1955292"/>
            <a:ext cx="13335" cy="288925"/>
          </a:xfrm>
          <a:custGeom>
            <a:avLst/>
            <a:gdLst/>
            <a:ahLst/>
            <a:cxnLst/>
            <a:rect l="l" t="t" r="r" b="b"/>
            <a:pathLst>
              <a:path w="13334" h="288925">
                <a:moveTo>
                  <a:pt x="11175" y="0"/>
                </a:moveTo>
                <a:lnTo>
                  <a:pt x="0" y="0"/>
                </a:lnTo>
                <a:lnTo>
                  <a:pt x="0" y="142875"/>
                </a:lnTo>
                <a:lnTo>
                  <a:pt x="0" y="288925"/>
                </a:lnTo>
                <a:lnTo>
                  <a:pt x="12826" y="288925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098535" y="2388107"/>
            <a:ext cx="1905" cy="288925"/>
          </a:xfrm>
          <a:custGeom>
            <a:avLst/>
            <a:gdLst/>
            <a:ahLst/>
            <a:cxnLst/>
            <a:rect l="l" t="t" r="r" b="b"/>
            <a:pathLst>
              <a:path w="1904" h="288925">
                <a:moveTo>
                  <a:pt x="762" y="-6096"/>
                </a:moveTo>
                <a:lnTo>
                  <a:pt x="762" y="295021"/>
                </a:lnTo>
              </a:path>
            </a:pathLst>
          </a:custGeom>
          <a:ln w="137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100059" y="2388107"/>
            <a:ext cx="721360" cy="0"/>
          </a:xfrm>
          <a:custGeom>
            <a:avLst/>
            <a:gdLst/>
            <a:ahLst/>
            <a:cxnLst/>
            <a:rect l="l" t="t" r="r" b="b"/>
            <a:pathLst>
              <a:path w="721359">
                <a:moveTo>
                  <a:pt x="0" y="0"/>
                </a:moveTo>
                <a:lnTo>
                  <a:pt x="720851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12179" y="2098548"/>
            <a:ext cx="647700" cy="0"/>
          </a:xfrm>
          <a:custGeom>
            <a:avLst/>
            <a:gdLst/>
            <a:ahLst/>
            <a:cxnLst/>
            <a:rect l="l" t="t" r="r" b="b"/>
            <a:pathLst>
              <a:path w="647700">
                <a:moveTo>
                  <a:pt x="0" y="0"/>
                </a:moveTo>
                <a:lnTo>
                  <a:pt x="64770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443854" y="1583182"/>
            <a:ext cx="7848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71525" algn="l"/>
              </a:tabLst>
            </a:pPr>
            <a:r>
              <a:rPr sz="2000" b="1" spc="185" dirty="0">
                <a:latin typeface="Helvetica"/>
                <a:cs typeface="Helvetica"/>
              </a:rPr>
              <a:t>1</a:t>
            </a:r>
            <a:r>
              <a:rPr sz="2000" spc="185" dirty="0">
                <a:latin typeface="Arial Unicode MS"/>
                <a:cs typeface="Arial Unicode MS"/>
              </a:rPr>
              <a:t>→</a:t>
            </a:r>
            <a:r>
              <a:rPr sz="2000" b="1" spc="185" dirty="0">
                <a:latin typeface="Helvetica"/>
                <a:cs typeface="Helvetica"/>
              </a:rPr>
              <a:t>1	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43854" y="1935302"/>
            <a:ext cx="5607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Helvetica"/>
                <a:cs typeface="Helvetica"/>
              </a:rPr>
              <a:t>1</a:t>
            </a:r>
            <a:r>
              <a:rPr sz="2000" spc="545" dirty="0">
                <a:latin typeface="Arial Unicode MS"/>
                <a:cs typeface="Arial Unicode MS"/>
              </a:rPr>
              <a:t>→</a:t>
            </a:r>
            <a:r>
              <a:rPr sz="2000" b="1" dirty="0">
                <a:latin typeface="Helvetica"/>
                <a:cs typeface="Helvetica"/>
              </a:rPr>
              <a:t>1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441947" y="3683508"/>
            <a:ext cx="288290" cy="0"/>
          </a:xfrm>
          <a:custGeom>
            <a:avLst/>
            <a:gdLst/>
            <a:ahLst/>
            <a:cxnLst/>
            <a:rect l="l" t="t" r="r" b="b"/>
            <a:pathLst>
              <a:path w="288290">
                <a:moveTo>
                  <a:pt x="288035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155435" y="3467100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215646" y="0"/>
                </a:moveTo>
                <a:lnTo>
                  <a:pt x="0" y="0"/>
                </a:lnTo>
                <a:lnTo>
                  <a:pt x="0" y="429768"/>
                </a:lnTo>
                <a:lnTo>
                  <a:pt x="215646" y="429768"/>
                </a:lnTo>
                <a:lnTo>
                  <a:pt x="265100" y="424089"/>
                </a:lnTo>
                <a:lnTo>
                  <a:pt x="310493" y="407916"/>
                </a:lnTo>
                <a:lnTo>
                  <a:pt x="350533" y="382541"/>
                </a:lnTo>
                <a:lnTo>
                  <a:pt x="383925" y="349258"/>
                </a:lnTo>
                <a:lnTo>
                  <a:pt x="409378" y="309358"/>
                </a:lnTo>
                <a:lnTo>
                  <a:pt x="425598" y="264136"/>
                </a:lnTo>
                <a:lnTo>
                  <a:pt x="431291" y="214883"/>
                </a:lnTo>
                <a:lnTo>
                  <a:pt x="425598" y="165631"/>
                </a:lnTo>
                <a:lnTo>
                  <a:pt x="409378" y="120409"/>
                </a:lnTo>
                <a:lnTo>
                  <a:pt x="383925" y="80509"/>
                </a:lnTo>
                <a:lnTo>
                  <a:pt x="350533" y="47226"/>
                </a:lnTo>
                <a:lnTo>
                  <a:pt x="310493" y="21851"/>
                </a:lnTo>
                <a:lnTo>
                  <a:pt x="265100" y="5678"/>
                </a:lnTo>
                <a:lnTo>
                  <a:pt x="2156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155435" y="3467100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0" y="0"/>
                </a:moveTo>
                <a:lnTo>
                  <a:pt x="215646" y="0"/>
                </a:lnTo>
                <a:lnTo>
                  <a:pt x="265100" y="5678"/>
                </a:lnTo>
                <a:lnTo>
                  <a:pt x="310493" y="21851"/>
                </a:lnTo>
                <a:lnTo>
                  <a:pt x="350533" y="47226"/>
                </a:lnTo>
                <a:lnTo>
                  <a:pt x="383925" y="80509"/>
                </a:lnTo>
                <a:lnTo>
                  <a:pt x="409378" y="120409"/>
                </a:lnTo>
                <a:lnTo>
                  <a:pt x="425598" y="165631"/>
                </a:lnTo>
                <a:lnTo>
                  <a:pt x="431291" y="214883"/>
                </a:lnTo>
                <a:lnTo>
                  <a:pt x="425598" y="264136"/>
                </a:lnTo>
                <a:lnTo>
                  <a:pt x="409378" y="309358"/>
                </a:lnTo>
                <a:lnTo>
                  <a:pt x="383925" y="349258"/>
                </a:lnTo>
                <a:lnTo>
                  <a:pt x="350533" y="382541"/>
                </a:lnTo>
                <a:lnTo>
                  <a:pt x="310493" y="407916"/>
                </a:lnTo>
                <a:lnTo>
                  <a:pt x="265100" y="424089"/>
                </a:lnTo>
                <a:lnTo>
                  <a:pt x="215646" y="429768"/>
                </a:lnTo>
                <a:lnTo>
                  <a:pt x="0" y="429768"/>
                </a:lnTo>
                <a:lnTo>
                  <a:pt x="0" y="0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731507" y="3898391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731507" y="4187952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62800" y="4043171"/>
            <a:ext cx="288290" cy="0"/>
          </a:xfrm>
          <a:custGeom>
            <a:avLst/>
            <a:gdLst/>
            <a:ahLst/>
            <a:cxnLst/>
            <a:rect l="l" t="t" r="r" b="b"/>
            <a:pathLst>
              <a:path w="288290">
                <a:moveTo>
                  <a:pt x="288035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874764" y="3826764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216407" y="0"/>
                </a:moveTo>
                <a:lnTo>
                  <a:pt x="0" y="0"/>
                </a:lnTo>
                <a:lnTo>
                  <a:pt x="0" y="431292"/>
                </a:lnTo>
                <a:lnTo>
                  <a:pt x="216407" y="431292"/>
                </a:lnTo>
                <a:lnTo>
                  <a:pt x="266024" y="425598"/>
                </a:lnTo>
                <a:lnTo>
                  <a:pt x="311573" y="409378"/>
                </a:lnTo>
                <a:lnTo>
                  <a:pt x="351755" y="383925"/>
                </a:lnTo>
                <a:lnTo>
                  <a:pt x="385269" y="350533"/>
                </a:lnTo>
                <a:lnTo>
                  <a:pt x="410817" y="310493"/>
                </a:lnTo>
                <a:lnTo>
                  <a:pt x="427099" y="265100"/>
                </a:lnTo>
                <a:lnTo>
                  <a:pt x="432815" y="215646"/>
                </a:lnTo>
                <a:lnTo>
                  <a:pt x="427099" y="166191"/>
                </a:lnTo>
                <a:lnTo>
                  <a:pt x="410817" y="120798"/>
                </a:lnTo>
                <a:lnTo>
                  <a:pt x="385269" y="80758"/>
                </a:lnTo>
                <a:lnTo>
                  <a:pt x="351755" y="47366"/>
                </a:lnTo>
                <a:lnTo>
                  <a:pt x="311573" y="21913"/>
                </a:lnTo>
                <a:lnTo>
                  <a:pt x="266024" y="5693"/>
                </a:lnTo>
                <a:lnTo>
                  <a:pt x="2164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874764" y="3826764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0"/>
                </a:moveTo>
                <a:lnTo>
                  <a:pt x="216407" y="0"/>
                </a:lnTo>
                <a:lnTo>
                  <a:pt x="266024" y="5693"/>
                </a:lnTo>
                <a:lnTo>
                  <a:pt x="311573" y="21913"/>
                </a:lnTo>
                <a:lnTo>
                  <a:pt x="351755" y="47366"/>
                </a:lnTo>
                <a:lnTo>
                  <a:pt x="385269" y="80758"/>
                </a:lnTo>
                <a:lnTo>
                  <a:pt x="410817" y="120798"/>
                </a:lnTo>
                <a:lnTo>
                  <a:pt x="427099" y="166191"/>
                </a:lnTo>
                <a:lnTo>
                  <a:pt x="432815" y="215646"/>
                </a:lnTo>
                <a:lnTo>
                  <a:pt x="427099" y="265100"/>
                </a:lnTo>
                <a:lnTo>
                  <a:pt x="410817" y="310493"/>
                </a:lnTo>
                <a:lnTo>
                  <a:pt x="385269" y="350533"/>
                </a:lnTo>
                <a:lnTo>
                  <a:pt x="351755" y="383925"/>
                </a:lnTo>
                <a:lnTo>
                  <a:pt x="311573" y="409378"/>
                </a:lnTo>
                <a:lnTo>
                  <a:pt x="266024" y="425598"/>
                </a:lnTo>
                <a:lnTo>
                  <a:pt x="216407" y="431292"/>
                </a:lnTo>
                <a:lnTo>
                  <a:pt x="0" y="431292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450835" y="4619244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882128" y="4474464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594092" y="4259579"/>
            <a:ext cx="433070" cy="429895"/>
          </a:xfrm>
          <a:custGeom>
            <a:avLst/>
            <a:gdLst/>
            <a:ahLst/>
            <a:cxnLst/>
            <a:rect l="l" t="t" r="r" b="b"/>
            <a:pathLst>
              <a:path w="433070" h="429895">
                <a:moveTo>
                  <a:pt x="216407" y="0"/>
                </a:moveTo>
                <a:lnTo>
                  <a:pt x="0" y="0"/>
                </a:lnTo>
                <a:lnTo>
                  <a:pt x="0" y="429768"/>
                </a:lnTo>
                <a:lnTo>
                  <a:pt x="216407" y="429768"/>
                </a:lnTo>
                <a:lnTo>
                  <a:pt x="266024" y="424089"/>
                </a:lnTo>
                <a:lnTo>
                  <a:pt x="311573" y="407916"/>
                </a:lnTo>
                <a:lnTo>
                  <a:pt x="351755" y="382541"/>
                </a:lnTo>
                <a:lnTo>
                  <a:pt x="385269" y="349258"/>
                </a:lnTo>
                <a:lnTo>
                  <a:pt x="410817" y="309358"/>
                </a:lnTo>
                <a:lnTo>
                  <a:pt x="427099" y="264136"/>
                </a:lnTo>
                <a:lnTo>
                  <a:pt x="432815" y="214884"/>
                </a:lnTo>
                <a:lnTo>
                  <a:pt x="427099" y="165631"/>
                </a:lnTo>
                <a:lnTo>
                  <a:pt x="410817" y="120409"/>
                </a:lnTo>
                <a:lnTo>
                  <a:pt x="385269" y="80509"/>
                </a:lnTo>
                <a:lnTo>
                  <a:pt x="351755" y="47226"/>
                </a:lnTo>
                <a:lnTo>
                  <a:pt x="311573" y="21851"/>
                </a:lnTo>
                <a:lnTo>
                  <a:pt x="266024" y="5678"/>
                </a:lnTo>
                <a:lnTo>
                  <a:pt x="2164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594092" y="4259579"/>
            <a:ext cx="433070" cy="429895"/>
          </a:xfrm>
          <a:custGeom>
            <a:avLst/>
            <a:gdLst/>
            <a:ahLst/>
            <a:cxnLst/>
            <a:rect l="l" t="t" r="r" b="b"/>
            <a:pathLst>
              <a:path w="433070" h="429895">
                <a:moveTo>
                  <a:pt x="0" y="0"/>
                </a:moveTo>
                <a:lnTo>
                  <a:pt x="216407" y="0"/>
                </a:lnTo>
                <a:lnTo>
                  <a:pt x="266024" y="5678"/>
                </a:lnTo>
                <a:lnTo>
                  <a:pt x="311573" y="21851"/>
                </a:lnTo>
                <a:lnTo>
                  <a:pt x="351755" y="47226"/>
                </a:lnTo>
                <a:lnTo>
                  <a:pt x="385269" y="80509"/>
                </a:lnTo>
                <a:lnTo>
                  <a:pt x="410817" y="120409"/>
                </a:lnTo>
                <a:lnTo>
                  <a:pt x="427099" y="165631"/>
                </a:lnTo>
                <a:lnTo>
                  <a:pt x="432815" y="214884"/>
                </a:lnTo>
                <a:lnTo>
                  <a:pt x="427099" y="264136"/>
                </a:lnTo>
                <a:lnTo>
                  <a:pt x="410817" y="309358"/>
                </a:lnTo>
                <a:lnTo>
                  <a:pt x="385269" y="349258"/>
                </a:lnTo>
                <a:lnTo>
                  <a:pt x="351755" y="382541"/>
                </a:lnTo>
                <a:lnTo>
                  <a:pt x="311573" y="407916"/>
                </a:lnTo>
                <a:lnTo>
                  <a:pt x="266024" y="424089"/>
                </a:lnTo>
                <a:lnTo>
                  <a:pt x="216407" y="429768"/>
                </a:lnTo>
                <a:lnTo>
                  <a:pt x="0" y="429768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170164" y="4762500"/>
            <a:ext cx="288290" cy="0"/>
          </a:xfrm>
          <a:custGeom>
            <a:avLst/>
            <a:gdLst/>
            <a:ahLst/>
            <a:cxnLst/>
            <a:rect l="l" t="t" r="r" b="b"/>
            <a:pathLst>
              <a:path w="288290">
                <a:moveTo>
                  <a:pt x="288035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170164" y="5052059"/>
            <a:ext cx="288290" cy="0"/>
          </a:xfrm>
          <a:custGeom>
            <a:avLst/>
            <a:gdLst/>
            <a:ahLst/>
            <a:cxnLst/>
            <a:rect l="l" t="t" r="r" b="b"/>
            <a:pathLst>
              <a:path w="288290">
                <a:moveTo>
                  <a:pt x="288035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602980" y="4907279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314943" y="4690871"/>
            <a:ext cx="433070" cy="429895"/>
          </a:xfrm>
          <a:custGeom>
            <a:avLst/>
            <a:gdLst/>
            <a:ahLst/>
            <a:cxnLst/>
            <a:rect l="l" t="t" r="r" b="b"/>
            <a:pathLst>
              <a:path w="433070" h="429895">
                <a:moveTo>
                  <a:pt x="216407" y="0"/>
                </a:moveTo>
                <a:lnTo>
                  <a:pt x="0" y="0"/>
                </a:lnTo>
                <a:lnTo>
                  <a:pt x="0" y="429767"/>
                </a:lnTo>
                <a:lnTo>
                  <a:pt x="216407" y="429767"/>
                </a:lnTo>
                <a:lnTo>
                  <a:pt x="266024" y="424089"/>
                </a:lnTo>
                <a:lnTo>
                  <a:pt x="311573" y="407916"/>
                </a:lnTo>
                <a:lnTo>
                  <a:pt x="351755" y="382541"/>
                </a:lnTo>
                <a:lnTo>
                  <a:pt x="385269" y="349258"/>
                </a:lnTo>
                <a:lnTo>
                  <a:pt x="410817" y="309358"/>
                </a:lnTo>
                <a:lnTo>
                  <a:pt x="427099" y="264136"/>
                </a:lnTo>
                <a:lnTo>
                  <a:pt x="432815" y="214883"/>
                </a:lnTo>
                <a:lnTo>
                  <a:pt x="427099" y="165631"/>
                </a:lnTo>
                <a:lnTo>
                  <a:pt x="410817" y="120409"/>
                </a:lnTo>
                <a:lnTo>
                  <a:pt x="385269" y="80509"/>
                </a:lnTo>
                <a:lnTo>
                  <a:pt x="351755" y="47226"/>
                </a:lnTo>
                <a:lnTo>
                  <a:pt x="311573" y="21851"/>
                </a:lnTo>
                <a:lnTo>
                  <a:pt x="266024" y="5678"/>
                </a:lnTo>
                <a:lnTo>
                  <a:pt x="2164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314943" y="4690871"/>
            <a:ext cx="433070" cy="429895"/>
          </a:xfrm>
          <a:custGeom>
            <a:avLst/>
            <a:gdLst/>
            <a:ahLst/>
            <a:cxnLst/>
            <a:rect l="l" t="t" r="r" b="b"/>
            <a:pathLst>
              <a:path w="433070" h="429895">
                <a:moveTo>
                  <a:pt x="0" y="0"/>
                </a:moveTo>
                <a:lnTo>
                  <a:pt x="216407" y="0"/>
                </a:lnTo>
                <a:lnTo>
                  <a:pt x="266024" y="5678"/>
                </a:lnTo>
                <a:lnTo>
                  <a:pt x="311573" y="21851"/>
                </a:lnTo>
                <a:lnTo>
                  <a:pt x="351755" y="47226"/>
                </a:lnTo>
                <a:lnTo>
                  <a:pt x="385269" y="80509"/>
                </a:lnTo>
                <a:lnTo>
                  <a:pt x="410817" y="120409"/>
                </a:lnTo>
                <a:lnTo>
                  <a:pt x="427099" y="165631"/>
                </a:lnTo>
                <a:lnTo>
                  <a:pt x="432815" y="214883"/>
                </a:lnTo>
                <a:lnTo>
                  <a:pt x="427099" y="264136"/>
                </a:lnTo>
                <a:lnTo>
                  <a:pt x="410817" y="309358"/>
                </a:lnTo>
                <a:lnTo>
                  <a:pt x="385269" y="349258"/>
                </a:lnTo>
                <a:lnTo>
                  <a:pt x="351755" y="382541"/>
                </a:lnTo>
                <a:lnTo>
                  <a:pt x="311573" y="407916"/>
                </a:lnTo>
                <a:lnTo>
                  <a:pt x="266024" y="424089"/>
                </a:lnTo>
                <a:lnTo>
                  <a:pt x="216407" y="429767"/>
                </a:lnTo>
                <a:lnTo>
                  <a:pt x="0" y="429767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729983" y="3683508"/>
            <a:ext cx="1905" cy="217804"/>
          </a:xfrm>
          <a:custGeom>
            <a:avLst/>
            <a:gdLst/>
            <a:ahLst/>
            <a:cxnLst/>
            <a:rect l="l" t="t" r="r" b="b"/>
            <a:pathLst>
              <a:path w="1904" h="217804">
                <a:moveTo>
                  <a:pt x="762" y="-6095"/>
                </a:moveTo>
                <a:lnTo>
                  <a:pt x="762" y="223647"/>
                </a:lnTo>
              </a:path>
            </a:pathLst>
          </a:custGeom>
          <a:ln w="137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439786" y="4043171"/>
            <a:ext cx="12700" cy="288925"/>
          </a:xfrm>
          <a:custGeom>
            <a:avLst/>
            <a:gdLst/>
            <a:ahLst/>
            <a:cxnLst/>
            <a:rect l="l" t="t" r="r" b="b"/>
            <a:pathLst>
              <a:path w="12700" h="288925">
                <a:moveTo>
                  <a:pt x="11049" y="0"/>
                </a:moveTo>
                <a:lnTo>
                  <a:pt x="0" y="0"/>
                </a:lnTo>
                <a:lnTo>
                  <a:pt x="0" y="142875"/>
                </a:lnTo>
                <a:lnTo>
                  <a:pt x="0" y="288925"/>
                </a:lnTo>
                <a:lnTo>
                  <a:pt x="12573" y="288925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168640" y="4474464"/>
            <a:ext cx="1905" cy="288925"/>
          </a:xfrm>
          <a:custGeom>
            <a:avLst/>
            <a:gdLst/>
            <a:ahLst/>
            <a:cxnLst/>
            <a:rect l="l" t="t" r="r" b="b"/>
            <a:pathLst>
              <a:path w="1904" h="288925">
                <a:moveTo>
                  <a:pt x="825" y="-6095"/>
                </a:moveTo>
                <a:lnTo>
                  <a:pt x="825" y="295020"/>
                </a:lnTo>
              </a:path>
            </a:pathLst>
          </a:custGeom>
          <a:ln w="13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170164" y="4474464"/>
            <a:ext cx="721360" cy="0"/>
          </a:xfrm>
          <a:custGeom>
            <a:avLst/>
            <a:gdLst/>
            <a:ahLst/>
            <a:cxnLst/>
            <a:rect l="l" t="t" r="r" b="b"/>
            <a:pathLst>
              <a:path w="721359">
                <a:moveTo>
                  <a:pt x="0" y="0"/>
                </a:moveTo>
                <a:lnTo>
                  <a:pt x="720851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083808" y="4186428"/>
            <a:ext cx="647700" cy="0"/>
          </a:xfrm>
          <a:custGeom>
            <a:avLst/>
            <a:gdLst/>
            <a:ahLst/>
            <a:cxnLst/>
            <a:rect l="l" t="t" r="r" b="b"/>
            <a:pathLst>
              <a:path w="647700">
                <a:moveTo>
                  <a:pt x="0" y="0"/>
                </a:moveTo>
                <a:lnTo>
                  <a:pt x="647699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083808" y="4617720"/>
            <a:ext cx="1367155" cy="0"/>
          </a:xfrm>
          <a:custGeom>
            <a:avLst/>
            <a:gdLst/>
            <a:ahLst/>
            <a:cxnLst/>
            <a:rect l="l" t="t" r="r" b="b"/>
            <a:pathLst>
              <a:path w="1367154">
                <a:moveTo>
                  <a:pt x="0" y="0"/>
                </a:moveTo>
                <a:lnTo>
                  <a:pt x="1367027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083808" y="5050535"/>
            <a:ext cx="2158365" cy="0"/>
          </a:xfrm>
          <a:custGeom>
            <a:avLst/>
            <a:gdLst/>
            <a:ahLst/>
            <a:cxnLst/>
            <a:rect l="l" t="t" r="r" b="b"/>
            <a:pathLst>
              <a:path w="2158365">
                <a:moveTo>
                  <a:pt x="0" y="0"/>
                </a:moveTo>
                <a:lnTo>
                  <a:pt x="2157984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5515102" y="3670757"/>
            <a:ext cx="7950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81685" algn="l"/>
              </a:tabLst>
            </a:pPr>
            <a:r>
              <a:rPr sz="2000" b="1" spc="185" dirty="0">
                <a:latin typeface="Helvetica"/>
                <a:cs typeface="Helvetica"/>
              </a:rPr>
              <a:t>1</a:t>
            </a:r>
            <a:r>
              <a:rPr sz="2000" spc="185" dirty="0">
                <a:latin typeface="Arial Unicode MS"/>
                <a:cs typeface="Arial Unicode MS"/>
              </a:rPr>
              <a:t>→</a:t>
            </a:r>
            <a:r>
              <a:rPr sz="2000" b="1" spc="185" dirty="0">
                <a:latin typeface="Helvetica"/>
                <a:cs typeface="Helvetica"/>
              </a:rPr>
              <a:t>1	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515102" y="3977086"/>
            <a:ext cx="560705" cy="11703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000" b="1" dirty="0">
                <a:latin typeface="Helvetica"/>
                <a:cs typeface="Helvetica"/>
              </a:rPr>
              <a:t>1</a:t>
            </a:r>
            <a:r>
              <a:rPr sz="2000" spc="555" dirty="0">
                <a:latin typeface="Arial Unicode MS"/>
                <a:cs typeface="Arial Unicode MS"/>
              </a:rPr>
              <a:t>→</a:t>
            </a:r>
            <a:r>
              <a:rPr sz="2000" b="1" dirty="0">
                <a:latin typeface="Helvetica"/>
                <a:cs typeface="Helvetica"/>
              </a:rPr>
              <a:t>1</a:t>
            </a:r>
            <a:endParaRPr sz="20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000" b="1" dirty="0">
                <a:latin typeface="Helvetica"/>
                <a:cs typeface="Helvetica"/>
              </a:rPr>
              <a:t>1</a:t>
            </a:r>
            <a:r>
              <a:rPr sz="2000" spc="550" dirty="0">
                <a:latin typeface="Arial Unicode MS"/>
                <a:cs typeface="Arial Unicode MS"/>
              </a:rPr>
              <a:t>→</a:t>
            </a:r>
            <a:r>
              <a:rPr sz="2000" b="1" dirty="0">
                <a:latin typeface="Helvetica"/>
                <a:cs typeface="Helvetica"/>
              </a:rPr>
              <a:t>1</a:t>
            </a:r>
            <a:endParaRPr sz="20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2000" b="1" dirty="0">
                <a:latin typeface="Helvetica"/>
                <a:cs typeface="Helvetica"/>
              </a:rPr>
              <a:t>1</a:t>
            </a:r>
            <a:r>
              <a:rPr sz="2000" spc="550" dirty="0">
                <a:latin typeface="Arial Unicode MS"/>
                <a:cs typeface="Arial Unicode MS"/>
              </a:rPr>
              <a:t>→</a:t>
            </a:r>
            <a:r>
              <a:rPr sz="2000" b="1" dirty="0">
                <a:latin typeface="Helvetica"/>
                <a:cs typeface="Helvetica"/>
              </a:rPr>
              <a:t>1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260081" y="3839971"/>
            <a:ext cx="3987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sz="4400">
              <a:latin typeface="Helvetica"/>
              <a:cs typeface="Helvetic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443854" y="1102394"/>
            <a:ext cx="920115" cy="662305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9"/>
              </a:spcBef>
              <a:tabLst>
                <a:tab pos="781050" algn="l"/>
              </a:tabLst>
            </a:pPr>
            <a:r>
              <a:rPr sz="2000" b="1" spc="185" dirty="0">
                <a:latin typeface="Helvetica"/>
                <a:cs typeface="Helvetica"/>
              </a:rPr>
              <a:t>0</a:t>
            </a:r>
            <a:r>
              <a:rPr sz="2000" spc="185" dirty="0">
                <a:latin typeface="Arial Unicode MS"/>
                <a:cs typeface="Arial Unicode MS"/>
              </a:rPr>
              <a:t>→</a:t>
            </a:r>
            <a:r>
              <a:rPr sz="2000" b="1" spc="185" dirty="0">
                <a:latin typeface="Helvetica"/>
                <a:cs typeface="Helvetica"/>
              </a:rPr>
              <a:t>1	</a:t>
            </a:r>
            <a:endParaRPr sz="2000">
              <a:latin typeface="Helvetica"/>
              <a:cs typeface="Helvetica"/>
            </a:endParaRPr>
          </a:p>
          <a:p>
            <a:pPr marR="5080" algn="r">
              <a:lnSpc>
                <a:spcPct val="100000"/>
              </a:lnSpc>
              <a:spcBef>
                <a:spcPts val="300"/>
              </a:spcBef>
            </a:pPr>
            <a:r>
              <a:rPr sz="1600" b="1" spc="-5" dirty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sz="1600">
              <a:latin typeface="Helvetica"/>
              <a:cs typeface="Helvetic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923658" y="1783206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sz="1600">
              <a:latin typeface="Helvetica"/>
              <a:cs typeface="Helvetic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418454" y="2288286"/>
            <a:ext cx="24110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237105" algn="l"/>
              </a:tabLst>
            </a:pPr>
            <a:r>
              <a:rPr sz="2000" b="1" spc="235" dirty="0">
                <a:latin typeface="Helvetica"/>
                <a:cs typeface="Helvetica"/>
              </a:rPr>
              <a:t>1</a:t>
            </a:r>
            <a:r>
              <a:rPr sz="2000" spc="235" dirty="0">
                <a:latin typeface="Arial Unicode MS"/>
                <a:cs typeface="Arial Unicode MS"/>
              </a:rPr>
              <a:t>→</a:t>
            </a:r>
            <a:r>
              <a:rPr sz="2000" b="1" spc="235" dirty="0">
                <a:latin typeface="Helvetica"/>
                <a:cs typeface="Helvetica"/>
              </a:rPr>
              <a:t>1</a:t>
            </a:r>
            <a:r>
              <a:rPr sz="3000" b="1" u="sng" spc="352" baseline="11111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Helvetica"/>
                <a:cs typeface="Helvetica"/>
              </a:rPr>
              <a:t> </a:t>
            </a:r>
            <a:r>
              <a:rPr lang="en-US" sz="3000" b="1" u="sng" spc="352" baseline="11111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Helvetica"/>
                <a:cs typeface="Helvetica"/>
              </a:rPr>
              <a:t>________</a:t>
            </a:r>
            <a:r>
              <a:rPr lang="en-US" sz="3000" b="1" spc="352" baseline="11111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Helvetica"/>
                <a:cs typeface="Helvetica"/>
              </a:rPr>
              <a:t>  </a:t>
            </a:r>
            <a:r>
              <a:rPr sz="2400" b="1" spc="-7" baseline="13888" dirty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sz="2400" baseline="13888" dirty="0">
              <a:latin typeface="Helvetica"/>
              <a:cs typeface="Helvetic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418454" y="2728087"/>
            <a:ext cx="3131820" cy="8342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957830" algn="l"/>
              </a:tabLst>
            </a:pPr>
            <a:r>
              <a:rPr sz="2000" b="1" spc="235" dirty="0">
                <a:latin typeface="Helvetica"/>
                <a:cs typeface="Helvetica"/>
              </a:rPr>
              <a:t>1</a:t>
            </a:r>
            <a:r>
              <a:rPr sz="2000" spc="235" dirty="0">
                <a:latin typeface="Arial Unicode MS"/>
                <a:cs typeface="Arial Unicode MS"/>
              </a:rPr>
              <a:t>→</a:t>
            </a:r>
            <a:r>
              <a:rPr sz="2000" b="1" spc="235" dirty="0">
                <a:latin typeface="Helvetica"/>
                <a:cs typeface="Helvetica"/>
              </a:rPr>
              <a:t>1</a:t>
            </a:r>
            <a:r>
              <a:rPr sz="3000" b="1" u="sng" spc="352" baseline="18055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Helvetica"/>
                <a:cs typeface="Helvetica"/>
              </a:rPr>
              <a:t> </a:t>
            </a:r>
            <a:r>
              <a:rPr lang="en-US" sz="3000" b="1" u="sng" spc="352" baseline="18055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Helvetica"/>
                <a:cs typeface="Helvetica"/>
              </a:rPr>
              <a:t>____________  </a:t>
            </a:r>
            <a:r>
              <a:rPr sz="2400" b="1" spc="-7" baseline="22569" dirty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sz="2400" baseline="22569" dirty="0">
              <a:latin typeface="Helvetica"/>
              <a:cs typeface="Helvetica"/>
            </a:endParaRPr>
          </a:p>
          <a:p>
            <a:pPr marL="109220">
              <a:lnSpc>
                <a:spcPct val="100000"/>
              </a:lnSpc>
              <a:spcBef>
                <a:spcPts val="1625"/>
              </a:spcBef>
              <a:tabLst>
                <a:tab pos="878205" algn="l"/>
              </a:tabLst>
            </a:pPr>
            <a:r>
              <a:rPr sz="2000" b="1" spc="185" dirty="0">
                <a:latin typeface="Helvetica"/>
                <a:cs typeface="Helvetica"/>
              </a:rPr>
              <a:t>0</a:t>
            </a:r>
            <a:r>
              <a:rPr sz="2000" spc="185" dirty="0">
                <a:latin typeface="Arial Unicode MS"/>
                <a:cs typeface="Arial Unicode MS"/>
              </a:rPr>
              <a:t>→</a:t>
            </a:r>
            <a:r>
              <a:rPr sz="2000" b="1" spc="185" dirty="0">
                <a:latin typeface="Helvetica"/>
                <a:cs typeface="Helvetica"/>
              </a:rPr>
              <a:t>1	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888482" y="5719673"/>
            <a:ext cx="22301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Lumped</a:t>
            </a:r>
            <a:endParaRPr sz="240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Large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fault</a:t>
            </a:r>
            <a:r>
              <a:rPr sz="2400" b="1" spc="-7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size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117091" y="5719673"/>
            <a:ext cx="1622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Distr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i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buted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117091" y="6085433"/>
            <a:ext cx="2212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Small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fault</a:t>
            </a:r>
            <a:r>
              <a:rPr sz="2400" b="1" spc="-6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size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200145" y="5471871"/>
            <a:ext cx="621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Helvetica"/>
                <a:cs typeface="Helvetica"/>
              </a:rPr>
              <a:t>PDF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157215" y="5471871"/>
            <a:ext cx="604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Helvetica"/>
                <a:cs typeface="Helvetica"/>
              </a:rPr>
              <a:t>T</a:t>
            </a:r>
            <a:r>
              <a:rPr sz="2400" b="1" spc="-15" dirty="0">
                <a:latin typeface="Helvetica"/>
                <a:cs typeface="Helvetica"/>
              </a:rPr>
              <a:t>D</a:t>
            </a:r>
            <a:r>
              <a:rPr sz="2400" b="1" dirty="0">
                <a:latin typeface="Helvetica"/>
                <a:cs typeface="Helvetica"/>
              </a:rPr>
              <a:t>F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3717035" y="6060947"/>
            <a:ext cx="1510665" cy="425450"/>
          </a:xfrm>
          <a:custGeom>
            <a:avLst/>
            <a:gdLst/>
            <a:ahLst/>
            <a:cxnLst/>
            <a:rect l="l" t="t" r="r" b="b"/>
            <a:pathLst>
              <a:path w="1510664" h="425450">
                <a:moveTo>
                  <a:pt x="212471" y="0"/>
                </a:moveTo>
                <a:lnTo>
                  <a:pt x="0" y="212597"/>
                </a:lnTo>
                <a:lnTo>
                  <a:pt x="212471" y="425195"/>
                </a:lnTo>
                <a:lnTo>
                  <a:pt x="212471" y="318896"/>
                </a:lnTo>
                <a:lnTo>
                  <a:pt x="1404048" y="318896"/>
                </a:lnTo>
                <a:lnTo>
                  <a:pt x="1510284" y="212597"/>
                </a:lnTo>
                <a:lnTo>
                  <a:pt x="1404048" y="106298"/>
                </a:lnTo>
                <a:lnTo>
                  <a:pt x="212471" y="106298"/>
                </a:lnTo>
                <a:lnTo>
                  <a:pt x="212471" y="0"/>
                </a:lnTo>
                <a:close/>
              </a:path>
              <a:path w="1510664" h="425450">
                <a:moveTo>
                  <a:pt x="1404048" y="318896"/>
                </a:moveTo>
                <a:lnTo>
                  <a:pt x="1297813" y="318896"/>
                </a:lnTo>
                <a:lnTo>
                  <a:pt x="1297813" y="425195"/>
                </a:lnTo>
                <a:lnTo>
                  <a:pt x="1404048" y="318896"/>
                </a:lnTo>
                <a:close/>
              </a:path>
              <a:path w="1510664" h="425450">
                <a:moveTo>
                  <a:pt x="1297813" y="0"/>
                </a:moveTo>
                <a:lnTo>
                  <a:pt x="1297813" y="106298"/>
                </a:lnTo>
                <a:lnTo>
                  <a:pt x="1404048" y="106298"/>
                </a:lnTo>
                <a:lnTo>
                  <a:pt x="129781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973074" y="5484114"/>
            <a:ext cx="7252970" cy="1041400"/>
          </a:xfrm>
          <a:custGeom>
            <a:avLst/>
            <a:gdLst/>
            <a:ahLst/>
            <a:cxnLst/>
            <a:rect l="l" t="t" r="r" b="b"/>
            <a:pathLst>
              <a:path w="7252970" h="1041400">
                <a:moveTo>
                  <a:pt x="0" y="1040892"/>
                </a:moveTo>
                <a:lnTo>
                  <a:pt x="7252716" y="1040892"/>
                </a:lnTo>
                <a:lnTo>
                  <a:pt x="7252716" y="0"/>
                </a:lnTo>
                <a:lnTo>
                  <a:pt x="0" y="0"/>
                </a:lnTo>
                <a:lnTo>
                  <a:pt x="0" y="1040892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  <p:sp>
        <p:nvSpPr>
          <p:cNvPr id="20" name="object 20"/>
          <p:cNvSpPr/>
          <p:nvPr/>
        </p:nvSpPr>
        <p:spPr>
          <a:xfrm>
            <a:off x="8243316" y="2602992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0"/>
                </a:moveTo>
                <a:lnTo>
                  <a:pt x="216407" y="0"/>
                </a:lnTo>
                <a:lnTo>
                  <a:pt x="266024" y="5693"/>
                </a:lnTo>
                <a:lnTo>
                  <a:pt x="311573" y="21913"/>
                </a:lnTo>
                <a:lnTo>
                  <a:pt x="351755" y="47366"/>
                </a:lnTo>
                <a:lnTo>
                  <a:pt x="385269" y="80758"/>
                </a:lnTo>
                <a:lnTo>
                  <a:pt x="410817" y="120798"/>
                </a:lnTo>
                <a:lnTo>
                  <a:pt x="427099" y="166191"/>
                </a:lnTo>
                <a:lnTo>
                  <a:pt x="432815" y="215646"/>
                </a:lnTo>
                <a:lnTo>
                  <a:pt x="427099" y="265100"/>
                </a:lnTo>
                <a:lnTo>
                  <a:pt x="410817" y="310493"/>
                </a:lnTo>
                <a:lnTo>
                  <a:pt x="385269" y="350533"/>
                </a:lnTo>
                <a:lnTo>
                  <a:pt x="351755" y="383925"/>
                </a:lnTo>
                <a:lnTo>
                  <a:pt x="311573" y="409378"/>
                </a:lnTo>
                <a:lnTo>
                  <a:pt x="266024" y="425598"/>
                </a:lnTo>
                <a:lnTo>
                  <a:pt x="216407" y="431292"/>
                </a:lnTo>
                <a:lnTo>
                  <a:pt x="0" y="431292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687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2771" y="164414"/>
            <a:ext cx="698682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Test</a:t>
            </a:r>
            <a:r>
              <a:rPr dirty="0"/>
              <a:t> Patterns for </a:t>
            </a:r>
            <a:r>
              <a:rPr lang="en-US" dirty="0"/>
              <a:t>Delay Faults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634740" y="4602479"/>
            <a:ext cx="460375" cy="0"/>
          </a:xfrm>
          <a:custGeom>
            <a:avLst/>
            <a:gdLst/>
            <a:ahLst/>
            <a:cxnLst/>
            <a:rect l="l" t="t" r="r" b="b"/>
            <a:pathLst>
              <a:path w="460375">
                <a:moveTo>
                  <a:pt x="460248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25111" y="4361688"/>
            <a:ext cx="459105" cy="0"/>
          </a:xfrm>
          <a:custGeom>
            <a:avLst/>
            <a:gdLst/>
            <a:ahLst/>
            <a:cxnLst/>
            <a:rect l="l" t="t" r="r" b="b"/>
            <a:pathLst>
              <a:path w="459104">
                <a:moveTo>
                  <a:pt x="458724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63340" y="4002023"/>
            <a:ext cx="692150" cy="719455"/>
          </a:xfrm>
          <a:custGeom>
            <a:avLst/>
            <a:gdLst/>
            <a:ahLst/>
            <a:cxnLst/>
            <a:rect l="l" t="t" r="r" b="b"/>
            <a:pathLst>
              <a:path w="692150" h="719454">
                <a:moveTo>
                  <a:pt x="0" y="0"/>
                </a:moveTo>
                <a:lnTo>
                  <a:pt x="26007" y="44000"/>
                </a:lnTo>
                <a:lnTo>
                  <a:pt x="48547" y="88384"/>
                </a:lnTo>
                <a:lnTo>
                  <a:pt x="67620" y="133096"/>
                </a:lnTo>
                <a:lnTo>
                  <a:pt x="83239" y="178138"/>
                </a:lnTo>
                <a:lnTo>
                  <a:pt x="95361" y="223285"/>
                </a:lnTo>
                <a:lnTo>
                  <a:pt x="104030" y="268654"/>
                </a:lnTo>
                <a:lnTo>
                  <a:pt x="109232" y="314131"/>
                </a:lnTo>
                <a:lnTo>
                  <a:pt x="110966" y="359664"/>
                </a:lnTo>
                <a:lnTo>
                  <a:pt x="109232" y="405196"/>
                </a:lnTo>
                <a:lnTo>
                  <a:pt x="104030" y="450673"/>
                </a:lnTo>
                <a:lnTo>
                  <a:pt x="95361" y="496042"/>
                </a:lnTo>
                <a:lnTo>
                  <a:pt x="83224" y="541246"/>
                </a:lnTo>
                <a:lnTo>
                  <a:pt x="67620" y="586231"/>
                </a:lnTo>
                <a:lnTo>
                  <a:pt x="48547" y="630943"/>
                </a:lnTo>
                <a:lnTo>
                  <a:pt x="26007" y="675327"/>
                </a:lnTo>
                <a:lnTo>
                  <a:pt x="0" y="719327"/>
                </a:lnTo>
                <a:lnTo>
                  <a:pt x="62979" y="717858"/>
                </a:lnTo>
                <a:lnTo>
                  <a:pt x="124374" y="713533"/>
                </a:lnTo>
                <a:lnTo>
                  <a:pt x="183940" y="706479"/>
                </a:lnTo>
                <a:lnTo>
                  <a:pt x="241432" y="696825"/>
                </a:lnTo>
                <a:lnTo>
                  <a:pt x="296608" y="684696"/>
                </a:lnTo>
                <a:lnTo>
                  <a:pt x="349221" y="670221"/>
                </a:lnTo>
                <a:lnTo>
                  <a:pt x="399029" y="653525"/>
                </a:lnTo>
                <a:lnTo>
                  <a:pt x="445787" y="634736"/>
                </a:lnTo>
                <a:lnTo>
                  <a:pt x="489251" y="613981"/>
                </a:lnTo>
                <a:lnTo>
                  <a:pt x="529177" y="591387"/>
                </a:lnTo>
                <a:lnTo>
                  <a:pt x="565320" y="567080"/>
                </a:lnTo>
                <a:lnTo>
                  <a:pt x="597436" y="541189"/>
                </a:lnTo>
                <a:lnTo>
                  <a:pt x="625281" y="513839"/>
                </a:lnTo>
                <a:lnTo>
                  <a:pt x="667182" y="455273"/>
                </a:lnTo>
                <a:lnTo>
                  <a:pt x="689068" y="392399"/>
                </a:lnTo>
                <a:lnTo>
                  <a:pt x="691896" y="359664"/>
                </a:lnTo>
                <a:lnTo>
                  <a:pt x="689068" y="326928"/>
                </a:lnTo>
                <a:lnTo>
                  <a:pt x="667182" y="264054"/>
                </a:lnTo>
                <a:lnTo>
                  <a:pt x="625281" y="205488"/>
                </a:lnTo>
                <a:lnTo>
                  <a:pt x="597365" y="178081"/>
                </a:lnTo>
                <a:lnTo>
                  <a:pt x="565320" y="152247"/>
                </a:lnTo>
                <a:lnTo>
                  <a:pt x="529177" y="127940"/>
                </a:lnTo>
                <a:lnTo>
                  <a:pt x="489251" y="105346"/>
                </a:lnTo>
                <a:lnTo>
                  <a:pt x="445787" y="84591"/>
                </a:lnTo>
                <a:lnTo>
                  <a:pt x="399029" y="65802"/>
                </a:lnTo>
                <a:lnTo>
                  <a:pt x="349221" y="49106"/>
                </a:lnTo>
                <a:lnTo>
                  <a:pt x="296608" y="34631"/>
                </a:lnTo>
                <a:lnTo>
                  <a:pt x="241432" y="22502"/>
                </a:lnTo>
                <a:lnTo>
                  <a:pt x="183940" y="12848"/>
                </a:lnTo>
                <a:lnTo>
                  <a:pt x="124374" y="5794"/>
                </a:lnTo>
                <a:lnTo>
                  <a:pt x="62979" y="1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63340" y="4002023"/>
            <a:ext cx="692150" cy="719455"/>
          </a:xfrm>
          <a:custGeom>
            <a:avLst/>
            <a:gdLst/>
            <a:ahLst/>
            <a:cxnLst/>
            <a:rect l="l" t="t" r="r" b="b"/>
            <a:pathLst>
              <a:path w="692150" h="719454">
                <a:moveTo>
                  <a:pt x="0" y="719327"/>
                </a:moveTo>
                <a:lnTo>
                  <a:pt x="62979" y="717858"/>
                </a:lnTo>
                <a:lnTo>
                  <a:pt x="124374" y="713533"/>
                </a:lnTo>
                <a:lnTo>
                  <a:pt x="183940" y="706479"/>
                </a:lnTo>
                <a:lnTo>
                  <a:pt x="241432" y="696825"/>
                </a:lnTo>
                <a:lnTo>
                  <a:pt x="296608" y="684696"/>
                </a:lnTo>
                <a:lnTo>
                  <a:pt x="349221" y="670221"/>
                </a:lnTo>
                <a:lnTo>
                  <a:pt x="399029" y="653525"/>
                </a:lnTo>
                <a:lnTo>
                  <a:pt x="445787" y="634736"/>
                </a:lnTo>
                <a:lnTo>
                  <a:pt x="489251" y="613981"/>
                </a:lnTo>
                <a:lnTo>
                  <a:pt x="529177" y="591387"/>
                </a:lnTo>
                <a:lnTo>
                  <a:pt x="565320" y="567080"/>
                </a:lnTo>
                <a:lnTo>
                  <a:pt x="597436" y="541189"/>
                </a:lnTo>
                <a:lnTo>
                  <a:pt x="625281" y="513839"/>
                </a:lnTo>
                <a:lnTo>
                  <a:pt x="667182" y="455273"/>
                </a:lnTo>
                <a:lnTo>
                  <a:pt x="689068" y="392399"/>
                </a:lnTo>
                <a:lnTo>
                  <a:pt x="691896" y="359663"/>
                </a:lnTo>
                <a:lnTo>
                  <a:pt x="689068" y="326928"/>
                </a:lnTo>
                <a:lnTo>
                  <a:pt x="667182" y="264054"/>
                </a:lnTo>
                <a:lnTo>
                  <a:pt x="625281" y="205488"/>
                </a:lnTo>
                <a:lnTo>
                  <a:pt x="597436" y="178138"/>
                </a:lnTo>
                <a:lnTo>
                  <a:pt x="565320" y="152247"/>
                </a:lnTo>
                <a:lnTo>
                  <a:pt x="529177" y="127940"/>
                </a:lnTo>
                <a:lnTo>
                  <a:pt x="489251" y="105346"/>
                </a:lnTo>
                <a:lnTo>
                  <a:pt x="445787" y="84591"/>
                </a:lnTo>
                <a:lnTo>
                  <a:pt x="399029" y="65802"/>
                </a:lnTo>
                <a:lnTo>
                  <a:pt x="349221" y="49106"/>
                </a:lnTo>
                <a:lnTo>
                  <a:pt x="296608" y="34631"/>
                </a:lnTo>
                <a:lnTo>
                  <a:pt x="241432" y="22502"/>
                </a:lnTo>
                <a:lnTo>
                  <a:pt x="183940" y="12848"/>
                </a:lnTo>
                <a:lnTo>
                  <a:pt x="124374" y="5794"/>
                </a:lnTo>
                <a:lnTo>
                  <a:pt x="62979" y="1469"/>
                </a:lnTo>
                <a:lnTo>
                  <a:pt x="0" y="0"/>
                </a:lnTo>
                <a:lnTo>
                  <a:pt x="26007" y="44000"/>
                </a:lnTo>
                <a:lnTo>
                  <a:pt x="48547" y="88384"/>
                </a:lnTo>
                <a:lnTo>
                  <a:pt x="67620" y="133096"/>
                </a:lnTo>
                <a:lnTo>
                  <a:pt x="83224" y="178081"/>
                </a:lnTo>
                <a:lnTo>
                  <a:pt x="95361" y="223285"/>
                </a:lnTo>
                <a:lnTo>
                  <a:pt x="104030" y="268654"/>
                </a:lnTo>
                <a:lnTo>
                  <a:pt x="109232" y="314131"/>
                </a:lnTo>
                <a:lnTo>
                  <a:pt x="110966" y="359664"/>
                </a:lnTo>
                <a:lnTo>
                  <a:pt x="109232" y="405196"/>
                </a:lnTo>
                <a:lnTo>
                  <a:pt x="104030" y="450673"/>
                </a:lnTo>
                <a:lnTo>
                  <a:pt x="95361" y="496042"/>
                </a:lnTo>
                <a:lnTo>
                  <a:pt x="83224" y="541246"/>
                </a:lnTo>
                <a:lnTo>
                  <a:pt x="67620" y="586231"/>
                </a:lnTo>
                <a:lnTo>
                  <a:pt x="48547" y="630943"/>
                </a:lnTo>
                <a:lnTo>
                  <a:pt x="26007" y="675327"/>
                </a:lnTo>
                <a:lnTo>
                  <a:pt x="0" y="71932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30220" y="43666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56460" y="5228844"/>
            <a:ext cx="937260" cy="462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000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315"/>
              </a:spcBef>
            </a:pPr>
            <a:r>
              <a:rPr sz="2400" b="1" spc="-5" dirty="0">
                <a:solidFill>
                  <a:srgbClr val="FFFFFF"/>
                </a:solidFill>
                <a:latin typeface="Helvetica"/>
                <a:cs typeface="Helvetica"/>
              </a:rPr>
              <a:t>V</a:t>
            </a:r>
            <a:r>
              <a:rPr sz="2400" b="1" spc="-7" baseline="-20833" dirty="0">
                <a:solidFill>
                  <a:srgbClr val="FFFFFF"/>
                </a:solidFill>
                <a:latin typeface="Helvetica"/>
                <a:cs typeface="Helvetica"/>
              </a:rPr>
              <a:t>1</a:t>
            </a:r>
            <a:endParaRPr sz="2400" baseline="-20833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93720" y="5228844"/>
            <a:ext cx="516890" cy="46228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4000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315"/>
              </a:spcBef>
            </a:pPr>
            <a:r>
              <a:rPr sz="2400" b="1" spc="-5" dirty="0">
                <a:solidFill>
                  <a:srgbClr val="FFFFFF"/>
                </a:solidFill>
                <a:latin typeface="Helvetica"/>
                <a:cs typeface="Helvetica"/>
              </a:rPr>
              <a:t>V</a:t>
            </a:r>
            <a:r>
              <a:rPr sz="2400" b="1" spc="-7" baseline="-20833" dirty="0">
                <a:solidFill>
                  <a:srgbClr val="FFFFFF"/>
                </a:solidFill>
                <a:latin typeface="Helvetica"/>
                <a:cs typeface="Helvetica"/>
              </a:rPr>
              <a:t>2</a:t>
            </a:r>
            <a:endParaRPr sz="2400" baseline="-20833">
              <a:latin typeface="Helvetica"/>
              <a:cs typeface="Helvetic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52066" y="4339590"/>
            <a:ext cx="1381125" cy="402590"/>
          </a:xfrm>
          <a:custGeom>
            <a:avLst/>
            <a:gdLst/>
            <a:ahLst/>
            <a:cxnLst/>
            <a:rect l="l" t="t" r="r" b="b"/>
            <a:pathLst>
              <a:path w="1381125" h="402589">
                <a:moveTo>
                  <a:pt x="0" y="402336"/>
                </a:moveTo>
                <a:lnTo>
                  <a:pt x="913257" y="402336"/>
                </a:lnTo>
                <a:lnTo>
                  <a:pt x="1065402" y="0"/>
                </a:lnTo>
                <a:lnTo>
                  <a:pt x="1380744" y="0"/>
                </a:lnTo>
              </a:path>
            </a:pathLst>
          </a:custGeom>
          <a:ln w="28956">
            <a:solidFill>
              <a:srgbClr val="FF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95754" y="3832224"/>
            <a:ext cx="199936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7040" algn="l"/>
                <a:tab pos="1089660" algn="l"/>
                <a:tab pos="1395095" algn="l"/>
                <a:tab pos="1538605" algn="l"/>
                <a:tab pos="2058670" algn="l"/>
              </a:tabLst>
            </a:pPr>
            <a:r>
              <a:rPr sz="1800" b="1" u="heavy" dirty="0">
                <a:uFill>
                  <a:solidFill>
                    <a:srgbClr val="FF8000"/>
                  </a:solidFill>
                </a:uFill>
                <a:latin typeface="Arial"/>
                <a:cs typeface="Arial"/>
              </a:rPr>
              <a:t> 	</a:t>
            </a:r>
            <a:r>
              <a:rPr sz="1800" b="1" u="heavy" spc="-5" dirty="0">
                <a:uFill>
                  <a:solidFill>
                    <a:srgbClr val="FF8000"/>
                  </a:solidFill>
                </a:uFill>
                <a:latin typeface="Arial"/>
                <a:cs typeface="Arial"/>
              </a:rPr>
              <a:t>0	0	</a:t>
            </a:r>
            <a:r>
              <a:rPr sz="1800" b="1" spc="-5" dirty="0">
                <a:latin typeface="Arial"/>
                <a:cs typeface="Arial"/>
              </a:rPr>
              <a:t>	</a:t>
            </a:r>
            <a:r>
              <a:rPr sz="18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US" sz="1800" u="sng" spc="-5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---</a:t>
            </a:r>
            <a:endParaRPr sz="1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70047" y="440626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92752" y="5228844"/>
            <a:ext cx="939165" cy="462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0005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315"/>
              </a:spcBef>
            </a:pPr>
            <a:r>
              <a:rPr sz="2400" b="1" spc="-5" dirty="0">
                <a:solidFill>
                  <a:srgbClr val="FFFFFF"/>
                </a:solidFill>
                <a:latin typeface="Helvetica"/>
                <a:cs typeface="Helvetica"/>
              </a:rPr>
              <a:t>V</a:t>
            </a:r>
            <a:r>
              <a:rPr sz="2400" b="1" spc="-7" baseline="-20833" dirty="0">
                <a:solidFill>
                  <a:srgbClr val="FFFFFF"/>
                </a:solidFill>
                <a:latin typeface="Helvetica"/>
                <a:cs typeface="Helvetica"/>
              </a:rPr>
              <a:t>1</a:t>
            </a:r>
            <a:endParaRPr sz="2400" baseline="-20833">
              <a:latin typeface="Helvetica"/>
              <a:cs typeface="Helvetic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36058" y="4295394"/>
            <a:ext cx="1598930" cy="401320"/>
          </a:xfrm>
          <a:custGeom>
            <a:avLst/>
            <a:gdLst/>
            <a:ahLst/>
            <a:cxnLst/>
            <a:rect l="l" t="t" r="r" b="b"/>
            <a:pathLst>
              <a:path w="1598929" h="401320">
                <a:moveTo>
                  <a:pt x="0" y="400811"/>
                </a:moveTo>
                <a:lnTo>
                  <a:pt x="1057402" y="400811"/>
                </a:lnTo>
                <a:lnTo>
                  <a:pt x="1233677" y="0"/>
                </a:lnTo>
                <a:lnTo>
                  <a:pt x="1598675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455920" y="5228844"/>
            <a:ext cx="508000" cy="46228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4000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15"/>
              </a:spcBef>
            </a:pPr>
            <a:r>
              <a:rPr sz="2400" b="1" spc="-5" dirty="0">
                <a:solidFill>
                  <a:srgbClr val="FFFFFF"/>
                </a:solidFill>
                <a:latin typeface="Helvetica"/>
                <a:cs typeface="Helvetica"/>
              </a:rPr>
              <a:t>V</a:t>
            </a:r>
            <a:r>
              <a:rPr sz="2400" b="1" spc="-7" baseline="-20833" dirty="0">
                <a:solidFill>
                  <a:srgbClr val="FFFFFF"/>
                </a:solidFill>
                <a:latin typeface="Helvetica"/>
                <a:cs typeface="Helvetica"/>
              </a:rPr>
              <a:t>2</a:t>
            </a:r>
            <a:endParaRPr sz="2400" baseline="-20833">
              <a:latin typeface="Helvetica"/>
              <a:cs typeface="Helvetic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432171" y="3935603"/>
            <a:ext cx="556260" cy="134620"/>
          </a:xfrm>
          <a:custGeom>
            <a:avLst/>
            <a:gdLst/>
            <a:ahLst/>
            <a:cxnLst/>
            <a:rect l="l" t="t" r="r" b="b"/>
            <a:pathLst>
              <a:path w="556260" h="134620">
                <a:moveTo>
                  <a:pt x="115315" y="0"/>
                </a:moveTo>
                <a:lnTo>
                  <a:pt x="0" y="67183"/>
                </a:lnTo>
                <a:lnTo>
                  <a:pt x="115315" y="134366"/>
                </a:lnTo>
                <a:lnTo>
                  <a:pt x="124078" y="132080"/>
                </a:lnTo>
                <a:lnTo>
                  <a:pt x="128142" y="125095"/>
                </a:lnTo>
                <a:lnTo>
                  <a:pt x="132206" y="118237"/>
                </a:lnTo>
                <a:lnTo>
                  <a:pt x="129920" y="109347"/>
                </a:lnTo>
                <a:lnTo>
                  <a:pt x="122936" y="105410"/>
                </a:lnTo>
                <a:lnTo>
                  <a:pt x="82223" y="81661"/>
                </a:lnTo>
                <a:lnTo>
                  <a:pt x="28828" y="81661"/>
                </a:lnTo>
                <a:lnTo>
                  <a:pt x="28828" y="52705"/>
                </a:lnTo>
                <a:lnTo>
                  <a:pt x="82223" y="52705"/>
                </a:lnTo>
                <a:lnTo>
                  <a:pt x="122936" y="28956"/>
                </a:lnTo>
                <a:lnTo>
                  <a:pt x="129920" y="25019"/>
                </a:lnTo>
                <a:lnTo>
                  <a:pt x="132206" y="16129"/>
                </a:lnTo>
                <a:lnTo>
                  <a:pt x="128142" y="9271"/>
                </a:lnTo>
                <a:lnTo>
                  <a:pt x="124078" y="2286"/>
                </a:lnTo>
                <a:lnTo>
                  <a:pt x="115315" y="0"/>
                </a:lnTo>
                <a:close/>
              </a:path>
              <a:path w="556260" h="134620">
                <a:moveTo>
                  <a:pt x="498475" y="67183"/>
                </a:moveTo>
                <a:lnTo>
                  <a:pt x="432942" y="105410"/>
                </a:lnTo>
                <a:lnTo>
                  <a:pt x="425957" y="109347"/>
                </a:lnTo>
                <a:lnTo>
                  <a:pt x="423671" y="118237"/>
                </a:lnTo>
                <a:lnTo>
                  <a:pt x="427736" y="125095"/>
                </a:lnTo>
                <a:lnTo>
                  <a:pt x="431800" y="132080"/>
                </a:lnTo>
                <a:lnTo>
                  <a:pt x="440563" y="134366"/>
                </a:lnTo>
                <a:lnTo>
                  <a:pt x="531028" y="81661"/>
                </a:lnTo>
                <a:lnTo>
                  <a:pt x="527050" y="81661"/>
                </a:lnTo>
                <a:lnTo>
                  <a:pt x="527050" y="79629"/>
                </a:lnTo>
                <a:lnTo>
                  <a:pt x="519811" y="79629"/>
                </a:lnTo>
                <a:lnTo>
                  <a:pt x="498475" y="67183"/>
                </a:lnTo>
                <a:close/>
              </a:path>
              <a:path w="556260" h="134620">
                <a:moveTo>
                  <a:pt x="82223" y="52705"/>
                </a:moveTo>
                <a:lnTo>
                  <a:pt x="28828" y="52705"/>
                </a:lnTo>
                <a:lnTo>
                  <a:pt x="28828" y="81661"/>
                </a:lnTo>
                <a:lnTo>
                  <a:pt x="82223" y="81661"/>
                </a:lnTo>
                <a:lnTo>
                  <a:pt x="78739" y="79629"/>
                </a:lnTo>
                <a:lnTo>
                  <a:pt x="36067" y="79629"/>
                </a:lnTo>
                <a:lnTo>
                  <a:pt x="36067" y="54737"/>
                </a:lnTo>
                <a:lnTo>
                  <a:pt x="78739" y="54737"/>
                </a:lnTo>
                <a:lnTo>
                  <a:pt x="82223" y="52705"/>
                </a:lnTo>
                <a:close/>
              </a:path>
              <a:path w="556260" h="134620">
                <a:moveTo>
                  <a:pt x="473655" y="52705"/>
                </a:moveTo>
                <a:lnTo>
                  <a:pt x="82223" y="52705"/>
                </a:lnTo>
                <a:lnTo>
                  <a:pt x="57403" y="67183"/>
                </a:lnTo>
                <a:lnTo>
                  <a:pt x="82223" y="81661"/>
                </a:lnTo>
                <a:lnTo>
                  <a:pt x="473655" y="81661"/>
                </a:lnTo>
                <a:lnTo>
                  <a:pt x="498475" y="67183"/>
                </a:lnTo>
                <a:lnTo>
                  <a:pt x="473655" y="52705"/>
                </a:lnTo>
                <a:close/>
              </a:path>
              <a:path w="556260" h="134620">
                <a:moveTo>
                  <a:pt x="531030" y="52705"/>
                </a:moveTo>
                <a:lnTo>
                  <a:pt x="527050" y="52705"/>
                </a:lnTo>
                <a:lnTo>
                  <a:pt x="527050" y="81661"/>
                </a:lnTo>
                <a:lnTo>
                  <a:pt x="531028" y="81661"/>
                </a:lnTo>
                <a:lnTo>
                  <a:pt x="555878" y="67183"/>
                </a:lnTo>
                <a:lnTo>
                  <a:pt x="531030" y="52705"/>
                </a:lnTo>
                <a:close/>
              </a:path>
              <a:path w="556260" h="134620">
                <a:moveTo>
                  <a:pt x="36067" y="54737"/>
                </a:moveTo>
                <a:lnTo>
                  <a:pt x="36067" y="79629"/>
                </a:lnTo>
                <a:lnTo>
                  <a:pt x="57403" y="67183"/>
                </a:lnTo>
                <a:lnTo>
                  <a:pt x="36067" y="54737"/>
                </a:lnTo>
                <a:close/>
              </a:path>
              <a:path w="556260" h="134620">
                <a:moveTo>
                  <a:pt x="57403" y="67183"/>
                </a:moveTo>
                <a:lnTo>
                  <a:pt x="36067" y="79629"/>
                </a:lnTo>
                <a:lnTo>
                  <a:pt x="78739" y="79629"/>
                </a:lnTo>
                <a:lnTo>
                  <a:pt x="57403" y="67183"/>
                </a:lnTo>
                <a:close/>
              </a:path>
              <a:path w="556260" h="134620">
                <a:moveTo>
                  <a:pt x="519811" y="54737"/>
                </a:moveTo>
                <a:lnTo>
                  <a:pt x="498475" y="67183"/>
                </a:lnTo>
                <a:lnTo>
                  <a:pt x="519811" y="79629"/>
                </a:lnTo>
                <a:lnTo>
                  <a:pt x="519811" y="54737"/>
                </a:lnTo>
                <a:close/>
              </a:path>
              <a:path w="556260" h="134620">
                <a:moveTo>
                  <a:pt x="527050" y="54737"/>
                </a:moveTo>
                <a:lnTo>
                  <a:pt x="519811" y="54737"/>
                </a:lnTo>
                <a:lnTo>
                  <a:pt x="519811" y="79629"/>
                </a:lnTo>
                <a:lnTo>
                  <a:pt x="527050" y="79629"/>
                </a:lnTo>
                <a:lnTo>
                  <a:pt x="527050" y="54737"/>
                </a:lnTo>
                <a:close/>
              </a:path>
              <a:path w="556260" h="134620">
                <a:moveTo>
                  <a:pt x="78739" y="54737"/>
                </a:moveTo>
                <a:lnTo>
                  <a:pt x="36067" y="54737"/>
                </a:lnTo>
                <a:lnTo>
                  <a:pt x="57403" y="67183"/>
                </a:lnTo>
                <a:lnTo>
                  <a:pt x="78739" y="54737"/>
                </a:lnTo>
                <a:close/>
              </a:path>
              <a:path w="556260" h="134620">
                <a:moveTo>
                  <a:pt x="440563" y="0"/>
                </a:moveTo>
                <a:lnTo>
                  <a:pt x="431800" y="2286"/>
                </a:lnTo>
                <a:lnTo>
                  <a:pt x="427736" y="9271"/>
                </a:lnTo>
                <a:lnTo>
                  <a:pt x="423671" y="16129"/>
                </a:lnTo>
                <a:lnTo>
                  <a:pt x="425957" y="25019"/>
                </a:lnTo>
                <a:lnTo>
                  <a:pt x="432942" y="28956"/>
                </a:lnTo>
                <a:lnTo>
                  <a:pt x="498475" y="67183"/>
                </a:lnTo>
                <a:lnTo>
                  <a:pt x="519811" y="54737"/>
                </a:lnTo>
                <a:lnTo>
                  <a:pt x="527050" y="54737"/>
                </a:lnTo>
                <a:lnTo>
                  <a:pt x="527050" y="52705"/>
                </a:lnTo>
                <a:lnTo>
                  <a:pt x="531030" y="52705"/>
                </a:lnTo>
                <a:lnTo>
                  <a:pt x="44056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446014" y="3646170"/>
            <a:ext cx="0" cy="2091055"/>
          </a:xfrm>
          <a:custGeom>
            <a:avLst/>
            <a:gdLst/>
            <a:ahLst/>
            <a:cxnLst/>
            <a:rect l="l" t="t" r="r" b="b"/>
            <a:pathLst>
              <a:path h="2091054">
                <a:moveTo>
                  <a:pt x="0" y="0"/>
                </a:moveTo>
                <a:lnTo>
                  <a:pt x="0" y="2090737"/>
                </a:lnTo>
              </a:path>
            </a:pathLst>
          </a:custGeom>
          <a:ln w="19812">
            <a:solidFill>
              <a:srgbClr val="0000F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973317" y="3646170"/>
            <a:ext cx="0" cy="2091055"/>
          </a:xfrm>
          <a:custGeom>
            <a:avLst/>
            <a:gdLst/>
            <a:ahLst/>
            <a:cxnLst/>
            <a:rect l="l" t="t" r="r" b="b"/>
            <a:pathLst>
              <a:path h="2091054">
                <a:moveTo>
                  <a:pt x="0" y="0"/>
                </a:moveTo>
                <a:lnTo>
                  <a:pt x="0" y="2090737"/>
                </a:lnTo>
              </a:path>
            </a:pathLst>
          </a:custGeom>
          <a:ln w="19812">
            <a:solidFill>
              <a:srgbClr val="0000F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04825" y="900785"/>
            <a:ext cx="8297545" cy="3449662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2000" b="1" dirty="0">
                <a:latin typeface="Arial"/>
                <a:cs typeface="Arial"/>
              </a:rPr>
              <a:t>Delay faults need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two-pattern</a:t>
            </a:r>
            <a:r>
              <a:rPr sz="2000" b="1" i="1" spc="-13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test</a:t>
            </a:r>
            <a:endParaRPr sz="2000" dirty="0">
              <a:latin typeface="Arial-BoldItalicMT"/>
              <a:cs typeface="Arial-BoldItalicMT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</a:tabLst>
            </a:pPr>
            <a:r>
              <a:rPr sz="2000" b="1" dirty="0">
                <a:latin typeface="Arial"/>
                <a:cs typeface="Arial"/>
              </a:rPr>
              <a:t>As opposed to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one-pattern test </a:t>
            </a:r>
            <a:r>
              <a:rPr sz="2000" b="1" dirty="0">
                <a:latin typeface="Arial"/>
                <a:cs typeface="Arial"/>
              </a:rPr>
              <a:t>for stuck-at</a:t>
            </a:r>
            <a:r>
              <a:rPr sz="2000" b="1" spc="-1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faults</a:t>
            </a:r>
            <a:endParaRPr sz="2000" dirty="0">
              <a:latin typeface="Arial"/>
              <a:cs typeface="Arial"/>
            </a:endParaRPr>
          </a:p>
          <a:p>
            <a:pPr marL="3810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2000" b="1" dirty="0">
                <a:latin typeface="Arial"/>
                <a:cs typeface="Arial"/>
              </a:rPr>
              <a:t>A two-pattern test consists of</a:t>
            </a:r>
            <a:endParaRPr lang="en-US" sz="2000" dirty="0">
              <a:latin typeface="Arial"/>
              <a:cs typeface="Arial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</a:tabLst>
            </a:pPr>
            <a:r>
              <a:rPr lang="en-US" sz="2000" b="1" i="1" spc="5" dirty="0">
                <a:solidFill>
                  <a:srgbClr val="0000FF"/>
                </a:solidFill>
                <a:latin typeface="Arial-BoldItalicMT"/>
                <a:cs typeface="Arial-BoldItalicMT"/>
              </a:rPr>
              <a:t>V</a:t>
            </a:r>
            <a:r>
              <a:rPr lang="en-US" sz="1950" b="1" i="1" spc="7" baseline="-21367" dirty="0">
                <a:solidFill>
                  <a:srgbClr val="0000FF"/>
                </a:solidFill>
                <a:latin typeface="Arial-BoldItalicMT"/>
                <a:cs typeface="Arial-BoldItalicMT"/>
              </a:rPr>
              <a:t>1</a:t>
            </a:r>
            <a:r>
              <a:rPr lang="en-US" sz="2000" b="1" spc="5" dirty="0">
                <a:solidFill>
                  <a:srgbClr val="0000FF"/>
                </a:solidFill>
                <a:latin typeface="Arial"/>
                <a:cs typeface="Arial"/>
              </a:rPr>
              <a:t>: </a:t>
            </a:r>
            <a:r>
              <a:rPr lang="en-US" sz="2000" b="1" spc="-5" dirty="0">
                <a:latin typeface="Arial"/>
                <a:cs typeface="Arial"/>
              </a:rPr>
              <a:t>initialize </a:t>
            </a:r>
            <a:r>
              <a:rPr lang="en-US" sz="2000" b="1" dirty="0">
                <a:latin typeface="Arial"/>
                <a:cs typeface="Arial"/>
              </a:rPr>
              <a:t>circuit</a:t>
            </a:r>
            <a:r>
              <a:rPr lang="en-US" sz="2000" b="1" spc="-80" dirty="0"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state</a:t>
            </a:r>
            <a:endParaRPr lang="en-US" sz="2000" dirty="0">
              <a:latin typeface="Arial"/>
              <a:cs typeface="Arial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</a:tabLst>
            </a:pPr>
            <a:r>
              <a:rPr sz="2000" b="1" i="1" spc="5" dirty="0">
                <a:solidFill>
                  <a:srgbClr val="0000FF"/>
                </a:solidFill>
                <a:latin typeface="Arial-BoldItalicMT"/>
                <a:cs typeface="Arial-BoldItalicMT"/>
              </a:rPr>
              <a:t>V</a:t>
            </a:r>
            <a:r>
              <a:rPr sz="1950" b="1" i="1" spc="7" baseline="-21367" dirty="0">
                <a:solidFill>
                  <a:srgbClr val="0000FF"/>
                </a:solidFill>
                <a:latin typeface="Arial-BoldItalicMT"/>
                <a:cs typeface="Arial-BoldItalicMT"/>
              </a:rPr>
              <a:t>2</a:t>
            </a:r>
            <a:r>
              <a:rPr sz="2000" b="1" spc="5" dirty="0">
                <a:solidFill>
                  <a:srgbClr val="0000FF"/>
                </a:solidFill>
                <a:latin typeface="Arial"/>
                <a:cs typeface="Arial"/>
              </a:rPr>
              <a:t>: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launch </a:t>
            </a:r>
            <a:r>
              <a:rPr sz="2000" b="1" dirty="0">
                <a:latin typeface="Arial"/>
                <a:cs typeface="Arial"/>
              </a:rPr>
              <a:t>transition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lang="en-US" sz="2000" b="1" spc="-5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propagate fault effect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-1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output</a:t>
            </a:r>
            <a:endParaRPr lang="en-US" sz="2000" dirty="0">
              <a:latin typeface="Arial"/>
              <a:cs typeface="Arial"/>
            </a:endParaRPr>
          </a:p>
          <a:p>
            <a:pPr marL="3810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lang="en-US" sz="2000" b="1" dirty="0">
                <a:latin typeface="Arial"/>
                <a:cs typeface="Arial"/>
              </a:rPr>
              <a:t>Control clock period </a:t>
            </a:r>
            <a:r>
              <a:rPr lang="en-US" sz="2000" b="1" i="1" spc="-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lang="en-US" sz="2000" b="1" dirty="0">
                <a:latin typeface="Arial"/>
                <a:cs typeface="Arial"/>
              </a:rPr>
              <a:t> to determine if pass or fail at the primary output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450" dirty="0">
              <a:latin typeface="Arial"/>
              <a:cs typeface="Arial"/>
            </a:endParaRPr>
          </a:p>
          <a:p>
            <a:pPr marL="5426075">
              <a:lnSpc>
                <a:spcPct val="100000"/>
              </a:lnSpc>
              <a:spcBef>
                <a:spcPts val="5"/>
              </a:spcBef>
            </a:pPr>
            <a:endParaRPr lang="en-US" sz="400" b="1" i="1" dirty="0">
              <a:solidFill>
                <a:srgbClr val="0000FF"/>
              </a:solidFill>
              <a:latin typeface="HelveticaNeue-BoldItalic"/>
              <a:cs typeface="HelveticaNeue-BoldItalic"/>
            </a:endParaRPr>
          </a:p>
          <a:p>
            <a:pPr marL="5426075">
              <a:lnSpc>
                <a:spcPct val="100000"/>
              </a:lnSpc>
              <a:spcBef>
                <a:spcPts val="5"/>
              </a:spcBef>
            </a:pPr>
            <a:r>
              <a:rPr sz="2000" b="1" i="1" dirty="0">
                <a:solidFill>
                  <a:srgbClr val="0000FF"/>
                </a:solidFill>
                <a:latin typeface="HelveticaNeue-BoldItalic"/>
                <a:cs typeface="HelveticaNeue-BoldItalic"/>
              </a:rPr>
              <a:t>T</a:t>
            </a:r>
            <a:endParaRPr sz="2000" dirty="0">
              <a:latin typeface="HelveticaNeue-BoldItalic"/>
              <a:cs typeface="HelveticaNeue-BoldItalic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31614" y="4295394"/>
            <a:ext cx="1728470" cy="401320"/>
          </a:xfrm>
          <a:custGeom>
            <a:avLst/>
            <a:gdLst/>
            <a:ahLst/>
            <a:cxnLst/>
            <a:rect l="l" t="t" r="r" b="b"/>
            <a:pathLst>
              <a:path w="1728470" h="401320">
                <a:moveTo>
                  <a:pt x="0" y="400811"/>
                </a:moveTo>
                <a:lnTo>
                  <a:pt x="1143127" y="400811"/>
                </a:lnTo>
                <a:lnTo>
                  <a:pt x="1333627" y="0"/>
                </a:lnTo>
                <a:lnTo>
                  <a:pt x="1728215" y="0"/>
                </a:lnTo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051930" y="4752594"/>
            <a:ext cx="46418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Fail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lang="en-US" spc="-5" smtClean="0"/>
              <a:t>15</a:t>
            </a:fld>
            <a:endParaRPr spc="-5" dirty="0"/>
          </a:p>
        </p:txBody>
      </p:sp>
      <p:sp>
        <p:nvSpPr>
          <p:cNvPr id="22" name="object 22"/>
          <p:cNvSpPr txBox="1"/>
          <p:nvPr/>
        </p:nvSpPr>
        <p:spPr>
          <a:xfrm>
            <a:off x="6028182" y="3815283"/>
            <a:ext cx="6197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00AF50"/>
                </a:solidFill>
                <a:latin typeface="Helvetica"/>
                <a:cs typeface="Helvetica"/>
              </a:rPr>
              <a:t>P</a:t>
            </a:r>
            <a:r>
              <a:rPr sz="2000" b="1" dirty="0">
                <a:solidFill>
                  <a:srgbClr val="00AF50"/>
                </a:solidFill>
                <a:latin typeface="Helvetica"/>
                <a:cs typeface="Helvetica"/>
              </a:rPr>
              <a:t>ass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75232" y="6021323"/>
            <a:ext cx="6193790" cy="52451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Delay Faults Require 2-pattern</a:t>
            </a:r>
            <a:r>
              <a:rPr sz="2800" b="1" spc="8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800" b="1" spc="-55" dirty="0">
                <a:solidFill>
                  <a:srgbClr val="FF0000"/>
                </a:solidFill>
                <a:latin typeface="Helvetica"/>
                <a:cs typeface="Helvetica"/>
              </a:rPr>
              <a:t>Test</a:t>
            </a:r>
            <a:endParaRPr sz="28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761" y="5328259"/>
            <a:ext cx="53975" cy="73660"/>
          </a:xfrm>
          <a:custGeom>
            <a:avLst/>
            <a:gdLst/>
            <a:ahLst/>
            <a:cxnLst/>
            <a:rect l="l" t="t" r="r" b="b"/>
            <a:pathLst>
              <a:path w="53975" h="73660">
                <a:moveTo>
                  <a:pt x="0" y="36801"/>
                </a:moveTo>
                <a:lnTo>
                  <a:pt x="2103" y="51120"/>
                </a:lnTo>
                <a:lnTo>
                  <a:pt x="7858" y="62806"/>
                </a:lnTo>
                <a:lnTo>
                  <a:pt x="16428" y="70682"/>
                </a:lnTo>
                <a:lnTo>
                  <a:pt x="26979" y="73569"/>
                </a:lnTo>
                <a:lnTo>
                  <a:pt x="37530" y="70696"/>
                </a:lnTo>
                <a:lnTo>
                  <a:pt x="46101" y="62819"/>
                </a:lnTo>
                <a:lnTo>
                  <a:pt x="51855" y="51125"/>
                </a:lnTo>
                <a:lnTo>
                  <a:pt x="53959" y="36801"/>
                </a:lnTo>
                <a:lnTo>
                  <a:pt x="51855" y="22463"/>
                </a:lnTo>
                <a:lnTo>
                  <a:pt x="46101" y="10767"/>
                </a:lnTo>
                <a:lnTo>
                  <a:pt x="37530" y="2887"/>
                </a:lnTo>
                <a:lnTo>
                  <a:pt x="26979" y="0"/>
                </a:lnTo>
                <a:lnTo>
                  <a:pt x="16428" y="2887"/>
                </a:lnTo>
                <a:lnTo>
                  <a:pt x="7858" y="10767"/>
                </a:lnTo>
                <a:lnTo>
                  <a:pt x="2103" y="22463"/>
                </a:lnTo>
                <a:lnTo>
                  <a:pt x="0" y="36801"/>
                </a:lnTo>
                <a:close/>
              </a:path>
            </a:pathLst>
          </a:custGeom>
          <a:ln w="68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10841" y="5119703"/>
            <a:ext cx="361315" cy="490855"/>
          </a:xfrm>
          <a:custGeom>
            <a:avLst/>
            <a:gdLst/>
            <a:ahLst/>
            <a:cxnLst/>
            <a:rect l="l" t="t" r="r" b="b"/>
            <a:pathLst>
              <a:path w="361314" h="490854">
                <a:moveTo>
                  <a:pt x="0" y="0"/>
                </a:moveTo>
                <a:lnTo>
                  <a:pt x="360919" y="245357"/>
                </a:lnTo>
                <a:lnTo>
                  <a:pt x="0" y="490680"/>
                </a:lnTo>
                <a:lnTo>
                  <a:pt x="0" y="0"/>
                </a:lnTo>
                <a:close/>
              </a:path>
            </a:pathLst>
          </a:custGeom>
          <a:ln w="68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62186" y="4432722"/>
            <a:ext cx="433070" cy="0"/>
          </a:xfrm>
          <a:custGeom>
            <a:avLst/>
            <a:gdLst/>
            <a:ahLst/>
            <a:cxnLst/>
            <a:rect l="l" t="t" r="r" b="b"/>
            <a:pathLst>
              <a:path w="433070">
                <a:moveTo>
                  <a:pt x="0" y="0"/>
                </a:moveTo>
                <a:lnTo>
                  <a:pt x="432951" y="0"/>
                </a:lnTo>
              </a:path>
            </a:pathLst>
          </a:custGeom>
          <a:ln w="8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62186" y="4727138"/>
            <a:ext cx="433070" cy="0"/>
          </a:xfrm>
          <a:custGeom>
            <a:avLst/>
            <a:gdLst/>
            <a:ahLst/>
            <a:cxnLst/>
            <a:rect l="l" t="t" r="r" b="b"/>
            <a:pathLst>
              <a:path w="433070">
                <a:moveTo>
                  <a:pt x="0" y="0"/>
                </a:moveTo>
                <a:lnTo>
                  <a:pt x="432951" y="0"/>
                </a:lnTo>
              </a:path>
            </a:pathLst>
          </a:custGeom>
          <a:ln w="8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95137" y="4579930"/>
            <a:ext cx="433070" cy="0"/>
          </a:xfrm>
          <a:custGeom>
            <a:avLst/>
            <a:gdLst/>
            <a:ahLst/>
            <a:cxnLst/>
            <a:rect l="l" t="t" r="r" b="b"/>
            <a:pathLst>
              <a:path w="433070">
                <a:moveTo>
                  <a:pt x="432696" y="0"/>
                </a:moveTo>
                <a:lnTo>
                  <a:pt x="0" y="0"/>
                </a:lnTo>
              </a:path>
            </a:pathLst>
          </a:custGeom>
          <a:ln w="8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13630" y="4285514"/>
            <a:ext cx="563245" cy="589280"/>
          </a:xfrm>
          <a:custGeom>
            <a:avLst/>
            <a:gdLst/>
            <a:ahLst/>
            <a:cxnLst/>
            <a:rect l="l" t="t" r="r" b="b"/>
            <a:pathLst>
              <a:path w="563245" h="589279">
                <a:moveTo>
                  <a:pt x="168751" y="0"/>
                </a:moveTo>
                <a:lnTo>
                  <a:pt x="0" y="0"/>
                </a:lnTo>
                <a:lnTo>
                  <a:pt x="22283" y="43551"/>
                </a:lnTo>
                <a:lnTo>
                  <a:pt x="40853" y="87974"/>
                </a:lnTo>
                <a:lnTo>
                  <a:pt x="55709" y="133110"/>
                </a:lnTo>
                <a:lnTo>
                  <a:pt x="66851" y="178801"/>
                </a:lnTo>
                <a:lnTo>
                  <a:pt x="74279" y="224888"/>
                </a:lnTo>
                <a:lnTo>
                  <a:pt x="77993" y="271213"/>
                </a:lnTo>
                <a:lnTo>
                  <a:pt x="77993" y="317617"/>
                </a:lnTo>
                <a:lnTo>
                  <a:pt x="74279" y="363942"/>
                </a:lnTo>
                <a:lnTo>
                  <a:pt x="66851" y="410029"/>
                </a:lnTo>
                <a:lnTo>
                  <a:pt x="55709" y="455720"/>
                </a:lnTo>
                <a:lnTo>
                  <a:pt x="40853" y="500856"/>
                </a:lnTo>
                <a:lnTo>
                  <a:pt x="22283" y="545279"/>
                </a:lnTo>
                <a:lnTo>
                  <a:pt x="0" y="588830"/>
                </a:lnTo>
                <a:lnTo>
                  <a:pt x="168751" y="588830"/>
                </a:lnTo>
                <a:lnTo>
                  <a:pt x="221821" y="574794"/>
                </a:lnTo>
                <a:lnTo>
                  <a:pt x="272574" y="556792"/>
                </a:lnTo>
                <a:lnTo>
                  <a:pt x="320740" y="535029"/>
                </a:lnTo>
                <a:lnTo>
                  <a:pt x="366049" y="509707"/>
                </a:lnTo>
                <a:lnTo>
                  <a:pt x="408230" y="481030"/>
                </a:lnTo>
                <a:lnTo>
                  <a:pt x="447013" y="449202"/>
                </a:lnTo>
                <a:lnTo>
                  <a:pt x="482128" y="414426"/>
                </a:lnTo>
                <a:lnTo>
                  <a:pt x="513304" y="376907"/>
                </a:lnTo>
                <a:lnTo>
                  <a:pt x="540271" y="336847"/>
                </a:lnTo>
                <a:lnTo>
                  <a:pt x="562760" y="294450"/>
                </a:lnTo>
                <a:lnTo>
                  <a:pt x="540533" y="251865"/>
                </a:lnTo>
                <a:lnTo>
                  <a:pt x="513744" y="211640"/>
                </a:lnTo>
                <a:lnTo>
                  <a:pt x="482673" y="173985"/>
                </a:lnTo>
                <a:lnTo>
                  <a:pt x="447599" y="139110"/>
                </a:lnTo>
                <a:lnTo>
                  <a:pt x="408802" y="107225"/>
                </a:lnTo>
                <a:lnTo>
                  <a:pt x="366562" y="78539"/>
                </a:lnTo>
                <a:lnTo>
                  <a:pt x="321157" y="53264"/>
                </a:lnTo>
                <a:lnTo>
                  <a:pt x="272867" y="31609"/>
                </a:lnTo>
                <a:lnTo>
                  <a:pt x="221972" y="13784"/>
                </a:lnTo>
                <a:lnTo>
                  <a:pt x="1687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13630" y="4285514"/>
            <a:ext cx="563245" cy="589280"/>
          </a:xfrm>
          <a:custGeom>
            <a:avLst/>
            <a:gdLst/>
            <a:ahLst/>
            <a:cxnLst/>
            <a:rect l="l" t="t" r="r" b="b"/>
            <a:pathLst>
              <a:path w="563245" h="589279">
                <a:moveTo>
                  <a:pt x="562760" y="294450"/>
                </a:moveTo>
                <a:lnTo>
                  <a:pt x="540271" y="336847"/>
                </a:lnTo>
                <a:lnTo>
                  <a:pt x="513304" y="376907"/>
                </a:lnTo>
                <a:lnTo>
                  <a:pt x="482128" y="414426"/>
                </a:lnTo>
                <a:lnTo>
                  <a:pt x="447013" y="449202"/>
                </a:lnTo>
                <a:lnTo>
                  <a:pt x="408230" y="481030"/>
                </a:lnTo>
                <a:lnTo>
                  <a:pt x="366049" y="509707"/>
                </a:lnTo>
                <a:lnTo>
                  <a:pt x="320740" y="535029"/>
                </a:lnTo>
                <a:lnTo>
                  <a:pt x="272574" y="556792"/>
                </a:lnTo>
                <a:lnTo>
                  <a:pt x="221821" y="574794"/>
                </a:lnTo>
                <a:lnTo>
                  <a:pt x="168751" y="588830"/>
                </a:lnTo>
                <a:lnTo>
                  <a:pt x="0" y="588830"/>
                </a:lnTo>
                <a:lnTo>
                  <a:pt x="22283" y="545279"/>
                </a:lnTo>
                <a:lnTo>
                  <a:pt x="40853" y="500856"/>
                </a:lnTo>
                <a:lnTo>
                  <a:pt x="55709" y="455720"/>
                </a:lnTo>
                <a:lnTo>
                  <a:pt x="66851" y="410029"/>
                </a:lnTo>
                <a:lnTo>
                  <a:pt x="74279" y="363942"/>
                </a:lnTo>
                <a:lnTo>
                  <a:pt x="77993" y="317617"/>
                </a:lnTo>
                <a:lnTo>
                  <a:pt x="77993" y="271213"/>
                </a:lnTo>
                <a:lnTo>
                  <a:pt x="74279" y="224888"/>
                </a:lnTo>
                <a:lnTo>
                  <a:pt x="66851" y="178801"/>
                </a:lnTo>
                <a:lnTo>
                  <a:pt x="55709" y="133110"/>
                </a:lnTo>
                <a:lnTo>
                  <a:pt x="40853" y="87974"/>
                </a:lnTo>
                <a:lnTo>
                  <a:pt x="22283" y="43551"/>
                </a:lnTo>
                <a:lnTo>
                  <a:pt x="0" y="0"/>
                </a:lnTo>
                <a:lnTo>
                  <a:pt x="168751" y="0"/>
                </a:lnTo>
                <a:lnTo>
                  <a:pt x="221972" y="13784"/>
                </a:lnTo>
                <a:lnTo>
                  <a:pt x="272867" y="31609"/>
                </a:lnTo>
                <a:lnTo>
                  <a:pt x="321157" y="53264"/>
                </a:lnTo>
                <a:lnTo>
                  <a:pt x="366562" y="78539"/>
                </a:lnTo>
                <a:lnTo>
                  <a:pt x="408802" y="107225"/>
                </a:lnTo>
                <a:lnTo>
                  <a:pt x="447599" y="139110"/>
                </a:lnTo>
                <a:lnTo>
                  <a:pt x="482673" y="173985"/>
                </a:lnTo>
                <a:lnTo>
                  <a:pt x="513744" y="211640"/>
                </a:lnTo>
                <a:lnTo>
                  <a:pt x="540533" y="251865"/>
                </a:lnTo>
                <a:lnTo>
                  <a:pt x="562760" y="294450"/>
                </a:lnTo>
                <a:close/>
              </a:path>
            </a:pathLst>
          </a:custGeom>
          <a:ln w="7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35050" y="5217853"/>
            <a:ext cx="433070" cy="0"/>
          </a:xfrm>
          <a:custGeom>
            <a:avLst/>
            <a:gdLst/>
            <a:ahLst/>
            <a:cxnLst/>
            <a:rect l="l" t="t" r="r" b="b"/>
            <a:pathLst>
              <a:path w="433069">
                <a:moveTo>
                  <a:pt x="0" y="0"/>
                </a:moveTo>
                <a:lnTo>
                  <a:pt x="432900" y="0"/>
                </a:lnTo>
              </a:path>
            </a:pathLst>
          </a:custGeom>
          <a:ln w="8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35050" y="5512234"/>
            <a:ext cx="433070" cy="0"/>
          </a:xfrm>
          <a:custGeom>
            <a:avLst/>
            <a:gdLst/>
            <a:ahLst/>
            <a:cxnLst/>
            <a:rect l="l" t="t" r="r" b="b"/>
            <a:pathLst>
              <a:path w="433069">
                <a:moveTo>
                  <a:pt x="0" y="0"/>
                </a:moveTo>
                <a:lnTo>
                  <a:pt x="432900" y="0"/>
                </a:lnTo>
              </a:path>
            </a:pathLst>
          </a:custGeom>
          <a:ln w="8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67951" y="5365061"/>
            <a:ext cx="433070" cy="0"/>
          </a:xfrm>
          <a:custGeom>
            <a:avLst/>
            <a:gdLst/>
            <a:ahLst/>
            <a:cxnLst/>
            <a:rect l="l" t="t" r="r" b="b"/>
            <a:pathLst>
              <a:path w="433069">
                <a:moveTo>
                  <a:pt x="432900" y="0"/>
                </a:moveTo>
                <a:lnTo>
                  <a:pt x="0" y="0"/>
                </a:lnTo>
              </a:path>
            </a:pathLst>
          </a:custGeom>
          <a:ln w="8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86570" y="5070645"/>
            <a:ext cx="563245" cy="589280"/>
          </a:xfrm>
          <a:custGeom>
            <a:avLst/>
            <a:gdLst/>
            <a:ahLst/>
            <a:cxnLst/>
            <a:rect l="l" t="t" r="r" b="b"/>
            <a:pathLst>
              <a:path w="563244" h="589279">
                <a:moveTo>
                  <a:pt x="168828" y="0"/>
                </a:moveTo>
                <a:lnTo>
                  <a:pt x="0" y="0"/>
                </a:lnTo>
                <a:lnTo>
                  <a:pt x="22267" y="43550"/>
                </a:lnTo>
                <a:lnTo>
                  <a:pt x="40824" y="87972"/>
                </a:lnTo>
                <a:lnTo>
                  <a:pt x="55669" y="133106"/>
                </a:lnTo>
                <a:lnTo>
                  <a:pt x="66803" y="178793"/>
                </a:lnTo>
                <a:lnTo>
                  <a:pt x="74225" y="224877"/>
                </a:lnTo>
                <a:lnTo>
                  <a:pt x="77936" y="271198"/>
                </a:lnTo>
                <a:lnTo>
                  <a:pt x="77936" y="317598"/>
                </a:lnTo>
                <a:lnTo>
                  <a:pt x="74225" y="363918"/>
                </a:lnTo>
                <a:lnTo>
                  <a:pt x="66803" y="410002"/>
                </a:lnTo>
                <a:lnTo>
                  <a:pt x="55669" y="455690"/>
                </a:lnTo>
                <a:lnTo>
                  <a:pt x="40824" y="500823"/>
                </a:lnTo>
                <a:lnTo>
                  <a:pt x="22267" y="545245"/>
                </a:lnTo>
                <a:lnTo>
                  <a:pt x="0" y="588796"/>
                </a:lnTo>
                <a:lnTo>
                  <a:pt x="168828" y="588796"/>
                </a:lnTo>
                <a:lnTo>
                  <a:pt x="221845" y="574769"/>
                </a:lnTo>
                <a:lnTo>
                  <a:pt x="272562" y="556774"/>
                </a:lnTo>
                <a:lnTo>
                  <a:pt x="320705" y="535016"/>
                </a:lnTo>
                <a:lnTo>
                  <a:pt x="366003" y="509697"/>
                </a:lnTo>
                <a:lnTo>
                  <a:pt x="408182" y="481021"/>
                </a:lnTo>
                <a:lnTo>
                  <a:pt x="446970" y="449192"/>
                </a:lnTo>
                <a:lnTo>
                  <a:pt x="482094" y="414414"/>
                </a:lnTo>
                <a:lnTo>
                  <a:pt x="513283" y="376889"/>
                </a:lnTo>
                <a:lnTo>
                  <a:pt x="540262" y="336821"/>
                </a:lnTo>
                <a:lnTo>
                  <a:pt x="562760" y="294415"/>
                </a:lnTo>
                <a:lnTo>
                  <a:pt x="540552" y="251831"/>
                </a:lnTo>
                <a:lnTo>
                  <a:pt x="513776" y="211609"/>
                </a:lnTo>
                <a:lnTo>
                  <a:pt x="482713" y="173957"/>
                </a:lnTo>
                <a:lnTo>
                  <a:pt x="447644" y="139087"/>
                </a:lnTo>
                <a:lnTo>
                  <a:pt x="408850" y="107207"/>
                </a:lnTo>
                <a:lnTo>
                  <a:pt x="366611" y="78527"/>
                </a:lnTo>
                <a:lnTo>
                  <a:pt x="321209" y="53257"/>
                </a:lnTo>
                <a:lnTo>
                  <a:pt x="272923" y="31606"/>
                </a:lnTo>
                <a:lnTo>
                  <a:pt x="222036" y="13783"/>
                </a:lnTo>
                <a:lnTo>
                  <a:pt x="1688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86570" y="5070645"/>
            <a:ext cx="563245" cy="589280"/>
          </a:xfrm>
          <a:custGeom>
            <a:avLst/>
            <a:gdLst/>
            <a:ahLst/>
            <a:cxnLst/>
            <a:rect l="l" t="t" r="r" b="b"/>
            <a:pathLst>
              <a:path w="563244" h="589279">
                <a:moveTo>
                  <a:pt x="562760" y="294415"/>
                </a:moveTo>
                <a:lnTo>
                  <a:pt x="540262" y="336821"/>
                </a:lnTo>
                <a:lnTo>
                  <a:pt x="513283" y="376889"/>
                </a:lnTo>
                <a:lnTo>
                  <a:pt x="482094" y="414414"/>
                </a:lnTo>
                <a:lnTo>
                  <a:pt x="446970" y="449192"/>
                </a:lnTo>
                <a:lnTo>
                  <a:pt x="408182" y="481021"/>
                </a:lnTo>
                <a:lnTo>
                  <a:pt x="366003" y="509697"/>
                </a:lnTo>
                <a:lnTo>
                  <a:pt x="320705" y="535016"/>
                </a:lnTo>
                <a:lnTo>
                  <a:pt x="272562" y="556774"/>
                </a:lnTo>
                <a:lnTo>
                  <a:pt x="221845" y="574769"/>
                </a:lnTo>
                <a:lnTo>
                  <a:pt x="168828" y="588796"/>
                </a:lnTo>
                <a:lnTo>
                  <a:pt x="0" y="588796"/>
                </a:lnTo>
                <a:lnTo>
                  <a:pt x="22267" y="545245"/>
                </a:lnTo>
                <a:lnTo>
                  <a:pt x="40824" y="500823"/>
                </a:lnTo>
                <a:lnTo>
                  <a:pt x="55669" y="455690"/>
                </a:lnTo>
                <a:lnTo>
                  <a:pt x="66803" y="410002"/>
                </a:lnTo>
                <a:lnTo>
                  <a:pt x="74225" y="363918"/>
                </a:lnTo>
                <a:lnTo>
                  <a:pt x="77936" y="317598"/>
                </a:lnTo>
                <a:lnTo>
                  <a:pt x="77936" y="271198"/>
                </a:lnTo>
                <a:lnTo>
                  <a:pt x="74225" y="224877"/>
                </a:lnTo>
                <a:lnTo>
                  <a:pt x="66803" y="178793"/>
                </a:lnTo>
                <a:lnTo>
                  <a:pt x="55669" y="133106"/>
                </a:lnTo>
                <a:lnTo>
                  <a:pt x="40824" y="87972"/>
                </a:lnTo>
                <a:lnTo>
                  <a:pt x="22267" y="43550"/>
                </a:lnTo>
                <a:lnTo>
                  <a:pt x="0" y="0"/>
                </a:lnTo>
                <a:lnTo>
                  <a:pt x="168828" y="0"/>
                </a:lnTo>
                <a:lnTo>
                  <a:pt x="222036" y="13783"/>
                </a:lnTo>
                <a:lnTo>
                  <a:pt x="272923" y="31606"/>
                </a:lnTo>
                <a:lnTo>
                  <a:pt x="321209" y="53257"/>
                </a:lnTo>
                <a:lnTo>
                  <a:pt x="366611" y="78527"/>
                </a:lnTo>
                <a:lnTo>
                  <a:pt x="408850" y="107207"/>
                </a:lnTo>
                <a:lnTo>
                  <a:pt x="447644" y="139087"/>
                </a:lnTo>
                <a:lnTo>
                  <a:pt x="482713" y="173957"/>
                </a:lnTo>
                <a:lnTo>
                  <a:pt x="513776" y="211609"/>
                </a:lnTo>
                <a:lnTo>
                  <a:pt x="540552" y="251831"/>
                </a:lnTo>
                <a:lnTo>
                  <a:pt x="562760" y="294415"/>
                </a:lnTo>
                <a:close/>
              </a:path>
            </a:pathLst>
          </a:custGeom>
          <a:ln w="7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658401" y="3647626"/>
            <a:ext cx="433070" cy="0"/>
          </a:xfrm>
          <a:custGeom>
            <a:avLst/>
            <a:gdLst/>
            <a:ahLst/>
            <a:cxnLst/>
            <a:rect l="l" t="t" r="r" b="b"/>
            <a:pathLst>
              <a:path w="433070">
                <a:moveTo>
                  <a:pt x="0" y="0"/>
                </a:moveTo>
                <a:lnTo>
                  <a:pt x="432900" y="0"/>
                </a:lnTo>
              </a:path>
            </a:pathLst>
          </a:custGeom>
          <a:ln w="8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58401" y="3942041"/>
            <a:ext cx="433070" cy="0"/>
          </a:xfrm>
          <a:custGeom>
            <a:avLst/>
            <a:gdLst/>
            <a:ahLst/>
            <a:cxnLst/>
            <a:rect l="l" t="t" r="r" b="b"/>
            <a:pathLst>
              <a:path w="433070">
                <a:moveTo>
                  <a:pt x="0" y="0"/>
                </a:moveTo>
                <a:lnTo>
                  <a:pt x="432900" y="0"/>
                </a:lnTo>
              </a:path>
            </a:pathLst>
          </a:custGeom>
          <a:ln w="8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91301" y="3794833"/>
            <a:ext cx="433070" cy="0"/>
          </a:xfrm>
          <a:custGeom>
            <a:avLst/>
            <a:gdLst/>
            <a:ahLst/>
            <a:cxnLst/>
            <a:rect l="l" t="t" r="r" b="b"/>
            <a:pathLst>
              <a:path w="433070">
                <a:moveTo>
                  <a:pt x="432951" y="0"/>
                </a:moveTo>
                <a:lnTo>
                  <a:pt x="0" y="0"/>
                </a:lnTo>
              </a:path>
            </a:pathLst>
          </a:custGeom>
          <a:ln w="8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809921" y="3500418"/>
            <a:ext cx="563245" cy="589280"/>
          </a:xfrm>
          <a:custGeom>
            <a:avLst/>
            <a:gdLst/>
            <a:ahLst/>
            <a:cxnLst/>
            <a:rect l="l" t="t" r="r" b="b"/>
            <a:pathLst>
              <a:path w="563245" h="589279">
                <a:moveTo>
                  <a:pt x="168878" y="0"/>
                </a:moveTo>
                <a:lnTo>
                  <a:pt x="0" y="0"/>
                </a:lnTo>
                <a:lnTo>
                  <a:pt x="22256" y="43551"/>
                </a:lnTo>
                <a:lnTo>
                  <a:pt x="40804" y="87974"/>
                </a:lnTo>
                <a:lnTo>
                  <a:pt x="55642" y="133110"/>
                </a:lnTo>
                <a:lnTo>
                  <a:pt x="66770" y="178801"/>
                </a:lnTo>
                <a:lnTo>
                  <a:pt x="74189" y="224888"/>
                </a:lnTo>
                <a:lnTo>
                  <a:pt x="77898" y="271213"/>
                </a:lnTo>
                <a:lnTo>
                  <a:pt x="77898" y="317617"/>
                </a:lnTo>
                <a:lnTo>
                  <a:pt x="74189" y="363942"/>
                </a:lnTo>
                <a:lnTo>
                  <a:pt x="66770" y="410029"/>
                </a:lnTo>
                <a:lnTo>
                  <a:pt x="55642" y="455720"/>
                </a:lnTo>
                <a:lnTo>
                  <a:pt x="40804" y="500856"/>
                </a:lnTo>
                <a:lnTo>
                  <a:pt x="22256" y="545279"/>
                </a:lnTo>
                <a:lnTo>
                  <a:pt x="0" y="588830"/>
                </a:lnTo>
                <a:lnTo>
                  <a:pt x="168878" y="588830"/>
                </a:lnTo>
                <a:lnTo>
                  <a:pt x="221879" y="574794"/>
                </a:lnTo>
                <a:lnTo>
                  <a:pt x="272579" y="556792"/>
                </a:lnTo>
                <a:lnTo>
                  <a:pt x="320707" y="535029"/>
                </a:lnTo>
                <a:lnTo>
                  <a:pt x="365993" y="509707"/>
                </a:lnTo>
                <a:lnTo>
                  <a:pt x="408166" y="481030"/>
                </a:lnTo>
                <a:lnTo>
                  <a:pt x="446957" y="449202"/>
                </a:lnTo>
                <a:lnTo>
                  <a:pt x="482095" y="414426"/>
                </a:lnTo>
                <a:lnTo>
                  <a:pt x="513309" y="376907"/>
                </a:lnTo>
                <a:lnTo>
                  <a:pt x="540330" y="336847"/>
                </a:lnTo>
                <a:lnTo>
                  <a:pt x="562887" y="294450"/>
                </a:lnTo>
                <a:lnTo>
                  <a:pt x="540660" y="251865"/>
                </a:lnTo>
                <a:lnTo>
                  <a:pt x="513871" y="211640"/>
                </a:lnTo>
                <a:lnTo>
                  <a:pt x="482800" y="173985"/>
                </a:lnTo>
                <a:lnTo>
                  <a:pt x="447727" y="139110"/>
                </a:lnTo>
                <a:lnTo>
                  <a:pt x="408930" y="107225"/>
                </a:lnTo>
                <a:lnTo>
                  <a:pt x="366689" y="78539"/>
                </a:lnTo>
                <a:lnTo>
                  <a:pt x="321284" y="53264"/>
                </a:lnTo>
                <a:lnTo>
                  <a:pt x="272994" y="31609"/>
                </a:lnTo>
                <a:lnTo>
                  <a:pt x="222099" y="13784"/>
                </a:lnTo>
                <a:lnTo>
                  <a:pt x="1688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809921" y="3500418"/>
            <a:ext cx="563245" cy="589280"/>
          </a:xfrm>
          <a:custGeom>
            <a:avLst/>
            <a:gdLst/>
            <a:ahLst/>
            <a:cxnLst/>
            <a:rect l="l" t="t" r="r" b="b"/>
            <a:pathLst>
              <a:path w="563245" h="589279">
                <a:moveTo>
                  <a:pt x="562887" y="294450"/>
                </a:moveTo>
                <a:lnTo>
                  <a:pt x="540330" y="336847"/>
                </a:lnTo>
                <a:lnTo>
                  <a:pt x="513309" y="376907"/>
                </a:lnTo>
                <a:lnTo>
                  <a:pt x="482095" y="414426"/>
                </a:lnTo>
                <a:lnTo>
                  <a:pt x="446957" y="449202"/>
                </a:lnTo>
                <a:lnTo>
                  <a:pt x="408166" y="481030"/>
                </a:lnTo>
                <a:lnTo>
                  <a:pt x="365993" y="509707"/>
                </a:lnTo>
                <a:lnTo>
                  <a:pt x="320707" y="535029"/>
                </a:lnTo>
                <a:lnTo>
                  <a:pt x="272579" y="556792"/>
                </a:lnTo>
                <a:lnTo>
                  <a:pt x="221879" y="574794"/>
                </a:lnTo>
                <a:lnTo>
                  <a:pt x="168878" y="588830"/>
                </a:lnTo>
                <a:lnTo>
                  <a:pt x="0" y="588830"/>
                </a:lnTo>
                <a:lnTo>
                  <a:pt x="22256" y="545279"/>
                </a:lnTo>
                <a:lnTo>
                  <a:pt x="40804" y="500856"/>
                </a:lnTo>
                <a:lnTo>
                  <a:pt x="55642" y="455720"/>
                </a:lnTo>
                <a:lnTo>
                  <a:pt x="66770" y="410029"/>
                </a:lnTo>
                <a:lnTo>
                  <a:pt x="74189" y="363942"/>
                </a:lnTo>
                <a:lnTo>
                  <a:pt x="77898" y="317617"/>
                </a:lnTo>
                <a:lnTo>
                  <a:pt x="77898" y="271213"/>
                </a:lnTo>
                <a:lnTo>
                  <a:pt x="74189" y="224888"/>
                </a:lnTo>
                <a:lnTo>
                  <a:pt x="66770" y="178801"/>
                </a:lnTo>
                <a:lnTo>
                  <a:pt x="55642" y="133110"/>
                </a:lnTo>
                <a:lnTo>
                  <a:pt x="40804" y="87974"/>
                </a:lnTo>
                <a:lnTo>
                  <a:pt x="22256" y="43551"/>
                </a:lnTo>
                <a:lnTo>
                  <a:pt x="0" y="0"/>
                </a:lnTo>
                <a:lnTo>
                  <a:pt x="168878" y="0"/>
                </a:lnTo>
                <a:lnTo>
                  <a:pt x="222099" y="13784"/>
                </a:lnTo>
                <a:lnTo>
                  <a:pt x="272994" y="31609"/>
                </a:lnTo>
                <a:lnTo>
                  <a:pt x="321284" y="53264"/>
                </a:lnTo>
                <a:lnTo>
                  <a:pt x="366689" y="78539"/>
                </a:lnTo>
                <a:lnTo>
                  <a:pt x="408930" y="107225"/>
                </a:lnTo>
                <a:lnTo>
                  <a:pt x="447727" y="139110"/>
                </a:lnTo>
                <a:lnTo>
                  <a:pt x="482800" y="173985"/>
                </a:lnTo>
                <a:lnTo>
                  <a:pt x="513871" y="211640"/>
                </a:lnTo>
                <a:lnTo>
                  <a:pt x="540660" y="251865"/>
                </a:lnTo>
                <a:lnTo>
                  <a:pt x="562887" y="294450"/>
                </a:lnTo>
                <a:close/>
              </a:path>
            </a:pathLst>
          </a:custGeom>
          <a:ln w="7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09921" y="3500418"/>
            <a:ext cx="563245" cy="589280"/>
          </a:xfrm>
          <a:custGeom>
            <a:avLst/>
            <a:gdLst/>
            <a:ahLst/>
            <a:cxnLst/>
            <a:rect l="l" t="t" r="r" b="b"/>
            <a:pathLst>
              <a:path w="563245" h="589279">
                <a:moveTo>
                  <a:pt x="346284" y="0"/>
                </a:moveTo>
                <a:lnTo>
                  <a:pt x="0" y="0"/>
                </a:lnTo>
                <a:lnTo>
                  <a:pt x="0" y="588830"/>
                </a:lnTo>
                <a:lnTo>
                  <a:pt x="346284" y="588830"/>
                </a:lnTo>
                <a:lnTo>
                  <a:pt x="385219" y="584087"/>
                </a:lnTo>
                <a:lnTo>
                  <a:pt x="421864" y="570413"/>
                </a:lnTo>
                <a:lnTo>
                  <a:pt x="455608" y="548637"/>
                </a:lnTo>
                <a:lnTo>
                  <a:pt x="485839" y="519592"/>
                </a:lnTo>
                <a:lnTo>
                  <a:pt x="511945" y="484108"/>
                </a:lnTo>
                <a:lnTo>
                  <a:pt x="533315" y="443018"/>
                </a:lnTo>
                <a:lnTo>
                  <a:pt x="549336" y="397151"/>
                </a:lnTo>
                <a:lnTo>
                  <a:pt x="559397" y="347340"/>
                </a:lnTo>
                <a:lnTo>
                  <a:pt x="562887" y="294415"/>
                </a:lnTo>
                <a:lnTo>
                  <a:pt x="559397" y="241499"/>
                </a:lnTo>
                <a:lnTo>
                  <a:pt x="549336" y="191693"/>
                </a:lnTo>
                <a:lnTo>
                  <a:pt x="533315" y="145828"/>
                </a:lnTo>
                <a:lnTo>
                  <a:pt x="511945" y="104736"/>
                </a:lnTo>
                <a:lnTo>
                  <a:pt x="485839" y="69250"/>
                </a:lnTo>
                <a:lnTo>
                  <a:pt x="455608" y="40201"/>
                </a:lnTo>
                <a:lnTo>
                  <a:pt x="421864" y="18421"/>
                </a:lnTo>
                <a:lnTo>
                  <a:pt x="385219" y="4744"/>
                </a:lnTo>
                <a:lnTo>
                  <a:pt x="3462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09921" y="3500418"/>
            <a:ext cx="563245" cy="589280"/>
          </a:xfrm>
          <a:custGeom>
            <a:avLst/>
            <a:gdLst/>
            <a:ahLst/>
            <a:cxnLst/>
            <a:rect l="l" t="t" r="r" b="b"/>
            <a:pathLst>
              <a:path w="563245" h="589279">
                <a:moveTo>
                  <a:pt x="346284" y="588830"/>
                </a:moveTo>
                <a:lnTo>
                  <a:pt x="0" y="588830"/>
                </a:lnTo>
                <a:lnTo>
                  <a:pt x="0" y="0"/>
                </a:lnTo>
                <a:lnTo>
                  <a:pt x="346284" y="0"/>
                </a:lnTo>
                <a:lnTo>
                  <a:pt x="385219" y="4744"/>
                </a:lnTo>
                <a:lnTo>
                  <a:pt x="421864" y="18421"/>
                </a:lnTo>
                <a:lnTo>
                  <a:pt x="455608" y="40201"/>
                </a:lnTo>
                <a:lnTo>
                  <a:pt x="485839" y="69250"/>
                </a:lnTo>
                <a:lnTo>
                  <a:pt x="511945" y="104736"/>
                </a:lnTo>
                <a:lnTo>
                  <a:pt x="533315" y="145828"/>
                </a:lnTo>
                <a:lnTo>
                  <a:pt x="549336" y="191693"/>
                </a:lnTo>
                <a:lnTo>
                  <a:pt x="559397" y="241499"/>
                </a:lnTo>
                <a:lnTo>
                  <a:pt x="562887" y="294415"/>
                </a:lnTo>
                <a:lnTo>
                  <a:pt x="559397" y="347340"/>
                </a:lnTo>
                <a:lnTo>
                  <a:pt x="549336" y="397151"/>
                </a:lnTo>
                <a:lnTo>
                  <a:pt x="533315" y="443018"/>
                </a:lnTo>
                <a:lnTo>
                  <a:pt x="511945" y="484108"/>
                </a:lnTo>
                <a:lnTo>
                  <a:pt x="485839" y="519592"/>
                </a:lnTo>
                <a:lnTo>
                  <a:pt x="455608" y="548637"/>
                </a:lnTo>
                <a:lnTo>
                  <a:pt x="421864" y="570413"/>
                </a:lnTo>
                <a:lnTo>
                  <a:pt x="385219" y="584087"/>
                </a:lnTo>
                <a:lnTo>
                  <a:pt x="346284" y="588830"/>
                </a:lnTo>
                <a:close/>
              </a:path>
            </a:pathLst>
          </a:custGeom>
          <a:ln w="7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900851" y="5365061"/>
            <a:ext cx="1010285" cy="0"/>
          </a:xfrm>
          <a:custGeom>
            <a:avLst/>
            <a:gdLst/>
            <a:ahLst/>
            <a:cxnLst/>
            <a:rect l="l" t="t" r="r" b="b"/>
            <a:pathLst>
              <a:path w="1010285">
                <a:moveTo>
                  <a:pt x="0" y="0"/>
                </a:moveTo>
                <a:lnTo>
                  <a:pt x="1009990" y="0"/>
                </a:lnTo>
              </a:path>
            </a:pathLst>
          </a:custGeom>
          <a:ln w="8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273607" y="3942041"/>
            <a:ext cx="384810" cy="1423035"/>
          </a:xfrm>
          <a:custGeom>
            <a:avLst/>
            <a:gdLst/>
            <a:ahLst/>
            <a:cxnLst/>
            <a:rect l="l" t="t" r="r" b="b"/>
            <a:pathLst>
              <a:path w="384810" h="1423035">
                <a:moveTo>
                  <a:pt x="384794" y="0"/>
                </a:moveTo>
                <a:lnTo>
                  <a:pt x="0" y="0"/>
                </a:lnTo>
                <a:lnTo>
                  <a:pt x="0" y="1423019"/>
                </a:lnTo>
              </a:path>
            </a:pathLst>
          </a:custGeom>
          <a:ln w="62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220924" y="5293396"/>
            <a:ext cx="105364" cy="1433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332594" y="4727138"/>
            <a:ext cx="1129665" cy="638175"/>
          </a:xfrm>
          <a:custGeom>
            <a:avLst/>
            <a:gdLst/>
            <a:ahLst/>
            <a:cxnLst/>
            <a:rect l="l" t="t" r="r" b="b"/>
            <a:pathLst>
              <a:path w="1129664" h="638175">
                <a:moveTo>
                  <a:pt x="0" y="637923"/>
                </a:moveTo>
                <a:lnTo>
                  <a:pt x="588467" y="637923"/>
                </a:lnTo>
                <a:lnTo>
                  <a:pt x="588467" y="0"/>
                </a:lnTo>
                <a:lnTo>
                  <a:pt x="1129592" y="0"/>
                </a:lnTo>
              </a:path>
            </a:pathLst>
          </a:custGeom>
          <a:ln w="77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524253" y="3794833"/>
            <a:ext cx="938530" cy="638175"/>
          </a:xfrm>
          <a:custGeom>
            <a:avLst/>
            <a:gdLst/>
            <a:ahLst/>
            <a:cxnLst/>
            <a:rect l="l" t="t" r="r" b="b"/>
            <a:pathLst>
              <a:path w="938529" h="638175">
                <a:moveTo>
                  <a:pt x="0" y="0"/>
                </a:moveTo>
                <a:lnTo>
                  <a:pt x="396808" y="0"/>
                </a:lnTo>
                <a:lnTo>
                  <a:pt x="396808" y="637888"/>
                </a:lnTo>
                <a:lnTo>
                  <a:pt x="937933" y="637888"/>
                </a:lnTo>
              </a:path>
            </a:pathLst>
          </a:custGeom>
          <a:ln w="7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10375" y="3647626"/>
            <a:ext cx="1948180" cy="0"/>
          </a:xfrm>
          <a:custGeom>
            <a:avLst/>
            <a:gdLst/>
            <a:ahLst/>
            <a:cxnLst/>
            <a:rect l="l" t="t" r="r" b="b"/>
            <a:pathLst>
              <a:path w="1948179">
                <a:moveTo>
                  <a:pt x="1948025" y="0"/>
                </a:moveTo>
                <a:lnTo>
                  <a:pt x="0" y="0"/>
                </a:lnTo>
              </a:path>
            </a:pathLst>
          </a:custGeom>
          <a:ln w="8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10375" y="5217853"/>
            <a:ext cx="325120" cy="0"/>
          </a:xfrm>
          <a:custGeom>
            <a:avLst/>
            <a:gdLst/>
            <a:ahLst/>
            <a:cxnLst/>
            <a:rect l="l" t="t" r="r" b="b"/>
            <a:pathLst>
              <a:path w="325119">
                <a:moveTo>
                  <a:pt x="324675" y="0"/>
                </a:moveTo>
                <a:lnTo>
                  <a:pt x="0" y="0"/>
                </a:lnTo>
              </a:path>
            </a:pathLst>
          </a:custGeom>
          <a:ln w="8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710375" y="5512234"/>
            <a:ext cx="325120" cy="0"/>
          </a:xfrm>
          <a:custGeom>
            <a:avLst/>
            <a:gdLst/>
            <a:ahLst/>
            <a:cxnLst/>
            <a:rect l="l" t="t" r="r" b="b"/>
            <a:pathLst>
              <a:path w="325119">
                <a:moveTo>
                  <a:pt x="324675" y="0"/>
                </a:moveTo>
                <a:lnTo>
                  <a:pt x="0" y="0"/>
                </a:lnTo>
              </a:path>
            </a:pathLst>
          </a:custGeom>
          <a:ln w="8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327834" y="4579930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5">
                <a:moveTo>
                  <a:pt x="0" y="0"/>
                </a:moveTo>
                <a:lnTo>
                  <a:pt x="360919" y="0"/>
                </a:lnTo>
              </a:path>
            </a:pathLst>
          </a:custGeom>
          <a:ln w="83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2042922" y="164414"/>
            <a:ext cx="49345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Path Delay Fault</a:t>
            </a:r>
            <a:r>
              <a:rPr spc="-60" dirty="0"/>
              <a:t> </a:t>
            </a:r>
            <a:r>
              <a:rPr dirty="0"/>
              <a:t>(PDF)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3"/>
              <p:cNvSpPr txBox="1"/>
              <p:nvPr/>
            </p:nvSpPr>
            <p:spPr>
              <a:xfrm>
                <a:off x="236626" y="915162"/>
                <a:ext cx="8278495" cy="1808829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55600" indent="-342900">
                  <a:lnSpc>
                    <a:spcPct val="100000"/>
                  </a:lnSpc>
                  <a:spcBef>
                    <a:spcPts val="105"/>
                  </a:spcBef>
                  <a:buClr>
                    <a:srgbClr val="FF0000"/>
                  </a:buClr>
                  <a:buSzPct val="120000"/>
                  <a:buFont typeface="Arial"/>
                  <a:buChar char="•"/>
                  <a:tabLst>
                    <a:tab pos="354965" algn="l"/>
                    <a:tab pos="355600" algn="l"/>
                  </a:tabLst>
                </a:pPr>
                <a:r>
                  <a:rPr sz="2000" b="1" dirty="0">
                    <a:latin typeface="Arial"/>
                    <a:cs typeface="Arial"/>
                  </a:rPr>
                  <a:t>For each path, </a:t>
                </a:r>
                <a:r>
                  <a:rPr sz="2000" b="1" spc="5" dirty="0">
                    <a:latin typeface="Arial"/>
                    <a:cs typeface="Arial"/>
                  </a:rPr>
                  <a:t>two </a:t>
                </a:r>
                <a:r>
                  <a:rPr sz="2000" b="1" spc="-5" dirty="0">
                    <a:latin typeface="Arial"/>
                    <a:cs typeface="Arial"/>
                  </a:rPr>
                  <a:t>polarity: </a:t>
                </a:r>
                <a:r>
                  <a:rPr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falling </a:t>
                </a:r>
                <a14:m>
                  <m:oMath xmlns:m="http://schemas.openxmlformats.org/officeDocument/2006/math">
                    <m:r>
                      <a:rPr lang="en-US" sz="2000" b="1" i="1" spc="-39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↓</m:t>
                    </m:r>
                  </m:oMath>
                </a14:m>
                <a:r>
                  <a:rPr sz="2000" b="1" spc="-390" dirty="0">
                    <a:latin typeface="Arial"/>
                    <a:cs typeface="Arial"/>
                  </a:rPr>
                  <a:t> </a:t>
                </a:r>
                <a:r>
                  <a:rPr lang="en-US" sz="2000" b="1" spc="-390" dirty="0">
                    <a:latin typeface="Arial"/>
                    <a:cs typeface="Arial"/>
                  </a:rPr>
                  <a:t>     </a:t>
                </a:r>
                <a:r>
                  <a:rPr sz="2000" b="1" dirty="0">
                    <a:latin typeface="Arial"/>
                    <a:cs typeface="Arial"/>
                  </a:rPr>
                  <a:t>, </a:t>
                </a:r>
                <a:r>
                  <a:rPr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rising </a:t>
                </a:r>
                <a14:m>
                  <m:oMath xmlns:m="http://schemas.openxmlformats.org/officeDocument/2006/math">
                    <m:r>
                      <a:rPr lang="en-US" sz="2000" b="1" i="1" spc="-39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↑</m:t>
                    </m:r>
                  </m:oMath>
                </a14:m>
                <a:r>
                  <a:rPr lang="en-US" sz="2000" b="1" spc="-390" dirty="0">
                    <a:latin typeface="Arial"/>
                    <a:cs typeface="Arial"/>
                  </a:rPr>
                  <a:t> </a:t>
                </a:r>
                <a:r>
                  <a:rPr sz="2000" b="1" spc="-390" dirty="0">
                    <a:latin typeface="Arial"/>
                    <a:cs typeface="Arial"/>
                  </a:rPr>
                  <a:t> </a:t>
                </a:r>
                <a:r>
                  <a:rPr lang="en-US" sz="2000" b="1" spc="-390" dirty="0">
                    <a:latin typeface="Arial"/>
                    <a:cs typeface="Arial"/>
                  </a:rPr>
                  <a:t>  </a:t>
                </a:r>
                <a:r>
                  <a:rPr sz="2000" b="1" dirty="0">
                    <a:latin typeface="Arial"/>
                    <a:cs typeface="Arial"/>
                  </a:rPr>
                  <a:t>(at</a:t>
                </a:r>
                <a:r>
                  <a:rPr sz="2000" b="1" spc="-80" dirty="0">
                    <a:latin typeface="Arial"/>
                    <a:cs typeface="Arial"/>
                  </a:rPr>
                  <a:t> </a:t>
                </a:r>
                <a:r>
                  <a:rPr sz="2000" b="1" spc="-5" dirty="0">
                    <a:latin typeface="Arial"/>
                    <a:cs typeface="Arial"/>
                  </a:rPr>
                  <a:t>PI)</a:t>
                </a:r>
                <a:endParaRPr sz="2000" dirty="0">
                  <a:latin typeface="Arial"/>
                  <a:cs typeface="Arial"/>
                </a:endParaRPr>
              </a:p>
              <a:p>
                <a:pPr marL="355600" indent="-342900">
                  <a:lnSpc>
                    <a:spcPct val="100000"/>
                  </a:lnSpc>
                  <a:spcBef>
                    <a:spcPts val="475"/>
                  </a:spcBef>
                  <a:buClr>
                    <a:srgbClr val="FF0000"/>
                  </a:buClr>
                  <a:buSzPct val="120000"/>
                  <a:buFont typeface="Arial"/>
                  <a:buChar char="•"/>
                  <a:tabLst>
                    <a:tab pos="354965" algn="l"/>
                    <a:tab pos="355600" algn="l"/>
                  </a:tabLst>
                </a:pPr>
                <a:r>
                  <a:rPr sz="2000" b="1" dirty="0">
                    <a:latin typeface="Arial"/>
                    <a:cs typeface="Arial"/>
                  </a:rPr>
                  <a:t>Example:</a:t>
                </a:r>
                <a:endParaRPr sz="2000" dirty="0">
                  <a:latin typeface="Arial"/>
                  <a:cs typeface="Arial"/>
                </a:endParaRPr>
              </a:p>
              <a:p>
                <a:pPr marL="756285" lvl="1" indent="-287020">
                  <a:lnSpc>
                    <a:spcPct val="100000"/>
                  </a:lnSpc>
                  <a:spcBef>
                    <a:spcPts val="484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56285" algn="l"/>
                    <a:tab pos="756920" algn="l"/>
                  </a:tabLst>
                </a:pPr>
                <a:r>
                  <a:rPr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5 </a:t>
                </a:r>
                <a:r>
                  <a:rPr sz="2000" b="1" dirty="0">
                    <a:latin typeface="Arial"/>
                    <a:cs typeface="Arial"/>
                  </a:rPr>
                  <a:t>paths: </a:t>
                </a:r>
                <a:r>
                  <a:rPr sz="2000" b="1" spc="5" dirty="0">
                    <a:latin typeface="Arial"/>
                    <a:cs typeface="Arial"/>
                  </a:rPr>
                  <a:t>{AHK, </a:t>
                </a:r>
                <a:r>
                  <a:rPr sz="2000" b="1" dirty="0">
                    <a:latin typeface="Arial"/>
                    <a:cs typeface="Arial"/>
                  </a:rPr>
                  <a:t>BELHK, BEFJK, CELHK,</a:t>
                </a:r>
                <a:r>
                  <a:rPr sz="2000" b="1" spc="-110" dirty="0">
                    <a:latin typeface="Arial"/>
                    <a:cs typeface="Arial"/>
                  </a:rPr>
                  <a:t> </a:t>
                </a:r>
                <a:r>
                  <a:rPr sz="2000" b="1" dirty="0">
                    <a:latin typeface="Arial"/>
                    <a:cs typeface="Arial"/>
                  </a:rPr>
                  <a:t>CEFJK}</a:t>
                </a:r>
                <a:endParaRPr sz="2000" dirty="0">
                  <a:latin typeface="Arial"/>
                  <a:cs typeface="Arial"/>
                </a:endParaRPr>
              </a:p>
              <a:p>
                <a:pPr marL="7562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56285" algn="l"/>
                    <a:tab pos="756920" algn="l"/>
                  </a:tabLst>
                </a:pPr>
                <a:r>
                  <a:rPr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10 </a:t>
                </a:r>
                <a:r>
                  <a:rPr sz="2000" b="1" dirty="0">
                    <a:latin typeface="Arial"/>
                    <a:cs typeface="Arial"/>
                  </a:rPr>
                  <a:t>path delay</a:t>
                </a:r>
                <a:r>
                  <a:rPr sz="2000" b="1" spc="-45" dirty="0">
                    <a:latin typeface="Arial"/>
                    <a:cs typeface="Arial"/>
                  </a:rPr>
                  <a:t> </a:t>
                </a:r>
                <a:r>
                  <a:rPr sz="2000" b="1" dirty="0">
                    <a:latin typeface="Arial"/>
                    <a:cs typeface="Arial"/>
                  </a:rPr>
                  <a:t>faults</a:t>
                </a:r>
                <a:endParaRPr sz="2000" dirty="0">
                  <a:latin typeface="Arial"/>
                  <a:cs typeface="Arial"/>
                </a:endParaRPr>
              </a:p>
              <a:p>
                <a:pPr marL="7562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56285" algn="l"/>
                    <a:tab pos="756920" algn="l"/>
                    <a:tab pos="3856354" algn="l"/>
                  </a:tabLst>
                </a:pPr>
                <a:r>
                  <a:rPr sz="2000" b="1" dirty="0">
                    <a:latin typeface="Arial"/>
                    <a:cs typeface="Arial"/>
                  </a:rPr>
                  <a:t>Two-pattern test</a:t>
                </a:r>
                <a:r>
                  <a:rPr sz="2000" b="1" spc="-60" dirty="0">
                    <a:latin typeface="Arial"/>
                    <a:cs typeface="Arial"/>
                  </a:rPr>
                  <a:t> </a:t>
                </a:r>
                <a:r>
                  <a:rPr sz="2000" b="1" dirty="0">
                    <a:latin typeface="Arial"/>
                    <a:cs typeface="Arial"/>
                  </a:rPr>
                  <a:t>for</a:t>
                </a:r>
                <a:r>
                  <a:rPr sz="2000" b="1" spc="-20" dirty="0">
                    <a:latin typeface="Arial"/>
                    <a:cs typeface="Arial"/>
                  </a:rPr>
                  <a:t> </a:t>
                </a:r>
                <a:r>
                  <a:rPr sz="2000" b="1" dirty="0">
                    <a:latin typeface="Arial"/>
                    <a:cs typeface="Arial"/>
                  </a:rPr>
                  <a:t>PDF	</a:t>
                </a:r>
                <a:r>
                  <a:rPr lang="en-US" sz="2000" b="1" spc="-390" dirty="0">
                    <a:ea typeface="Cambria Math" panose="02040503050406030204" pitchFamily="18" charset="0"/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pc="-39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↓ </m:t>
                    </m:r>
                  </m:oMath>
                </a14:m>
                <a:r>
                  <a:rPr lang="en-US" sz="2000" b="1" spc="-65" dirty="0">
                    <a:solidFill>
                      <a:srgbClr val="0000FF"/>
                    </a:solidFill>
                    <a:latin typeface="Arial"/>
                    <a:cs typeface="Arial"/>
                  </a:rPr>
                  <a:t>   </a:t>
                </a:r>
                <a:r>
                  <a:rPr sz="2000" b="1" spc="-65" dirty="0">
                    <a:solidFill>
                      <a:srgbClr val="0000FF"/>
                    </a:solidFill>
                    <a:latin typeface="Arial"/>
                    <a:cs typeface="Arial"/>
                  </a:rPr>
                  <a:t>BEFJK</a:t>
                </a:r>
                <a:endParaRPr sz="20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3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26" y="915162"/>
                <a:ext cx="8278495" cy="1808829"/>
              </a:xfrm>
              <a:prstGeom prst="rect">
                <a:avLst/>
              </a:prstGeom>
              <a:blipFill>
                <a:blip r:embed="rId4"/>
                <a:stretch>
                  <a:fillRect l="-1991" t="-6294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bject 35"/>
          <p:cNvSpPr/>
          <p:nvPr/>
        </p:nvSpPr>
        <p:spPr>
          <a:xfrm>
            <a:off x="1692401" y="5226558"/>
            <a:ext cx="539750" cy="0"/>
          </a:xfrm>
          <a:custGeom>
            <a:avLst/>
            <a:gdLst/>
            <a:ahLst/>
            <a:cxnLst/>
            <a:rect l="l" t="t" r="r" b="b"/>
            <a:pathLst>
              <a:path w="539750">
                <a:moveTo>
                  <a:pt x="0" y="0"/>
                </a:moveTo>
                <a:lnTo>
                  <a:pt x="539750" y="0"/>
                </a:lnTo>
              </a:path>
            </a:pathLst>
          </a:custGeom>
          <a:ln w="2895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736342" y="5377434"/>
            <a:ext cx="1170305" cy="0"/>
          </a:xfrm>
          <a:custGeom>
            <a:avLst/>
            <a:gdLst/>
            <a:ahLst/>
            <a:cxnLst/>
            <a:rect l="l" t="t" r="r" b="b"/>
            <a:pathLst>
              <a:path w="1170304">
                <a:moveTo>
                  <a:pt x="0" y="0"/>
                </a:moveTo>
                <a:lnTo>
                  <a:pt x="1169923" y="0"/>
                </a:lnTo>
              </a:path>
            </a:pathLst>
          </a:custGeom>
          <a:ln w="2895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185153" y="4584953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2895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854702" y="3292221"/>
            <a:ext cx="3194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latin typeface="Helvetica"/>
                <a:cs typeface="Helvetica"/>
              </a:rPr>
              <a:t>H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803398" y="3871721"/>
            <a:ext cx="2520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latin typeface="Helvetica"/>
                <a:cs typeface="Helvetica"/>
              </a:rPr>
              <a:t>L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49755" y="4876927"/>
            <a:ext cx="2971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latin typeface="Helvetica"/>
                <a:cs typeface="Helvetica"/>
              </a:rPr>
              <a:t>B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321302" y="4732782"/>
            <a:ext cx="1354455" cy="636905"/>
          </a:xfrm>
          <a:custGeom>
            <a:avLst/>
            <a:gdLst/>
            <a:ahLst/>
            <a:cxnLst/>
            <a:rect l="l" t="t" r="r" b="b"/>
            <a:pathLst>
              <a:path w="1354454" h="636904">
                <a:moveTo>
                  <a:pt x="0" y="636524"/>
                </a:moveTo>
                <a:lnTo>
                  <a:pt x="586994" y="636524"/>
                </a:lnTo>
                <a:lnTo>
                  <a:pt x="586994" y="0"/>
                </a:lnTo>
                <a:lnTo>
                  <a:pt x="1354201" y="0"/>
                </a:lnTo>
              </a:path>
            </a:pathLst>
          </a:custGeom>
          <a:ln w="2895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6749922" y="4309998"/>
            <a:ext cx="2971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latin typeface="Helvetica"/>
                <a:cs typeface="Helvetica"/>
              </a:rPr>
              <a:t>K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780538" y="5361228"/>
            <a:ext cx="2971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latin typeface="Helvetica"/>
                <a:cs typeface="Helvetica"/>
              </a:rPr>
              <a:t>E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443732" y="5353608"/>
            <a:ext cx="2743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latin typeface="Helvetica"/>
                <a:cs typeface="Helvetica"/>
              </a:rPr>
              <a:t>F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55896" y="5381345"/>
            <a:ext cx="2292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latin typeface="Helvetica"/>
                <a:cs typeface="Helvetica"/>
              </a:rPr>
              <a:t>J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25169" y="3317240"/>
            <a:ext cx="7219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36880" algn="l"/>
              </a:tabLst>
            </a:pPr>
            <a:r>
              <a:rPr sz="2000" b="1" dirty="0">
                <a:solidFill>
                  <a:srgbClr val="FF8000"/>
                </a:solidFill>
                <a:latin typeface="Helvetica"/>
                <a:cs typeface="Helvetica"/>
              </a:rPr>
              <a:t>00	</a:t>
            </a:r>
            <a:r>
              <a:rPr sz="4800" i="1" baseline="-5208" dirty="0">
                <a:latin typeface="Helvetica"/>
                <a:cs typeface="Helvetica"/>
              </a:rPr>
              <a:t>A</a:t>
            </a:r>
            <a:endParaRPr sz="4800" baseline="-5208">
              <a:latin typeface="Helvetica"/>
              <a:cs typeface="Helvetic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834389" y="5001005"/>
            <a:ext cx="508000" cy="280670"/>
          </a:xfrm>
          <a:custGeom>
            <a:avLst/>
            <a:gdLst/>
            <a:ahLst/>
            <a:cxnLst/>
            <a:rect l="l" t="t" r="r" b="b"/>
            <a:pathLst>
              <a:path w="508000" h="280670">
                <a:moveTo>
                  <a:pt x="0" y="0"/>
                </a:moveTo>
                <a:lnTo>
                  <a:pt x="253746" y="0"/>
                </a:lnTo>
                <a:lnTo>
                  <a:pt x="253746" y="280416"/>
                </a:lnTo>
                <a:lnTo>
                  <a:pt x="507491" y="280416"/>
                </a:lnTo>
              </a:path>
            </a:pathLst>
          </a:custGeom>
          <a:ln w="28955">
            <a:solidFill>
              <a:srgbClr val="FF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77519" y="5204866"/>
            <a:ext cx="7797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8000"/>
                </a:solidFill>
                <a:latin typeface="Helvetica"/>
                <a:cs typeface="Helvetica"/>
              </a:rPr>
              <a:t>00</a:t>
            </a:r>
            <a:r>
              <a:rPr sz="2000" b="1" spc="365" dirty="0">
                <a:solidFill>
                  <a:srgbClr val="FF8000"/>
                </a:solidFill>
                <a:latin typeface="Helvetica"/>
                <a:cs typeface="Helvetica"/>
              </a:rPr>
              <a:t> </a:t>
            </a:r>
            <a:r>
              <a:rPr sz="4800" i="1" baseline="-10416" dirty="0">
                <a:latin typeface="Helvetica"/>
                <a:cs typeface="Helvetica"/>
              </a:rPr>
              <a:t>C</a:t>
            </a:r>
            <a:endParaRPr sz="4800" baseline="-10416">
              <a:latin typeface="Helvetica"/>
              <a:cs typeface="Helvetic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270753" y="3966159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8000"/>
                </a:solidFill>
                <a:latin typeface="Helvetica"/>
                <a:cs typeface="Helvetica"/>
              </a:rPr>
              <a:t>00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073145" y="5979414"/>
            <a:ext cx="579120" cy="259079"/>
          </a:xfrm>
          <a:custGeom>
            <a:avLst/>
            <a:gdLst/>
            <a:ahLst/>
            <a:cxnLst/>
            <a:rect l="l" t="t" r="r" b="b"/>
            <a:pathLst>
              <a:path w="579120" h="259079">
                <a:moveTo>
                  <a:pt x="0" y="0"/>
                </a:moveTo>
                <a:lnTo>
                  <a:pt x="289559" y="0"/>
                </a:lnTo>
                <a:lnTo>
                  <a:pt x="289559" y="259080"/>
                </a:lnTo>
                <a:lnTo>
                  <a:pt x="579119" y="259080"/>
                </a:lnTo>
              </a:path>
            </a:pathLst>
          </a:custGeom>
          <a:ln w="28956">
            <a:solidFill>
              <a:srgbClr val="FF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092446" y="5080253"/>
            <a:ext cx="643255" cy="280670"/>
          </a:xfrm>
          <a:custGeom>
            <a:avLst/>
            <a:gdLst/>
            <a:ahLst/>
            <a:cxnLst/>
            <a:rect l="l" t="t" r="r" b="b"/>
            <a:pathLst>
              <a:path w="643254" h="280670">
                <a:moveTo>
                  <a:pt x="0" y="280416"/>
                </a:moveTo>
                <a:lnTo>
                  <a:pt x="321563" y="280416"/>
                </a:lnTo>
                <a:lnTo>
                  <a:pt x="321563" y="0"/>
                </a:lnTo>
                <a:lnTo>
                  <a:pt x="643127" y="0"/>
                </a:lnTo>
              </a:path>
            </a:pathLst>
          </a:custGeom>
          <a:ln w="28956">
            <a:solidFill>
              <a:srgbClr val="FF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041642" y="3976878"/>
            <a:ext cx="650875" cy="306705"/>
          </a:xfrm>
          <a:custGeom>
            <a:avLst/>
            <a:gdLst/>
            <a:ahLst/>
            <a:cxnLst/>
            <a:rect l="l" t="t" r="r" b="b"/>
            <a:pathLst>
              <a:path w="650875" h="306704">
                <a:moveTo>
                  <a:pt x="0" y="306324"/>
                </a:moveTo>
                <a:lnTo>
                  <a:pt x="325374" y="306324"/>
                </a:lnTo>
                <a:lnTo>
                  <a:pt x="325374" y="0"/>
                </a:lnTo>
                <a:lnTo>
                  <a:pt x="650748" y="0"/>
                </a:lnTo>
              </a:path>
            </a:pathLst>
          </a:custGeom>
          <a:ln w="28956">
            <a:solidFill>
              <a:srgbClr val="FF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5904" y="858011"/>
            <a:ext cx="7907020" cy="4707890"/>
          </a:xfrm>
          <a:custGeom>
            <a:avLst/>
            <a:gdLst/>
            <a:ahLst/>
            <a:cxnLst/>
            <a:rect l="l" t="t" r="r" b="b"/>
            <a:pathLst>
              <a:path w="7907020" h="4707890">
                <a:moveTo>
                  <a:pt x="0" y="4707636"/>
                </a:moveTo>
                <a:lnTo>
                  <a:pt x="7906511" y="4707636"/>
                </a:lnTo>
                <a:lnTo>
                  <a:pt x="7906511" y="0"/>
                </a:lnTo>
                <a:lnTo>
                  <a:pt x="0" y="0"/>
                </a:lnTo>
                <a:lnTo>
                  <a:pt x="0" y="4707636"/>
                </a:lnTo>
                <a:close/>
              </a:path>
            </a:pathLst>
          </a:custGeom>
          <a:solidFill>
            <a:srgbClr val="66FF66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834644" y="882472"/>
                <a:ext cx="5733415" cy="1551305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5"/>
                  </a:spcBef>
                  <a:tabLst>
                    <a:tab pos="575310" algn="l"/>
                  </a:tabLst>
                </a:pPr>
                <a:r>
                  <a:rPr sz="2000" b="1" dirty="0">
                    <a:latin typeface="Helvetica"/>
                    <a:cs typeface="Helvetica"/>
                  </a:rPr>
                  <a:t>Q1:	</a:t>
                </a:r>
                <a:r>
                  <a:rPr sz="2000" b="1" spc="-5" dirty="0">
                    <a:latin typeface="Helvetica"/>
                    <a:cs typeface="Helvetica"/>
                  </a:rPr>
                  <a:t>How </a:t>
                </a:r>
                <a:r>
                  <a:rPr sz="2000" b="1" dirty="0">
                    <a:latin typeface="Helvetica"/>
                    <a:cs typeface="Helvetica"/>
                  </a:rPr>
                  <a:t>many path delay faults in this</a:t>
                </a:r>
                <a:r>
                  <a:rPr sz="2000" b="1" spc="-170" dirty="0">
                    <a:latin typeface="Helvetica"/>
                    <a:cs typeface="Helvetica"/>
                  </a:rPr>
                  <a:t> </a:t>
                </a:r>
                <a:r>
                  <a:rPr sz="2000" b="1" dirty="0">
                    <a:latin typeface="Helvetica"/>
                    <a:cs typeface="Helvetica"/>
                  </a:rPr>
                  <a:t>circuit?</a:t>
                </a:r>
                <a:endParaRPr sz="2000" dirty="0">
                  <a:latin typeface="Helvetica"/>
                  <a:cs typeface="Helvetica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5"/>
                  </a:spcBef>
                </a:pPr>
                <a:r>
                  <a:rPr sz="2000" b="1" dirty="0">
                    <a:latin typeface="Helvetica"/>
                    <a:cs typeface="Helvetica"/>
                  </a:rPr>
                  <a:t>A:</a:t>
                </a:r>
                <a:endParaRPr sz="2000" dirty="0">
                  <a:latin typeface="Helvetica"/>
                  <a:cs typeface="Helvetica"/>
                </a:endParaRPr>
              </a:p>
              <a:p>
                <a:pPr>
                  <a:lnSpc>
                    <a:spcPct val="100000"/>
                  </a:lnSpc>
                  <a:spcBef>
                    <a:spcPts val="15"/>
                  </a:spcBef>
                </a:pPr>
                <a:endParaRPr sz="2000" dirty="0">
                  <a:latin typeface="Helvetica"/>
                  <a:cs typeface="Helvetica"/>
                </a:endParaRPr>
              </a:p>
              <a:p>
                <a:pPr marL="12700">
                  <a:lnSpc>
                    <a:spcPct val="100000"/>
                  </a:lnSpc>
                  <a:tabLst>
                    <a:tab pos="575310" algn="l"/>
                    <a:tab pos="4916170" algn="l"/>
                  </a:tabLst>
                </a:pPr>
                <a:r>
                  <a:rPr sz="2000" b="1" dirty="0">
                    <a:latin typeface="Helvetica"/>
                    <a:cs typeface="Helvetica"/>
                  </a:rPr>
                  <a:t>Q2:	Does </a:t>
                </a:r>
                <a:r>
                  <a:rPr sz="2000" b="1" spc="40" dirty="0">
                    <a:latin typeface="Helvetica"/>
                    <a:cs typeface="Helvetica"/>
                  </a:rPr>
                  <a:t>ABC=001</a:t>
                </a:r>
                <a:r>
                  <a:rPr sz="2000" spc="40" dirty="0">
                    <a:latin typeface="Arial Unicode MS"/>
                    <a:cs typeface="Arial Unicode MS"/>
                  </a:rPr>
                  <a:t>→</a:t>
                </a:r>
                <a:r>
                  <a:rPr sz="2000" b="1" spc="40" dirty="0">
                    <a:latin typeface="Helvetica"/>
                    <a:cs typeface="Helvetica"/>
                  </a:rPr>
                  <a:t>011</a:t>
                </a:r>
                <a:r>
                  <a:rPr sz="2000" b="1" spc="-100" dirty="0">
                    <a:latin typeface="Helvetica"/>
                    <a:cs typeface="Helvetica"/>
                  </a:rPr>
                  <a:t> </a:t>
                </a:r>
                <a:r>
                  <a:rPr sz="2000" b="1" dirty="0">
                    <a:latin typeface="Helvetica"/>
                    <a:cs typeface="Helvetica"/>
                  </a:rPr>
                  <a:t>detect</a:t>
                </a:r>
                <a:r>
                  <a:rPr sz="2000" b="1" spc="-15" dirty="0">
                    <a:latin typeface="Helvetica"/>
                    <a:cs typeface="Helvetic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pc="-39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↑</m:t>
                    </m:r>
                  </m:oMath>
                </a14:m>
                <a:r>
                  <a:rPr lang="en-US" sz="2000" b="1" spc="-390" dirty="0">
                    <a:latin typeface="Arial"/>
                    <a:cs typeface="Arial"/>
                  </a:rPr>
                  <a:t>    </a:t>
                </a:r>
                <a:r>
                  <a:rPr sz="2000" b="1" spc="-75" dirty="0">
                    <a:latin typeface="Helvetica"/>
                    <a:cs typeface="Helvetica"/>
                  </a:rPr>
                  <a:t>BEFK	</a:t>
                </a:r>
                <a:r>
                  <a:rPr sz="2000" b="1" dirty="0">
                    <a:latin typeface="Helvetica"/>
                    <a:cs typeface="Helvetica"/>
                  </a:rPr>
                  <a:t>fault?</a:t>
                </a:r>
                <a:endParaRPr sz="2000" dirty="0">
                  <a:latin typeface="Helvetica"/>
                  <a:cs typeface="Helvetica"/>
                </a:endParaRPr>
              </a:p>
              <a:p>
                <a:pPr marL="12700">
                  <a:lnSpc>
                    <a:spcPct val="100000"/>
                  </a:lnSpc>
                </a:pPr>
                <a:r>
                  <a:rPr sz="2000" b="1" dirty="0">
                    <a:latin typeface="Helvetica"/>
                    <a:cs typeface="Helvetica"/>
                  </a:rPr>
                  <a:t>A:</a:t>
                </a:r>
                <a:endParaRPr sz="2000" dirty="0">
                  <a:latin typeface="Helvetica"/>
                  <a:cs typeface="Helvetica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644" y="882472"/>
                <a:ext cx="5733415" cy="1551305"/>
              </a:xfrm>
              <a:prstGeom prst="rect">
                <a:avLst/>
              </a:prstGeom>
              <a:blipFill>
                <a:blip r:embed="rId3"/>
                <a:stretch>
                  <a:fillRect l="-2434" t="-4065" r="-2212" b="-8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/>
          <p:nvPr/>
        </p:nvSpPr>
        <p:spPr>
          <a:xfrm>
            <a:off x="6497573" y="4223765"/>
            <a:ext cx="1043940" cy="0"/>
          </a:xfrm>
          <a:custGeom>
            <a:avLst/>
            <a:gdLst/>
            <a:ahLst/>
            <a:cxnLst/>
            <a:rect l="l" t="t" r="r" b="b"/>
            <a:pathLst>
              <a:path w="1043940">
                <a:moveTo>
                  <a:pt x="1043940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8014" y="4007358"/>
            <a:ext cx="433070" cy="433070"/>
          </a:xfrm>
          <a:custGeom>
            <a:avLst/>
            <a:gdLst/>
            <a:ahLst/>
            <a:cxnLst/>
            <a:rect l="l" t="t" r="r" b="b"/>
            <a:pathLst>
              <a:path w="433070" h="433070">
                <a:moveTo>
                  <a:pt x="0" y="0"/>
                </a:moveTo>
                <a:lnTo>
                  <a:pt x="24997" y="42486"/>
                </a:lnTo>
                <a:lnTo>
                  <a:pt x="44439" y="85502"/>
                </a:lnTo>
                <a:lnTo>
                  <a:pt x="58327" y="128916"/>
                </a:lnTo>
                <a:lnTo>
                  <a:pt x="66659" y="172596"/>
                </a:lnTo>
                <a:lnTo>
                  <a:pt x="69437" y="216408"/>
                </a:lnTo>
                <a:lnTo>
                  <a:pt x="66659" y="260219"/>
                </a:lnTo>
                <a:lnTo>
                  <a:pt x="58327" y="303899"/>
                </a:lnTo>
                <a:lnTo>
                  <a:pt x="44439" y="347313"/>
                </a:lnTo>
                <a:lnTo>
                  <a:pt x="24997" y="390329"/>
                </a:lnTo>
                <a:lnTo>
                  <a:pt x="0" y="432816"/>
                </a:lnTo>
                <a:lnTo>
                  <a:pt x="63953" y="430469"/>
                </a:lnTo>
                <a:lnTo>
                  <a:pt x="124994" y="423652"/>
                </a:lnTo>
                <a:lnTo>
                  <a:pt x="182454" y="412700"/>
                </a:lnTo>
                <a:lnTo>
                  <a:pt x="235662" y="397948"/>
                </a:lnTo>
                <a:lnTo>
                  <a:pt x="283949" y="379730"/>
                </a:lnTo>
                <a:lnTo>
                  <a:pt x="326645" y="358382"/>
                </a:lnTo>
                <a:lnTo>
                  <a:pt x="363080" y="334239"/>
                </a:lnTo>
                <a:lnTo>
                  <a:pt x="392585" y="307635"/>
                </a:lnTo>
                <a:lnTo>
                  <a:pt x="428122" y="248384"/>
                </a:lnTo>
                <a:lnTo>
                  <a:pt x="432815" y="216408"/>
                </a:lnTo>
                <a:lnTo>
                  <a:pt x="428122" y="184431"/>
                </a:lnTo>
                <a:lnTo>
                  <a:pt x="392585" y="125180"/>
                </a:lnTo>
                <a:lnTo>
                  <a:pt x="363080" y="98576"/>
                </a:lnTo>
                <a:lnTo>
                  <a:pt x="326645" y="74433"/>
                </a:lnTo>
                <a:lnTo>
                  <a:pt x="283949" y="53085"/>
                </a:lnTo>
                <a:lnTo>
                  <a:pt x="235662" y="34867"/>
                </a:lnTo>
                <a:lnTo>
                  <a:pt x="182454" y="20115"/>
                </a:lnTo>
                <a:lnTo>
                  <a:pt x="124994" y="9163"/>
                </a:lnTo>
                <a:lnTo>
                  <a:pt x="63953" y="23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8014" y="4007358"/>
            <a:ext cx="433070" cy="433070"/>
          </a:xfrm>
          <a:custGeom>
            <a:avLst/>
            <a:gdLst/>
            <a:ahLst/>
            <a:cxnLst/>
            <a:rect l="l" t="t" r="r" b="b"/>
            <a:pathLst>
              <a:path w="433070" h="433070">
                <a:moveTo>
                  <a:pt x="0" y="432816"/>
                </a:moveTo>
                <a:lnTo>
                  <a:pt x="63953" y="430469"/>
                </a:lnTo>
                <a:lnTo>
                  <a:pt x="124994" y="423652"/>
                </a:lnTo>
                <a:lnTo>
                  <a:pt x="182454" y="412700"/>
                </a:lnTo>
                <a:lnTo>
                  <a:pt x="235662" y="397948"/>
                </a:lnTo>
                <a:lnTo>
                  <a:pt x="283949" y="379730"/>
                </a:lnTo>
                <a:lnTo>
                  <a:pt x="326645" y="358382"/>
                </a:lnTo>
                <a:lnTo>
                  <a:pt x="363080" y="334239"/>
                </a:lnTo>
                <a:lnTo>
                  <a:pt x="392585" y="307635"/>
                </a:lnTo>
                <a:lnTo>
                  <a:pt x="428122" y="248384"/>
                </a:lnTo>
                <a:lnTo>
                  <a:pt x="432815" y="216408"/>
                </a:lnTo>
                <a:lnTo>
                  <a:pt x="428122" y="184431"/>
                </a:lnTo>
                <a:lnTo>
                  <a:pt x="392585" y="125180"/>
                </a:lnTo>
                <a:lnTo>
                  <a:pt x="363080" y="98576"/>
                </a:lnTo>
                <a:lnTo>
                  <a:pt x="326645" y="74433"/>
                </a:lnTo>
                <a:lnTo>
                  <a:pt x="283949" y="53085"/>
                </a:lnTo>
                <a:lnTo>
                  <a:pt x="235662" y="34867"/>
                </a:lnTo>
                <a:lnTo>
                  <a:pt x="182454" y="20115"/>
                </a:lnTo>
                <a:lnTo>
                  <a:pt x="124994" y="9163"/>
                </a:lnTo>
                <a:lnTo>
                  <a:pt x="63953" y="2346"/>
                </a:lnTo>
                <a:lnTo>
                  <a:pt x="0" y="0"/>
                </a:lnTo>
                <a:lnTo>
                  <a:pt x="24997" y="42486"/>
                </a:lnTo>
                <a:lnTo>
                  <a:pt x="44439" y="85502"/>
                </a:lnTo>
                <a:lnTo>
                  <a:pt x="58327" y="128916"/>
                </a:lnTo>
                <a:lnTo>
                  <a:pt x="66659" y="172596"/>
                </a:lnTo>
                <a:lnTo>
                  <a:pt x="69437" y="216408"/>
                </a:lnTo>
                <a:lnTo>
                  <a:pt x="66659" y="260219"/>
                </a:lnTo>
                <a:lnTo>
                  <a:pt x="58327" y="303899"/>
                </a:lnTo>
                <a:lnTo>
                  <a:pt x="44439" y="347313"/>
                </a:lnTo>
                <a:lnTo>
                  <a:pt x="24997" y="390329"/>
                </a:lnTo>
                <a:lnTo>
                  <a:pt x="0" y="43281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46170" y="4510278"/>
            <a:ext cx="905510" cy="0"/>
          </a:xfrm>
          <a:custGeom>
            <a:avLst/>
            <a:gdLst/>
            <a:ahLst/>
            <a:cxnLst/>
            <a:rect l="l" t="t" r="r" b="b"/>
            <a:pathLst>
              <a:path w="905510">
                <a:moveTo>
                  <a:pt x="905255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74798" y="4799838"/>
            <a:ext cx="1976755" cy="0"/>
          </a:xfrm>
          <a:custGeom>
            <a:avLst/>
            <a:gdLst/>
            <a:ahLst/>
            <a:cxnLst/>
            <a:rect l="l" t="t" r="r" b="b"/>
            <a:pathLst>
              <a:path w="1976754">
                <a:moveTo>
                  <a:pt x="1976627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09694" y="4440173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215645" y="0"/>
                </a:moveTo>
                <a:lnTo>
                  <a:pt x="0" y="0"/>
                </a:lnTo>
                <a:lnTo>
                  <a:pt x="0" y="429768"/>
                </a:lnTo>
                <a:lnTo>
                  <a:pt x="215645" y="429768"/>
                </a:lnTo>
                <a:lnTo>
                  <a:pt x="265100" y="424089"/>
                </a:lnTo>
                <a:lnTo>
                  <a:pt x="310493" y="407916"/>
                </a:lnTo>
                <a:lnTo>
                  <a:pt x="350533" y="382541"/>
                </a:lnTo>
                <a:lnTo>
                  <a:pt x="383925" y="349258"/>
                </a:lnTo>
                <a:lnTo>
                  <a:pt x="409378" y="309358"/>
                </a:lnTo>
                <a:lnTo>
                  <a:pt x="425598" y="264136"/>
                </a:lnTo>
                <a:lnTo>
                  <a:pt x="431291" y="214883"/>
                </a:lnTo>
                <a:lnTo>
                  <a:pt x="425598" y="165631"/>
                </a:lnTo>
                <a:lnTo>
                  <a:pt x="409378" y="120409"/>
                </a:lnTo>
                <a:lnTo>
                  <a:pt x="383925" y="80509"/>
                </a:lnTo>
                <a:lnTo>
                  <a:pt x="350533" y="47226"/>
                </a:lnTo>
                <a:lnTo>
                  <a:pt x="310493" y="21851"/>
                </a:lnTo>
                <a:lnTo>
                  <a:pt x="265100" y="5678"/>
                </a:lnTo>
                <a:lnTo>
                  <a:pt x="215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09694" y="4440173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0" y="0"/>
                </a:moveTo>
                <a:lnTo>
                  <a:pt x="215645" y="0"/>
                </a:lnTo>
                <a:lnTo>
                  <a:pt x="265100" y="5678"/>
                </a:lnTo>
                <a:lnTo>
                  <a:pt x="310493" y="21851"/>
                </a:lnTo>
                <a:lnTo>
                  <a:pt x="350533" y="47226"/>
                </a:lnTo>
                <a:lnTo>
                  <a:pt x="383925" y="80509"/>
                </a:lnTo>
                <a:lnTo>
                  <a:pt x="409378" y="120409"/>
                </a:lnTo>
                <a:lnTo>
                  <a:pt x="425598" y="165631"/>
                </a:lnTo>
                <a:lnTo>
                  <a:pt x="431291" y="214883"/>
                </a:lnTo>
                <a:lnTo>
                  <a:pt x="425598" y="264136"/>
                </a:lnTo>
                <a:lnTo>
                  <a:pt x="409378" y="309358"/>
                </a:lnTo>
                <a:lnTo>
                  <a:pt x="383925" y="349258"/>
                </a:lnTo>
                <a:lnTo>
                  <a:pt x="350533" y="382541"/>
                </a:lnTo>
                <a:lnTo>
                  <a:pt x="310493" y="407916"/>
                </a:lnTo>
                <a:lnTo>
                  <a:pt x="265100" y="424089"/>
                </a:lnTo>
                <a:lnTo>
                  <a:pt x="215645" y="429768"/>
                </a:lnTo>
                <a:lnTo>
                  <a:pt x="0" y="429768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96640" y="4451603"/>
            <a:ext cx="109727" cy="1112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326129" y="4367021"/>
            <a:ext cx="288290" cy="287020"/>
          </a:xfrm>
          <a:custGeom>
            <a:avLst/>
            <a:gdLst/>
            <a:ahLst/>
            <a:cxnLst/>
            <a:rect l="l" t="t" r="r" b="b"/>
            <a:pathLst>
              <a:path w="288289" h="287020">
                <a:moveTo>
                  <a:pt x="0" y="0"/>
                </a:moveTo>
                <a:lnTo>
                  <a:pt x="0" y="286511"/>
                </a:lnTo>
                <a:lnTo>
                  <a:pt x="288036" y="1432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26129" y="4367021"/>
            <a:ext cx="288290" cy="287020"/>
          </a:xfrm>
          <a:custGeom>
            <a:avLst/>
            <a:gdLst/>
            <a:ahLst/>
            <a:cxnLst/>
            <a:rect l="l" t="t" r="r" b="b"/>
            <a:pathLst>
              <a:path w="288289" h="287020">
                <a:moveTo>
                  <a:pt x="0" y="0"/>
                </a:moveTo>
                <a:lnTo>
                  <a:pt x="288036" y="143255"/>
                </a:lnTo>
                <a:lnTo>
                  <a:pt x="0" y="286511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264528" y="3978402"/>
            <a:ext cx="3689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spc="10" dirty="0">
                <a:solidFill>
                  <a:srgbClr val="FF0000"/>
                </a:solidFill>
                <a:latin typeface="Helvetica"/>
                <a:cs typeface="Helvetica"/>
              </a:rPr>
              <a:t>G</a:t>
            </a:r>
            <a:r>
              <a:rPr sz="1950" b="1" spc="15" baseline="-21367" dirty="0">
                <a:solidFill>
                  <a:srgbClr val="FF0000"/>
                </a:solidFill>
                <a:latin typeface="Helvetica"/>
                <a:cs typeface="Helvetica"/>
              </a:rPr>
              <a:t>4</a:t>
            </a:r>
            <a:endParaRPr sz="1950" baseline="-21367">
              <a:latin typeface="Helvetica"/>
              <a:cs typeface="Helvetic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06801" y="3789426"/>
            <a:ext cx="720725" cy="720725"/>
          </a:xfrm>
          <a:custGeom>
            <a:avLst/>
            <a:gdLst/>
            <a:ahLst/>
            <a:cxnLst/>
            <a:rect l="l" t="t" r="r" b="b"/>
            <a:pathLst>
              <a:path w="720725" h="720725">
                <a:moveTo>
                  <a:pt x="0" y="0"/>
                </a:moveTo>
                <a:lnTo>
                  <a:pt x="358648" y="0"/>
                </a:lnTo>
                <a:lnTo>
                  <a:pt x="358648" y="720725"/>
                </a:lnTo>
                <a:lnTo>
                  <a:pt x="720725" y="720725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223897" y="4625416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C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644901" y="3502914"/>
            <a:ext cx="1906905" cy="0"/>
          </a:xfrm>
          <a:custGeom>
            <a:avLst/>
            <a:gdLst/>
            <a:ahLst/>
            <a:cxnLst/>
            <a:rect l="l" t="t" r="r" b="b"/>
            <a:pathLst>
              <a:path w="1906904">
                <a:moveTo>
                  <a:pt x="1906524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31414" y="3792473"/>
            <a:ext cx="1620520" cy="0"/>
          </a:xfrm>
          <a:custGeom>
            <a:avLst/>
            <a:gdLst/>
            <a:ahLst/>
            <a:cxnLst/>
            <a:rect l="l" t="t" r="r" b="b"/>
            <a:pathLst>
              <a:path w="1620520">
                <a:moveTo>
                  <a:pt x="16200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09694" y="3431285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215645" y="0"/>
                </a:moveTo>
                <a:lnTo>
                  <a:pt x="0" y="0"/>
                </a:lnTo>
                <a:lnTo>
                  <a:pt x="0" y="429768"/>
                </a:lnTo>
                <a:lnTo>
                  <a:pt x="215645" y="429768"/>
                </a:lnTo>
                <a:lnTo>
                  <a:pt x="265100" y="424089"/>
                </a:lnTo>
                <a:lnTo>
                  <a:pt x="310493" y="407916"/>
                </a:lnTo>
                <a:lnTo>
                  <a:pt x="350533" y="382541"/>
                </a:lnTo>
                <a:lnTo>
                  <a:pt x="383925" y="349258"/>
                </a:lnTo>
                <a:lnTo>
                  <a:pt x="409378" y="309358"/>
                </a:lnTo>
                <a:lnTo>
                  <a:pt x="425598" y="264136"/>
                </a:lnTo>
                <a:lnTo>
                  <a:pt x="431291" y="214883"/>
                </a:lnTo>
                <a:lnTo>
                  <a:pt x="425598" y="165631"/>
                </a:lnTo>
                <a:lnTo>
                  <a:pt x="409378" y="120409"/>
                </a:lnTo>
                <a:lnTo>
                  <a:pt x="383925" y="80509"/>
                </a:lnTo>
                <a:lnTo>
                  <a:pt x="350533" y="47226"/>
                </a:lnTo>
                <a:lnTo>
                  <a:pt x="310493" y="21851"/>
                </a:lnTo>
                <a:lnTo>
                  <a:pt x="265100" y="5678"/>
                </a:lnTo>
                <a:lnTo>
                  <a:pt x="215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09694" y="3431285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0" y="0"/>
                </a:moveTo>
                <a:lnTo>
                  <a:pt x="215645" y="0"/>
                </a:lnTo>
                <a:lnTo>
                  <a:pt x="265100" y="5678"/>
                </a:lnTo>
                <a:lnTo>
                  <a:pt x="310493" y="21851"/>
                </a:lnTo>
                <a:lnTo>
                  <a:pt x="350533" y="47226"/>
                </a:lnTo>
                <a:lnTo>
                  <a:pt x="383925" y="80509"/>
                </a:lnTo>
                <a:lnTo>
                  <a:pt x="409378" y="120409"/>
                </a:lnTo>
                <a:lnTo>
                  <a:pt x="425598" y="165631"/>
                </a:lnTo>
                <a:lnTo>
                  <a:pt x="431291" y="214883"/>
                </a:lnTo>
                <a:lnTo>
                  <a:pt x="425598" y="264136"/>
                </a:lnTo>
                <a:lnTo>
                  <a:pt x="409378" y="309358"/>
                </a:lnTo>
                <a:lnTo>
                  <a:pt x="383925" y="349258"/>
                </a:lnTo>
                <a:lnTo>
                  <a:pt x="350533" y="382541"/>
                </a:lnTo>
                <a:lnTo>
                  <a:pt x="310493" y="407916"/>
                </a:lnTo>
                <a:lnTo>
                  <a:pt x="265100" y="424089"/>
                </a:lnTo>
                <a:lnTo>
                  <a:pt x="215645" y="429768"/>
                </a:lnTo>
                <a:lnTo>
                  <a:pt x="0" y="429768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225420" y="3329762"/>
            <a:ext cx="209550" cy="61912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ts val="2260"/>
              </a:lnSpc>
              <a:spcBef>
                <a:spcPts val="295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A  B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28794" y="3647694"/>
            <a:ext cx="1405255" cy="433705"/>
          </a:xfrm>
          <a:custGeom>
            <a:avLst/>
            <a:gdLst/>
            <a:ahLst/>
            <a:cxnLst/>
            <a:rect l="l" t="t" r="r" b="b"/>
            <a:pathLst>
              <a:path w="1405254" h="433704">
                <a:moveTo>
                  <a:pt x="0" y="0"/>
                </a:moveTo>
                <a:lnTo>
                  <a:pt x="701420" y="0"/>
                </a:lnTo>
                <a:lnTo>
                  <a:pt x="701420" y="433323"/>
                </a:lnTo>
                <a:lnTo>
                  <a:pt x="1405001" y="433323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37938" y="4368546"/>
            <a:ext cx="1403350" cy="287655"/>
          </a:xfrm>
          <a:custGeom>
            <a:avLst/>
            <a:gdLst/>
            <a:ahLst/>
            <a:cxnLst/>
            <a:rect l="l" t="t" r="r" b="b"/>
            <a:pathLst>
              <a:path w="1403350" h="287654">
                <a:moveTo>
                  <a:pt x="0" y="287400"/>
                </a:moveTo>
                <a:lnTo>
                  <a:pt x="700659" y="287400"/>
                </a:lnTo>
                <a:lnTo>
                  <a:pt x="700659" y="0"/>
                </a:lnTo>
                <a:lnTo>
                  <a:pt x="14033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413250" y="3402533"/>
            <a:ext cx="3689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solidFill>
                  <a:srgbClr val="FF0000"/>
                </a:solidFill>
                <a:latin typeface="Helvetica"/>
                <a:cs typeface="Helvetica"/>
              </a:rPr>
              <a:t>G</a:t>
            </a:r>
            <a:r>
              <a:rPr sz="1950" b="1" spc="7" baseline="-21367" dirty="0">
                <a:solidFill>
                  <a:srgbClr val="FF0000"/>
                </a:solidFill>
                <a:latin typeface="Helvetica"/>
                <a:cs typeface="Helvetica"/>
              </a:rPr>
              <a:t>1</a:t>
            </a:r>
            <a:endParaRPr sz="1950" baseline="-21367">
              <a:latin typeface="Helvetica"/>
              <a:cs typeface="Helvetic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61105" y="3978909"/>
            <a:ext cx="3689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spc="10" dirty="0">
                <a:solidFill>
                  <a:srgbClr val="FF0000"/>
                </a:solidFill>
                <a:latin typeface="Helvetica"/>
                <a:cs typeface="Helvetica"/>
              </a:rPr>
              <a:t>G</a:t>
            </a:r>
            <a:r>
              <a:rPr sz="1950" b="1" spc="15" baseline="-21367" dirty="0">
                <a:solidFill>
                  <a:srgbClr val="FF0000"/>
                </a:solidFill>
                <a:latin typeface="Helvetica"/>
                <a:cs typeface="Helvetica"/>
              </a:rPr>
              <a:t>2</a:t>
            </a:r>
            <a:endParaRPr sz="1950" baseline="-21367">
              <a:latin typeface="Helvetica"/>
              <a:cs typeface="Helvetic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13250" y="4411217"/>
            <a:ext cx="3689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spc="10" dirty="0">
                <a:solidFill>
                  <a:srgbClr val="FF0000"/>
                </a:solidFill>
                <a:latin typeface="Helvetica"/>
                <a:cs typeface="Helvetica"/>
              </a:rPr>
              <a:t>G</a:t>
            </a:r>
            <a:r>
              <a:rPr sz="1950" b="1" spc="15" baseline="-21367" dirty="0">
                <a:solidFill>
                  <a:srgbClr val="FF0000"/>
                </a:solidFill>
                <a:latin typeface="Helvetica"/>
                <a:cs typeface="Helvetica"/>
              </a:rPr>
              <a:t>3</a:t>
            </a:r>
            <a:endParaRPr sz="1950" baseline="-21367">
              <a:latin typeface="Helvetica"/>
              <a:cs typeface="Helvetic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887979" y="3710940"/>
            <a:ext cx="146303" cy="1463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981958" y="4131309"/>
            <a:ext cx="195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E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17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46345" y="4120972"/>
            <a:ext cx="1816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F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99223" y="3761359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K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4000246" y="164414"/>
            <a:ext cx="1016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</a:t>
            </a:r>
            <a:r>
              <a:rPr spc="-15" dirty="0"/>
              <a:t>u</a:t>
            </a:r>
            <a:r>
              <a:rPr dirty="0"/>
              <a:t>iz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164414"/>
            <a:ext cx="32499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45" dirty="0"/>
              <a:t> </a:t>
            </a:r>
            <a:r>
              <a:rPr spc="-5" dirty="0"/>
              <a:t>Modeling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4454525" cy="40402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Fault</a:t>
            </a:r>
            <a:r>
              <a:rPr sz="20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Models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Stuck-at fault</a:t>
            </a:r>
            <a:r>
              <a:rPr sz="2000" b="1" spc="-8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(1961)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Bridging fault</a:t>
            </a:r>
            <a:r>
              <a:rPr sz="2000" b="1" spc="-6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(1973)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217805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Delay fault	(1974)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  <a:tabLst>
                <a:tab pos="3170555" algn="l"/>
              </a:tabLst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4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Path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delay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	(PDF)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Transition delay fault</a:t>
            </a:r>
            <a:r>
              <a:rPr sz="2000" b="1" u="sng" spc="-10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(TDF)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Transistor </a:t>
            </a: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level</a:t>
            </a:r>
            <a:r>
              <a:rPr sz="2000" b="1" spc="-4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r>
              <a:rPr sz="2000" b="1" spc="-9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Detection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r>
              <a:rPr sz="2000" b="1" spc="-7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Coverage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Conclusion</a:t>
            </a:r>
            <a:r>
              <a:rPr lang="en-US" sz="2000" b="1" dirty="0">
                <a:solidFill>
                  <a:srgbClr val="A6A6A6"/>
                </a:solidFill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08320" y="3968496"/>
            <a:ext cx="1799844" cy="1946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18</a:t>
            </a:fld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524" y="961136"/>
            <a:ext cx="8697876" cy="3296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  <a:tab pos="3162300" algn="l"/>
              </a:tabLst>
            </a:pPr>
            <a:r>
              <a:rPr sz="2000" b="1" dirty="0">
                <a:latin typeface="Arial"/>
                <a:cs typeface="Arial"/>
              </a:rPr>
              <a:t>Each node has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2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TDF</a:t>
            </a:r>
            <a:r>
              <a:rPr lang="en-US" sz="2000" b="1" dirty="0">
                <a:latin typeface="Arial"/>
                <a:cs typeface="Arial"/>
              </a:rPr>
              <a:t>s</a:t>
            </a:r>
            <a:r>
              <a:rPr sz="2000" b="1" dirty="0">
                <a:latin typeface="Arial"/>
                <a:cs typeface="Arial"/>
              </a:rPr>
              <a:t>:	</a:t>
            </a:r>
            <a:r>
              <a:rPr sz="20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slow-to-rise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(STR)</a:t>
            </a:r>
            <a:r>
              <a:rPr sz="2000" b="1" dirty="0">
                <a:latin typeface="Arial"/>
                <a:cs typeface="Arial"/>
              </a:rPr>
              <a:t>, </a:t>
            </a:r>
            <a:r>
              <a:rPr sz="20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slow-to-fall</a:t>
            </a:r>
            <a:r>
              <a:rPr sz="2000" b="1" i="1" spc="-8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(STF)</a:t>
            </a:r>
            <a:endParaRPr sz="2000" dirty="0">
              <a:latin typeface="Arial-BoldItalicMT"/>
              <a:cs typeface="Arial-BoldItalicMT"/>
            </a:endParaRPr>
          </a:p>
          <a:p>
            <a:pPr marL="825500" lvl="1" indent="-342900"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lang="en-US" sz="2000" b="1" spc="-5" dirty="0">
                <a:latin typeface="Arial"/>
                <a:cs typeface="Arial"/>
              </a:rPr>
              <a:t>Example circuit below: </a:t>
            </a:r>
            <a:r>
              <a:rPr lang="en-US" sz="2000" b="1" dirty="0">
                <a:latin typeface="Arial"/>
                <a:cs typeface="Arial"/>
              </a:rPr>
              <a:t>total 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9 </a:t>
            </a:r>
            <a:r>
              <a:rPr lang="en-US" sz="2000" b="1" dirty="0">
                <a:latin typeface="Arial"/>
                <a:cs typeface="Arial"/>
              </a:rPr>
              <a:t>nodes, 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18</a:t>
            </a:r>
            <a:r>
              <a:rPr lang="en-US" sz="2000" b="1" spc="-10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TDF</a:t>
            </a:r>
          </a:p>
          <a:p>
            <a:pPr marL="3683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Two-pattern test for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TDF</a:t>
            </a:r>
            <a:r>
              <a:rPr lang="en-US" sz="2000" b="1" dirty="0"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spc="5" dirty="0">
                <a:latin typeface="Arial"/>
                <a:cs typeface="Arial"/>
              </a:rPr>
              <a:t>V</a:t>
            </a:r>
            <a:r>
              <a:rPr sz="1950" b="1" spc="7" baseline="-21367" dirty="0">
                <a:latin typeface="Arial"/>
                <a:cs typeface="Arial"/>
              </a:rPr>
              <a:t>1</a:t>
            </a:r>
            <a:r>
              <a:rPr sz="2000" b="1" spc="5" dirty="0">
                <a:latin typeface="Arial"/>
                <a:cs typeface="Arial"/>
              </a:rPr>
              <a:t>: </a:t>
            </a:r>
            <a:r>
              <a:rPr sz="2000" b="1" dirty="0">
                <a:latin typeface="Arial"/>
                <a:cs typeface="Arial"/>
              </a:rPr>
              <a:t>Initialization pattern: control initial </a:t>
            </a:r>
            <a:r>
              <a:rPr sz="2000" b="1" spc="-5" dirty="0">
                <a:latin typeface="Arial"/>
                <a:cs typeface="Arial"/>
              </a:rPr>
              <a:t>value </a:t>
            </a:r>
            <a:r>
              <a:rPr sz="2000" b="1" u="sng" dirty="0">
                <a:latin typeface="Arial"/>
                <a:cs typeface="Arial"/>
              </a:rPr>
              <a:t>at fault</a:t>
            </a:r>
            <a:r>
              <a:rPr sz="2000" b="1" u="sng" spc="-240" dirty="0">
                <a:latin typeface="Arial"/>
                <a:cs typeface="Arial"/>
              </a:rPr>
              <a:t> </a:t>
            </a:r>
            <a:r>
              <a:rPr sz="2000" b="1" u="sng" dirty="0">
                <a:latin typeface="Arial"/>
                <a:cs typeface="Arial"/>
              </a:rPr>
              <a:t>site</a:t>
            </a:r>
            <a:endParaRPr sz="2000" u="sng" dirty="0">
              <a:latin typeface="Arial"/>
              <a:cs typeface="Arial"/>
            </a:endParaRPr>
          </a:p>
          <a:p>
            <a:pPr marL="9398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0 for STR fault, 1 for STF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</a:t>
            </a:r>
            <a:endParaRPr lang="en-US" sz="2000" b="1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  <a:tab pos="1257300" algn="l"/>
              </a:tabLst>
            </a:pPr>
            <a:r>
              <a:rPr sz="2000" b="1" spc="5" dirty="0">
                <a:latin typeface="Arial"/>
                <a:cs typeface="Arial"/>
              </a:rPr>
              <a:t>V</a:t>
            </a:r>
            <a:r>
              <a:rPr sz="1950" b="1" spc="7" baseline="-21367" dirty="0">
                <a:latin typeface="Arial"/>
                <a:cs typeface="Arial"/>
              </a:rPr>
              <a:t>2</a:t>
            </a:r>
            <a:r>
              <a:rPr sz="2000" b="1" spc="5" dirty="0">
                <a:latin typeface="Arial"/>
                <a:cs typeface="Arial"/>
              </a:rPr>
              <a:t>:	</a:t>
            </a:r>
            <a:r>
              <a:rPr sz="2000" b="1" dirty="0">
                <a:latin typeface="Arial"/>
                <a:cs typeface="Arial"/>
              </a:rPr>
              <a:t>launch transition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2000" b="1" dirty="0">
                <a:latin typeface="Arial"/>
                <a:cs typeface="Arial"/>
              </a:rPr>
              <a:t> propagate fault effect to</a:t>
            </a:r>
            <a:r>
              <a:rPr sz="2000" b="1" spc="-1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output</a:t>
            </a:r>
            <a:endParaRPr lang="en-US" sz="2000" b="1" dirty="0">
              <a:latin typeface="Arial"/>
              <a:cs typeface="Arial"/>
            </a:endParaRPr>
          </a:p>
          <a:p>
            <a:pPr marL="939165" lvl="2">
              <a:spcBef>
                <a:spcPts val="480"/>
              </a:spcBef>
              <a:buClr>
                <a:srgbClr val="FF0000"/>
              </a:buClr>
              <a:buSzPct val="75000"/>
              <a:tabLst>
                <a:tab pos="768985" algn="l"/>
                <a:tab pos="769620" algn="l"/>
                <a:tab pos="1257300" algn="l"/>
              </a:tabLst>
            </a:pPr>
            <a:r>
              <a:rPr lang="en-US" sz="20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lang="en-US" sz="20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Detect 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SA0 </a:t>
            </a:r>
            <a:r>
              <a:rPr lang="en-US" sz="2000" b="1" dirty="0">
                <a:latin typeface="Arial"/>
                <a:cs typeface="Arial"/>
              </a:rPr>
              <a:t>for STR fault , 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SA1 </a:t>
            </a:r>
            <a:r>
              <a:rPr lang="en-US" sz="2000" b="1" dirty="0">
                <a:latin typeface="Arial"/>
                <a:cs typeface="Arial"/>
              </a:rPr>
              <a:t>for STF</a:t>
            </a:r>
            <a:r>
              <a:rPr lang="en-US" sz="2000" b="1" spc="-120" dirty="0"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fault</a:t>
            </a:r>
          </a:p>
          <a:p>
            <a:pPr marL="939165" lvl="2">
              <a:spcBef>
                <a:spcPts val="480"/>
              </a:spcBef>
              <a:buClr>
                <a:srgbClr val="FF0000"/>
              </a:buClr>
              <a:buSzPct val="75000"/>
              <a:tabLst>
                <a:tab pos="768985" algn="l"/>
                <a:tab pos="769620" algn="l"/>
                <a:tab pos="1257300" algn="l"/>
              </a:tabLst>
            </a:pPr>
            <a:endParaRPr lang="en-US" sz="2000" i="1" dirty="0">
              <a:latin typeface="Arial"/>
              <a:cs typeface="Arial"/>
            </a:endParaRPr>
          </a:p>
          <a:p>
            <a:pPr marL="1226185" lvl="2" indent="-287020"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  <a:tab pos="1257300" algn="l"/>
              </a:tabLst>
            </a:pPr>
            <a:endParaRPr lang="en-US" sz="2000" b="1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906547" y="5710096"/>
            <a:ext cx="49530" cy="66675"/>
          </a:xfrm>
          <a:custGeom>
            <a:avLst/>
            <a:gdLst/>
            <a:ahLst/>
            <a:cxnLst/>
            <a:rect l="l" t="t" r="r" b="b"/>
            <a:pathLst>
              <a:path w="49529" h="66675">
                <a:moveTo>
                  <a:pt x="0" y="33120"/>
                </a:moveTo>
                <a:lnTo>
                  <a:pt x="1957" y="46007"/>
                </a:lnTo>
                <a:lnTo>
                  <a:pt x="7291" y="56532"/>
                </a:lnTo>
                <a:lnTo>
                  <a:pt x="15197" y="63629"/>
                </a:lnTo>
                <a:lnTo>
                  <a:pt x="24867" y="66231"/>
                </a:lnTo>
                <a:lnTo>
                  <a:pt x="34403" y="63629"/>
                </a:lnTo>
                <a:lnTo>
                  <a:pt x="42240" y="56532"/>
                </a:lnTo>
                <a:lnTo>
                  <a:pt x="47549" y="46007"/>
                </a:lnTo>
                <a:lnTo>
                  <a:pt x="49503" y="33120"/>
                </a:lnTo>
                <a:lnTo>
                  <a:pt x="47549" y="20229"/>
                </a:lnTo>
                <a:lnTo>
                  <a:pt x="42240" y="9701"/>
                </a:lnTo>
                <a:lnTo>
                  <a:pt x="34403" y="2603"/>
                </a:lnTo>
                <a:lnTo>
                  <a:pt x="24867" y="0"/>
                </a:lnTo>
                <a:lnTo>
                  <a:pt x="15197" y="2603"/>
                </a:lnTo>
                <a:lnTo>
                  <a:pt x="7291" y="9701"/>
                </a:lnTo>
                <a:lnTo>
                  <a:pt x="1957" y="20229"/>
                </a:lnTo>
                <a:lnTo>
                  <a:pt x="0" y="33120"/>
                </a:lnTo>
                <a:close/>
              </a:path>
            </a:pathLst>
          </a:custGeom>
          <a:ln w="62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7268" y="5522402"/>
            <a:ext cx="329565" cy="441959"/>
          </a:xfrm>
          <a:custGeom>
            <a:avLst/>
            <a:gdLst/>
            <a:ahLst/>
            <a:cxnLst/>
            <a:rect l="l" t="t" r="r" b="b"/>
            <a:pathLst>
              <a:path w="329564" h="441960">
                <a:moveTo>
                  <a:pt x="0" y="0"/>
                </a:moveTo>
                <a:lnTo>
                  <a:pt x="329278" y="220814"/>
                </a:lnTo>
                <a:lnTo>
                  <a:pt x="0" y="441610"/>
                </a:lnTo>
                <a:lnTo>
                  <a:pt x="0" y="0"/>
                </a:lnTo>
                <a:close/>
              </a:path>
            </a:pathLst>
          </a:custGeom>
          <a:ln w="62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93762" y="4904171"/>
            <a:ext cx="395605" cy="0"/>
          </a:xfrm>
          <a:custGeom>
            <a:avLst/>
            <a:gdLst/>
            <a:ahLst/>
            <a:cxnLst/>
            <a:rect l="l" t="t" r="r" b="b"/>
            <a:pathLst>
              <a:path w="395604">
                <a:moveTo>
                  <a:pt x="0" y="0"/>
                </a:moveTo>
                <a:lnTo>
                  <a:pt x="395097" y="0"/>
                </a:lnTo>
              </a:path>
            </a:pathLst>
          </a:custGeom>
          <a:ln w="7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93762" y="5169136"/>
            <a:ext cx="395605" cy="0"/>
          </a:xfrm>
          <a:custGeom>
            <a:avLst/>
            <a:gdLst/>
            <a:ahLst/>
            <a:cxnLst/>
            <a:rect l="l" t="t" r="r" b="b"/>
            <a:pathLst>
              <a:path w="395604">
                <a:moveTo>
                  <a:pt x="0" y="0"/>
                </a:moveTo>
                <a:lnTo>
                  <a:pt x="395097" y="0"/>
                </a:lnTo>
              </a:path>
            </a:pathLst>
          </a:custGeom>
          <a:ln w="7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88860" y="5036654"/>
            <a:ext cx="395605" cy="0"/>
          </a:xfrm>
          <a:custGeom>
            <a:avLst/>
            <a:gdLst/>
            <a:ahLst/>
            <a:cxnLst/>
            <a:rect l="l" t="t" r="r" b="b"/>
            <a:pathLst>
              <a:path w="395604">
                <a:moveTo>
                  <a:pt x="395329" y="0"/>
                </a:moveTo>
                <a:lnTo>
                  <a:pt x="0" y="0"/>
                </a:lnTo>
              </a:path>
            </a:pathLst>
          </a:custGeom>
          <a:ln w="7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32046" y="4771689"/>
            <a:ext cx="514350" cy="530225"/>
          </a:xfrm>
          <a:custGeom>
            <a:avLst/>
            <a:gdLst/>
            <a:ahLst/>
            <a:cxnLst/>
            <a:rect l="l" t="t" r="r" b="b"/>
            <a:pathLst>
              <a:path w="514350" h="530225">
                <a:moveTo>
                  <a:pt x="154088" y="0"/>
                </a:moveTo>
                <a:lnTo>
                  <a:pt x="0" y="0"/>
                </a:lnTo>
                <a:lnTo>
                  <a:pt x="23682" y="46409"/>
                </a:lnTo>
                <a:lnTo>
                  <a:pt x="42629" y="93876"/>
                </a:lnTo>
                <a:lnTo>
                  <a:pt x="56838" y="142167"/>
                </a:lnTo>
                <a:lnTo>
                  <a:pt x="66311" y="191045"/>
                </a:lnTo>
                <a:lnTo>
                  <a:pt x="71048" y="240278"/>
                </a:lnTo>
                <a:lnTo>
                  <a:pt x="71048" y="289628"/>
                </a:lnTo>
                <a:lnTo>
                  <a:pt x="66311" y="338861"/>
                </a:lnTo>
                <a:lnTo>
                  <a:pt x="56838" y="387743"/>
                </a:lnTo>
                <a:lnTo>
                  <a:pt x="42629" y="436039"/>
                </a:lnTo>
                <a:lnTo>
                  <a:pt x="23682" y="483512"/>
                </a:lnTo>
                <a:lnTo>
                  <a:pt x="0" y="529929"/>
                </a:lnTo>
                <a:lnTo>
                  <a:pt x="154088" y="529929"/>
                </a:lnTo>
                <a:lnTo>
                  <a:pt x="207743" y="515670"/>
                </a:lnTo>
                <a:lnTo>
                  <a:pt x="258781" y="497029"/>
                </a:lnTo>
                <a:lnTo>
                  <a:pt x="306859" y="474258"/>
                </a:lnTo>
                <a:lnTo>
                  <a:pt x="351631" y="447609"/>
                </a:lnTo>
                <a:lnTo>
                  <a:pt x="392753" y="417332"/>
                </a:lnTo>
                <a:lnTo>
                  <a:pt x="429881" y="383677"/>
                </a:lnTo>
                <a:lnTo>
                  <a:pt x="462671" y="346897"/>
                </a:lnTo>
                <a:lnTo>
                  <a:pt x="490778" y="307243"/>
                </a:lnTo>
                <a:lnTo>
                  <a:pt x="513859" y="264964"/>
                </a:lnTo>
                <a:lnTo>
                  <a:pt x="491046" y="222510"/>
                </a:lnTo>
                <a:lnTo>
                  <a:pt x="463126" y="182705"/>
                </a:lnTo>
                <a:lnTo>
                  <a:pt x="430449" y="145808"/>
                </a:lnTo>
                <a:lnTo>
                  <a:pt x="393365" y="112079"/>
                </a:lnTo>
                <a:lnTo>
                  <a:pt x="352223" y="81776"/>
                </a:lnTo>
                <a:lnTo>
                  <a:pt x="307375" y="55158"/>
                </a:lnTo>
                <a:lnTo>
                  <a:pt x="259169" y="32483"/>
                </a:lnTo>
                <a:lnTo>
                  <a:pt x="207957" y="14011"/>
                </a:lnTo>
                <a:lnTo>
                  <a:pt x="1540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132046" y="4771689"/>
            <a:ext cx="514350" cy="530225"/>
          </a:xfrm>
          <a:custGeom>
            <a:avLst/>
            <a:gdLst/>
            <a:ahLst/>
            <a:cxnLst/>
            <a:rect l="l" t="t" r="r" b="b"/>
            <a:pathLst>
              <a:path w="514350" h="530225">
                <a:moveTo>
                  <a:pt x="513859" y="264964"/>
                </a:moveTo>
                <a:lnTo>
                  <a:pt x="490778" y="307243"/>
                </a:lnTo>
                <a:lnTo>
                  <a:pt x="462671" y="346897"/>
                </a:lnTo>
                <a:lnTo>
                  <a:pt x="429881" y="383677"/>
                </a:lnTo>
                <a:lnTo>
                  <a:pt x="392753" y="417332"/>
                </a:lnTo>
                <a:lnTo>
                  <a:pt x="351631" y="447609"/>
                </a:lnTo>
                <a:lnTo>
                  <a:pt x="306859" y="474258"/>
                </a:lnTo>
                <a:lnTo>
                  <a:pt x="258781" y="497029"/>
                </a:lnTo>
                <a:lnTo>
                  <a:pt x="207743" y="515670"/>
                </a:lnTo>
                <a:lnTo>
                  <a:pt x="154088" y="529929"/>
                </a:lnTo>
                <a:lnTo>
                  <a:pt x="0" y="529929"/>
                </a:lnTo>
                <a:lnTo>
                  <a:pt x="23682" y="483512"/>
                </a:lnTo>
                <a:lnTo>
                  <a:pt x="42629" y="436039"/>
                </a:lnTo>
                <a:lnTo>
                  <a:pt x="56838" y="387743"/>
                </a:lnTo>
                <a:lnTo>
                  <a:pt x="66311" y="338861"/>
                </a:lnTo>
                <a:lnTo>
                  <a:pt x="71048" y="289628"/>
                </a:lnTo>
                <a:lnTo>
                  <a:pt x="71048" y="240278"/>
                </a:lnTo>
                <a:lnTo>
                  <a:pt x="66311" y="191045"/>
                </a:lnTo>
                <a:lnTo>
                  <a:pt x="56838" y="142167"/>
                </a:lnTo>
                <a:lnTo>
                  <a:pt x="42629" y="93876"/>
                </a:lnTo>
                <a:lnTo>
                  <a:pt x="23682" y="46409"/>
                </a:lnTo>
                <a:lnTo>
                  <a:pt x="0" y="0"/>
                </a:lnTo>
                <a:lnTo>
                  <a:pt x="154088" y="0"/>
                </a:lnTo>
                <a:lnTo>
                  <a:pt x="207957" y="14011"/>
                </a:lnTo>
                <a:lnTo>
                  <a:pt x="259169" y="32483"/>
                </a:lnTo>
                <a:lnTo>
                  <a:pt x="307375" y="55158"/>
                </a:lnTo>
                <a:lnTo>
                  <a:pt x="352223" y="81776"/>
                </a:lnTo>
                <a:lnTo>
                  <a:pt x="393365" y="112079"/>
                </a:lnTo>
                <a:lnTo>
                  <a:pt x="430449" y="145808"/>
                </a:lnTo>
                <a:lnTo>
                  <a:pt x="463126" y="182705"/>
                </a:lnTo>
                <a:lnTo>
                  <a:pt x="491046" y="222510"/>
                </a:lnTo>
                <a:lnTo>
                  <a:pt x="513859" y="264964"/>
                </a:lnTo>
                <a:close/>
              </a:path>
            </a:pathLst>
          </a:custGeom>
          <a:ln w="64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864381" y="5610734"/>
            <a:ext cx="395605" cy="0"/>
          </a:xfrm>
          <a:custGeom>
            <a:avLst/>
            <a:gdLst/>
            <a:ahLst/>
            <a:cxnLst/>
            <a:rect l="l" t="t" r="r" b="b"/>
            <a:pathLst>
              <a:path w="395604">
                <a:moveTo>
                  <a:pt x="0" y="0"/>
                </a:moveTo>
                <a:lnTo>
                  <a:pt x="395283" y="0"/>
                </a:lnTo>
              </a:path>
            </a:pathLst>
          </a:custGeom>
          <a:ln w="7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64381" y="5875689"/>
            <a:ext cx="395605" cy="0"/>
          </a:xfrm>
          <a:custGeom>
            <a:avLst/>
            <a:gdLst/>
            <a:ahLst/>
            <a:cxnLst/>
            <a:rect l="l" t="t" r="r" b="b"/>
            <a:pathLst>
              <a:path w="395604">
                <a:moveTo>
                  <a:pt x="0" y="0"/>
                </a:moveTo>
                <a:lnTo>
                  <a:pt x="395283" y="0"/>
                </a:lnTo>
              </a:path>
            </a:pathLst>
          </a:custGeom>
          <a:ln w="7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59664" y="5743216"/>
            <a:ext cx="395605" cy="0"/>
          </a:xfrm>
          <a:custGeom>
            <a:avLst/>
            <a:gdLst/>
            <a:ahLst/>
            <a:cxnLst/>
            <a:rect l="l" t="t" r="r" b="b"/>
            <a:pathLst>
              <a:path w="395604">
                <a:moveTo>
                  <a:pt x="395283" y="0"/>
                </a:moveTo>
                <a:lnTo>
                  <a:pt x="0" y="0"/>
                </a:lnTo>
              </a:path>
            </a:pathLst>
          </a:custGeom>
          <a:ln w="7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02735" y="5478252"/>
            <a:ext cx="514350" cy="530225"/>
          </a:xfrm>
          <a:custGeom>
            <a:avLst/>
            <a:gdLst/>
            <a:ahLst/>
            <a:cxnLst/>
            <a:rect l="l" t="t" r="r" b="b"/>
            <a:pathLst>
              <a:path w="514350" h="530225">
                <a:moveTo>
                  <a:pt x="154157" y="0"/>
                </a:moveTo>
                <a:lnTo>
                  <a:pt x="0" y="0"/>
                </a:lnTo>
                <a:lnTo>
                  <a:pt x="23665" y="46409"/>
                </a:lnTo>
                <a:lnTo>
                  <a:pt x="42597" y="93878"/>
                </a:lnTo>
                <a:lnTo>
                  <a:pt x="56797" y="142170"/>
                </a:lnTo>
                <a:lnTo>
                  <a:pt x="66263" y="191050"/>
                </a:lnTo>
                <a:lnTo>
                  <a:pt x="70996" y="240283"/>
                </a:lnTo>
                <a:lnTo>
                  <a:pt x="70996" y="289634"/>
                </a:lnTo>
                <a:lnTo>
                  <a:pt x="66263" y="338867"/>
                </a:lnTo>
                <a:lnTo>
                  <a:pt x="56797" y="387748"/>
                </a:lnTo>
                <a:lnTo>
                  <a:pt x="42597" y="436040"/>
                </a:lnTo>
                <a:lnTo>
                  <a:pt x="23665" y="483509"/>
                </a:lnTo>
                <a:lnTo>
                  <a:pt x="0" y="529920"/>
                </a:lnTo>
                <a:lnTo>
                  <a:pt x="154157" y="529920"/>
                </a:lnTo>
                <a:lnTo>
                  <a:pt x="207822" y="515661"/>
                </a:lnTo>
                <a:lnTo>
                  <a:pt x="258858" y="497022"/>
                </a:lnTo>
                <a:lnTo>
                  <a:pt x="306926" y="474253"/>
                </a:lnTo>
                <a:lnTo>
                  <a:pt x="351683" y="447606"/>
                </a:lnTo>
                <a:lnTo>
                  <a:pt x="392788" y="417333"/>
                </a:lnTo>
                <a:lnTo>
                  <a:pt x="429899" y="383683"/>
                </a:lnTo>
                <a:lnTo>
                  <a:pt x="462676" y="346910"/>
                </a:lnTo>
                <a:lnTo>
                  <a:pt x="490776" y="307264"/>
                </a:lnTo>
                <a:lnTo>
                  <a:pt x="513859" y="264995"/>
                </a:lnTo>
                <a:lnTo>
                  <a:pt x="491059" y="222531"/>
                </a:lnTo>
                <a:lnTo>
                  <a:pt x="463148" y="182719"/>
                </a:lnTo>
                <a:lnTo>
                  <a:pt x="430478" y="145817"/>
                </a:lnTo>
                <a:lnTo>
                  <a:pt x="393398" y="112084"/>
                </a:lnTo>
                <a:lnTo>
                  <a:pt x="352260" y="81779"/>
                </a:lnTo>
                <a:lnTo>
                  <a:pt x="307416" y="55159"/>
                </a:lnTo>
                <a:lnTo>
                  <a:pt x="259217" y="32483"/>
                </a:lnTo>
                <a:lnTo>
                  <a:pt x="208014" y="14011"/>
                </a:lnTo>
                <a:lnTo>
                  <a:pt x="154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02735" y="5478252"/>
            <a:ext cx="514350" cy="530225"/>
          </a:xfrm>
          <a:custGeom>
            <a:avLst/>
            <a:gdLst/>
            <a:ahLst/>
            <a:cxnLst/>
            <a:rect l="l" t="t" r="r" b="b"/>
            <a:pathLst>
              <a:path w="514350" h="530225">
                <a:moveTo>
                  <a:pt x="513859" y="264995"/>
                </a:moveTo>
                <a:lnTo>
                  <a:pt x="490776" y="307264"/>
                </a:lnTo>
                <a:lnTo>
                  <a:pt x="462676" y="346910"/>
                </a:lnTo>
                <a:lnTo>
                  <a:pt x="429899" y="383683"/>
                </a:lnTo>
                <a:lnTo>
                  <a:pt x="392788" y="417333"/>
                </a:lnTo>
                <a:lnTo>
                  <a:pt x="351683" y="447606"/>
                </a:lnTo>
                <a:lnTo>
                  <a:pt x="306926" y="474253"/>
                </a:lnTo>
                <a:lnTo>
                  <a:pt x="258858" y="497022"/>
                </a:lnTo>
                <a:lnTo>
                  <a:pt x="207822" y="515661"/>
                </a:lnTo>
                <a:lnTo>
                  <a:pt x="154157" y="529920"/>
                </a:lnTo>
                <a:lnTo>
                  <a:pt x="0" y="529920"/>
                </a:lnTo>
                <a:lnTo>
                  <a:pt x="23665" y="483509"/>
                </a:lnTo>
                <a:lnTo>
                  <a:pt x="42597" y="436040"/>
                </a:lnTo>
                <a:lnTo>
                  <a:pt x="56797" y="387748"/>
                </a:lnTo>
                <a:lnTo>
                  <a:pt x="66263" y="338867"/>
                </a:lnTo>
                <a:lnTo>
                  <a:pt x="70996" y="289634"/>
                </a:lnTo>
                <a:lnTo>
                  <a:pt x="70996" y="240283"/>
                </a:lnTo>
                <a:lnTo>
                  <a:pt x="66263" y="191050"/>
                </a:lnTo>
                <a:lnTo>
                  <a:pt x="56797" y="142170"/>
                </a:lnTo>
                <a:lnTo>
                  <a:pt x="42597" y="93878"/>
                </a:lnTo>
                <a:lnTo>
                  <a:pt x="23665" y="46409"/>
                </a:lnTo>
                <a:lnTo>
                  <a:pt x="0" y="0"/>
                </a:lnTo>
                <a:lnTo>
                  <a:pt x="154157" y="0"/>
                </a:lnTo>
                <a:lnTo>
                  <a:pt x="208014" y="14011"/>
                </a:lnTo>
                <a:lnTo>
                  <a:pt x="259217" y="32483"/>
                </a:lnTo>
                <a:lnTo>
                  <a:pt x="307416" y="55159"/>
                </a:lnTo>
                <a:lnTo>
                  <a:pt x="352260" y="81779"/>
                </a:lnTo>
                <a:lnTo>
                  <a:pt x="393398" y="112084"/>
                </a:lnTo>
                <a:lnTo>
                  <a:pt x="430478" y="145817"/>
                </a:lnTo>
                <a:lnTo>
                  <a:pt x="463148" y="182719"/>
                </a:lnTo>
                <a:lnTo>
                  <a:pt x="491059" y="222531"/>
                </a:lnTo>
                <a:lnTo>
                  <a:pt x="513859" y="264995"/>
                </a:lnTo>
                <a:close/>
              </a:path>
            </a:pathLst>
          </a:custGeom>
          <a:ln w="64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46670" y="4197578"/>
            <a:ext cx="395605" cy="0"/>
          </a:xfrm>
          <a:custGeom>
            <a:avLst/>
            <a:gdLst/>
            <a:ahLst/>
            <a:cxnLst/>
            <a:rect l="l" t="t" r="r" b="b"/>
            <a:pathLst>
              <a:path w="395604">
                <a:moveTo>
                  <a:pt x="0" y="0"/>
                </a:moveTo>
                <a:lnTo>
                  <a:pt x="395283" y="0"/>
                </a:lnTo>
              </a:path>
            </a:pathLst>
          </a:custGeom>
          <a:ln w="7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46670" y="4462543"/>
            <a:ext cx="395605" cy="0"/>
          </a:xfrm>
          <a:custGeom>
            <a:avLst/>
            <a:gdLst/>
            <a:ahLst/>
            <a:cxnLst/>
            <a:rect l="l" t="t" r="r" b="b"/>
            <a:pathLst>
              <a:path w="395604">
                <a:moveTo>
                  <a:pt x="0" y="0"/>
                </a:moveTo>
                <a:lnTo>
                  <a:pt x="395283" y="0"/>
                </a:lnTo>
              </a:path>
            </a:pathLst>
          </a:custGeom>
          <a:ln w="7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41954" y="4330060"/>
            <a:ext cx="395605" cy="0"/>
          </a:xfrm>
          <a:custGeom>
            <a:avLst/>
            <a:gdLst/>
            <a:ahLst/>
            <a:cxnLst/>
            <a:rect l="l" t="t" r="r" b="b"/>
            <a:pathLst>
              <a:path w="395604">
                <a:moveTo>
                  <a:pt x="395376" y="0"/>
                </a:moveTo>
                <a:lnTo>
                  <a:pt x="0" y="0"/>
                </a:lnTo>
              </a:path>
            </a:pathLst>
          </a:custGeom>
          <a:ln w="7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85024" y="4065096"/>
            <a:ext cx="514350" cy="530225"/>
          </a:xfrm>
          <a:custGeom>
            <a:avLst/>
            <a:gdLst/>
            <a:ahLst/>
            <a:cxnLst/>
            <a:rect l="l" t="t" r="r" b="b"/>
            <a:pathLst>
              <a:path w="514350" h="530225">
                <a:moveTo>
                  <a:pt x="154157" y="0"/>
                </a:moveTo>
                <a:lnTo>
                  <a:pt x="0" y="0"/>
                </a:lnTo>
                <a:lnTo>
                  <a:pt x="23665" y="46416"/>
                </a:lnTo>
                <a:lnTo>
                  <a:pt x="42597" y="93890"/>
                </a:lnTo>
                <a:lnTo>
                  <a:pt x="56797" y="142185"/>
                </a:lnTo>
                <a:lnTo>
                  <a:pt x="66263" y="191067"/>
                </a:lnTo>
                <a:lnTo>
                  <a:pt x="70996" y="240301"/>
                </a:lnTo>
                <a:lnTo>
                  <a:pt x="70996" y="289651"/>
                </a:lnTo>
                <a:lnTo>
                  <a:pt x="66263" y="338883"/>
                </a:lnTo>
                <a:lnTo>
                  <a:pt x="56797" y="387762"/>
                </a:lnTo>
                <a:lnTo>
                  <a:pt x="42597" y="436053"/>
                </a:lnTo>
                <a:lnTo>
                  <a:pt x="23665" y="483520"/>
                </a:lnTo>
                <a:lnTo>
                  <a:pt x="0" y="529929"/>
                </a:lnTo>
                <a:lnTo>
                  <a:pt x="154157" y="529929"/>
                </a:lnTo>
                <a:lnTo>
                  <a:pt x="207826" y="515671"/>
                </a:lnTo>
                <a:lnTo>
                  <a:pt x="258861" y="497033"/>
                </a:lnTo>
                <a:lnTo>
                  <a:pt x="306923" y="474267"/>
                </a:lnTo>
                <a:lnTo>
                  <a:pt x="351671" y="447622"/>
                </a:lnTo>
                <a:lnTo>
                  <a:pt x="392764" y="417350"/>
                </a:lnTo>
                <a:lnTo>
                  <a:pt x="429863" y="383700"/>
                </a:lnTo>
                <a:lnTo>
                  <a:pt x="462627" y="346925"/>
                </a:lnTo>
                <a:lnTo>
                  <a:pt x="490716" y="307273"/>
                </a:lnTo>
                <a:lnTo>
                  <a:pt x="513789" y="264995"/>
                </a:lnTo>
                <a:lnTo>
                  <a:pt x="491041" y="222541"/>
                </a:lnTo>
                <a:lnTo>
                  <a:pt x="463162" y="182735"/>
                </a:lnTo>
                <a:lnTo>
                  <a:pt x="430509" y="145838"/>
                </a:lnTo>
                <a:lnTo>
                  <a:pt x="393434" y="112107"/>
                </a:lnTo>
                <a:lnTo>
                  <a:pt x="352292" y="81802"/>
                </a:lnTo>
                <a:lnTo>
                  <a:pt x="307440" y="55180"/>
                </a:lnTo>
                <a:lnTo>
                  <a:pt x="259230" y="32500"/>
                </a:lnTo>
                <a:lnTo>
                  <a:pt x="208017" y="14020"/>
                </a:lnTo>
                <a:lnTo>
                  <a:pt x="154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85024" y="4065096"/>
            <a:ext cx="514350" cy="530225"/>
          </a:xfrm>
          <a:custGeom>
            <a:avLst/>
            <a:gdLst/>
            <a:ahLst/>
            <a:cxnLst/>
            <a:rect l="l" t="t" r="r" b="b"/>
            <a:pathLst>
              <a:path w="514350" h="530225">
                <a:moveTo>
                  <a:pt x="513789" y="264995"/>
                </a:moveTo>
                <a:lnTo>
                  <a:pt x="490716" y="307273"/>
                </a:lnTo>
                <a:lnTo>
                  <a:pt x="462627" y="346925"/>
                </a:lnTo>
                <a:lnTo>
                  <a:pt x="429863" y="383700"/>
                </a:lnTo>
                <a:lnTo>
                  <a:pt x="392764" y="417350"/>
                </a:lnTo>
                <a:lnTo>
                  <a:pt x="351671" y="447622"/>
                </a:lnTo>
                <a:lnTo>
                  <a:pt x="306923" y="474267"/>
                </a:lnTo>
                <a:lnTo>
                  <a:pt x="258861" y="497033"/>
                </a:lnTo>
                <a:lnTo>
                  <a:pt x="207826" y="515671"/>
                </a:lnTo>
                <a:lnTo>
                  <a:pt x="154157" y="529929"/>
                </a:lnTo>
                <a:lnTo>
                  <a:pt x="0" y="529929"/>
                </a:lnTo>
                <a:lnTo>
                  <a:pt x="23665" y="483520"/>
                </a:lnTo>
                <a:lnTo>
                  <a:pt x="42597" y="436053"/>
                </a:lnTo>
                <a:lnTo>
                  <a:pt x="56797" y="387762"/>
                </a:lnTo>
                <a:lnTo>
                  <a:pt x="66263" y="338883"/>
                </a:lnTo>
                <a:lnTo>
                  <a:pt x="70996" y="289651"/>
                </a:lnTo>
                <a:lnTo>
                  <a:pt x="70996" y="240301"/>
                </a:lnTo>
                <a:lnTo>
                  <a:pt x="66263" y="191067"/>
                </a:lnTo>
                <a:lnTo>
                  <a:pt x="56797" y="142185"/>
                </a:lnTo>
                <a:lnTo>
                  <a:pt x="42597" y="93890"/>
                </a:lnTo>
                <a:lnTo>
                  <a:pt x="23665" y="46416"/>
                </a:lnTo>
                <a:lnTo>
                  <a:pt x="0" y="0"/>
                </a:lnTo>
                <a:lnTo>
                  <a:pt x="154157" y="0"/>
                </a:lnTo>
                <a:lnTo>
                  <a:pt x="208017" y="14020"/>
                </a:lnTo>
                <a:lnTo>
                  <a:pt x="259230" y="32500"/>
                </a:lnTo>
                <a:lnTo>
                  <a:pt x="307440" y="55180"/>
                </a:lnTo>
                <a:lnTo>
                  <a:pt x="352292" y="81802"/>
                </a:lnTo>
                <a:lnTo>
                  <a:pt x="393434" y="112107"/>
                </a:lnTo>
                <a:lnTo>
                  <a:pt x="430509" y="145838"/>
                </a:lnTo>
                <a:lnTo>
                  <a:pt x="463162" y="182735"/>
                </a:lnTo>
                <a:lnTo>
                  <a:pt x="491041" y="222541"/>
                </a:lnTo>
                <a:lnTo>
                  <a:pt x="513789" y="264995"/>
                </a:lnTo>
                <a:close/>
              </a:path>
            </a:pathLst>
          </a:custGeom>
          <a:ln w="64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85024" y="4065096"/>
            <a:ext cx="514350" cy="530225"/>
          </a:xfrm>
          <a:custGeom>
            <a:avLst/>
            <a:gdLst/>
            <a:ahLst/>
            <a:cxnLst/>
            <a:rect l="l" t="t" r="r" b="b"/>
            <a:pathLst>
              <a:path w="514350" h="530225">
                <a:moveTo>
                  <a:pt x="316217" y="0"/>
                </a:moveTo>
                <a:lnTo>
                  <a:pt x="0" y="0"/>
                </a:lnTo>
                <a:lnTo>
                  <a:pt x="0" y="529929"/>
                </a:lnTo>
                <a:lnTo>
                  <a:pt x="316240" y="529929"/>
                </a:lnTo>
                <a:lnTo>
                  <a:pt x="356090" y="524546"/>
                </a:lnTo>
                <a:lnTo>
                  <a:pt x="393190" y="509108"/>
                </a:lnTo>
                <a:lnTo>
                  <a:pt x="426749" y="484680"/>
                </a:lnTo>
                <a:lnTo>
                  <a:pt x="455977" y="452327"/>
                </a:lnTo>
                <a:lnTo>
                  <a:pt x="480085" y="413114"/>
                </a:lnTo>
                <a:lnTo>
                  <a:pt x="498283" y="368105"/>
                </a:lnTo>
                <a:lnTo>
                  <a:pt x="509781" y="318367"/>
                </a:lnTo>
                <a:lnTo>
                  <a:pt x="513789" y="264964"/>
                </a:lnTo>
                <a:lnTo>
                  <a:pt x="509781" y="211570"/>
                </a:lnTo>
                <a:lnTo>
                  <a:pt x="498282" y="161836"/>
                </a:lnTo>
                <a:lnTo>
                  <a:pt x="480084" y="116829"/>
                </a:lnTo>
                <a:lnTo>
                  <a:pt x="455974" y="77613"/>
                </a:lnTo>
                <a:lnTo>
                  <a:pt x="426743" y="45257"/>
                </a:lnTo>
                <a:lnTo>
                  <a:pt x="393180" y="20825"/>
                </a:lnTo>
                <a:lnTo>
                  <a:pt x="356075" y="5383"/>
                </a:lnTo>
                <a:lnTo>
                  <a:pt x="3162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485024" y="4065096"/>
            <a:ext cx="514350" cy="530225"/>
          </a:xfrm>
          <a:custGeom>
            <a:avLst/>
            <a:gdLst/>
            <a:ahLst/>
            <a:cxnLst/>
            <a:rect l="l" t="t" r="r" b="b"/>
            <a:pathLst>
              <a:path w="514350" h="530225">
                <a:moveTo>
                  <a:pt x="316217" y="529929"/>
                </a:moveTo>
                <a:lnTo>
                  <a:pt x="0" y="529929"/>
                </a:lnTo>
                <a:lnTo>
                  <a:pt x="0" y="0"/>
                </a:lnTo>
                <a:lnTo>
                  <a:pt x="316217" y="0"/>
                </a:lnTo>
                <a:lnTo>
                  <a:pt x="356075" y="5383"/>
                </a:lnTo>
                <a:lnTo>
                  <a:pt x="393180" y="20825"/>
                </a:lnTo>
                <a:lnTo>
                  <a:pt x="426743" y="45257"/>
                </a:lnTo>
                <a:lnTo>
                  <a:pt x="455974" y="77613"/>
                </a:lnTo>
                <a:lnTo>
                  <a:pt x="480084" y="116829"/>
                </a:lnTo>
                <a:lnTo>
                  <a:pt x="498282" y="161836"/>
                </a:lnTo>
                <a:lnTo>
                  <a:pt x="509781" y="211570"/>
                </a:lnTo>
                <a:lnTo>
                  <a:pt x="513789" y="264964"/>
                </a:lnTo>
                <a:lnTo>
                  <a:pt x="509781" y="318367"/>
                </a:lnTo>
                <a:lnTo>
                  <a:pt x="498283" y="368105"/>
                </a:lnTo>
                <a:lnTo>
                  <a:pt x="480085" y="413114"/>
                </a:lnTo>
                <a:lnTo>
                  <a:pt x="455977" y="452327"/>
                </a:lnTo>
                <a:lnTo>
                  <a:pt x="426749" y="484680"/>
                </a:lnTo>
                <a:lnTo>
                  <a:pt x="393190" y="509108"/>
                </a:lnTo>
                <a:lnTo>
                  <a:pt x="356090" y="524546"/>
                </a:lnTo>
                <a:lnTo>
                  <a:pt x="316240" y="529929"/>
                </a:lnTo>
                <a:close/>
              </a:path>
            </a:pathLst>
          </a:custGeom>
          <a:ln w="64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654948" y="5743216"/>
            <a:ext cx="922655" cy="0"/>
          </a:xfrm>
          <a:custGeom>
            <a:avLst/>
            <a:gdLst/>
            <a:ahLst/>
            <a:cxnLst/>
            <a:rect l="l" t="t" r="r" b="b"/>
            <a:pathLst>
              <a:path w="922654">
                <a:moveTo>
                  <a:pt x="0" y="0"/>
                </a:moveTo>
                <a:lnTo>
                  <a:pt x="922320" y="0"/>
                </a:lnTo>
              </a:path>
            </a:pathLst>
          </a:custGeom>
          <a:ln w="7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995313" y="4462543"/>
            <a:ext cx="351790" cy="1280795"/>
          </a:xfrm>
          <a:custGeom>
            <a:avLst/>
            <a:gdLst/>
            <a:ahLst/>
            <a:cxnLst/>
            <a:rect l="l" t="t" r="r" b="b"/>
            <a:pathLst>
              <a:path w="351789" h="1280795">
                <a:moveTo>
                  <a:pt x="351357" y="0"/>
                </a:moveTo>
                <a:lnTo>
                  <a:pt x="0" y="0"/>
                </a:lnTo>
                <a:lnTo>
                  <a:pt x="0" y="1280673"/>
                </a:lnTo>
              </a:path>
            </a:pathLst>
          </a:custGeom>
          <a:ln w="57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947204" y="5678720"/>
            <a:ext cx="96217" cy="1289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962093" y="5169136"/>
            <a:ext cx="1031875" cy="574675"/>
          </a:xfrm>
          <a:custGeom>
            <a:avLst/>
            <a:gdLst/>
            <a:ahLst/>
            <a:cxnLst/>
            <a:rect l="l" t="t" r="r" b="b"/>
            <a:pathLst>
              <a:path w="1031875" h="574675">
                <a:moveTo>
                  <a:pt x="0" y="574080"/>
                </a:moveTo>
                <a:lnTo>
                  <a:pt x="537564" y="574080"/>
                </a:lnTo>
                <a:lnTo>
                  <a:pt x="537564" y="0"/>
                </a:lnTo>
                <a:lnTo>
                  <a:pt x="1031669" y="0"/>
                </a:lnTo>
              </a:path>
            </a:pathLst>
          </a:custGeom>
          <a:ln w="70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137330" y="4330060"/>
            <a:ext cx="856615" cy="574675"/>
          </a:xfrm>
          <a:custGeom>
            <a:avLst/>
            <a:gdLst/>
            <a:ahLst/>
            <a:cxnLst/>
            <a:rect l="l" t="t" r="r" b="b"/>
            <a:pathLst>
              <a:path w="856614" h="574675">
                <a:moveTo>
                  <a:pt x="0" y="0"/>
                </a:moveTo>
                <a:lnTo>
                  <a:pt x="362327" y="0"/>
                </a:lnTo>
                <a:lnTo>
                  <a:pt x="362327" y="574111"/>
                </a:lnTo>
                <a:lnTo>
                  <a:pt x="856431" y="574111"/>
                </a:lnTo>
              </a:path>
            </a:pathLst>
          </a:custGeom>
          <a:ln w="68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567918" y="4197578"/>
            <a:ext cx="1779270" cy="0"/>
          </a:xfrm>
          <a:custGeom>
            <a:avLst/>
            <a:gdLst/>
            <a:ahLst/>
            <a:cxnLst/>
            <a:rect l="l" t="t" r="r" b="b"/>
            <a:pathLst>
              <a:path w="1779270">
                <a:moveTo>
                  <a:pt x="1778751" y="0"/>
                </a:moveTo>
                <a:lnTo>
                  <a:pt x="0" y="0"/>
                </a:lnTo>
              </a:path>
            </a:pathLst>
          </a:custGeom>
          <a:ln w="7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567919" y="5610734"/>
            <a:ext cx="296545" cy="0"/>
          </a:xfrm>
          <a:custGeom>
            <a:avLst/>
            <a:gdLst/>
            <a:ahLst/>
            <a:cxnLst/>
            <a:rect l="l" t="t" r="r" b="b"/>
            <a:pathLst>
              <a:path w="296544">
                <a:moveTo>
                  <a:pt x="296462" y="0"/>
                </a:moveTo>
                <a:lnTo>
                  <a:pt x="0" y="0"/>
                </a:lnTo>
              </a:path>
            </a:pathLst>
          </a:custGeom>
          <a:ln w="7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567919" y="5875689"/>
            <a:ext cx="296545" cy="0"/>
          </a:xfrm>
          <a:custGeom>
            <a:avLst/>
            <a:gdLst/>
            <a:ahLst/>
            <a:cxnLst/>
            <a:rect l="l" t="t" r="r" b="b"/>
            <a:pathLst>
              <a:path w="296544">
                <a:moveTo>
                  <a:pt x="296462" y="0"/>
                </a:moveTo>
                <a:lnTo>
                  <a:pt x="0" y="0"/>
                </a:lnTo>
              </a:path>
            </a:pathLst>
          </a:custGeom>
          <a:ln w="7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784189" y="5036654"/>
            <a:ext cx="329565" cy="0"/>
          </a:xfrm>
          <a:custGeom>
            <a:avLst/>
            <a:gdLst/>
            <a:ahLst/>
            <a:cxnLst/>
            <a:rect l="l" t="t" r="r" b="b"/>
            <a:pathLst>
              <a:path w="329565">
                <a:moveTo>
                  <a:pt x="0" y="0"/>
                </a:moveTo>
                <a:lnTo>
                  <a:pt x="329557" y="0"/>
                </a:lnTo>
              </a:path>
            </a:pathLst>
          </a:custGeom>
          <a:ln w="7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445513" y="164414"/>
            <a:ext cx="61226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Transition </a:t>
            </a:r>
            <a:r>
              <a:rPr dirty="0"/>
              <a:t>Delay </a:t>
            </a:r>
            <a:r>
              <a:rPr spc="-5" dirty="0"/>
              <a:t>Fault</a:t>
            </a:r>
            <a:r>
              <a:rPr spc="-20" dirty="0"/>
              <a:t> </a:t>
            </a:r>
            <a:r>
              <a:rPr dirty="0"/>
              <a:t>(TDF)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3592829" y="4521200"/>
            <a:ext cx="3422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latin typeface="Helvetica"/>
                <a:cs typeface="Helvetica"/>
              </a:rPr>
              <a:t>Q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48661" y="3904563"/>
            <a:ext cx="36906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383279" algn="l"/>
              </a:tabLst>
            </a:pPr>
            <a:r>
              <a:rPr sz="3200" i="1" dirty="0">
                <a:latin typeface="Helvetica"/>
                <a:cs typeface="Helvetica"/>
              </a:rPr>
              <a:t>A	H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46797" y="4776977"/>
            <a:ext cx="2971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latin typeface="Helvetica"/>
                <a:cs typeface="Helvetica"/>
              </a:rPr>
              <a:t>K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651497" y="5043678"/>
            <a:ext cx="485775" cy="0"/>
          </a:xfrm>
          <a:custGeom>
            <a:avLst/>
            <a:gdLst/>
            <a:ahLst/>
            <a:cxnLst/>
            <a:rect l="l" t="t" r="r" b="b"/>
            <a:pathLst>
              <a:path w="485775">
                <a:moveTo>
                  <a:pt x="0" y="0"/>
                </a:moveTo>
                <a:lnTo>
                  <a:pt x="485775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19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589273" y="5719673"/>
            <a:ext cx="2245995" cy="46326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735">
              <a:lnSpc>
                <a:spcPts val="3520"/>
              </a:lnSpc>
              <a:spcBef>
                <a:spcPts val="105"/>
              </a:spcBef>
              <a:tabLst>
                <a:tab pos="532130" algn="l"/>
                <a:tab pos="1677035" algn="l"/>
              </a:tabLst>
            </a:pPr>
            <a:r>
              <a:rPr sz="3200" i="1" dirty="0">
                <a:latin typeface="Helvetica"/>
                <a:cs typeface="Helvetica"/>
              </a:rPr>
              <a:t>E	</a:t>
            </a:r>
            <a:r>
              <a:rPr sz="3200" i="1" spc="5" dirty="0">
                <a:latin typeface="Helvetica"/>
                <a:cs typeface="Helvetica"/>
              </a:rPr>
              <a:t>G	</a:t>
            </a:r>
            <a:r>
              <a:rPr sz="3200" i="1" dirty="0">
                <a:latin typeface="Helvetica"/>
                <a:cs typeface="Helvetica"/>
              </a:rPr>
              <a:t>J</a:t>
            </a:r>
            <a:endParaRPr lang="en-US" sz="3200" i="1" dirty="0">
              <a:latin typeface="Helvetica"/>
              <a:cs typeface="Helvetic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05966" y="4966538"/>
            <a:ext cx="159321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9805">
              <a:lnSpc>
                <a:spcPts val="242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STF</a:t>
            </a:r>
            <a:endParaRPr sz="2400" dirty="0">
              <a:latin typeface="Arial"/>
              <a:cs typeface="Arial"/>
            </a:endParaRPr>
          </a:p>
          <a:p>
            <a:pPr marL="38100">
              <a:lnSpc>
                <a:spcPts val="3379"/>
              </a:lnSpc>
              <a:tabLst>
                <a:tab pos="753110" algn="l"/>
              </a:tabLst>
            </a:pPr>
            <a:r>
              <a:rPr sz="2000" b="1" spc="114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4800" i="1" baseline="-7812" dirty="0">
                <a:latin typeface="Helvetica"/>
                <a:cs typeface="Helvetica"/>
              </a:rPr>
              <a:t>B</a:t>
            </a:r>
            <a:r>
              <a:rPr sz="4800" i="1" spc="502" baseline="-7812" dirty="0">
                <a:latin typeface="Helvetica"/>
                <a:cs typeface="Helvetica"/>
              </a:rPr>
              <a:t> </a:t>
            </a:r>
            <a:r>
              <a:rPr sz="3600" b="1" baseline="-23148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endParaRPr sz="3600" baseline="-23148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9667" y="164414"/>
            <a:ext cx="46755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Experimental</a:t>
            </a:r>
            <a:r>
              <a:rPr spc="-15" dirty="0"/>
              <a:t> </a:t>
            </a:r>
            <a:r>
              <a:rPr spc="-5" dirty="0"/>
              <a:t>Results</a:t>
            </a:r>
          </a:p>
        </p:txBody>
      </p:sp>
      <p:sp>
        <p:nvSpPr>
          <p:cNvPr id="3" name="object 3"/>
          <p:cNvSpPr/>
          <p:nvPr/>
        </p:nvSpPr>
        <p:spPr>
          <a:xfrm>
            <a:off x="2880360" y="1895855"/>
            <a:ext cx="2304415" cy="2303145"/>
          </a:xfrm>
          <a:custGeom>
            <a:avLst/>
            <a:gdLst/>
            <a:ahLst/>
            <a:cxnLst/>
            <a:rect l="l" t="t" r="r" b="b"/>
            <a:pathLst>
              <a:path w="2304415" h="2303145">
                <a:moveTo>
                  <a:pt x="0" y="1151382"/>
                </a:moveTo>
                <a:lnTo>
                  <a:pt x="1010" y="1102711"/>
                </a:lnTo>
                <a:lnTo>
                  <a:pt x="4016" y="1054556"/>
                </a:lnTo>
                <a:lnTo>
                  <a:pt x="8977" y="1006955"/>
                </a:lnTo>
                <a:lnTo>
                  <a:pt x="15853" y="959949"/>
                </a:lnTo>
                <a:lnTo>
                  <a:pt x="24604" y="913578"/>
                </a:lnTo>
                <a:lnTo>
                  <a:pt x="35190" y="867882"/>
                </a:lnTo>
                <a:lnTo>
                  <a:pt x="47570" y="822900"/>
                </a:lnTo>
                <a:lnTo>
                  <a:pt x="61706" y="778673"/>
                </a:lnTo>
                <a:lnTo>
                  <a:pt x="77557" y="735241"/>
                </a:lnTo>
                <a:lnTo>
                  <a:pt x="95083" y="692643"/>
                </a:lnTo>
                <a:lnTo>
                  <a:pt x="114244" y="650920"/>
                </a:lnTo>
                <a:lnTo>
                  <a:pt x="134999" y="610112"/>
                </a:lnTo>
                <a:lnTo>
                  <a:pt x="157310" y="570258"/>
                </a:lnTo>
                <a:lnTo>
                  <a:pt x="181136" y="531398"/>
                </a:lnTo>
                <a:lnTo>
                  <a:pt x="206437" y="493573"/>
                </a:lnTo>
                <a:lnTo>
                  <a:pt x="233172" y="456822"/>
                </a:lnTo>
                <a:lnTo>
                  <a:pt x="261303" y="421186"/>
                </a:lnTo>
                <a:lnTo>
                  <a:pt x="290789" y="386704"/>
                </a:lnTo>
                <a:lnTo>
                  <a:pt x="321589" y="353416"/>
                </a:lnTo>
                <a:lnTo>
                  <a:pt x="353665" y="321362"/>
                </a:lnTo>
                <a:lnTo>
                  <a:pt x="386975" y="290583"/>
                </a:lnTo>
                <a:lnTo>
                  <a:pt x="421481" y="261117"/>
                </a:lnTo>
                <a:lnTo>
                  <a:pt x="457142" y="233006"/>
                </a:lnTo>
                <a:lnTo>
                  <a:pt x="493917" y="206289"/>
                </a:lnTo>
                <a:lnTo>
                  <a:pt x="531767" y="181006"/>
                </a:lnTo>
                <a:lnTo>
                  <a:pt x="570653" y="157197"/>
                </a:lnTo>
                <a:lnTo>
                  <a:pt x="610533" y="134902"/>
                </a:lnTo>
                <a:lnTo>
                  <a:pt x="651368" y="114161"/>
                </a:lnTo>
                <a:lnTo>
                  <a:pt x="693119" y="95014"/>
                </a:lnTo>
                <a:lnTo>
                  <a:pt x="735744" y="77501"/>
                </a:lnTo>
                <a:lnTo>
                  <a:pt x="779204" y="61661"/>
                </a:lnTo>
                <a:lnTo>
                  <a:pt x="823459" y="47536"/>
                </a:lnTo>
                <a:lnTo>
                  <a:pt x="868469" y="35164"/>
                </a:lnTo>
                <a:lnTo>
                  <a:pt x="914194" y="24586"/>
                </a:lnTo>
                <a:lnTo>
                  <a:pt x="960594" y="15841"/>
                </a:lnTo>
                <a:lnTo>
                  <a:pt x="1007629" y="8970"/>
                </a:lnTo>
                <a:lnTo>
                  <a:pt x="1055259" y="4013"/>
                </a:lnTo>
                <a:lnTo>
                  <a:pt x="1103444" y="1010"/>
                </a:lnTo>
                <a:lnTo>
                  <a:pt x="1152143" y="0"/>
                </a:lnTo>
                <a:lnTo>
                  <a:pt x="1200843" y="1010"/>
                </a:lnTo>
                <a:lnTo>
                  <a:pt x="1249028" y="4013"/>
                </a:lnTo>
                <a:lnTo>
                  <a:pt x="1296658" y="8970"/>
                </a:lnTo>
                <a:lnTo>
                  <a:pt x="1343693" y="15841"/>
                </a:lnTo>
                <a:lnTo>
                  <a:pt x="1390093" y="24586"/>
                </a:lnTo>
                <a:lnTo>
                  <a:pt x="1435818" y="35164"/>
                </a:lnTo>
                <a:lnTo>
                  <a:pt x="1480828" y="47536"/>
                </a:lnTo>
                <a:lnTo>
                  <a:pt x="1525083" y="61661"/>
                </a:lnTo>
                <a:lnTo>
                  <a:pt x="1568543" y="77501"/>
                </a:lnTo>
                <a:lnTo>
                  <a:pt x="1611168" y="95014"/>
                </a:lnTo>
                <a:lnTo>
                  <a:pt x="1652919" y="114161"/>
                </a:lnTo>
                <a:lnTo>
                  <a:pt x="1693754" y="134902"/>
                </a:lnTo>
                <a:lnTo>
                  <a:pt x="1733634" y="157197"/>
                </a:lnTo>
                <a:lnTo>
                  <a:pt x="1772520" y="181006"/>
                </a:lnTo>
                <a:lnTo>
                  <a:pt x="1810370" y="206289"/>
                </a:lnTo>
                <a:lnTo>
                  <a:pt x="1847145" y="233006"/>
                </a:lnTo>
                <a:lnTo>
                  <a:pt x="1882806" y="261117"/>
                </a:lnTo>
                <a:lnTo>
                  <a:pt x="1917312" y="290583"/>
                </a:lnTo>
                <a:lnTo>
                  <a:pt x="1950622" y="321362"/>
                </a:lnTo>
                <a:lnTo>
                  <a:pt x="1982698" y="353416"/>
                </a:lnTo>
                <a:lnTo>
                  <a:pt x="2013498" y="386704"/>
                </a:lnTo>
                <a:lnTo>
                  <a:pt x="2042984" y="421186"/>
                </a:lnTo>
                <a:lnTo>
                  <a:pt x="2071115" y="456822"/>
                </a:lnTo>
                <a:lnTo>
                  <a:pt x="2097850" y="493573"/>
                </a:lnTo>
                <a:lnTo>
                  <a:pt x="2123151" y="531398"/>
                </a:lnTo>
                <a:lnTo>
                  <a:pt x="2146977" y="570258"/>
                </a:lnTo>
                <a:lnTo>
                  <a:pt x="2169288" y="610112"/>
                </a:lnTo>
                <a:lnTo>
                  <a:pt x="2190043" y="650920"/>
                </a:lnTo>
                <a:lnTo>
                  <a:pt x="2209204" y="692643"/>
                </a:lnTo>
                <a:lnTo>
                  <a:pt x="2226730" y="735241"/>
                </a:lnTo>
                <a:lnTo>
                  <a:pt x="2242581" y="778673"/>
                </a:lnTo>
                <a:lnTo>
                  <a:pt x="2256717" y="822900"/>
                </a:lnTo>
                <a:lnTo>
                  <a:pt x="2269097" y="867882"/>
                </a:lnTo>
                <a:lnTo>
                  <a:pt x="2279683" y="913578"/>
                </a:lnTo>
                <a:lnTo>
                  <a:pt x="2288434" y="959949"/>
                </a:lnTo>
                <a:lnTo>
                  <a:pt x="2295310" y="1006955"/>
                </a:lnTo>
                <a:lnTo>
                  <a:pt x="2300271" y="1054556"/>
                </a:lnTo>
                <a:lnTo>
                  <a:pt x="2303277" y="1102711"/>
                </a:lnTo>
                <a:lnTo>
                  <a:pt x="2304288" y="1151382"/>
                </a:lnTo>
                <a:lnTo>
                  <a:pt x="2303277" y="1200052"/>
                </a:lnTo>
                <a:lnTo>
                  <a:pt x="2300271" y="1248207"/>
                </a:lnTo>
                <a:lnTo>
                  <a:pt x="2295310" y="1295808"/>
                </a:lnTo>
                <a:lnTo>
                  <a:pt x="2288434" y="1342814"/>
                </a:lnTo>
                <a:lnTo>
                  <a:pt x="2279683" y="1389185"/>
                </a:lnTo>
                <a:lnTo>
                  <a:pt x="2269097" y="1434881"/>
                </a:lnTo>
                <a:lnTo>
                  <a:pt x="2256717" y="1479863"/>
                </a:lnTo>
                <a:lnTo>
                  <a:pt x="2242581" y="1524090"/>
                </a:lnTo>
                <a:lnTo>
                  <a:pt x="2226730" y="1567522"/>
                </a:lnTo>
                <a:lnTo>
                  <a:pt x="2209204" y="1610120"/>
                </a:lnTo>
                <a:lnTo>
                  <a:pt x="2190043" y="1651843"/>
                </a:lnTo>
                <a:lnTo>
                  <a:pt x="2169288" y="1692651"/>
                </a:lnTo>
                <a:lnTo>
                  <a:pt x="2146977" y="1732505"/>
                </a:lnTo>
                <a:lnTo>
                  <a:pt x="2123151" y="1771365"/>
                </a:lnTo>
                <a:lnTo>
                  <a:pt x="2097850" y="1809190"/>
                </a:lnTo>
                <a:lnTo>
                  <a:pt x="2071115" y="1845941"/>
                </a:lnTo>
                <a:lnTo>
                  <a:pt x="2042984" y="1881577"/>
                </a:lnTo>
                <a:lnTo>
                  <a:pt x="2013498" y="1916059"/>
                </a:lnTo>
                <a:lnTo>
                  <a:pt x="1982698" y="1949347"/>
                </a:lnTo>
                <a:lnTo>
                  <a:pt x="1950622" y="1981401"/>
                </a:lnTo>
                <a:lnTo>
                  <a:pt x="1917312" y="2012180"/>
                </a:lnTo>
                <a:lnTo>
                  <a:pt x="1882806" y="2041646"/>
                </a:lnTo>
                <a:lnTo>
                  <a:pt x="1847145" y="2069757"/>
                </a:lnTo>
                <a:lnTo>
                  <a:pt x="1810370" y="2096474"/>
                </a:lnTo>
                <a:lnTo>
                  <a:pt x="1772520" y="2121757"/>
                </a:lnTo>
                <a:lnTo>
                  <a:pt x="1733634" y="2145566"/>
                </a:lnTo>
                <a:lnTo>
                  <a:pt x="1693754" y="2167861"/>
                </a:lnTo>
                <a:lnTo>
                  <a:pt x="1652919" y="2188602"/>
                </a:lnTo>
                <a:lnTo>
                  <a:pt x="1611168" y="2207749"/>
                </a:lnTo>
                <a:lnTo>
                  <a:pt x="1568543" y="2225262"/>
                </a:lnTo>
                <a:lnTo>
                  <a:pt x="1525083" y="2241102"/>
                </a:lnTo>
                <a:lnTo>
                  <a:pt x="1480828" y="2255227"/>
                </a:lnTo>
                <a:lnTo>
                  <a:pt x="1435818" y="2267599"/>
                </a:lnTo>
                <a:lnTo>
                  <a:pt x="1390093" y="2278177"/>
                </a:lnTo>
                <a:lnTo>
                  <a:pt x="1343693" y="2286922"/>
                </a:lnTo>
                <a:lnTo>
                  <a:pt x="1296658" y="2293793"/>
                </a:lnTo>
                <a:lnTo>
                  <a:pt x="1249028" y="2298750"/>
                </a:lnTo>
                <a:lnTo>
                  <a:pt x="1200843" y="2301753"/>
                </a:lnTo>
                <a:lnTo>
                  <a:pt x="1152143" y="2302764"/>
                </a:lnTo>
                <a:lnTo>
                  <a:pt x="1103444" y="2301753"/>
                </a:lnTo>
                <a:lnTo>
                  <a:pt x="1055259" y="2298750"/>
                </a:lnTo>
                <a:lnTo>
                  <a:pt x="1007629" y="2293793"/>
                </a:lnTo>
                <a:lnTo>
                  <a:pt x="960594" y="2286922"/>
                </a:lnTo>
                <a:lnTo>
                  <a:pt x="914194" y="2278177"/>
                </a:lnTo>
                <a:lnTo>
                  <a:pt x="868469" y="2267599"/>
                </a:lnTo>
                <a:lnTo>
                  <a:pt x="823459" y="2255227"/>
                </a:lnTo>
                <a:lnTo>
                  <a:pt x="779204" y="2241102"/>
                </a:lnTo>
                <a:lnTo>
                  <a:pt x="735744" y="2225262"/>
                </a:lnTo>
                <a:lnTo>
                  <a:pt x="693119" y="2207749"/>
                </a:lnTo>
                <a:lnTo>
                  <a:pt x="651368" y="2188602"/>
                </a:lnTo>
                <a:lnTo>
                  <a:pt x="610533" y="2167861"/>
                </a:lnTo>
                <a:lnTo>
                  <a:pt x="570653" y="2145566"/>
                </a:lnTo>
                <a:lnTo>
                  <a:pt x="531767" y="2121757"/>
                </a:lnTo>
                <a:lnTo>
                  <a:pt x="493917" y="2096474"/>
                </a:lnTo>
                <a:lnTo>
                  <a:pt x="457142" y="2069757"/>
                </a:lnTo>
                <a:lnTo>
                  <a:pt x="421481" y="2041646"/>
                </a:lnTo>
                <a:lnTo>
                  <a:pt x="386975" y="2012180"/>
                </a:lnTo>
                <a:lnTo>
                  <a:pt x="353665" y="1981401"/>
                </a:lnTo>
                <a:lnTo>
                  <a:pt x="321589" y="1949347"/>
                </a:lnTo>
                <a:lnTo>
                  <a:pt x="290789" y="1916059"/>
                </a:lnTo>
                <a:lnTo>
                  <a:pt x="261303" y="1881577"/>
                </a:lnTo>
                <a:lnTo>
                  <a:pt x="233172" y="1845941"/>
                </a:lnTo>
                <a:lnTo>
                  <a:pt x="206437" y="1809190"/>
                </a:lnTo>
                <a:lnTo>
                  <a:pt x="181136" y="1771365"/>
                </a:lnTo>
                <a:lnTo>
                  <a:pt x="157310" y="1732505"/>
                </a:lnTo>
                <a:lnTo>
                  <a:pt x="134999" y="1692651"/>
                </a:lnTo>
                <a:lnTo>
                  <a:pt x="114244" y="1651843"/>
                </a:lnTo>
                <a:lnTo>
                  <a:pt x="95083" y="1610120"/>
                </a:lnTo>
                <a:lnTo>
                  <a:pt x="77557" y="1567522"/>
                </a:lnTo>
                <a:lnTo>
                  <a:pt x="61706" y="1524090"/>
                </a:lnTo>
                <a:lnTo>
                  <a:pt x="47570" y="1479863"/>
                </a:lnTo>
                <a:lnTo>
                  <a:pt x="35190" y="1434881"/>
                </a:lnTo>
                <a:lnTo>
                  <a:pt x="24604" y="1389185"/>
                </a:lnTo>
                <a:lnTo>
                  <a:pt x="15853" y="1342814"/>
                </a:lnTo>
                <a:lnTo>
                  <a:pt x="8977" y="1295808"/>
                </a:lnTo>
                <a:lnTo>
                  <a:pt x="4016" y="1248207"/>
                </a:lnTo>
                <a:lnTo>
                  <a:pt x="1010" y="1200052"/>
                </a:lnTo>
                <a:lnTo>
                  <a:pt x="0" y="1151382"/>
                </a:lnTo>
                <a:close/>
              </a:path>
            </a:pathLst>
          </a:custGeom>
          <a:ln w="579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60876" y="1895855"/>
            <a:ext cx="2303145" cy="2303145"/>
          </a:xfrm>
          <a:custGeom>
            <a:avLst/>
            <a:gdLst/>
            <a:ahLst/>
            <a:cxnLst/>
            <a:rect l="l" t="t" r="r" b="b"/>
            <a:pathLst>
              <a:path w="2303145" h="2303145">
                <a:moveTo>
                  <a:pt x="0" y="1151382"/>
                </a:moveTo>
                <a:lnTo>
                  <a:pt x="1010" y="1102711"/>
                </a:lnTo>
                <a:lnTo>
                  <a:pt x="4013" y="1054556"/>
                </a:lnTo>
                <a:lnTo>
                  <a:pt x="8970" y="1006955"/>
                </a:lnTo>
                <a:lnTo>
                  <a:pt x="15841" y="959949"/>
                </a:lnTo>
                <a:lnTo>
                  <a:pt x="24586" y="913578"/>
                </a:lnTo>
                <a:lnTo>
                  <a:pt x="35164" y="867882"/>
                </a:lnTo>
                <a:lnTo>
                  <a:pt x="47536" y="822900"/>
                </a:lnTo>
                <a:lnTo>
                  <a:pt x="61661" y="778673"/>
                </a:lnTo>
                <a:lnTo>
                  <a:pt x="77501" y="735241"/>
                </a:lnTo>
                <a:lnTo>
                  <a:pt x="95014" y="692643"/>
                </a:lnTo>
                <a:lnTo>
                  <a:pt x="114161" y="650920"/>
                </a:lnTo>
                <a:lnTo>
                  <a:pt x="134902" y="610112"/>
                </a:lnTo>
                <a:lnTo>
                  <a:pt x="157197" y="570258"/>
                </a:lnTo>
                <a:lnTo>
                  <a:pt x="181006" y="531398"/>
                </a:lnTo>
                <a:lnTo>
                  <a:pt x="206289" y="493573"/>
                </a:lnTo>
                <a:lnTo>
                  <a:pt x="233006" y="456822"/>
                </a:lnTo>
                <a:lnTo>
                  <a:pt x="261117" y="421186"/>
                </a:lnTo>
                <a:lnTo>
                  <a:pt x="290583" y="386704"/>
                </a:lnTo>
                <a:lnTo>
                  <a:pt x="321362" y="353416"/>
                </a:lnTo>
                <a:lnTo>
                  <a:pt x="353416" y="321362"/>
                </a:lnTo>
                <a:lnTo>
                  <a:pt x="386704" y="290583"/>
                </a:lnTo>
                <a:lnTo>
                  <a:pt x="421186" y="261117"/>
                </a:lnTo>
                <a:lnTo>
                  <a:pt x="456822" y="233006"/>
                </a:lnTo>
                <a:lnTo>
                  <a:pt x="493573" y="206289"/>
                </a:lnTo>
                <a:lnTo>
                  <a:pt x="531398" y="181006"/>
                </a:lnTo>
                <a:lnTo>
                  <a:pt x="570258" y="157197"/>
                </a:lnTo>
                <a:lnTo>
                  <a:pt x="610112" y="134902"/>
                </a:lnTo>
                <a:lnTo>
                  <a:pt x="650920" y="114161"/>
                </a:lnTo>
                <a:lnTo>
                  <a:pt x="692643" y="95014"/>
                </a:lnTo>
                <a:lnTo>
                  <a:pt x="735241" y="77501"/>
                </a:lnTo>
                <a:lnTo>
                  <a:pt x="778673" y="61661"/>
                </a:lnTo>
                <a:lnTo>
                  <a:pt x="822900" y="47536"/>
                </a:lnTo>
                <a:lnTo>
                  <a:pt x="867882" y="35164"/>
                </a:lnTo>
                <a:lnTo>
                  <a:pt x="913578" y="24586"/>
                </a:lnTo>
                <a:lnTo>
                  <a:pt x="959949" y="15841"/>
                </a:lnTo>
                <a:lnTo>
                  <a:pt x="1006955" y="8970"/>
                </a:lnTo>
                <a:lnTo>
                  <a:pt x="1054556" y="4013"/>
                </a:lnTo>
                <a:lnTo>
                  <a:pt x="1102711" y="1010"/>
                </a:lnTo>
                <a:lnTo>
                  <a:pt x="1151382" y="0"/>
                </a:lnTo>
                <a:lnTo>
                  <a:pt x="1200052" y="1010"/>
                </a:lnTo>
                <a:lnTo>
                  <a:pt x="1248207" y="4013"/>
                </a:lnTo>
                <a:lnTo>
                  <a:pt x="1295808" y="8970"/>
                </a:lnTo>
                <a:lnTo>
                  <a:pt x="1342814" y="15841"/>
                </a:lnTo>
                <a:lnTo>
                  <a:pt x="1389185" y="24586"/>
                </a:lnTo>
                <a:lnTo>
                  <a:pt x="1434881" y="35164"/>
                </a:lnTo>
                <a:lnTo>
                  <a:pt x="1479863" y="47536"/>
                </a:lnTo>
                <a:lnTo>
                  <a:pt x="1524090" y="61661"/>
                </a:lnTo>
                <a:lnTo>
                  <a:pt x="1567522" y="77501"/>
                </a:lnTo>
                <a:lnTo>
                  <a:pt x="1610120" y="95014"/>
                </a:lnTo>
                <a:lnTo>
                  <a:pt x="1651843" y="114161"/>
                </a:lnTo>
                <a:lnTo>
                  <a:pt x="1692651" y="134902"/>
                </a:lnTo>
                <a:lnTo>
                  <a:pt x="1732505" y="157197"/>
                </a:lnTo>
                <a:lnTo>
                  <a:pt x="1771365" y="181006"/>
                </a:lnTo>
                <a:lnTo>
                  <a:pt x="1809190" y="206289"/>
                </a:lnTo>
                <a:lnTo>
                  <a:pt x="1845941" y="233006"/>
                </a:lnTo>
                <a:lnTo>
                  <a:pt x="1881577" y="261117"/>
                </a:lnTo>
                <a:lnTo>
                  <a:pt x="1916059" y="290583"/>
                </a:lnTo>
                <a:lnTo>
                  <a:pt x="1949347" y="321362"/>
                </a:lnTo>
                <a:lnTo>
                  <a:pt x="1981401" y="353416"/>
                </a:lnTo>
                <a:lnTo>
                  <a:pt x="2012180" y="386704"/>
                </a:lnTo>
                <a:lnTo>
                  <a:pt x="2041646" y="421186"/>
                </a:lnTo>
                <a:lnTo>
                  <a:pt x="2069757" y="456822"/>
                </a:lnTo>
                <a:lnTo>
                  <a:pt x="2096474" y="493573"/>
                </a:lnTo>
                <a:lnTo>
                  <a:pt x="2121757" y="531398"/>
                </a:lnTo>
                <a:lnTo>
                  <a:pt x="2145566" y="570258"/>
                </a:lnTo>
                <a:lnTo>
                  <a:pt x="2167861" y="610112"/>
                </a:lnTo>
                <a:lnTo>
                  <a:pt x="2188602" y="650920"/>
                </a:lnTo>
                <a:lnTo>
                  <a:pt x="2207749" y="692643"/>
                </a:lnTo>
                <a:lnTo>
                  <a:pt x="2225262" y="735241"/>
                </a:lnTo>
                <a:lnTo>
                  <a:pt x="2241102" y="778673"/>
                </a:lnTo>
                <a:lnTo>
                  <a:pt x="2255227" y="822900"/>
                </a:lnTo>
                <a:lnTo>
                  <a:pt x="2267599" y="867882"/>
                </a:lnTo>
                <a:lnTo>
                  <a:pt x="2278177" y="913578"/>
                </a:lnTo>
                <a:lnTo>
                  <a:pt x="2286922" y="959949"/>
                </a:lnTo>
                <a:lnTo>
                  <a:pt x="2293793" y="1006955"/>
                </a:lnTo>
                <a:lnTo>
                  <a:pt x="2298750" y="1054556"/>
                </a:lnTo>
                <a:lnTo>
                  <a:pt x="2301753" y="1102711"/>
                </a:lnTo>
                <a:lnTo>
                  <a:pt x="2302764" y="1151382"/>
                </a:lnTo>
                <a:lnTo>
                  <a:pt x="2301753" y="1200052"/>
                </a:lnTo>
                <a:lnTo>
                  <a:pt x="2298750" y="1248207"/>
                </a:lnTo>
                <a:lnTo>
                  <a:pt x="2293793" y="1295808"/>
                </a:lnTo>
                <a:lnTo>
                  <a:pt x="2286922" y="1342814"/>
                </a:lnTo>
                <a:lnTo>
                  <a:pt x="2278177" y="1389185"/>
                </a:lnTo>
                <a:lnTo>
                  <a:pt x="2267599" y="1434881"/>
                </a:lnTo>
                <a:lnTo>
                  <a:pt x="2255227" y="1479863"/>
                </a:lnTo>
                <a:lnTo>
                  <a:pt x="2241102" y="1524090"/>
                </a:lnTo>
                <a:lnTo>
                  <a:pt x="2225262" y="1567522"/>
                </a:lnTo>
                <a:lnTo>
                  <a:pt x="2207749" y="1610120"/>
                </a:lnTo>
                <a:lnTo>
                  <a:pt x="2188602" y="1651843"/>
                </a:lnTo>
                <a:lnTo>
                  <a:pt x="2167861" y="1692651"/>
                </a:lnTo>
                <a:lnTo>
                  <a:pt x="2145566" y="1732505"/>
                </a:lnTo>
                <a:lnTo>
                  <a:pt x="2121757" y="1771365"/>
                </a:lnTo>
                <a:lnTo>
                  <a:pt x="2096474" y="1809190"/>
                </a:lnTo>
                <a:lnTo>
                  <a:pt x="2069757" y="1845941"/>
                </a:lnTo>
                <a:lnTo>
                  <a:pt x="2041646" y="1881577"/>
                </a:lnTo>
                <a:lnTo>
                  <a:pt x="2012180" y="1916059"/>
                </a:lnTo>
                <a:lnTo>
                  <a:pt x="1981401" y="1949347"/>
                </a:lnTo>
                <a:lnTo>
                  <a:pt x="1949347" y="1981401"/>
                </a:lnTo>
                <a:lnTo>
                  <a:pt x="1916059" y="2012180"/>
                </a:lnTo>
                <a:lnTo>
                  <a:pt x="1881577" y="2041646"/>
                </a:lnTo>
                <a:lnTo>
                  <a:pt x="1845941" y="2069757"/>
                </a:lnTo>
                <a:lnTo>
                  <a:pt x="1809190" y="2096474"/>
                </a:lnTo>
                <a:lnTo>
                  <a:pt x="1771365" y="2121757"/>
                </a:lnTo>
                <a:lnTo>
                  <a:pt x="1732505" y="2145566"/>
                </a:lnTo>
                <a:lnTo>
                  <a:pt x="1692651" y="2167861"/>
                </a:lnTo>
                <a:lnTo>
                  <a:pt x="1651843" y="2188602"/>
                </a:lnTo>
                <a:lnTo>
                  <a:pt x="1610120" y="2207749"/>
                </a:lnTo>
                <a:lnTo>
                  <a:pt x="1567522" y="2225262"/>
                </a:lnTo>
                <a:lnTo>
                  <a:pt x="1524090" y="2241102"/>
                </a:lnTo>
                <a:lnTo>
                  <a:pt x="1479863" y="2255227"/>
                </a:lnTo>
                <a:lnTo>
                  <a:pt x="1434881" y="2267599"/>
                </a:lnTo>
                <a:lnTo>
                  <a:pt x="1389185" y="2278177"/>
                </a:lnTo>
                <a:lnTo>
                  <a:pt x="1342814" y="2286922"/>
                </a:lnTo>
                <a:lnTo>
                  <a:pt x="1295808" y="2293793"/>
                </a:lnTo>
                <a:lnTo>
                  <a:pt x="1248207" y="2298750"/>
                </a:lnTo>
                <a:lnTo>
                  <a:pt x="1200052" y="2301753"/>
                </a:lnTo>
                <a:lnTo>
                  <a:pt x="1151382" y="2302764"/>
                </a:lnTo>
                <a:lnTo>
                  <a:pt x="1102711" y="2301753"/>
                </a:lnTo>
                <a:lnTo>
                  <a:pt x="1054556" y="2298750"/>
                </a:lnTo>
                <a:lnTo>
                  <a:pt x="1006955" y="2293793"/>
                </a:lnTo>
                <a:lnTo>
                  <a:pt x="959949" y="2286922"/>
                </a:lnTo>
                <a:lnTo>
                  <a:pt x="913578" y="2278177"/>
                </a:lnTo>
                <a:lnTo>
                  <a:pt x="867882" y="2267599"/>
                </a:lnTo>
                <a:lnTo>
                  <a:pt x="822900" y="2255227"/>
                </a:lnTo>
                <a:lnTo>
                  <a:pt x="778673" y="2241102"/>
                </a:lnTo>
                <a:lnTo>
                  <a:pt x="735241" y="2225262"/>
                </a:lnTo>
                <a:lnTo>
                  <a:pt x="692643" y="2207749"/>
                </a:lnTo>
                <a:lnTo>
                  <a:pt x="650920" y="2188602"/>
                </a:lnTo>
                <a:lnTo>
                  <a:pt x="610112" y="2167861"/>
                </a:lnTo>
                <a:lnTo>
                  <a:pt x="570258" y="2145566"/>
                </a:lnTo>
                <a:lnTo>
                  <a:pt x="531398" y="2121757"/>
                </a:lnTo>
                <a:lnTo>
                  <a:pt x="493573" y="2096474"/>
                </a:lnTo>
                <a:lnTo>
                  <a:pt x="456822" y="2069757"/>
                </a:lnTo>
                <a:lnTo>
                  <a:pt x="421186" y="2041646"/>
                </a:lnTo>
                <a:lnTo>
                  <a:pt x="386704" y="2012180"/>
                </a:lnTo>
                <a:lnTo>
                  <a:pt x="353416" y="1981401"/>
                </a:lnTo>
                <a:lnTo>
                  <a:pt x="321362" y="1949347"/>
                </a:lnTo>
                <a:lnTo>
                  <a:pt x="290583" y="1916059"/>
                </a:lnTo>
                <a:lnTo>
                  <a:pt x="261117" y="1881577"/>
                </a:lnTo>
                <a:lnTo>
                  <a:pt x="233006" y="1845941"/>
                </a:lnTo>
                <a:lnTo>
                  <a:pt x="206289" y="1809190"/>
                </a:lnTo>
                <a:lnTo>
                  <a:pt x="181006" y="1771365"/>
                </a:lnTo>
                <a:lnTo>
                  <a:pt x="157197" y="1732505"/>
                </a:lnTo>
                <a:lnTo>
                  <a:pt x="134902" y="1692651"/>
                </a:lnTo>
                <a:lnTo>
                  <a:pt x="114161" y="1651843"/>
                </a:lnTo>
                <a:lnTo>
                  <a:pt x="95014" y="1610120"/>
                </a:lnTo>
                <a:lnTo>
                  <a:pt x="77501" y="1567522"/>
                </a:lnTo>
                <a:lnTo>
                  <a:pt x="61661" y="1524090"/>
                </a:lnTo>
                <a:lnTo>
                  <a:pt x="47536" y="1479863"/>
                </a:lnTo>
                <a:lnTo>
                  <a:pt x="35164" y="1434881"/>
                </a:lnTo>
                <a:lnTo>
                  <a:pt x="24586" y="1389185"/>
                </a:lnTo>
                <a:lnTo>
                  <a:pt x="15841" y="1342814"/>
                </a:lnTo>
                <a:lnTo>
                  <a:pt x="8970" y="1295808"/>
                </a:lnTo>
                <a:lnTo>
                  <a:pt x="4013" y="1248207"/>
                </a:lnTo>
                <a:lnTo>
                  <a:pt x="1010" y="1200052"/>
                </a:lnTo>
                <a:lnTo>
                  <a:pt x="0" y="1151382"/>
                </a:lnTo>
                <a:close/>
              </a:path>
            </a:pathLst>
          </a:custGeom>
          <a:ln w="57912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93008" y="3070860"/>
            <a:ext cx="2303145" cy="2303145"/>
          </a:xfrm>
          <a:custGeom>
            <a:avLst/>
            <a:gdLst/>
            <a:ahLst/>
            <a:cxnLst/>
            <a:rect l="l" t="t" r="r" b="b"/>
            <a:pathLst>
              <a:path w="2303145" h="2303145">
                <a:moveTo>
                  <a:pt x="0" y="1151382"/>
                </a:moveTo>
                <a:lnTo>
                  <a:pt x="1010" y="1102711"/>
                </a:lnTo>
                <a:lnTo>
                  <a:pt x="4013" y="1054556"/>
                </a:lnTo>
                <a:lnTo>
                  <a:pt x="8970" y="1006955"/>
                </a:lnTo>
                <a:lnTo>
                  <a:pt x="15841" y="959949"/>
                </a:lnTo>
                <a:lnTo>
                  <a:pt x="24586" y="913578"/>
                </a:lnTo>
                <a:lnTo>
                  <a:pt x="35164" y="867882"/>
                </a:lnTo>
                <a:lnTo>
                  <a:pt x="47536" y="822900"/>
                </a:lnTo>
                <a:lnTo>
                  <a:pt x="61661" y="778673"/>
                </a:lnTo>
                <a:lnTo>
                  <a:pt x="77501" y="735241"/>
                </a:lnTo>
                <a:lnTo>
                  <a:pt x="95014" y="692643"/>
                </a:lnTo>
                <a:lnTo>
                  <a:pt x="114161" y="650920"/>
                </a:lnTo>
                <a:lnTo>
                  <a:pt x="134902" y="610112"/>
                </a:lnTo>
                <a:lnTo>
                  <a:pt x="157197" y="570258"/>
                </a:lnTo>
                <a:lnTo>
                  <a:pt x="181006" y="531398"/>
                </a:lnTo>
                <a:lnTo>
                  <a:pt x="206289" y="493573"/>
                </a:lnTo>
                <a:lnTo>
                  <a:pt x="233006" y="456822"/>
                </a:lnTo>
                <a:lnTo>
                  <a:pt x="261117" y="421186"/>
                </a:lnTo>
                <a:lnTo>
                  <a:pt x="290583" y="386704"/>
                </a:lnTo>
                <a:lnTo>
                  <a:pt x="321362" y="353416"/>
                </a:lnTo>
                <a:lnTo>
                  <a:pt x="353416" y="321362"/>
                </a:lnTo>
                <a:lnTo>
                  <a:pt x="386704" y="290583"/>
                </a:lnTo>
                <a:lnTo>
                  <a:pt x="421186" y="261117"/>
                </a:lnTo>
                <a:lnTo>
                  <a:pt x="456822" y="233006"/>
                </a:lnTo>
                <a:lnTo>
                  <a:pt x="493573" y="206289"/>
                </a:lnTo>
                <a:lnTo>
                  <a:pt x="531398" y="181006"/>
                </a:lnTo>
                <a:lnTo>
                  <a:pt x="570258" y="157197"/>
                </a:lnTo>
                <a:lnTo>
                  <a:pt x="610112" y="134902"/>
                </a:lnTo>
                <a:lnTo>
                  <a:pt x="650920" y="114161"/>
                </a:lnTo>
                <a:lnTo>
                  <a:pt x="692643" y="95014"/>
                </a:lnTo>
                <a:lnTo>
                  <a:pt x="735241" y="77501"/>
                </a:lnTo>
                <a:lnTo>
                  <a:pt x="778673" y="61661"/>
                </a:lnTo>
                <a:lnTo>
                  <a:pt x="822900" y="47536"/>
                </a:lnTo>
                <a:lnTo>
                  <a:pt x="867882" y="35164"/>
                </a:lnTo>
                <a:lnTo>
                  <a:pt x="913578" y="24586"/>
                </a:lnTo>
                <a:lnTo>
                  <a:pt x="959949" y="15841"/>
                </a:lnTo>
                <a:lnTo>
                  <a:pt x="1006955" y="8970"/>
                </a:lnTo>
                <a:lnTo>
                  <a:pt x="1054556" y="4013"/>
                </a:lnTo>
                <a:lnTo>
                  <a:pt x="1102711" y="1010"/>
                </a:lnTo>
                <a:lnTo>
                  <a:pt x="1151381" y="0"/>
                </a:lnTo>
                <a:lnTo>
                  <a:pt x="1200052" y="1010"/>
                </a:lnTo>
                <a:lnTo>
                  <a:pt x="1248207" y="4013"/>
                </a:lnTo>
                <a:lnTo>
                  <a:pt x="1295808" y="8970"/>
                </a:lnTo>
                <a:lnTo>
                  <a:pt x="1342814" y="15841"/>
                </a:lnTo>
                <a:lnTo>
                  <a:pt x="1389185" y="24586"/>
                </a:lnTo>
                <a:lnTo>
                  <a:pt x="1434881" y="35164"/>
                </a:lnTo>
                <a:lnTo>
                  <a:pt x="1479863" y="47536"/>
                </a:lnTo>
                <a:lnTo>
                  <a:pt x="1524090" y="61661"/>
                </a:lnTo>
                <a:lnTo>
                  <a:pt x="1567522" y="77501"/>
                </a:lnTo>
                <a:lnTo>
                  <a:pt x="1610120" y="95014"/>
                </a:lnTo>
                <a:lnTo>
                  <a:pt x="1651843" y="114161"/>
                </a:lnTo>
                <a:lnTo>
                  <a:pt x="1692651" y="134902"/>
                </a:lnTo>
                <a:lnTo>
                  <a:pt x="1732505" y="157197"/>
                </a:lnTo>
                <a:lnTo>
                  <a:pt x="1771365" y="181006"/>
                </a:lnTo>
                <a:lnTo>
                  <a:pt x="1809190" y="206289"/>
                </a:lnTo>
                <a:lnTo>
                  <a:pt x="1845941" y="233006"/>
                </a:lnTo>
                <a:lnTo>
                  <a:pt x="1881577" y="261117"/>
                </a:lnTo>
                <a:lnTo>
                  <a:pt x="1916059" y="290583"/>
                </a:lnTo>
                <a:lnTo>
                  <a:pt x="1949347" y="321362"/>
                </a:lnTo>
                <a:lnTo>
                  <a:pt x="1981401" y="353416"/>
                </a:lnTo>
                <a:lnTo>
                  <a:pt x="2012180" y="386704"/>
                </a:lnTo>
                <a:lnTo>
                  <a:pt x="2041646" y="421186"/>
                </a:lnTo>
                <a:lnTo>
                  <a:pt x="2069757" y="456822"/>
                </a:lnTo>
                <a:lnTo>
                  <a:pt x="2096474" y="493573"/>
                </a:lnTo>
                <a:lnTo>
                  <a:pt x="2121757" y="531398"/>
                </a:lnTo>
                <a:lnTo>
                  <a:pt x="2145566" y="570258"/>
                </a:lnTo>
                <a:lnTo>
                  <a:pt x="2167861" y="610112"/>
                </a:lnTo>
                <a:lnTo>
                  <a:pt x="2188602" y="650920"/>
                </a:lnTo>
                <a:lnTo>
                  <a:pt x="2207749" y="692643"/>
                </a:lnTo>
                <a:lnTo>
                  <a:pt x="2225262" y="735241"/>
                </a:lnTo>
                <a:lnTo>
                  <a:pt x="2241102" y="778673"/>
                </a:lnTo>
                <a:lnTo>
                  <a:pt x="2255227" y="822900"/>
                </a:lnTo>
                <a:lnTo>
                  <a:pt x="2267599" y="867882"/>
                </a:lnTo>
                <a:lnTo>
                  <a:pt x="2278177" y="913578"/>
                </a:lnTo>
                <a:lnTo>
                  <a:pt x="2286922" y="959949"/>
                </a:lnTo>
                <a:lnTo>
                  <a:pt x="2293793" y="1006955"/>
                </a:lnTo>
                <a:lnTo>
                  <a:pt x="2298750" y="1054556"/>
                </a:lnTo>
                <a:lnTo>
                  <a:pt x="2301753" y="1102711"/>
                </a:lnTo>
                <a:lnTo>
                  <a:pt x="2302764" y="1151382"/>
                </a:lnTo>
                <a:lnTo>
                  <a:pt x="2301753" y="1200052"/>
                </a:lnTo>
                <a:lnTo>
                  <a:pt x="2298750" y="1248207"/>
                </a:lnTo>
                <a:lnTo>
                  <a:pt x="2293793" y="1295808"/>
                </a:lnTo>
                <a:lnTo>
                  <a:pt x="2286922" y="1342814"/>
                </a:lnTo>
                <a:lnTo>
                  <a:pt x="2278177" y="1389185"/>
                </a:lnTo>
                <a:lnTo>
                  <a:pt x="2267599" y="1434881"/>
                </a:lnTo>
                <a:lnTo>
                  <a:pt x="2255227" y="1479863"/>
                </a:lnTo>
                <a:lnTo>
                  <a:pt x="2241102" y="1524090"/>
                </a:lnTo>
                <a:lnTo>
                  <a:pt x="2225262" y="1567522"/>
                </a:lnTo>
                <a:lnTo>
                  <a:pt x="2207749" y="1610120"/>
                </a:lnTo>
                <a:lnTo>
                  <a:pt x="2188602" y="1651843"/>
                </a:lnTo>
                <a:lnTo>
                  <a:pt x="2167861" y="1692651"/>
                </a:lnTo>
                <a:lnTo>
                  <a:pt x="2145566" y="1732505"/>
                </a:lnTo>
                <a:lnTo>
                  <a:pt x="2121757" y="1771365"/>
                </a:lnTo>
                <a:lnTo>
                  <a:pt x="2096474" y="1809190"/>
                </a:lnTo>
                <a:lnTo>
                  <a:pt x="2069757" y="1845941"/>
                </a:lnTo>
                <a:lnTo>
                  <a:pt x="2041646" y="1881577"/>
                </a:lnTo>
                <a:lnTo>
                  <a:pt x="2012180" y="1916059"/>
                </a:lnTo>
                <a:lnTo>
                  <a:pt x="1981401" y="1949347"/>
                </a:lnTo>
                <a:lnTo>
                  <a:pt x="1949347" y="1981401"/>
                </a:lnTo>
                <a:lnTo>
                  <a:pt x="1916059" y="2012180"/>
                </a:lnTo>
                <a:lnTo>
                  <a:pt x="1881577" y="2041646"/>
                </a:lnTo>
                <a:lnTo>
                  <a:pt x="1845941" y="2069757"/>
                </a:lnTo>
                <a:lnTo>
                  <a:pt x="1809190" y="2096474"/>
                </a:lnTo>
                <a:lnTo>
                  <a:pt x="1771365" y="2121757"/>
                </a:lnTo>
                <a:lnTo>
                  <a:pt x="1732505" y="2145566"/>
                </a:lnTo>
                <a:lnTo>
                  <a:pt x="1692651" y="2167861"/>
                </a:lnTo>
                <a:lnTo>
                  <a:pt x="1651843" y="2188602"/>
                </a:lnTo>
                <a:lnTo>
                  <a:pt x="1610120" y="2207749"/>
                </a:lnTo>
                <a:lnTo>
                  <a:pt x="1567522" y="2225262"/>
                </a:lnTo>
                <a:lnTo>
                  <a:pt x="1524090" y="2241102"/>
                </a:lnTo>
                <a:lnTo>
                  <a:pt x="1479863" y="2255227"/>
                </a:lnTo>
                <a:lnTo>
                  <a:pt x="1434881" y="2267599"/>
                </a:lnTo>
                <a:lnTo>
                  <a:pt x="1389185" y="2278177"/>
                </a:lnTo>
                <a:lnTo>
                  <a:pt x="1342814" y="2286922"/>
                </a:lnTo>
                <a:lnTo>
                  <a:pt x="1295808" y="2293793"/>
                </a:lnTo>
                <a:lnTo>
                  <a:pt x="1248207" y="2298750"/>
                </a:lnTo>
                <a:lnTo>
                  <a:pt x="1200052" y="2301753"/>
                </a:lnTo>
                <a:lnTo>
                  <a:pt x="1151381" y="2302764"/>
                </a:lnTo>
                <a:lnTo>
                  <a:pt x="1102711" y="2301753"/>
                </a:lnTo>
                <a:lnTo>
                  <a:pt x="1054556" y="2298750"/>
                </a:lnTo>
                <a:lnTo>
                  <a:pt x="1006955" y="2293793"/>
                </a:lnTo>
                <a:lnTo>
                  <a:pt x="959949" y="2286922"/>
                </a:lnTo>
                <a:lnTo>
                  <a:pt x="913578" y="2278177"/>
                </a:lnTo>
                <a:lnTo>
                  <a:pt x="867882" y="2267599"/>
                </a:lnTo>
                <a:lnTo>
                  <a:pt x="822900" y="2255227"/>
                </a:lnTo>
                <a:lnTo>
                  <a:pt x="778673" y="2241102"/>
                </a:lnTo>
                <a:lnTo>
                  <a:pt x="735241" y="2225262"/>
                </a:lnTo>
                <a:lnTo>
                  <a:pt x="692643" y="2207749"/>
                </a:lnTo>
                <a:lnTo>
                  <a:pt x="650920" y="2188602"/>
                </a:lnTo>
                <a:lnTo>
                  <a:pt x="610112" y="2167861"/>
                </a:lnTo>
                <a:lnTo>
                  <a:pt x="570258" y="2145566"/>
                </a:lnTo>
                <a:lnTo>
                  <a:pt x="531398" y="2121757"/>
                </a:lnTo>
                <a:lnTo>
                  <a:pt x="493573" y="2096474"/>
                </a:lnTo>
                <a:lnTo>
                  <a:pt x="456822" y="2069757"/>
                </a:lnTo>
                <a:lnTo>
                  <a:pt x="421186" y="2041646"/>
                </a:lnTo>
                <a:lnTo>
                  <a:pt x="386704" y="2012180"/>
                </a:lnTo>
                <a:lnTo>
                  <a:pt x="353416" y="1981401"/>
                </a:lnTo>
                <a:lnTo>
                  <a:pt x="321362" y="1949347"/>
                </a:lnTo>
                <a:lnTo>
                  <a:pt x="290583" y="1916059"/>
                </a:lnTo>
                <a:lnTo>
                  <a:pt x="261117" y="1881577"/>
                </a:lnTo>
                <a:lnTo>
                  <a:pt x="233006" y="1845941"/>
                </a:lnTo>
                <a:lnTo>
                  <a:pt x="206289" y="1809190"/>
                </a:lnTo>
                <a:lnTo>
                  <a:pt x="181006" y="1771365"/>
                </a:lnTo>
                <a:lnTo>
                  <a:pt x="157197" y="1732505"/>
                </a:lnTo>
                <a:lnTo>
                  <a:pt x="134902" y="1692651"/>
                </a:lnTo>
                <a:lnTo>
                  <a:pt x="114161" y="1651843"/>
                </a:lnTo>
                <a:lnTo>
                  <a:pt x="95014" y="1610120"/>
                </a:lnTo>
                <a:lnTo>
                  <a:pt x="77501" y="1567522"/>
                </a:lnTo>
                <a:lnTo>
                  <a:pt x="61661" y="1524090"/>
                </a:lnTo>
                <a:lnTo>
                  <a:pt x="47536" y="1479863"/>
                </a:lnTo>
                <a:lnTo>
                  <a:pt x="35164" y="1434881"/>
                </a:lnTo>
                <a:lnTo>
                  <a:pt x="24586" y="1389185"/>
                </a:lnTo>
                <a:lnTo>
                  <a:pt x="15841" y="1342814"/>
                </a:lnTo>
                <a:lnTo>
                  <a:pt x="8970" y="1295808"/>
                </a:lnTo>
                <a:lnTo>
                  <a:pt x="4013" y="1248207"/>
                </a:lnTo>
                <a:lnTo>
                  <a:pt x="1010" y="1200052"/>
                </a:lnTo>
                <a:lnTo>
                  <a:pt x="0" y="1151382"/>
                </a:lnTo>
                <a:close/>
              </a:path>
            </a:pathLst>
          </a:custGeom>
          <a:ln w="579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64277" y="2178812"/>
            <a:ext cx="8375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Helvetica"/>
                <a:cs typeface="Helvetica"/>
              </a:rPr>
              <a:t>20%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20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6550" y="3163316"/>
            <a:ext cx="8375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Helvetica"/>
                <a:cs typeface="Helvetica"/>
              </a:rPr>
              <a:t>57%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94478" y="3686632"/>
            <a:ext cx="535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Helvetica"/>
                <a:cs typeface="Helvetica"/>
              </a:rPr>
              <a:t>12%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4177" y="4322190"/>
            <a:ext cx="3187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Helvetica"/>
                <a:cs typeface="Helvetica"/>
              </a:rPr>
              <a:t>3%</a:t>
            </a:r>
            <a:endParaRPr sz="1600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81425" y="3680282"/>
            <a:ext cx="354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Helvetica"/>
                <a:cs typeface="Helvetica"/>
              </a:rPr>
              <a:t>7%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70250" y="2427858"/>
            <a:ext cx="4876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Helvetica"/>
                <a:cs typeface="Helvetica"/>
              </a:rPr>
              <a:t>0.5%</a:t>
            </a:r>
            <a:endParaRPr sz="1600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94917" y="1921510"/>
            <a:ext cx="14293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Stuck-at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23481" y="4597146"/>
            <a:ext cx="11499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00AF50"/>
                </a:solidFill>
                <a:latin typeface="Helvetica"/>
                <a:cs typeface="Helvetica"/>
              </a:rPr>
              <a:t>Bridge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69507" y="1861185"/>
            <a:ext cx="9740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F2F9F"/>
                </a:solidFill>
                <a:latin typeface="Helvetica"/>
                <a:cs typeface="Helvetica"/>
              </a:rPr>
              <a:t>Del</a:t>
            </a:r>
            <a:r>
              <a:rPr sz="2800" b="1" dirty="0">
                <a:solidFill>
                  <a:srgbClr val="6F2F9F"/>
                </a:solidFill>
                <a:latin typeface="Helvetica"/>
                <a:cs typeface="Helvetica"/>
              </a:rPr>
              <a:t>a</a:t>
            </a:r>
            <a:r>
              <a:rPr sz="2800" b="1" spc="-5" dirty="0">
                <a:solidFill>
                  <a:srgbClr val="6F2F9F"/>
                </a:solidFill>
                <a:latin typeface="Helvetica"/>
                <a:cs typeface="Helvetica"/>
              </a:rPr>
              <a:t>y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3016" y="4787265"/>
            <a:ext cx="314198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Helvetica"/>
                <a:cs typeface="Helvetica"/>
              </a:rPr>
              <a:t>Portion of failing</a:t>
            </a:r>
            <a:r>
              <a:rPr sz="1600" b="1" spc="60" dirty="0">
                <a:latin typeface="Helvetica"/>
                <a:cs typeface="Helvetica"/>
              </a:rPr>
              <a:t> </a:t>
            </a:r>
            <a:r>
              <a:rPr sz="1600" b="1" spc="-5" dirty="0">
                <a:latin typeface="Helvetica"/>
                <a:cs typeface="Helvetica"/>
              </a:rPr>
              <a:t>chips</a:t>
            </a:r>
            <a:endParaRPr sz="16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Helvetica"/>
                <a:cs typeface="Helvetica"/>
              </a:rPr>
              <a:t>Covered </a:t>
            </a:r>
            <a:r>
              <a:rPr sz="1600" b="1" spc="-5" dirty="0">
                <a:latin typeface="Helvetica"/>
                <a:cs typeface="Helvetica"/>
              </a:rPr>
              <a:t>by each</a:t>
            </a:r>
            <a:r>
              <a:rPr sz="1600" b="1" spc="35" dirty="0">
                <a:latin typeface="Helvetica"/>
                <a:cs typeface="Helvetica"/>
              </a:rPr>
              <a:t> </a:t>
            </a:r>
            <a:r>
              <a:rPr sz="1600" b="1" spc="-5" dirty="0">
                <a:latin typeface="Helvetica"/>
                <a:cs typeface="Helvetica"/>
              </a:rPr>
              <a:t>test</a:t>
            </a:r>
            <a:endParaRPr sz="1600">
              <a:latin typeface="Helvetica"/>
              <a:cs typeface="Helvetica"/>
            </a:endParaRPr>
          </a:p>
          <a:p>
            <a:pPr marL="68580">
              <a:lnSpc>
                <a:spcPct val="100000"/>
              </a:lnSpc>
            </a:pPr>
            <a:r>
              <a:rPr sz="1600" b="1" spc="-5" dirty="0">
                <a:solidFill>
                  <a:srgbClr val="7E7E7E"/>
                </a:solidFill>
                <a:latin typeface="Helvetica"/>
                <a:cs typeface="Helvetica"/>
              </a:rPr>
              <a:t>[modified from Mentor</a:t>
            </a:r>
            <a:r>
              <a:rPr sz="1600" b="1" spc="70" dirty="0">
                <a:solidFill>
                  <a:srgbClr val="7E7E7E"/>
                </a:solidFill>
                <a:latin typeface="Helvetica"/>
                <a:cs typeface="Helvetica"/>
              </a:rPr>
              <a:t> </a:t>
            </a:r>
            <a:r>
              <a:rPr sz="1600" b="1" spc="-10" dirty="0">
                <a:solidFill>
                  <a:srgbClr val="7E7E7E"/>
                </a:solidFill>
                <a:latin typeface="Helvetica"/>
                <a:cs typeface="Helvetica"/>
              </a:rPr>
              <a:t>Website]</a:t>
            </a:r>
            <a:endParaRPr sz="16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21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352" y="164414"/>
            <a:ext cx="21107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6534150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Delay fault important for </a:t>
            </a:r>
            <a:r>
              <a:rPr sz="2000" b="1" spc="-5" dirty="0">
                <a:latin typeface="Arial"/>
                <a:cs typeface="Arial"/>
              </a:rPr>
              <a:t>advanced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technologies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5" dirty="0">
                <a:latin typeface="Arial"/>
                <a:cs typeface="Arial"/>
              </a:rPr>
              <a:t>Two </a:t>
            </a:r>
            <a:r>
              <a:rPr sz="2000" b="1" dirty="0">
                <a:latin typeface="Arial"/>
                <a:cs typeface="Arial"/>
              </a:rPr>
              <a:t>popular delay fault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models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Path delay fault (PDF): </a:t>
            </a:r>
            <a:r>
              <a:rPr sz="2000" b="1" spc="5" dirty="0">
                <a:latin typeface="Arial"/>
                <a:cs typeface="Arial"/>
              </a:rPr>
              <a:t>two </a:t>
            </a:r>
            <a:r>
              <a:rPr sz="2000" b="1" dirty="0">
                <a:latin typeface="Arial"/>
                <a:cs typeface="Arial"/>
              </a:rPr>
              <a:t>faults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per</a:t>
            </a:r>
            <a:r>
              <a:rPr sz="2000" b="1" spc="-1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path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Rising,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falling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Transition delay fault (TDF): </a:t>
            </a:r>
            <a:r>
              <a:rPr sz="2000" b="1" spc="10" dirty="0">
                <a:latin typeface="Arial"/>
                <a:cs typeface="Arial"/>
              </a:rPr>
              <a:t>two </a:t>
            </a:r>
            <a:r>
              <a:rPr sz="2000" b="1" dirty="0">
                <a:latin typeface="Arial"/>
                <a:cs typeface="Arial"/>
              </a:rPr>
              <a:t>faults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per</a:t>
            </a:r>
            <a:r>
              <a:rPr sz="2000" b="1" spc="-2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node</a:t>
            </a:r>
            <a:endParaRPr lang="en-US" sz="2000" b="1" dirty="0">
              <a:solidFill>
                <a:srgbClr val="0000FF"/>
              </a:solidFill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lang="en-US"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lang="en-US"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STR,</a:t>
            </a:r>
            <a:r>
              <a:rPr lang="en-US" sz="2000" b="1" spc="-10" dirty="0"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STF</a:t>
            </a:r>
            <a:endParaRPr lang="en-US" sz="20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008226"/>
              </p:ext>
            </p:extLst>
          </p:nvPr>
        </p:nvGraphicFramePr>
        <p:xfrm>
          <a:off x="866775" y="3419411"/>
          <a:ext cx="7794623" cy="24448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8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7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7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0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Path Delay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Fault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Transition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Delay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Fault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Number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faults</a:t>
                      </a:r>
                      <a:r>
                        <a:rPr lang="en-US" sz="1800" b="1" dirty="0">
                          <a:latin typeface="Arial"/>
                          <a:cs typeface="Arial"/>
                        </a:rPr>
                        <a:t> (in terms of # nodes in circuit)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800" spc="-285" dirty="0">
                          <a:latin typeface="Arial Unicode MS"/>
                          <a:cs typeface="Arial Unicode MS"/>
                        </a:rPr>
                        <a:t>🙁</a:t>
                      </a:r>
                      <a:r>
                        <a:rPr sz="1800" spc="-285" dirty="0">
                          <a:latin typeface="Arial Unicode MS"/>
                          <a:cs typeface="Arial Unicode MS"/>
                        </a:rPr>
                        <a:t> </a:t>
                      </a:r>
                      <a:r>
                        <a:rPr lang="en-US" sz="1800" b="1" spc="-16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b="1" dirty="0">
                          <a:latin typeface="Arial"/>
                          <a:cs typeface="Arial"/>
                        </a:rPr>
                        <a:t>worst-case e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xponential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165" dirty="0">
                          <a:solidFill>
                            <a:srgbClr val="0000FF"/>
                          </a:solidFill>
                          <a:latin typeface="Arial Unicode MS"/>
                          <a:cs typeface="Arial Unicode MS"/>
                        </a:rPr>
                        <a:t>☺</a:t>
                      </a:r>
                      <a:r>
                        <a:rPr sz="1800" spc="5" dirty="0">
                          <a:solidFill>
                            <a:srgbClr val="0000FF"/>
                          </a:solidFill>
                          <a:latin typeface="Arial Unicode MS"/>
                          <a:cs typeface="Arial Unicode MS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linear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6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Fault size</a:t>
                      </a:r>
                      <a:r>
                        <a:rPr sz="18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and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distribution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165" dirty="0">
                          <a:solidFill>
                            <a:srgbClr val="0000FF"/>
                          </a:solidFill>
                          <a:latin typeface="Arial Unicode MS"/>
                          <a:cs typeface="Arial Unicode MS"/>
                        </a:rPr>
                        <a:t>☺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small </a:t>
                      </a:r>
                      <a:r>
                        <a:rPr sz="18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fault</a:t>
                      </a:r>
                      <a:r>
                        <a:rPr sz="1800" b="1" spc="-16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size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spc="165" dirty="0">
                          <a:solidFill>
                            <a:srgbClr val="0000FF"/>
                          </a:solidFill>
                          <a:latin typeface="Arial Unicode MS"/>
                          <a:cs typeface="Arial Unicode MS"/>
                        </a:rPr>
                        <a:t>☺</a:t>
                      </a:r>
                      <a:r>
                        <a:rPr sz="1800" dirty="0">
                          <a:solidFill>
                            <a:srgbClr val="0000FF"/>
                          </a:solidFill>
                          <a:latin typeface="Arial Unicode MS"/>
                          <a:cs typeface="Arial Unicode MS"/>
                        </a:rPr>
                        <a:t> </a:t>
                      </a:r>
                      <a:r>
                        <a:rPr sz="18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distributed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800" spc="-285" dirty="0">
                          <a:latin typeface="Arial Unicode MS"/>
                          <a:cs typeface="Arial Unicode MS"/>
                        </a:rPr>
                        <a:t>🙁</a:t>
                      </a:r>
                      <a:r>
                        <a:rPr sz="1800" spc="-285" dirty="0">
                          <a:latin typeface="Arial Unicode MS"/>
                          <a:cs typeface="Arial Unicode MS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large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fault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size</a:t>
                      </a:r>
                      <a:r>
                        <a:rPr sz="1800" b="1" spc="-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only</a:t>
                      </a:r>
                      <a:endParaRPr sz="1800" dirty="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lang="en-US" sz="1800" spc="-285" dirty="0">
                          <a:latin typeface="Arial Unicode MS"/>
                          <a:cs typeface="Arial Unicode MS"/>
                        </a:rPr>
                        <a:t>🙁</a:t>
                      </a:r>
                      <a:r>
                        <a:rPr sz="1800" spc="-215" dirty="0">
                          <a:latin typeface="Arial Unicode MS"/>
                          <a:cs typeface="Arial Unicode MS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lumped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33871</TotalTime>
  <Words>1591</Words>
  <Application>Microsoft Macintosh PowerPoint</Application>
  <PresentationFormat>On-screen Show (4:3)</PresentationFormat>
  <Paragraphs>394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 Unicode MS</vt:lpstr>
      <vt:lpstr>Arial</vt:lpstr>
      <vt:lpstr>Arial-BoldItalicMT</vt:lpstr>
      <vt:lpstr>Calibri</vt:lpstr>
      <vt:lpstr>Cambria Math</vt:lpstr>
      <vt:lpstr>Helvetica</vt:lpstr>
      <vt:lpstr>HelveticaNeue-BoldItalic</vt:lpstr>
      <vt:lpstr>Times New Roman</vt:lpstr>
      <vt:lpstr>TimesNewRomanPS-BoldItalicMT</vt:lpstr>
      <vt:lpstr>Wingdings</vt:lpstr>
      <vt:lpstr>Office Theme</vt:lpstr>
      <vt:lpstr>ECE 553: TESTING AND TESTABLE DESIGN OF DIGITAL SYSTEMS</vt:lpstr>
      <vt:lpstr>Fault Modeling</vt:lpstr>
      <vt:lpstr>Classification of Fault Models</vt:lpstr>
      <vt:lpstr>Bridging Faults (BF) [Williams 73][Friedman 74]</vt:lpstr>
      <vt:lpstr>Bridging Fault Models</vt:lpstr>
      <vt:lpstr>Different Models Need Different Patterns</vt:lpstr>
      <vt:lpstr>Feedback Bridging Faults</vt:lpstr>
      <vt:lpstr>What are NOT Bridging Faults?</vt:lpstr>
      <vt:lpstr>Summary</vt:lpstr>
      <vt:lpstr>Fault Modeling</vt:lpstr>
      <vt:lpstr>Classification of Fault Models</vt:lpstr>
      <vt:lpstr>Some Defects Are Not Stuck-at</vt:lpstr>
      <vt:lpstr>Two Delay Fault Models</vt:lpstr>
      <vt:lpstr>Example</vt:lpstr>
      <vt:lpstr>Test Patterns for Delay Faults</vt:lpstr>
      <vt:lpstr>Path Delay Fault (PDF)</vt:lpstr>
      <vt:lpstr>Quiz</vt:lpstr>
      <vt:lpstr>Fault Modeling</vt:lpstr>
      <vt:lpstr>Transition Delay Fault (TDF)</vt:lpstr>
      <vt:lpstr>Experimental Results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cmli</dc:creator>
  <cp:lastModifiedBy>Azadeh Davoodi</cp:lastModifiedBy>
  <cp:revision>237</cp:revision>
  <cp:lastPrinted>2025-01-30T15:13:18Z</cp:lastPrinted>
  <dcterms:created xsi:type="dcterms:W3CDTF">2022-08-17T00:47:06Z</dcterms:created>
  <dcterms:modified xsi:type="dcterms:W3CDTF">2025-02-03T14:25:23Z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2022-08-17T00:00:00Z</vt:filetime>
  </property>
</Properties>
</file>