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7" r:id="rId11"/>
    <p:sldId id="337" r:id="rId12"/>
    <p:sldId id="268" r:id="rId13"/>
    <p:sldId id="289" r:id="rId14"/>
    <p:sldId id="290" r:id="rId15"/>
    <p:sldId id="291" r:id="rId16"/>
    <p:sldId id="338" r:id="rId17"/>
    <p:sldId id="282" r:id="rId18"/>
    <p:sldId id="283" r:id="rId19"/>
    <p:sldId id="284" r:id="rId20"/>
    <p:sldId id="286" r:id="rId21"/>
    <p:sldId id="287" r:id="rId22"/>
    <p:sldId id="288" r:id="rId23"/>
    <p:sldId id="270" r:id="rId24"/>
    <p:sldId id="271" r:id="rId25"/>
    <p:sldId id="273" r:id="rId26"/>
    <p:sldId id="277" r:id="rId27"/>
    <p:sldId id="278" r:id="rId28"/>
    <p:sldId id="280" r:id="rId29"/>
    <p:sldId id="292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1"/>
    <p:restoredTop sz="83613"/>
  </p:normalViewPr>
  <p:slideViewPr>
    <p:cSldViewPr>
      <p:cViewPr varScale="1">
        <p:scale>
          <a:sx n="98" d="100"/>
          <a:sy n="98" d="100"/>
        </p:scale>
        <p:origin x="208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3F2F4-069A-4346-8679-FA97C691195C}" type="datetimeFigureOut">
              <a:rPr lang="en-US" smtClean="0"/>
              <a:t>3/13/25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2CC2F-F856-C947-B9CF-170448065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quality test means chips which pass the test are not defective. It does result in some good chips to fail the test and make the yield worse.</a:t>
            </a:r>
          </a:p>
          <a:p>
            <a:r>
              <a:rPr lang="en-US" dirty="0"/>
              <a:t>Higher quality means more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37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physical IC so A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67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18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9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5600" indent="-34290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spc="-10" dirty="0">
                <a:latin typeface="Arial"/>
                <a:cs typeface="Arial"/>
              </a:rPr>
              <a:t>According </a:t>
            </a:r>
            <a:r>
              <a:rPr lang="en-US" sz="2000" b="1" dirty="0">
                <a:latin typeface="Arial"/>
                <a:cs typeface="Arial"/>
              </a:rPr>
              <a:t>to</a:t>
            </a:r>
            <a:r>
              <a:rPr lang="en-US" sz="2000" b="1" spc="65" dirty="0">
                <a:latin typeface="Arial"/>
                <a:cs typeface="Arial"/>
              </a:rPr>
              <a:t> 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stages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  <a:tab pos="2573020" algn="l"/>
              </a:tabLst>
            </a:pPr>
            <a:r>
              <a:rPr lang="en-US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Wafer</a:t>
            </a:r>
            <a:r>
              <a:rPr lang="en-US" b="1" i="1" spc="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en-US" b="1" i="1" spc="2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5" dirty="0">
                <a:latin typeface="Arial" panose="020B0604020202020204" pitchFamily="34" charset="0"/>
                <a:cs typeface="Arial" panose="020B0604020202020204" pitchFamily="34" charset="0"/>
              </a:rPr>
              <a:t>(aka.	</a:t>
            </a:r>
            <a:r>
              <a:rPr lang="en-US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Wafer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sort, </a:t>
            </a:r>
            <a:r>
              <a:rPr lang="en-US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wafer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): on</a:t>
            </a:r>
            <a:r>
              <a:rPr lang="en-US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wafer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219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 test </a:t>
            </a:r>
            <a:r>
              <a:rPr lang="en-US" b="1" spc="-5" dirty="0">
                <a:latin typeface="Arial" panose="020B0604020202020204" pitchFamily="34" charset="0"/>
                <a:cs typeface="Arial" panose="020B0604020202020204" pitchFamily="34" charset="0"/>
              </a:rPr>
              <a:t>(aka.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en-US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en-US" b="1" spc="-5" dirty="0">
                <a:latin typeface="Arial" panose="020B0604020202020204" pitchFamily="34" charset="0"/>
                <a:cs typeface="Arial" panose="020B0604020202020204" pitchFamily="34" charset="0"/>
              </a:rPr>
              <a:t>): after</a:t>
            </a:r>
            <a:r>
              <a:rPr lang="en-US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5" dirty="0">
                <a:latin typeface="Arial" panose="020B0604020202020204" pitchFamily="34" charset="0"/>
                <a:cs typeface="Arial" panose="020B0604020202020204" pitchFamily="34" charset="0"/>
              </a:rPr>
              <a:t>packaging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test</a:t>
            </a:r>
            <a:r>
              <a:rPr lang="en-US" b="1" spc="-5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0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14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Determine pass/fail limits to ensure we have acceptable yield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32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results of characterization test</a:t>
            </a:r>
          </a:p>
          <a:p>
            <a:r>
              <a:rPr lang="en-US" dirty="0"/>
              <a:t>Very time consuming because each rectangle is a test so we need </a:t>
            </a:r>
            <a:r>
              <a:rPr lang="en-US" dirty="0" err="1"/>
              <a:t>mxn</a:t>
            </a:r>
            <a:r>
              <a:rPr lang="en-US" dirty="0"/>
              <a:t> different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05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to small sample because it is done until ICs are dead.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Reliability testing (type of explicit testing) : test for wear out</a:t>
            </a:r>
            <a:endParaRPr lang="en-US"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b="1" dirty="0">
                <a:latin typeface="Arial"/>
                <a:cs typeface="Arial"/>
              </a:rPr>
              <a:t>Electromigration</a:t>
            </a:r>
            <a:endParaRPr lang="en-US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b="1" dirty="0">
                <a:latin typeface="Arial"/>
                <a:cs typeface="Arial"/>
              </a:rPr>
              <a:t>Corrosion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98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failure rate in first 20 weeks is due to ICs that escaped reliability test after production test.</a:t>
            </a:r>
          </a:p>
          <a:p>
            <a:r>
              <a:rPr lang="en-US" dirty="0"/>
              <a:t>Burn-in test help screen out the bad chips.</a:t>
            </a:r>
          </a:p>
          <a:p>
            <a:r>
              <a:rPr lang="en-US" dirty="0"/>
              <a:t>ALT: accelerated life test is needed to know the curve shape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84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mark ICs according to speed</a:t>
            </a:r>
          </a:p>
          <a:p>
            <a:r>
              <a:rPr lang="en-US" dirty="0"/>
              <a:t>A small amount of sampled ICs will be tested to ensure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58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testers and handlers. CUT are inside the handlers.</a:t>
            </a:r>
          </a:p>
          <a:p>
            <a:r>
              <a:rPr lang="en-US" dirty="0"/>
              <a:t>3 color light indicates test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26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head is now facing down</a:t>
            </a:r>
          </a:p>
          <a:p>
            <a:r>
              <a:rPr lang="en-US" dirty="0"/>
              <a:t>Many wafers stored in the probe station and each time pass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98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FF0000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37433" y="1956307"/>
            <a:ext cx="3469132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849" y="3419602"/>
            <a:ext cx="6734301" cy="256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rgbClr val="FF0000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2132" y="6516427"/>
            <a:ext cx="308927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15798" y="6399903"/>
            <a:ext cx="24574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0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General </a:t>
            </a:r>
            <a:r>
              <a:rPr spc="-5" dirty="0"/>
              <a:t>Introduction</a:t>
            </a:r>
            <a:endParaRPr lang="en-US"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5"/>
    </mc:Choice>
    <mc:Fallback xmlns="">
      <p:transition spd="slow" advTm="218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7384" y="164414"/>
            <a:ext cx="15989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O</a:t>
            </a:r>
            <a:r>
              <a:rPr spc="-15" dirty="0">
                <a:solidFill>
                  <a:srgbClr val="00B050"/>
                </a:solidFill>
                <a:latin typeface="Arial"/>
                <a:cs typeface="Arial"/>
              </a:rPr>
              <a:t>u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tli</a:t>
            </a:r>
            <a:r>
              <a:rPr spc="-15" dirty="0">
                <a:solidFill>
                  <a:srgbClr val="00B050"/>
                </a:solidFill>
                <a:latin typeface="Arial"/>
                <a:cs typeface="Arial"/>
              </a:rPr>
              <a:t>n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3803650" cy="261353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 is</a:t>
            </a:r>
            <a:r>
              <a:rPr sz="2000" b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Why is Testing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Important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Types </a:t>
            </a:r>
            <a:r>
              <a:rPr sz="2000" b="1" dirty="0">
                <a:latin typeface="Arial"/>
                <a:cs typeface="Arial"/>
              </a:rPr>
              <a:t>of 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Test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Test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Economics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05714" y="3513501"/>
            <a:ext cx="3628376" cy="2525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"/>
    </mc:Choice>
    <mc:Fallback xmlns="">
      <p:transition spd="slow" advTm="35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492" y="164414"/>
            <a:ext cx="3683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What is</a:t>
            </a:r>
            <a:r>
              <a:rPr spc="-6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Testing?</a:t>
            </a:r>
            <a:endParaRPr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6408" y="4407408"/>
            <a:ext cx="1092708" cy="917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7578" y="2864851"/>
            <a:ext cx="2056130" cy="812165"/>
          </a:xfrm>
          <a:custGeom>
            <a:avLst/>
            <a:gdLst/>
            <a:ahLst/>
            <a:cxnLst/>
            <a:rect l="l" t="t" r="r" b="b"/>
            <a:pathLst>
              <a:path w="2056130" h="812164">
                <a:moveTo>
                  <a:pt x="0" y="812031"/>
                </a:moveTo>
                <a:lnTo>
                  <a:pt x="2055573" y="812031"/>
                </a:lnTo>
                <a:lnTo>
                  <a:pt x="2055573" y="0"/>
                </a:lnTo>
                <a:lnTo>
                  <a:pt x="0" y="0"/>
                </a:lnTo>
                <a:lnTo>
                  <a:pt x="0" y="812031"/>
                </a:lnTo>
                <a:close/>
              </a:path>
            </a:pathLst>
          </a:custGeom>
          <a:ln w="15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74397" y="2846886"/>
            <a:ext cx="922019" cy="830580"/>
          </a:xfrm>
          <a:prstGeom prst="rect">
            <a:avLst/>
          </a:prstGeom>
          <a:ln w="16503">
            <a:solidFill>
              <a:srgbClr val="000000"/>
            </a:solidFill>
          </a:ln>
        </p:spPr>
        <p:txBody>
          <a:bodyPr vert="horz" wrap="square" lIns="0" tIns="24955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965"/>
              </a:spcBef>
            </a:pPr>
            <a:r>
              <a:rPr sz="2050" spc="-5" dirty="0">
                <a:latin typeface="Helvetica"/>
                <a:cs typeface="Helvetica"/>
              </a:rPr>
              <a:t>Testing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578" y="2864851"/>
            <a:ext cx="2056130" cy="812165"/>
          </a:xfrm>
          <a:prstGeom prst="rect">
            <a:avLst/>
          </a:prstGeom>
          <a:ln w="15836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512445" marR="243204" indent="-352425">
              <a:lnSpc>
                <a:spcPts val="2360"/>
              </a:lnSpc>
              <a:spcBef>
                <a:spcPts val="815"/>
              </a:spcBef>
            </a:pPr>
            <a:r>
              <a:rPr sz="2050" spc="-20" dirty="0">
                <a:latin typeface="Helvetica"/>
                <a:cs typeface="Helvetica"/>
              </a:rPr>
              <a:t>M</a:t>
            </a:r>
            <a:r>
              <a:rPr sz="2050" spc="-5" dirty="0">
                <a:latin typeface="Helvetica"/>
                <a:cs typeface="Helvetica"/>
              </a:rPr>
              <a:t>a</a:t>
            </a:r>
            <a:r>
              <a:rPr sz="2050" dirty="0">
                <a:latin typeface="Helvetica"/>
                <a:cs typeface="Helvetica"/>
              </a:rPr>
              <a:t>n</a:t>
            </a:r>
            <a:r>
              <a:rPr sz="2050" spc="-25" dirty="0">
                <a:latin typeface="Helvetica"/>
                <a:cs typeface="Helvetica"/>
              </a:rPr>
              <a:t>u</a:t>
            </a:r>
            <a:r>
              <a:rPr sz="2050" spc="15" dirty="0">
                <a:latin typeface="Helvetica"/>
                <a:cs typeface="Helvetica"/>
              </a:rPr>
              <a:t>f</a:t>
            </a:r>
            <a:r>
              <a:rPr sz="2050" spc="-5" dirty="0">
                <a:latin typeface="Helvetica"/>
                <a:cs typeface="Helvetica"/>
              </a:rPr>
              <a:t>a</a:t>
            </a:r>
            <a:r>
              <a:rPr sz="2050" spc="-25" dirty="0">
                <a:latin typeface="Helvetica"/>
                <a:cs typeface="Helvetica"/>
              </a:rPr>
              <a:t>c</a:t>
            </a:r>
            <a:r>
              <a:rPr sz="2050" spc="-5" dirty="0">
                <a:latin typeface="Helvetica"/>
                <a:cs typeface="Helvetica"/>
              </a:rPr>
              <a:t>t</a:t>
            </a:r>
            <a:r>
              <a:rPr sz="2050" dirty="0">
                <a:latin typeface="Helvetica"/>
                <a:cs typeface="Helvetica"/>
              </a:rPr>
              <a:t>u</a:t>
            </a:r>
            <a:r>
              <a:rPr sz="2050" spc="-15" dirty="0">
                <a:latin typeface="Helvetica"/>
                <a:cs typeface="Helvetica"/>
              </a:rPr>
              <a:t>r</a:t>
            </a:r>
            <a:r>
              <a:rPr sz="2050" spc="-5" dirty="0">
                <a:latin typeface="Helvetica"/>
                <a:cs typeface="Helvetica"/>
              </a:rPr>
              <a:t>ing  Process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225" y="900785"/>
            <a:ext cx="7914640" cy="200088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Arial-BoldItalicMT"/>
                <a:cs typeface="Arial-BoldItalicMT"/>
              </a:rPr>
              <a:t>Testing </a:t>
            </a:r>
            <a:r>
              <a:rPr sz="2000" b="1" dirty="0">
                <a:latin typeface="Arial"/>
                <a:cs typeface="Arial"/>
              </a:rPr>
              <a:t>is process of determining </a:t>
            </a:r>
            <a:r>
              <a:rPr sz="2000" b="1" spc="5" dirty="0">
                <a:latin typeface="Arial"/>
                <a:cs typeface="Arial"/>
              </a:rPr>
              <a:t>whether </a:t>
            </a:r>
            <a:r>
              <a:rPr sz="2000" b="1" dirty="0">
                <a:latin typeface="Arial"/>
                <a:cs typeface="Arial"/>
              </a:rPr>
              <a:t>a piece of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hardware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Functioning correctly (</a:t>
            </a:r>
            <a:r>
              <a:rPr sz="2000" b="1" dirty="0">
                <a:solidFill>
                  <a:srgbClr val="008000"/>
                </a:solidFill>
                <a:latin typeface="Arial"/>
                <a:cs typeface="Arial"/>
              </a:rPr>
              <a:t>PASS</a:t>
            </a:r>
            <a:r>
              <a:rPr sz="2000" b="1" dirty="0">
                <a:latin typeface="Arial"/>
                <a:cs typeface="Arial"/>
              </a:rPr>
              <a:t>) or </a:t>
            </a:r>
            <a:r>
              <a:rPr sz="2000" b="1" spc="-5" dirty="0">
                <a:latin typeface="Arial"/>
                <a:cs typeface="Arial"/>
              </a:rPr>
              <a:t>defective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Why do </a:t>
            </a:r>
            <a:r>
              <a:rPr sz="2000" b="1" spc="15" dirty="0">
                <a:latin typeface="Arial"/>
                <a:cs typeface="Arial"/>
              </a:rPr>
              <a:t>we </a:t>
            </a:r>
            <a:r>
              <a:rPr sz="2000" b="1" dirty="0">
                <a:latin typeface="Arial"/>
                <a:cs typeface="Arial"/>
              </a:rPr>
              <a:t>need to test Integrated Circuit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spc="-2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(IC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)?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Because </a:t>
            </a:r>
            <a:r>
              <a:rPr sz="2000" b="1" i="1" dirty="0">
                <a:latin typeface="Arial-BoldItalicMT"/>
                <a:cs typeface="Arial-BoldItalicMT"/>
              </a:rPr>
              <a:t>defects </a:t>
            </a:r>
            <a:r>
              <a:rPr sz="2000" b="1" dirty="0">
                <a:latin typeface="Arial"/>
                <a:cs typeface="Arial"/>
              </a:rPr>
              <a:t>occur in manufacturing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process</a:t>
            </a:r>
            <a:endParaRPr sz="2000" dirty="0">
              <a:latin typeface="Arial"/>
              <a:cs typeface="Arial"/>
            </a:endParaRPr>
          </a:p>
          <a:p>
            <a:pPr marR="1866900" algn="r">
              <a:lnSpc>
                <a:spcPct val="100000"/>
              </a:lnSpc>
              <a:spcBef>
                <a:spcPts val="1570"/>
              </a:spcBef>
            </a:pPr>
            <a:r>
              <a:rPr sz="2050" b="1" spc="-5" dirty="0">
                <a:solidFill>
                  <a:srgbClr val="00AF50"/>
                </a:solidFill>
                <a:latin typeface="Helvetica"/>
                <a:cs typeface="Helvetica"/>
              </a:rPr>
              <a:t>Pa</a:t>
            </a:r>
            <a:r>
              <a:rPr sz="2050" b="1" dirty="0">
                <a:solidFill>
                  <a:srgbClr val="00AF50"/>
                </a:solidFill>
                <a:latin typeface="Helvetica"/>
                <a:cs typeface="Helvetica"/>
              </a:rPr>
              <a:t>s</a:t>
            </a:r>
            <a:r>
              <a:rPr sz="2050" b="1" spc="-20" dirty="0">
                <a:solidFill>
                  <a:srgbClr val="00AF50"/>
                </a:solidFill>
                <a:latin typeface="Helvetica"/>
                <a:cs typeface="Helvetica"/>
              </a:rPr>
              <a:t>s</a:t>
            </a:r>
            <a:r>
              <a:rPr sz="2050" spc="-5" dirty="0">
                <a:latin typeface="Helvetica"/>
                <a:cs typeface="Helvetica"/>
              </a:rPr>
              <a:t>:</a:t>
            </a:r>
            <a:endParaRPr sz="2050" dirty="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0551" y="2862352"/>
            <a:ext cx="117919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5" dirty="0">
                <a:latin typeface="Helvetica"/>
                <a:cs typeface="Helvetica"/>
              </a:rPr>
              <a:t>Ship</a:t>
            </a:r>
            <a:r>
              <a:rPr sz="2050" spc="-20" dirty="0">
                <a:latin typeface="Helvetica"/>
                <a:cs typeface="Helvetica"/>
              </a:rPr>
              <a:t>p</a:t>
            </a:r>
            <a:r>
              <a:rPr sz="2050" spc="-5" dirty="0">
                <a:latin typeface="Helvetica"/>
                <a:cs typeface="Helvetica"/>
              </a:rPr>
              <a:t>ping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90268" y="3137196"/>
            <a:ext cx="960119" cy="172085"/>
          </a:xfrm>
          <a:custGeom>
            <a:avLst/>
            <a:gdLst/>
            <a:ahLst/>
            <a:cxnLst/>
            <a:rect l="l" t="t" r="r" b="b"/>
            <a:pathLst>
              <a:path w="960120" h="172085">
                <a:moveTo>
                  <a:pt x="914176" y="86126"/>
                </a:moveTo>
                <a:lnTo>
                  <a:pt x="802480" y="153749"/>
                </a:lnTo>
                <a:lnTo>
                  <a:pt x="797315" y="159033"/>
                </a:lnTo>
                <a:lnTo>
                  <a:pt x="797315" y="164317"/>
                </a:lnTo>
                <a:lnTo>
                  <a:pt x="802480" y="169600"/>
                </a:lnTo>
                <a:lnTo>
                  <a:pt x="804632" y="171714"/>
                </a:lnTo>
                <a:lnTo>
                  <a:pt x="815178" y="171714"/>
                </a:lnTo>
                <a:lnTo>
                  <a:pt x="942141" y="96683"/>
                </a:lnTo>
                <a:lnTo>
                  <a:pt x="931614" y="96683"/>
                </a:lnTo>
                <a:lnTo>
                  <a:pt x="914176" y="86126"/>
                </a:lnTo>
                <a:close/>
              </a:path>
              <a:path w="960120" h="172085">
                <a:moveTo>
                  <a:pt x="896739" y="75569"/>
                </a:moveTo>
                <a:lnTo>
                  <a:pt x="7360" y="75569"/>
                </a:lnTo>
                <a:lnTo>
                  <a:pt x="2109" y="78201"/>
                </a:lnTo>
                <a:lnTo>
                  <a:pt x="0" y="80853"/>
                </a:lnTo>
                <a:lnTo>
                  <a:pt x="0" y="91399"/>
                </a:lnTo>
                <a:lnTo>
                  <a:pt x="2109" y="94052"/>
                </a:lnTo>
                <a:lnTo>
                  <a:pt x="7360" y="96683"/>
                </a:lnTo>
                <a:lnTo>
                  <a:pt x="896739" y="96683"/>
                </a:lnTo>
                <a:lnTo>
                  <a:pt x="914176" y="86126"/>
                </a:lnTo>
                <a:lnTo>
                  <a:pt x="896739" y="75569"/>
                </a:lnTo>
                <a:close/>
              </a:path>
              <a:path w="960120" h="172085">
                <a:moveTo>
                  <a:pt x="931614" y="75569"/>
                </a:moveTo>
                <a:lnTo>
                  <a:pt x="914176" y="86126"/>
                </a:lnTo>
                <a:lnTo>
                  <a:pt x="931614" y="96683"/>
                </a:lnTo>
                <a:lnTo>
                  <a:pt x="931614" y="75569"/>
                </a:lnTo>
                <a:close/>
              </a:path>
              <a:path w="960120" h="172085">
                <a:moveTo>
                  <a:pt x="942160" y="75569"/>
                </a:moveTo>
                <a:lnTo>
                  <a:pt x="931614" y="75569"/>
                </a:lnTo>
                <a:lnTo>
                  <a:pt x="931614" y="96683"/>
                </a:lnTo>
                <a:lnTo>
                  <a:pt x="942141" y="96683"/>
                </a:lnTo>
                <a:lnTo>
                  <a:pt x="947325" y="91399"/>
                </a:lnTo>
                <a:lnTo>
                  <a:pt x="950123" y="86116"/>
                </a:lnTo>
                <a:lnTo>
                  <a:pt x="947325" y="80853"/>
                </a:lnTo>
                <a:lnTo>
                  <a:pt x="942160" y="75569"/>
                </a:lnTo>
                <a:close/>
              </a:path>
              <a:path w="960120" h="172085">
                <a:moveTo>
                  <a:pt x="942285" y="75569"/>
                </a:moveTo>
                <a:lnTo>
                  <a:pt x="947325" y="80853"/>
                </a:lnTo>
                <a:lnTo>
                  <a:pt x="950117" y="86126"/>
                </a:lnTo>
                <a:lnTo>
                  <a:pt x="947325" y="91399"/>
                </a:lnTo>
                <a:lnTo>
                  <a:pt x="942185" y="96657"/>
                </a:lnTo>
                <a:lnTo>
                  <a:pt x="960023" y="86116"/>
                </a:lnTo>
                <a:lnTo>
                  <a:pt x="942285" y="75569"/>
                </a:lnTo>
                <a:close/>
              </a:path>
              <a:path w="960120" h="172085">
                <a:moveTo>
                  <a:pt x="815178" y="0"/>
                </a:moveTo>
                <a:lnTo>
                  <a:pt x="802480" y="0"/>
                </a:lnTo>
                <a:lnTo>
                  <a:pt x="799897" y="5283"/>
                </a:lnTo>
                <a:lnTo>
                  <a:pt x="797315" y="7936"/>
                </a:lnTo>
                <a:lnTo>
                  <a:pt x="797315" y="13220"/>
                </a:lnTo>
                <a:lnTo>
                  <a:pt x="802480" y="18504"/>
                </a:lnTo>
                <a:lnTo>
                  <a:pt x="914176" y="86126"/>
                </a:lnTo>
                <a:lnTo>
                  <a:pt x="931614" y="75569"/>
                </a:lnTo>
                <a:lnTo>
                  <a:pt x="942285" y="75569"/>
                </a:lnTo>
                <a:lnTo>
                  <a:pt x="8151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90268" y="3212766"/>
            <a:ext cx="950594" cy="21590"/>
          </a:xfrm>
          <a:custGeom>
            <a:avLst/>
            <a:gdLst/>
            <a:ahLst/>
            <a:cxnLst/>
            <a:rect l="l" t="t" r="r" b="b"/>
            <a:pathLst>
              <a:path w="950595" h="21589">
                <a:moveTo>
                  <a:pt x="10007" y="0"/>
                </a:moveTo>
                <a:lnTo>
                  <a:pt x="936779" y="0"/>
                </a:lnTo>
                <a:lnTo>
                  <a:pt x="942160" y="0"/>
                </a:lnTo>
                <a:lnTo>
                  <a:pt x="944742" y="2631"/>
                </a:lnTo>
                <a:lnTo>
                  <a:pt x="947325" y="5283"/>
                </a:lnTo>
                <a:lnTo>
                  <a:pt x="950123" y="10546"/>
                </a:lnTo>
                <a:lnTo>
                  <a:pt x="947325" y="15830"/>
                </a:lnTo>
                <a:lnTo>
                  <a:pt x="944742" y="18482"/>
                </a:lnTo>
                <a:lnTo>
                  <a:pt x="942160" y="21113"/>
                </a:lnTo>
                <a:lnTo>
                  <a:pt x="936779" y="21113"/>
                </a:lnTo>
                <a:lnTo>
                  <a:pt x="10007" y="21113"/>
                </a:lnTo>
                <a:lnTo>
                  <a:pt x="0" y="5283"/>
                </a:lnTo>
                <a:lnTo>
                  <a:pt x="2109" y="2631"/>
                </a:lnTo>
                <a:lnTo>
                  <a:pt x="7360" y="0"/>
                </a:lnTo>
                <a:lnTo>
                  <a:pt x="10007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86075" y="3135688"/>
            <a:ext cx="165724" cy="1747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92968" y="3173665"/>
            <a:ext cx="1121410" cy="174625"/>
          </a:xfrm>
          <a:custGeom>
            <a:avLst/>
            <a:gdLst/>
            <a:ahLst/>
            <a:cxnLst/>
            <a:rect l="l" t="t" r="r" b="b"/>
            <a:pathLst>
              <a:path w="1121410" h="174625">
                <a:moveTo>
                  <a:pt x="1079187" y="87431"/>
                </a:moveTo>
                <a:lnTo>
                  <a:pt x="965490" y="153727"/>
                </a:lnTo>
                <a:lnTo>
                  <a:pt x="962692" y="156380"/>
                </a:lnTo>
                <a:lnTo>
                  <a:pt x="960109" y="161664"/>
                </a:lnTo>
                <a:lnTo>
                  <a:pt x="960109" y="169579"/>
                </a:lnTo>
                <a:lnTo>
                  <a:pt x="962692" y="171692"/>
                </a:lnTo>
                <a:lnTo>
                  <a:pt x="968073" y="174345"/>
                </a:lnTo>
                <a:lnTo>
                  <a:pt x="973238" y="174345"/>
                </a:lnTo>
                <a:lnTo>
                  <a:pt x="976036" y="171692"/>
                </a:lnTo>
                <a:lnTo>
                  <a:pt x="1102427" y="99314"/>
                </a:lnTo>
                <a:lnTo>
                  <a:pt x="1100220" y="99314"/>
                </a:lnTo>
                <a:lnTo>
                  <a:pt x="1104954" y="96683"/>
                </a:lnTo>
                <a:lnTo>
                  <a:pt x="1095054" y="96683"/>
                </a:lnTo>
                <a:lnTo>
                  <a:pt x="1079187" y="87431"/>
                </a:lnTo>
                <a:close/>
              </a:path>
              <a:path w="1121410" h="174625">
                <a:moveTo>
                  <a:pt x="1058807" y="75548"/>
                </a:moveTo>
                <a:lnTo>
                  <a:pt x="10115" y="75548"/>
                </a:lnTo>
                <a:lnTo>
                  <a:pt x="7532" y="78179"/>
                </a:lnTo>
                <a:lnTo>
                  <a:pt x="2152" y="80832"/>
                </a:lnTo>
                <a:lnTo>
                  <a:pt x="0" y="83463"/>
                </a:lnTo>
                <a:lnTo>
                  <a:pt x="0" y="91399"/>
                </a:lnTo>
                <a:lnTo>
                  <a:pt x="2152" y="96683"/>
                </a:lnTo>
                <a:lnTo>
                  <a:pt x="7532" y="96683"/>
                </a:lnTo>
                <a:lnTo>
                  <a:pt x="10115" y="99314"/>
                </a:lnTo>
                <a:lnTo>
                  <a:pt x="1058807" y="99314"/>
                </a:lnTo>
                <a:lnTo>
                  <a:pt x="1079187" y="87431"/>
                </a:lnTo>
                <a:lnTo>
                  <a:pt x="1058807" y="75548"/>
                </a:lnTo>
                <a:close/>
              </a:path>
              <a:path w="1121410" h="174625">
                <a:moveTo>
                  <a:pt x="1103106" y="78179"/>
                </a:moveTo>
                <a:lnTo>
                  <a:pt x="1095054" y="78179"/>
                </a:lnTo>
                <a:lnTo>
                  <a:pt x="1095054" y="96683"/>
                </a:lnTo>
                <a:lnTo>
                  <a:pt x="1104954" y="96683"/>
                </a:lnTo>
                <a:lnTo>
                  <a:pt x="1100220" y="99314"/>
                </a:lnTo>
                <a:lnTo>
                  <a:pt x="1102427" y="99314"/>
                </a:lnTo>
                <a:lnTo>
                  <a:pt x="1108036" y="96102"/>
                </a:lnTo>
                <a:lnTo>
                  <a:pt x="1110335" y="91399"/>
                </a:lnTo>
                <a:lnTo>
                  <a:pt x="1110335" y="83463"/>
                </a:lnTo>
                <a:lnTo>
                  <a:pt x="1108011" y="81095"/>
                </a:lnTo>
                <a:lnTo>
                  <a:pt x="1103106" y="78179"/>
                </a:lnTo>
                <a:close/>
              </a:path>
              <a:path w="1121410" h="174625">
                <a:moveTo>
                  <a:pt x="1095054" y="78179"/>
                </a:moveTo>
                <a:lnTo>
                  <a:pt x="1079187" y="87431"/>
                </a:lnTo>
                <a:lnTo>
                  <a:pt x="1095054" y="96683"/>
                </a:lnTo>
                <a:lnTo>
                  <a:pt x="1095054" y="78179"/>
                </a:lnTo>
                <a:close/>
              </a:path>
              <a:path w="1121410" h="174625">
                <a:moveTo>
                  <a:pt x="1108036" y="96102"/>
                </a:moveTo>
                <a:lnTo>
                  <a:pt x="1107022" y="96683"/>
                </a:lnTo>
                <a:lnTo>
                  <a:pt x="1107752" y="96683"/>
                </a:lnTo>
                <a:lnTo>
                  <a:pt x="1108036" y="96102"/>
                </a:lnTo>
                <a:close/>
              </a:path>
              <a:path w="1121410" h="174625">
                <a:moveTo>
                  <a:pt x="1108011" y="81095"/>
                </a:moveTo>
                <a:lnTo>
                  <a:pt x="1110335" y="83463"/>
                </a:lnTo>
                <a:lnTo>
                  <a:pt x="1110335" y="91399"/>
                </a:lnTo>
                <a:lnTo>
                  <a:pt x="1108036" y="96102"/>
                </a:lnTo>
                <a:lnTo>
                  <a:pt x="1120881" y="88747"/>
                </a:lnTo>
                <a:lnTo>
                  <a:pt x="1108011" y="81095"/>
                </a:lnTo>
                <a:close/>
              </a:path>
              <a:path w="1121410" h="174625">
                <a:moveTo>
                  <a:pt x="973238" y="0"/>
                </a:moveTo>
                <a:lnTo>
                  <a:pt x="968073" y="0"/>
                </a:lnTo>
                <a:lnTo>
                  <a:pt x="962692" y="2631"/>
                </a:lnTo>
                <a:lnTo>
                  <a:pt x="960109" y="5283"/>
                </a:lnTo>
                <a:lnTo>
                  <a:pt x="960109" y="13198"/>
                </a:lnTo>
                <a:lnTo>
                  <a:pt x="962692" y="18482"/>
                </a:lnTo>
                <a:lnTo>
                  <a:pt x="965490" y="21135"/>
                </a:lnTo>
                <a:lnTo>
                  <a:pt x="1079187" y="87431"/>
                </a:lnTo>
                <a:lnTo>
                  <a:pt x="1095054" y="78179"/>
                </a:lnTo>
                <a:lnTo>
                  <a:pt x="1103106" y="78179"/>
                </a:lnTo>
                <a:lnTo>
                  <a:pt x="976036" y="2631"/>
                </a:lnTo>
                <a:lnTo>
                  <a:pt x="973238" y="0"/>
                </a:lnTo>
                <a:close/>
              </a:path>
              <a:path w="1121410" h="174625">
                <a:moveTo>
                  <a:pt x="1100220" y="75548"/>
                </a:moveTo>
                <a:lnTo>
                  <a:pt x="1098681" y="75548"/>
                </a:lnTo>
                <a:lnTo>
                  <a:pt x="1108011" y="81095"/>
                </a:lnTo>
                <a:lnTo>
                  <a:pt x="1104954" y="78179"/>
                </a:lnTo>
                <a:lnTo>
                  <a:pt x="1100220" y="75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92968" y="3249214"/>
            <a:ext cx="1110615" cy="24130"/>
          </a:xfrm>
          <a:custGeom>
            <a:avLst/>
            <a:gdLst/>
            <a:ahLst/>
            <a:cxnLst/>
            <a:rect l="l" t="t" r="r" b="b"/>
            <a:pathLst>
              <a:path w="1110614" h="24129">
                <a:moveTo>
                  <a:pt x="10115" y="0"/>
                </a:moveTo>
                <a:lnTo>
                  <a:pt x="1100220" y="0"/>
                </a:lnTo>
                <a:lnTo>
                  <a:pt x="1110335" y="13198"/>
                </a:lnTo>
                <a:lnTo>
                  <a:pt x="1110335" y="15851"/>
                </a:lnTo>
                <a:lnTo>
                  <a:pt x="1107752" y="21135"/>
                </a:lnTo>
                <a:lnTo>
                  <a:pt x="1104954" y="21135"/>
                </a:lnTo>
                <a:lnTo>
                  <a:pt x="1100220" y="23766"/>
                </a:lnTo>
                <a:lnTo>
                  <a:pt x="10115" y="23766"/>
                </a:lnTo>
                <a:lnTo>
                  <a:pt x="7532" y="21135"/>
                </a:lnTo>
                <a:lnTo>
                  <a:pt x="2152" y="21135"/>
                </a:lnTo>
                <a:lnTo>
                  <a:pt x="0" y="15851"/>
                </a:lnTo>
                <a:lnTo>
                  <a:pt x="0" y="13198"/>
                </a:lnTo>
                <a:lnTo>
                  <a:pt x="0" y="7914"/>
                </a:lnTo>
                <a:lnTo>
                  <a:pt x="2152" y="5283"/>
                </a:lnTo>
                <a:lnTo>
                  <a:pt x="7532" y="2631"/>
                </a:lnTo>
                <a:lnTo>
                  <a:pt x="10115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51570" y="3172157"/>
            <a:ext cx="163787" cy="1773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0423" y="3694050"/>
            <a:ext cx="171450" cy="381000"/>
          </a:xfrm>
          <a:custGeom>
            <a:avLst/>
            <a:gdLst/>
            <a:ahLst/>
            <a:cxnLst/>
            <a:rect l="l" t="t" r="r" b="b"/>
            <a:pathLst>
              <a:path w="171450" h="381000">
                <a:moveTo>
                  <a:pt x="13128" y="216098"/>
                </a:moveTo>
                <a:lnTo>
                  <a:pt x="7748" y="216098"/>
                </a:lnTo>
                <a:lnTo>
                  <a:pt x="0" y="224013"/>
                </a:lnTo>
                <a:lnTo>
                  <a:pt x="0" y="231928"/>
                </a:lnTo>
                <a:lnTo>
                  <a:pt x="85873" y="380394"/>
                </a:lnTo>
                <a:lnTo>
                  <a:pt x="93450" y="367195"/>
                </a:lnTo>
                <a:lnTo>
                  <a:pt x="83076" y="367195"/>
                </a:lnTo>
                <a:lnTo>
                  <a:pt x="77910" y="364542"/>
                </a:lnTo>
                <a:lnTo>
                  <a:pt x="75328" y="361911"/>
                </a:lnTo>
                <a:lnTo>
                  <a:pt x="75328" y="315757"/>
                </a:lnTo>
                <a:lnTo>
                  <a:pt x="21091" y="221361"/>
                </a:lnTo>
                <a:lnTo>
                  <a:pt x="15711" y="218729"/>
                </a:lnTo>
                <a:lnTo>
                  <a:pt x="13128" y="216098"/>
                </a:lnTo>
                <a:close/>
              </a:path>
              <a:path w="171450" h="381000">
                <a:moveTo>
                  <a:pt x="75328" y="315757"/>
                </a:moveTo>
                <a:lnTo>
                  <a:pt x="75328" y="361911"/>
                </a:lnTo>
                <a:lnTo>
                  <a:pt x="77910" y="364542"/>
                </a:lnTo>
                <a:lnTo>
                  <a:pt x="83076" y="367195"/>
                </a:lnTo>
                <a:lnTo>
                  <a:pt x="90608" y="367195"/>
                </a:lnTo>
                <a:lnTo>
                  <a:pt x="95774" y="361911"/>
                </a:lnTo>
                <a:lnTo>
                  <a:pt x="95774" y="351343"/>
                </a:lnTo>
                <a:lnTo>
                  <a:pt x="77910" y="351343"/>
                </a:lnTo>
                <a:lnTo>
                  <a:pt x="86855" y="335820"/>
                </a:lnTo>
                <a:lnTo>
                  <a:pt x="75328" y="315757"/>
                </a:lnTo>
                <a:close/>
              </a:path>
              <a:path w="171450" h="381000">
                <a:moveTo>
                  <a:pt x="163354" y="216098"/>
                </a:moveTo>
                <a:lnTo>
                  <a:pt x="157973" y="216098"/>
                </a:lnTo>
                <a:lnTo>
                  <a:pt x="152808" y="221361"/>
                </a:lnTo>
                <a:lnTo>
                  <a:pt x="95774" y="320342"/>
                </a:lnTo>
                <a:lnTo>
                  <a:pt x="95774" y="361911"/>
                </a:lnTo>
                <a:lnTo>
                  <a:pt x="90608" y="367195"/>
                </a:lnTo>
                <a:lnTo>
                  <a:pt x="93450" y="367195"/>
                </a:lnTo>
                <a:lnTo>
                  <a:pt x="171102" y="231928"/>
                </a:lnTo>
                <a:lnTo>
                  <a:pt x="171102" y="221361"/>
                </a:lnTo>
                <a:lnTo>
                  <a:pt x="165936" y="218729"/>
                </a:lnTo>
                <a:lnTo>
                  <a:pt x="163354" y="216098"/>
                </a:lnTo>
                <a:close/>
              </a:path>
              <a:path w="171450" h="381000">
                <a:moveTo>
                  <a:pt x="86855" y="335820"/>
                </a:moveTo>
                <a:lnTo>
                  <a:pt x="77910" y="351343"/>
                </a:lnTo>
                <a:lnTo>
                  <a:pt x="95774" y="351343"/>
                </a:lnTo>
                <a:lnTo>
                  <a:pt x="86855" y="335820"/>
                </a:lnTo>
                <a:close/>
              </a:path>
              <a:path w="171450" h="381000">
                <a:moveTo>
                  <a:pt x="95774" y="320342"/>
                </a:moveTo>
                <a:lnTo>
                  <a:pt x="86855" y="335820"/>
                </a:lnTo>
                <a:lnTo>
                  <a:pt x="95774" y="351343"/>
                </a:lnTo>
                <a:lnTo>
                  <a:pt x="95774" y="320342"/>
                </a:lnTo>
                <a:close/>
              </a:path>
              <a:path w="171450" h="381000">
                <a:moveTo>
                  <a:pt x="90608" y="0"/>
                </a:moveTo>
                <a:lnTo>
                  <a:pt x="83076" y="0"/>
                </a:lnTo>
                <a:lnTo>
                  <a:pt x="77910" y="2652"/>
                </a:lnTo>
                <a:lnTo>
                  <a:pt x="75328" y="5283"/>
                </a:lnTo>
                <a:lnTo>
                  <a:pt x="75328" y="315757"/>
                </a:lnTo>
                <a:lnTo>
                  <a:pt x="86855" y="335820"/>
                </a:lnTo>
                <a:lnTo>
                  <a:pt x="95774" y="320342"/>
                </a:lnTo>
                <a:lnTo>
                  <a:pt x="95774" y="5283"/>
                </a:lnTo>
                <a:lnTo>
                  <a:pt x="90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65751" y="3694050"/>
            <a:ext cx="20955" cy="367665"/>
          </a:xfrm>
          <a:custGeom>
            <a:avLst/>
            <a:gdLst/>
            <a:ahLst/>
            <a:cxnLst/>
            <a:rect l="l" t="t" r="r" b="b"/>
            <a:pathLst>
              <a:path w="20954" h="367664">
                <a:moveTo>
                  <a:pt x="20446" y="10567"/>
                </a:moveTo>
                <a:lnTo>
                  <a:pt x="20446" y="356627"/>
                </a:lnTo>
                <a:lnTo>
                  <a:pt x="20446" y="361911"/>
                </a:lnTo>
                <a:lnTo>
                  <a:pt x="17863" y="364542"/>
                </a:lnTo>
                <a:lnTo>
                  <a:pt x="15280" y="367195"/>
                </a:lnTo>
                <a:lnTo>
                  <a:pt x="0" y="356627"/>
                </a:lnTo>
                <a:lnTo>
                  <a:pt x="0" y="10567"/>
                </a:lnTo>
                <a:lnTo>
                  <a:pt x="0" y="5283"/>
                </a:lnTo>
                <a:lnTo>
                  <a:pt x="2582" y="2652"/>
                </a:lnTo>
                <a:lnTo>
                  <a:pt x="7748" y="0"/>
                </a:lnTo>
                <a:lnTo>
                  <a:pt x="10545" y="0"/>
                </a:lnTo>
                <a:lnTo>
                  <a:pt x="15280" y="0"/>
                </a:lnTo>
                <a:lnTo>
                  <a:pt x="17863" y="2652"/>
                </a:lnTo>
                <a:lnTo>
                  <a:pt x="20446" y="5283"/>
                </a:lnTo>
                <a:lnTo>
                  <a:pt x="20446" y="10567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88914" y="3908640"/>
            <a:ext cx="174118" cy="167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82337" y="4103907"/>
            <a:ext cx="1351280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-5" dirty="0">
                <a:solidFill>
                  <a:srgbClr val="FF0000"/>
                </a:solidFill>
                <a:latin typeface="Helvetica"/>
                <a:cs typeface="Helvetica"/>
              </a:rPr>
              <a:t>Fail</a:t>
            </a:r>
            <a:r>
              <a:rPr sz="2050" spc="-5" dirty="0">
                <a:latin typeface="Helvetica"/>
                <a:cs typeface="Helvetica"/>
              </a:rPr>
              <a:t>:</a:t>
            </a:r>
            <a:r>
              <a:rPr sz="2050" spc="-60" dirty="0">
                <a:latin typeface="Helvetica"/>
                <a:cs typeface="Helvetica"/>
              </a:rPr>
              <a:t> </a:t>
            </a:r>
            <a:r>
              <a:rPr sz="2050" spc="-10" dirty="0">
                <a:latin typeface="Helvetica"/>
                <a:cs typeface="Helvetica"/>
              </a:rPr>
              <a:t>Reject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70942" y="2634562"/>
            <a:ext cx="1643452" cy="1625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26408" y="4760976"/>
            <a:ext cx="1246632" cy="18989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1403603" y="4413503"/>
            <a:ext cx="1110996" cy="7772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8935" y="5471333"/>
            <a:ext cx="1088763" cy="839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4497" y="3646551"/>
            <a:ext cx="2667000" cy="2967355"/>
          </a:xfrm>
          <a:custGeom>
            <a:avLst/>
            <a:gdLst/>
            <a:ahLst/>
            <a:cxnLst/>
            <a:rect l="l" t="t" r="r" b="b"/>
            <a:pathLst>
              <a:path w="2667000" h="2967354">
                <a:moveTo>
                  <a:pt x="2667000" y="2546210"/>
                </a:moveTo>
                <a:lnTo>
                  <a:pt x="2664169" y="2595264"/>
                </a:lnTo>
                <a:lnTo>
                  <a:pt x="2655889" y="2642657"/>
                </a:lnTo>
                <a:lnTo>
                  <a:pt x="2642475" y="2688072"/>
                </a:lnTo>
                <a:lnTo>
                  <a:pt x="2624243" y="2731194"/>
                </a:lnTo>
                <a:lnTo>
                  <a:pt x="2601508" y="2771707"/>
                </a:lnTo>
                <a:lnTo>
                  <a:pt x="2574586" y="2809295"/>
                </a:lnTo>
                <a:lnTo>
                  <a:pt x="2543794" y="2843644"/>
                </a:lnTo>
                <a:lnTo>
                  <a:pt x="2509445" y="2874436"/>
                </a:lnTo>
                <a:lnTo>
                  <a:pt x="2471858" y="2901358"/>
                </a:lnTo>
                <a:lnTo>
                  <a:pt x="2431346" y="2924092"/>
                </a:lnTo>
                <a:lnTo>
                  <a:pt x="2388226" y="2942324"/>
                </a:lnTo>
                <a:lnTo>
                  <a:pt x="2342814" y="2955737"/>
                </a:lnTo>
                <a:lnTo>
                  <a:pt x="2295425" y="2964017"/>
                </a:lnTo>
                <a:lnTo>
                  <a:pt x="2246376" y="2966847"/>
                </a:lnTo>
                <a:lnTo>
                  <a:pt x="2222500" y="2966847"/>
                </a:lnTo>
                <a:lnTo>
                  <a:pt x="1555750" y="2966847"/>
                </a:lnTo>
                <a:lnTo>
                  <a:pt x="420636" y="2966847"/>
                </a:lnTo>
                <a:lnTo>
                  <a:pt x="371582" y="2964017"/>
                </a:lnTo>
                <a:lnTo>
                  <a:pt x="324189" y="2955737"/>
                </a:lnTo>
                <a:lnTo>
                  <a:pt x="278774" y="2942324"/>
                </a:lnTo>
                <a:lnTo>
                  <a:pt x="235652" y="2924092"/>
                </a:lnTo>
                <a:lnTo>
                  <a:pt x="195139" y="2901358"/>
                </a:lnTo>
                <a:lnTo>
                  <a:pt x="157551" y="2874436"/>
                </a:lnTo>
                <a:lnTo>
                  <a:pt x="123202" y="2843644"/>
                </a:lnTo>
                <a:lnTo>
                  <a:pt x="92410" y="2809295"/>
                </a:lnTo>
                <a:lnTo>
                  <a:pt x="65488" y="2771707"/>
                </a:lnTo>
                <a:lnTo>
                  <a:pt x="42754" y="2731194"/>
                </a:lnTo>
                <a:lnTo>
                  <a:pt x="24522" y="2688072"/>
                </a:lnTo>
                <a:lnTo>
                  <a:pt x="11109" y="2642657"/>
                </a:lnTo>
                <a:lnTo>
                  <a:pt x="2829" y="2595264"/>
                </a:lnTo>
                <a:lnTo>
                  <a:pt x="0" y="2546210"/>
                </a:lnTo>
                <a:lnTo>
                  <a:pt x="0" y="1494663"/>
                </a:lnTo>
                <a:lnTo>
                  <a:pt x="0" y="863726"/>
                </a:lnTo>
                <a:lnTo>
                  <a:pt x="2829" y="814677"/>
                </a:lnTo>
                <a:lnTo>
                  <a:pt x="11109" y="767288"/>
                </a:lnTo>
                <a:lnTo>
                  <a:pt x="24522" y="721876"/>
                </a:lnTo>
                <a:lnTo>
                  <a:pt x="42754" y="678756"/>
                </a:lnTo>
                <a:lnTo>
                  <a:pt x="65488" y="638244"/>
                </a:lnTo>
                <a:lnTo>
                  <a:pt x="92410" y="600657"/>
                </a:lnTo>
                <a:lnTo>
                  <a:pt x="123202" y="566308"/>
                </a:lnTo>
                <a:lnTo>
                  <a:pt x="157551" y="535516"/>
                </a:lnTo>
                <a:lnTo>
                  <a:pt x="195139" y="508594"/>
                </a:lnTo>
                <a:lnTo>
                  <a:pt x="235652" y="485859"/>
                </a:lnTo>
                <a:lnTo>
                  <a:pt x="278774" y="467627"/>
                </a:lnTo>
                <a:lnTo>
                  <a:pt x="324189" y="454213"/>
                </a:lnTo>
                <a:lnTo>
                  <a:pt x="371582" y="445933"/>
                </a:lnTo>
                <a:lnTo>
                  <a:pt x="420636" y="443103"/>
                </a:lnTo>
                <a:lnTo>
                  <a:pt x="1555750" y="443103"/>
                </a:lnTo>
                <a:lnTo>
                  <a:pt x="1911477" y="0"/>
                </a:lnTo>
                <a:lnTo>
                  <a:pt x="2222500" y="443103"/>
                </a:lnTo>
                <a:lnTo>
                  <a:pt x="2246376" y="443103"/>
                </a:lnTo>
                <a:lnTo>
                  <a:pt x="2295425" y="445933"/>
                </a:lnTo>
                <a:lnTo>
                  <a:pt x="2342814" y="454213"/>
                </a:lnTo>
                <a:lnTo>
                  <a:pt x="2388226" y="467627"/>
                </a:lnTo>
                <a:lnTo>
                  <a:pt x="2431346" y="485859"/>
                </a:lnTo>
                <a:lnTo>
                  <a:pt x="2471858" y="508594"/>
                </a:lnTo>
                <a:lnTo>
                  <a:pt x="2509445" y="535516"/>
                </a:lnTo>
                <a:lnTo>
                  <a:pt x="2543794" y="566308"/>
                </a:lnTo>
                <a:lnTo>
                  <a:pt x="2574586" y="600657"/>
                </a:lnTo>
                <a:lnTo>
                  <a:pt x="2601508" y="638244"/>
                </a:lnTo>
                <a:lnTo>
                  <a:pt x="2624243" y="678756"/>
                </a:lnTo>
                <a:lnTo>
                  <a:pt x="2642475" y="721876"/>
                </a:lnTo>
                <a:lnTo>
                  <a:pt x="2655889" y="767288"/>
                </a:lnTo>
                <a:lnTo>
                  <a:pt x="2664169" y="814677"/>
                </a:lnTo>
                <a:lnTo>
                  <a:pt x="2667000" y="863726"/>
                </a:lnTo>
                <a:lnTo>
                  <a:pt x="2667000" y="1494663"/>
                </a:lnTo>
                <a:lnTo>
                  <a:pt x="2667000" y="254621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82267" y="5458967"/>
            <a:ext cx="1187195" cy="84124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87018" y="4104208"/>
            <a:ext cx="8496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Helvetica"/>
                <a:cs typeface="Helvetica"/>
              </a:rPr>
              <a:t>D</a:t>
            </a:r>
            <a:r>
              <a:rPr sz="1800" b="1" spc="-15" dirty="0">
                <a:latin typeface="Helvetica"/>
                <a:cs typeface="Helvetica"/>
              </a:rPr>
              <a:t>e</a:t>
            </a:r>
            <a:r>
              <a:rPr sz="1800" b="1" dirty="0">
                <a:latin typeface="Helvetica"/>
                <a:cs typeface="Helvetica"/>
              </a:rPr>
              <a:t>f</a:t>
            </a:r>
            <a:r>
              <a:rPr sz="1800" b="1" spc="-10" dirty="0">
                <a:latin typeface="Helvetica"/>
                <a:cs typeface="Helvetica"/>
              </a:rPr>
              <a:t>ec</a:t>
            </a:r>
            <a:r>
              <a:rPr sz="1800" b="1" dirty="0">
                <a:latin typeface="Helvetica"/>
                <a:cs typeface="Helvetica"/>
              </a:rPr>
              <a:t>ts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6" name="object 26"/>
          <p:cNvSpPr txBox="1"/>
          <p:nvPr/>
        </p:nvSpPr>
        <p:spPr>
          <a:xfrm>
            <a:off x="5784341" y="5849873"/>
            <a:ext cx="3223260" cy="46228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400" b="1" spc="-30" dirty="0">
                <a:solidFill>
                  <a:srgbClr val="FF0000"/>
                </a:solidFill>
                <a:latin typeface="Helvetica"/>
                <a:cs typeface="Helvetica"/>
              </a:rPr>
              <a:t>Testing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is a</a:t>
            </a:r>
            <a:r>
              <a:rPr sz="2400" b="1" spc="-3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Decision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"/>
    </mc:Choice>
    <mc:Fallback xmlns="">
      <p:transition spd="slow" advTm="34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0605" y="164414"/>
            <a:ext cx="54121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Four Possible</a:t>
            </a:r>
            <a:r>
              <a:rPr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8079740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True pass and true reject are correct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decision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 escapes </a:t>
            </a:r>
            <a:r>
              <a:rPr sz="2000" b="1" dirty="0">
                <a:latin typeface="Arial"/>
                <a:cs typeface="Arial"/>
              </a:rPr>
              <a:t>= </a:t>
            </a:r>
            <a:r>
              <a:rPr sz="2000" b="1" spc="-5" dirty="0">
                <a:latin typeface="Arial"/>
                <a:cs typeface="Arial"/>
              </a:rPr>
              <a:t>defective </a:t>
            </a:r>
            <a:r>
              <a:rPr sz="2000" b="1" dirty="0">
                <a:latin typeface="Arial"/>
                <a:cs typeface="Arial"/>
              </a:rPr>
              <a:t>chips that pass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also </a:t>
            </a:r>
            <a:r>
              <a:rPr sz="2000" b="1" spc="5" dirty="0">
                <a:latin typeface="Arial"/>
                <a:cs typeface="Arial"/>
              </a:rPr>
              <a:t>known </a:t>
            </a:r>
            <a:r>
              <a:rPr sz="2000" b="1" dirty="0">
                <a:latin typeface="Arial"/>
                <a:cs typeface="Arial"/>
              </a:rPr>
              <a:t>as (aka.)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under-testing</a:t>
            </a:r>
            <a:endParaRPr sz="2000" dirty="0">
              <a:latin typeface="Arial-BoldItalicMT"/>
              <a:cs typeface="Arial-BoldItalic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Yield loss </a:t>
            </a:r>
            <a:r>
              <a:rPr sz="2000" b="1" dirty="0">
                <a:latin typeface="Arial"/>
                <a:cs typeface="Arial"/>
              </a:rPr>
              <a:t>= good chips that fail the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Goal of good testing: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reduce both test escape and 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yield</a:t>
            </a:r>
            <a:r>
              <a:rPr sz="20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loss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Trade off </a:t>
            </a:r>
            <a:r>
              <a:rPr sz="2000" b="1" spc="5" dirty="0">
                <a:latin typeface="Arial"/>
                <a:cs typeface="Arial"/>
              </a:rPr>
              <a:t>between </a:t>
            </a:r>
            <a:r>
              <a:rPr sz="2000" b="1" dirty="0">
                <a:latin typeface="Arial"/>
                <a:cs typeface="Arial"/>
              </a:rPr>
              <a:t>test cost and test</a:t>
            </a:r>
            <a:r>
              <a:rPr sz="2000" b="1" spc="-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24479"/>
              </p:ext>
            </p:extLst>
          </p:nvPr>
        </p:nvGraphicFramePr>
        <p:xfrm>
          <a:off x="1822513" y="3657600"/>
          <a:ext cx="5470525" cy="1755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3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Good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Defective</a:t>
                      </a:r>
                      <a:r>
                        <a:rPr sz="1800" b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Pass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tests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True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PASS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4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Escapes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(less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better)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Fail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tests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5" dirty="0">
                          <a:latin typeface="Arial"/>
                          <a:cs typeface="Arial"/>
                        </a:rPr>
                        <a:t>Yield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Loss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(less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better)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True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Reject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9991" y="164414"/>
            <a:ext cx="1016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Qu</a:t>
            </a:r>
            <a:r>
              <a:rPr spc="-15" dirty="0">
                <a:solidFill>
                  <a:srgbClr val="00B050"/>
                </a:solidFill>
                <a:latin typeface="Arial"/>
                <a:cs typeface="Arial"/>
              </a:rPr>
              <a:t>i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z</a:t>
            </a:r>
            <a:endParaRPr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4508" y="1007363"/>
            <a:ext cx="8676640" cy="3479800"/>
          </a:xfrm>
          <a:custGeom>
            <a:avLst/>
            <a:gdLst/>
            <a:ahLst/>
            <a:cxnLst/>
            <a:rect l="l" t="t" r="r" b="b"/>
            <a:pathLst>
              <a:path w="8676640" h="3479800">
                <a:moveTo>
                  <a:pt x="0" y="3479291"/>
                </a:moveTo>
                <a:lnTo>
                  <a:pt x="8676132" y="3479291"/>
                </a:lnTo>
                <a:lnTo>
                  <a:pt x="8676132" y="0"/>
                </a:lnTo>
                <a:lnTo>
                  <a:pt x="0" y="0"/>
                </a:lnTo>
                <a:lnTo>
                  <a:pt x="0" y="3479291"/>
                </a:lnTo>
                <a:close/>
              </a:path>
            </a:pathLst>
          </a:custGeom>
          <a:solidFill>
            <a:srgbClr val="66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2943" y="1033348"/>
            <a:ext cx="818769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Q: Which of following is NOT IC</a:t>
            </a:r>
            <a:r>
              <a:rPr sz="2000" b="1" spc="-16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testing?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Helvetica"/>
              <a:cs typeface="Helvetica"/>
            </a:endParaRPr>
          </a:p>
          <a:p>
            <a:pPr marL="361315" marR="230504" indent="-349250">
              <a:lnSpc>
                <a:spcPct val="100000"/>
              </a:lnSpc>
              <a:tabLst>
                <a:tab pos="6876415" algn="l"/>
              </a:tabLst>
            </a:pPr>
            <a:r>
              <a:rPr sz="2000" b="1" dirty="0">
                <a:latin typeface="Helvetica"/>
                <a:cs typeface="Helvetica"/>
              </a:rPr>
              <a:t>A: Run SPICE simulation on </a:t>
            </a:r>
            <a:r>
              <a:rPr sz="2000" b="1" spc="-5" dirty="0">
                <a:latin typeface="Helvetica"/>
                <a:cs typeface="Helvetica"/>
              </a:rPr>
              <a:t>amplifier </a:t>
            </a:r>
            <a:r>
              <a:rPr sz="2000" b="1" dirty="0">
                <a:latin typeface="Helvetica"/>
                <a:cs typeface="Helvetica"/>
              </a:rPr>
              <a:t>design to</a:t>
            </a:r>
            <a:r>
              <a:rPr sz="2000" b="1" spc="-3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check</a:t>
            </a:r>
            <a:r>
              <a:rPr sz="2000" b="1" spc="-1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if</a:t>
            </a:r>
            <a:r>
              <a:rPr lang="en-US" sz="2000" b="1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output</a:t>
            </a:r>
            <a:r>
              <a:rPr sz="2000" b="1" spc="-10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is  correctly</a:t>
            </a:r>
            <a:r>
              <a:rPr sz="2000" b="1" spc="-45" dirty="0">
                <a:latin typeface="Helvetica"/>
                <a:cs typeface="Helvetica"/>
              </a:rPr>
              <a:t> </a:t>
            </a:r>
            <a:r>
              <a:rPr sz="2000" b="1" spc="-5" dirty="0">
                <a:latin typeface="Helvetica"/>
                <a:cs typeface="Helvetica"/>
              </a:rPr>
              <a:t>amplified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Helvetica"/>
              <a:cs typeface="Helvetica"/>
            </a:endParaRPr>
          </a:p>
          <a:p>
            <a:pPr marL="361315" marR="5080" indent="-349250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B: Apply analog signal to an ADC IC and check if output is</a:t>
            </a:r>
            <a:r>
              <a:rPr sz="2000" b="1" spc="-33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correctly  digitized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Helvetica"/>
              <a:cs typeface="Helvetica"/>
            </a:endParaRPr>
          </a:p>
          <a:p>
            <a:pPr marL="361315" marR="40640" indent="-349250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C: Apply </a:t>
            </a:r>
            <a:r>
              <a:rPr sz="2000" b="1" spc="5" dirty="0">
                <a:latin typeface="Helvetica"/>
                <a:cs typeface="Helvetica"/>
              </a:rPr>
              <a:t>two </a:t>
            </a:r>
            <a:r>
              <a:rPr sz="2000" b="1" dirty="0">
                <a:latin typeface="Helvetica"/>
                <a:cs typeface="Helvetica"/>
              </a:rPr>
              <a:t>numbers to an adder IC and check if output number</a:t>
            </a:r>
            <a:r>
              <a:rPr sz="2000" b="1" spc="-30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is  correctly</a:t>
            </a:r>
            <a:r>
              <a:rPr sz="2000" b="1" spc="-4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added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"/>
    </mc:Choice>
    <mc:Fallback xmlns="">
      <p:transition spd="slow" advTm="40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7384" y="164414"/>
            <a:ext cx="15989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O</a:t>
            </a:r>
            <a:r>
              <a:rPr spc="-15" dirty="0">
                <a:solidFill>
                  <a:srgbClr val="00B050"/>
                </a:solidFill>
                <a:latin typeface="Arial"/>
                <a:cs typeface="Arial"/>
              </a:rPr>
              <a:t>u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tli</a:t>
            </a:r>
            <a:r>
              <a:rPr spc="-15" dirty="0">
                <a:solidFill>
                  <a:srgbClr val="00B050"/>
                </a:solidFill>
                <a:latin typeface="Arial"/>
                <a:cs typeface="Arial"/>
              </a:rPr>
              <a:t>n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3959225" cy="261353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What is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Testing?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Why is Testing</a:t>
            </a:r>
            <a:r>
              <a:rPr sz="2000" b="1" u="sng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Important?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7E7E7E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of 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Economics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05714" y="3513501"/>
            <a:ext cx="3628376" cy="2525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9"/>
    </mc:Choice>
    <mc:Fallback xmlns="">
      <p:transition spd="slow" advTm="72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5867" y="164414"/>
            <a:ext cx="45218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Stages </a:t>
            </a:r>
            <a:r>
              <a:rPr spc="-10" dirty="0">
                <a:solidFill>
                  <a:srgbClr val="00B050"/>
                </a:solidFill>
                <a:latin typeface="Arial"/>
                <a:cs typeface="Arial"/>
              </a:rPr>
              <a:t>of 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IC</a:t>
            </a:r>
            <a:r>
              <a:rPr spc="-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Product</a:t>
            </a:r>
            <a:endParaRPr>
              <a:solidFill>
                <a:srgbClr val="00B050"/>
              </a:solidFill>
              <a:latin typeface="Arial"/>
              <a:cs typeface="Arial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4C42DA-4CEC-3CD5-5DFE-44B6523E4B3F}"/>
              </a:ext>
            </a:extLst>
          </p:cNvPr>
          <p:cNvGrpSpPr/>
          <p:nvPr/>
        </p:nvGrpSpPr>
        <p:grpSpPr>
          <a:xfrm>
            <a:off x="219456" y="979107"/>
            <a:ext cx="8751932" cy="5753687"/>
            <a:chOff x="219456" y="979107"/>
            <a:chExt cx="8751932" cy="5753687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B4E99D0-B32F-897D-2A73-2AA7B9203FFA}"/>
                </a:ext>
              </a:extLst>
            </p:cNvPr>
            <p:cNvGrpSpPr/>
            <p:nvPr/>
          </p:nvGrpSpPr>
          <p:grpSpPr>
            <a:xfrm>
              <a:off x="219456" y="979107"/>
              <a:ext cx="8751932" cy="5753687"/>
              <a:chOff x="219456" y="979107"/>
              <a:chExt cx="8751932" cy="5753687"/>
            </a:xfrm>
          </p:grpSpPr>
          <p:sp>
            <p:nvSpPr>
              <p:cNvPr id="4" name="object 4"/>
              <p:cNvSpPr txBox="1"/>
              <p:nvPr/>
            </p:nvSpPr>
            <p:spPr>
              <a:xfrm>
                <a:off x="3393347" y="979107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573405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30" dirty="0">
                    <a:latin typeface="Arial"/>
                    <a:cs typeface="Arial"/>
                  </a:rPr>
                  <a:t>Design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3393347" y="1605469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370205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50" dirty="0">
                    <a:latin typeface="Arial"/>
                    <a:cs typeface="Arial"/>
                  </a:rPr>
                  <a:t>Verification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6" name="object 6"/>
              <p:cNvSpPr txBox="1"/>
              <p:nvPr/>
            </p:nvSpPr>
            <p:spPr>
              <a:xfrm>
                <a:off x="3393347" y="2231832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370205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45" dirty="0">
                    <a:latin typeface="Arial"/>
                    <a:cs typeface="Arial"/>
                  </a:rPr>
                  <a:t>Fabrication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3393347" y="2858304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98120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60" dirty="0">
                    <a:solidFill>
                      <a:srgbClr val="FF0000"/>
                    </a:solidFill>
                    <a:latin typeface="Arial"/>
                    <a:cs typeface="Arial"/>
                  </a:rPr>
                  <a:t>Prototype</a:t>
                </a:r>
                <a:r>
                  <a:rPr sz="1700" b="1" spc="-5" dirty="0">
                    <a:solidFill>
                      <a:srgbClr val="FF0000"/>
                    </a:solidFill>
                    <a:latin typeface="Arial"/>
                    <a:cs typeface="Arial"/>
                  </a:rPr>
                  <a:t> Test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8" name="object 8"/>
              <p:cNvSpPr txBox="1"/>
              <p:nvPr/>
            </p:nvSpPr>
            <p:spPr>
              <a:xfrm>
                <a:off x="3393347" y="3484667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93980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dirty="0">
                    <a:latin typeface="Arial"/>
                    <a:cs typeface="Arial"/>
                  </a:rPr>
                  <a:t>Mass</a:t>
                </a:r>
                <a:r>
                  <a:rPr sz="1700" b="1" spc="-110" dirty="0">
                    <a:latin typeface="Arial"/>
                    <a:cs typeface="Arial"/>
                  </a:rPr>
                  <a:t> </a:t>
                </a:r>
                <a:r>
                  <a:rPr sz="1700" b="1" spc="-60" dirty="0">
                    <a:latin typeface="Arial"/>
                    <a:cs typeface="Arial"/>
                  </a:rPr>
                  <a:t>Production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9" name="object 9"/>
              <p:cNvSpPr txBox="1"/>
              <p:nvPr/>
            </p:nvSpPr>
            <p:spPr>
              <a:xfrm>
                <a:off x="3393347" y="4111029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42875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60" dirty="0">
                    <a:solidFill>
                      <a:srgbClr val="FF0000"/>
                    </a:solidFill>
                    <a:latin typeface="Arial"/>
                    <a:cs typeface="Arial"/>
                  </a:rPr>
                  <a:t>Production</a:t>
                </a:r>
                <a:r>
                  <a:rPr sz="1700" b="1" spc="-10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700" b="1" spc="-5" dirty="0">
                    <a:solidFill>
                      <a:srgbClr val="FF0000"/>
                    </a:solidFill>
                    <a:latin typeface="Arial"/>
                    <a:cs typeface="Arial"/>
                  </a:rPr>
                  <a:t>Test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6212379" y="4111029"/>
                <a:ext cx="1409700" cy="313690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313689">
                    <a:moveTo>
                      <a:pt x="0" y="313192"/>
                    </a:moveTo>
                    <a:lnTo>
                      <a:pt x="1409515" y="313192"/>
                    </a:lnTo>
                    <a:lnTo>
                      <a:pt x="1409515" y="0"/>
                    </a:lnTo>
                    <a:lnTo>
                      <a:pt x="0" y="0"/>
                    </a:lnTo>
                    <a:lnTo>
                      <a:pt x="0" y="313192"/>
                    </a:lnTo>
                    <a:close/>
                  </a:path>
                </a:pathLst>
              </a:custGeom>
              <a:ln w="2486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 txBox="1"/>
              <p:nvPr/>
            </p:nvSpPr>
            <p:spPr>
              <a:xfrm>
                <a:off x="6425095" y="4100272"/>
                <a:ext cx="996950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25" dirty="0">
                    <a:latin typeface="Arial"/>
                    <a:cs typeface="Arial"/>
                  </a:rPr>
                  <a:t>C</a:t>
                </a:r>
                <a:r>
                  <a:rPr sz="1700" b="1" spc="-75" dirty="0">
                    <a:latin typeface="Arial"/>
                    <a:cs typeface="Arial"/>
                  </a:rPr>
                  <a:t>u</a:t>
                </a:r>
                <a:r>
                  <a:rPr sz="1700" b="1" spc="-85" dirty="0">
                    <a:latin typeface="Arial"/>
                    <a:cs typeface="Arial"/>
                  </a:rPr>
                  <a:t>st</a:t>
                </a:r>
                <a:r>
                  <a:rPr sz="1700" b="1" spc="-75" dirty="0">
                    <a:latin typeface="Arial"/>
                    <a:cs typeface="Arial"/>
                  </a:rPr>
                  <a:t>o</a:t>
                </a:r>
                <a:r>
                  <a:rPr sz="1700" b="1" spc="-65" dirty="0">
                    <a:latin typeface="Arial"/>
                    <a:cs typeface="Arial"/>
                  </a:rPr>
                  <a:t>m</a:t>
                </a:r>
                <a:r>
                  <a:rPr sz="1700" b="1" spc="15" dirty="0">
                    <a:latin typeface="Arial"/>
                    <a:cs typeface="Arial"/>
                  </a:rPr>
                  <a:t>er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12" name="object 12"/>
              <p:cNvSpPr txBox="1"/>
              <p:nvPr/>
            </p:nvSpPr>
            <p:spPr>
              <a:xfrm>
                <a:off x="3393347" y="4894065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431800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45" dirty="0">
                    <a:solidFill>
                      <a:srgbClr val="FF0000"/>
                    </a:solidFill>
                    <a:latin typeface="Arial"/>
                    <a:cs typeface="Arial"/>
                  </a:rPr>
                  <a:t>Diagnosis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13" name="object 13"/>
              <p:cNvSpPr txBox="1"/>
              <p:nvPr/>
            </p:nvSpPr>
            <p:spPr>
              <a:xfrm>
                <a:off x="3393347" y="5677023"/>
                <a:ext cx="183642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37160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40" dirty="0">
                    <a:solidFill>
                      <a:srgbClr val="FF0000"/>
                    </a:solidFill>
                    <a:latin typeface="Arial"/>
                    <a:cs typeface="Arial"/>
                  </a:rPr>
                  <a:t>Failure</a:t>
                </a:r>
                <a:r>
                  <a:rPr sz="1700" b="1" spc="-1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1700" b="1" spc="-55" dirty="0">
                    <a:solidFill>
                      <a:srgbClr val="FF0000"/>
                    </a:solidFill>
                    <a:latin typeface="Arial"/>
                    <a:cs typeface="Arial"/>
                  </a:rPr>
                  <a:t>Analysis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14" name="object 14"/>
              <p:cNvSpPr txBox="1"/>
              <p:nvPr/>
            </p:nvSpPr>
            <p:spPr>
              <a:xfrm>
                <a:off x="1514049" y="1605469"/>
                <a:ext cx="1409700" cy="313690"/>
              </a:xfrm>
              <a:prstGeom prst="rect">
                <a:avLst/>
              </a:prstGeom>
              <a:ln w="24860">
                <a:solidFill>
                  <a:srgbClr val="000000"/>
                </a:solidFill>
              </a:ln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378460">
                  <a:lnSpc>
                    <a:spcPct val="100000"/>
                  </a:lnSpc>
                  <a:spcBef>
                    <a:spcPts val="55"/>
                  </a:spcBef>
                </a:pPr>
                <a:r>
                  <a:rPr sz="1700" b="1" spc="-15" dirty="0">
                    <a:latin typeface="Arial"/>
                    <a:cs typeface="Arial"/>
                  </a:rPr>
                  <a:t>Debug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2218806" y="1169878"/>
                <a:ext cx="1089025" cy="435609"/>
              </a:xfrm>
              <a:custGeom>
                <a:avLst/>
                <a:gdLst/>
                <a:ahLst/>
                <a:cxnLst/>
                <a:rect l="l" t="t" r="r" b="b"/>
                <a:pathLst>
                  <a:path w="1089025" h="435609">
                    <a:moveTo>
                      <a:pt x="0" y="435547"/>
                    </a:moveTo>
                    <a:lnTo>
                      <a:pt x="1088904" y="0"/>
                    </a:lnTo>
                  </a:path>
                </a:pathLst>
              </a:custGeom>
              <a:ln w="2486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3275888" y="1125903"/>
                <a:ext cx="11747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117475" h="98425">
                    <a:moveTo>
                      <a:pt x="0" y="0"/>
                    </a:moveTo>
                    <a:lnTo>
                      <a:pt x="39226" y="97893"/>
                    </a:lnTo>
                    <a:lnTo>
                      <a:pt x="117459" y="97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4311367" y="1292299"/>
                <a:ext cx="0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h="220980">
                    <a:moveTo>
                      <a:pt x="0" y="0"/>
                    </a:moveTo>
                    <a:lnTo>
                      <a:pt x="0" y="220978"/>
                    </a:lnTo>
                  </a:path>
                </a:pathLst>
              </a:custGeom>
              <a:ln w="248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4258659" y="1500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09">
                    <a:moveTo>
                      <a:pt x="105415" y="0"/>
                    </a:moveTo>
                    <a:lnTo>
                      <a:pt x="0" y="0"/>
                    </a:lnTo>
                    <a:lnTo>
                      <a:pt x="52707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3015775" y="1762099"/>
                <a:ext cx="3778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77825">
                    <a:moveTo>
                      <a:pt x="377572" y="0"/>
                    </a:moveTo>
                    <a:lnTo>
                      <a:pt x="0" y="0"/>
                    </a:lnTo>
                  </a:path>
                </a:pathLst>
              </a:custGeom>
              <a:ln w="2486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2923509" y="1709396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52703"/>
                    </a:lnTo>
                    <a:lnTo>
                      <a:pt x="105415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4311367" y="1918662"/>
                <a:ext cx="0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h="220980">
                    <a:moveTo>
                      <a:pt x="0" y="0"/>
                    </a:moveTo>
                    <a:lnTo>
                      <a:pt x="0" y="220978"/>
                    </a:lnTo>
                  </a:path>
                </a:pathLst>
              </a:custGeom>
              <a:ln w="248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4258659" y="2126492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0"/>
                    </a:lnTo>
                    <a:lnTo>
                      <a:pt x="52707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4311367" y="2545024"/>
                <a:ext cx="0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h="220980">
                    <a:moveTo>
                      <a:pt x="0" y="0"/>
                    </a:moveTo>
                    <a:lnTo>
                      <a:pt x="0" y="220978"/>
                    </a:lnTo>
                  </a:path>
                </a:pathLst>
              </a:custGeom>
              <a:ln w="248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4258659" y="2752854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0"/>
                    </a:lnTo>
                    <a:lnTo>
                      <a:pt x="52707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4311367" y="3171497"/>
                <a:ext cx="0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h="220979">
                    <a:moveTo>
                      <a:pt x="0" y="0"/>
                    </a:moveTo>
                    <a:lnTo>
                      <a:pt x="0" y="220867"/>
                    </a:lnTo>
                  </a:path>
                </a:pathLst>
              </a:custGeom>
              <a:ln w="248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4258659" y="3379216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0"/>
                    </a:lnTo>
                    <a:lnTo>
                      <a:pt x="52707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4311367" y="3797859"/>
                <a:ext cx="0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h="220979">
                    <a:moveTo>
                      <a:pt x="0" y="0"/>
                    </a:moveTo>
                    <a:lnTo>
                      <a:pt x="0" y="220978"/>
                    </a:lnTo>
                  </a:path>
                </a:pathLst>
              </a:custGeom>
              <a:ln w="248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4258659" y="4005578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0"/>
                    </a:lnTo>
                    <a:lnTo>
                      <a:pt x="52707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5229276" y="4267658"/>
                <a:ext cx="8909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890904">
                    <a:moveTo>
                      <a:pt x="0" y="0"/>
                    </a:moveTo>
                    <a:lnTo>
                      <a:pt x="890836" y="0"/>
                    </a:lnTo>
                  </a:path>
                </a:pathLst>
              </a:custGeom>
              <a:ln w="2486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6106964" y="421495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406"/>
                    </a:lnTo>
                    <a:lnTo>
                      <a:pt x="105415" y="52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4311367" y="4424221"/>
                <a:ext cx="0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h="377825">
                    <a:moveTo>
                      <a:pt x="0" y="0"/>
                    </a:moveTo>
                    <a:lnTo>
                      <a:pt x="0" y="377540"/>
                    </a:lnTo>
                  </a:path>
                </a:pathLst>
              </a:custGeom>
              <a:ln w="248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4258659" y="4788614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0"/>
                    </a:lnTo>
                    <a:lnTo>
                      <a:pt x="52707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4311367" y="5207257"/>
                <a:ext cx="0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h="377825">
                    <a:moveTo>
                      <a:pt x="0" y="0"/>
                    </a:moveTo>
                    <a:lnTo>
                      <a:pt x="0" y="377540"/>
                    </a:lnTo>
                  </a:path>
                </a:pathLst>
              </a:custGeom>
              <a:ln w="248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4258659" y="557165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0"/>
                    </a:lnTo>
                    <a:lnTo>
                      <a:pt x="52707" y="105373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5229276" y="1135626"/>
                <a:ext cx="826769" cy="1879600"/>
              </a:xfrm>
              <a:custGeom>
                <a:avLst/>
                <a:gdLst/>
                <a:ahLst/>
                <a:cxnLst/>
                <a:rect l="l" t="t" r="r" b="b"/>
                <a:pathLst>
                  <a:path w="826770" h="1879600">
                    <a:moveTo>
                      <a:pt x="92265" y="0"/>
                    </a:moveTo>
                    <a:lnTo>
                      <a:pt x="826526" y="0"/>
                    </a:lnTo>
                    <a:lnTo>
                      <a:pt x="826526" y="1879197"/>
                    </a:lnTo>
                    <a:lnTo>
                      <a:pt x="0" y="1879197"/>
                    </a:lnTo>
                  </a:path>
                </a:pathLst>
              </a:custGeom>
              <a:ln w="248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5229276" y="108292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09">
                    <a:moveTo>
                      <a:pt x="105415" y="0"/>
                    </a:moveTo>
                    <a:lnTo>
                      <a:pt x="0" y="52703"/>
                    </a:lnTo>
                    <a:lnTo>
                      <a:pt x="105415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5229276" y="2388461"/>
                <a:ext cx="826769" cy="626745"/>
              </a:xfrm>
              <a:custGeom>
                <a:avLst/>
                <a:gdLst/>
                <a:ahLst/>
                <a:cxnLst/>
                <a:rect l="l" t="t" r="r" b="b"/>
                <a:pathLst>
                  <a:path w="826770" h="626744">
                    <a:moveTo>
                      <a:pt x="92266" y="0"/>
                    </a:moveTo>
                    <a:lnTo>
                      <a:pt x="826526" y="0"/>
                    </a:lnTo>
                    <a:lnTo>
                      <a:pt x="826526" y="626362"/>
                    </a:lnTo>
                    <a:lnTo>
                      <a:pt x="0" y="626362"/>
                    </a:lnTo>
                  </a:path>
                </a:pathLst>
              </a:custGeom>
              <a:ln w="2486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5229276" y="2335758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52703"/>
                    </a:lnTo>
                    <a:lnTo>
                      <a:pt x="105415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5321542" y="4424221"/>
                <a:ext cx="1595755" cy="626745"/>
              </a:xfrm>
              <a:custGeom>
                <a:avLst/>
                <a:gdLst/>
                <a:ahLst/>
                <a:cxnLst/>
                <a:rect l="l" t="t" r="r" b="b"/>
                <a:pathLst>
                  <a:path w="1595754" h="626745">
                    <a:moveTo>
                      <a:pt x="1595594" y="0"/>
                    </a:moveTo>
                    <a:lnTo>
                      <a:pt x="1595594" y="626362"/>
                    </a:lnTo>
                    <a:lnTo>
                      <a:pt x="0" y="626362"/>
                    </a:lnTo>
                  </a:path>
                </a:pathLst>
              </a:custGeom>
              <a:ln w="2486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5229276" y="499788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415" y="0"/>
                    </a:moveTo>
                    <a:lnTo>
                      <a:pt x="0" y="52703"/>
                    </a:lnTo>
                    <a:lnTo>
                      <a:pt x="105415" y="105406"/>
                    </a:lnTo>
                    <a:lnTo>
                      <a:pt x="10541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 txBox="1"/>
              <p:nvPr/>
            </p:nvSpPr>
            <p:spPr>
              <a:xfrm>
                <a:off x="6152164" y="1865521"/>
                <a:ext cx="935990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-30" dirty="0">
                    <a:latin typeface="Arial"/>
                    <a:cs typeface="Arial"/>
                  </a:rPr>
                  <a:t>feedback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42" name="object 42"/>
              <p:cNvSpPr txBox="1"/>
              <p:nvPr/>
            </p:nvSpPr>
            <p:spPr>
              <a:xfrm>
                <a:off x="5304201" y="3787035"/>
                <a:ext cx="800100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-50" dirty="0">
                    <a:latin typeface="Arial"/>
                    <a:cs typeface="Arial"/>
                  </a:rPr>
                  <a:t>good</a:t>
                </a:r>
                <a:r>
                  <a:rPr sz="1700" b="1" spc="-155" dirty="0">
                    <a:latin typeface="Arial"/>
                    <a:cs typeface="Arial"/>
                  </a:rPr>
                  <a:t> </a:t>
                </a:r>
                <a:r>
                  <a:rPr sz="1700" b="1" spc="20" dirty="0">
                    <a:latin typeface="Arial"/>
                    <a:cs typeface="Arial"/>
                  </a:rPr>
                  <a:t>IC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43" name="object 43"/>
              <p:cNvSpPr txBox="1"/>
              <p:nvPr/>
            </p:nvSpPr>
            <p:spPr>
              <a:xfrm>
                <a:off x="5272930" y="4570071"/>
                <a:ext cx="1132205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-45" dirty="0">
                    <a:latin typeface="Arial"/>
                    <a:cs typeface="Arial"/>
                  </a:rPr>
                  <a:t>returned</a:t>
                </a:r>
                <a:r>
                  <a:rPr sz="1700" b="1" spc="-140" dirty="0">
                    <a:latin typeface="Arial"/>
                    <a:cs typeface="Arial"/>
                  </a:rPr>
                  <a:t> </a:t>
                </a:r>
                <a:r>
                  <a:rPr sz="1700" b="1" spc="20" dirty="0">
                    <a:latin typeface="Arial"/>
                    <a:cs typeface="Arial"/>
                  </a:rPr>
                  <a:t>IC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44" name="object 44"/>
              <p:cNvSpPr txBox="1"/>
              <p:nvPr/>
            </p:nvSpPr>
            <p:spPr>
              <a:xfrm>
                <a:off x="1858777" y="4570071"/>
                <a:ext cx="886460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-55" dirty="0">
                    <a:latin typeface="Arial"/>
                    <a:cs typeface="Arial"/>
                  </a:rPr>
                  <a:t>failing</a:t>
                </a:r>
                <a:r>
                  <a:rPr sz="1700" b="1" spc="-155" dirty="0">
                    <a:latin typeface="Arial"/>
                    <a:cs typeface="Arial"/>
                  </a:rPr>
                  <a:t> </a:t>
                </a:r>
                <a:r>
                  <a:rPr sz="1700" b="1" spc="20" dirty="0">
                    <a:latin typeface="Arial"/>
                    <a:cs typeface="Arial"/>
                  </a:rPr>
                  <a:t>IC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45" name="object 45"/>
              <p:cNvSpPr txBox="1"/>
              <p:nvPr/>
            </p:nvSpPr>
            <p:spPr>
              <a:xfrm>
                <a:off x="1858777" y="5352996"/>
                <a:ext cx="1649095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-45" dirty="0">
                    <a:latin typeface="Arial"/>
                    <a:cs typeface="Arial"/>
                  </a:rPr>
                  <a:t>diagnosed</a:t>
                </a:r>
                <a:r>
                  <a:rPr sz="1700" b="1" spc="-135" dirty="0">
                    <a:latin typeface="Arial"/>
                    <a:cs typeface="Arial"/>
                  </a:rPr>
                  <a:t> </a:t>
                </a:r>
                <a:r>
                  <a:rPr sz="1700" b="1" spc="-50" dirty="0">
                    <a:latin typeface="Arial"/>
                    <a:cs typeface="Arial"/>
                  </a:rPr>
                  <a:t>faults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46" name="object 46"/>
              <p:cNvSpPr txBox="1"/>
              <p:nvPr/>
            </p:nvSpPr>
            <p:spPr>
              <a:xfrm>
                <a:off x="1858777" y="6160041"/>
                <a:ext cx="1858010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-45" dirty="0">
                    <a:latin typeface="Arial"/>
                    <a:cs typeface="Arial"/>
                  </a:rPr>
                  <a:t>Pictures </a:t>
                </a:r>
                <a:r>
                  <a:rPr sz="1700" b="1" spc="-30" dirty="0">
                    <a:latin typeface="Arial"/>
                    <a:cs typeface="Arial"/>
                  </a:rPr>
                  <a:t>of</a:t>
                </a:r>
                <a:r>
                  <a:rPr sz="1700" b="1" spc="-170" dirty="0">
                    <a:latin typeface="Arial"/>
                    <a:cs typeface="Arial"/>
                  </a:rPr>
                  <a:t> </a:t>
                </a:r>
                <a:r>
                  <a:rPr sz="1700" b="1" spc="-40" dirty="0">
                    <a:latin typeface="Arial"/>
                    <a:cs typeface="Arial"/>
                  </a:rPr>
                  <a:t>defects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47" name="object 47"/>
              <p:cNvSpPr txBox="1"/>
              <p:nvPr/>
            </p:nvSpPr>
            <p:spPr>
              <a:xfrm>
                <a:off x="1858777" y="6425213"/>
                <a:ext cx="1882775" cy="29083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700" b="1" spc="25" dirty="0">
                    <a:latin typeface="Arial"/>
                    <a:cs typeface="Arial"/>
                  </a:rPr>
                  <a:t>&amp; </a:t>
                </a:r>
                <a:r>
                  <a:rPr sz="1700" b="1" spc="-45" dirty="0">
                    <a:latin typeface="Arial"/>
                    <a:cs typeface="Arial"/>
                  </a:rPr>
                  <a:t>their </a:t>
                </a:r>
                <a:r>
                  <a:rPr sz="1700" b="1" spc="-55" dirty="0">
                    <a:latin typeface="Arial"/>
                    <a:cs typeface="Arial"/>
                  </a:rPr>
                  <a:t>root</a:t>
                </a:r>
                <a:r>
                  <a:rPr sz="1700" b="1" spc="-280" dirty="0">
                    <a:latin typeface="Arial"/>
                    <a:cs typeface="Arial"/>
                  </a:rPr>
                  <a:t> </a:t>
                </a:r>
                <a:r>
                  <a:rPr sz="1700" b="1" spc="-30" dirty="0">
                    <a:latin typeface="Arial"/>
                    <a:cs typeface="Arial"/>
                  </a:rPr>
                  <a:t>causes</a:t>
                </a:r>
                <a:endParaRPr sz="1700">
                  <a:latin typeface="Arial"/>
                  <a:cs typeface="Arial"/>
                </a:endParaRPr>
              </a:p>
            </p:txBody>
          </p:sp>
          <p:sp>
            <p:nvSpPr>
              <p:cNvPr id="48" name="object 48"/>
              <p:cNvSpPr txBox="1"/>
              <p:nvPr/>
            </p:nvSpPr>
            <p:spPr>
              <a:xfrm>
                <a:off x="4834363" y="6143514"/>
                <a:ext cx="4137025" cy="589280"/>
              </a:xfrm>
              <a:prstGeom prst="rect">
                <a:avLst/>
              </a:prstGeom>
            </p:spPr>
            <p:txBody>
              <a:bodyPr vert="horz" wrap="square" lIns="0" tIns="3429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270"/>
                  </a:spcBef>
                </a:pPr>
                <a:r>
                  <a:rPr sz="1700" b="1" spc="-30" dirty="0">
                    <a:latin typeface="Arial"/>
                    <a:cs typeface="Arial"/>
                  </a:rPr>
                  <a:t>feedback </a:t>
                </a:r>
                <a:r>
                  <a:rPr sz="1700" b="1" spc="-35" dirty="0">
                    <a:latin typeface="Arial"/>
                    <a:cs typeface="Arial"/>
                  </a:rPr>
                  <a:t>to</a:t>
                </a:r>
                <a:r>
                  <a:rPr sz="1700" b="1" spc="-145" dirty="0">
                    <a:latin typeface="Arial"/>
                    <a:cs typeface="Arial"/>
                  </a:rPr>
                  <a:t> </a:t>
                </a:r>
                <a:r>
                  <a:rPr sz="1700" b="1" spc="-50" dirty="0">
                    <a:latin typeface="Arial"/>
                    <a:cs typeface="Arial"/>
                  </a:rPr>
                  <a:t>design,</a:t>
                </a:r>
                <a:endParaRPr sz="1700" dirty="0">
                  <a:latin typeface="Arial"/>
                  <a:cs typeface="Arial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175"/>
                  </a:spcBef>
                </a:pPr>
                <a:r>
                  <a:rPr sz="2550" b="1" spc="-52" baseline="4901" dirty="0">
                    <a:latin typeface="Arial"/>
                    <a:cs typeface="Arial"/>
                  </a:rPr>
                  <a:t>test </a:t>
                </a:r>
                <a:r>
                  <a:rPr sz="2550" b="1" spc="37" baseline="4901" dirty="0">
                    <a:latin typeface="Arial"/>
                    <a:cs typeface="Arial"/>
                  </a:rPr>
                  <a:t>&amp; </a:t>
                </a:r>
                <a:r>
                  <a:rPr sz="2550" b="1" spc="-22" baseline="4901" dirty="0">
                    <a:latin typeface="Arial"/>
                    <a:cs typeface="Arial"/>
                  </a:rPr>
                  <a:t>fab</a:t>
                </a:r>
                <a:r>
                  <a:rPr lang="en-US" sz="2550" b="1" spc="-22" baseline="4901" dirty="0">
                    <a:latin typeface="Arial"/>
                    <a:cs typeface="Arial"/>
                  </a:rPr>
                  <a:t> </a:t>
                </a:r>
                <a:r>
                  <a:rPr lang="en-US" sz="1200" b="1" spc="-5" dirty="0">
                    <a:solidFill>
                      <a:srgbClr val="B1B1B1"/>
                    </a:solidFill>
                    <a:latin typeface="Helvetica"/>
                    <a:cs typeface="Helvetica"/>
                  </a:rPr>
                  <a:t> </a:t>
                </a:r>
                <a:endParaRPr sz="1200" dirty="0">
                  <a:latin typeface="Helvetica"/>
                  <a:cs typeface="Helvetica"/>
                </a:endParaRPr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4311367" y="5990215"/>
                <a:ext cx="223520" cy="459740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459739">
                    <a:moveTo>
                      <a:pt x="0" y="0"/>
                    </a:moveTo>
                    <a:lnTo>
                      <a:pt x="0" y="459358"/>
                    </a:lnTo>
                    <a:lnTo>
                      <a:pt x="223427" y="459358"/>
                    </a:lnTo>
                  </a:path>
                </a:pathLst>
              </a:custGeom>
              <a:ln w="248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4521645" y="639687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406"/>
                    </a:lnTo>
                    <a:lnTo>
                      <a:pt x="105415" y="52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7139178" y="1952244"/>
                <a:ext cx="1020444" cy="4516120"/>
              </a:xfrm>
              <a:custGeom>
                <a:avLst/>
                <a:gdLst/>
                <a:ahLst/>
                <a:cxnLst/>
                <a:rect l="l" t="t" r="r" b="b"/>
                <a:pathLst>
                  <a:path w="1020445" h="4516120">
                    <a:moveTo>
                      <a:pt x="991362" y="4486656"/>
                    </a:moveTo>
                    <a:lnTo>
                      <a:pt x="182752" y="4486656"/>
                    </a:lnTo>
                    <a:lnTo>
                      <a:pt x="182752" y="4515611"/>
                    </a:lnTo>
                    <a:lnTo>
                      <a:pt x="1013841" y="4515611"/>
                    </a:lnTo>
                    <a:lnTo>
                      <a:pt x="1020318" y="4509122"/>
                    </a:lnTo>
                    <a:lnTo>
                      <a:pt x="1020318" y="4501133"/>
                    </a:lnTo>
                    <a:lnTo>
                      <a:pt x="991362" y="4501133"/>
                    </a:lnTo>
                    <a:lnTo>
                      <a:pt x="991362" y="4486656"/>
                    </a:lnTo>
                    <a:close/>
                  </a:path>
                  <a:path w="1020445" h="4516120">
                    <a:moveTo>
                      <a:pt x="991362" y="72389"/>
                    </a:moveTo>
                    <a:lnTo>
                      <a:pt x="991362" y="4501133"/>
                    </a:lnTo>
                    <a:lnTo>
                      <a:pt x="1005840" y="4486656"/>
                    </a:lnTo>
                    <a:lnTo>
                      <a:pt x="1020318" y="4486656"/>
                    </a:lnTo>
                    <a:lnTo>
                      <a:pt x="1020318" y="86867"/>
                    </a:lnTo>
                    <a:lnTo>
                      <a:pt x="1005840" y="86867"/>
                    </a:lnTo>
                    <a:lnTo>
                      <a:pt x="991362" y="72389"/>
                    </a:lnTo>
                    <a:close/>
                  </a:path>
                  <a:path w="1020445" h="4516120">
                    <a:moveTo>
                      <a:pt x="1020318" y="4486656"/>
                    </a:moveTo>
                    <a:lnTo>
                      <a:pt x="1005840" y="4486656"/>
                    </a:lnTo>
                    <a:lnTo>
                      <a:pt x="991362" y="4501133"/>
                    </a:lnTo>
                    <a:lnTo>
                      <a:pt x="1020318" y="4501133"/>
                    </a:lnTo>
                    <a:lnTo>
                      <a:pt x="1020318" y="4486656"/>
                    </a:lnTo>
                    <a:close/>
                  </a:path>
                  <a:path w="1020445" h="4516120">
                    <a:moveTo>
                      <a:pt x="86868" y="0"/>
                    </a:moveTo>
                    <a:lnTo>
                      <a:pt x="0" y="72389"/>
                    </a:lnTo>
                    <a:lnTo>
                      <a:pt x="86868" y="144779"/>
                    </a:lnTo>
                    <a:lnTo>
                      <a:pt x="86868" y="86867"/>
                    </a:lnTo>
                    <a:lnTo>
                      <a:pt x="72390" y="86867"/>
                    </a:lnTo>
                    <a:lnTo>
                      <a:pt x="72390" y="57911"/>
                    </a:lnTo>
                    <a:lnTo>
                      <a:pt x="86868" y="57911"/>
                    </a:lnTo>
                    <a:lnTo>
                      <a:pt x="86868" y="0"/>
                    </a:lnTo>
                    <a:close/>
                  </a:path>
                  <a:path w="1020445" h="4516120">
                    <a:moveTo>
                      <a:pt x="86868" y="57911"/>
                    </a:moveTo>
                    <a:lnTo>
                      <a:pt x="72390" y="57911"/>
                    </a:lnTo>
                    <a:lnTo>
                      <a:pt x="72390" y="86867"/>
                    </a:lnTo>
                    <a:lnTo>
                      <a:pt x="86868" y="86867"/>
                    </a:lnTo>
                    <a:lnTo>
                      <a:pt x="86868" y="57911"/>
                    </a:lnTo>
                    <a:close/>
                  </a:path>
                  <a:path w="1020445" h="4516120">
                    <a:moveTo>
                      <a:pt x="1013841" y="57911"/>
                    </a:moveTo>
                    <a:lnTo>
                      <a:pt x="86868" y="57911"/>
                    </a:lnTo>
                    <a:lnTo>
                      <a:pt x="86868" y="86867"/>
                    </a:lnTo>
                    <a:lnTo>
                      <a:pt x="991362" y="86867"/>
                    </a:lnTo>
                    <a:lnTo>
                      <a:pt x="991362" y="72389"/>
                    </a:lnTo>
                    <a:lnTo>
                      <a:pt x="1020318" y="72389"/>
                    </a:lnTo>
                    <a:lnTo>
                      <a:pt x="1020318" y="64388"/>
                    </a:lnTo>
                    <a:lnTo>
                      <a:pt x="1013841" y="57911"/>
                    </a:lnTo>
                    <a:close/>
                  </a:path>
                  <a:path w="1020445" h="4516120">
                    <a:moveTo>
                      <a:pt x="1020318" y="72389"/>
                    </a:moveTo>
                    <a:lnTo>
                      <a:pt x="991362" y="72389"/>
                    </a:lnTo>
                    <a:lnTo>
                      <a:pt x="1005840" y="86867"/>
                    </a:lnTo>
                    <a:lnTo>
                      <a:pt x="1020318" y="86867"/>
                    </a:lnTo>
                    <a:lnTo>
                      <a:pt x="1020318" y="7238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219456" y="2910839"/>
                <a:ext cx="2641600" cy="922019"/>
              </a:xfrm>
              <a:custGeom>
                <a:avLst/>
                <a:gdLst/>
                <a:ahLst/>
                <a:cxnLst/>
                <a:rect l="l" t="t" r="r" b="b"/>
                <a:pathLst>
                  <a:path w="2641600" h="922020">
                    <a:moveTo>
                      <a:pt x="2487422" y="0"/>
                    </a:moveTo>
                    <a:lnTo>
                      <a:pt x="153669" y="0"/>
                    </a:lnTo>
                    <a:lnTo>
                      <a:pt x="105096" y="7837"/>
                    </a:lnTo>
                    <a:lnTo>
                      <a:pt x="62912" y="29659"/>
                    </a:lnTo>
                    <a:lnTo>
                      <a:pt x="29648" y="62929"/>
                    </a:lnTo>
                    <a:lnTo>
                      <a:pt x="7833" y="105111"/>
                    </a:lnTo>
                    <a:lnTo>
                      <a:pt x="0" y="153670"/>
                    </a:lnTo>
                    <a:lnTo>
                      <a:pt x="0" y="768350"/>
                    </a:lnTo>
                    <a:lnTo>
                      <a:pt x="7833" y="816908"/>
                    </a:lnTo>
                    <a:lnTo>
                      <a:pt x="29648" y="859090"/>
                    </a:lnTo>
                    <a:lnTo>
                      <a:pt x="62912" y="892360"/>
                    </a:lnTo>
                    <a:lnTo>
                      <a:pt x="105096" y="914182"/>
                    </a:lnTo>
                    <a:lnTo>
                      <a:pt x="153669" y="922020"/>
                    </a:lnTo>
                    <a:lnTo>
                      <a:pt x="2487422" y="922020"/>
                    </a:lnTo>
                    <a:lnTo>
                      <a:pt x="2535980" y="914182"/>
                    </a:lnTo>
                    <a:lnTo>
                      <a:pt x="2578162" y="892360"/>
                    </a:lnTo>
                    <a:lnTo>
                      <a:pt x="2611432" y="859090"/>
                    </a:lnTo>
                    <a:lnTo>
                      <a:pt x="2633254" y="816908"/>
                    </a:lnTo>
                    <a:lnTo>
                      <a:pt x="2641092" y="768350"/>
                    </a:lnTo>
                    <a:lnTo>
                      <a:pt x="2641092" y="153670"/>
                    </a:lnTo>
                    <a:lnTo>
                      <a:pt x="2633254" y="105111"/>
                    </a:lnTo>
                    <a:lnTo>
                      <a:pt x="2611432" y="62929"/>
                    </a:lnTo>
                    <a:lnTo>
                      <a:pt x="2578162" y="29659"/>
                    </a:lnTo>
                    <a:lnTo>
                      <a:pt x="2535980" y="7837"/>
                    </a:lnTo>
                    <a:lnTo>
                      <a:pt x="2487422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3"/>
              <p:cNvSpPr txBox="1"/>
              <p:nvPr/>
            </p:nvSpPr>
            <p:spPr>
              <a:xfrm>
                <a:off x="342696" y="2982595"/>
                <a:ext cx="2303780" cy="7575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400" b="1" dirty="0">
                    <a:solidFill>
                      <a:srgbClr val="FFFFFF"/>
                    </a:solidFill>
                    <a:latin typeface="Helvetica"/>
                    <a:cs typeface="Helvetica"/>
                  </a:rPr>
                  <a:t>Good </a:t>
                </a:r>
                <a:r>
                  <a:rPr sz="2400" b="1" spc="-30" dirty="0">
                    <a:solidFill>
                      <a:srgbClr val="FFFFFF"/>
                    </a:solidFill>
                    <a:latin typeface="Helvetica"/>
                    <a:cs typeface="Helvetica"/>
                  </a:rPr>
                  <a:t>Testing</a:t>
                </a:r>
                <a:r>
                  <a:rPr sz="2400" b="1" spc="-85" dirty="0">
                    <a:solidFill>
                      <a:srgbClr val="FFFFFF"/>
                    </a:solidFill>
                    <a:latin typeface="Helvetica"/>
                    <a:cs typeface="Helvetica"/>
                  </a:rPr>
                  <a:t> </a:t>
                </a:r>
                <a:r>
                  <a:rPr sz="2400" b="1" spc="-5" dirty="0">
                    <a:solidFill>
                      <a:srgbClr val="FFFFFF"/>
                    </a:solidFill>
                    <a:latin typeface="Helvetica"/>
                    <a:cs typeface="Helvetica"/>
                  </a:rPr>
                  <a:t>is  Key </a:t>
                </a:r>
                <a:r>
                  <a:rPr sz="2400" b="1" dirty="0">
                    <a:solidFill>
                      <a:srgbClr val="FFFFFF"/>
                    </a:solidFill>
                    <a:latin typeface="Helvetica"/>
                    <a:cs typeface="Helvetica"/>
                  </a:rPr>
                  <a:t>to</a:t>
                </a:r>
                <a:r>
                  <a:rPr sz="2400" b="1" spc="-55" dirty="0">
                    <a:solidFill>
                      <a:srgbClr val="FFFFFF"/>
                    </a:solidFill>
                    <a:latin typeface="Helvetica"/>
                    <a:cs typeface="Helvetica"/>
                  </a:rPr>
                  <a:t> </a:t>
                </a:r>
                <a:r>
                  <a:rPr sz="2400" b="1" spc="-5" dirty="0">
                    <a:solidFill>
                      <a:srgbClr val="FFFFFF"/>
                    </a:solidFill>
                    <a:latin typeface="Helvetica"/>
                    <a:cs typeface="Helvetica"/>
                  </a:rPr>
                  <a:t>Success</a:t>
                </a:r>
                <a:endParaRPr sz="2400">
                  <a:latin typeface="Helvetica"/>
                  <a:cs typeface="Helvetica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F813571-1A40-CF5E-7982-14E790BEC6C7}"/>
                  </a:ext>
                </a:extLst>
              </p:cNvPr>
              <p:cNvSpPr txBox="1"/>
              <p:nvPr/>
            </p:nvSpPr>
            <p:spPr>
              <a:xfrm>
                <a:off x="5277617" y="3581400"/>
                <a:ext cx="77842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pass test</a:t>
                </a: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A7731F7-76D0-228A-5DD4-DE8A264E4D5E}"/>
                </a:ext>
              </a:extLst>
            </p:cNvPr>
            <p:cNvSpPr txBox="1"/>
            <p:nvPr/>
          </p:nvSpPr>
          <p:spPr>
            <a:xfrm>
              <a:off x="1815885" y="4578407"/>
              <a:ext cx="1232115" cy="3745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fail test</a:t>
              </a:r>
            </a:p>
          </p:txBody>
        </p:sp>
      </p:grpSp>
      <p:sp>
        <p:nvSpPr>
          <p:cNvPr id="58" name="object 5">
            <a:extLst>
              <a:ext uri="{FF2B5EF4-FFF2-40B4-BE49-F238E27FC236}">
                <a16:creationId xmlns:a16="http://schemas.microsoft.com/office/drawing/2014/main" id="{5C118344-F703-91FB-83DE-7E17D67F04C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1019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1"/>
    </mc:Choice>
    <mc:Fallback xmlns="">
      <p:transition spd="slow" advTm="76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100" y="228600"/>
            <a:ext cx="5765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Why is </a:t>
            </a: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Testing</a:t>
            </a:r>
            <a:r>
              <a:rPr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Important?</a:t>
            </a:r>
            <a:endParaRPr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304176" cy="374974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1. </a:t>
            </a:r>
            <a:r>
              <a:rPr lang="en-US" sz="2000" b="1" dirty="0">
                <a:latin typeface="Arial"/>
                <a:cs typeface="Arial"/>
              </a:rPr>
              <a:t>Guarantee</a:t>
            </a:r>
            <a:r>
              <a:rPr sz="2000" b="1" dirty="0">
                <a:latin typeface="Arial"/>
                <a:cs typeface="Arial"/>
              </a:rPr>
              <a:t> IC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Reduces test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escapes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2. Shorten </a:t>
            </a:r>
            <a:r>
              <a:rPr sz="2000" b="1" spc="-5" dirty="0">
                <a:latin typeface="Arial"/>
                <a:cs typeface="Arial"/>
              </a:rPr>
              <a:t>Time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Market</a:t>
            </a:r>
            <a:r>
              <a:rPr lang="en-US" sz="2000" b="1" dirty="0">
                <a:latin typeface="Arial"/>
                <a:cs typeface="Arial"/>
              </a:rPr>
              <a:t>, for example by: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spc="-5" dirty="0">
                <a:latin typeface="Arial"/>
                <a:cs typeface="Arial"/>
              </a:rPr>
              <a:t>Improve </a:t>
            </a:r>
            <a:r>
              <a:rPr lang="en-US" sz="2000" b="1" dirty="0">
                <a:latin typeface="Arial"/>
                <a:cs typeface="Arial"/>
              </a:rPr>
              <a:t>efficiency of production</a:t>
            </a:r>
            <a:r>
              <a:rPr lang="en-US" sz="2000" b="1" spc="-9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test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Better d</a:t>
            </a:r>
            <a:r>
              <a:rPr sz="2000" b="1" dirty="0">
                <a:latin typeface="Arial"/>
                <a:cs typeface="Arial"/>
              </a:rPr>
              <a:t>iagnose </a:t>
            </a:r>
            <a:r>
              <a:rPr sz="2000" b="1" spc="-5" dirty="0">
                <a:latin typeface="Arial"/>
                <a:cs typeface="Arial"/>
              </a:rPr>
              <a:t>defective </a:t>
            </a:r>
            <a:r>
              <a:rPr sz="2000" b="1" dirty="0">
                <a:latin typeface="Arial"/>
                <a:cs typeface="Arial"/>
              </a:rPr>
              <a:t>IC to </a:t>
            </a:r>
            <a:r>
              <a:rPr sz="2000" b="1" spc="-5" dirty="0">
                <a:latin typeface="Arial"/>
                <a:cs typeface="Arial"/>
              </a:rPr>
              <a:t>improve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yield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3. Enhance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Profit</a:t>
            </a:r>
            <a:r>
              <a:rPr lang="en-US" sz="2000" b="1" dirty="0">
                <a:latin typeface="Arial"/>
                <a:cs typeface="Arial"/>
              </a:rPr>
              <a:t> for example by: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Fix </a:t>
            </a:r>
            <a:r>
              <a:rPr sz="2000" b="1" spc="-5" dirty="0">
                <a:latin typeface="Arial"/>
                <a:cs typeface="Arial"/>
              </a:rPr>
              <a:t>defective </a:t>
            </a:r>
            <a:r>
              <a:rPr sz="2000" b="1" dirty="0">
                <a:latin typeface="Arial"/>
                <a:cs typeface="Arial"/>
              </a:rPr>
              <a:t>chips if possible (like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memory)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Reduce </a:t>
            </a:r>
            <a:r>
              <a:rPr sz="2000" b="1" spc="-10" dirty="0">
                <a:latin typeface="Arial"/>
                <a:cs typeface="Arial"/>
              </a:rPr>
              <a:t>yield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loss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1E006B5-3CE1-1E96-F3C6-272BC92CEEE5}"/>
              </a:ext>
            </a:extLst>
          </p:cNvPr>
          <p:cNvSpPr txBox="1"/>
          <p:nvPr/>
        </p:nvSpPr>
        <p:spPr>
          <a:xfrm>
            <a:off x="241198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Arial"/>
                <a:cs typeface="Arial"/>
              </a:rPr>
              <a:t>8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"/>
    </mc:Choice>
    <mc:Fallback xmlns="">
      <p:transition spd="slow" advTm="50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708" y="164414"/>
            <a:ext cx="79743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Testing 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is </a:t>
            </a: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Everyone’s</a:t>
            </a:r>
            <a:r>
              <a:rPr spc="-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B050"/>
                </a:solidFill>
                <a:latin typeface="Arial"/>
                <a:cs typeface="Arial"/>
              </a:rPr>
              <a:t>Responsibility</a:t>
            </a:r>
            <a:endParaRPr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39339" y="2311907"/>
            <a:ext cx="3489959" cy="3488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0064" y="4565396"/>
            <a:ext cx="2116455" cy="1003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Helvetica"/>
                <a:cs typeface="Helvetica"/>
              </a:rPr>
              <a:t>EDA</a:t>
            </a:r>
            <a:endParaRPr sz="2800">
              <a:latin typeface="Helvetica"/>
              <a:cs typeface="Helvetica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z="1800" b="1" spc="-25" dirty="0">
                <a:solidFill>
                  <a:srgbClr val="0000FF"/>
                </a:solidFill>
                <a:latin typeface="Helvetica"/>
                <a:cs typeface="Helvetica"/>
              </a:rPr>
              <a:t>Auto.Test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Pat.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Gen.  Fault</a:t>
            </a:r>
            <a:r>
              <a:rPr sz="1800" b="1" spc="-25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simulation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2377" y="4711446"/>
            <a:ext cx="2285365" cy="1004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Helvetica"/>
                <a:cs typeface="Helvetica"/>
              </a:rPr>
              <a:t>Design</a:t>
            </a:r>
            <a:endParaRPr sz="2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Design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for</a:t>
            </a:r>
            <a:r>
              <a:rPr sz="1800" b="1" spc="-5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testability</a:t>
            </a:r>
            <a:endParaRPr sz="1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Built-in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self</a:t>
            </a:r>
            <a:r>
              <a:rPr sz="1800" b="1" spc="-25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test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7517" y="1606753"/>
            <a:ext cx="2566670" cy="1004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Helvetica"/>
                <a:cs typeface="Helvetica"/>
              </a:rPr>
              <a:t>Fabrication</a:t>
            </a:r>
            <a:endParaRPr sz="2800">
              <a:latin typeface="Helvetica"/>
              <a:cs typeface="Helvetica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sz="1800" b="1" spc="-15" dirty="0">
                <a:solidFill>
                  <a:srgbClr val="0000FF"/>
                </a:solidFill>
                <a:latin typeface="Helvetica"/>
                <a:cs typeface="Helvetica"/>
              </a:rPr>
              <a:t>Yield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improvement  Systematic defect</a:t>
            </a:r>
            <a:r>
              <a:rPr sz="1800" b="1" spc="-3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diag.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063" y="2982213"/>
            <a:ext cx="2475865" cy="1003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5" dirty="0">
                <a:latin typeface="Helvetica"/>
                <a:cs typeface="Helvetica"/>
              </a:rPr>
              <a:t>Test</a:t>
            </a:r>
            <a:r>
              <a:rPr sz="2800" b="1" spc="-25" dirty="0">
                <a:latin typeface="Helvetica"/>
                <a:cs typeface="Helvetica"/>
              </a:rPr>
              <a:t> </a:t>
            </a:r>
            <a:r>
              <a:rPr sz="2800" b="1" spc="-5" dirty="0">
                <a:latin typeface="Helvetica"/>
                <a:cs typeface="Helvetica"/>
              </a:rPr>
              <a:t>Engineer</a:t>
            </a:r>
            <a:endParaRPr sz="2800">
              <a:latin typeface="Helvetica"/>
              <a:cs typeface="Helvetica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sz="1800" b="1" spc="-35" dirty="0">
                <a:solidFill>
                  <a:srgbClr val="0000FF"/>
                </a:solidFill>
                <a:latin typeface="Helvetica"/>
                <a:cs typeface="Helvetica"/>
              </a:rPr>
              <a:t>Test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cost reduction  </a:t>
            </a:r>
            <a:r>
              <a:rPr sz="1800" b="1" spc="-35" dirty="0">
                <a:solidFill>
                  <a:srgbClr val="0000FF"/>
                </a:solidFill>
                <a:latin typeface="Helvetica"/>
                <a:cs typeface="Helvetica"/>
              </a:rPr>
              <a:t>Test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quality</a:t>
            </a:r>
            <a:r>
              <a:rPr sz="1800" b="1" spc="-15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assurance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3155" y="3355340"/>
            <a:ext cx="2094864" cy="1004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5" dirty="0">
                <a:latin typeface="Helvetica"/>
                <a:cs typeface="Helvetica"/>
              </a:rPr>
              <a:t>Test</a:t>
            </a:r>
            <a:r>
              <a:rPr sz="2800" b="1" spc="-60" dirty="0">
                <a:latin typeface="Helvetica"/>
                <a:cs typeface="Helvetica"/>
              </a:rPr>
              <a:t> </a:t>
            </a:r>
            <a:r>
              <a:rPr sz="2800" b="1" spc="-5" dirty="0">
                <a:latin typeface="Helvetica"/>
                <a:cs typeface="Helvetica"/>
              </a:rPr>
              <a:t>Service</a:t>
            </a:r>
            <a:endParaRPr sz="2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spc="-65" dirty="0">
                <a:solidFill>
                  <a:srgbClr val="0000FF"/>
                </a:solidFill>
                <a:latin typeface="Helvetica"/>
                <a:cs typeface="Helvetica"/>
              </a:rPr>
              <a:t>ATE</a:t>
            </a:r>
            <a:r>
              <a:rPr sz="1800" b="1" spc="3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maintenance</a:t>
            </a:r>
            <a:endParaRPr sz="1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40" dirty="0">
                <a:solidFill>
                  <a:srgbClr val="0000FF"/>
                </a:solidFill>
                <a:latin typeface="Helvetica"/>
                <a:cs typeface="Helvetica"/>
              </a:rPr>
              <a:t>Test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data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analysis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22676" y="3319271"/>
            <a:ext cx="1550670" cy="7871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22676" y="3745991"/>
            <a:ext cx="2003298" cy="787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32226" y="3412616"/>
            <a:ext cx="156273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Helvetica"/>
                <a:cs typeface="Helvetica"/>
              </a:rPr>
              <a:t>GOOD  </a:t>
            </a:r>
            <a:r>
              <a:rPr sz="2800" b="1" spc="-5" dirty="0">
                <a:latin typeface="Helvetica"/>
                <a:cs typeface="Helvetica"/>
              </a:rPr>
              <a:t>T</a:t>
            </a:r>
            <a:r>
              <a:rPr sz="2800" b="1" spc="-15" dirty="0">
                <a:latin typeface="Helvetica"/>
                <a:cs typeface="Helvetica"/>
              </a:rPr>
              <a:t>E</a:t>
            </a:r>
            <a:r>
              <a:rPr sz="2800" b="1" spc="-5" dirty="0">
                <a:latin typeface="Helvetica"/>
                <a:cs typeface="Helvetica"/>
              </a:rPr>
              <a:t>S</a:t>
            </a:r>
            <a:r>
              <a:rPr sz="2800" b="1" spc="-15" dirty="0">
                <a:latin typeface="Helvetica"/>
                <a:cs typeface="Helvetica"/>
              </a:rPr>
              <a:t>T</a:t>
            </a:r>
            <a:r>
              <a:rPr sz="2800" b="1" spc="-5" dirty="0">
                <a:latin typeface="Helvetica"/>
                <a:cs typeface="Helvetica"/>
              </a:rPr>
              <a:t>ING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798" y="6399903"/>
            <a:ext cx="41529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9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7173" y="5337149"/>
            <a:ext cx="1704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Helvetica"/>
                <a:cs typeface="Helvetica"/>
              </a:rPr>
              <a:t>Reliability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7173" y="5766917"/>
            <a:ext cx="2182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Burn-in  </a:t>
            </a:r>
            <a:r>
              <a:rPr sz="1800" b="1" spc="-10" dirty="0">
                <a:solidFill>
                  <a:srgbClr val="0000FF"/>
                </a:solidFill>
                <a:latin typeface="Helvetica"/>
                <a:cs typeface="Helvetica"/>
              </a:rPr>
              <a:t>Accelerated </a:t>
            </a: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life </a:t>
            </a:r>
            <a:r>
              <a:rPr sz="1800" b="1" spc="-5" dirty="0">
                <a:solidFill>
                  <a:srgbClr val="0000FF"/>
                </a:solidFill>
                <a:latin typeface="Helvetica"/>
                <a:cs typeface="Helvetica"/>
              </a:rPr>
              <a:t>test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43527" y="1562176"/>
            <a:ext cx="4277360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Helvetica"/>
                <a:cs typeface="Helvetica"/>
              </a:rPr>
              <a:t>Physical </a:t>
            </a:r>
            <a:r>
              <a:rPr sz="2800" b="1" spc="-5" dirty="0">
                <a:latin typeface="Helvetica"/>
                <a:cs typeface="Helvetica"/>
              </a:rPr>
              <a:t>Failure</a:t>
            </a:r>
            <a:r>
              <a:rPr sz="2800" b="1" spc="-6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Analysis</a:t>
            </a:r>
            <a:endParaRPr sz="2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b="1" dirty="0">
                <a:solidFill>
                  <a:srgbClr val="0000FF"/>
                </a:solidFill>
                <a:latin typeface="Helvetica"/>
                <a:cs typeface="Helvetica"/>
              </a:rPr>
              <a:t>Diagnosis</a:t>
            </a:r>
            <a:endParaRPr sz="1800">
              <a:latin typeface="Helvetica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"/>
    </mc:Choice>
    <mc:Fallback xmlns="">
      <p:transition spd="slow" advTm="45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2429510" cy="1808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What Is</a:t>
            </a:r>
            <a:r>
              <a:rPr sz="2000" b="1" spc="-114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Types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0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</a:t>
            </a:r>
            <a:r>
              <a:rPr sz="2000" b="1" spc="-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</a:t>
            </a:r>
            <a:r>
              <a:rPr sz="2000" b="1" spc="-4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Economics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39411" y="3247644"/>
            <a:ext cx="4119372" cy="2953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5798" y="6399903"/>
            <a:ext cx="5462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10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3"/>
    </mc:Choice>
    <mc:Fallback xmlns="">
      <p:transition spd="slow" advTm="74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4887" y="228600"/>
            <a:ext cx="4029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81893" y="1576843"/>
            <a:ext cx="28829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Testing (generally</a:t>
            </a:r>
            <a:r>
              <a:rPr sz="1750" spc="4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speaking)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4551" y="2295940"/>
            <a:ext cx="4633595" cy="0"/>
          </a:xfrm>
          <a:custGeom>
            <a:avLst/>
            <a:gdLst/>
            <a:ahLst/>
            <a:cxnLst/>
            <a:rect l="l" t="t" r="r" b="b"/>
            <a:pathLst>
              <a:path w="4633595">
                <a:moveTo>
                  <a:pt x="0" y="0"/>
                </a:moveTo>
                <a:lnTo>
                  <a:pt x="463301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0390" y="1865422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0"/>
                </a:moveTo>
                <a:lnTo>
                  <a:pt x="0" y="43051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18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039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3474" y="22959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521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2162" y="2590959"/>
            <a:ext cx="1125855" cy="5473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04470">
              <a:lnSpc>
                <a:spcPts val="2000"/>
              </a:lnSpc>
              <a:spcBef>
                <a:spcPts val="250"/>
              </a:spcBef>
            </a:pPr>
            <a:r>
              <a:rPr sz="1750" spc="-5" dirty="0">
                <a:latin typeface="Helvetica"/>
                <a:cs typeface="Helvetica"/>
              </a:rPr>
              <a:t>Design  </a:t>
            </a:r>
            <a:r>
              <a:rPr sz="1750" dirty="0">
                <a:latin typeface="Helvetica"/>
                <a:cs typeface="Helvetica"/>
              </a:rPr>
              <a:t>V</a:t>
            </a:r>
            <a:r>
              <a:rPr sz="1750" spc="-10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rification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9063" y="2562233"/>
            <a:ext cx="152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Explicit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9370" y="2590959"/>
            <a:ext cx="1819275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54940" marR="5080" indent="-142875">
              <a:lnSpc>
                <a:spcPts val="2010"/>
              </a:lnSpc>
              <a:spcBef>
                <a:spcPts val="244"/>
              </a:spcBef>
            </a:pPr>
            <a:r>
              <a:rPr sz="1750" spc="-5" dirty="0">
                <a:latin typeface="Helvetica"/>
                <a:cs typeface="Helvetica"/>
              </a:rPr>
              <a:t>Implicit Testing </a:t>
            </a:r>
            <a:r>
              <a:rPr sz="1750" dirty="0">
                <a:latin typeface="Helvetica"/>
                <a:cs typeface="Helvetica"/>
              </a:rPr>
              <a:t>Or  </a:t>
            </a:r>
            <a:r>
              <a:rPr sz="1750" spc="-5" dirty="0">
                <a:latin typeface="Helvetica"/>
                <a:cs typeface="Helvetica"/>
              </a:rPr>
              <a:t>On-line</a:t>
            </a:r>
            <a:r>
              <a:rPr sz="1750" spc="-2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56671" y="2878796"/>
            <a:ext cx="0" cy="833119"/>
          </a:xfrm>
          <a:custGeom>
            <a:avLst/>
            <a:gdLst/>
            <a:ahLst/>
            <a:cxnLst/>
            <a:rect l="l" t="t" r="r" b="b"/>
            <a:pathLst>
              <a:path h="833120">
                <a:moveTo>
                  <a:pt x="0" y="0"/>
                </a:moveTo>
                <a:lnTo>
                  <a:pt x="0" y="832864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0461" y="3670148"/>
            <a:ext cx="6316980" cy="0"/>
          </a:xfrm>
          <a:custGeom>
            <a:avLst/>
            <a:gdLst/>
            <a:ahLst/>
            <a:cxnLst/>
            <a:rect l="l" t="t" r="r" b="b"/>
            <a:pathLst>
              <a:path w="6316980">
                <a:moveTo>
                  <a:pt x="0" y="0"/>
                </a:moveTo>
                <a:lnTo>
                  <a:pt x="631640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046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667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65430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657" y="3977954"/>
            <a:ext cx="1645285" cy="5473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636270" marR="5080" indent="-624205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Ch</a:t>
            </a:r>
            <a:r>
              <a:rPr sz="1750" spc="-10" dirty="0">
                <a:latin typeface="Helvetica"/>
                <a:cs typeface="Helvetica"/>
              </a:rPr>
              <a:t>a</a:t>
            </a:r>
            <a:r>
              <a:rPr sz="1750" dirty="0">
                <a:latin typeface="Helvetica"/>
                <a:cs typeface="Helvetica"/>
              </a:rPr>
              <a:t>racterizati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94489" y="3965722"/>
            <a:ext cx="15849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Production</a:t>
            </a:r>
            <a:r>
              <a:rPr sz="1750" spc="-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53418" y="3963498"/>
            <a:ext cx="14719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Reliability</a:t>
            </a:r>
            <a:r>
              <a:rPr sz="1750" spc="-3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3145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96033" y="3964610"/>
            <a:ext cx="1497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Diagnosis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6507" y="5534085"/>
            <a:ext cx="8576945" cy="0"/>
          </a:xfrm>
          <a:custGeom>
            <a:avLst/>
            <a:gdLst/>
            <a:ahLst/>
            <a:cxnLst/>
            <a:rect l="l" t="t" r="r" b="b"/>
            <a:pathLst>
              <a:path w="8576945">
                <a:moveTo>
                  <a:pt x="0" y="0"/>
                </a:moveTo>
                <a:lnTo>
                  <a:pt x="8576743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7249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5664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50008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2098" y="5825953"/>
            <a:ext cx="61976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93345" marR="5080" indent="-8128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G</a:t>
            </a:r>
            <a:r>
              <a:rPr sz="1750" spc="5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oss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6812" y="5825953"/>
            <a:ext cx="14605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13715" marR="5080" indent="-50165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DC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412" y="5838166"/>
            <a:ext cx="14478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07365" marR="5080" indent="-49530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AC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94352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510933" y="5825953"/>
            <a:ext cx="84201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03835" marR="5080" indent="-191770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o</a:t>
            </a:r>
            <a:r>
              <a:rPr sz="1750" spc="-10" dirty="0">
                <a:latin typeface="Helvetica"/>
                <a:cs typeface="Helvetica"/>
              </a:rPr>
              <a:t>l</a:t>
            </a:r>
            <a:r>
              <a:rPr sz="1750" spc="5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an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70390" y="4280804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07280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64020" y="5810404"/>
            <a:ext cx="10883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Delay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1679" y="4673180"/>
            <a:ext cx="3172460" cy="0"/>
          </a:xfrm>
          <a:custGeom>
            <a:avLst/>
            <a:gdLst/>
            <a:ahLst/>
            <a:cxnLst/>
            <a:rect l="l" t="t" r="r" b="b"/>
            <a:pathLst>
              <a:path w="3172460">
                <a:moveTo>
                  <a:pt x="0" y="0"/>
                </a:moveTo>
                <a:lnTo>
                  <a:pt x="3172059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8016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91358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31533" y="46835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97841" y="4977614"/>
            <a:ext cx="11150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Wafer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370" y="4977614"/>
            <a:ext cx="13862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Package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80856" y="5266490"/>
            <a:ext cx="0" cy="264160"/>
          </a:xfrm>
          <a:custGeom>
            <a:avLst/>
            <a:gdLst/>
            <a:ahLst/>
            <a:cxnLst/>
            <a:rect l="l" t="t" r="r" b="b"/>
            <a:pathLst>
              <a:path h="264160">
                <a:moveTo>
                  <a:pt x="0" y="0"/>
                </a:moveTo>
                <a:lnTo>
                  <a:pt x="0" y="26390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77639" y="5294252"/>
            <a:ext cx="0" cy="236220"/>
          </a:xfrm>
          <a:custGeom>
            <a:avLst/>
            <a:gdLst/>
            <a:ahLst/>
            <a:cxnLst/>
            <a:rect l="l" t="t" r="r" b="b"/>
            <a:pathLst>
              <a:path h="236220">
                <a:moveTo>
                  <a:pt x="0" y="0"/>
                </a:moveTo>
                <a:lnTo>
                  <a:pt x="0" y="23614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63739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36607" y="5534085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923251" y="5523725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440759" y="5810404"/>
            <a:ext cx="64389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11760" marR="5080" indent="-9969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IDDQ,  </a:t>
            </a:r>
            <a:r>
              <a:rPr sz="1750" spc="-5" dirty="0">
                <a:latin typeface="Helvetica"/>
                <a:cs typeface="Helvetica"/>
              </a:rPr>
              <a:t>VLV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68277" y="5790407"/>
            <a:ext cx="105156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08610" marR="5080" indent="-29654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Fu</a:t>
            </a:r>
            <a:r>
              <a:rPr sz="1750" spc="-10" dirty="0">
                <a:latin typeface="Helvetica"/>
                <a:cs typeface="Helvetica"/>
              </a:rPr>
              <a:t>n</a:t>
            </a:r>
            <a:r>
              <a:rPr sz="1750" dirty="0">
                <a:latin typeface="Helvetica"/>
                <a:cs typeface="Helvetica"/>
              </a:rPr>
              <a:t>ctional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965430" y="4284510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31533" y="4673180"/>
            <a:ext cx="1169035" cy="0"/>
          </a:xfrm>
          <a:custGeom>
            <a:avLst/>
            <a:gdLst/>
            <a:ahLst/>
            <a:cxnLst/>
            <a:rect l="l" t="t" r="r" b="b"/>
            <a:pathLst>
              <a:path w="1169035">
                <a:moveTo>
                  <a:pt x="0" y="0"/>
                </a:moveTo>
                <a:lnTo>
                  <a:pt x="1168918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800451" y="467318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151614" y="4977614"/>
            <a:ext cx="379793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7650" algn="l"/>
                <a:tab pos="2510790" algn="l"/>
              </a:tabLst>
            </a:pPr>
            <a:r>
              <a:rPr sz="1750" dirty="0">
                <a:latin typeface="Helvetica"/>
                <a:cs typeface="Helvetica"/>
              </a:rPr>
              <a:t>System Test	</a:t>
            </a:r>
            <a:r>
              <a:rPr sz="1750" spc="-5" dirty="0">
                <a:latin typeface="Helvetica"/>
                <a:cs typeface="Helvetica"/>
              </a:rPr>
              <a:t>Burn-in	</a:t>
            </a:r>
            <a:r>
              <a:rPr sz="1750" dirty="0">
                <a:latin typeface="Helvetica"/>
                <a:cs typeface="Helvetica"/>
              </a:rPr>
              <a:t>Acc. Life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spc="-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77810" y="2545461"/>
            <a:ext cx="15227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don’t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worry</a:t>
            </a:r>
            <a:r>
              <a:rPr sz="1400" b="1" spc="-1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about 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names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too</a:t>
            </a:r>
            <a:r>
              <a:rPr sz="1400" b="1" spc="-7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much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52359" y="876300"/>
            <a:ext cx="1421892" cy="1645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15798" y="6399903"/>
            <a:ext cx="52838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F5B97A-A9EE-8554-63FD-1508D1941FB1}"/>
              </a:ext>
            </a:extLst>
          </p:cNvPr>
          <p:cNvSpPr/>
          <p:nvPr/>
        </p:nvSpPr>
        <p:spPr>
          <a:xfrm>
            <a:off x="49656" y="2180911"/>
            <a:ext cx="7018617" cy="1132659"/>
          </a:xfrm>
          <a:prstGeom prst="rect">
            <a:avLst/>
          </a:prstGeom>
          <a:noFill/>
          <a:ln w="381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2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"/>
    </mc:Choice>
    <mc:Fallback xmlns="">
      <p:transition spd="slow" advTm="6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52400"/>
            <a:ext cx="781710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00B050"/>
                </a:solidFill>
                <a:latin typeface="Arial"/>
                <a:cs typeface="Arial"/>
              </a:rPr>
              <a:t>Types of Tests from A High-Level</a:t>
            </a:r>
            <a:endParaRPr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3417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(1)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lang="en-US" sz="2000" b="1" dirty="0">
                <a:latin typeface="Arial"/>
                <a:cs typeface="Arial"/>
              </a:rPr>
              <a:t>sign verification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425" y="1326895"/>
            <a:ext cx="5533390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Logic design errors, </a:t>
            </a:r>
            <a:r>
              <a:rPr b="1" spc="-5" dirty="0">
                <a:latin typeface="Arial" panose="020B0604020202020204" pitchFamily="34" charset="0"/>
                <a:cs typeface="Arial" panose="020B0604020202020204" pitchFamily="34" charset="0"/>
              </a:rPr>
              <a:t>physical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b="1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224" y="1631735"/>
            <a:ext cx="6475375" cy="140551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(2) Explicit testing : test for defects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b="1" dirty="0">
                <a:latin typeface="Arial"/>
                <a:cs typeface="Arial"/>
              </a:rPr>
              <a:t>Mask problems, lithography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problem</a:t>
            </a:r>
            <a:endParaRPr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b="1" dirty="0">
                <a:latin typeface="Arial"/>
                <a:cs typeface="Arial"/>
              </a:rPr>
              <a:t>Particles or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scratches</a:t>
            </a:r>
            <a:endParaRPr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b="1" dirty="0">
                <a:latin typeface="Arial"/>
                <a:cs typeface="Arial"/>
              </a:rPr>
              <a:t>Bad manufacture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recipe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226" y="3095980"/>
            <a:ext cx="8759088" cy="205440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(3) Implicit or online testing : test for failure due to e</a:t>
            </a:r>
            <a:r>
              <a:rPr sz="2000" b="1" dirty="0">
                <a:latin typeface="Arial"/>
                <a:cs typeface="Arial"/>
              </a:rPr>
              <a:t>xternal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d</a:t>
            </a:r>
            <a:r>
              <a:rPr sz="2000" b="1" dirty="0">
                <a:latin typeface="Arial"/>
                <a:cs typeface="Arial"/>
              </a:rPr>
              <a:t>isturbance</a:t>
            </a:r>
            <a:r>
              <a:rPr lang="en-US" sz="2000" b="1" dirty="0">
                <a:latin typeface="Arial"/>
                <a:cs typeface="Arial"/>
              </a:rPr>
              <a:t> during normal operation</a:t>
            </a:r>
            <a:endParaRPr lang="en-US"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b="1" dirty="0">
                <a:latin typeface="Arial"/>
                <a:cs typeface="Arial"/>
              </a:rPr>
              <a:t>Electromagnetic</a:t>
            </a:r>
            <a:r>
              <a:rPr lang="en-US" b="1" spc="-4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interference</a:t>
            </a:r>
            <a:endParaRPr lang="en-US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b="1" dirty="0">
                <a:latin typeface="Arial"/>
                <a:cs typeface="Arial"/>
              </a:rPr>
              <a:t>Alpha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particles</a:t>
            </a:r>
            <a:endParaRPr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b="1" dirty="0">
                <a:latin typeface="Arial"/>
                <a:cs typeface="Arial"/>
              </a:rPr>
              <a:t>Power supply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disturbance</a:t>
            </a:r>
            <a:endParaRPr dirty="0">
              <a:latin typeface="Arial"/>
              <a:cs typeface="Arial"/>
            </a:endParaRPr>
          </a:p>
          <a:p>
            <a:pPr marL="299085" indent="-287020"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b="1" dirty="0">
                <a:latin typeface="Arial"/>
                <a:cs typeface="Arial"/>
              </a:rPr>
              <a:t>Why so many types of tests?</a:t>
            </a:r>
          </a:p>
        </p:txBody>
      </p:sp>
      <p:sp>
        <p:nvSpPr>
          <p:cNvPr id="8" name="object 8"/>
          <p:cNvSpPr/>
          <p:nvPr/>
        </p:nvSpPr>
        <p:spPr>
          <a:xfrm>
            <a:off x="154686" y="1710689"/>
            <a:ext cx="6021705" cy="1458595"/>
          </a:xfrm>
          <a:custGeom>
            <a:avLst/>
            <a:gdLst/>
            <a:ahLst/>
            <a:cxnLst/>
            <a:rect l="l" t="t" r="r" b="b"/>
            <a:pathLst>
              <a:path w="6021705" h="1458595">
                <a:moveTo>
                  <a:pt x="0" y="1458467"/>
                </a:moveTo>
                <a:lnTo>
                  <a:pt x="6021324" y="1458467"/>
                </a:lnTo>
                <a:lnTo>
                  <a:pt x="6021324" y="0"/>
                </a:lnTo>
                <a:lnTo>
                  <a:pt x="0" y="0"/>
                </a:lnTo>
                <a:lnTo>
                  <a:pt x="0" y="1458467"/>
                </a:lnTo>
                <a:close/>
              </a:path>
            </a:pathLst>
          </a:custGeom>
          <a:ln w="38099">
            <a:solidFill>
              <a:srgbClr val="FF00F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58533" y="2393061"/>
            <a:ext cx="1791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FF"/>
                </a:solidFill>
                <a:latin typeface="Helvetica"/>
                <a:cs typeface="Helvetica"/>
              </a:rPr>
              <a:t>Focus of</a:t>
            </a:r>
            <a:r>
              <a:rPr sz="2000" b="1" spc="-85" dirty="0">
                <a:solidFill>
                  <a:srgbClr val="FF00FF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FF00FF"/>
                </a:solidFill>
                <a:latin typeface="Helvetica"/>
                <a:cs typeface="Helvetica"/>
              </a:rPr>
              <a:t>class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798" y="6399903"/>
            <a:ext cx="47162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872" y="5378717"/>
            <a:ext cx="7882255" cy="52324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Because There Are Many Different</a:t>
            </a:r>
            <a:r>
              <a:rPr sz="2800" b="1" spc="1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Problems!</a:t>
            </a:r>
            <a:endParaRPr sz="2800" dirty="0">
              <a:latin typeface="Helvetica"/>
              <a:cs typeface="Helvetic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0"/>
    </mc:Choice>
    <mc:Fallback xmlns="">
      <p:transition spd="slow" advTm="1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107" y="2063495"/>
            <a:ext cx="1645920" cy="641985"/>
          </a:xfrm>
          <a:custGeom>
            <a:avLst/>
            <a:gdLst/>
            <a:ahLst/>
            <a:cxnLst/>
            <a:rect l="l" t="t" r="r" b="b"/>
            <a:pathLst>
              <a:path w="1645920" h="641985">
                <a:moveTo>
                  <a:pt x="0" y="641603"/>
                </a:moveTo>
                <a:lnTo>
                  <a:pt x="1645920" y="641603"/>
                </a:lnTo>
                <a:lnTo>
                  <a:pt x="1645920" y="0"/>
                </a:lnTo>
                <a:lnTo>
                  <a:pt x="0" y="0"/>
                </a:lnTo>
                <a:lnTo>
                  <a:pt x="0" y="641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15466" y="1018164"/>
            <a:ext cx="288734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Helvetica"/>
                <a:cs typeface="Helvetica"/>
              </a:rPr>
              <a:t>Testing (generally</a:t>
            </a:r>
            <a:r>
              <a:rPr sz="1750" spc="42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speaking)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6514" y="1738915"/>
            <a:ext cx="4637405" cy="0"/>
          </a:xfrm>
          <a:custGeom>
            <a:avLst/>
            <a:gdLst/>
            <a:ahLst/>
            <a:cxnLst/>
            <a:rect l="l" t="t" r="r" b="b"/>
            <a:pathLst>
              <a:path w="4637405">
                <a:moveTo>
                  <a:pt x="0" y="0"/>
                </a:moveTo>
                <a:lnTo>
                  <a:pt x="4637297" y="0"/>
                </a:lnTo>
              </a:path>
            </a:pathLst>
          </a:custGeom>
          <a:ln w="131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04825" y="1305516"/>
            <a:ext cx="0" cy="433705"/>
          </a:xfrm>
          <a:custGeom>
            <a:avLst/>
            <a:gdLst/>
            <a:ahLst/>
            <a:cxnLst/>
            <a:rect l="l" t="t" r="r" b="b"/>
            <a:pathLst>
              <a:path h="433705">
                <a:moveTo>
                  <a:pt x="0" y="0"/>
                </a:moveTo>
                <a:lnTo>
                  <a:pt x="0" y="43339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6514" y="1738915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60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04825" y="1738915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60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00246" y="1738915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60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1247" y="2065152"/>
            <a:ext cx="693420" cy="257175"/>
          </a:xfrm>
          <a:custGeom>
            <a:avLst/>
            <a:gdLst/>
            <a:ahLst/>
            <a:cxnLst/>
            <a:rect l="l" t="t" r="r" b="b"/>
            <a:pathLst>
              <a:path w="693419" h="257175">
                <a:moveTo>
                  <a:pt x="0" y="257012"/>
                </a:moveTo>
                <a:lnTo>
                  <a:pt x="692889" y="257012"/>
                </a:lnTo>
                <a:lnTo>
                  <a:pt x="692889" y="0"/>
                </a:lnTo>
                <a:lnTo>
                  <a:pt x="0" y="0"/>
                </a:lnTo>
                <a:lnTo>
                  <a:pt x="0" y="2570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063" y="2322146"/>
            <a:ext cx="1103630" cy="257175"/>
          </a:xfrm>
          <a:custGeom>
            <a:avLst/>
            <a:gdLst/>
            <a:ahLst/>
            <a:cxnLst/>
            <a:rect l="l" t="t" r="r" b="b"/>
            <a:pathLst>
              <a:path w="1103630" h="257175">
                <a:moveTo>
                  <a:pt x="0" y="257012"/>
                </a:moveTo>
                <a:lnTo>
                  <a:pt x="1103257" y="257012"/>
                </a:lnTo>
                <a:lnTo>
                  <a:pt x="1103257" y="0"/>
                </a:lnTo>
                <a:lnTo>
                  <a:pt x="0" y="0"/>
                </a:lnTo>
                <a:lnTo>
                  <a:pt x="0" y="2570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3363" y="2037040"/>
            <a:ext cx="1129665" cy="54864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05104">
              <a:lnSpc>
                <a:spcPts val="2010"/>
              </a:lnSpc>
              <a:spcBef>
                <a:spcPts val="250"/>
              </a:spcBef>
            </a:pPr>
            <a:r>
              <a:rPr sz="1750" spc="-5" dirty="0">
                <a:latin typeface="Helvetica"/>
                <a:cs typeface="Helvetica"/>
              </a:rPr>
              <a:t>Design  </a:t>
            </a:r>
            <a:r>
              <a:rPr sz="1750" spc="5" dirty="0">
                <a:latin typeface="Helvetica"/>
                <a:cs typeface="Helvetica"/>
              </a:rPr>
              <a:t>Ve</a:t>
            </a:r>
            <a:r>
              <a:rPr sz="1750" spc="-10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i</a:t>
            </a:r>
            <a:r>
              <a:rPr sz="1750" spc="10" dirty="0">
                <a:latin typeface="Helvetica"/>
                <a:cs typeface="Helvetica"/>
              </a:rPr>
              <a:t>f</a:t>
            </a:r>
            <a:r>
              <a:rPr sz="1750" dirty="0">
                <a:latin typeface="Helvetica"/>
                <a:cs typeface="Helvetica"/>
              </a:rPr>
              <a:t>i</a:t>
            </a:r>
            <a:r>
              <a:rPr sz="1750" spc="-25" dirty="0">
                <a:latin typeface="Helvetica"/>
                <a:cs typeface="Helvetica"/>
              </a:rPr>
              <a:t>c</a:t>
            </a:r>
            <a:r>
              <a:rPr sz="1750" dirty="0">
                <a:latin typeface="Helvetica"/>
                <a:cs typeface="Helvetica"/>
              </a:rPr>
              <a:t>ation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43266" y="2010300"/>
            <a:ext cx="152654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5" dirty="0">
                <a:latin typeface="Helvetica"/>
                <a:cs typeface="Helvetica"/>
              </a:rPr>
              <a:t>Explicit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spc="5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7176" y="2063495"/>
            <a:ext cx="2052955" cy="6419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5080" rIns="0" bIns="0" rtlCol="0">
            <a:spAutoFit/>
          </a:bodyPr>
          <a:lstStyle/>
          <a:p>
            <a:pPr marL="281940" marR="107950" indent="-142875">
              <a:lnSpc>
                <a:spcPts val="2010"/>
              </a:lnSpc>
              <a:spcBef>
                <a:spcPts val="40"/>
              </a:spcBef>
            </a:pPr>
            <a:r>
              <a:rPr sz="1750" dirty="0">
                <a:latin typeface="Helvetica"/>
                <a:cs typeface="Helvetica"/>
              </a:rPr>
              <a:t>Implicit Testing</a:t>
            </a:r>
            <a:r>
              <a:rPr sz="1750" spc="-80" dirty="0">
                <a:latin typeface="Helvetica"/>
                <a:cs typeface="Helvetica"/>
              </a:rPr>
              <a:t> </a:t>
            </a:r>
            <a:r>
              <a:rPr sz="1750" spc="5" dirty="0">
                <a:latin typeface="Helvetica"/>
                <a:cs typeface="Helvetica"/>
              </a:rPr>
              <a:t>Or  </a:t>
            </a:r>
            <a:r>
              <a:rPr sz="1750" dirty="0">
                <a:latin typeface="Helvetica"/>
                <a:cs typeface="Helvetica"/>
              </a:rPr>
              <a:t>On-line</a:t>
            </a:r>
            <a:r>
              <a:rPr sz="1750" spc="-3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1632" y="2324392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0"/>
                </a:moveTo>
                <a:lnTo>
                  <a:pt x="0" y="837829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2874" y="3121741"/>
            <a:ext cx="6322060" cy="0"/>
          </a:xfrm>
          <a:custGeom>
            <a:avLst/>
            <a:gdLst/>
            <a:ahLst/>
            <a:cxnLst/>
            <a:rect l="l" t="t" r="r" b="b"/>
            <a:pathLst>
              <a:path w="6322059">
                <a:moveTo>
                  <a:pt x="0" y="0"/>
                </a:moveTo>
                <a:lnTo>
                  <a:pt x="6322026" y="0"/>
                </a:lnTo>
              </a:path>
            </a:pathLst>
          </a:custGeom>
          <a:ln w="131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2874" y="3121741"/>
            <a:ext cx="0" cy="293370"/>
          </a:xfrm>
          <a:custGeom>
            <a:avLst/>
            <a:gdLst/>
            <a:ahLst/>
            <a:cxnLst/>
            <a:rect l="l" t="t" r="r" b="b"/>
            <a:pathLst>
              <a:path h="293370">
                <a:moveTo>
                  <a:pt x="0" y="0"/>
                </a:moveTo>
                <a:lnTo>
                  <a:pt x="0" y="293017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91632" y="3121741"/>
            <a:ext cx="0" cy="293370"/>
          </a:xfrm>
          <a:custGeom>
            <a:avLst/>
            <a:gdLst/>
            <a:ahLst/>
            <a:cxnLst/>
            <a:rect l="l" t="t" r="r" b="b"/>
            <a:pathLst>
              <a:path h="293370">
                <a:moveTo>
                  <a:pt x="0" y="0"/>
                </a:moveTo>
                <a:lnTo>
                  <a:pt x="0" y="293017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01659" y="3121741"/>
            <a:ext cx="0" cy="293370"/>
          </a:xfrm>
          <a:custGeom>
            <a:avLst/>
            <a:gdLst/>
            <a:ahLst/>
            <a:cxnLst/>
            <a:rect l="l" t="t" r="r" b="b"/>
            <a:pathLst>
              <a:path h="293370">
                <a:moveTo>
                  <a:pt x="0" y="0"/>
                </a:moveTo>
                <a:lnTo>
                  <a:pt x="0" y="293017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1843" y="3433050"/>
            <a:ext cx="1648460" cy="5505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38175" marR="5080" indent="-626110">
              <a:lnSpc>
                <a:spcPts val="2020"/>
              </a:lnSpc>
              <a:spcBef>
                <a:spcPts val="240"/>
              </a:spcBef>
            </a:pPr>
            <a:r>
              <a:rPr sz="1750" spc="-5" dirty="0">
                <a:latin typeface="Helvetica"/>
                <a:cs typeface="Helvetica"/>
              </a:rPr>
              <a:t>C</a:t>
            </a:r>
            <a:r>
              <a:rPr sz="1750" dirty="0">
                <a:latin typeface="Helvetica"/>
                <a:cs typeface="Helvetica"/>
              </a:rPr>
              <a:t>h</a:t>
            </a:r>
            <a:r>
              <a:rPr sz="1750" spc="5" dirty="0">
                <a:latin typeface="Helvetica"/>
                <a:cs typeface="Helvetica"/>
              </a:rPr>
              <a:t>a</a:t>
            </a:r>
            <a:r>
              <a:rPr sz="1750" spc="-10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act</a:t>
            </a:r>
            <a:r>
              <a:rPr sz="1750" spc="5" dirty="0">
                <a:latin typeface="Helvetica"/>
                <a:cs typeface="Helvetica"/>
              </a:rPr>
              <a:t>e</a:t>
            </a:r>
            <a:r>
              <a:rPr sz="1750" spc="-10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i</a:t>
            </a:r>
            <a:r>
              <a:rPr sz="1750" spc="-25" dirty="0">
                <a:latin typeface="Helvetica"/>
                <a:cs typeface="Helvetica"/>
              </a:rPr>
              <a:t>z</a:t>
            </a:r>
            <a:r>
              <a:rPr sz="1750" dirty="0">
                <a:latin typeface="Helvetica"/>
                <a:cs typeface="Helvetica"/>
              </a:rPr>
              <a:t>ation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9544" y="3419866"/>
            <a:ext cx="158623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Helvetica"/>
                <a:cs typeface="Helvetica"/>
              </a:rPr>
              <a:t>Production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89157" y="3415410"/>
            <a:ext cx="147574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Helvetica"/>
                <a:cs typeface="Helvetica"/>
              </a:rPr>
              <a:t>Reliability</a:t>
            </a:r>
            <a:r>
              <a:rPr sz="1750" spc="-80" dirty="0">
                <a:latin typeface="Helvetica"/>
                <a:cs typeface="Helvetica"/>
              </a:rPr>
              <a:t> </a:t>
            </a:r>
            <a:r>
              <a:rPr sz="1750" spc="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71707" y="3121741"/>
            <a:ext cx="0" cy="293370"/>
          </a:xfrm>
          <a:custGeom>
            <a:avLst/>
            <a:gdLst/>
            <a:ahLst/>
            <a:cxnLst/>
            <a:rect l="l" t="t" r="r" b="b"/>
            <a:pathLst>
              <a:path h="293370">
                <a:moveTo>
                  <a:pt x="0" y="0"/>
                </a:moveTo>
                <a:lnTo>
                  <a:pt x="0" y="293017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437064" y="3419866"/>
            <a:ext cx="150050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Helvetica"/>
                <a:cs typeface="Helvetica"/>
              </a:rPr>
              <a:t>Diagnosis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7518" y="4996365"/>
            <a:ext cx="8586470" cy="0"/>
          </a:xfrm>
          <a:custGeom>
            <a:avLst/>
            <a:gdLst/>
            <a:ahLst/>
            <a:cxnLst/>
            <a:rect l="l" t="t" r="r" b="b"/>
            <a:pathLst>
              <a:path w="8586470">
                <a:moveTo>
                  <a:pt x="0" y="0"/>
                </a:moveTo>
                <a:lnTo>
                  <a:pt x="8585848" y="0"/>
                </a:lnTo>
              </a:path>
            </a:pathLst>
          </a:custGeom>
          <a:ln w="131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9804" y="4991816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39884" y="4991816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86288" y="4991816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5604" y="5289922"/>
            <a:ext cx="621030" cy="5505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2710" marR="5080" indent="-80645">
              <a:lnSpc>
                <a:spcPts val="2020"/>
              </a:lnSpc>
              <a:spcBef>
                <a:spcPts val="240"/>
              </a:spcBef>
            </a:pPr>
            <a:r>
              <a:rPr sz="1750" spc="5" dirty="0">
                <a:latin typeface="Helvetica"/>
                <a:cs typeface="Helvetica"/>
              </a:rPr>
              <a:t>G</a:t>
            </a:r>
            <a:r>
              <a:rPr sz="1750" spc="-10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oss  </a:t>
            </a:r>
            <a:r>
              <a:rPr sz="1750" spc="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1379" y="5289922"/>
            <a:ext cx="1463675" cy="54800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13715" marR="5080" indent="-501650">
              <a:lnSpc>
                <a:spcPts val="201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DC</a:t>
            </a:r>
            <a:r>
              <a:rPr sz="1750" spc="-8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</a:t>
            </a:r>
            <a:r>
              <a:rPr sz="1750" spc="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78245" y="5303106"/>
            <a:ext cx="1451610" cy="5505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09270" marR="5080" indent="-497205">
              <a:lnSpc>
                <a:spcPts val="2020"/>
              </a:lnSpc>
              <a:spcBef>
                <a:spcPts val="240"/>
              </a:spcBef>
            </a:pPr>
            <a:r>
              <a:rPr sz="1750" spc="5" dirty="0">
                <a:latin typeface="Helvetica"/>
                <a:cs typeface="Helvetica"/>
              </a:rPr>
              <a:t>AC</a:t>
            </a:r>
            <a:r>
              <a:rPr sz="1750" spc="-8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</a:t>
            </a:r>
            <a:r>
              <a:rPr sz="1750" spc="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30276" y="4991816"/>
            <a:ext cx="0" cy="295275"/>
          </a:xfrm>
          <a:custGeom>
            <a:avLst/>
            <a:gdLst/>
            <a:ahLst/>
            <a:cxnLst/>
            <a:rect l="l" t="t" r="r" b="b"/>
            <a:pathLst>
              <a:path h="295275">
                <a:moveTo>
                  <a:pt x="0" y="0"/>
                </a:moveTo>
                <a:lnTo>
                  <a:pt x="0" y="294762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545405" y="5289922"/>
            <a:ext cx="843915" cy="54800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06375" marR="5080" indent="-194310">
              <a:lnSpc>
                <a:spcPts val="2010"/>
              </a:lnSpc>
              <a:spcBef>
                <a:spcPts val="250"/>
              </a:spcBef>
            </a:pPr>
            <a:r>
              <a:rPr sz="1750" spc="5" dirty="0">
                <a:latin typeface="Helvetica"/>
                <a:cs typeface="Helvetica"/>
              </a:rPr>
              <a:t>Bo</a:t>
            </a:r>
            <a:r>
              <a:rPr sz="1750" dirty="0">
                <a:latin typeface="Helvetica"/>
                <a:cs typeface="Helvetica"/>
              </a:rPr>
              <a:t>ol</a:t>
            </a:r>
            <a:r>
              <a:rPr sz="1750" spc="-15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an  </a:t>
            </a:r>
            <a:r>
              <a:rPr sz="1750" spc="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04825" y="3736372"/>
            <a:ext cx="0" cy="391160"/>
          </a:xfrm>
          <a:custGeom>
            <a:avLst/>
            <a:gdLst/>
            <a:ahLst/>
            <a:cxnLst/>
            <a:rect l="l" t="t" r="r" b="b"/>
            <a:pathLst>
              <a:path h="391160">
                <a:moveTo>
                  <a:pt x="0" y="0"/>
                </a:moveTo>
                <a:lnTo>
                  <a:pt x="0" y="39070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44460" y="4991816"/>
            <a:ext cx="0" cy="295275"/>
          </a:xfrm>
          <a:custGeom>
            <a:avLst/>
            <a:gdLst/>
            <a:ahLst/>
            <a:cxnLst/>
            <a:rect l="l" t="t" r="r" b="b"/>
            <a:pathLst>
              <a:path h="295275">
                <a:moveTo>
                  <a:pt x="0" y="0"/>
                </a:moveTo>
                <a:lnTo>
                  <a:pt x="0" y="294762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801927" y="5274009"/>
            <a:ext cx="109220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Helvetica"/>
                <a:cs typeface="Helvetica"/>
              </a:rPr>
              <a:t>Delay</a:t>
            </a:r>
            <a:r>
              <a:rPr sz="1750" spc="-85" dirty="0">
                <a:latin typeface="Helvetica"/>
                <a:cs typeface="Helvetica"/>
              </a:rPr>
              <a:t> </a:t>
            </a:r>
            <a:r>
              <a:rPr sz="1750" spc="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23378" y="4129346"/>
            <a:ext cx="3175635" cy="0"/>
          </a:xfrm>
          <a:custGeom>
            <a:avLst/>
            <a:gdLst/>
            <a:ahLst/>
            <a:cxnLst/>
            <a:rect l="l" t="t" r="r" b="b"/>
            <a:pathLst>
              <a:path w="3175635">
                <a:moveTo>
                  <a:pt x="0" y="0"/>
                </a:moveTo>
                <a:lnTo>
                  <a:pt x="3175033" y="0"/>
                </a:lnTo>
              </a:path>
            </a:pathLst>
          </a:custGeom>
          <a:ln w="131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61137" y="4140729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25120" y="4140729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67181" y="4140729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31612" y="4436569"/>
            <a:ext cx="111760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Helvetica"/>
                <a:cs typeface="Helvetica"/>
              </a:rPr>
              <a:t>Wafer</a:t>
            </a:r>
            <a:r>
              <a:rPr sz="1750" spc="-8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15023" y="4436569"/>
            <a:ext cx="138811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Helvetica"/>
                <a:cs typeface="Helvetica"/>
              </a:rPr>
              <a:t>Package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12637" y="4726151"/>
            <a:ext cx="0" cy="266065"/>
          </a:xfrm>
          <a:custGeom>
            <a:avLst/>
            <a:gdLst/>
            <a:ahLst/>
            <a:cxnLst/>
            <a:rect l="l" t="t" r="r" b="b"/>
            <a:pathLst>
              <a:path h="266064">
                <a:moveTo>
                  <a:pt x="0" y="0"/>
                </a:moveTo>
                <a:lnTo>
                  <a:pt x="0" y="265665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211369" y="4754821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6994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98411" y="4140729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675440" y="4996365"/>
            <a:ext cx="0" cy="292735"/>
          </a:xfrm>
          <a:custGeom>
            <a:avLst/>
            <a:gdLst/>
            <a:ahLst/>
            <a:cxnLst/>
            <a:rect l="l" t="t" r="r" b="b"/>
            <a:pathLst>
              <a:path h="292735">
                <a:moveTo>
                  <a:pt x="0" y="0"/>
                </a:moveTo>
                <a:lnTo>
                  <a:pt x="0" y="292478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63366" y="4984983"/>
            <a:ext cx="0" cy="295275"/>
          </a:xfrm>
          <a:custGeom>
            <a:avLst/>
            <a:gdLst/>
            <a:ahLst/>
            <a:cxnLst/>
            <a:rect l="l" t="t" r="r" b="b"/>
            <a:pathLst>
              <a:path h="295275">
                <a:moveTo>
                  <a:pt x="0" y="0"/>
                </a:moveTo>
                <a:lnTo>
                  <a:pt x="0" y="295227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482955" y="5276274"/>
            <a:ext cx="645160" cy="5505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09855" marR="5080" indent="-97790">
              <a:lnSpc>
                <a:spcPts val="2020"/>
              </a:lnSpc>
              <a:spcBef>
                <a:spcPts val="240"/>
              </a:spcBef>
            </a:pPr>
            <a:r>
              <a:rPr sz="1750" dirty="0">
                <a:latin typeface="Helvetica"/>
                <a:cs typeface="Helvetica"/>
              </a:rPr>
              <a:t>ID</a:t>
            </a:r>
            <a:r>
              <a:rPr sz="1750" spc="-5" dirty="0">
                <a:latin typeface="Helvetica"/>
                <a:cs typeface="Helvetica"/>
              </a:rPr>
              <a:t>D</a:t>
            </a:r>
            <a:r>
              <a:rPr sz="1750" dirty="0">
                <a:latin typeface="Helvetica"/>
                <a:cs typeface="Helvetica"/>
              </a:rPr>
              <a:t>Q,  </a:t>
            </a:r>
            <a:r>
              <a:rPr sz="1750" spc="5" dirty="0">
                <a:latin typeface="Helvetica"/>
                <a:cs typeface="Helvetica"/>
              </a:rPr>
              <a:t>VLV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08064" y="5256257"/>
            <a:ext cx="1054735" cy="5505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08610" marR="5080" indent="-296545">
              <a:lnSpc>
                <a:spcPts val="2020"/>
              </a:lnSpc>
              <a:spcBef>
                <a:spcPts val="240"/>
              </a:spcBef>
            </a:pPr>
            <a:r>
              <a:rPr sz="1750" dirty="0">
                <a:latin typeface="Helvetica"/>
                <a:cs typeface="Helvetica"/>
              </a:rPr>
              <a:t>Functio</a:t>
            </a:r>
            <a:r>
              <a:rPr sz="1750" spc="-15" dirty="0">
                <a:latin typeface="Helvetica"/>
                <a:cs typeface="Helvetica"/>
              </a:rPr>
              <a:t>n</a:t>
            </a:r>
            <a:r>
              <a:rPr sz="1750" dirty="0">
                <a:latin typeface="Helvetica"/>
                <a:cs typeface="Helvetica"/>
              </a:rPr>
              <a:t>al  </a:t>
            </a:r>
            <a:r>
              <a:rPr sz="1750" spc="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001659" y="3738600"/>
            <a:ext cx="0" cy="391160"/>
          </a:xfrm>
          <a:custGeom>
            <a:avLst/>
            <a:gdLst/>
            <a:ahLst/>
            <a:cxnLst/>
            <a:rect l="l" t="t" r="r" b="b"/>
            <a:pathLst>
              <a:path h="391160">
                <a:moveTo>
                  <a:pt x="0" y="0"/>
                </a:moveTo>
                <a:lnTo>
                  <a:pt x="0" y="390745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667181" y="4129346"/>
            <a:ext cx="1170305" cy="0"/>
          </a:xfrm>
          <a:custGeom>
            <a:avLst/>
            <a:gdLst/>
            <a:ahLst/>
            <a:cxnLst/>
            <a:rect l="l" t="t" r="r" b="b"/>
            <a:pathLst>
              <a:path w="1170304">
                <a:moveTo>
                  <a:pt x="0" y="0"/>
                </a:moveTo>
                <a:lnTo>
                  <a:pt x="1169744" y="0"/>
                </a:lnTo>
              </a:path>
            </a:pathLst>
          </a:custGeom>
          <a:ln w="131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836925" y="4129346"/>
            <a:ext cx="0" cy="295275"/>
          </a:xfrm>
          <a:custGeom>
            <a:avLst/>
            <a:gdLst/>
            <a:ahLst/>
            <a:cxnLst/>
            <a:rect l="l" t="t" r="r" b="b"/>
            <a:pathLst>
              <a:path h="295275">
                <a:moveTo>
                  <a:pt x="0" y="0"/>
                </a:moveTo>
                <a:lnTo>
                  <a:pt x="0" y="295227"/>
                </a:lnTo>
              </a:path>
            </a:pathLst>
          </a:custGeom>
          <a:ln w="13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188167" y="4438835"/>
            <a:ext cx="38036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18920" algn="l"/>
                <a:tab pos="2512695" algn="l"/>
              </a:tabLst>
            </a:pPr>
            <a:r>
              <a:rPr sz="1750" dirty="0">
                <a:latin typeface="Helvetica"/>
                <a:cs typeface="Helvetica"/>
              </a:rPr>
              <a:t>System </a:t>
            </a:r>
            <a:r>
              <a:rPr sz="1750" spc="5" dirty="0">
                <a:latin typeface="Helvetica"/>
                <a:cs typeface="Helvetica"/>
              </a:rPr>
              <a:t>Test	</a:t>
            </a:r>
            <a:r>
              <a:rPr sz="1750" dirty="0">
                <a:latin typeface="Helvetica"/>
                <a:cs typeface="Helvetica"/>
              </a:rPr>
              <a:t>Burn-in	Acc. Life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2678683" y="164414"/>
            <a:ext cx="36582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746504" y="6073140"/>
            <a:ext cx="5651500" cy="46355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These </a:t>
            </a:r>
            <a:r>
              <a:rPr sz="2400" b="1" spc="-35" dirty="0">
                <a:solidFill>
                  <a:srgbClr val="FF0000"/>
                </a:solidFill>
                <a:latin typeface="Helvetica"/>
                <a:cs typeface="Helvetica"/>
              </a:rPr>
              <a:t>Topics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Are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NOT in This</a:t>
            </a:r>
            <a:r>
              <a:rPr sz="2400" b="1" spc="-10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Course</a:t>
            </a:r>
            <a:endParaRPr sz="24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62041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8352" y="164414"/>
            <a:ext cx="664658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00B050"/>
                </a:solidFill>
                <a:latin typeface="Arial"/>
                <a:cs typeface="Arial"/>
              </a:rPr>
              <a:t>Design Verification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22384" y="4462785"/>
            <a:ext cx="2086610" cy="1043305"/>
          </a:xfrm>
          <a:custGeom>
            <a:avLst/>
            <a:gdLst/>
            <a:ahLst/>
            <a:cxnLst/>
            <a:rect l="l" t="t" r="r" b="b"/>
            <a:pathLst>
              <a:path w="2086610" h="1043304">
                <a:moveTo>
                  <a:pt x="0" y="521473"/>
                </a:moveTo>
                <a:lnTo>
                  <a:pt x="7541" y="458451"/>
                </a:lnTo>
                <a:lnTo>
                  <a:pt x="29584" y="397658"/>
                </a:lnTo>
                <a:lnTo>
                  <a:pt x="65256" y="339531"/>
                </a:lnTo>
                <a:lnTo>
                  <a:pt x="113683" y="284506"/>
                </a:lnTo>
                <a:lnTo>
                  <a:pt x="142408" y="258294"/>
                </a:lnTo>
                <a:lnTo>
                  <a:pt x="173994" y="233021"/>
                </a:lnTo>
                <a:lnTo>
                  <a:pt x="208332" y="208742"/>
                </a:lnTo>
                <a:lnTo>
                  <a:pt x="245314" y="185511"/>
                </a:lnTo>
                <a:lnTo>
                  <a:pt x="284830" y="163384"/>
                </a:lnTo>
                <a:lnTo>
                  <a:pt x="326771" y="142415"/>
                </a:lnTo>
                <a:lnTo>
                  <a:pt x="371028" y="122657"/>
                </a:lnTo>
                <a:lnTo>
                  <a:pt x="417492" y="104167"/>
                </a:lnTo>
                <a:lnTo>
                  <a:pt x="466054" y="86998"/>
                </a:lnTo>
                <a:lnTo>
                  <a:pt x="516605" y="71205"/>
                </a:lnTo>
                <a:lnTo>
                  <a:pt x="569035" y="56843"/>
                </a:lnTo>
                <a:lnTo>
                  <a:pt x="623235" y="43966"/>
                </a:lnTo>
                <a:lnTo>
                  <a:pt x="679097" y="32629"/>
                </a:lnTo>
                <a:lnTo>
                  <a:pt x="736512" y="22886"/>
                </a:lnTo>
                <a:lnTo>
                  <a:pt x="795369" y="14793"/>
                </a:lnTo>
                <a:lnTo>
                  <a:pt x="855560" y="8403"/>
                </a:lnTo>
                <a:lnTo>
                  <a:pt x="916977" y="3771"/>
                </a:lnTo>
                <a:lnTo>
                  <a:pt x="979509" y="951"/>
                </a:lnTo>
                <a:lnTo>
                  <a:pt x="1043048" y="0"/>
                </a:lnTo>
                <a:lnTo>
                  <a:pt x="1106587" y="951"/>
                </a:lnTo>
                <a:lnTo>
                  <a:pt x="1169119" y="3771"/>
                </a:lnTo>
                <a:lnTo>
                  <a:pt x="1230537" y="8403"/>
                </a:lnTo>
                <a:lnTo>
                  <a:pt x="1290729" y="14793"/>
                </a:lnTo>
                <a:lnTo>
                  <a:pt x="1349588" y="22886"/>
                </a:lnTo>
                <a:lnTo>
                  <a:pt x="1407004" y="32629"/>
                </a:lnTo>
                <a:lnTo>
                  <a:pt x="1462868" y="43966"/>
                </a:lnTo>
                <a:lnTo>
                  <a:pt x="1517070" y="56843"/>
                </a:lnTo>
                <a:lnTo>
                  <a:pt x="1569503" y="71205"/>
                </a:lnTo>
                <a:lnTo>
                  <a:pt x="1620056" y="86998"/>
                </a:lnTo>
                <a:lnTo>
                  <a:pt x="1668620" y="104167"/>
                </a:lnTo>
                <a:lnTo>
                  <a:pt x="1715087" y="122657"/>
                </a:lnTo>
                <a:lnTo>
                  <a:pt x="1759346" y="142415"/>
                </a:lnTo>
                <a:lnTo>
                  <a:pt x="1801290" y="163384"/>
                </a:lnTo>
                <a:lnTo>
                  <a:pt x="1840808" y="185511"/>
                </a:lnTo>
                <a:lnTo>
                  <a:pt x="1877793" y="208742"/>
                </a:lnTo>
                <a:lnTo>
                  <a:pt x="1912133" y="233021"/>
                </a:lnTo>
                <a:lnTo>
                  <a:pt x="1943722" y="258294"/>
                </a:lnTo>
                <a:lnTo>
                  <a:pt x="1972448" y="284506"/>
                </a:lnTo>
                <a:lnTo>
                  <a:pt x="2020880" y="339531"/>
                </a:lnTo>
                <a:lnTo>
                  <a:pt x="2056554" y="397658"/>
                </a:lnTo>
                <a:lnTo>
                  <a:pt x="2078599" y="458451"/>
                </a:lnTo>
                <a:lnTo>
                  <a:pt x="2086142" y="521473"/>
                </a:lnTo>
                <a:lnTo>
                  <a:pt x="2084238" y="553235"/>
                </a:lnTo>
                <a:lnTo>
                  <a:pt x="2069335" y="615194"/>
                </a:lnTo>
                <a:lnTo>
                  <a:pt x="2040366" y="674704"/>
                </a:lnTo>
                <a:lnTo>
                  <a:pt x="1998204" y="731327"/>
                </a:lnTo>
                <a:lnTo>
                  <a:pt x="1943722" y="784628"/>
                </a:lnTo>
                <a:lnTo>
                  <a:pt x="1912133" y="809897"/>
                </a:lnTo>
                <a:lnTo>
                  <a:pt x="1877793" y="834171"/>
                </a:lnTo>
                <a:lnTo>
                  <a:pt x="1840808" y="857396"/>
                </a:lnTo>
                <a:lnTo>
                  <a:pt x="1801290" y="879519"/>
                </a:lnTo>
                <a:lnTo>
                  <a:pt x="1759346" y="900483"/>
                </a:lnTo>
                <a:lnTo>
                  <a:pt x="1715087" y="920235"/>
                </a:lnTo>
                <a:lnTo>
                  <a:pt x="1668620" y="938721"/>
                </a:lnTo>
                <a:lnTo>
                  <a:pt x="1620056" y="955885"/>
                </a:lnTo>
                <a:lnTo>
                  <a:pt x="1569503" y="971673"/>
                </a:lnTo>
                <a:lnTo>
                  <a:pt x="1517070" y="986031"/>
                </a:lnTo>
                <a:lnTo>
                  <a:pt x="1462868" y="998903"/>
                </a:lnTo>
                <a:lnTo>
                  <a:pt x="1407004" y="1010237"/>
                </a:lnTo>
                <a:lnTo>
                  <a:pt x="1349588" y="1019976"/>
                </a:lnTo>
                <a:lnTo>
                  <a:pt x="1290729" y="1028067"/>
                </a:lnTo>
                <a:lnTo>
                  <a:pt x="1230537" y="1034455"/>
                </a:lnTo>
                <a:lnTo>
                  <a:pt x="1169119" y="1039085"/>
                </a:lnTo>
                <a:lnTo>
                  <a:pt x="1106587" y="1041903"/>
                </a:lnTo>
                <a:lnTo>
                  <a:pt x="1043048" y="1042855"/>
                </a:lnTo>
                <a:lnTo>
                  <a:pt x="979509" y="1041903"/>
                </a:lnTo>
                <a:lnTo>
                  <a:pt x="916977" y="1039085"/>
                </a:lnTo>
                <a:lnTo>
                  <a:pt x="855560" y="1034455"/>
                </a:lnTo>
                <a:lnTo>
                  <a:pt x="795369" y="1028067"/>
                </a:lnTo>
                <a:lnTo>
                  <a:pt x="736512" y="1019976"/>
                </a:lnTo>
                <a:lnTo>
                  <a:pt x="679097" y="1010237"/>
                </a:lnTo>
                <a:lnTo>
                  <a:pt x="623235" y="998903"/>
                </a:lnTo>
                <a:lnTo>
                  <a:pt x="569035" y="986031"/>
                </a:lnTo>
                <a:lnTo>
                  <a:pt x="516605" y="971673"/>
                </a:lnTo>
                <a:lnTo>
                  <a:pt x="466054" y="955885"/>
                </a:lnTo>
                <a:lnTo>
                  <a:pt x="417492" y="938721"/>
                </a:lnTo>
                <a:lnTo>
                  <a:pt x="371028" y="920235"/>
                </a:lnTo>
                <a:lnTo>
                  <a:pt x="326771" y="900483"/>
                </a:lnTo>
                <a:lnTo>
                  <a:pt x="284830" y="879519"/>
                </a:lnTo>
                <a:lnTo>
                  <a:pt x="245314" y="857396"/>
                </a:lnTo>
                <a:lnTo>
                  <a:pt x="208332" y="834171"/>
                </a:lnTo>
                <a:lnTo>
                  <a:pt x="173994" y="809897"/>
                </a:lnTo>
                <a:lnTo>
                  <a:pt x="142408" y="784628"/>
                </a:lnTo>
                <a:lnTo>
                  <a:pt x="113684" y="758420"/>
                </a:lnTo>
                <a:lnTo>
                  <a:pt x="65256" y="703404"/>
                </a:lnTo>
                <a:lnTo>
                  <a:pt x="29584" y="645283"/>
                </a:lnTo>
                <a:lnTo>
                  <a:pt x="7541" y="584494"/>
                </a:lnTo>
                <a:lnTo>
                  <a:pt x="0" y="521473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4450" y="4421022"/>
            <a:ext cx="1741805" cy="8223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algn="ctr">
              <a:lnSpc>
                <a:spcPct val="101000"/>
              </a:lnSpc>
              <a:spcBef>
                <a:spcPts val="70"/>
              </a:spcBef>
            </a:pPr>
            <a:r>
              <a:rPr sz="1750" b="1" spc="-10" dirty="0">
                <a:latin typeface="Times New Roman"/>
                <a:cs typeface="Times New Roman"/>
              </a:rPr>
              <a:t>Specifications  </a:t>
            </a:r>
            <a:r>
              <a:rPr sz="1700" b="1" spc="10" dirty="0">
                <a:solidFill>
                  <a:srgbClr val="7E7E7E"/>
                </a:solidFill>
                <a:latin typeface="Times New Roman"/>
                <a:cs typeface="Times New Roman"/>
              </a:rPr>
              <a:t>description in  </a:t>
            </a:r>
            <a:r>
              <a:rPr sz="1750" b="1" spc="-10" dirty="0">
                <a:solidFill>
                  <a:srgbClr val="7E7E7E"/>
                </a:solidFill>
                <a:latin typeface="Times New Roman"/>
                <a:cs typeface="Times New Roman"/>
              </a:rPr>
              <a:t>sentences </a:t>
            </a:r>
            <a:r>
              <a:rPr sz="1750" b="1" spc="-5" dirty="0">
                <a:solidFill>
                  <a:srgbClr val="7E7E7E"/>
                </a:solidFill>
                <a:latin typeface="Times New Roman"/>
                <a:cs typeface="Times New Roman"/>
              </a:rPr>
              <a:t>or</a:t>
            </a:r>
            <a:r>
              <a:rPr sz="1750" b="1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750" b="1" spc="-15" dirty="0">
                <a:solidFill>
                  <a:srgbClr val="7E7E7E"/>
                </a:solidFill>
                <a:latin typeface="Times New Roman"/>
                <a:cs typeface="Times New Roman"/>
              </a:rPr>
              <a:t>codes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30028" y="4462785"/>
            <a:ext cx="2086610" cy="1043305"/>
          </a:xfrm>
          <a:custGeom>
            <a:avLst/>
            <a:gdLst/>
            <a:ahLst/>
            <a:cxnLst/>
            <a:rect l="l" t="t" r="r" b="b"/>
            <a:pathLst>
              <a:path w="2086610" h="1043304">
                <a:moveTo>
                  <a:pt x="0" y="521473"/>
                </a:moveTo>
                <a:lnTo>
                  <a:pt x="7541" y="458451"/>
                </a:lnTo>
                <a:lnTo>
                  <a:pt x="29582" y="397658"/>
                </a:lnTo>
                <a:lnTo>
                  <a:pt x="65251" y="339531"/>
                </a:lnTo>
                <a:lnTo>
                  <a:pt x="113676" y="284506"/>
                </a:lnTo>
                <a:lnTo>
                  <a:pt x="142399" y="258294"/>
                </a:lnTo>
                <a:lnTo>
                  <a:pt x="173984" y="233021"/>
                </a:lnTo>
                <a:lnTo>
                  <a:pt x="208322" y="208742"/>
                </a:lnTo>
                <a:lnTo>
                  <a:pt x="245303" y="185511"/>
                </a:lnTo>
                <a:lnTo>
                  <a:pt x="284818" y="163384"/>
                </a:lnTo>
                <a:lnTo>
                  <a:pt x="326759" y="142415"/>
                </a:lnTo>
                <a:lnTo>
                  <a:pt x="371017" y="122657"/>
                </a:lnTo>
                <a:lnTo>
                  <a:pt x="417482" y="104167"/>
                </a:lnTo>
                <a:lnTo>
                  <a:pt x="466045" y="86998"/>
                </a:lnTo>
                <a:lnTo>
                  <a:pt x="516598" y="71205"/>
                </a:lnTo>
                <a:lnTo>
                  <a:pt x="569031" y="56843"/>
                </a:lnTo>
                <a:lnTo>
                  <a:pt x="623234" y="43966"/>
                </a:lnTo>
                <a:lnTo>
                  <a:pt x="679100" y="32629"/>
                </a:lnTo>
                <a:lnTo>
                  <a:pt x="736520" y="22886"/>
                </a:lnTo>
                <a:lnTo>
                  <a:pt x="795383" y="14793"/>
                </a:lnTo>
                <a:lnTo>
                  <a:pt x="855581" y="8403"/>
                </a:lnTo>
                <a:lnTo>
                  <a:pt x="917004" y="3771"/>
                </a:lnTo>
                <a:lnTo>
                  <a:pt x="979545" y="951"/>
                </a:lnTo>
                <a:lnTo>
                  <a:pt x="1043094" y="0"/>
                </a:lnTo>
                <a:lnTo>
                  <a:pt x="1106632" y="951"/>
                </a:lnTo>
                <a:lnTo>
                  <a:pt x="1169164" y="3771"/>
                </a:lnTo>
                <a:lnTo>
                  <a:pt x="1230579" y="8403"/>
                </a:lnTo>
                <a:lnTo>
                  <a:pt x="1290770" y="14793"/>
                </a:lnTo>
                <a:lnTo>
                  <a:pt x="1349626" y="22886"/>
                </a:lnTo>
                <a:lnTo>
                  <a:pt x="1407038" y="32629"/>
                </a:lnTo>
                <a:lnTo>
                  <a:pt x="1462898" y="43966"/>
                </a:lnTo>
                <a:lnTo>
                  <a:pt x="1517097" y="56843"/>
                </a:lnTo>
                <a:lnTo>
                  <a:pt x="1569525" y="71205"/>
                </a:lnTo>
                <a:lnTo>
                  <a:pt x="1620073" y="86998"/>
                </a:lnTo>
                <a:lnTo>
                  <a:pt x="1668633" y="104167"/>
                </a:lnTo>
                <a:lnTo>
                  <a:pt x="1715094" y="122657"/>
                </a:lnTo>
                <a:lnTo>
                  <a:pt x="1759349" y="142415"/>
                </a:lnTo>
                <a:lnTo>
                  <a:pt x="1801287" y="163384"/>
                </a:lnTo>
                <a:lnTo>
                  <a:pt x="1840801" y="185511"/>
                </a:lnTo>
                <a:lnTo>
                  <a:pt x="1877780" y="208742"/>
                </a:lnTo>
                <a:lnTo>
                  <a:pt x="1912116" y="233021"/>
                </a:lnTo>
                <a:lnTo>
                  <a:pt x="1943700" y="258294"/>
                </a:lnTo>
                <a:lnTo>
                  <a:pt x="1972422" y="284506"/>
                </a:lnTo>
                <a:lnTo>
                  <a:pt x="2020845" y="339531"/>
                </a:lnTo>
                <a:lnTo>
                  <a:pt x="2056514" y="397658"/>
                </a:lnTo>
                <a:lnTo>
                  <a:pt x="2078555" y="458451"/>
                </a:lnTo>
                <a:lnTo>
                  <a:pt x="2086096" y="521473"/>
                </a:lnTo>
                <a:lnTo>
                  <a:pt x="2084192" y="553235"/>
                </a:lnTo>
                <a:lnTo>
                  <a:pt x="2069292" y="615194"/>
                </a:lnTo>
                <a:lnTo>
                  <a:pt x="2040328" y="674704"/>
                </a:lnTo>
                <a:lnTo>
                  <a:pt x="1998173" y="731327"/>
                </a:lnTo>
                <a:lnTo>
                  <a:pt x="1943700" y="784628"/>
                </a:lnTo>
                <a:lnTo>
                  <a:pt x="1912116" y="809897"/>
                </a:lnTo>
                <a:lnTo>
                  <a:pt x="1877780" y="834171"/>
                </a:lnTo>
                <a:lnTo>
                  <a:pt x="1840801" y="857396"/>
                </a:lnTo>
                <a:lnTo>
                  <a:pt x="1801287" y="879519"/>
                </a:lnTo>
                <a:lnTo>
                  <a:pt x="1759349" y="900483"/>
                </a:lnTo>
                <a:lnTo>
                  <a:pt x="1715094" y="920235"/>
                </a:lnTo>
                <a:lnTo>
                  <a:pt x="1668633" y="938721"/>
                </a:lnTo>
                <a:lnTo>
                  <a:pt x="1620073" y="955885"/>
                </a:lnTo>
                <a:lnTo>
                  <a:pt x="1569525" y="971673"/>
                </a:lnTo>
                <a:lnTo>
                  <a:pt x="1517097" y="986031"/>
                </a:lnTo>
                <a:lnTo>
                  <a:pt x="1462898" y="998903"/>
                </a:lnTo>
                <a:lnTo>
                  <a:pt x="1407038" y="1010237"/>
                </a:lnTo>
                <a:lnTo>
                  <a:pt x="1349626" y="1019976"/>
                </a:lnTo>
                <a:lnTo>
                  <a:pt x="1290770" y="1028067"/>
                </a:lnTo>
                <a:lnTo>
                  <a:pt x="1230579" y="1034455"/>
                </a:lnTo>
                <a:lnTo>
                  <a:pt x="1169164" y="1039085"/>
                </a:lnTo>
                <a:lnTo>
                  <a:pt x="1106632" y="1041903"/>
                </a:lnTo>
                <a:lnTo>
                  <a:pt x="1043094" y="1042855"/>
                </a:lnTo>
                <a:lnTo>
                  <a:pt x="979545" y="1041903"/>
                </a:lnTo>
                <a:lnTo>
                  <a:pt x="917005" y="1039085"/>
                </a:lnTo>
                <a:lnTo>
                  <a:pt x="855581" y="1034455"/>
                </a:lnTo>
                <a:lnTo>
                  <a:pt x="795383" y="1028067"/>
                </a:lnTo>
                <a:lnTo>
                  <a:pt x="736520" y="1019976"/>
                </a:lnTo>
                <a:lnTo>
                  <a:pt x="679100" y="1010237"/>
                </a:lnTo>
                <a:lnTo>
                  <a:pt x="623234" y="998903"/>
                </a:lnTo>
                <a:lnTo>
                  <a:pt x="569031" y="986031"/>
                </a:lnTo>
                <a:lnTo>
                  <a:pt x="516598" y="971673"/>
                </a:lnTo>
                <a:lnTo>
                  <a:pt x="466045" y="955885"/>
                </a:lnTo>
                <a:lnTo>
                  <a:pt x="417482" y="938721"/>
                </a:lnTo>
                <a:lnTo>
                  <a:pt x="371017" y="920235"/>
                </a:lnTo>
                <a:lnTo>
                  <a:pt x="326759" y="900483"/>
                </a:lnTo>
                <a:lnTo>
                  <a:pt x="284818" y="879519"/>
                </a:lnTo>
                <a:lnTo>
                  <a:pt x="245303" y="857396"/>
                </a:lnTo>
                <a:lnTo>
                  <a:pt x="208322" y="834171"/>
                </a:lnTo>
                <a:lnTo>
                  <a:pt x="173984" y="809897"/>
                </a:lnTo>
                <a:lnTo>
                  <a:pt x="142399" y="784628"/>
                </a:lnTo>
                <a:lnTo>
                  <a:pt x="113676" y="758420"/>
                </a:lnTo>
                <a:lnTo>
                  <a:pt x="65251" y="703404"/>
                </a:lnTo>
                <a:lnTo>
                  <a:pt x="29582" y="645283"/>
                </a:lnTo>
                <a:lnTo>
                  <a:pt x="7541" y="584494"/>
                </a:lnTo>
                <a:lnTo>
                  <a:pt x="0" y="521473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49689" y="4553736"/>
            <a:ext cx="1252855" cy="821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-2540" algn="ctr">
              <a:lnSpc>
                <a:spcPct val="101000"/>
              </a:lnSpc>
              <a:spcBef>
                <a:spcPts val="70"/>
              </a:spcBef>
            </a:pPr>
            <a:r>
              <a:rPr sz="175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Design  </a:t>
            </a:r>
            <a:r>
              <a:rPr sz="1700" b="1" spc="20" dirty="0">
                <a:solidFill>
                  <a:srgbClr val="538AD3"/>
                </a:solidFill>
                <a:latin typeface="Times New Roman"/>
                <a:cs typeface="Times New Roman"/>
              </a:rPr>
              <a:t>Co</a:t>
            </a:r>
            <a:r>
              <a:rPr sz="1700" b="1" spc="10" dirty="0">
                <a:solidFill>
                  <a:srgbClr val="538AD3"/>
                </a:solidFill>
                <a:latin typeface="Times New Roman"/>
                <a:cs typeface="Times New Roman"/>
              </a:rPr>
              <a:t>d</a:t>
            </a:r>
            <a:r>
              <a:rPr sz="1700" b="1" spc="20" dirty="0">
                <a:solidFill>
                  <a:srgbClr val="538AD3"/>
                </a:solidFill>
                <a:latin typeface="Times New Roman"/>
                <a:cs typeface="Times New Roman"/>
              </a:rPr>
              <a:t>e</a:t>
            </a:r>
            <a:r>
              <a:rPr sz="1700" b="1" spc="10" dirty="0">
                <a:solidFill>
                  <a:srgbClr val="538AD3"/>
                </a:solidFill>
                <a:latin typeface="Times New Roman"/>
                <a:cs typeface="Times New Roman"/>
              </a:rPr>
              <a:t>/</a:t>
            </a:r>
            <a:r>
              <a:rPr sz="1700" b="1" spc="25" dirty="0">
                <a:solidFill>
                  <a:srgbClr val="538AD3"/>
                </a:solidFill>
                <a:latin typeface="Times New Roman"/>
                <a:cs typeface="Times New Roman"/>
              </a:rPr>
              <a:t>Ne</a:t>
            </a:r>
            <a:r>
              <a:rPr sz="1700" b="1" spc="-5" dirty="0">
                <a:solidFill>
                  <a:srgbClr val="538AD3"/>
                </a:solidFill>
                <a:latin typeface="Times New Roman"/>
                <a:cs typeface="Times New Roman"/>
              </a:rPr>
              <a:t>t</a:t>
            </a:r>
            <a:r>
              <a:rPr sz="1700" b="1" spc="10" dirty="0">
                <a:solidFill>
                  <a:srgbClr val="538AD3"/>
                </a:solidFill>
                <a:latin typeface="Times New Roman"/>
                <a:cs typeface="Times New Roman"/>
              </a:rPr>
              <a:t>l</a:t>
            </a:r>
            <a:r>
              <a:rPr sz="1700" b="1" dirty="0">
                <a:solidFill>
                  <a:srgbClr val="538AD3"/>
                </a:solidFill>
                <a:latin typeface="Times New Roman"/>
                <a:cs typeface="Times New Roman"/>
              </a:rPr>
              <a:t>i</a:t>
            </a:r>
            <a:r>
              <a:rPr sz="1700" b="1" spc="30" dirty="0">
                <a:solidFill>
                  <a:srgbClr val="538AD3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538AD3"/>
                </a:solidFill>
                <a:latin typeface="Times New Roman"/>
                <a:cs typeface="Times New Roman"/>
              </a:rPr>
              <a:t>t</a:t>
            </a:r>
            <a:r>
              <a:rPr sz="1700" b="1" spc="10" dirty="0">
                <a:solidFill>
                  <a:srgbClr val="538AD3"/>
                </a:solidFill>
                <a:latin typeface="Times New Roman"/>
                <a:cs typeface="Times New Roman"/>
              </a:rPr>
              <a:t>/  </a:t>
            </a:r>
            <a:r>
              <a:rPr sz="1750" b="1" spc="-10" dirty="0">
                <a:solidFill>
                  <a:srgbClr val="538AD3"/>
                </a:solidFill>
                <a:latin typeface="Times New Roman"/>
                <a:cs typeface="Times New Roman"/>
              </a:rPr>
              <a:t>layout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37625" y="4462785"/>
            <a:ext cx="2086610" cy="1043305"/>
          </a:xfrm>
          <a:custGeom>
            <a:avLst/>
            <a:gdLst/>
            <a:ahLst/>
            <a:cxnLst/>
            <a:rect l="l" t="t" r="r" b="b"/>
            <a:pathLst>
              <a:path w="2086609" h="1043304">
                <a:moveTo>
                  <a:pt x="0" y="521473"/>
                </a:moveTo>
                <a:lnTo>
                  <a:pt x="7542" y="458451"/>
                </a:lnTo>
                <a:lnTo>
                  <a:pt x="29587" y="397658"/>
                </a:lnTo>
                <a:lnTo>
                  <a:pt x="65262" y="339531"/>
                </a:lnTo>
                <a:lnTo>
                  <a:pt x="113693" y="284506"/>
                </a:lnTo>
                <a:lnTo>
                  <a:pt x="142420" y="258294"/>
                </a:lnTo>
                <a:lnTo>
                  <a:pt x="174008" y="233021"/>
                </a:lnTo>
                <a:lnTo>
                  <a:pt x="208349" y="208742"/>
                </a:lnTo>
                <a:lnTo>
                  <a:pt x="245333" y="185511"/>
                </a:lnTo>
                <a:lnTo>
                  <a:pt x="284851" y="163384"/>
                </a:lnTo>
                <a:lnTo>
                  <a:pt x="326795" y="142415"/>
                </a:lnTo>
                <a:lnTo>
                  <a:pt x="371055" y="122657"/>
                </a:lnTo>
                <a:lnTo>
                  <a:pt x="417521" y="104167"/>
                </a:lnTo>
                <a:lnTo>
                  <a:pt x="466086" y="86998"/>
                </a:lnTo>
                <a:lnTo>
                  <a:pt x="516639" y="71205"/>
                </a:lnTo>
                <a:lnTo>
                  <a:pt x="569071" y="56843"/>
                </a:lnTo>
                <a:lnTo>
                  <a:pt x="623274" y="43966"/>
                </a:lnTo>
                <a:lnTo>
                  <a:pt x="679138" y="32629"/>
                </a:lnTo>
                <a:lnTo>
                  <a:pt x="736553" y="22886"/>
                </a:lnTo>
                <a:lnTo>
                  <a:pt x="795412" y="14793"/>
                </a:lnTo>
                <a:lnTo>
                  <a:pt x="855605" y="8403"/>
                </a:lnTo>
                <a:lnTo>
                  <a:pt x="917022" y="3771"/>
                </a:lnTo>
                <a:lnTo>
                  <a:pt x="979555" y="951"/>
                </a:lnTo>
                <a:lnTo>
                  <a:pt x="1043094" y="0"/>
                </a:lnTo>
                <a:lnTo>
                  <a:pt x="1106633" y="951"/>
                </a:lnTo>
                <a:lnTo>
                  <a:pt x="1169165" y="3771"/>
                </a:lnTo>
                <a:lnTo>
                  <a:pt x="1230583" y="8403"/>
                </a:lnTo>
                <a:lnTo>
                  <a:pt x="1290775" y="14793"/>
                </a:lnTo>
                <a:lnTo>
                  <a:pt x="1349634" y="22886"/>
                </a:lnTo>
                <a:lnTo>
                  <a:pt x="1407050" y="32629"/>
                </a:lnTo>
                <a:lnTo>
                  <a:pt x="1462914" y="43966"/>
                </a:lnTo>
                <a:lnTo>
                  <a:pt x="1517116" y="56843"/>
                </a:lnTo>
                <a:lnTo>
                  <a:pt x="1569549" y="71205"/>
                </a:lnTo>
                <a:lnTo>
                  <a:pt x="1620102" y="86998"/>
                </a:lnTo>
                <a:lnTo>
                  <a:pt x="1668666" y="104167"/>
                </a:lnTo>
                <a:lnTo>
                  <a:pt x="1715133" y="122657"/>
                </a:lnTo>
                <a:lnTo>
                  <a:pt x="1759392" y="142415"/>
                </a:lnTo>
                <a:lnTo>
                  <a:pt x="1801336" y="163384"/>
                </a:lnTo>
                <a:lnTo>
                  <a:pt x="1840854" y="185511"/>
                </a:lnTo>
                <a:lnTo>
                  <a:pt x="1877839" y="208742"/>
                </a:lnTo>
                <a:lnTo>
                  <a:pt x="1912179" y="233021"/>
                </a:lnTo>
                <a:lnTo>
                  <a:pt x="1943768" y="258294"/>
                </a:lnTo>
                <a:lnTo>
                  <a:pt x="1972494" y="284506"/>
                </a:lnTo>
                <a:lnTo>
                  <a:pt x="2020926" y="339531"/>
                </a:lnTo>
                <a:lnTo>
                  <a:pt x="2056600" y="397658"/>
                </a:lnTo>
                <a:lnTo>
                  <a:pt x="2078645" y="458451"/>
                </a:lnTo>
                <a:lnTo>
                  <a:pt x="2086188" y="521473"/>
                </a:lnTo>
                <a:lnTo>
                  <a:pt x="2084284" y="553235"/>
                </a:lnTo>
                <a:lnTo>
                  <a:pt x="2069381" y="615194"/>
                </a:lnTo>
                <a:lnTo>
                  <a:pt x="2040412" y="674704"/>
                </a:lnTo>
                <a:lnTo>
                  <a:pt x="1998250" y="731327"/>
                </a:lnTo>
                <a:lnTo>
                  <a:pt x="1943768" y="784628"/>
                </a:lnTo>
                <a:lnTo>
                  <a:pt x="1912179" y="809897"/>
                </a:lnTo>
                <a:lnTo>
                  <a:pt x="1877839" y="834171"/>
                </a:lnTo>
                <a:lnTo>
                  <a:pt x="1840854" y="857396"/>
                </a:lnTo>
                <a:lnTo>
                  <a:pt x="1801336" y="879519"/>
                </a:lnTo>
                <a:lnTo>
                  <a:pt x="1759392" y="900483"/>
                </a:lnTo>
                <a:lnTo>
                  <a:pt x="1715133" y="920235"/>
                </a:lnTo>
                <a:lnTo>
                  <a:pt x="1668666" y="938721"/>
                </a:lnTo>
                <a:lnTo>
                  <a:pt x="1620102" y="955885"/>
                </a:lnTo>
                <a:lnTo>
                  <a:pt x="1569549" y="971673"/>
                </a:lnTo>
                <a:lnTo>
                  <a:pt x="1517116" y="986031"/>
                </a:lnTo>
                <a:lnTo>
                  <a:pt x="1462914" y="998903"/>
                </a:lnTo>
                <a:lnTo>
                  <a:pt x="1407050" y="1010237"/>
                </a:lnTo>
                <a:lnTo>
                  <a:pt x="1349634" y="1019976"/>
                </a:lnTo>
                <a:lnTo>
                  <a:pt x="1290775" y="1028067"/>
                </a:lnTo>
                <a:lnTo>
                  <a:pt x="1230583" y="1034455"/>
                </a:lnTo>
                <a:lnTo>
                  <a:pt x="1169165" y="1039085"/>
                </a:lnTo>
                <a:lnTo>
                  <a:pt x="1106633" y="1041903"/>
                </a:lnTo>
                <a:lnTo>
                  <a:pt x="1043094" y="1042855"/>
                </a:lnTo>
                <a:lnTo>
                  <a:pt x="979555" y="1041903"/>
                </a:lnTo>
                <a:lnTo>
                  <a:pt x="917022" y="1039085"/>
                </a:lnTo>
                <a:lnTo>
                  <a:pt x="855605" y="1034455"/>
                </a:lnTo>
                <a:lnTo>
                  <a:pt x="795412" y="1028067"/>
                </a:lnTo>
                <a:lnTo>
                  <a:pt x="736553" y="1019976"/>
                </a:lnTo>
                <a:lnTo>
                  <a:pt x="679138" y="1010237"/>
                </a:lnTo>
                <a:lnTo>
                  <a:pt x="623274" y="998903"/>
                </a:lnTo>
                <a:lnTo>
                  <a:pt x="569071" y="986031"/>
                </a:lnTo>
                <a:lnTo>
                  <a:pt x="516639" y="971673"/>
                </a:lnTo>
                <a:lnTo>
                  <a:pt x="466086" y="955885"/>
                </a:lnTo>
                <a:lnTo>
                  <a:pt x="417521" y="938721"/>
                </a:lnTo>
                <a:lnTo>
                  <a:pt x="371055" y="920235"/>
                </a:lnTo>
                <a:lnTo>
                  <a:pt x="326795" y="900483"/>
                </a:lnTo>
                <a:lnTo>
                  <a:pt x="284852" y="879519"/>
                </a:lnTo>
                <a:lnTo>
                  <a:pt x="245333" y="857396"/>
                </a:lnTo>
                <a:lnTo>
                  <a:pt x="208349" y="834171"/>
                </a:lnTo>
                <a:lnTo>
                  <a:pt x="174008" y="809897"/>
                </a:lnTo>
                <a:lnTo>
                  <a:pt x="142420" y="784628"/>
                </a:lnTo>
                <a:lnTo>
                  <a:pt x="113693" y="758420"/>
                </a:lnTo>
                <a:lnTo>
                  <a:pt x="65262" y="703404"/>
                </a:lnTo>
                <a:lnTo>
                  <a:pt x="29587" y="645283"/>
                </a:lnTo>
                <a:lnTo>
                  <a:pt x="7542" y="584494"/>
                </a:lnTo>
                <a:lnTo>
                  <a:pt x="0" y="521473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15067" y="4553736"/>
            <a:ext cx="1539875" cy="821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750" b="1" spc="-10" dirty="0">
                <a:latin typeface="Times New Roman"/>
                <a:cs typeface="Times New Roman"/>
              </a:rPr>
              <a:t>Silicon</a:t>
            </a:r>
            <a:endParaRPr sz="175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40"/>
              </a:spcBef>
            </a:pPr>
            <a:r>
              <a:rPr sz="1700" b="1" spc="25" dirty="0">
                <a:solidFill>
                  <a:srgbClr val="7E7E7E"/>
                </a:solidFill>
                <a:latin typeface="Times New Roman"/>
                <a:cs typeface="Times New Roman"/>
              </a:rPr>
              <a:t>IC</a:t>
            </a:r>
            <a:r>
              <a:rPr sz="1700" b="1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700" b="1" spc="15" dirty="0">
                <a:solidFill>
                  <a:srgbClr val="7E7E7E"/>
                </a:solidFill>
                <a:latin typeface="Times New Roman"/>
                <a:cs typeface="Times New Roman"/>
              </a:rPr>
              <a:t>chips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750" b="1" spc="-10" dirty="0">
                <a:solidFill>
                  <a:srgbClr val="7E7E7E"/>
                </a:solidFill>
                <a:latin typeface="Times New Roman"/>
                <a:cs typeface="Times New Roman"/>
              </a:rPr>
              <a:t>Physical</a:t>
            </a:r>
            <a:r>
              <a:rPr sz="1750" b="1" spc="-8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7E7E7E"/>
                </a:solidFill>
                <a:latin typeface="Times New Roman"/>
                <a:cs typeface="Times New Roman"/>
              </a:rPr>
              <a:t>devices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65432" y="3941771"/>
            <a:ext cx="1903095" cy="521334"/>
          </a:xfrm>
          <a:custGeom>
            <a:avLst/>
            <a:gdLst/>
            <a:ahLst/>
            <a:cxnLst/>
            <a:rect l="l" t="t" r="r" b="b"/>
            <a:pathLst>
              <a:path w="1903095" h="521335">
                <a:moveTo>
                  <a:pt x="0" y="521013"/>
                </a:moveTo>
                <a:lnTo>
                  <a:pt x="135871" y="386184"/>
                </a:lnTo>
                <a:lnTo>
                  <a:pt x="271743" y="271497"/>
                </a:lnTo>
                <a:lnTo>
                  <a:pt x="407707" y="176951"/>
                </a:lnTo>
                <a:lnTo>
                  <a:pt x="543579" y="102455"/>
                </a:lnTo>
                <a:lnTo>
                  <a:pt x="679450" y="48192"/>
                </a:lnTo>
                <a:lnTo>
                  <a:pt x="815322" y="14071"/>
                </a:lnTo>
                <a:lnTo>
                  <a:pt x="951194" y="0"/>
                </a:lnTo>
                <a:lnTo>
                  <a:pt x="1087158" y="6162"/>
                </a:lnTo>
                <a:lnTo>
                  <a:pt x="1223030" y="32373"/>
                </a:lnTo>
                <a:lnTo>
                  <a:pt x="1358901" y="78818"/>
                </a:lnTo>
                <a:lnTo>
                  <a:pt x="1494773" y="145313"/>
                </a:lnTo>
                <a:lnTo>
                  <a:pt x="1630645" y="232041"/>
                </a:lnTo>
                <a:lnTo>
                  <a:pt x="1766517" y="338819"/>
                </a:lnTo>
                <a:lnTo>
                  <a:pt x="1902480" y="465739"/>
                </a:lnTo>
              </a:path>
            </a:pathLst>
          </a:custGeom>
          <a:ln w="20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28633" y="4369159"/>
            <a:ext cx="92710" cy="93980"/>
          </a:xfrm>
          <a:custGeom>
            <a:avLst/>
            <a:gdLst/>
            <a:ahLst/>
            <a:cxnLst/>
            <a:rect l="l" t="t" r="r" b="b"/>
            <a:pathLst>
              <a:path w="92710" h="93979">
                <a:moveTo>
                  <a:pt x="63198" y="0"/>
                </a:moveTo>
                <a:lnTo>
                  <a:pt x="0" y="60884"/>
                </a:lnTo>
                <a:lnTo>
                  <a:pt x="92543" y="93626"/>
                </a:lnTo>
                <a:lnTo>
                  <a:pt x="631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3122" y="3941771"/>
            <a:ext cx="1902460" cy="521334"/>
          </a:xfrm>
          <a:custGeom>
            <a:avLst/>
            <a:gdLst/>
            <a:ahLst/>
            <a:cxnLst/>
            <a:rect l="l" t="t" r="r" b="b"/>
            <a:pathLst>
              <a:path w="1902460" h="521335">
                <a:moveTo>
                  <a:pt x="0" y="521013"/>
                </a:moveTo>
                <a:lnTo>
                  <a:pt x="135871" y="386184"/>
                </a:lnTo>
                <a:lnTo>
                  <a:pt x="271743" y="271497"/>
                </a:lnTo>
                <a:lnTo>
                  <a:pt x="407615" y="176951"/>
                </a:lnTo>
                <a:lnTo>
                  <a:pt x="543487" y="102455"/>
                </a:lnTo>
                <a:lnTo>
                  <a:pt x="679358" y="48192"/>
                </a:lnTo>
                <a:lnTo>
                  <a:pt x="815322" y="14071"/>
                </a:lnTo>
                <a:lnTo>
                  <a:pt x="951194" y="0"/>
                </a:lnTo>
                <a:lnTo>
                  <a:pt x="1087066" y="6162"/>
                </a:lnTo>
                <a:lnTo>
                  <a:pt x="1222938" y="32373"/>
                </a:lnTo>
                <a:lnTo>
                  <a:pt x="1358809" y="78818"/>
                </a:lnTo>
                <a:lnTo>
                  <a:pt x="1494773" y="145313"/>
                </a:lnTo>
                <a:lnTo>
                  <a:pt x="1630645" y="232041"/>
                </a:lnTo>
                <a:lnTo>
                  <a:pt x="1766517" y="338819"/>
                </a:lnTo>
                <a:lnTo>
                  <a:pt x="1902388" y="465739"/>
                </a:lnTo>
              </a:path>
            </a:pathLst>
          </a:custGeom>
          <a:ln w="20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36323" y="4369159"/>
            <a:ext cx="92710" cy="93980"/>
          </a:xfrm>
          <a:custGeom>
            <a:avLst/>
            <a:gdLst/>
            <a:ahLst/>
            <a:cxnLst/>
            <a:rect l="l" t="t" r="r" b="b"/>
            <a:pathLst>
              <a:path w="92709" h="93979">
                <a:moveTo>
                  <a:pt x="63198" y="0"/>
                </a:moveTo>
                <a:lnTo>
                  <a:pt x="0" y="60884"/>
                </a:lnTo>
                <a:lnTo>
                  <a:pt x="92451" y="93626"/>
                </a:lnTo>
                <a:lnTo>
                  <a:pt x="631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0225" y="907795"/>
            <a:ext cx="9066175" cy="300723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Verification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Purpose : </a:t>
            </a:r>
            <a:r>
              <a:rPr sz="1800" b="1" spc="-5" dirty="0">
                <a:latin typeface="Arial"/>
                <a:cs typeface="Arial"/>
              </a:rPr>
              <a:t>check </a:t>
            </a:r>
            <a:r>
              <a:rPr sz="1800" b="1" dirty="0">
                <a:latin typeface="Arial"/>
                <a:cs typeface="Arial"/>
              </a:rPr>
              <a:t>if </a:t>
            </a:r>
            <a:r>
              <a:rPr sz="1800" b="1" spc="-5" dirty="0">
                <a:latin typeface="Arial"/>
                <a:cs typeface="Arial"/>
              </a:rPr>
              <a:t>design correctly implements specified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behavior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Done </a:t>
            </a:r>
            <a:r>
              <a:rPr sz="18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before </a:t>
            </a:r>
            <a:r>
              <a:rPr sz="1800" b="1" spc="-5" dirty="0">
                <a:latin typeface="Arial"/>
                <a:cs typeface="Arial"/>
              </a:rPr>
              <a:t>manufacture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catch </a:t>
            </a:r>
            <a:r>
              <a:rPr sz="1800" b="1" dirty="0">
                <a:latin typeface="Arial"/>
                <a:cs typeface="Arial"/>
              </a:rPr>
              <a:t>design </a:t>
            </a:r>
            <a:r>
              <a:rPr sz="1800" b="1" spc="-5" dirty="0">
                <a:latin typeface="Arial"/>
                <a:cs typeface="Arial"/>
              </a:rPr>
              <a:t>errors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bugs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10" dirty="0">
                <a:latin typeface="Arial"/>
                <a:cs typeface="Arial"/>
              </a:rPr>
              <a:t>Approaches: </a:t>
            </a:r>
            <a:r>
              <a:rPr sz="1800" b="1" spc="-5" dirty="0">
                <a:latin typeface="Arial"/>
                <a:cs typeface="Arial"/>
              </a:rPr>
              <a:t>simulation, formal verification,</a:t>
            </a:r>
            <a:r>
              <a:rPr sz="1800" b="1" spc="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Different from ex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plicit testing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1800" b="1" spc="-5" dirty="0">
                <a:latin typeface="Arial"/>
                <a:cs typeface="Arial"/>
              </a:rPr>
              <a:t>Explicit testing’s </a:t>
            </a:r>
            <a:r>
              <a:rPr lang="en-US" b="1" spc="-5" dirty="0">
                <a:latin typeface="Arial"/>
                <a:cs typeface="Arial"/>
              </a:rPr>
              <a:t>p</a:t>
            </a:r>
            <a:r>
              <a:rPr sz="1800" b="1" spc="-5" dirty="0">
                <a:latin typeface="Arial"/>
                <a:cs typeface="Arial"/>
              </a:rPr>
              <a:t>urpose: check </a:t>
            </a:r>
            <a:r>
              <a:rPr sz="1800" b="1" dirty="0">
                <a:latin typeface="Arial"/>
                <a:cs typeface="Arial"/>
              </a:rPr>
              <a:t>if IC is functioning </a:t>
            </a:r>
            <a:r>
              <a:rPr sz="1800" b="1" spc="-5" dirty="0">
                <a:latin typeface="Arial"/>
                <a:cs typeface="Arial"/>
              </a:rPr>
              <a:t>correct </a:t>
            </a:r>
            <a:r>
              <a:rPr sz="1800" b="1" dirty="0">
                <a:latin typeface="Arial"/>
                <a:cs typeface="Arial"/>
              </a:rPr>
              <a:t>or </a:t>
            </a:r>
            <a:r>
              <a:rPr lang="en-US" sz="1800" b="1" dirty="0">
                <a:latin typeface="Arial"/>
                <a:cs typeface="Arial"/>
              </a:rPr>
              <a:t>is </a:t>
            </a:r>
            <a:r>
              <a:rPr sz="1800" b="1" spc="-10" dirty="0">
                <a:latin typeface="Arial"/>
                <a:cs typeface="Arial"/>
              </a:rPr>
              <a:t>defective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1800" b="1" dirty="0">
                <a:latin typeface="Arial"/>
                <a:cs typeface="Arial"/>
              </a:rPr>
              <a:t>Explicit testing </a:t>
            </a:r>
            <a:r>
              <a:rPr lang="en-US" b="1" dirty="0">
                <a:latin typeface="Arial"/>
                <a:cs typeface="Arial"/>
              </a:rPr>
              <a:t>d</a:t>
            </a:r>
            <a:r>
              <a:rPr sz="1800" b="1" dirty="0">
                <a:latin typeface="Arial"/>
                <a:cs typeface="Arial"/>
              </a:rPr>
              <a:t>one </a:t>
            </a:r>
            <a:r>
              <a:rPr sz="18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after </a:t>
            </a:r>
            <a:r>
              <a:rPr sz="1800" b="1" spc="-5" dirty="0">
                <a:latin typeface="Arial"/>
                <a:cs typeface="Arial"/>
              </a:rPr>
              <a:t>manufacture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catch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defects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279015" algn="l"/>
              </a:tabLst>
            </a:pPr>
            <a:r>
              <a:rPr sz="1800" b="1" spc="-10" dirty="0">
                <a:latin typeface="Arial"/>
                <a:cs typeface="Arial"/>
              </a:rPr>
              <a:t>Approaches:	</a:t>
            </a:r>
            <a:r>
              <a:rPr sz="1800" b="1" spc="-5" dirty="0">
                <a:latin typeface="Arial"/>
                <a:cs typeface="Arial"/>
              </a:rPr>
              <a:t>apply test patterns </a:t>
            </a:r>
            <a:r>
              <a:rPr sz="1800" b="1" dirty="0">
                <a:latin typeface="Arial"/>
                <a:cs typeface="Arial"/>
              </a:rPr>
              <a:t>by </a:t>
            </a:r>
            <a:r>
              <a:rPr sz="1800" b="1" spc="-5" dirty="0">
                <a:latin typeface="Arial"/>
                <a:cs typeface="Arial"/>
              </a:rPr>
              <a:t>tester,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2413635">
              <a:lnSpc>
                <a:spcPct val="100000"/>
              </a:lnSpc>
              <a:spcBef>
                <a:spcPts val="844"/>
              </a:spcBef>
              <a:tabLst>
                <a:tab pos="4912360" algn="l"/>
              </a:tabLst>
            </a:pPr>
            <a:r>
              <a:rPr sz="1700" b="1" spc="15" dirty="0">
                <a:latin typeface="Times New Roman"/>
                <a:cs typeface="Times New Roman"/>
              </a:rPr>
              <a:t>design	manufacture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93577" y="5564409"/>
            <a:ext cx="1955800" cy="43815"/>
          </a:xfrm>
          <a:custGeom>
            <a:avLst/>
            <a:gdLst/>
            <a:ahLst/>
            <a:cxnLst/>
            <a:rect l="l" t="t" r="r" b="b"/>
            <a:pathLst>
              <a:path w="1955800" h="43814">
                <a:moveTo>
                  <a:pt x="1955744" y="0"/>
                </a:moveTo>
                <a:lnTo>
                  <a:pt x="1917383" y="20969"/>
                </a:lnTo>
                <a:lnTo>
                  <a:pt x="1949488" y="43226"/>
                </a:lnTo>
                <a:lnTo>
                  <a:pt x="1955744" y="0"/>
                </a:lnTo>
                <a:close/>
              </a:path>
              <a:path w="1955800" h="43814">
                <a:moveTo>
                  <a:pt x="0" y="0"/>
                </a:moveTo>
                <a:lnTo>
                  <a:pt x="6347" y="43226"/>
                </a:lnTo>
                <a:lnTo>
                  <a:pt x="38452" y="209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15931" y="5596507"/>
            <a:ext cx="1911350" cy="489584"/>
          </a:xfrm>
          <a:custGeom>
            <a:avLst/>
            <a:gdLst/>
            <a:ahLst/>
            <a:cxnLst/>
            <a:rect l="l" t="t" r="r" b="b"/>
            <a:pathLst>
              <a:path w="1911350" h="489585">
                <a:moveTo>
                  <a:pt x="1911128" y="0"/>
                </a:moveTo>
                <a:lnTo>
                  <a:pt x="1881961" y="38804"/>
                </a:lnTo>
                <a:lnTo>
                  <a:pt x="1851514" y="76070"/>
                </a:lnTo>
                <a:lnTo>
                  <a:pt x="1819838" y="111789"/>
                </a:lnTo>
                <a:lnTo>
                  <a:pt x="1786987" y="145953"/>
                </a:lnTo>
                <a:lnTo>
                  <a:pt x="1753013" y="178553"/>
                </a:lnTo>
                <a:lnTo>
                  <a:pt x="1717969" y="209580"/>
                </a:lnTo>
                <a:lnTo>
                  <a:pt x="1681909" y="239026"/>
                </a:lnTo>
                <a:lnTo>
                  <a:pt x="1644884" y="266882"/>
                </a:lnTo>
                <a:lnTo>
                  <a:pt x="1606949" y="293140"/>
                </a:lnTo>
                <a:lnTo>
                  <a:pt x="1568155" y="317791"/>
                </a:lnTo>
                <a:lnTo>
                  <a:pt x="1528556" y="340826"/>
                </a:lnTo>
                <a:lnTo>
                  <a:pt x="1488204" y="362237"/>
                </a:lnTo>
                <a:lnTo>
                  <a:pt x="1447153" y="382015"/>
                </a:lnTo>
                <a:lnTo>
                  <a:pt x="1405454" y="400151"/>
                </a:lnTo>
                <a:lnTo>
                  <a:pt x="1363162" y="416638"/>
                </a:lnTo>
                <a:lnTo>
                  <a:pt x="1320329" y="431466"/>
                </a:lnTo>
                <a:lnTo>
                  <a:pt x="1277007" y="444626"/>
                </a:lnTo>
                <a:lnTo>
                  <a:pt x="1233250" y="456111"/>
                </a:lnTo>
                <a:lnTo>
                  <a:pt x="1189110" y="465911"/>
                </a:lnTo>
                <a:lnTo>
                  <a:pt x="1144641" y="474019"/>
                </a:lnTo>
                <a:lnTo>
                  <a:pt x="1099895" y="480424"/>
                </a:lnTo>
                <a:lnTo>
                  <a:pt x="1054925" y="485119"/>
                </a:lnTo>
                <a:lnTo>
                  <a:pt x="1009783" y="488096"/>
                </a:lnTo>
                <a:lnTo>
                  <a:pt x="964524" y="489345"/>
                </a:lnTo>
                <a:lnTo>
                  <a:pt x="919199" y="488858"/>
                </a:lnTo>
                <a:lnTo>
                  <a:pt x="873862" y="486626"/>
                </a:lnTo>
                <a:lnTo>
                  <a:pt x="828564" y="482641"/>
                </a:lnTo>
                <a:lnTo>
                  <a:pt x="783360" y="476895"/>
                </a:lnTo>
                <a:lnTo>
                  <a:pt x="738302" y="469377"/>
                </a:lnTo>
                <a:lnTo>
                  <a:pt x="693443" y="460081"/>
                </a:lnTo>
                <a:lnTo>
                  <a:pt x="648836" y="448997"/>
                </a:lnTo>
                <a:lnTo>
                  <a:pt x="604533" y="436117"/>
                </a:lnTo>
                <a:lnTo>
                  <a:pt x="560588" y="421432"/>
                </a:lnTo>
                <a:lnTo>
                  <a:pt x="517053" y="404933"/>
                </a:lnTo>
                <a:lnTo>
                  <a:pt x="473981" y="386612"/>
                </a:lnTo>
                <a:lnTo>
                  <a:pt x="431425" y="366461"/>
                </a:lnTo>
                <a:lnTo>
                  <a:pt x="389438" y="344470"/>
                </a:lnTo>
                <a:lnTo>
                  <a:pt x="348073" y="320632"/>
                </a:lnTo>
                <a:lnTo>
                  <a:pt x="307383" y="294937"/>
                </a:lnTo>
                <a:lnTo>
                  <a:pt x="267419" y="267377"/>
                </a:lnTo>
                <a:lnTo>
                  <a:pt x="229415" y="238824"/>
                </a:lnTo>
                <a:lnTo>
                  <a:pt x="192634" y="208798"/>
                </a:lnTo>
                <a:lnTo>
                  <a:pt x="157119" y="177340"/>
                </a:lnTo>
                <a:lnTo>
                  <a:pt x="122912" y="144490"/>
                </a:lnTo>
                <a:lnTo>
                  <a:pt x="90054" y="110290"/>
                </a:lnTo>
                <a:lnTo>
                  <a:pt x="58588" y="74781"/>
                </a:lnTo>
                <a:lnTo>
                  <a:pt x="28556" y="38003"/>
                </a:lnTo>
                <a:lnTo>
                  <a:pt x="0" y="0"/>
                </a:lnTo>
              </a:path>
            </a:pathLst>
          </a:custGeom>
          <a:ln w="275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10960" y="5564409"/>
            <a:ext cx="38735" cy="43815"/>
          </a:xfrm>
          <a:custGeom>
            <a:avLst/>
            <a:gdLst/>
            <a:ahLst/>
            <a:cxnLst/>
            <a:rect l="l" t="t" r="r" b="b"/>
            <a:pathLst>
              <a:path w="38735" h="43814">
                <a:moveTo>
                  <a:pt x="16098" y="32097"/>
                </a:moveTo>
                <a:lnTo>
                  <a:pt x="0" y="20969"/>
                </a:lnTo>
                <a:lnTo>
                  <a:pt x="38360" y="0"/>
                </a:lnTo>
                <a:lnTo>
                  <a:pt x="32105" y="43226"/>
                </a:lnTo>
                <a:lnTo>
                  <a:pt x="16098" y="32097"/>
                </a:lnTo>
                <a:close/>
              </a:path>
            </a:pathLst>
          </a:custGeom>
          <a:ln w="2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93577" y="5564409"/>
            <a:ext cx="38735" cy="43815"/>
          </a:xfrm>
          <a:custGeom>
            <a:avLst/>
            <a:gdLst/>
            <a:ahLst/>
            <a:cxnLst/>
            <a:rect l="l" t="t" r="r" b="b"/>
            <a:pathLst>
              <a:path w="38735" h="43814">
                <a:moveTo>
                  <a:pt x="22353" y="32097"/>
                </a:moveTo>
                <a:lnTo>
                  <a:pt x="38452" y="20969"/>
                </a:lnTo>
                <a:lnTo>
                  <a:pt x="0" y="0"/>
                </a:lnTo>
                <a:lnTo>
                  <a:pt x="6347" y="43226"/>
                </a:lnTo>
                <a:lnTo>
                  <a:pt x="22353" y="32097"/>
                </a:lnTo>
                <a:close/>
              </a:path>
            </a:pathLst>
          </a:custGeom>
          <a:ln w="2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01267" y="5564409"/>
            <a:ext cx="1955800" cy="43815"/>
          </a:xfrm>
          <a:custGeom>
            <a:avLst/>
            <a:gdLst/>
            <a:ahLst/>
            <a:cxnLst/>
            <a:rect l="l" t="t" r="r" b="b"/>
            <a:pathLst>
              <a:path w="1955800" h="43814">
                <a:moveTo>
                  <a:pt x="1955744" y="0"/>
                </a:moveTo>
                <a:lnTo>
                  <a:pt x="1917291" y="20969"/>
                </a:lnTo>
                <a:lnTo>
                  <a:pt x="1949488" y="43226"/>
                </a:lnTo>
                <a:lnTo>
                  <a:pt x="1955744" y="0"/>
                </a:lnTo>
                <a:close/>
              </a:path>
              <a:path w="1955800" h="43814">
                <a:moveTo>
                  <a:pt x="0" y="0"/>
                </a:moveTo>
                <a:lnTo>
                  <a:pt x="6255" y="43226"/>
                </a:lnTo>
                <a:lnTo>
                  <a:pt x="38360" y="209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23620" y="5596507"/>
            <a:ext cx="1911350" cy="489584"/>
          </a:xfrm>
          <a:custGeom>
            <a:avLst/>
            <a:gdLst/>
            <a:ahLst/>
            <a:cxnLst/>
            <a:rect l="l" t="t" r="r" b="b"/>
            <a:pathLst>
              <a:path w="1911350" h="489585">
                <a:moveTo>
                  <a:pt x="1911036" y="0"/>
                </a:moveTo>
                <a:lnTo>
                  <a:pt x="1881876" y="38804"/>
                </a:lnTo>
                <a:lnTo>
                  <a:pt x="1851434" y="76070"/>
                </a:lnTo>
                <a:lnTo>
                  <a:pt x="1819764" y="111789"/>
                </a:lnTo>
                <a:lnTo>
                  <a:pt x="1786917" y="145953"/>
                </a:lnTo>
                <a:lnTo>
                  <a:pt x="1752947" y="178553"/>
                </a:lnTo>
                <a:lnTo>
                  <a:pt x="1717907" y="209580"/>
                </a:lnTo>
                <a:lnTo>
                  <a:pt x="1681850" y="239026"/>
                </a:lnTo>
                <a:lnTo>
                  <a:pt x="1644829" y="266882"/>
                </a:lnTo>
                <a:lnTo>
                  <a:pt x="1606895" y="293140"/>
                </a:lnTo>
                <a:lnTo>
                  <a:pt x="1568103" y="317791"/>
                </a:lnTo>
                <a:lnTo>
                  <a:pt x="1528506" y="340826"/>
                </a:lnTo>
                <a:lnTo>
                  <a:pt x="1488155" y="362237"/>
                </a:lnTo>
                <a:lnTo>
                  <a:pt x="1447105" y="382015"/>
                </a:lnTo>
                <a:lnTo>
                  <a:pt x="1405407" y="400151"/>
                </a:lnTo>
                <a:lnTo>
                  <a:pt x="1363116" y="416638"/>
                </a:lnTo>
                <a:lnTo>
                  <a:pt x="1320282" y="431466"/>
                </a:lnTo>
                <a:lnTo>
                  <a:pt x="1276961" y="444626"/>
                </a:lnTo>
                <a:lnTo>
                  <a:pt x="1233204" y="456111"/>
                </a:lnTo>
                <a:lnTo>
                  <a:pt x="1189064" y="465911"/>
                </a:lnTo>
                <a:lnTo>
                  <a:pt x="1144595" y="474019"/>
                </a:lnTo>
                <a:lnTo>
                  <a:pt x="1099849" y="480424"/>
                </a:lnTo>
                <a:lnTo>
                  <a:pt x="1054879" y="485119"/>
                </a:lnTo>
                <a:lnTo>
                  <a:pt x="1009738" y="488096"/>
                </a:lnTo>
                <a:lnTo>
                  <a:pt x="964478" y="489345"/>
                </a:lnTo>
                <a:lnTo>
                  <a:pt x="919154" y="488858"/>
                </a:lnTo>
                <a:lnTo>
                  <a:pt x="873817" y="486626"/>
                </a:lnTo>
                <a:lnTo>
                  <a:pt x="828520" y="482641"/>
                </a:lnTo>
                <a:lnTo>
                  <a:pt x="783317" y="476895"/>
                </a:lnTo>
                <a:lnTo>
                  <a:pt x="738261" y="469377"/>
                </a:lnTo>
                <a:lnTo>
                  <a:pt x="693403" y="460081"/>
                </a:lnTo>
                <a:lnTo>
                  <a:pt x="648798" y="448997"/>
                </a:lnTo>
                <a:lnTo>
                  <a:pt x="604497" y="436117"/>
                </a:lnTo>
                <a:lnTo>
                  <a:pt x="560554" y="421432"/>
                </a:lnTo>
                <a:lnTo>
                  <a:pt x="517023" y="404933"/>
                </a:lnTo>
                <a:lnTo>
                  <a:pt x="473954" y="386612"/>
                </a:lnTo>
                <a:lnTo>
                  <a:pt x="431403" y="366461"/>
                </a:lnTo>
                <a:lnTo>
                  <a:pt x="389421" y="344470"/>
                </a:lnTo>
                <a:lnTo>
                  <a:pt x="348061" y="320632"/>
                </a:lnTo>
                <a:lnTo>
                  <a:pt x="307376" y="294937"/>
                </a:lnTo>
                <a:lnTo>
                  <a:pt x="267419" y="267377"/>
                </a:lnTo>
                <a:lnTo>
                  <a:pt x="229389" y="238824"/>
                </a:lnTo>
                <a:lnTo>
                  <a:pt x="192596" y="208798"/>
                </a:lnTo>
                <a:lnTo>
                  <a:pt x="157079" y="177340"/>
                </a:lnTo>
                <a:lnTo>
                  <a:pt x="122877" y="144490"/>
                </a:lnTo>
                <a:lnTo>
                  <a:pt x="90030" y="110290"/>
                </a:lnTo>
                <a:lnTo>
                  <a:pt x="58575" y="74781"/>
                </a:lnTo>
                <a:lnTo>
                  <a:pt x="28552" y="38003"/>
                </a:lnTo>
                <a:lnTo>
                  <a:pt x="0" y="0"/>
                </a:lnTo>
              </a:path>
            </a:pathLst>
          </a:custGeom>
          <a:ln w="275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18558" y="5564409"/>
            <a:ext cx="38735" cy="43815"/>
          </a:xfrm>
          <a:custGeom>
            <a:avLst/>
            <a:gdLst/>
            <a:ahLst/>
            <a:cxnLst/>
            <a:rect l="l" t="t" r="r" b="b"/>
            <a:pathLst>
              <a:path w="38734" h="43814">
                <a:moveTo>
                  <a:pt x="16098" y="32097"/>
                </a:moveTo>
                <a:lnTo>
                  <a:pt x="0" y="20969"/>
                </a:lnTo>
                <a:lnTo>
                  <a:pt x="38452" y="0"/>
                </a:lnTo>
                <a:lnTo>
                  <a:pt x="32197" y="43226"/>
                </a:lnTo>
                <a:lnTo>
                  <a:pt x="16098" y="32097"/>
                </a:lnTo>
                <a:close/>
              </a:path>
            </a:pathLst>
          </a:custGeom>
          <a:ln w="2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01266" y="5564409"/>
            <a:ext cx="38735" cy="43815"/>
          </a:xfrm>
          <a:custGeom>
            <a:avLst/>
            <a:gdLst/>
            <a:ahLst/>
            <a:cxnLst/>
            <a:rect l="l" t="t" r="r" b="b"/>
            <a:pathLst>
              <a:path w="38735" h="43814">
                <a:moveTo>
                  <a:pt x="22353" y="32097"/>
                </a:moveTo>
                <a:lnTo>
                  <a:pt x="38360" y="20969"/>
                </a:lnTo>
                <a:lnTo>
                  <a:pt x="0" y="0"/>
                </a:lnTo>
                <a:lnTo>
                  <a:pt x="6255" y="43226"/>
                </a:lnTo>
                <a:lnTo>
                  <a:pt x="22353" y="32097"/>
                </a:lnTo>
                <a:close/>
              </a:path>
            </a:pathLst>
          </a:custGeom>
          <a:ln w="2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430630" y="5680873"/>
            <a:ext cx="1155065" cy="9271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555"/>
              </a:spcBef>
            </a:pPr>
            <a:r>
              <a:rPr sz="1700" b="1" spc="20" dirty="0">
                <a:latin typeface="Times New Roman"/>
                <a:cs typeface="Times New Roman"/>
              </a:rPr>
              <a:t>=</a:t>
            </a:r>
            <a:r>
              <a:rPr sz="1700" b="1" spc="415" dirty="0">
                <a:latin typeface="Times New Roman"/>
                <a:cs typeface="Times New Roman"/>
              </a:rPr>
              <a:t> </a:t>
            </a:r>
            <a:r>
              <a:rPr sz="1700" b="1" spc="20" dirty="0">
                <a:latin typeface="Times New Roman"/>
                <a:cs typeface="Times New Roman"/>
              </a:rPr>
              <a:t>?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64"/>
              </a:spcBef>
            </a:pPr>
            <a:r>
              <a:rPr sz="17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Ve</a:t>
            </a:r>
            <a:r>
              <a:rPr sz="17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7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7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7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7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ca</a:t>
            </a:r>
            <a:r>
              <a:rPr sz="17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7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ion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(for</a:t>
            </a:r>
            <a:r>
              <a:rPr sz="175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bugs)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67178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5128747" y="5707342"/>
            <a:ext cx="1160780" cy="87439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345"/>
              </a:spcBef>
            </a:pPr>
            <a:r>
              <a:rPr sz="1700" b="1" spc="20" dirty="0">
                <a:latin typeface="Times New Roman"/>
                <a:cs typeface="Times New Roman"/>
              </a:rPr>
              <a:t>=</a:t>
            </a:r>
            <a:r>
              <a:rPr sz="1700" b="1" spc="420" dirty="0">
                <a:latin typeface="Times New Roman"/>
                <a:cs typeface="Times New Roman"/>
              </a:rPr>
              <a:t> </a:t>
            </a:r>
            <a:r>
              <a:rPr sz="1700" b="1" spc="20" dirty="0">
                <a:latin typeface="Times New Roman"/>
                <a:cs typeface="Times New Roman"/>
              </a:rPr>
              <a:t>?</a:t>
            </a:r>
            <a:endParaRPr sz="1700">
              <a:latin typeface="Times New Roman"/>
              <a:cs typeface="Times New Roman"/>
            </a:endParaRPr>
          </a:p>
          <a:p>
            <a:pPr marL="12700" marR="5080" indent="217170">
              <a:lnSpc>
                <a:spcPts val="2090"/>
              </a:lnSpc>
              <a:spcBef>
                <a:spcPts val="285"/>
              </a:spcBef>
            </a:pPr>
            <a:r>
              <a:rPr sz="1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Testing  (for</a:t>
            </a:r>
            <a:r>
              <a:rPr sz="175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defects)</a:t>
            </a:r>
            <a:endParaRPr sz="17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8877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164414"/>
            <a:ext cx="495350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Implicit </a:t>
            </a:r>
            <a:r>
              <a:rPr lang="en-US" dirty="0">
                <a:solidFill>
                  <a:srgbClr val="00B050"/>
                </a:solidFill>
                <a:latin typeface="Arial"/>
                <a:cs typeface="Arial"/>
              </a:rPr>
              <a:t>or Online 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Testing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532775" cy="523733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Purpose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Check IC output correctness during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normal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operation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Also </a:t>
            </a:r>
            <a:r>
              <a:rPr sz="2000" b="1" spc="5" dirty="0">
                <a:latin typeface="Arial"/>
                <a:cs typeface="Arial"/>
              </a:rPr>
              <a:t>known </a:t>
            </a:r>
            <a:r>
              <a:rPr lang="en-US" sz="2000" b="1" spc="5" dirty="0">
                <a:latin typeface="Arial"/>
                <a:cs typeface="Arial"/>
              </a:rPr>
              <a:t>as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Concurrent Error Detection</a:t>
            </a:r>
            <a:r>
              <a:rPr sz="2000" b="1" i="1" spc="-9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(CED)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On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l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ine</a:t>
            </a:r>
            <a:r>
              <a:rPr sz="2000" b="1" i="1" spc="-3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testing</a:t>
            </a:r>
            <a:endParaRPr sz="2000" dirty="0">
              <a:latin typeface="Arial-BoldItalicMT"/>
              <a:cs typeface="Arial-BoldItalic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-BoldItalicMT"/>
              <a:cs typeface="Arial-BoldItalic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Important for mission critical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systems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Airplanes, satellites, mainframe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computers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Techniques</a:t>
            </a:r>
            <a:r>
              <a:rPr lang="en-US" sz="2000" b="1" dirty="0">
                <a:latin typeface="Arial"/>
                <a:cs typeface="Arial"/>
              </a:rPr>
              <a:t> (covered in courses related to fault-tolerant systems)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Circuit </a:t>
            </a:r>
            <a:r>
              <a:rPr sz="2000" b="1" spc="-5" dirty="0">
                <a:latin typeface="Arial"/>
                <a:cs typeface="Arial"/>
              </a:rPr>
              <a:t>level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Error Correction Code </a:t>
            </a:r>
            <a:r>
              <a:rPr sz="2000" b="1" dirty="0">
                <a:latin typeface="Arial"/>
                <a:cs typeface="Arial"/>
              </a:rPr>
              <a:t>(ECC) protection of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40" dirty="0">
                <a:latin typeface="Arial"/>
                <a:cs typeface="Arial"/>
              </a:rPr>
              <a:t>memory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System level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Watch dog</a:t>
            </a:r>
            <a:r>
              <a:rPr sz="2000" b="1" i="1" spc="-3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timer</a:t>
            </a:r>
            <a:endParaRPr sz="2000" dirty="0">
              <a:latin typeface="Arial-BoldItalicMT"/>
              <a:cs typeface="Arial-BoldItalicMT"/>
            </a:endParaRPr>
          </a:p>
        </p:txBody>
      </p:sp>
    </p:spTree>
    <p:extLst>
      <p:ext uri="{BB962C8B-B14F-4D97-AF65-F5344CB8AC3E}">
        <p14:creationId xmlns:p14="http://schemas.microsoft.com/office/powerpoint/2010/main" val="120031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4887" y="228600"/>
            <a:ext cx="4029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1879092" y="2490216"/>
            <a:ext cx="2098675" cy="426720"/>
          </a:xfrm>
          <a:custGeom>
            <a:avLst/>
            <a:gdLst/>
            <a:ahLst/>
            <a:cxnLst/>
            <a:rect l="l" t="t" r="r" b="b"/>
            <a:pathLst>
              <a:path w="2098675" h="426719">
                <a:moveTo>
                  <a:pt x="0" y="426720"/>
                </a:moveTo>
                <a:lnTo>
                  <a:pt x="2098548" y="426720"/>
                </a:lnTo>
                <a:lnTo>
                  <a:pt x="2098548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1893" y="1576843"/>
            <a:ext cx="28829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Testing (generally</a:t>
            </a:r>
            <a:r>
              <a:rPr sz="1750" spc="4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speaking)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4551" y="2295940"/>
            <a:ext cx="4633595" cy="0"/>
          </a:xfrm>
          <a:custGeom>
            <a:avLst/>
            <a:gdLst/>
            <a:ahLst/>
            <a:cxnLst/>
            <a:rect l="l" t="t" r="r" b="b"/>
            <a:pathLst>
              <a:path w="4633595">
                <a:moveTo>
                  <a:pt x="0" y="0"/>
                </a:moveTo>
                <a:lnTo>
                  <a:pt x="463301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0390" y="1865422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0"/>
                </a:moveTo>
                <a:lnTo>
                  <a:pt x="0" y="43051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18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039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3474" y="22959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521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2162" y="2590959"/>
            <a:ext cx="1125855" cy="5473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04470">
              <a:lnSpc>
                <a:spcPts val="2000"/>
              </a:lnSpc>
              <a:spcBef>
                <a:spcPts val="250"/>
              </a:spcBef>
            </a:pPr>
            <a:r>
              <a:rPr sz="1750" spc="-5" dirty="0">
                <a:latin typeface="Helvetica"/>
                <a:cs typeface="Helvetica"/>
              </a:rPr>
              <a:t>Design  </a:t>
            </a:r>
            <a:r>
              <a:rPr sz="1750" dirty="0">
                <a:latin typeface="Helvetica"/>
                <a:cs typeface="Helvetica"/>
              </a:rPr>
              <a:t>V</a:t>
            </a:r>
            <a:r>
              <a:rPr sz="1750" spc="-10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rification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9063" y="2562233"/>
            <a:ext cx="152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Explicit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9370" y="2590959"/>
            <a:ext cx="1819275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54940" marR="5080" indent="-142875">
              <a:lnSpc>
                <a:spcPts val="2010"/>
              </a:lnSpc>
              <a:spcBef>
                <a:spcPts val="244"/>
              </a:spcBef>
            </a:pPr>
            <a:r>
              <a:rPr sz="1750" spc="-5" dirty="0">
                <a:latin typeface="Helvetica"/>
                <a:cs typeface="Helvetica"/>
              </a:rPr>
              <a:t>Implicit Testing </a:t>
            </a:r>
            <a:r>
              <a:rPr sz="1750" dirty="0">
                <a:latin typeface="Helvetica"/>
                <a:cs typeface="Helvetica"/>
              </a:rPr>
              <a:t>Or  </a:t>
            </a:r>
            <a:r>
              <a:rPr sz="1750" spc="-5" dirty="0">
                <a:latin typeface="Helvetica"/>
                <a:cs typeface="Helvetica"/>
              </a:rPr>
              <a:t>On-line</a:t>
            </a:r>
            <a:r>
              <a:rPr sz="1750" spc="-2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56671" y="2878796"/>
            <a:ext cx="0" cy="833119"/>
          </a:xfrm>
          <a:custGeom>
            <a:avLst/>
            <a:gdLst/>
            <a:ahLst/>
            <a:cxnLst/>
            <a:rect l="l" t="t" r="r" b="b"/>
            <a:pathLst>
              <a:path h="833120">
                <a:moveTo>
                  <a:pt x="0" y="0"/>
                </a:moveTo>
                <a:lnTo>
                  <a:pt x="0" y="832864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0461" y="3670148"/>
            <a:ext cx="6316980" cy="0"/>
          </a:xfrm>
          <a:custGeom>
            <a:avLst/>
            <a:gdLst/>
            <a:ahLst/>
            <a:cxnLst/>
            <a:rect l="l" t="t" r="r" b="b"/>
            <a:pathLst>
              <a:path w="6316980">
                <a:moveTo>
                  <a:pt x="0" y="0"/>
                </a:moveTo>
                <a:lnTo>
                  <a:pt x="631640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046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667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65430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657" y="3977954"/>
            <a:ext cx="1645285" cy="5473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636270" marR="5080" indent="-624205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Ch</a:t>
            </a:r>
            <a:r>
              <a:rPr sz="1750" spc="-10" dirty="0">
                <a:latin typeface="Helvetica"/>
                <a:cs typeface="Helvetica"/>
              </a:rPr>
              <a:t>a</a:t>
            </a:r>
            <a:r>
              <a:rPr sz="1750" dirty="0">
                <a:latin typeface="Helvetica"/>
                <a:cs typeface="Helvetica"/>
              </a:rPr>
              <a:t>racterizati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94489" y="3965722"/>
            <a:ext cx="15849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Production</a:t>
            </a:r>
            <a:r>
              <a:rPr sz="1750" spc="-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53418" y="3963498"/>
            <a:ext cx="14719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Reliability</a:t>
            </a:r>
            <a:r>
              <a:rPr sz="1750" spc="-3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3145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96033" y="3964610"/>
            <a:ext cx="1497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Diagnosis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6507" y="5534085"/>
            <a:ext cx="8576945" cy="0"/>
          </a:xfrm>
          <a:custGeom>
            <a:avLst/>
            <a:gdLst/>
            <a:ahLst/>
            <a:cxnLst/>
            <a:rect l="l" t="t" r="r" b="b"/>
            <a:pathLst>
              <a:path w="8576945">
                <a:moveTo>
                  <a:pt x="0" y="0"/>
                </a:moveTo>
                <a:lnTo>
                  <a:pt x="8576743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7249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5664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50008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2098" y="5825953"/>
            <a:ext cx="61976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93345" marR="5080" indent="-8128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G</a:t>
            </a:r>
            <a:r>
              <a:rPr sz="1750" spc="5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oss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6812" y="5825953"/>
            <a:ext cx="14605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13715" marR="5080" indent="-50165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DC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412" y="5838166"/>
            <a:ext cx="14478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07365" marR="5080" indent="-49530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AC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94352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510933" y="5825953"/>
            <a:ext cx="84201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03835" marR="5080" indent="-191770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o</a:t>
            </a:r>
            <a:r>
              <a:rPr sz="1750" spc="-10" dirty="0">
                <a:latin typeface="Helvetica"/>
                <a:cs typeface="Helvetica"/>
              </a:rPr>
              <a:t>l</a:t>
            </a:r>
            <a:r>
              <a:rPr sz="1750" spc="5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an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70390" y="4280804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07280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64020" y="5810404"/>
            <a:ext cx="10883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Delay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1679" y="4673180"/>
            <a:ext cx="3172460" cy="0"/>
          </a:xfrm>
          <a:custGeom>
            <a:avLst/>
            <a:gdLst/>
            <a:ahLst/>
            <a:cxnLst/>
            <a:rect l="l" t="t" r="r" b="b"/>
            <a:pathLst>
              <a:path w="3172460">
                <a:moveTo>
                  <a:pt x="0" y="0"/>
                </a:moveTo>
                <a:lnTo>
                  <a:pt x="3172059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8016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91358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31533" y="46835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97841" y="4977614"/>
            <a:ext cx="11150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Wafer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370" y="4977614"/>
            <a:ext cx="13862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Package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80856" y="5266490"/>
            <a:ext cx="0" cy="264160"/>
          </a:xfrm>
          <a:custGeom>
            <a:avLst/>
            <a:gdLst/>
            <a:ahLst/>
            <a:cxnLst/>
            <a:rect l="l" t="t" r="r" b="b"/>
            <a:pathLst>
              <a:path h="264160">
                <a:moveTo>
                  <a:pt x="0" y="0"/>
                </a:moveTo>
                <a:lnTo>
                  <a:pt x="0" y="26390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77639" y="5294252"/>
            <a:ext cx="0" cy="236220"/>
          </a:xfrm>
          <a:custGeom>
            <a:avLst/>
            <a:gdLst/>
            <a:ahLst/>
            <a:cxnLst/>
            <a:rect l="l" t="t" r="r" b="b"/>
            <a:pathLst>
              <a:path h="236220">
                <a:moveTo>
                  <a:pt x="0" y="0"/>
                </a:moveTo>
                <a:lnTo>
                  <a:pt x="0" y="23614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63739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36607" y="5534085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923251" y="5523725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440759" y="5810404"/>
            <a:ext cx="64389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11760" marR="5080" indent="-9969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IDDQ,  </a:t>
            </a:r>
            <a:r>
              <a:rPr sz="1750" spc="-5" dirty="0">
                <a:latin typeface="Helvetica"/>
                <a:cs typeface="Helvetica"/>
              </a:rPr>
              <a:t>VLV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68277" y="5790407"/>
            <a:ext cx="105156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08610" marR="5080" indent="-29654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Fu</a:t>
            </a:r>
            <a:r>
              <a:rPr sz="1750" spc="-10" dirty="0">
                <a:latin typeface="Helvetica"/>
                <a:cs typeface="Helvetica"/>
              </a:rPr>
              <a:t>n</a:t>
            </a:r>
            <a:r>
              <a:rPr sz="1750" dirty="0">
                <a:latin typeface="Helvetica"/>
                <a:cs typeface="Helvetica"/>
              </a:rPr>
              <a:t>ctional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965430" y="4284510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31533" y="4673180"/>
            <a:ext cx="1169035" cy="0"/>
          </a:xfrm>
          <a:custGeom>
            <a:avLst/>
            <a:gdLst/>
            <a:ahLst/>
            <a:cxnLst/>
            <a:rect l="l" t="t" r="r" b="b"/>
            <a:pathLst>
              <a:path w="1169035">
                <a:moveTo>
                  <a:pt x="0" y="0"/>
                </a:moveTo>
                <a:lnTo>
                  <a:pt x="1168918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800451" y="467318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151614" y="4977614"/>
            <a:ext cx="379793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7650" algn="l"/>
                <a:tab pos="2510790" algn="l"/>
              </a:tabLst>
            </a:pPr>
            <a:r>
              <a:rPr sz="1750" dirty="0">
                <a:latin typeface="Helvetica"/>
                <a:cs typeface="Helvetica"/>
              </a:rPr>
              <a:t>System Test	</a:t>
            </a:r>
            <a:r>
              <a:rPr sz="1750" spc="-5" dirty="0">
                <a:latin typeface="Helvetica"/>
                <a:cs typeface="Helvetica"/>
              </a:rPr>
              <a:t>Burn-in	</a:t>
            </a:r>
            <a:r>
              <a:rPr sz="1750" dirty="0">
                <a:latin typeface="Helvetica"/>
                <a:cs typeface="Helvetica"/>
              </a:rPr>
              <a:t>Acc. Life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spc="-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77810" y="2545461"/>
            <a:ext cx="15227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don’t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worry</a:t>
            </a:r>
            <a:r>
              <a:rPr sz="1400" b="1" spc="-1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about 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names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too</a:t>
            </a:r>
            <a:r>
              <a:rPr sz="1400" b="1" spc="-7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much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52359" y="876300"/>
            <a:ext cx="1421892" cy="1645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15798" y="6399903"/>
            <a:ext cx="52838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34D51E-48CD-8474-9EB9-64EBEDAE6526}"/>
              </a:ext>
            </a:extLst>
          </p:cNvPr>
          <p:cNvSpPr txBox="1"/>
          <p:nvPr/>
        </p:nvSpPr>
        <p:spPr>
          <a:xfrm>
            <a:off x="6425989" y="3336944"/>
            <a:ext cx="2718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buClr>
                <a:srgbClr val="FF0000"/>
              </a:buClr>
              <a:buSzPct val="119444"/>
              <a:tabLst>
                <a:tab pos="354965" algn="l"/>
                <a:tab pos="355600" algn="l"/>
              </a:tabLst>
            </a:pPr>
            <a:r>
              <a:rPr lang="en-US" sz="1800" b="1" spc="-10" dirty="0">
                <a:solidFill>
                  <a:srgbClr val="FF0000"/>
                </a:solidFill>
                <a:latin typeface="Arial"/>
                <a:cs typeface="Arial"/>
              </a:rPr>
              <a:t>According 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lang="en-US" sz="1800" b="1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b="1" spc="-5" dirty="0">
                <a:solidFill>
                  <a:srgbClr val="FF0000"/>
                </a:solidFill>
                <a:latin typeface="Arial"/>
                <a:cs typeface="Arial"/>
              </a:rPr>
              <a:t>purpose</a:t>
            </a:r>
            <a:endParaRPr lang="en-US"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A3B9F7-A003-F9EA-2322-3029E54DA191}"/>
              </a:ext>
            </a:extLst>
          </p:cNvPr>
          <p:cNvSpPr txBox="1"/>
          <p:nvPr/>
        </p:nvSpPr>
        <p:spPr>
          <a:xfrm>
            <a:off x="6753716" y="4388240"/>
            <a:ext cx="2718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buClr>
                <a:srgbClr val="FF0000"/>
              </a:buClr>
              <a:buSzPct val="119444"/>
              <a:tabLst>
                <a:tab pos="354965" algn="l"/>
                <a:tab pos="355600" algn="l"/>
              </a:tabLst>
            </a:pPr>
            <a:r>
              <a:rPr lang="en-US" sz="1800" b="1" spc="-10" dirty="0">
                <a:solidFill>
                  <a:srgbClr val="FF0000"/>
                </a:solidFill>
                <a:latin typeface="Arial"/>
                <a:cs typeface="Arial"/>
              </a:rPr>
              <a:t>According 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lang="en-US" sz="1800" b="1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b="1" spc="-5" dirty="0">
                <a:solidFill>
                  <a:srgbClr val="FF0000"/>
                </a:solidFill>
                <a:latin typeface="Arial"/>
                <a:cs typeface="Arial"/>
              </a:rPr>
              <a:t>stage</a:t>
            </a:r>
            <a:endParaRPr lang="en-US"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CC52C9-0E6E-81F0-35B1-92CB1F9D1315}"/>
              </a:ext>
            </a:extLst>
          </p:cNvPr>
          <p:cNvSpPr txBox="1"/>
          <p:nvPr/>
        </p:nvSpPr>
        <p:spPr>
          <a:xfrm>
            <a:off x="5753078" y="6258825"/>
            <a:ext cx="3679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buClr>
                <a:srgbClr val="FF0000"/>
              </a:buClr>
              <a:buSzPct val="119444"/>
              <a:tabLst>
                <a:tab pos="354965" algn="l"/>
                <a:tab pos="355600" algn="l"/>
              </a:tabLst>
            </a:pPr>
            <a:r>
              <a:rPr lang="en-US" sz="1800" b="1" spc="-10" dirty="0">
                <a:solidFill>
                  <a:srgbClr val="FF0000"/>
                </a:solidFill>
                <a:latin typeface="Arial"/>
                <a:cs typeface="Arial"/>
              </a:rPr>
              <a:t>According </a:t>
            </a:r>
            <a:r>
              <a:rPr lang="en-US" sz="180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lang="en-US" sz="1800" b="1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b="1" spc="-5" dirty="0">
                <a:solidFill>
                  <a:srgbClr val="FF0000"/>
                </a:solidFill>
                <a:latin typeface="Arial"/>
                <a:cs typeface="Arial"/>
              </a:rPr>
              <a:t>test technique</a:t>
            </a:r>
            <a:endParaRPr lang="en-US"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2E98F43-0F74-98C3-CA4D-7CC899E9F87E}"/>
              </a:ext>
            </a:extLst>
          </p:cNvPr>
          <p:cNvSpPr/>
          <p:nvPr/>
        </p:nvSpPr>
        <p:spPr>
          <a:xfrm>
            <a:off x="167006" y="3352800"/>
            <a:ext cx="8824594" cy="938938"/>
          </a:xfrm>
          <a:prstGeom prst="rect">
            <a:avLst/>
          </a:prstGeom>
          <a:noFill/>
          <a:ln w="381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BC5AA43-C9AE-A032-B91F-1FC6FD47C3E4}"/>
              </a:ext>
            </a:extLst>
          </p:cNvPr>
          <p:cNvSpPr/>
          <p:nvPr/>
        </p:nvSpPr>
        <p:spPr>
          <a:xfrm>
            <a:off x="167006" y="4419599"/>
            <a:ext cx="8824594" cy="846889"/>
          </a:xfrm>
          <a:prstGeom prst="rect">
            <a:avLst/>
          </a:prstGeom>
          <a:noFill/>
          <a:ln w="381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3C13C10-03AD-D56C-0A2C-1677673F72F7}"/>
              </a:ext>
            </a:extLst>
          </p:cNvPr>
          <p:cNvSpPr/>
          <p:nvPr/>
        </p:nvSpPr>
        <p:spPr>
          <a:xfrm>
            <a:off x="152400" y="5380604"/>
            <a:ext cx="8824594" cy="1248796"/>
          </a:xfrm>
          <a:prstGeom prst="rect">
            <a:avLst/>
          </a:prstGeom>
          <a:noFill/>
          <a:ln w="381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5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"/>
    </mc:Choice>
    <mc:Fallback xmlns="">
      <p:transition spd="slow" advTm="6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61" grpId="0" animBg="1"/>
      <p:bldP spid="62" grpId="0" animBg="1"/>
      <p:bldP spid="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81893" y="1576843"/>
            <a:ext cx="28829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Testing (generally</a:t>
            </a:r>
            <a:r>
              <a:rPr sz="1750" spc="4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speaking)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4551" y="2295940"/>
            <a:ext cx="4633595" cy="0"/>
          </a:xfrm>
          <a:custGeom>
            <a:avLst/>
            <a:gdLst/>
            <a:ahLst/>
            <a:cxnLst/>
            <a:rect l="l" t="t" r="r" b="b"/>
            <a:pathLst>
              <a:path w="4633595">
                <a:moveTo>
                  <a:pt x="0" y="0"/>
                </a:moveTo>
                <a:lnTo>
                  <a:pt x="463301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70390" y="1865422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0"/>
                </a:moveTo>
                <a:lnTo>
                  <a:pt x="0" y="43051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418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039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63474" y="22959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521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9151" y="2878796"/>
          <a:ext cx="6955788" cy="1739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8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351">
                <a:tc gridSpan="3">
                  <a:txBody>
                    <a:bodyPr/>
                    <a:lstStyle/>
                    <a:p>
                      <a:pPr marL="158115">
                        <a:lnSpc>
                          <a:spcPts val="1939"/>
                        </a:lnSpc>
                      </a:pPr>
                      <a:r>
                        <a:rPr sz="1750" dirty="0">
                          <a:latin typeface="Helvetica"/>
                          <a:cs typeface="Helvetica"/>
                        </a:rPr>
                        <a:t>Verification</a:t>
                      </a:r>
                      <a:endParaRPr sz="17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27250">
                        <a:lnSpc>
                          <a:spcPts val="1950"/>
                        </a:lnSpc>
                      </a:pPr>
                      <a:r>
                        <a:rPr sz="1750" spc="-5" dirty="0">
                          <a:latin typeface="Helvetica"/>
                          <a:cs typeface="Helvetica"/>
                        </a:rPr>
                        <a:t>On-line</a:t>
                      </a:r>
                      <a:r>
                        <a:rPr sz="1750" spc="-1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750" dirty="0">
                          <a:latin typeface="Helvetica"/>
                          <a:cs typeface="Helvetica"/>
                        </a:rPr>
                        <a:t>Testing</a:t>
                      </a:r>
                      <a:endParaRPr sz="17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2" gridSpan="2">
                  <a:txBody>
                    <a:bodyPr/>
                    <a:lstStyle/>
                    <a:p>
                      <a:pPr marL="609600" marR="20320" indent="-624205">
                        <a:lnSpc>
                          <a:spcPts val="2010"/>
                        </a:lnSpc>
                        <a:spcBef>
                          <a:spcPts val="905"/>
                        </a:spcBef>
                      </a:pPr>
                      <a:r>
                        <a:rPr sz="1750" dirty="0">
                          <a:latin typeface="Helvetica"/>
                          <a:cs typeface="Helvetica"/>
                        </a:rPr>
                        <a:t>Ch</a:t>
                      </a:r>
                      <a:r>
                        <a:rPr sz="1750" spc="-10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1750" dirty="0">
                          <a:latin typeface="Helvetica"/>
                          <a:cs typeface="Helvetica"/>
                        </a:rPr>
                        <a:t>racterizati</a:t>
                      </a:r>
                      <a:r>
                        <a:rPr sz="1750" spc="-10" dirty="0">
                          <a:latin typeface="Helvetica"/>
                          <a:cs typeface="Helvetica"/>
                        </a:rPr>
                        <a:t>o</a:t>
                      </a:r>
                      <a:r>
                        <a:rPr sz="1750" dirty="0">
                          <a:latin typeface="Helvetica"/>
                          <a:cs typeface="Helvetica"/>
                        </a:rPr>
                        <a:t>n  Test</a:t>
                      </a:r>
                      <a:endParaRPr sz="1750">
                        <a:latin typeface="Helvetica"/>
                        <a:cs typeface="Helvetica"/>
                      </a:endParaRPr>
                    </a:p>
                  </a:txBody>
                  <a:tcPr marL="0" marR="0" marT="114935" marB="0">
                    <a:solidFill>
                      <a:srgbClr val="FF00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608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935" marB="0">
                    <a:solidFill>
                      <a:srgbClr val="FF00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26931" y="2590959"/>
            <a:ext cx="7175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Des</a:t>
            </a:r>
            <a:r>
              <a:rPr sz="1750" spc="-10" dirty="0">
                <a:latin typeface="Helvetica"/>
                <a:cs typeface="Helvetica"/>
              </a:rPr>
              <a:t>i</a:t>
            </a:r>
            <a:r>
              <a:rPr sz="1750" dirty="0">
                <a:latin typeface="Helvetica"/>
                <a:cs typeface="Helvetica"/>
              </a:rPr>
              <a:t>gn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9063" y="2562233"/>
            <a:ext cx="152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Explicit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9370" y="2590959"/>
            <a:ext cx="18192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Implicit Testing</a:t>
            </a:r>
            <a:r>
              <a:rPr sz="1750" spc="-2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Or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94489" y="3965722"/>
            <a:ext cx="15849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Production</a:t>
            </a:r>
            <a:r>
              <a:rPr sz="1750" spc="-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3418" y="3963498"/>
            <a:ext cx="14719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Reliability</a:t>
            </a:r>
            <a:r>
              <a:rPr sz="1750" spc="-3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6033" y="3964610"/>
            <a:ext cx="1497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Diagnosis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46507" y="5534085"/>
            <a:ext cx="8576945" cy="0"/>
          </a:xfrm>
          <a:custGeom>
            <a:avLst/>
            <a:gdLst/>
            <a:ahLst/>
            <a:cxnLst/>
            <a:rect l="l" t="t" r="r" b="b"/>
            <a:pathLst>
              <a:path w="8576945">
                <a:moveTo>
                  <a:pt x="0" y="0"/>
                </a:moveTo>
                <a:lnTo>
                  <a:pt x="8576743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7249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5664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50008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2098" y="5825953"/>
            <a:ext cx="61976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93345" marR="5080" indent="-8128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G</a:t>
            </a:r>
            <a:r>
              <a:rPr sz="1750" spc="5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oss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6812" y="5825953"/>
            <a:ext cx="14605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13715" marR="5080" indent="-50165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DC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45412" y="5838166"/>
            <a:ext cx="14478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07365" marR="5080" indent="-49530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AC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94352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510933" y="5825953"/>
            <a:ext cx="84201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03835" marR="5080" indent="-191770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o</a:t>
            </a:r>
            <a:r>
              <a:rPr sz="1750" spc="-10" dirty="0">
                <a:latin typeface="Helvetica"/>
                <a:cs typeface="Helvetica"/>
              </a:rPr>
              <a:t>l</a:t>
            </a:r>
            <a:r>
              <a:rPr sz="1750" spc="5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an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70390" y="4280804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07280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764020" y="5810404"/>
            <a:ext cx="10883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Delay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1679" y="4673180"/>
            <a:ext cx="3172460" cy="0"/>
          </a:xfrm>
          <a:custGeom>
            <a:avLst/>
            <a:gdLst/>
            <a:ahLst/>
            <a:cxnLst/>
            <a:rect l="l" t="t" r="r" b="b"/>
            <a:pathLst>
              <a:path w="3172460">
                <a:moveTo>
                  <a:pt x="0" y="0"/>
                </a:moveTo>
                <a:lnTo>
                  <a:pt x="3172059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28016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91358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631533" y="46835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7841" y="4977614"/>
            <a:ext cx="11150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Wafer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1370" y="4977614"/>
            <a:ext cx="13862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Package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80856" y="5266490"/>
            <a:ext cx="0" cy="264160"/>
          </a:xfrm>
          <a:custGeom>
            <a:avLst/>
            <a:gdLst/>
            <a:ahLst/>
            <a:cxnLst/>
            <a:rect l="l" t="t" r="r" b="b"/>
            <a:pathLst>
              <a:path h="264160">
                <a:moveTo>
                  <a:pt x="0" y="0"/>
                </a:moveTo>
                <a:lnTo>
                  <a:pt x="0" y="26390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77639" y="5294252"/>
            <a:ext cx="0" cy="236220"/>
          </a:xfrm>
          <a:custGeom>
            <a:avLst/>
            <a:gdLst/>
            <a:ahLst/>
            <a:cxnLst/>
            <a:rect l="l" t="t" r="r" b="b"/>
            <a:pathLst>
              <a:path h="236220">
                <a:moveTo>
                  <a:pt x="0" y="0"/>
                </a:moveTo>
                <a:lnTo>
                  <a:pt x="0" y="23614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63739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636607" y="5534085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923251" y="5523725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440759" y="5810404"/>
            <a:ext cx="64389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11760" marR="5080" indent="-9969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IDDQ,  </a:t>
            </a:r>
            <a:r>
              <a:rPr sz="1750" spc="-5" dirty="0">
                <a:latin typeface="Helvetica"/>
                <a:cs typeface="Helvetica"/>
              </a:rPr>
              <a:t>VLV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68277" y="5790407"/>
            <a:ext cx="105156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08610" marR="5080" indent="-29654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Fu</a:t>
            </a:r>
            <a:r>
              <a:rPr sz="1750" spc="-10" dirty="0">
                <a:latin typeface="Helvetica"/>
                <a:cs typeface="Helvetica"/>
              </a:rPr>
              <a:t>n</a:t>
            </a:r>
            <a:r>
              <a:rPr sz="1750" dirty="0">
                <a:latin typeface="Helvetica"/>
                <a:cs typeface="Helvetica"/>
              </a:rPr>
              <a:t>ctional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965430" y="4284510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31533" y="4673180"/>
            <a:ext cx="1169035" cy="0"/>
          </a:xfrm>
          <a:custGeom>
            <a:avLst/>
            <a:gdLst/>
            <a:ahLst/>
            <a:cxnLst/>
            <a:rect l="l" t="t" r="r" b="b"/>
            <a:pathLst>
              <a:path w="1169035">
                <a:moveTo>
                  <a:pt x="0" y="0"/>
                </a:moveTo>
                <a:lnTo>
                  <a:pt x="1168918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00451" y="467318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151614" y="4977614"/>
            <a:ext cx="379793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7650" algn="l"/>
                <a:tab pos="2510790" algn="l"/>
              </a:tabLst>
            </a:pPr>
            <a:r>
              <a:rPr sz="1750" dirty="0">
                <a:latin typeface="Helvetica"/>
                <a:cs typeface="Helvetica"/>
              </a:rPr>
              <a:t>System Test	</a:t>
            </a:r>
            <a:r>
              <a:rPr sz="1750" spc="-5" dirty="0">
                <a:latin typeface="Helvetica"/>
                <a:cs typeface="Helvetica"/>
              </a:rPr>
              <a:t>Burn-in	</a:t>
            </a:r>
            <a:r>
              <a:rPr sz="1750" dirty="0">
                <a:latin typeface="Helvetica"/>
                <a:cs typeface="Helvetica"/>
              </a:rPr>
              <a:t>Acc. Life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spc="-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77810" y="2545461"/>
            <a:ext cx="15227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don’t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worry</a:t>
            </a:r>
            <a:r>
              <a:rPr sz="1400" b="1" spc="-1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about 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names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too</a:t>
            </a:r>
            <a:r>
              <a:rPr sz="1400" b="1" spc="-7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much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452359" y="876300"/>
            <a:ext cx="1421892" cy="1645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75881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51" name="object 2">
            <a:extLst>
              <a:ext uri="{FF2B5EF4-FFF2-40B4-BE49-F238E27FC236}">
                <a16:creationId xmlns:a16="http://schemas.microsoft.com/office/drawing/2014/main" id="{5162C71C-AD62-C3EE-61C2-C41B56058B6F}"/>
              </a:ext>
            </a:extLst>
          </p:cNvPr>
          <p:cNvSpPr txBox="1">
            <a:spLocks/>
          </p:cNvSpPr>
          <p:nvPr/>
        </p:nvSpPr>
        <p:spPr>
          <a:xfrm>
            <a:off x="2294887" y="228600"/>
            <a:ext cx="4029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ea typeface="+mj-ea"/>
                <a:cs typeface="HelveticaNeue-BoldItalic"/>
              </a:defRPr>
            </a:lvl1pPr>
          </a:lstStyle>
          <a:p>
            <a:pPr marL="25400">
              <a:spcBef>
                <a:spcPts val="100"/>
              </a:spcBef>
            </a:pPr>
            <a:r>
              <a:rPr lang="en-US" kern="0" dirty="0">
                <a:solidFill>
                  <a:srgbClr val="00B050"/>
                </a:solidFill>
                <a:latin typeface="Arial"/>
                <a:cs typeface="Arial"/>
              </a:rPr>
              <a:t>Types of Testing</a:t>
            </a:r>
          </a:p>
        </p:txBody>
      </p:sp>
    </p:spTree>
    <p:extLst>
      <p:ext uri="{BB962C8B-B14F-4D97-AF65-F5344CB8AC3E}">
        <p14:creationId xmlns:p14="http://schemas.microsoft.com/office/powerpoint/2010/main" val="1291987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2922" y="164414"/>
            <a:ext cx="4930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Characterization Tests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4" y="900785"/>
            <a:ext cx="8608975" cy="366510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Test a small amount of </a:t>
            </a:r>
            <a:r>
              <a:rPr sz="2000" b="1" spc="-5" dirty="0">
                <a:latin typeface="Arial"/>
                <a:cs typeface="Arial"/>
              </a:rPr>
              <a:t>prototype </a:t>
            </a:r>
            <a:r>
              <a:rPr sz="2000" b="1" dirty="0">
                <a:latin typeface="Arial"/>
                <a:cs typeface="Arial"/>
              </a:rPr>
              <a:t>IC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very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thoroughly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Test cost and test time are not big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concerns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Purpose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characterization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1. Verify IC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function </a:t>
            </a:r>
            <a:r>
              <a:rPr sz="2000" b="1" dirty="0">
                <a:latin typeface="Arial"/>
                <a:cs typeface="Arial"/>
              </a:rPr>
              <a:t>is same as design (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silicon</a:t>
            </a:r>
            <a:r>
              <a:rPr sz="2000" b="1" spc="-1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debug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2. Confirm IC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specifications </a:t>
            </a:r>
            <a:r>
              <a:rPr sz="2000" b="1" dirty="0">
                <a:latin typeface="Arial"/>
                <a:cs typeface="Arial"/>
              </a:rPr>
              <a:t>under different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200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conditions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Specifications: </a:t>
            </a:r>
            <a:r>
              <a:rPr sz="2000" b="1" spc="-5" dirty="0">
                <a:latin typeface="Arial"/>
                <a:cs typeface="Arial"/>
              </a:rPr>
              <a:t>speed, </a:t>
            </a:r>
            <a:r>
              <a:rPr sz="2000" b="1" dirty="0">
                <a:latin typeface="Arial"/>
                <a:cs typeface="Arial"/>
              </a:rPr>
              <a:t>VOH/VOL, </a:t>
            </a:r>
            <a:r>
              <a:rPr sz="2000" b="1" spc="-5" dirty="0">
                <a:latin typeface="Arial"/>
                <a:cs typeface="Arial"/>
              </a:rPr>
              <a:t>rise/fall </a:t>
            </a:r>
            <a:r>
              <a:rPr sz="2000" b="1" dirty="0">
                <a:latin typeface="Arial"/>
                <a:cs typeface="Arial"/>
              </a:rPr>
              <a:t>time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…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  <a:tabLst>
                <a:tab pos="4993005" algn="l"/>
              </a:tabLst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Conditions: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VDD,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Temperature	…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3. </a:t>
            </a:r>
            <a:r>
              <a:rPr lang="en-US" sz="2000" b="1" spc="-5" dirty="0">
                <a:latin typeface="Arial"/>
                <a:cs typeface="Arial"/>
              </a:rPr>
              <a:t>Characterization test helps develop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 program </a:t>
            </a:r>
            <a:r>
              <a:rPr sz="2000" b="1" dirty="0">
                <a:latin typeface="Arial"/>
                <a:cs typeface="Arial"/>
              </a:rPr>
              <a:t>for production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Determine Pass/Fail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limits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122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69178" y="6529127"/>
            <a:ext cx="124587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VLSI </a:t>
            </a:r>
            <a:r>
              <a:rPr sz="1200" b="1" spc="-25" dirty="0">
                <a:solidFill>
                  <a:srgbClr val="B1B1B1"/>
                </a:solidFill>
                <a:latin typeface="Helvetica"/>
                <a:cs typeface="Helvetica"/>
              </a:rPr>
              <a:t>Test </a:t>
            </a:r>
            <a:r>
              <a:rPr sz="1200" b="1" spc="-5" dirty="0">
                <a:solidFill>
                  <a:srgbClr val="B1B1B1"/>
                </a:solidFill>
                <a:latin typeface="Helvetica"/>
                <a:cs typeface="Helvetica"/>
              </a:rPr>
              <a:t>1.2 </a:t>
            </a:r>
            <a:r>
              <a:rPr sz="1200" b="1" spc="-285" dirty="0">
                <a:solidFill>
                  <a:srgbClr val="B1B1B1"/>
                </a:solidFill>
                <a:latin typeface="Helvetica"/>
                <a:cs typeface="Helvetica"/>
              </a:rPr>
              <a:t>©</a:t>
            </a:r>
            <a:r>
              <a:rPr sz="1200" b="1" spc="-254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sz="1200" b="1" spc="-5" dirty="0">
                <a:solidFill>
                  <a:srgbClr val="B1B1B1"/>
                </a:solidFill>
                <a:latin typeface="Helvetica"/>
                <a:cs typeface="Helvetica"/>
              </a:rPr>
              <a:t>N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24276" y="164414"/>
            <a:ext cx="2564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  <a:latin typeface="Arial"/>
                <a:cs typeface="Arial"/>
              </a:rPr>
              <a:t>Shmoo Plot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0225" y="961136"/>
            <a:ext cx="8550275" cy="1062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Graphical display of CUT test results under different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2000" b="1" spc="-1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conditions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 clock period </a:t>
            </a:r>
            <a:r>
              <a:rPr lang="en-US" sz="2000" b="1" dirty="0">
                <a:latin typeface="Arial"/>
                <a:cs typeface="Arial"/>
              </a:rPr>
              <a:t>(X-axis) </a:t>
            </a:r>
            <a:r>
              <a:rPr sz="2000" b="1" spc="-10" dirty="0">
                <a:latin typeface="Arial"/>
                <a:cs typeface="Arial"/>
              </a:rPr>
              <a:t>vs.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VDD</a:t>
            </a:r>
            <a:r>
              <a:rPr lang="en-US" sz="2000" b="1" dirty="0">
                <a:latin typeface="Arial"/>
                <a:cs typeface="Arial"/>
              </a:rPr>
              <a:t> (Y-axis)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766060" algn="l"/>
              </a:tabLst>
            </a:pPr>
            <a:r>
              <a:rPr sz="2000" b="1" dirty="0">
                <a:latin typeface="Arial"/>
                <a:cs typeface="Arial"/>
              </a:rPr>
              <a:t>Green =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PASS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;	Red =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FAIL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59151" y="2362200"/>
            <a:ext cx="4756404" cy="4331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52596" y="4368241"/>
            <a:ext cx="2954020" cy="1514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60" dirty="0">
                <a:latin typeface="Helvetica"/>
                <a:cs typeface="Helvetica"/>
              </a:rPr>
              <a:t>PASS</a:t>
            </a:r>
            <a:endParaRPr sz="32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50">
              <a:latin typeface="Helvetica"/>
              <a:cs typeface="Helvetica"/>
            </a:endParaRPr>
          </a:p>
          <a:p>
            <a:pPr marR="5080" algn="r">
              <a:lnSpc>
                <a:spcPct val="100000"/>
              </a:lnSpc>
            </a:pPr>
            <a:r>
              <a:rPr sz="3200" b="1" spc="-185" dirty="0">
                <a:latin typeface="Helvetica"/>
                <a:cs typeface="Helvetica"/>
              </a:rPr>
              <a:t>F</a:t>
            </a:r>
            <a:r>
              <a:rPr sz="3200" b="1" dirty="0">
                <a:latin typeface="Helvetica"/>
                <a:cs typeface="Helvetica"/>
              </a:rPr>
              <a:t>AIL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0C07753-6008-8076-A9B4-368D41B0029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356512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33444" y="3881628"/>
            <a:ext cx="2098675" cy="425450"/>
          </a:xfrm>
          <a:custGeom>
            <a:avLst/>
            <a:gdLst/>
            <a:ahLst/>
            <a:cxnLst/>
            <a:rect l="l" t="t" r="r" b="b"/>
            <a:pathLst>
              <a:path w="2098675" h="425450">
                <a:moveTo>
                  <a:pt x="0" y="425196"/>
                </a:moveTo>
                <a:lnTo>
                  <a:pt x="2098548" y="425196"/>
                </a:lnTo>
                <a:lnTo>
                  <a:pt x="2098548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1893" y="1576843"/>
            <a:ext cx="28829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Testing (generally</a:t>
            </a:r>
            <a:r>
              <a:rPr sz="1750" spc="4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speaking)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4551" y="2295940"/>
            <a:ext cx="4633595" cy="0"/>
          </a:xfrm>
          <a:custGeom>
            <a:avLst/>
            <a:gdLst/>
            <a:ahLst/>
            <a:cxnLst/>
            <a:rect l="l" t="t" r="r" b="b"/>
            <a:pathLst>
              <a:path w="4633595">
                <a:moveTo>
                  <a:pt x="0" y="0"/>
                </a:moveTo>
                <a:lnTo>
                  <a:pt x="463301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0390" y="1865422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0"/>
                </a:moveTo>
                <a:lnTo>
                  <a:pt x="0" y="43051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18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039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3474" y="22959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521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2162" y="2590959"/>
            <a:ext cx="1125855" cy="5473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04470">
              <a:lnSpc>
                <a:spcPts val="2000"/>
              </a:lnSpc>
              <a:spcBef>
                <a:spcPts val="250"/>
              </a:spcBef>
            </a:pPr>
            <a:r>
              <a:rPr sz="1750" spc="-5" dirty="0">
                <a:latin typeface="Helvetica"/>
                <a:cs typeface="Helvetica"/>
              </a:rPr>
              <a:t>Design  </a:t>
            </a:r>
            <a:r>
              <a:rPr sz="1750" dirty="0">
                <a:latin typeface="Helvetica"/>
                <a:cs typeface="Helvetica"/>
              </a:rPr>
              <a:t>V</a:t>
            </a:r>
            <a:r>
              <a:rPr sz="1750" spc="-10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rification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9063" y="2562233"/>
            <a:ext cx="152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Explicit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9370" y="2590959"/>
            <a:ext cx="1819275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54940" marR="5080" indent="-142875">
              <a:lnSpc>
                <a:spcPts val="2010"/>
              </a:lnSpc>
              <a:spcBef>
                <a:spcPts val="244"/>
              </a:spcBef>
            </a:pPr>
            <a:r>
              <a:rPr sz="1750" spc="-5" dirty="0">
                <a:latin typeface="Helvetica"/>
                <a:cs typeface="Helvetica"/>
              </a:rPr>
              <a:t>Implicit Testing </a:t>
            </a:r>
            <a:r>
              <a:rPr sz="1750" dirty="0">
                <a:latin typeface="Helvetica"/>
                <a:cs typeface="Helvetica"/>
              </a:rPr>
              <a:t>Or  </a:t>
            </a:r>
            <a:r>
              <a:rPr sz="1750" spc="-5" dirty="0">
                <a:latin typeface="Helvetica"/>
                <a:cs typeface="Helvetica"/>
              </a:rPr>
              <a:t>On-line</a:t>
            </a:r>
            <a:r>
              <a:rPr sz="1750" spc="-2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56671" y="2878796"/>
            <a:ext cx="0" cy="833119"/>
          </a:xfrm>
          <a:custGeom>
            <a:avLst/>
            <a:gdLst/>
            <a:ahLst/>
            <a:cxnLst/>
            <a:rect l="l" t="t" r="r" b="b"/>
            <a:pathLst>
              <a:path h="833120">
                <a:moveTo>
                  <a:pt x="0" y="0"/>
                </a:moveTo>
                <a:lnTo>
                  <a:pt x="0" y="832864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0461" y="3670148"/>
            <a:ext cx="6316980" cy="0"/>
          </a:xfrm>
          <a:custGeom>
            <a:avLst/>
            <a:gdLst/>
            <a:ahLst/>
            <a:cxnLst/>
            <a:rect l="l" t="t" r="r" b="b"/>
            <a:pathLst>
              <a:path w="6316980">
                <a:moveTo>
                  <a:pt x="0" y="0"/>
                </a:moveTo>
                <a:lnTo>
                  <a:pt x="631640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046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667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65430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657" y="3977954"/>
            <a:ext cx="1645285" cy="5473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636270" marR="5080" indent="-624205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Ch</a:t>
            </a:r>
            <a:r>
              <a:rPr sz="1750" spc="-10" dirty="0">
                <a:latin typeface="Helvetica"/>
                <a:cs typeface="Helvetica"/>
              </a:rPr>
              <a:t>a</a:t>
            </a:r>
            <a:r>
              <a:rPr sz="1750" dirty="0">
                <a:latin typeface="Helvetica"/>
                <a:cs typeface="Helvetica"/>
              </a:rPr>
              <a:t>racterizati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94489" y="3965722"/>
            <a:ext cx="15849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Production</a:t>
            </a:r>
            <a:r>
              <a:rPr sz="1750" spc="-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33444" y="3963498"/>
            <a:ext cx="20986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Reliability</a:t>
            </a:r>
            <a:r>
              <a:rPr sz="1750" spc="-1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3145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96033" y="3964610"/>
            <a:ext cx="1497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Diagnosis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6507" y="5534085"/>
            <a:ext cx="8576945" cy="0"/>
          </a:xfrm>
          <a:custGeom>
            <a:avLst/>
            <a:gdLst/>
            <a:ahLst/>
            <a:cxnLst/>
            <a:rect l="l" t="t" r="r" b="b"/>
            <a:pathLst>
              <a:path w="8576945">
                <a:moveTo>
                  <a:pt x="0" y="0"/>
                </a:moveTo>
                <a:lnTo>
                  <a:pt x="8576743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7249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5664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50008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2098" y="5825953"/>
            <a:ext cx="61976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93345" marR="5080" indent="-8128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G</a:t>
            </a:r>
            <a:r>
              <a:rPr sz="1750" spc="5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oss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6812" y="5825953"/>
            <a:ext cx="14605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13715" marR="5080" indent="-50165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DC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412" y="5838166"/>
            <a:ext cx="14478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07365" marR="5080" indent="-49530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AC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94352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510933" y="5825953"/>
            <a:ext cx="84201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03835" marR="5080" indent="-191770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o</a:t>
            </a:r>
            <a:r>
              <a:rPr sz="1750" spc="-10" dirty="0">
                <a:latin typeface="Helvetica"/>
                <a:cs typeface="Helvetica"/>
              </a:rPr>
              <a:t>l</a:t>
            </a:r>
            <a:r>
              <a:rPr sz="1750" spc="5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an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70390" y="4280804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07280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64020" y="5810404"/>
            <a:ext cx="10883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Delay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1679" y="4673180"/>
            <a:ext cx="3172460" cy="0"/>
          </a:xfrm>
          <a:custGeom>
            <a:avLst/>
            <a:gdLst/>
            <a:ahLst/>
            <a:cxnLst/>
            <a:rect l="l" t="t" r="r" b="b"/>
            <a:pathLst>
              <a:path w="3172460">
                <a:moveTo>
                  <a:pt x="0" y="0"/>
                </a:moveTo>
                <a:lnTo>
                  <a:pt x="3172059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8016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91358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31533" y="46835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97841" y="4977614"/>
            <a:ext cx="11150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Wafer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370" y="4977614"/>
            <a:ext cx="13862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Package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51614" y="4977614"/>
            <a:ext cx="12630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System</a:t>
            </a:r>
            <a:r>
              <a:rPr sz="1750" spc="-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56653" y="4977614"/>
            <a:ext cx="7423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u</a:t>
            </a:r>
            <a:r>
              <a:rPr sz="1750" dirty="0">
                <a:latin typeface="Helvetica"/>
                <a:cs typeface="Helvetica"/>
              </a:rPr>
              <a:t>rn-</a:t>
            </a:r>
            <a:r>
              <a:rPr sz="1750" spc="-5" dirty="0">
                <a:latin typeface="Helvetica"/>
                <a:cs typeface="Helvetica"/>
              </a:rPr>
              <a:t>in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80856" y="5266490"/>
            <a:ext cx="0" cy="264160"/>
          </a:xfrm>
          <a:custGeom>
            <a:avLst/>
            <a:gdLst/>
            <a:ahLst/>
            <a:cxnLst/>
            <a:rect l="l" t="t" r="r" b="b"/>
            <a:pathLst>
              <a:path h="264160">
                <a:moveTo>
                  <a:pt x="0" y="0"/>
                </a:moveTo>
                <a:lnTo>
                  <a:pt x="0" y="26390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77639" y="5294252"/>
            <a:ext cx="0" cy="236220"/>
          </a:xfrm>
          <a:custGeom>
            <a:avLst/>
            <a:gdLst/>
            <a:ahLst/>
            <a:cxnLst/>
            <a:rect l="l" t="t" r="r" b="b"/>
            <a:pathLst>
              <a:path h="236220">
                <a:moveTo>
                  <a:pt x="0" y="0"/>
                </a:moveTo>
                <a:lnTo>
                  <a:pt x="0" y="23614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63739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636607" y="5534085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23251" y="5523725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440759" y="5810404"/>
            <a:ext cx="64389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11760" marR="5080" indent="-9969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IDDQ,  </a:t>
            </a:r>
            <a:r>
              <a:rPr sz="1750" spc="-5" dirty="0">
                <a:latin typeface="Helvetica"/>
                <a:cs typeface="Helvetica"/>
              </a:rPr>
              <a:t>VLV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068277" y="5790407"/>
            <a:ext cx="105156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08610" marR="5080" indent="-29654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Fu</a:t>
            </a:r>
            <a:r>
              <a:rPr sz="1750" spc="-10" dirty="0">
                <a:latin typeface="Helvetica"/>
                <a:cs typeface="Helvetica"/>
              </a:rPr>
              <a:t>n</a:t>
            </a:r>
            <a:r>
              <a:rPr sz="1750" dirty="0">
                <a:latin typeface="Helvetica"/>
                <a:cs typeface="Helvetica"/>
              </a:rPr>
              <a:t>ctional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965430" y="4284510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631533" y="4673180"/>
            <a:ext cx="1169035" cy="0"/>
          </a:xfrm>
          <a:custGeom>
            <a:avLst/>
            <a:gdLst/>
            <a:ahLst/>
            <a:cxnLst/>
            <a:rect l="l" t="t" r="r" b="b"/>
            <a:pathLst>
              <a:path w="1169035">
                <a:moveTo>
                  <a:pt x="0" y="0"/>
                </a:moveTo>
                <a:lnTo>
                  <a:pt x="1168918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800451" y="467318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650373" y="4976502"/>
            <a:ext cx="12992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Acc. Life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spc="-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77810" y="2545461"/>
            <a:ext cx="15227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don’t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worry</a:t>
            </a:r>
            <a:r>
              <a:rPr sz="1400" b="1" spc="-1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about 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names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too</a:t>
            </a:r>
            <a:r>
              <a:rPr sz="1400" b="1" spc="-7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much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452359" y="876300"/>
            <a:ext cx="1421892" cy="1645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14663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BD10B804-4D0C-C3CA-CDE0-48B1A3F1BC5C}"/>
              </a:ext>
            </a:extLst>
          </p:cNvPr>
          <p:cNvSpPr txBox="1">
            <a:spLocks/>
          </p:cNvSpPr>
          <p:nvPr/>
        </p:nvSpPr>
        <p:spPr>
          <a:xfrm>
            <a:off x="2294887" y="228600"/>
            <a:ext cx="4029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ea typeface="+mj-ea"/>
                <a:cs typeface="HelveticaNeue-BoldItalic"/>
              </a:defRPr>
            </a:lvl1pPr>
          </a:lstStyle>
          <a:p>
            <a:pPr marL="25400">
              <a:spcBef>
                <a:spcPts val="100"/>
              </a:spcBef>
            </a:pPr>
            <a:r>
              <a:rPr lang="en-US" kern="0" dirty="0">
                <a:solidFill>
                  <a:srgbClr val="00B050"/>
                </a:solidFill>
                <a:latin typeface="Arial"/>
                <a:cs typeface="Arial"/>
              </a:rPr>
              <a:t>Types of Testing</a:t>
            </a:r>
          </a:p>
        </p:txBody>
      </p:sp>
    </p:spTree>
    <p:extLst>
      <p:ext uri="{BB962C8B-B14F-4D97-AF65-F5344CB8AC3E}">
        <p14:creationId xmlns:p14="http://schemas.microsoft.com/office/powerpoint/2010/main" val="2352351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3360" y="164414"/>
            <a:ext cx="3505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Reliability Tests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747000" cy="335732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Burn-in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Goal: screen out </a:t>
            </a:r>
            <a:r>
              <a:rPr lang="en-US" sz="2000" b="1" i="1" spc="-5" dirty="0">
                <a:solidFill>
                  <a:srgbClr val="FF0000"/>
                </a:solidFill>
                <a:latin typeface="Arial-BoldItalicMT"/>
                <a:cs typeface="Arial"/>
              </a:rPr>
              <a:t>e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arly-life</a:t>
            </a:r>
            <a:r>
              <a:rPr sz="2000" b="1" i="1" spc="-18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failure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Method: raised temperature and </a:t>
            </a:r>
            <a:r>
              <a:rPr sz="2000" b="1" spc="-5" dirty="0">
                <a:latin typeface="Arial"/>
                <a:cs typeface="Arial"/>
              </a:rPr>
              <a:t>voltage </a:t>
            </a:r>
            <a:r>
              <a:rPr sz="2000" b="1" dirty="0">
                <a:latin typeface="Arial"/>
                <a:cs typeface="Arial"/>
              </a:rPr>
              <a:t>for hours </a:t>
            </a:r>
            <a:r>
              <a:rPr sz="2000" b="1" spc="-5" dirty="0">
                <a:latin typeface="Arial"/>
                <a:cs typeface="Arial"/>
              </a:rPr>
              <a:t>or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days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cook IC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20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oven</a:t>
            </a:r>
            <a:r>
              <a:rPr sz="2000" b="1" spc="-5" dirty="0">
                <a:latin typeface="Arial"/>
                <a:cs typeface="Arial"/>
              </a:rPr>
              <a:t>!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319655" algn="l"/>
              </a:tabLst>
            </a:pPr>
            <a:r>
              <a:rPr sz="2000" b="1" dirty="0">
                <a:latin typeface="Arial"/>
                <a:cs typeface="Arial"/>
              </a:rPr>
              <a:t>Very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costly.	</a:t>
            </a:r>
            <a:r>
              <a:rPr sz="2000" b="1" dirty="0">
                <a:latin typeface="Arial"/>
                <a:cs typeface="Arial"/>
              </a:rPr>
              <a:t>Only applied to </a:t>
            </a:r>
            <a:r>
              <a:rPr sz="2000" b="1" spc="-5" dirty="0">
                <a:latin typeface="Arial"/>
                <a:cs typeface="Arial"/>
              </a:rPr>
              <a:t>expensive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IC</a:t>
            </a:r>
            <a:r>
              <a:rPr lang="en-US" sz="2000" b="1" spc="-5" dirty="0">
                <a:latin typeface="Arial"/>
                <a:cs typeface="Arial"/>
              </a:rPr>
              <a:t> such as CPU</a:t>
            </a:r>
            <a:endParaRPr sz="2000" dirty="0">
              <a:latin typeface="Arial"/>
              <a:cs typeface="Arial"/>
            </a:endParaRPr>
          </a:p>
          <a:p>
            <a:pPr marL="425450" indent="-413384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425450" algn="l"/>
                <a:tab pos="426084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Accelerated </a:t>
            </a:r>
            <a:r>
              <a:rPr lang="en-US"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L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ife</a:t>
            </a:r>
            <a:r>
              <a:rPr sz="2000" b="1" i="1" spc="-7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lang="en-US" sz="2000" b="1" i="1" spc="-75" dirty="0">
                <a:solidFill>
                  <a:srgbClr val="FF0000"/>
                </a:solidFill>
                <a:latin typeface="Arial-BoldItalicMT"/>
                <a:cs typeface="Arial-BoldItalicMT"/>
              </a:rPr>
              <a:t>T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est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 (ALT)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Goal: estimate </a:t>
            </a:r>
            <a:r>
              <a:rPr sz="2000" b="1" spc="-5" dirty="0">
                <a:latin typeface="Arial"/>
                <a:cs typeface="Arial"/>
              </a:rPr>
              <a:t>life </a:t>
            </a:r>
            <a:r>
              <a:rPr sz="2000" b="1" dirty="0">
                <a:latin typeface="Arial"/>
                <a:cs typeface="Arial"/>
              </a:rPr>
              <a:t>time of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IC</a:t>
            </a:r>
            <a:r>
              <a:rPr lang="en-US" sz="2000" b="1" dirty="0">
                <a:latin typeface="Arial"/>
                <a:cs typeface="Arial"/>
              </a:rPr>
              <a:t> to estimate wear-out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1884680" algn="l"/>
              </a:tabLst>
            </a:pPr>
            <a:r>
              <a:rPr sz="2000" b="1" dirty="0">
                <a:latin typeface="Arial"/>
                <a:cs typeface="Arial"/>
              </a:rPr>
              <a:t>Method:	burn-in until IC </a:t>
            </a:r>
            <a:r>
              <a:rPr lang="en-US" sz="2000" b="1" dirty="0">
                <a:latin typeface="Arial"/>
                <a:cs typeface="Arial"/>
              </a:rPr>
              <a:t>is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dead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Only applied to </a:t>
            </a:r>
            <a:r>
              <a:rPr lang="en-US" sz="2000" b="1" dirty="0">
                <a:latin typeface="Arial"/>
                <a:cs typeface="Arial"/>
              </a:rPr>
              <a:t>some </a:t>
            </a:r>
            <a:r>
              <a:rPr sz="2000" b="1" dirty="0">
                <a:latin typeface="Arial"/>
                <a:cs typeface="Arial"/>
              </a:rPr>
              <a:t>sampled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IC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59196" y="3470147"/>
            <a:ext cx="3028188" cy="2610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9075" y="4347971"/>
            <a:ext cx="3500628" cy="16306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39205" y="6053124"/>
            <a:ext cx="283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Helvetica"/>
                <a:cs typeface="Helvetica"/>
              </a:rPr>
              <a:t>Burn-in </a:t>
            </a:r>
            <a:r>
              <a:rPr sz="1800" b="1" spc="-15" dirty="0">
                <a:solidFill>
                  <a:srgbClr val="FF0000"/>
                </a:solidFill>
                <a:latin typeface="Helvetica"/>
                <a:cs typeface="Helvetica"/>
              </a:rPr>
              <a:t>oven</a:t>
            </a:r>
            <a:r>
              <a:rPr sz="1800" b="1" spc="6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200" b="1" spc="-5" dirty="0">
                <a:solidFill>
                  <a:srgbClr val="FF8080"/>
                </a:solidFill>
                <a:latin typeface="Helvetica"/>
                <a:cs typeface="Helvetica"/>
              </a:rPr>
              <a:t>siliconfareast.com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462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2039492" y="6217716"/>
            <a:ext cx="1537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Helvetica"/>
                <a:cs typeface="Helvetica"/>
              </a:rPr>
              <a:t>Burn-in</a:t>
            </a:r>
            <a:r>
              <a:rPr sz="1800" b="1" spc="-4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Helvetica"/>
                <a:cs typeface="Helvetica"/>
              </a:rPr>
              <a:t>board</a:t>
            </a:r>
            <a:endParaRPr sz="18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7077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164414"/>
            <a:ext cx="5410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Bathtub Curve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524" y="900785"/>
            <a:ext cx="8084463" cy="101822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34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IC’s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failure rate</a:t>
            </a:r>
            <a:r>
              <a:rPr sz="1950" b="1" i="1" baseline="25641" dirty="0">
                <a:solidFill>
                  <a:srgbClr val="FF0000"/>
                </a:solidFill>
                <a:latin typeface="Arial-BoldItalicMT"/>
                <a:cs typeface="Arial-BoldItalicMT"/>
              </a:rPr>
              <a:t>* </a:t>
            </a:r>
            <a:r>
              <a:rPr sz="2000" b="1" dirty="0">
                <a:latin typeface="Arial"/>
                <a:cs typeface="Arial"/>
              </a:rPr>
              <a:t>resembles a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bathtub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240"/>
              </a:spcBef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"/>
              </a:rPr>
              <a:t>Early-life failure</a:t>
            </a:r>
            <a:r>
              <a:rPr sz="2000" b="1" dirty="0">
                <a:latin typeface="Arial"/>
                <a:cs typeface="Arial"/>
              </a:rPr>
              <a:t>: fail early in </a:t>
            </a:r>
            <a:r>
              <a:rPr sz="2000" b="1" spc="-5" dirty="0">
                <a:latin typeface="Arial"/>
                <a:cs typeface="Arial"/>
              </a:rPr>
              <a:t>life, </a:t>
            </a:r>
            <a:r>
              <a:rPr sz="2000" b="1" dirty="0">
                <a:latin typeface="Arial"/>
                <a:cs typeface="Arial"/>
              </a:rPr>
              <a:t>due to </a:t>
            </a:r>
            <a:r>
              <a:rPr sz="20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reliability</a:t>
            </a:r>
            <a:r>
              <a:rPr sz="2000" b="1" i="1" spc="-180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defects</a:t>
            </a:r>
            <a:endParaRPr sz="2000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240"/>
              </a:spcBef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Wear out</a:t>
            </a:r>
            <a:r>
              <a:rPr sz="2000" b="1" dirty="0">
                <a:latin typeface="Arial"/>
                <a:cs typeface="Arial"/>
              </a:rPr>
              <a:t>: normal </a:t>
            </a:r>
            <a:r>
              <a:rPr sz="2000" b="1" spc="-5" dirty="0">
                <a:latin typeface="Arial"/>
                <a:cs typeface="Arial"/>
              </a:rPr>
              <a:t>life </a:t>
            </a:r>
            <a:r>
              <a:rPr sz="2000" b="1" dirty="0">
                <a:latin typeface="Arial"/>
                <a:cs typeface="Arial"/>
              </a:rPr>
              <a:t>time, due to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aging</a:t>
            </a:r>
            <a:endParaRPr sz="2000" dirty="0">
              <a:latin typeface="Arial-BoldItalicMT"/>
              <a:cs typeface="Arial-BoldItalic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3886" y="5350764"/>
            <a:ext cx="5105400" cy="114300"/>
          </a:xfrm>
          <a:custGeom>
            <a:avLst/>
            <a:gdLst/>
            <a:ahLst/>
            <a:cxnLst/>
            <a:rect l="l" t="t" r="r" b="b"/>
            <a:pathLst>
              <a:path w="5105400" h="114300">
                <a:moveTo>
                  <a:pt x="4991100" y="0"/>
                </a:moveTo>
                <a:lnTo>
                  <a:pt x="4991100" y="114300"/>
                </a:lnTo>
                <a:lnTo>
                  <a:pt x="5067300" y="76200"/>
                </a:lnTo>
                <a:lnTo>
                  <a:pt x="5010150" y="76200"/>
                </a:lnTo>
                <a:lnTo>
                  <a:pt x="5010150" y="38100"/>
                </a:lnTo>
                <a:lnTo>
                  <a:pt x="5067300" y="38100"/>
                </a:lnTo>
                <a:lnTo>
                  <a:pt x="4991100" y="0"/>
                </a:lnTo>
                <a:close/>
              </a:path>
              <a:path w="5105400" h="114300">
                <a:moveTo>
                  <a:pt x="4991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991100" y="76200"/>
                </a:lnTo>
                <a:lnTo>
                  <a:pt x="4991100" y="38100"/>
                </a:lnTo>
                <a:close/>
              </a:path>
              <a:path w="5105400" h="114300">
                <a:moveTo>
                  <a:pt x="5067300" y="38100"/>
                </a:moveTo>
                <a:lnTo>
                  <a:pt x="5010150" y="38100"/>
                </a:lnTo>
                <a:lnTo>
                  <a:pt x="5010150" y="76200"/>
                </a:lnTo>
                <a:lnTo>
                  <a:pt x="5067300" y="76200"/>
                </a:lnTo>
                <a:lnTo>
                  <a:pt x="5105400" y="57150"/>
                </a:lnTo>
                <a:lnTo>
                  <a:pt x="50673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9369" y="2532126"/>
            <a:ext cx="114300" cy="2875915"/>
          </a:xfrm>
          <a:custGeom>
            <a:avLst/>
            <a:gdLst/>
            <a:ahLst/>
            <a:cxnLst/>
            <a:rect l="l" t="t" r="r" b="b"/>
            <a:pathLst>
              <a:path w="114300" h="2875915">
                <a:moveTo>
                  <a:pt x="76250" y="114257"/>
                </a:moveTo>
                <a:lnTo>
                  <a:pt x="38150" y="114342"/>
                </a:lnTo>
                <a:lnTo>
                  <a:pt x="45466" y="2875788"/>
                </a:lnTo>
                <a:lnTo>
                  <a:pt x="83566" y="2875788"/>
                </a:lnTo>
                <a:lnTo>
                  <a:pt x="76250" y="114257"/>
                </a:lnTo>
                <a:close/>
              </a:path>
              <a:path w="114300" h="2875915">
                <a:moveTo>
                  <a:pt x="56896" y="0"/>
                </a:moveTo>
                <a:lnTo>
                  <a:pt x="0" y="114426"/>
                </a:lnTo>
                <a:lnTo>
                  <a:pt x="38150" y="114342"/>
                </a:lnTo>
                <a:lnTo>
                  <a:pt x="38100" y="95250"/>
                </a:lnTo>
                <a:lnTo>
                  <a:pt x="104785" y="95250"/>
                </a:lnTo>
                <a:lnTo>
                  <a:pt x="56896" y="0"/>
                </a:lnTo>
                <a:close/>
              </a:path>
              <a:path w="114300" h="2875915">
                <a:moveTo>
                  <a:pt x="76200" y="95250"/>
                </a:moveTo>
                <a:lnTo>
                  <a:pt x="38100" y="95250"/>
                </a:lnTo>
                <a:lnTo>
                  <a:pt x="38150" y="114342"/>
                </a:lnTo>
                <a:lnTo>
                  <a:pt x="76250" y="114257"/>
                </a:lnTo>
                <a:lnTo>
                  <a:pt x="76200" y="95250"/>
                </a:lnTo>
                <a:close/>
              </a:path>
              <a:path w="114300" h="2875915">
                <a:moveTo>
                  <a:pt x="104785" y="95250"/>
                </a:moveTo>
                <a:lnTo>
                  <a:pt x="76200" y="95250"/>
                </a:lnTo>
                <a:lnTo>
                  <a:pt x="76250" y="114257"/>
                </a:lnTo>
                <a:lnTo>
                  <a:pt x="114300" y="114173"/>
                </a:lnTo>
                <a:lnTo>
                  <a:pt x="10478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2486" y="3350514"/>
            <a:ext cx="4650105" cy="1802130"/>
          </a:xfrm>
          <a:custGeom>
            <a:avLst/>
            <a:gdLst/>
            <a:ahLst/>
            <a:cxnLst/>
            <a:rect l="l" t="t" r="r" b="b"/>
            <a:pathLst>
              <a:path w="4650105" h="1802129">
                <a:moveTo>
                  <a:pt x="0" y="0"/>
                </a:moveTo>
                <a:lnTo>
                  <a:pt x="13906" y="59445"/>
                </a:lnTo>
                <a:lnTo>
                  <a:pt x="21798" y="97122"/>
                </a:lnTo>
                <a:lnTo>
                  <a:pt x="30347" y="139294"/>
                </a:lnTo>
                <a:lnTo>
                  <a:pt x="39575" y="185352"/>
                </a:lnTo>
                <a:lnTo>
                  <a:pt x="49506" y="234691"/>
                </a:lnTo>
                <a:lnTo>
                  <a:pt x="60162" y="286703"/>
                </a:lnTo>
                <a:lnTo>
                  <a:pt x="71565" y="340781"/>
                </a:lnTo>
                <a:lnTo>
                  <a:pt x="83740" y="396319"/>
                </a:lnTo>
                <a:lnTo>
                  <a:pt x="96709" y="452709"/>
                </a:lnTo>
                <a:lnTo>
                  <a:pt x="110494" y="509345"/>
                </a:lnTo>
                <a:lnTo>
                  <a:pt x="125118" y="565620"/>
                </a:lnTo>
                <a:lnTo>
                  <a:pt x="140605" y="620926"/>
                </a:lnTo>
                <a:lnTo>
                  <a:pt x="156977" y="674658"/>
                </a:lnTo>
                <a:lnTo>
                  <a:pt x="174257" y="726207"/>
                </a:lnTo>
                <a:lnTo>
                  <a:pt x="192468" y="774968"/>
                </a:lnTo>
                <a:lnTo>
                  <a:pt x="211633" y="820333"/>
                </a:lnTo>
                <a:lnTo>
                  <a:pt x="231775" y="861694"/>
                </a:lnTo>
                <a:lnTo>
                  <a:pt x="257193" y="907822"/>
                </a:lnTo>
                <a:lnTo>
                  <a:pt x="283907" y="952313"/>
                </a:lnTo>
                <a:lnTo>
                  <a:pt x="311905" y="995223"/>
                </a:lnTo>
                <a:lnTo>
                  <a:pt x="341173" y="1036611"/>
                </a:lnTo>
                <a:lnTo>
                  <a:pt x="371696" y="1076531"/>
                </a:lnTo>
                <a:lnTo>
                  <a:pt x="403460" y="1115042"/>
                </a:lnTo>
                <a:lnTo>
                  <a:pt x="436453" y="1152200"/>
                </a:lnTo>
                <a:lnTo>
                  <a:pt x="470660" y="1188060"/>
                </a:lnTo>
                <a:lnTo>
                  <a:pt x="506067" y="1222681"/>
                </a:lnTo>
                <a:lnTo>
                  <a:pt x="542661" y="1256119"/>
                </a:lnTo>
                <a:lnTo>
                  <a:pt x="580428" y="1288430"/>
                </a:lnTo>
                <a:lnTo>
                  <a:pt x="619354" y="1319671"/>
                </a:lnTo>
                <a:lnTo>
                  <a:pt x="659426" y="1349898"/>
                </a:lnTo>
                <a:lnTo>
                  <a:pt x="700629" y="1379169"/>
                </a:lnTo>
                <a:lnTo>
                  <a:pt x="742950" y="1407541"/>
                </a:lnTo>
                <a:lnTo>
                  <a:pt x="783764" y="1433159"/>
                </a:lnTo>
                <a:lnTo>
                  <a:pt x="825826" y="1457694"/>
                </a:lnTo>
                <a:lnTo>
                  <a:pt x="869080" y="1481176"/>
                </a:lnTo>
                <a:lnTo>
                  <a:pt x="913471" y="1503634"/>
                </a:lnTo>
                <a:lnTo>
                  <a:pt x="958942" y="1525099"/>
                </a:lnTo>
                <a:lnTo>
                  <a:pt x="1005438" y="1545600"/>
                </a:lnTo>
                <a:lnTo>
                  <a:pt x="1052902" y="1565168"/>
                </a:lnTo>
                <a:lnTo>
                  <a:pt x="1101280" y="1583832"/>
                </a:lnTo>
                <a:lnTo>
                  <a:pt x="1150515" y="1601623"/>
                </a:lnTo>
                <a:lnTo>
                  <a:pt x="1200551" y="1618570"/>
                </a:lnTo>
                <a:lnTo>
                  <a:pt x="1251333" y="1634703"/>
                </a:lnTo>
                <a:lnTo>
                  <a:pt x="1302805" y="1650053"/>
                </a:lnTo>
                <a:lnTo>
                  <a:pt x="1354911" y="1664649"/>
                </a:lnTo>
                <a:lnTo>
                  <a:pt x="1407595" y="1678521"/>
                </a:lnTo>
                <a:lnTo>
                  <a:pt x="1460801" y="1691699"/>
                </a:lnTo>
                <a:lnTo>
                  <a:pt x="1514475" y="1704213"/>
                </a:lnTo>
                <a:lnTo>
                  <a:pt x="1560759" y="1714134"/>
                </a:lnTo>
                <a:lnTo>
                  <a:pt x="1608743" y="1723344"/>
                </a:lnTo>
                <a:lnTo>
                  <a:pt x="1658199" y="1731871"/>
                </a:lnTo>
                <a:lnTo>
                  <a:pt x="1708899" y="1739746"/>
                </a:lnTo>
                <a:lnTo>
                  <a:pt x="1760615" y="1746997"/>
                </a:lnTo>
                <a:lnTo>
                  <a:pt x="1813119" y="1753654"/>
                </a:lnTo>
                <a:lnTo>
                  <a:pt x="1866184" y="1759746"/>
                </a:lnTo>
                <a:lnTo>
                  <a:pt x="1919582" y="1765303"/>
                </a:lnTo>
                <a:lnTo>
                  <a:pt x="1973085" y="1770353"/>
                </a:lnTo>
                <a:lnTo>
                  <a:pt x="2026466" y="1774926"/>
                </a:lnTo>
                <a:lnTo>
                  <a:pt x="2079496" y="1779052"/>
                </a:lnTo>
                <a:lnTo>
                  <a:pt x="2131948" y="1782759"/>
                </a:lnTo>
                <a:lnTo>
                  <a:pt x="2183595" y="1786077"/>
                </a:lnTo>
                <a:lnTo>
                  <a:pt x="2234208" y="1789036"/>
                </a:lnTo>
                <a:lnTo>
                  <a:pt x="2283560" y="1791665"/>
                </a:lnTo>
                <a:lnTo>
                  <a:pt x="2331423" y="1793992"/>
                </a:lnTo>
                <a:lnTo>
                  <a:pt x="2377569" y="1796048"/>
                </a:lnTo>
                <a:lnTo>
                  <a:pt x="2421770" y="1797862"/>
                </a:lnTo>
                <a:lnTo>
                  <a:pt x="2463800" y="1799463"/>
                </a:lnTo>
                <a:lnTo>
                  <a:pt x="2526589" y="1801231"/>
                </a:lnTo>
                <a:lnTo>
                  <a:pt x="2585864" y="1801834"/>
                </a:lnTo>
                <a:lnTo>
                  <a:pt x="2642010" y="1801358"/>
                </a:lnTo>
                <a:lnTo>
                  <a:pt x="2695415" y="1799891"/>
                </a:lnTo>
                <a:lnTo>
                  <a:pt x="2746462" y="1797520"/>
                </a:lnTo>
                <a:lnTo>
                  <a:pt x="2795539" y="1794335"/>
                </a:lnTo>
                <a:lnTo>
                  <a:pt x="2843032" y="1790422"/>
                </a:lnTo>
                <a:lnTo>
                  <a:pt x="2889325" y="1785869"/>
                </a:lnTo>
                <a:lnTo>
                  <a:pt x="2934805" y="1780764"/>
                </a:lnTo>
                <a:lnTo>
                  <a:pt x="2979858" y="1775194"/>
                </a:lnTo>
                <a:lnTo>
                  <a:pt x="3024869" y="1769248"/>
                </a:lnTo>
                <a:lnTo>
                  <a:pt x="3070225" y="1763014"/>
                </a:lnTo>
                <a:lnTo>
                  <a:pt x="3124659" y="1755050"/>
                </a:lnTo>
                <a:lnTo>
                  <a:pt x="3178328" y="1746370"/>
                </a:lnTo>
                <a:lnTo>
                  <a:pt x="3231031" y="1736927"/>
                </a:lnTo>
                <a:lnTo>
                  <a:pt x="3282566" y="1726673"/>
                </a:lnTo>
                <a:lnTo>
                  <a:pt x="3332733" y="1715563"/>
                </a:lnTo>
                <a:lnTo>
                  <a:pt x="3381331" y="1703550"/>
                </a:lnTo>
                <a:lnTo>
                  <a:pt x="3428157" y="1690588"/>
                </a:lnTo>
                <a:lnTo>
                  <a:pt x="3473012" y="1676629"/>
                </a:lnTo>
                <a:lnTo>
                  <a:pt x="3515693" y="1661628"/>
                </a:lnTo>
                <a:lnTo>
                  <a:pt x="3556000" y="1645539"/>
                </a:lnTo>
                <a:lnTo>
                  <a:pt x="3608930" y="1619861"/>
                </a:lnTo>
                <a:lnTo>
                  <a:pt x="3656772" y="1591011"/>
                </a:lnTo>
                <a:lnTo>
                  <a:pt x="3700474" y="1559907"/>
                </a:lnTo>
                <a:lnTo>
                  <a:pt x="3740981" y="1527465"/>
                </a:lnTo>
                <a:lnTo>
                  <a:pt x="3779240" y="1494603"/>
                </a:lnTo>
                <a:lnTo>
                  <a:pt x="3816197" y="1462239"/>
                </a:lnTo>
                <a:lnTo>
                  <a:pt x="3852799" y="1431290"/>
                </a:lnTo>
                <a:lnTo>
                  <a:pt x="3891935" y="1399718"/>
                </a:lnTo>
                <a:lnTo>
                  <a:pt x="3925649" y="1372347"/>
                </a:lnTo>
                <a:lnTo>
                  <a:pt x="3956986" y="1345422"/>
                </a:lnTo>
                <a:lnTo>
                  <a:pt x="3988990" y="1315183"/>
                </a:lnTo>
                <a:lnTo>
                  <a:pt x="4024704" y="1277875"/>
                </a:lnTo>
                <a:lnTo>
                  <a:pt x="4067175" y="1229741"/>
                </a:lnTo>
                <a:lnTo>
                  <a:pt x="4094112" y="1198827"/>
                </a:lnTo>
                <a:lnTo>
                  <a:pt x="4123516" y="1165820"/>
                </a:lnTo>
                <a:lnTo>
                  <a:pt x="4154857" y="1130747"/>
                </a:lnTo>
                <a:lnTo>
                  <a:pt x="4187603" y="1093635"/>
                </a:lnTo>
                <a:lnTo>
                  <a:pt x="4221223" y="1054514"/>
                </a:lnTo>
                <a:lnTo>
                  <a:pt x="4255188" y="1013410"/>
                </a:lnTo>
                <a:lnTo>
                  <a:pt x="4288966" y="970353"/>
                </a:lnTo>
                <a:lnTo>
                  <a:pt x="4322027" y="925369"/>
                </a:lnTo>
                <a:lnTo>
                  <a:pt x="4353840" y="878488"/>
                </a:lnTo>
                <a:lnTo>
                  <a:pt x="4383874" y="829737"/>
                </a:lnTo>
                <a:lnTo>
                  <a:pt x="4411599" y="779144"/>
                </a:lnTo>
                <a:lnTo>
                  <a:pt x="4432275" y="736382"/>
                </a:lnTo>
                <a:lnTo>
                  <a:pt x="4452721" y="689561"/>
                </a:lnTo>
                <a:lnTo>
                  <a:pt x="4472852" y="639481"/>
                </a:lnTo>
                <a:lnTo>
                  <a:pt x="4492586" y="586938"/>
                </a:lnTo>
                <a:lnTo>
                  <a:pt x="4511839" y="532730"/>
                </a:lnTo>
                <a:lnTo>
                  <a:pt x="4530527" y="477656"/>
                </a:lnTo>
                <a:lnTo>
                  <a:pt x="4548568" y="422513"/>
                </a:lnTo>
                <a:lnTo>
                  <a:pt x="4565878" y="368098"/>
                </a:lnTo>
                <a:lnTo>
                  <a:pt x="4582374" y="315211"/>
                </a:lnTo>
                <a:lnTo>
                  <a:pt x="4597972" y="264648"/>
                </a:lnTo>
                <a:lnTo>
                  <a:pt x="4612589" y="217208"/>
                </a:lnTo>
                <a:lnTo>
                  <a:pt x="4626143" y="173688"/>
                </a:lnTo>
                <a:lnTo>
                  <a:pt x="4638548" y="134886"/>
                </a:lnTo>
                <a:lnTo>
                  <a:pt x="4649724" y="101600"/>
                </a:lnTo>
              </a:path>
            </a:pathLst>
          </a:custGeom>
          <a:ln w="28956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7007" y="3303668"/>
            <a:ext cx="298450" cy="1256030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dirty="0">
                <a:latin typeface="Helvetica"/>
                <a:cs typeface="Helvetica"/>
              </a:rPr>
              <a:t>Failure</a:t>
            </a:r>
            <a:r>
              <a:rPr sz="1800" b="1" spc="-90" dirty="0">
                <a:latin typeface="Helvetica"/>
                <a:cs typeface="Helvetica"/>
              </a:rPr>
              <a:t> </a:t>
            </a:r>
            <a:r>
              <a:rPr sz="1800" b="1" spc="-5" dirty="0">
                <a:latin typeface="Helvetica"/>
                <a:cs typeface="Helvetica"/>
              </a:rPr>
              <a:t>rate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65953" y="2603754"/>
            <a:ext cx="1905" cy="2804160"/>
          </a:xfrm>
          <a:custGeom>
            <a:avLst/>
            <a:gdLst/>
            <a:ahLst/>
            <a:cxnLst/>
            <a:rect l="l" t="t" r="r" b="b"/>
            <a:pathLst>
              <a:path w="1904" h="2804160">
                <a:moveTo>
                  <a:pt x="0" y="0"/>
                </a:moveTo>
                <a:lnTo>
                  <a:pt x="1524" y="2804160"/>
                </a:lnTo>
              </a:path>
            </a:pathLst>
          </a:custGeom>
          <a:ln w="19812">
            <a:solidFill>
              <a:srgbClr val="C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79598" y="2603754"/>
            <a:ext cx="1905" cy="2804160"/>
          </a:xfrm>
          <a:custGeom>
            <a:avLst/>
            <a:gdLst/>
            <a:ahLst/>
            <a:cxnLst/>
            <a:rect l="l" t="t" r="r" b="b"/>
            <a:pathLst>
              <a:path w="1905" h="2804160">
                <a:moveTo>
                  <a:pt x="0" y="0"/>
                </a:moveTo>
                <a:lnTo>
                  <a:pt x="1524" y="2804160"/>
                </a:lnTo>
              </a:path>
            </a:pathLst>
          </a:custGeom>
          <a:ln w="19812">
            <a:solidFill>
              <a:srgbClr val="C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21027" y="2424811"/>
            <a:ext cx="1045844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4445" algn="ctr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Times New Roman"/>
                <a:cs typeface="Times New Roman"/>
              </a:rPr>
              <a:t>Early-life </a:t>
            </a:r>
            <a:r>
              <a:rPr sz="2000" b="1" dirty="0">
                <a:latin typeface="Times New Roman"/>
                <a:cs typeface="Times New Roman"/>
              </a:rPr>
              <a:t>  </a:t>
            </a:r>
            <a:r>
              <a:rPr lang="en-US" sz="2000" b="1" dirty="0">
                <a:latin typeface="Times New Roman"/>
                <a:cs typeface="Times New Roman"/>
              </a:rPr>
              <a:t>failure</a:t>
            </a:r>
            <a:r>
              <a:rPr sz="2000" b="1" dirty="0">
                <a:latin typeface="Times New Roman"/>
                <a:cs typeface="Times New Roman"/>
              </a:rPr>
              <a:t> period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67027" y="3560064"/>
            <a:ext cx="1483360" cy="76200"/>
          </a:xfrm>
          <a:custGeom>
            <a:avLst/>
            <a:gdLst/>
            <a:ahLst/>
            <a:cxnLst/>
            <a:rect l="l" t="t" r="r" b="b"/>
            <a:pathLst>
              <a:path w="148336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483360" h="76200">
                <a:moveTo>
                  <a:pt x="1406652" y="0"/>
                </a:moveTo>
                <a:lnTo>
                  <a:pt x="1406652" y="76200"/>
                </a:lnTo>
                <a:lnTo>
                  <a:pt x="1470152" y="44450"/>
                </a:lnTo>
                <a:lnTo>
                  <a:pt x="1419352" y="44450"/>
                </a:lnTo>
                <a:lnTo>
                  <a:pt x="1419352" y="31750"/>
                </a:lnTo>
                <a:lnTo>
                  <a:pt x="1470152" y="31750"/>
                </a:lnTo>
                <a:lnTo>
                  <a:pt x="1406652" y="0"/>
                </a:lnTo>
                <a:close/>
              </a:path>
              <a:path w="148336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483360" h="76200">
                <a:moveTo>
                  <a:pt x="1406652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406652" y="44450"/>
                </a:lnTo>
                <a:lnTo>
                  <a:pt x="1406652" y="31750"/>
                </a:lnTo>
                <a:close/>
              </a:path>
              <a:path w="1483360" h="76200">
                <a:moveTo>
                  <a:pt x="1470152" y="31750"/>
                </a:moveTo>
                <a:lnTo>
                  <a:pt x="1419352" y="31750"/>
                </a:lnTo>
                <a:lnTo>
                  <a:pt x="1419352" y="44450"/>
                </a:lnTo>
                <a:lnTo>
                  <a:pt x="1470152" y="44450"/>
                </a:lnTo>
                <a:lnTo>
                  <a:pt x="1482852" y="38100"/>
                </a:lnTo>
                <a:lnTo>
                  <a:pt x="1470152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80360" y="3560064"/>
            <a:ext cx="2086610" cy="76200"/>
          </a:xfrm>
          <a:custGeom>
            <a:avLst/>
            <a:gdLst/>
            <a:ahLst/>
            <a:cxnLst/>
            <a:rect l="l" t="t" r="r" b="b"/>
            <a:pathLst>
              <a:path w="208661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086610" h="76200">
                <a:moveTo>
                  <a:pt x="2010155" y="0"/>
                </a:moveTo>
                <a:lnTo>
                  <a:pt x="2010155" y="76200"/>
                </a:lnTo>
                <a:lnTo>
                  <a:pt x="2073655" y="44450"/>
                </a:lnTo>
                <a:lnTo>
                  <a:pt x="2022855" y="44450"/>
                </a:lnTo>
                <a:lnTo>
                  <a:pt x="2022855" y="31750"/>
                </a:lnTo>
                <a:lnTo>
                  <a:pt x="2073655" y="31750"/>
                </a:lnTo>
                <a:lnTo>
                  <a:pt x="2010155" y="0"/>
                </a:lnTo>
                <a:close/>
              </a:path>
              <a:path w="208661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086610" h="76200">
                <a:moveTo>
                  <a:pt x="2010155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010155" y="44450"/>
                </a:lnTo>
                <a:lnTo>
                  <a:pt x="2010155" y="31750"/>
                </a:lnTo>
                <a:close/>
              </a:path>
              <a:path w="2086610" h="76200">
                <a:moveTo>
                  <a:pt x="2073655" y="31750"/>
                </a:moveTo>
                <a:lnTo>
                  <a:pt x="2022855" y="31750"/>
                </a:lnTo>
                <a:lnTo>
                  <a:pt x="2022855" y="44450"/>
                </a:lnTo>
                <a:lnTo>
                  <a:pt x="2073655" y="44450"/>
                </a:lnTo>
                <a:lnTo>
                  <a:pt x="2086355" y="38100"/>
                </a:lnTo>
                <a:lnTo>
                  <a:pt x="2073655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66715" y="3560064"/>
            <a:ext cx="1458595" cy="76200"/>
          </a:xfrm>
          <a:custGeom>
            <a:avLst/>
            <a:gdLst/>
            <a:ahLst/>
            <a:cxnLst/>
            <a:rect l="l" t="t" r="r" b="b"/>
            <a:pathLst>
              <a:path w="145859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45859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458595" h="76200">
                <a:moveTo>
                  <a:pt x="1458468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458468" y="44450"/>
                </a:lnTo>
                <a:lnTo>
                  <a:pt x="1458468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75735" y="2546680"/>
            <a:ext cx="86042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N</a:t>
            </a:r>
            <a:r>
              <a:rPr sz="2000" b="1" spc="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r</a:t>
            </a:r>
            <a:r>
              <a:rPr sz="2000" b="1" spc="-5" dirty="0">
                <a:latin typeface="Times New Roman"/>
                <a:cs typeface="Times New Roman"/>
              </a:rPr>
              <a:t>m</a:t>
            </a:r>
            <a:r>
              <a:rPr sz="2000" b="1" dirty="0">
                <a:latin typeface="Times New Roman"/>
                <a:cs typeface="Times New Roman"/>
              </a:rPr>
              <a:t>al</a:t>
            </a:r>
            <a:endParaRPr sz="20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Times New Roman"/>
                <a:cs typeface="Times New Roman"/>
              </a:rPr>
              <a:t>lifetime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2034" y="2546680"/>
            <a:ext cx="105029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imes New Roman"/>
                <a:cs typeface="Times New Roman"/>
              </a:rPr>
              <a:t>Wear-out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period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73124" y="5832347"/>
            <a:ext cx="1477010" cy="669290"/>
          </a:xfrm>
          <a:custGeom>
            <a:avLst/>
            <a:gdLst/>
            <a:ahLst/>
            <a:cxnLst/>
            <a:rect l="l" t="t" r="r" b="b"/>
            <a:pathLst>
              <a:path w="1477010" h="669289">
                <a:moveTo>
                  <a:pt x="334137" y="0"/>
                </a:moveTo>
                <a:lnTo>
                  <a:pt x="0" y="334517"/>
                </a:lnTo>
                <a:lnTo>
                  <a:pt x="334137" y="669035"/>
                </a:lnTo>
                <a:lnTo>
                  <a:pt x="334137" y="501776"/>
                </a:lnTo>
                <a:lnTo>
                  <a:pt x="1309687" y="501776"/>
                </a:lnTo>
                <a:lnTo>
                  <a:pt x="1476756" y="334517"/>
                </a:lnTo>
                <a:lnTo>
                  <a:pt x="1309687" y="167258"/>
                </a:lnTo>
                <a:lnTo>
                  <a:pt x="334137" y="167258"/>
                </a:lnTo>
                <a:lnTo>
                  <a:pt x="334137" y="0"/>
                </a:lnTo>
                <a:close/>
              </a:path>
              <a:path w="1477010" h="669289">
                <a:moveTo>
                  <a:pt x="1309687" y="501776"/>
                </a:moveTo>
                <a:lnTo>
                  <a:pt x="1142619" y="501776"/>
                </a:lnTo>
                <a:lnTo>
                  <a:pt x="1142619" y="669035"/>
                </a:lnTo>
                <a:lnTo>
                  <a:pt x="1309687" y="501776"/>
                </a:lnTo>
                <a:close/>
              </a:path>
              <a:path w="1477010" h="669289">
                <a:moveTo>
                  <a:pt x="1142619" y="0"/>
                </a:moveTo>
                <a:lnTo>
                  <a:pt x="1142619" y="167258"/>
                </a:lnTo>
                <a:lnTo>
                  <a:pt x="1309687" y="167258"/>
                </a:lnTo>
                <a:lnTo>
                  <a:pt x="1142619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15821" y="5460898"/>
            <a:ext cx="1883410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~ 20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weeks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000" b="1" dirty="0">
                <a:solidFill>
                  <a:srgbClr val="FFFFFF"/>
                </a:solidFill>
                <a:latin typeface="Helvetica"/>
                <a:cs typeface="Helvetica"/>
              </a:rPr>
              <a:t>Burn-in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69764" y="5859779"/>
            <a:ext cx="1477010" cy="668020"/>
          </a:xfrm>
          <a:custGeom>
            <a:avLst/>
            <a:gdLst/>
            <a:ahLst/>
            <a:cxnLst/>
            <a:rect l="l" t="t" r="r" b="b"/>
            <a:pathLst>
              <a:path w="1477010" h="668020">
                <a:moveTo>
                  <a:pt x="333375" y="0"/>
                </a:moveTo>
                <a:lnTo>
                  <a:pt x="0" y="333756"/>
                </a:lnTo>
                <a:lnTo>
                  <a:pt x="333375" y="667512"/>
                </a:lnTo>
                <a:lnTo>
                  <a:pt x="333375" y="500634"/>
                </a:lnTo>
                <a:lnTo>
                  <a:pt x="1310068" y="500634"/>
                </a:lnTo>
                <a:lnTo>
                  <a:pt x="1476756" y="333756"/>
                </a:lnTo>
                <a:lnTo>
                  <a:pt x="1310068" y="166878"/>
                </a:lnTo>
                <a:lnTo>
                  <a:pt x="333375" y="166878"/>
                </a:lnTo>
                <a:lnTo>
                  <a:pt x="333375" y="0"/>
                </a:lnTo>
                <a:close/>
              </a:path>
              <a:path w="1477010" h="668020">
                <a:moveTo>
                  <a:pt x="1310068" y="500634"/>
                </a:moveTo>
                <a:lnTo>
                  <a:pt x="1143381" y="500634"/>
                </a:lnTo>
                <a:lnTo>
                  <a:pt x="1143381" y="667512"/>
                </a:lnTo>
                <a:lnTo>
                  <a:pt x="1310068" y="500634"/>
                </a:lnTo>
                <a:close/>
              </a:path>
              <a:path w="1477010" h="668020">
                <a:moveTo>
                  <a:pt x="1143381" y="0"/>
                </a:moveTo>
                <a:lnTo>
                  <a:pt x="1143381" y="166878"/>
                </a:lnTo>
                <a:lnTo>
                  <a:pt x="1310068" y="166878"/>
                </a:lnTo>
                <a:lnTo>
                  <a:pt x="114338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44948" y="5460898"/>
            <a:ext cx="1369060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5 – 25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yrs</a:t>
            </a:r>
            <a:endParaRPr sz="2000">
              <a:latin typeface="Times New Roman"/>
              <a:cs typeface="Times New Roman"/>
            </a:endParaRPr>
          </a:p>
          <a:p>
            <a:pPr marL="878840">
              <a:lnSpc>
                <a:spcPct val="100000"/>
              </a:lnSpc>
              <a:spcBef>
                <a:spcPts val="1805"/>
              </a:spcBef>
            </a:pPr>
            <a:r>
              <a:rPr sz="2000" b="1" dirty="0">
                <a:solidFill>
                  <a:srgbClr val="FFFFFF"/>
                </a:solidFill>
                <a:latin typeface="Helvetica"/>
                <a:cs typeface="Helvetica"/>
              </a:rPr>
              <a:t>A</a:t>
            </a:r>
            <a:r>
              <a:rPr sz="2000" b="1" spc="-145" dirty="0">
                <a:solidFill>
                  <a:srgbClr val="FFFFFF"/>
                </a:solidFill>
                <a:latin typeface="Helvetica"/>
                <a:cs typeface="Helvetica"/>
              </a:rPr>
              <a:t>L</a:t>
            </a:r>
            <a:r>
              <a:rPr sz="2000" b="1" dirty="0">
                <a:solidFill>
                  <a:srgbClr val="FFFFFF"/>
                </a:solidFill>
                <a:latin typeface="Helvetica"/>
                <a:cs typeface="Helvetica"/>
              </a:rPr>
              <a:t>T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20" name="object 20"/>
          <p:cNvSpPr txBox="1"/>
          <p:nvPr/>
        </p:nvSpPr>
        <p:spPr>
          <a:xfrm>
            <a:off x="6566407" y="3958590"/>
            <a:ext cx="2137410" cy="1593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*Failure Rate =  percentage of</a:t>
            </a:r>
            <a:r>
              <a:rPr sz="1600" b="1" spc="-30" dirty="0">
                <a:solidFill>
                  <a:srgbClr val="7E7E7E"/>
                </a:solidFill>
                <a:latin typeface="Helvetica"/>
                <a:cs typeface="Helvetica"/>
              </a:rPr>
              <a:t> </a:t>
            </a: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failures  in a period of</a:t>
            </a:r>
            <a:r>
              <a:rPr sz="1600" b="1" spc="5" dirty="0">
                <a:solidFill>
                  <a:srgbClr val="7E7E7E"/>
                </a:solidFill>
                <a:latin typeface="Helvetica"/>
                <a:cs typeface="Helvetica"/>
              </a:rPr>
              <a:t> </a:t>
            </a: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time</a:t>
            </a:r>
            <a:endParaRPr sz="160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19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Helvetica"/>
                <a:cs typeface="Helvetica"/>
              </a:rPr>
              <a:t>Time</a:t>
            </a:r>
            <a:endParaRPr sz="18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33010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879092" y="3893820"/>
            <a:ext cx="2098675" cy="425450"/>
          </a:xfrm>
          <a:custGeom>
            <a:avLst/>
            <a:gdLst/>
            <a:ahLst/>
            <a:cxnLst/>
            <a:rect l="l" t="t" r="r" b="b"/>
            <a:pathLst>
              <a:path w="2098675" h="425450">
                <a:moveTo>
                  <a:pt x="0" y="425195"/>
                </a:moveTo>
                <a:lnTo>
                  <a:pt x="2098548" y="425195"/>
                </a:lnTo>
                <a:lnTo>
                  <a:pt x="2098548" y="0"/>
                </a:lnTo>
                <a:lnTo>
                  <a:pt x="0" y="0"/>
                </a:lnTo>
                <a:lnTo>
                  <a:pt x="0" y="425195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1893" y="1576843"/>
            <a:ext cx="28829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Testing (generally</a:t>
            </a:r>
            <a:r>
              <a:rPr sz="1750" spc="4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speaking)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4551" y="2295940"/>
            <a:ext cx="4633595" cy="0"/>
          </a:xfrm>
          <a:custGeom>
            <a:avLst/>
            <a:gdLst/>
            <a:ahLst/>
            <a:cxnLst/>
            <a:rect l="l" t="t" r="r" b="b"/>
            <a:pathLst>
              <a:path w="4633595">
                <a:moveTo>
                  <a:pt x="0" y="0"/>
                </a:moveTo>
                <a:lnTo>
                  <a:pt x="463301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0390" y="1865422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0"/>
                </a:moveTo>
                <a:lnTo>
                  <a:pt x="0" y="43051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18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7039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3474" y="22959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521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2162" y="2590959"/>
            <a:ext cx="1125855" cy="5473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04470">
              <a:lnSpc>
                <a:spcPts val="2000"/>
              </a:lnSpc>
              <a:spcBef>
                <a:spcPts val="250"/>
              </a:spcBef>
            </a:pPr>
            <a:r>
              <a:rPr sz="1750" spc="-5" dirty="0">
                <a:latin typeface="Helvetica"/>
                <a:cs typeface="Helvetica"/>
              </a:rPr>
              <a:t>Design  </a:t>
            </a:r>
            <a:r>
              <a:rPr sz="1750" dirty="0">
                <a:latin typeface="Helvetica"/>
                <a:cs typeface="Helvetica"/>
              </a:rPr>
              <a:t>V</a:t>
            </a:r>
            <a:r>
              <a:rPr sz="1750" spc="-10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rification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9063" y="2562233"/>
            <a:ext cx="152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Explicit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9370" y="2590959"/>
            <a:ext cx="1819275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54940" marR="5080" indent="-142875">
              <a:lnSpc>
                <a:spcPts val="2010"/>
              </a:lnSpc>
              <a:spcBef>
                <a:spcPts val="244"/>
              </a:spcBef>
            </a:pPr>
            <a:r>
              <a:rPr sz="1750" spc="-5" dirty="0">
                <a:latin typeface="Helvetica"/>
                <a:cs typeface="Helvetica"/>
              </a:rPr>
              <a:t>Implicit Testing </a:t>
            </a:r>
            <a:r>
              <a:rPr sz="1750" dirty="0">
                <a:latin typeface="Helvetica"/>
                <a:cs typeface="Helvetica"/>
              </a:rPr>
              <a:t>Or  </a:t>
            </a:r>
            <a:r>
              <a:rPr sz="1750" spc="-5" dirty="0">
                <a:latin typeface="Helvetica"/>
                <a:cs typeface="Helvetica"/>
              </a:rPr>
              <a:t>On-line</a:t>
            </a:r>
            <a:r>
              <a:rPr sz="1750" spc="-2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56671" y="2878796"/>
            <a:ext cx="0" cy="833119"/>
          </a:xfrm>
          <a:custGeom>
            <a:avLst/>
            <a:gdLst/>
            <a:ahLst/>
            <a:cxnLst/>
            <a:rect l="l" t="t" r="r" b="b"/>
            <a:pathLst>
              <a:path h="833120">
                <a:moveTo>
                  <a:pt x="0" y="0"/>
                </a:moveTo>
                <a:lnTo>
                  <a:pt x="0" y="832864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0461" y="3670148"/>
            <a:ext cx="6316980" cy="0"/>
          </a:xfrm>
          <a:custGeom>
            <a:avLst/>
            <a:gdLst/>
            <a:ahLst/>
            <a:cxnLst/>
            <a:rect l="l" t="t" r="r" b="b"/>
            <a:pathLst>
              <a:path w="6316980">
                <a:moveTo>
                  <a:pt x="0" y="0"/>
                </a:moveTo>
                <a:lnTo>
                  <a:pt x="631640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046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667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65430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657" y="3977954"/>
            <a:ext cx="1645285" cy="5473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636270" marR="5080" indent="-624205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Ch</a:t>
            </a:r>
            <a:r>
              <a:rPr sz="1750" spc="-10" dirty="0">
                <a:latin typeface="Helvetica"/>
                <a:cs typeface="Helvetica"/>
              </a:rPr>
              <a:t>a</a:t>
            </a:r>
            <a:r>
              <a:rPr sz="1750" dirty="0">
                <a:latin typeface="Helvetica"/>
                <a:cs typeface="Helvetica"/>
              </a:rPr>
              <a:t>racterizati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79092" y="3965722"/>
            <a:ext cx="2091689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Production</a:t>
            </a:r>
            <a:r>
              <a:rPr sz="1750" spc="-1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53418" y="3963498"/>
            <a:ext cx="14719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Reliability</a:t>
            </a:r>
            <a:r>
              <a:rPr sz="1750" spc="-3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3145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96033" y="3964610"/>
            <a:ext cx="1497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Diagnosis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6507" y="5534085"/>
            <a:ext cx="8576945" cy="0"/>
          </a:xfrm>
          <a:custGeom>
            <a:avLst/>
            <a:gdLst/>
            <a:ahLst/>
            <a:cxnLst/>
            <a:rect l="l" t="t" r="r" b="b"/>
            <a:pathLst>
              <a:path w="8576945">
                <a:moveTo>
                  <a:pt x="0" y="0"/>
                </a:moveTo>
                <a:lnTo>
                  <a:pt x="8576743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7249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5664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50008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2098" y="5825953"/>
            <a:ext cx="61976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93345" marR="5080" indent="-8128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G</a:t>
            </a:r>
            <a:r>
              <a:rPr sz="1750" spc="5" dirty="0">
                <a:latin typeface="Helvetica"/>
                <a:cs typeface="Helvetica"/>
              </a:rPr>
              <a:t>r</a:t>
            </a:r>
            <a:r>
              <a:rPr sz="1750" dirty="0">
                <a:latin typeface="Helvetica"/>
                <a:cs typeface="Helvetica"/>
              </a:rPr>
              <a:t>oss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6812" y="5825953"/>
            <a:ext cx="14605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13715" marR="5080" indent="-50165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DC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412" y="5838166"/>
            <a:ext cx="14478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07365" marR="5080" indent="-49530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AC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94352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510933" y="5825953"/>
            <a:ext cx="84201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03835" marR="5080" indent="-191770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o</a:t>
            </a:r>
            <a:r>
              <a:rPr sz="1750" spc="-10" dirty="0">
                <a:latin typeface="Helvetica"/>
                <a:cs typeface="Helvetica"/>
              </a:rPr>
              <a:t>l</a:t>
            </a:r>
            <a:r>
              <a:rPr sz="1750" spc="5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an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70390" y="4280804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07280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64020" y="5810404"/>
            <a:ext cx="10883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Delay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1679" y="4673180"/>
            <a:ext cx="3172460" cy="0"/>
          </a:xfrm>
          <a:custGeom>
            <a:avLst/>
            <a:gdLst/>
            <a:ahLst/>
            <a:cxnLst/>
            <a:rect l="l" t="t" r="r" b="b"/>
            <a:pathLst>
              <a:path w="3172460">
                <a:moveTo>
                  <a:pt x="0" y="0"/>
                </a:moveTo>
                <a:lnTo>
                  <a:pt x="3172059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8016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91358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31533" y="46835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97841" y="4977614"/>
            <a:ext cx="11150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Wafer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370" y="4977614"/>
            <a:ext cx="13862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Package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80856" y="5266490"/>
            <a:ext cx="0" cy="264160"/>
          </a:xfrm>
          <a:custGeom>
            <a:avLst/>
            <a:gdLst/>
            <a:ahLst/>
            <a:cxnLst/>
            <a:rect l="l" t="t" r="r" b="b"/>
            <a:pathLst>
              <a:path h="264160">
                <a:moveTo>
                  <a:pt x="0" y="0"/>
                </a:moveTo>
                <a:lnTo>
                  <a:pt x="0" y="26390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77639" y="5294252"/>
            <a:ext cx="0" cy="236220"/>
          </a:xfrm>
          <a:custGeom>
            <a:avLst/>
            <a:gdLst/>
            <a:ahLst/>
            <a:cxnLst/>
            <a:rect l="l" t="t" r="r" b="b"/>
            <a:pathLst>
              <a:path h="236220">
                <a:moveTo>
                  <a:pt x="0" y="0"/>
                </a:moveTo>
                <a:lnTo>
                  <a:pt x="0" y="23614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63739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36607" y="5534085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923251" y="5523725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440759" y="5810404"/>
            <a:ext cx="64389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11760" marR="5080" indent="-9969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IDDQ,  </a:t>
            </a:r>
            <a:r>
              <a:rPr sz="1750" spc="-5" dirty="0">
                <a:latin typeface="Helvetica"/>
                <a:cs typeface="Helvetica"/>
              </a:rPr>
              <a:t>VLV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68277" y="5790407"/>
            <a:ext cx="105156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08610" marR="5080" indent="-29654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Fu</a:t>
            </a:r>
            <a:r>
              <a:rPr sz="1750" spc="-10" dirty="0">
                <a:latin typeface="Helvetica"/>
                <a:cs typeface="Helvetica"/>
              </a:rPr>
              <a:t>n</a:t>
            </a:r>
            <a:r>
              <a:rPr sz="1750" dirty="0">
                <a:latin typeface="Helvetica"/>
                <a:cs typeface="Helvetica"/>
              </a:rPr>
              <a:t>ctional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965430" y="4284510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31533" y="4673180"/>
            <a:ext cx="1169035" cy="0"/>
          </a:xfrm>
          <a:custGeom>
            <a:avLst/>
            <a:gdLst/>
            <a:ahLst/>
            <a:cxnLst/>
            <a:rect l="l" t="t" r="r" b="b"/>
            <a:pathLst>
              <a:path w="1169035">
                <a:moveTo>
                  <a:pt x="0" y="0"/>
                </a:moveTo>
                <a:lnTo>
                  <a:pt x="1168918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800451" y="467318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151614" y="4977614"/>
            <a:ext cx="379793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7650" algn="l"/>
                <a:tab pos="2510790" algn="l"/>
              </a:tabLst>
            </a:pPr>
            <a:r>
              <a:rPr sz="1750" dirty="0">
                <a:latin typeface="Helvetica"/>
                <a:cs typeface="Helvetica"/>
              </a:rPr>
              <a:t>System Test	</a:t>
            </a:r>
            <a:r>
              <a:rPr sz="1750" spc="-5" dirty="0">
                <a:latin typeface="Helvetica"/>
                <a:cs typeface="Helvetica"/>
              </a:rPr>
              <a:t>Burn-in	</a:t>
            </a:r>
            <a:r>
              <a:rPr sz="1750" dirty="0">
                <a:latin typeface="Helvetica"/>
                <a:cs typeface="Helvetica"/>
              </a:rPr>
              <a:t>Acc. Life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spc="-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77810" y="2545461"/>
            <a:ext cx="15227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don’t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worry</a:t>
            </a:r>
            <a:r>
              <a:rPr sz="1400" b="1" spc="-1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about 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names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too</a:t>
            </a:r>
            <a:r>
              <a:rPr sz="1400" b="1" spc="-7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much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52359" y="876300"/>
            <a:ext cx="1421892" cy="1645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23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56" name="object 2">
            <a:extLst>
              <a:ext uri="{FF2B5EF4-FFF2-40B4-BE49-F238E27FC236}">
                <a16:creationId xmlns:a16="http://schemas.microsoft.com/office/drawing/2014/main" id="{6B5B4A52-3F5D-04E5-A324-F83B4DA2F2EA}"/>
              </a:ext>
            </a:extLst>
          </p:cNvPr>
          <p:cNvSpPr txBox="1">
            <a:spLocks/>
          </p:cNvSpPr>
          <p:nvPr/>
        </p:nvSpPr>
        <p:spPr>
          <a:xfrm>
            <a:off x="2294887" y="228600"/>
            <a:ext cx="4029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ea typeface="+mj-ea"/>
                <a:cs typeface="HelveticaNeue-BoldItalic"/>
              </a:defRPr>
            </a:lvl1pPr>
          </a:lstStyle>
          <a:p>
            <a:pPr marL="25400">
              <a:spcBef>
                <a:spcPts val="100"/>
              </a:spcBef>
            </a:pPr>
            <a:r>
              <a:rPr lang="en-US" kern="0" dirty="0">
                <a:solidFill>
                  <a:srgbClr val="00B050"/>
                </a:solidFill>
                <a:latin typeface="Arial"/>
                <a:cs typeface="Arial"/>
              </a:rPr>
              <a:t>Types of Testing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"/>
    </mc:Choice>
    <mc:Fallback xmlns="">
      <p:transition spd="slow" advTm="58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26867" y="164414"/>
            <a:ext cx="37604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Production Tests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225" y="907796"/>
            <a:ext cx="8655685" cy="1527982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5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Purposes: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1. Enforce quality </a:t>
            </a:r>
            <a:r>
              <a:rPr sz="1800" b="1" spc="-5" dirty="0">
                <a:latin typeface="Arial"/>
                <a:cs typeface="Arial"/>
              </a:rPr>
              <a:t>requirements </a:t>
            </a:r>
            <a:r>
              <a:rPr sz="1800" b="1" dirty="0">
                <a:latin typeface="Arial"/>
                <a:cs typeface="Arial"/>
              </a:rPr>
              <a:t>before selling to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customers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2. Sort </a:t>
            </a:r>
            <a:r>
              <a:rPr sz="1800" b="1" spc="-5" dirty="0">
                <a:latin typeface="Arial"/>
                <a:cs typeface="Arial"/>
              </a:rPr>
              <a:t>parts </a:t>
            </a: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different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specifications</a:t>
            </a:r>
            <a:endParaRPr sz="18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15"/>
              </a:spcBef>
            </a:pPr>
            <a:r>
              <a:rPr sz="1600" spc="-52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600" spc="5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latin typeface="Arial-BoldItalicMT"/>
                <a:cs typeface="Arial-BoldItalicMT"/>
              </a:rPr>
              <a:t>e.g. </a:t>
            </a:r>
            <a:r>
              <a:rPr sz="1800" b="1" spc="-5" dirty="0">
                <a:latin typeface="Arial"/>
                <a:cs typeface="Arial"/>
              </a:rPr>
              <a:t>different speeds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CPU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2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Example: a typical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production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18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flow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5532" y="2971444"/>
            <a:ext cx="645795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9801" y="2971444"/>
            <a:ext cx="1120775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sz="1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Sort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9740" y="2834638"/>
            <a:ext cx="696595" cy="572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6515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Laser  Repair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525" y="2971444"/>
            <a:ext cx="1038860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Packaging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2654" y="4156333"/>
            <a:ext cx="1235075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Post-BI</a:t>
            </a:r>
            <a:r>
              <a:rPr sz="1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6135" y="4019528"/>
            <a:ext cx="824230" cy="572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265" marR="5080" indent="-2032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Burn-In  (BI)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36567" y="4156333"/>
            <a:ext cx="1158875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Pre-BI</a:t>
            </a:r>
            <a:r>
              <a:rPr sz="1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8716" y="4156333"/>
            <a:ext cx="1007110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Final</a:t>
            </a:r>
            <a:r>
              <a:rPr sz="1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80685" y="5204493"/>
            <a:ext cx="1038860" cy="572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6215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Visual  Inspection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4802" y="5787999"/>
            <a:ext cx="1146810" cy="572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QA</a:t>
            </a:r>
            <a:r>
              <a:rPr sz="1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Sample  Test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8886" y="5341298"/>
            <a:ext cx="887094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Marking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5831" y="5341298"/>
            <a:ext cx="900430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Shipping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8D9F30-5DF9-F421-458F-947764B77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14600"/>
            <a:ext cx="6364862" cy="3933908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907FCCCD-A369-00F6-4F36-B55D05878E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8"/>
    </mc:Choice>
    <mc:Fallback xmlns="">
      <p:transition spd="slow" advTm="4308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69178" y="6529127"/>
            <a:ext cx="142430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VLSI </a:t>
            </a:r>
            <a:r>
              <a:rPr sz="1200" b="1" spc="-25" dirty="0">
                <a:solidFill>
                  <a:srgbClr val="B1B1B1"/>
                </a:solidFill>
                <a:latin typeface="Helvetica"/>
                <a:cs typeface="Helvetica"/>
              </a:rPr>
              <a:t>Test </a:t>
            </a:r>
            <a:r>
              <a:rPr sz="1200" b="1" spc="-5" dirty="0">
                <a:solidFill>
                  <a:srgbClr val="B1B1B1"/>
                </a:solidFill>
                <a:latin typeface="Helvetica"/>
                <a:cs typeface="Helvetica"/>
              </a:rPr>
              <a:t>1.2 </a:t>
            </a:r>
            <a:r>
              <a:rPr sz="1200" b="1" spc="-285" dirty="0">
                <a:solidFill>
                  <a:srgbClr val="B1B1B1"/>
                </a:solidFill>
                <a:latin typeface="Helvetica"/>
                <a:cs typeface="Helvetica"/>
              </a:rPr>
              <a:t>©</a:t>
            </a:r>
            <a:r>
              <a:rPr sz="1200" b="1" spc="-240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sz="1200" b="1" spc="-5" dirty="0">
                <a:solidFill>
                  <a:srgbClr val="B1B1B1"/>
                </a:solidFill>
                <a:latin typeface="Helvetica"/>
                <a:cs typeface="Helvetica"/>
              </a:rPr>
              <a:t>Nati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0511" y="1110996"/>
            <a:ext cx="5524499" cy="55869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19122" y="164414"/>
            <a:ext cx="47802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Production Test Floor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33370" y="1093978"/>
            <a:ext cx="28784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00"/>
                </a:solidFill>
                <a:latin typeface="Helvetica"/>
                <a:cs typeface="Helvetica"/>
              </a:rPr>
              <a:t>Yellow </a:t>
            </a:r>
            <a:r>
              <a:rPr sz="1800" b="1" dirty="0">
                <a:solidFill>
                  <a:srgbClr val="FFFF00"/>
                </a:solidFill>
                <a:latin typeface="Helvetica"/>
                <a:cs typeface="Helvetica"/>
              </a:rPr>
              <a:t>= </a:t>
            </a:r>
            <a:r>
              <a:rPr sz="1800" b="1" spc="-10" dirty="0">
                <a:solidFill>
                  <a:srgbClr val="FFFF00"/>
                </a:solidFill>
                <a:latin typeface="Helvetica"/>
                <a:cs typeface="Helvetica"/>
              </a:rPr>
              <a:t>Attention</a:t>
            </a:r>
            <a:r>
              <a:rPr sz="1800" b="1" spc="-55" dirty="0">
                <a:solidFill>
                  <a:srgbClr val="FFFF00"/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rgbClr val="FFFF00"/>
                </a:solidFill>
                <a:latin typeface="Helvetica"/>
                <a:cs typeface="Helvetica"/>
              </a:rPr>
              <a:t>Needed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FF00"/>
                </a:solidFill>
                <a:latin typeface="Helvetica"/>
                <a:cs typeface="Helvetica"/>
              </a:rPr>
              <a:t>Green </a:t>
            </a:r>
            <a:r>
              <a:rPr sz="1800" b="1" dirty="0">
                <a:solidFill>
                  <a:srgbClr val="00FF00"/>
                </a:solidFill>
                <a:latin typeface="Helvetica"/>
                <a:cs typeface="Helvetica"/>
              </a:rPr>
              <a:t>=</a:t>
            </a:r>
            <a:r>
              <a:rPr sz="1800" b="1" spc="-10" dirty="0">
                <a:solidFill>
                  <a:srgbClr val="00FF00"/>
                </a:solidFill>
                <a:latin typeface="Helvetica"/>
                <a:cs typeface="Helvetica"/>
              </a:rPr>
              <a:t> </a:t>
            </a:r>
            <a:r>
              <a:rPr sz="1800" b="1" spc="-50" dirty="0">
                <a:solidFill>
                  <a:srgbClr val="00FF00"/>
                </a:solidFill>
                <a:latin typeface="Helvetica"/>
                <a:cs typeface="Helvetica"/>
              </a:rPr>
              <a:t>PASS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tabLst>
                <a:tab pos="570865" algn="l"/>
              </a:tabLst>
            </a:pPr>
            <a:r>
              <a:rPr sz="1800" b="1" spc="-5" dirty="0">
                <a:solidFill>
                  <a:srgbClr val="FF0000"/>
                </a:solidFill>
                <a:latin typeface="Helvetica"/>
                <a:cs typeface="Helvetica"/>
              </a:rPr>
              <a:t>Red	</a:t>
            </a:r>
            <a:r>
              <a:rPr sz="1800" b="1" dirty="0">
                <a:solidFill>
                  <a:srgbClr val="FF0000"/>
                </a:solidFill>
                <a:latin typeface="Helvetica"/>
                <a:cs typeface="Helvetica"/>
              </a:rPr>
              <a:t>=</a:t>
            </a:r>
            <a:r>
              <a:rPr sz="1800" b="1" spc="-1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800" b="1" spc="-40" dirty="0">
                <a:solidFill>
                  <a:srgbClr val="FF0000"/>
                </a:solidFill>
                <a:latin typeface="Helvetica"/>
                <a:cs typeface="Helvetica"/>
              </a:rPr>
              <a:t>FAIL</a:t>
            </a:r>
            <a:endParaRPr sz="1800" dirty="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1500" y="6156147"/>
            <a:ext cx="2235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Source:</a:t>
            </a:r>
            <a:r>
              <a:rPr sz="1800" b="1" spc="-25" dirty="0">
                <a:latin typeface="Helvetica"/>
                <a:cs typeface="Helvetica"/>
              </a:rPr>
              <a:t> </a:t>
            </a:r>
            <a:r>
              <a:rPr sz="1800" b="1" spc="-5" dirty="0">
                <a:latin typeface="Helvetica"/>
                <a:cs typeface="Helvetica"/>
              </a:rPr>
              <a:t>micron.com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003478-FAAB-3488-06C2-78743F0C69C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618"/>
    </mc:Choice>
    <mc:Fallback xmlns="">
      <p:transition spd="slow" advTm="261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25552" y="4908803"/>
            <a:ext cx="1214755" cy="425450"/>
          </a:xfrm>
          <a:custGeom>
            <a:avLst/>
            <a:gdLst/>
            <a:ahLst/>
            <a:cxnLst/>
            <a:rect l="l" t="t" r="r" b="b"/>
            <a:pathLst>
              <a:path w="1214755" h="425450">
                <a:moveTo>
                  <a:pt x="0" y="425196"/>
                </a:moveTo>
                <a:lnTo>
                  <a:pt x="1214628" y="425196"/>
                </a:lnTo>
                <a:lnTo>
                  <a:pt x="1214628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81893" y="1576843"/>
            <a:ext cx="28829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Testing (generally</a:t>
            </a:r>
            <a:r>
              <a:rPr sz="1750" spc="4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speaking)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4551" y="2295940"/>
            <a:ext cx="4633595" cy="0"/>
          </a:xfrm>
          <a:custGeom>
            <a:avLst/>
            <a:gdLst/>
            <a:ahLst/>
            <a:cxnLst/>
            <a:rect l="l" t="t" r="r" b="b"/>
            <a:pathLst>
              <a:path w="4633595">
                <a:moveTo>
                  <a:pt x="0" y="0"/>
                </a:moveTo>
                <a:lnTo>
                  <a:pt x="463301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0390" y="1865422"/>
            <a:ext cx="0" cy="430530"/>
          </a:xfrm>
          <a:custGeom>
            <a:avLst/>
            <a:gdLst/>
            <a:ahLst/>
            <a:cxnLst/>
            <a:rect l="l" t="t" r="r" b="b"/>
            <a:pathLst>
              <a:path h="430530">
                <a:moveTo>
                  <a:pt x="0" y="0"/>
                </a:moveTo>
                <a:lnTo>
                  <a:pt x="0" y="43051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418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70390" y="22959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1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63474" y="22959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521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2162" y="2590959"/>
            <a:ext cx="1125855" cy="5473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04470">
              <a:lnSpc>
                <a:spcPts val="2000"/>
              </a:lnSpc>
              <a:spcBef>
                <a:spcPts val="250"/>
              </a:spcBef>
            </a:pPr>
            <a:r>
              <a:rPr sz="1750" spc="-5" dirty="0">
                <a:latin typeface="Helvetica"/>
                <a:cs typeface="Helvetica"/>
              </a:rPr>
              <a:t>Design  </a:t>
            </a:r>
            <a:r>
              <a:rPr sz="1750" dirty="0">
                <a:latin typeface="Helvetica"/>
                <a:cs typeface="Helvetica"/>
              </a:rPr>
              <a:t>V</a:t>
            </a:r>
            <a:r>
              <a:rPr sz="1750" spc="-10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rification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9063" y="2562233"/>
            <a:ext cx="152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Explicit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9370" y="2590959"/>
            <a:ext cx="1819275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54940" marR="5080" indent="-142875">
              <a:lnSpc>
                <a:spcPts val="2010"/>
              </a:lnSpc>
              <a:spcBef>
                <a:spcPts val="244"/>
              </a:spcBef>
            </a:pPr>
            <a:r>
              <a:rPr sz="1750" spc="-5" dirty="0">
                <a:latin typeface="Helvetica"/>
                <a:cs typeface="Helvetica"/>
              </a:rPr>
              <a:t>Implicit Testing </a:t>
            </a:r>
            <a:r>
              <a:rPr sz="1750" dirty="0">
                <a:latin typeface="Helvetica"/>
                <a:cs typeface="Helvetica"/>
              </a:rPr>
              <a:t>Or  </a:t>
            </a:r>
            <a:r>
              <a:rPr sz="1750" spc="-5" dirty="0">
                <a:latin typeface="Helvetica"/>
                <a:cs typeface="Helvetica"/>
              </a:rPr>
              <a:t>On-line</a:t>
            </a:r>
            <a:r>
              <a:rPr sz="1750" spc="-2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Testing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56671" y="2878796"/>
            <a:ext cx="0" cy="833119"/>
          </a:xfrm>
          <a:custGeom>
            <a:avLst/>
            <a:gdLst/>
            <a:ahLst/>
            <a:cxnLst/>
            <a:rect l="l" t="t" r="r" b="b"/>
            <a:pathLst>
              <a:path h="833120">
                <a:moveTo>
                  <a:pt x="0" y="0"/>
                </a:moveTo>
                <a:lnTo>
                  <a:pt x="0" y="832864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0461" y="3670148"/>
            <a:ext cx="6316980" cy="0"/>
          </a:xfrm>
          <a:custGeom>
            <a:avLst/>
            <a:gdLst/>
            <a:ahLst/>
            <a:cxnLst/>
            <a:rect l="l" t="t" r="r" b="b"/>
            <a:pathLst>
              <a:path w="6316980">
                <a:moveTo>
                  <a:pt x="0" y="0"/>
                </a:moveTo>
                <a:lnTo>
                  <a:pt x="6316402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046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56671" y="3670148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33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65430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657" y="3977954"/>
            <a:ext cx="16452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Characterization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538" y="4232595"/>
            <a:ext cx="45847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94489" y="3965722"/>
            <a:ext cx="15849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Production</a:t>
            </a:r>
            <a:r>
              <a:rPr sz="1750" spc="-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53418" y="3963498"/>
            <a:ext cx="14719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Reliability</a:t>
            </a:r>
            <a:r>
              <a:rPr sz="1750" spc="-3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3145" y="3670148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706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96033" y="3964610"/>
            <a:ext cx="14979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Diagnosis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6507" y="5534085"/>
            <a:ext cx="8576945" cy="0"/>
          </a:xfrm>
          <a:custGeom>
            <a:avLst/>
            <a:gdLst/>
            <a:ahLst/>
            <a:cxnLst/>
            <a:rect l="l" t="t" r="r" b="b"/>
            <a:pathLst>
              <a:path w="8576945">
                <a:moveTo>
                  <a:pt x="0" y="0"/>
                </a:moveTo>
                <a:lnTo>
                  <a:pt x="8576743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7249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5664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50008" y="5530397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8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2098" y="5921375"/>
            <a:ext cx="2334895" cy="93662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93345" marR="5080" indent="-81280">
              <a:lnSpc>
                <a:spcPts val="2010"/>
              </a:lnSpc>
              <a:spcBef>
                <a:spcPts val="244"/>
              </a:spcBef>
              <a:tabLst>
                <a:tab pos="887094" algn="l"/>
                <a:tab pos="1388110" algn="l"/>
              </a:tabLst>
            </a:pPr>
            <a:r>
              <a:rPr sz="1750" dirty="0">
                <a:latin typeface="Helvetica"/>
                <a:cs typeface="Helvetica"/>
              </a:rPr>
              <a:t>Gross	DC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		Test</a:t>
            </a:r>
          </a:p>
          <a:p>
            <a:pPr marL="71755">
              <a:lnSpc>
                <a:spcPct val="100000"/>
              </a:lnSpc>
              <a:spcBef>
                <a:spcPts val="125"/>
              </a:spcBef>
            </a:pPr>
            <a:r>
              <a:rPr lang="en-US" sz="2400" b="1" spc="-5" dirty="0">
                <a:latin typeface="Arial"/>
                <a:cs typeface="Arial"/>
              </a:rPr>
              <a:t>21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45412" y="5838166"/>
            <a:ext cx="1447800" cy="5480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507365" marR="5080" indent="-495300">
              <a:lnSpc>
                <a:spcPts val="2010"/>
              </a:lnSpc>
              <a:spcBef>
                <a:spcPts val="244"/>
              </a:spcBef>
            </a:pPr>
            <a:r>
              <a:rPr sz="1750" dirty="0">
                <a:latin typeface="Helvetica"/>
                <a:cs typeface="Helvetica"/>
              </a:rPr>
              <a:t>AC</a:t>
            </a:r>
            <a:r>
              <a:rPr sz="1750" spc="-9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parametric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94352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510933" y="5825953"/>
            <a:ext cx="84201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03835" marR="5080" indent="-191770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o</a:t>
            </a:r>
            <a:r>
              <a:rPr sz="1750" dirty="0">
                <a:latin typeface="Helvetica"/>
                <a:cs typeface="Helvetica"/>
              </a:rPr>
              <a:t>o</a:t>
            </a:r>
            <a:r>
              <a:rPr sz="1750" spc="-10" dirty="0">
                <a:latin typeface="Helvetica"/>
                <a:cs typeface="Helvetica"/>
              </a:rPr>
              <a:t>l</a:t>
            </a:r>
            <a:r>
              <a:rPr sz="1750" spc="5" dirty="0">
                <a:latin typeface="Helvetica"/>
                <a:cs typeface="Helvetica"/>
              </a:rPr>
              <a:t>e</a:t>
            </a:r>
            <a:r>
              <a:rPr sz="1750" dirty="0">
                <a:latin typeface="Helvetica"/>
                <a:cs typeface="Helvetica"/>
              </a:rPr>
              <a:t>an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70390" y="4280804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07280" y="5530397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64020" y="5810404"/>
            <a:ext cx="10883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Delay</a:t>
            </a:r>
            <a:r>
              <a:rPr sz="1750" spc="-6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1679" y="4673180"/>
            <a:ext cx="3172460" cy="0"/>
          </a:xfrm>
          <a:custGeom>
            <a:avLst/>
            <a:gdLst/>
            <a:ahLst/>
            <a:cxnLst/>
            <a:rect l="l" t="t" r="r" b="b"/>
            <a:pathLst>
              <a:path w="3172460">
                <a:moveTo>
                  <a:pt x="0" y="0"/>
                </a:moveTo>
                <a:lnTo>
                  <a:pt x="3172059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8016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191358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31533" y="468354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25552" y="4977614"/>
            <a:ext cx="12147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Wafer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81370" y="4977614"/>
            <a:ext cx="13862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Helvetica"/>
                <a:cs typeface="Helvetica"/>
              </a:rPr>
              <a:t>Package</a:t>
            </a:r>
            <a:r>
              <a:rPr sz="1750" spc="-50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51614" y="4977614"/>
            <a:ext cx="12630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System</a:t>
            </a:r>
            <a:r>
              <a:rPr sz="1750" spc="-75" dirty="0">
                <a:latin typeface="Helvetica"/>
                <a:cs typeface="Helvetica"/>
              </a:rPr>
              <a:t> </a:t>
            </a:r>
            <a:r>
              <a:rPr sz="1750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56653" y="4977614"/>
            <a:ext cx="7423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B</a:t>
            </a:r>
            <a:r>
              <a:rPr sz="1750" spc="-10" dirty="0">
                <a:latin typeface="Helvetica"/>
                <a:cs typeface="Helvetica"/>
              </a:rPr>
              <a:t>u</a:t>
            </a:r>
            <a:r>
              <a:rPr sz="1750" dirty="0">
                <a:latin typeface="Helvetica"/>
                <a:cs typeface="Helvetica"/>
              </a:rPr>
              <a:t>rn-</a:t>
            </a:r>
            <a:r>
              <a:rPr sz="1750" spc="-5" dirty="0">
                <a:latin typeface="Helvetica"/>
                <a:cs typeface="Helvetica"/>
              </a:rPr>
              <a:t>in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80856" y="5266490"/>
            <a:ext cx="0" cy="264160"/>
          </a:xfrm>
          <a:custGeom>
            <a:avLst/>
            <a:gdLst/>
            <a:ahLst/>
            <a:cxnLst/>
            <a:rect l="l" t="t" r="r" b="b"/>
            <a:pathLst>
              <a:path h="264160">
                <a:moveTo>
                  <a:pt x="0" y="0"/>
                </a:moveTo>
                <a:lnTo>
                  <a:pt x="0" y="263907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77639" y="5294252"/>
            <a:ext cx="0" cy="236220"/>
          </a:xfrm>
          <a:custGeom>
            <a:avLst/>
            <a:gdLst/>
            <a:ahLst/>
            <a:cxnLst/>
            <a:rect l="l" t="t" r="r" b="b"/>
            <a:pathLst>
              <a:path h="236220">
                <a:moveTo>
                  <a:pt x="0" y="0"/>
                </a:moveTo>
                <a:lnTo>
                  <a:pt x="0" y="236145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63739" y="4683540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636607" y="5534085"/>
            <a:ext cx="0" cy="291465"/>
          </a:xfrm>
          <a:custGeom>
            <a:avLst/>
            <a:gdLst/>
            <a:ahLst/>
            <a:cxnLst/>
            <a:rect l="l" t="t" r="r" b="b"/>
            <a:pathLst>
              <a:path h="291464">
                <a:moveTo>
                  <a:pt x="0" y="0"/>
                </a:moveTo>
                <a:lnTo>
                  <a:pt x="0" y="291298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923251" y="5523725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69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440759" y="5810404"/>
            <a:ext cx="64389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11760" marR="5080" indent="-9969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IDDQ,  </a:t>
            </a:r>
            <a:r>
              <a:rPr sz="1750" spc="-5" dirty="0">
                <a:latin typeface="Helvetica"/>
                <a:cs typeface="Helvetica"/>
              </a:rPr>
              <a:t>VLV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68277" y="5790407"/>
            <a:ext cx="1051560" cy="5467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08610" marR="5080" indent="-296545">
              <a:lnSpc>
                <a:spcPts val="2000"/>
              </a:lnSpc>
              <a:spcBef>
                <a:spcPts val="250"/>
              </a:spcBef>
            </a:pPr>
            <a:r>
              <a:rPr sz="1750" dirty="0">
                <a:latin typeface="Helvetica"/>
                <a:cs typeface="Helvetica"/>
              </a:rPr>
              <a:t>Fu</a:t>
            </a:r>
            <a:r>
              <a:rPr sz="1750" spc="-10" dirty="0">
                <a:latin typeface="Helvetica"/>
                <a:cs typeface="Helvetica"/>
              </a:rPr>
              <a:t>n</a:t>
            </a:r>
            <a:r>
              <a:rPr sz="1750" dirty="0">
                <a:latin typeface="Helvetica"/>
                <a:cs typeface="Helvetica"/>
              </a:rPr>
              <a:t>ctional  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965430" y="4284510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67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631533" y="4673180"/>
            <a:ext cx="1169035" cy="0"/>
          </a:xfrm>
          <a:custGeom>
            <a:avLst/>
            <a:gdLst/>
            <a:ahLst/>
            <a:cxnLst/>
            <a:rect l="l" t="t" r="r" b="b"/>
            <a:pathLst>
              <a:path w="1169035">
                <a:moveTo>
                  <a:pt x="0" y="0"/>
                </a:moveTo>
                <a:lnTo>
                  <a:pt x="1168918" y="0"/>
                </a:lnTo>
              </a:path>
            </a:pathLst>
          </a:custGeom>
          <a:ln w="1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800451" y="4673180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0" y="291650"/>
                </a:lnTo>
              </a:path>
            </a:pathLst>
          </a:custGeom>
          <a:ln w="14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650373" y="4976502"/>
            <a:ext cx="12992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Helvetica"/>
                <a:cs typeface="Helvetica"/>
              </a:rPr>
              <a:t>Acc. Life</a:t>
            </a:r>
            <a:r>
              <a:rPr sz="1750" spc="-70" dirty="0">
                <a:latin typeface="Helvetica"/>
                <a:cs typeface="Helvetica"/>
              </a:rPr>
              <a:t> </a:t>
            </a:r>
            <a:r>
              <a:rPr sz="1750" spc="-5" dirty="0">
                <a:latin typeface="Helvetica"/>
                <a:cs typeface="Helvetica"/>
              </a:rPr>
              <a:t>test</a:t>
            </a:r>
            <a:endParaRPr sz="1750">
              <a:latin typeface="Helvetica"/>
              <a:cs typeface="Helvetic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77810" y="2545461"/>
            <a:ext cx="15227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don’t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worry</a:t>
            </a:r>
            <a:r>
              <a:rPr sz="1400" b="1" spc="-1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about 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names </a:t>
            </a: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too</a:t>
            </a:r>
            <a:r>
              <a:rPr sz="1400" b="1" spc="-7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much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452359" y="876300"/>
            <a:ext cx="1421892" cy="1645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">
            <a:extLst>
              <a:ext uri="{FF2B5EF4-FFF2-40B4-BE49-F238E27FC236}">
                <a16:creationId xmlns:a16="http://schemas.microsoft.com/office/drawing/2014/main" id="{23E20901-34BD-260F-39D9-969CA0E9E834}"/>
              </a:ext>
            </a:extLst>
          </p:cNvPr>
          <p:cNvSpPr txBox="1">
            <a:spLocks/>
          </p:cNvSpPr>
          <p:nvPr/>
        </p:nvSpPr>
        <p:spPr>
          <a:xfrm>
            <a:off x="2294887" y="228600"/>
            <a:ext cx="40297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ea typeface="+mj-ea"/>
                <a:cs typeface="HelveticaNeue-BoldItalic"/>
              </a:defRPr>
            </a:lvl1pPr>
          </a:lstStyle>
          <a:p>
            <a:pPr marL="25400">
              <a:spcBef>
                <a:spcPts val="100"/>
              </a:spcBef>
            </a:pPr>
            <a:r>
              <a:rPr lang="en-US" kern="0" dirty="0">
                <a:solidFill>
                  <a:srgbClr val="00B050"/>
                </a:solidFill>
                <a:latin typeface="Arial"/>
                <a:cs typeface="Arial"/>
              </a:rPr>
              <a:t>Types of Testing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39C9AB8F-46D6-8A92-8B81-30601DC7D9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491605"/>
            <a:ext cx="470002" cy="36639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"/>
    </mc:Choice>
    <mc:Fallback xmlns="">
      <p:transition spd="slow" advTm="17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019820" y="1888504"/>
            <a:ext cx="7172065" cy="4898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6867" y="164414"/>
            <a:ext cx="37604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Wafer Test Setup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0225" y="961136"/>
            <a:ext cx="275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Source: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Verigy.com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0204" y="5573369"/>
            <a:ext cx="26219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Probe</a:t>
            </a:r>
            <a:r>
              <a:rPr sz="3200" b="1" spc="-1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station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2666" y="5249976"/>
            <a:ext cx="8096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40" dirty="0">
                <a:solidFill>
                  <a:srgbClr val="FF0000"/>
                </a:solidFill>
                <a:latin typeface="Helvetica"/>
                <a:cs typeface="Helvetica"/>
              </a:rPr>
              <a:t>A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TE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42001" y="2044547"/>
            <a:ext cx="3801110" cy="1767839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3200" b="1" spc="-60" dirty="0">
                <a:solidFill>
                  <a:srgbClr val="FF0000"/>
                </a:solidFill>
                <a:latin typeface="Helvetica"/>
                <a:cs typeface="Helvetica"/>
              </a:rPr>
              <a:t>Test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head</a:t>
            </a:r>
            <a:endParaRPr lang="en-US" sz="1400" dirty="0">
              <a:latin typeface="Helvetica"/>
              <a:cs typeface="Helvetica"/>
            </a:endParaRPr>
          </a:p>
          <a:p>
            <a:pPr marL="1689100" marR="5080">
              <a:lnSpc>
                <a:spcPct val="100000"/>
              </a:lnSpc>
              <a:spcBef>
                <a:spcPts val="1100"/>
              </a:spcBef>
            </a:pPr>
            <a:r>
              <a:rPr lang="en-US" sz="3200" b="1" dirty="0">
                <a:solidFill>
                  <a:srgbClr val="FF0000"/>
                </a:solidFill>
                <a:latin typeface="Helvetica"/>
                <a:cs typeface="Helvetica"/>
              </a:rPr>
              <a:t>wafer and  probe</a:t>
            </a:r>
            <a:r>
              <a:rPr lang="en-US" sz="3200" b="1" spc="-1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n-US" sz="3200" b="1" spc="-5" dirty="0">
                <a:solidFill>
                  <a:srgbClr val="FF0000"/>
                </a:solidFill>
                <a:latin typeface="Helvetica"/>
                <a:cs typeface="Helvetica"/>
              </a:rPr>
              <a:t>card</a:t>
            </a:r>
            <a:endParaRPr lang="en-US" sz="3200" dirty="0">
              <a:latin typeface="Helvetica"/>
              <a:cs typeface="Helvetic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87084" y="3504184"/>
            <a:ext cx="535305" cy="678180"/>
          </a:xfrm>
          <a:custGeom>
            <a:avLst/>
            <a:gdLst/>
            <a:ahLst/>
            <a:cxnLst/>
            <a:rect l="l" t="t" r="r" b="b"/>
            <a:pathLst>
              <a:path w="535304" h="678179">
                <a:moveTo>
                  <a:pt x="37845" y="487171"/>
                </a:moveTo>
                <a:lnTo>
                  <a:pt x="0" y="677671"/>
                </a:lnTo>
                <a:lnTo>
                  <a:pt x="175133" y="593724"/>
                </a:lnTo>
                <a:lnTo>
                  <a:pt x="158769" y="581024"/>
                </a:lnTo>
                <a:lnTo>
                  <a:pt x="111632" y="581024"/>
                </a:lnTo>
                <a:lnTo>
                  <a:pt x="65912" y="545591"/>
                </a:lnTo>
                <a:lnTo>
                  <a:pt x="83654" y="522725"/>
                </a:lnTo>
                <a:lnTo>
                  <a:pt x="37845" y="487171"/>
                </a:lnTo>
                <a:close/>
              </a:path>
              <a:path w="535304" h="678179">
                <a:moveTo>
                  <a:pt x="83654" y="522725"/>
                </a:moveTo>
                <a:lnTo>
                  <a:pt x="65912" y="545591"/>
                </a:lnTo>
                <a:lnTo>
                  <a:pt x="111632" y="581024"/>
                </a:lnTo>
                <a:lnTo>
                  <a:pt x="129351" y="558192"/>
                </a:lnTo>
                <a:lnTo>
                  <a:pt x="83654" y="522725"/>
                </a:lnTo>
                <a:close/>
              </a:path>
              <a:path w="535304" h="678179">
                <a:moveTo>
                  <a:pt x="129351" y="558192"/>
                </a:moveTo>
                <a:lnTo>
                  <a:pt x="111632" y="581024"/>
                </a:lnTo>
                <a:lnTo>
                  <a:pt x="158769" y="581024"/>
                </a:lnTo>
                <a:lnTo>
                  <a:pt x="129351" y="558192"/>
                </a:lnTo>
                <a:close/>
              </a:path>
              <a:path w="535304" h="678179">
                <a:moveTo>
                  <a:pt x="489204" y="0"/>
                </a:moveTo>
                <a:lnTo>
                  <a:pt x="83654" y="522725"/>
                </a:lnTo>
                <a:lnTo>
                  <a:pt x="129351" y="558192"/>
                </a:lnTo>
                <a:lnTo>
                  <a:pt x="534923" y="35560"/>
                </a:lnTo>
                <a:lnTo>
                  <a:pt x="4892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A1C1F7B-A918-077E-AFEF-D6CE943425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9"/>
    </mc:Choice>
    <mc:Fallback xmlns="">
      <p:transition spd="slow" advTm="232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3003" y="1785133"/>
            <a:ext cx="3879197" cy="3924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44996" y="532333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14743" y="5323332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82968" y="532333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52716" y="532333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07023" y="5044440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8"/>
                </a:moveTo>
                <a:lnTo>
                  <a:pt x="243839" y="262128"/>
                </a:lnTo>
                <a:lnTo>
                  <a:pt x="243839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75247" y="5044440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3" y="262128"/>
                </a:lnTo>
                <a:lnTo>
                  <a:pt x="245363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4996" y="5044440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14743" y="5044440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84492" y="5044440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52716" y="5044440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22464" y="5044440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92211" y="5044440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37276" y="4765547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07023" y="4765547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75247" y="4765547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3" y="262127"/>
                </a:lnTo>
                <a:lnTo>
                  <a:pt x="245363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4996" y="4765547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14743" y="4765547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84492" y="4765547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52716" y="4765547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22464" y="4765547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92211" y="4765547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61959" y="4765547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67528" y="448665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8"/>
                </a:moveTo>
                <a:lnTo>
                  <a:pt x="243839" y="262128"/>
                </a:lnTo>
                <a:lnTo>
                  <a:pt x="243839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37276" y="448665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8"/>
                </a:moveTo>
                <a:lnTo>
                  <a:pt x="243839" y="262128"/>
                </a:lnTo>
                <a:lnTo>
                  <a:pt x="243839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07023" y="448665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8"/>
                </a:moveTo>
                <a:lnTo>
                  <a:pt x="243839" y="262128"/>
                </a:lnTo>
                <a:lnTo>
                  <a:pt x="243839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75247" y="4486655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3" y="262128"/>
                </a:lnTo>
                <a:lnTo>
                  <a:pt x="245363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44996" y="4486655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14743" y="448665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84492" y="448665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52716" y="4486655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22464" y="4486655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92211" y="448665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061959" y="448665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67528" y="4207764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3" y="262128"/>
                </a:lnTo>
                <a:lnTo>
                  <a:pt x="245363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37276" y="4207764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8"/>
                </a:moveTo>
                <a:lnTo>
                  <a:pt x="243839" y="262128"/>
                </a:lnTo>
                <a:lnTo>
                  <a:pt x="243839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07023" y="4207764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8"/>
                </a:moveTo>
                <a:lnTo>
                  <a:pt x="243839" y="262128"/>
                </a:lnTo>
                <a:lnTo>
                  <a:pt x="243839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175247" y="4207764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3" y="262128"/>
                </a:lnTo>
                <a:lnTo>
                  <a:pt x="245363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44996" y="4207764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14743" y="4207764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84492" y="4207764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52716" y="4207764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522464" y="4207764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792211" y="4207764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61959" y="4207764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8"/>
                </a:moveTo>
                <a:lnTo>
                  <a:pt x="243840" y="262128"/>
                </a:lnTo>
                <a:lnTo>
                  <a:pt x="243840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330183" y="4207764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8"/>
                </a:moveTo>
                <a:lnTo>
                  <a:pt x="245364" y="262128"/>
                </a:lnTo>
                <a:lnTo>
                  <a:pt x="245364" y="0"/>
                </a:lnTo>
                <a:lnTo>
                  <a:pt x="0" y="0"/>
                </a:lnTo>
                <a:lnTo>
                  <a:pt x="0" y="26212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67528" y="3928871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37276" y="3928871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907023" y="3928871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4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75247" y="3928871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3" y="262127"/>
                </a:lnTo>
                <a:lnTo>
                  <a:pt x="245363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444996" y="3928871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714743" y="3928871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984492" y="3928871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252716" y="3928871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22464" y="3928871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4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792211" y="3928871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061959" y="3928871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331707" y="3928871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4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67528" y="3662171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3"/>
                </a:moveTo>
                <a:lnTo>
                  <a:pt x="243839" y="260603"/>
                </a:lnTo>
                <a:lnTo>
                  <a:pt x="243839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637276" y="3662171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3"/>
                </a:moveTo>
                <a:lnTo>
                  <a:pt x="243839" y="260603"/>
                </a:lnTo>
                <a:lnTo>
                  <a:pt x="243839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907023" y="3662171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3"/>
                </a:moveTo>
                <a:lnTo>
                  <a:pt x="243839" y="260603"/>
                </a:lnTo>
                <a:lnTo>
                  <a:pt x="243839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75247" y="3662171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3" y="260603"/>
                </a:lnTo>
                <a:lnTo>
                  <a:pt x="245363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444996" y="3662171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714743" y="3662171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984492" y="3662171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52716" y="3662171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522464" y="3662171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792211" y="3662171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061959" y="3662171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330183" y="3662171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367528" y="3383279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4"/>
                </a:moveTo>
                <a:lnTo>
                  <a:pt x="245363" y="260604"/>
                </a:lnTo>
                <a:lnTo>
                  <a:pt x="245363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637276" y="3383279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4"/>
                </a:moveTo>
                <a:lnTo>
                  <a:pt x="243839" y="260604"/>
                </a:lnTo>
                <a:lnTo>
                  <a:pt x="243839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907023" y="3383279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4"/>
                </a:moveTo>
                <a:lnTo>
                  <a:pt x="243839" y="260604"/>
                </a:lnTo>
                <a:lnTo>
                  <a:pt x="243839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175247" y="3383279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4"/>
                </a:moveTo>
                <a:lnTo>
                  <a:pt x="245363" y="260604"/>
                </a:lnTo>
                <a:lnTo>
                  <a:pt x="245363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444996" y="3383279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4"/>
                </a:moveTo>
                <a:lnTo>
                  <a:pt x="245364" y="260604"/>
                </a:lnTo>
                <a:lnTo>
                  <a:pt x="245364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714743" y="3383279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4"/>
                </a:moveTo>
                <a:lnTo>
                  <a:pt x="243840" y="260604"/>
                </a:lnTo>
                <a:lnTo>
                  <a:pt x="243840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984492" y="3383279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4"/>
                </a:moveTo>
                <a:lnTo>
                  <a:pt x="243840" y="260604"/>
                </a:lnTo>
                <a:lnTo>
                  <a:pt x="243840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252716" y="3383279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4"/>
                </a:moveTo>
                <a:lnTo>
                  <a:pt x="245364" y="260604"/>
                </a:lnTo>
                <a:lnTo>
                  <a:pt x="245364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522464" y="3383279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4"/>
                </a:moveTo>
                <a:lnTo>
                  <a:pt x="245364" y="260604"/>
                </a:lnTo>
                <a:lnTo>
                  <a:pt x="245364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792211" y="3383279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4"/>
                </a:moveTo>
                <a:lnTo>
                  <a:pt x="243840" y="260604"/>
                </a:lnTo>
                <a:lnTo>
                  <a:pt x="243840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061959" y="3383279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4"/>
                </a:moveTo>
                <a:lnTo>
                  <a:pt x="243840" y="260604"/>
                </a:lnTo>
                <a:lnTo>
                  <a:pt x="243840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331707" y="3383279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4"/>
                </a:moveTo>
                <a:lnTo>
                  <a:pt x="243840" y="260604"/>
                </a:lnTo>
                <a:lnTo>
                  <a:pt x="243840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367528" y="3104388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3" y="260603"/>
                </a:lnTo>
                <a:lnTo>
                  <a:pt x="245363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637276" y="310438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3"/>
                </a:moveTo>
                <a:lnTo>
                  <a:pt x="243839" y="260603"/>
                </a:lnTo>
                <a:lnTo>
                  <a:pt x="243839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907023" y="310438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3"/>
                </a:moveTo>
                <a:lnTo>
                  <a:pt x="243839" y="260603"/>
                </a:lnTo>
                <a:lnTo>
                  <a:pt x="243839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175247" y="3104388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3" y="260603"/>
                </a:lnTo>
                <a:lnTo>
                  <a:pt x="245363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444996" y="3104388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714743" y="310438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84492" y="310438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252716" y="3104388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522464" y="3104388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792211" y="310438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061959" y="310438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331707" y="310438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367528" y="2825495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5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637276" y="2825495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3"/>
                </a:moveTo>
                <a:lnTo>
                  <a:pt x="243839" y="260603"/>
                </a:lnTo>
                <a:lnTo>
                  <a:pt x="243839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907023" y="2825495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39" h="260985">
                <a:moveTo>
                  <a:pt x="0" y="260603"/>
                </a:moveTo>
                <a:lnTo>
                  <a:pt x="243839" y="260603"/>
                </a:lnTo>
                <a:lnTo>
                  <a:pt x="243839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175247" y="2825495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3" y="260603"/>
                </a:lnTo>
                <a:lnTo>
                  <a:pt x="245363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444996" y="2825495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714743" y="2825495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984492" y="2825495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252716" y="2825495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522464" y="2825495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792211" y="2825495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061959" y="2825495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30183" y="2825495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637276" y="2557272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5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907023" y="2557272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5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175247" y="255727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3" y="262127"/>
                </a:lnTo>
                <a:lnTo>
                  <a:pt x="245363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444996" y="255727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714743" y="2557272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5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982968" y="255727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252716" y="255727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522464" y="2557272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792211" y="2557272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5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061959" y="2557272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5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907023" y="2289048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39" h="262255">
                <a:moveTo>
                  <a:pt x="0" y="262127"/>
                </a:moveTo>
                <a:lnTo>
                  <a:pt x="243839" y="262127"/>
                </a:lnTo>
                <a:lnTo>
                  <a:pt x="243839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175247" y="2290572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3" y="260603"/>
                </a:lnTo>
                <a:lnTo>
                  <a:pt x="245363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444996" y="2289048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714743" y="2290572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984492" y="2290572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252716" y="2290572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522464" y="2290572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792211" y="2289048"/>
            <a:ext cx="243840" cy="262255"/>
          </a:xfrm>
          <a:custGeom>
            <a:avLst/>
            <a:gdLst/>
            <a:ahLst/>
            <a:cxnLst/>
            <a:rect l="l" t="t" r="r" b="b"/>
            <a:pathLst>
              <a:path w="243840" h="262255">
                <a:moveTo>
                  <a:pt x="0" y="262127"/>
                </a:moveTo>
                <a:lnTo>
                  <a:pt x="243840" y="262127"/>
                </a:lnTo>
                <a:lnTo>
                  <a:pt x="243840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175247" y="2022348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3" y="262127"/>
                </a:lnTo>
                <a:lnTo>
                  <a:pt x="245363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444996" y="2022348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714743" y="202234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984492" y="2022348"/>
            <a:ext cx="243840" cy="260985"/>
          </a:xfrm>
          <a:custGeom>
            <a:avLst/>
            <a:gdLst/>
            <a:ahLst/>
            <a:cxnLst/>
            <a:rect l="l" t="t" r="r" b="b"/>
            <a:pathLst>
              <a:path w="243840" h="260985">
                <a:moveTo>
                  <a:pt x="0" y="260603"/>
                </a:moveTo>
                <a:lnTo>
                  <a:pt x="243840" y="260603"/>
                </a:lnTo>
                <a:lnTo>
                  <a:pt x="243840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7252716" y="2022348"/>
            <a:ext cx="245745" cy="262255"/>
          </a:xfrm>
          <a:custGeom>
            <a:avLst/>
            <a:gdLst/>
            <a:ahLst/>
            <a:cxnLst/>
            <a:rect l="l" t="t" r="r" b="b"/>
            <a:pathLst>
              <a:path w="245745" h="262255">
                <a:moveTo>
                  <a:pt x="0" y="262127"/>
                </a:moveTo>
                <a:lnTo>
                  <a:pt x="245364" y="262127"/>
                </a:lnTo>
                <a:lnTo>
                  <a:pt x="245364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7522464" y="2022348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603"/>
                </a:moveTo>
                <a:lnTo>
                  <a:pt x="245364" y="260603"/>
                </a:lnTo>
                <a:lnTo>
                  <a:pt x="245364" y="0"/>
                </a:lnTo>
                <a:lnTo>
                  <a:pt x="0" y="0"/>
                </a:lnTo>
                <a:lnTo>
                  <a:pt x="0" y="26060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>
            <a:spLocks noGrp="1"/>
          </p:cNvSpPr>
          <p:nvPr>
            <p:ph type="title"/>
          </p:nvPr>
        </p:nvSpPr>
        <p:spPr>
          <a:xfrm>
            <a:off x="2445403" y="164414"/>
            <a:ext cx="387919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Wafer </a:t>
            </a:r>
            <a:r>
              <a:rPr lang="en-US" dirty="0">
                <a:solidFill>
                  <a:srgbClr val="00B050"/>
                </a:solidFill>
                <a:latin typeface="Arial"/>
                <a:cs typeface="Arial"/>
              </a:rPr>
              <a:t>Sort / </a:t>
            </a: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Map</a:t>
            </a:r>
          </a:p>
        </p:txBody>
      </p:sp>
      <p:sp>
        <p:nvSpPr>
          <p:cNvPr id="133" name="object 133"/>
          <p:cNvSpPr txBox="1"/>
          <p:nvPr/>
        </p:nvSpPr>
        <p:spPr>
          <a:xfrm>
            <a:off x="230225" y="961136"/>
            <a:ext cx="8597900" cy="52764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Why </a:t>
            </a:r>
            <a:r>
              <a:rPr lang="en-US" sz="2000" b="1" spc="20" dirty="0">
                <a:latin typeface="Arial"/>
                <a:cs typeface="Arial"/>
              </a:rPr>
              <a:t>we </a:t>
            </a:r>
            <a:r>
              <a:rPr lang="en-US" sz="2000" b="1" dirty="0">
                <a:latin typeface="Arial"/>
                <a:cs typeface="Arial"/>
              </a:rPr>
              <a:t>call it </a:t>
            </a:r>
            <a:r>
              <a:rPr lang="en-US" sz="2000" b="1" i="1" dirty="0">
                <a:latin typeface="Arial-BoldItalicMT"/>
                <a:cs typeface="Arial-BoldItalicMT"/>
              </a:rPr>
              <a:t>wafer</a:t>
            </a:r>
            <a:r>
              <a:rPr lang="en-US" sz="2000" b="1" i="1" spc="-170" dirty="0">
                <a:latin typeface="Arial-BoldItalicMT"/>
                <a:cs typeface="Arial-BoldItalicMT"/>
              </a:rPr>
              <a:t> </a:t>
            </a:r>
            <a:r>
              <a:rPr lang="en-US" sz="2000" b="1" i="1" dirty="0">
                <a:latin typeface="Arial-BoldItalicMT"/>
                <a:cs typeface="Arial-BoldItalicMT"/>
              </a:rPr>
              <a:t>sort</a:t>
            </a:r>
            <a:r>
              <a:rPr lang="en-US" sz="2000" b="1" dirty="0">
                <a:latin typeface="Arial"/>
                <a:cs typeface="Arial"/>
              </a:rPr>
              <a:t>?</a:t>
            </a:r>
            <a:endParaRPr lang="en-US"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Wafer map </a:t>
            </a:r>
            <a:r>
              <a:rPr sz="2000" b="1" spc="5" dirty="0">
                <a:latin typeface="Arial"/>
                <a:cs typeface="Arial"/>
              </a:rPr>
              <a:t>shows </a:t>
            </a:r>
            <a:r>
              <a:rPr sz="2000" b="1" dirty="0">
                <a:latin typeface="Arial"/>
                <a:cs typeface="Arial"/>
              </a:rPr>
              <a:t>test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results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Die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 are sorted into different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Bins</a:t>
            </a:r>
            <a:endParaRPr sz="2000" dirty="0">
              <a:latin typeface="Arial-BoldItalicMT"/>
              <a:cs typeface="Arial-BoldItalic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FF00"/>
                </a:solidFill>
                <a:latin typeface="Arial"/>
                <a:cs typeface="Arial"/>
              </a:rPr>
              <a:t>Bin #1: </a:t>
            </a:r>
            <a:r>
              <a:rPr sz="2000" b="1" dirty="0">
                <a:latin typeface="Arial"/>
                <a:cs typeface="Arial"/>
              </a:rPr>
              <a:t>PASS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ALL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BIN #2: </a:t>
            </a:r>
            <a:r>
              <a:rPr sz="2000" b="1" dirty="0">
                <a:latin typeface="Arial"/>
                <a:cs typeface="Arial"/>
              </a:rPr>
              <a:t>FAIL FUNCTION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FFFF00"/>
                </a:solidFill>
                <a:latin typeface="Arial"/>
                <a:cs typeface="Arial"/>
              </a:rPr>
              <a:t>BIN #3: </a:t>
            </a:r>
            <a:r>
              <a:rPr sz="2000" b="1" dirty="0">
                <a:latin typeface="Arial"/>
                <a:cs typeface="Arial"/>
              </a:rPr>
              <a:t>FAIL IDDQ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BIN #4: </a:t>
            </a:r>
            <a:r>
              <a:rPr sz="2000" b="1" dirty="0">
                <a:latin typeface="Arial"/>
                <a:cs typeface="Arial"/>
              </a:rPr>
              <a:t>FAIL DC parametric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Wafer map </a:t>
            </a:r>
            <a:r>
              <a:rPr sz="2000" b="1" spc="-5" dirty="0">
                <a:latin typeface="Arial"/>
                <a:cs typeface="Arial"/>
              </a:rPr>
              <a:t>very </a:t>
            </a:r>
            <a:r>
              <a:rPr sz="2000" b="1" dirty="0">
                <a:latin typeface="Arial"/>
                <a:cs typeface="Arial"/>
              </a:rPr>
              <a:t>useful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pass/fail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decision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diagnosis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10" dirty="0">
                <a:latin typeface="Arial"/>
                <a:cs typeface="Arial"/>
              </a:rPr>
              <a:t>yield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improvement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 marL="4819650">
              <a:lnSpc>
                <a:spcPct val="100000"/>
              </a:lnSpc>
              <a:spcBef>
                <a:spcPts val="1730"/>
              </a:spcBef>
            </a:pPr>
            <a:r>
              <a:rPr sz="2000" b="1" spc="-5" dirty="0">
                <a:solidFill>
                  <a:srgbClr val="7E7E7E"/>
                </a:solidFill>
                <a:latin typeface="Helvetica"/>
                <a:cs typeface="Helvetica"/>
              </a:rPr>
              <a:t>Yield=Bin#1/total </a:t>
            </a:r>
            <a:r>
              <a:rPr sz="2000" b="1" dirty="0">
                <a:solidFill>
                  <a:srgbClr val="7E7E7E"/>
                </a:solidFill>
                <a:latin typeface="Helvetica"/>
                <a:cs typeface="Helvetica"/>
              </a:rPr>
              <a:t>=</a:t>
            </a:r>
            <a:r>
              <a:rPr sz="2000" b="1" spc="-120" dirty="0">
                <a:solidFill>
                  <a:srgbClr val="7E7E7E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7E7E7E"/>
                </a:solidFill>
                <a:latin typeface="Helvetica"/>
                <a:cs typeface="Helvetica"/>
              </a:rPr>
              <a:t>78/130=60%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36" name="object 4">
            <a:extLst>
              <a:ext uri="{FF2B5EF4-FFF2-40B4-BE49-F238E27FC236}">
                <a16:creationId xmlns:a16="http://schemas.microsoft.com/office/drawing/2014/main" id="{A95A9D66-262D-326D-7682-35E00E4DAD8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30225" y="900785"/>
                <a:ext cx="6221095" cy="2241639"/>
              </a:xfrm>
              <a:prstGeom prst="rect">
                <a:avLst/>
              </a:prstGeom>
            </p:spPr>
            <p:txBody>
              <a:bodyPr vert="horz" wrap="square" lIns="0" tIns="73660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5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Focus of this course: explicit</a:t>
                </a:r>
                <a:r>
                  <a:rPr lang="en-US" sz="2000" b="1" spc="-11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testing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Off-line IC testing on a specialized</a:t>
                </a:r>
                <a:r>
                  <a:rPr lang="en-US" sz="2000" b="1" spc="-15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tester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lang="en-US" sz="2000" b="1" spc="-5" dirty="0">
                    <a:latin typeface="Arial"/>
                    <a:cs typeface="Arial"/>
                  </a:rPr>
                  <a:t>Explicit </a:t>
                </a:r>
                <a:r>
                  <a:rPr lang="en-US" sz="2000" b="1" dirty="0">
                    <a:latin typeface="Arial"/>
                    <a:cs typeface="Arial"/>
                  </a:rPr>
                  <a:t>testing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≠ 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verification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≠ 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on-line</a:t>
                </a:r>
                <a:r>
                  <a:rPr lang="en-US" sz="2000" b="1" spc="-13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spc="-95" dirty="0">
                    <a:solidFill>
                      <a:srgbClr val="0000FF"/>
                    </a:solidFill>
                    <a:latin typeface="Arial"/>
                    <a:cs typeface="Arial"/>
                  </a:rPr>
                  <a:t>testing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355600" indent="-34290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Many different </a:t>
                </a:r>
                <a:r>
                  <a:rPr lang="en-US" sz="2000" b="1" spc="-10" dirty="0">
                    <a:latin typeface="Arial"/>
                    <a:cs typeface="Arial"/>
                  </a:rPr>
                  <a:t>types </a:t>
                </a:r>
                <a:r>
                  <a:rPr lang="en-US" sz="2000" b="1" dirty="0">
                    <a:latin typeface="Arial"/>
                    <a:cs typeface="Arial"/>
                  </a:rPr>
                  <a:t>of tests for</a:t>
                </a:r>
                <a:r>
                  <a:rPr lang="en-US" sz="2000" b="1" spc="-12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different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Purposes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Stages</a:t>
                </a:r>
                <a:endParaRPr sz="2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25" y="900785"/>
                <a:ext cx="6221095" cy="2241639"/>
              </a:xfrm>
              <a:prstGeom prst="rect">
                <a:avLst/>
              </a:prstGeom>
              <a:blipFill>
                <a:blip r:embed="rId2"/>
                <a:stretch>
                  <a:fillRect l="-2653" t="-2825" r="-1837" b="-5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687425" y="3156331"/>
            <a:ext cx="172656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Techniques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9875" y="3073612"/>
            <a:ext cx="19405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Helvetica"/>
                <a:cs typeface="Helvetica"/>
              </a:rPr>
              <a:t>Testing </a:t>
            </a:r>
            <a:r>
              <a:rPr sz="1200" spc="-5" dirty="0">
                <a:latin typeface="Helvetica"/>
                <a:cs typeface="Helvetica"/>
              </a:rPr>
              <a:t>(generally</a:t>
            </a:r>
            <a:r>
              <a:rPr sz="1200" spc="-6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speaking)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4342" y="3570616"/>
            <a:ext cx="3172460" cy="0"/>
          </a:xfrm>
          <a:custGeom>
            <a:avLst/>
            <a:gdLst/>
            <a:ahLst/>
            <a:cxnLst/>
            <a:rect l="l" t="t" r="r" b="b"/>
            <a:pathLst>
              <a:path w="3172460">
                <a:moveTo>
                  <a:pt x="0" y="0"/>
                </a:moveTo>
                <a:lnTo>
                  <a:pt x="3172461" y="0"/>
                </a:lnTo>
              </a:path>
            </a:pathLst>
          </a:custGeom>
          <a:ln w="9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38771" y="3274173"/>
            <a:ext cx="0" cy="296545"/>
          </a:xfrm>
          <a:custGeom>
            <a:avLst/>
            <a:gdLst/>
            <a:ahLst/>
            <a:cxnLst/>
            <a:rect l="l" t="t" r="r" b="b"/>
            <a:pathLst>
              <a:path h="296545">
                <a:moveTo>
                  <a:pt x="0" y="0"/>
                </a:moveTo>
                <a:lnTo>
                  <a:pt x="0" y="296442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14342" y="3570616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41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38771" y="3570616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41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77523" y="3570616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41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92803" y="3770519"/>
            <a:ext cx="4997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Helvetica"/>
                <a:cs typeface="Helvetica"/>
              </a:rPr>
              <a:t>D</a:t>
            </a:r>
            <a:r>
              <a:rPr sz="1200" dirty="0">
                <a:latin typeface="Helvetica"/>
                <a:cs typeface="Helvetica"/>
              </a:rPr>
              <a:t>esi</a:t>
            </a:r>
            <a:r>
              <a:rPr sz="1200" spc="-15" dirty="0">
                <a:latin typeface="Helvetica"/>
                <a:cs typeface="Helvetica"/>
              </a:rPr>
              <a:t>g</a:t>
            </a:r>
            <a:r>
              <a:rPr sz="1200" dirty="0">
                <a:latin typeface="Helvetica"/>
                <a:cs typeface="Helvetica"/>
              </a:rPr>
              <a:t>n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52433" y="3944777"/>
            <a:ext cx="7810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Helvetica"/>
                <a:cs typeface="Helvetica"/>
              </a:rPr>
              <a:t>Verification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0896" y="3770657"/>
            <a:ext cx="1303020" cy="186055"/>
          </a:xfrm>
          <a:prstGeom prst="rect">
            <a:avLst/>
          </a:prstGeom>
          <a:solidFill>
            <a:srgbClr val="FF00FF"/>
          </a:solidFill>
        </p:spPr>
        <p:txBody>
          <a:bodyPr vert="horz" wrap="square" lIns="0" tIns="0" rIns="0" bIns="0" rtlCol="0">
            <a:spAutoFit/>
          </a:bodyPr>
          <a:lstStyle/>
          <a:p>
            <a:pPr marL="105410">
              <a:lnSpc>
                <a:spcPts val="1395"/>
              </a:lnSpc>
            </a:pPr>
            <a:r>
              <a:rPr sz="1200" spc="-5" dirty="0">
                <a:latin typeface="Helvetica"/>
                <a:cs typeface="Helvetica"/>
              </a:rPr>
              <a:t>Explicit</a:t>
            </a:r>
            <a:r>
              <a:rPr sz="1200" spc="-1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Testing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75362" y="3770519"/>
            <a:ext cx="12547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Helvetica"/>
                <a:cs typeface="Helvetica"/>
              </a:rPr>
              <a:t>Implicit Testing</a:t>
            </a:r>
            <a:r>
              <a:rPr sz="1200" spc="-10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Or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72739" y="3944777"/>
            <a:ext cx="10598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Helvetica"/>
                <a:cs typeface="Helvetica"/>
              </a:rPr>
              <a:t>On-line</a:t>
            </a:r>
            <a:r>
              <a:rPr sz="1200" spc="-8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Testing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29746" y="3971080"/>
            <a:ext cx="0" cy="573405"/>
          </a:xfrm>
          <a:custGeom>
            <a:avLst/>
            <a:gdLst/>
            <a:ahLst/>
            <a:cxnLst/>
            <a:rect l="l" t="t" r="r" b="b"/>
            <a:pathLst>
              <a:path h="573404">
                <a:moveTo>
                  <a:pt x="0" y="0"/>
                </a:moveTo>
                <a:lnTo>
                  <a:pt x="0" y="573072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05011" y="4516464"/>
            <a:ext cx="4325620" cy="0"/>
          </a:xfrm>
          <a:custGeom>
            <a:avLst/>
            <a:gdLst/>
            <a:ahLst/>
            <a:cxnLst/>
            <a:rect l="l" t="t" r="r" b="b"/>
            <a:pathLst>
              <a:path w="4325620">
                <a:moveTo>
                  <a:pt x="0" y="0"/>
                </a:moveTo>
                <a:lnTo>
                  <a:pt x="4325015" y="0"/>
                </a:lnTo>
              </a:path>
            </a:pathLst>
          </a:custGeom>
          <a:ln w="9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05011" y="4516464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422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29746" y="4516464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422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04843" y="4516464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422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735093" y="4725385"/>
            <a:ext cx="1136015" cy="3848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40690" marR="5080" indent="-428625">
              <a:lnSpc>
                <a:spcPts val="1380"/>
              </a:lnSpc>
              <a:spcBef>
                <a:spcPts val="195"/>
              </a:spcBef>
            </a:pPr>
            <a:r>
              <a:rPr sz="1200" spc="-5" dirty="0">
                <a:latin typeface="Helvetica"/>
                <a:cs typeface="Helvetica"/>
              </a:rPr>
              <a:t>C</a:t>
            </a:r>
            <a:r>
              <a:rPr sz="1200" dirty="0">
                <a:latin typeface="Helvetica"/>
                <a:cs typeface="Helvetica"/>
              </a:rPr>
              <a:t>ha</a:t>
            </a:r>
            <a:r>
              <a:rPr sz="1200" spc="-5" dirty="0">
                <a:latin typeface="Helvetica"/>
                <a:cs typeface="Helvetica"/>
              </a:rPr>
              <a:t>r</a:t>
            </a:r>
            <a:r>
              <a:rPr sz="1200" dirty="0">
                <a:latin typeface="Helvetica"/>
                <a:cs typeface="Helvetica"/>
              </a:rPr>
              <a:t>acte</a:t>
            </a:r>
            <a:r>
              <a:rPr sz="1200" spc="-5" dirty="0">
                <a:latin typeface="Helvetica"/>
                <a:cs typeface="Helvetica"/>
              </a:rPr>
              <a:t>r</a:t>
            </a:r>
            <a:r>
              <a:rPr sz="1200" dirty="0">
                <a:latin typeface="Helvetica"/>
                <a:cs typeface="Helvetica"/>
              </a:rPr>
              <a:t>i</a:t>
            </a:r>
            <a:r>
              <a:rPr sz="1200" spc="-20" dirty="0">
                <a:latin typeface="Helvetica"/>
                <a:cs typeface="Helvetica"/>
              </a:rPr>
              <a:t>z</a:t>
            </a:r>
            <a:r>
              <a:rPr sz="1200" dirty="0">
                <a:latin typeface="Helvetica"/>
                <a:cs typeface="Helvetica"/>
              </a:rPr>
              <a:t>ation  </a:t>
            </a:r>
            <a:r>
              <a:rPr sz="1200" spc="-5" dirty="0">
                <a:latin typeface="Helvetica"/>
                <a:cs typeface="Helvetica"/>
              </a:rPr>
              <a:t>Test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5963" y="4716367"/>
            <a:ext cx="10934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Helvetica"/>
                <a:cs typeface="Helvetica"/>
              </a:rPr>
              <a:t>Production</a:t>
            </a:r>
            <a:r>
              <a:rPr sz="1200" spc="-75" dirty="0">
                <a:latin typeface="Helvetica"/>
                <a:cs typeface="Helvetica"/>
              </a:rPr>
              <a:t> </a:t>
            </a:r>
            <a:r>
              <a:rPr sz="1200" spc="-5" dirty="0">
                <a:latin typeface="Helvetica"/>
                <a:cs typeface="Helvetica"/>
              </a:rPr>
              <a:t>Test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13395" y="4713319"/>
            <a:ext cx="10179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Helvetica"/>
                <a:cs typeface="Helvetica"/>
              </a:rPr>
              <a:t>Reliability</a:t>
            </a:r>
            <a:r>
              <a:rPr sz="1200" spc="-8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Test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21001" y="4516464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422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082818" y="4716367"/>
            <a:ext cx="10350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Helvetica"/>
                <a:cs typeface="Helvetica"/>
              </a:rPr>
              <a:t>Diagnosis</a:t>
            </a:r>
            <a:r>
              <a:rPr sz="1200" spc="-35" dirty="0">
                <a:latin typeface="Helvetica"/>
                <a:cs typeface="Helvetica"/>
              </a:rPr>
              <a:t> </a:t>
            </a:r>
            <a:r>
              <a:rPr sz="1200" spc="-5" dirty="0">
                <a:latin typeface="Helvetica"/>
                <a:cs typeface="Helvetica"/>
              </a:rPr>
              <a:t>Test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42946" y="5795588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10226" y="5795588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68149" y="5795588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24420" y="5795588"/>
            <a:ext cx="0" cy="201930"/>
          </a:xfrm>
          <a:custGeom>
            <a:avLst/>
            <a:gdLst/>
            <a:ahLst/>
            <a:cxnLst/>
            <a:rect l="l" t="t" r="r" b="b"/>
            <a:pathLst>
              <a:path h="201929">
                <a:moveTo>
                  <a:pt x="0" y="0"/>
                </a:moveTo>
                <a:lnTo>
                  <a:pt x="0" y="201616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38771" y="4936869"/>
            <a:ext cx="0" cy="267335"/>
          </a:xfrm>
          <a:custGeom>
            <a:avLst/>
            <a:gdLst/>
            <a:ahLst/>
            <a:cxnLst/>
            <a:rect l="l" t="t" r="r" b="b"/>
            <a:pathLst>
              <a:path h="267335">
                <a:moveTo>
                  <a:pt x="0" y="0"/>
                </a:moveTo>
                <a:lnTo>
                  <a:pt x="0" y="267243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86654" y="5795588"/>
            <a:ext cx="0" cy="201930"/>
          </a:xfrm>
          <a:custGeom>
            <a:avLst/>
            <a:gdLst/>
            <a:ahLst/>
            <a:cxnLst/>
            <a:rect l="l" t="t" r="r" b="b"/>
            <a:pathLst>
              <a:path h="201929">
                <a:moveTo>
                  <a:pt x="0" y="0"/>
                </a:moveTo>
                <a:lnTo>
                  <a:pt x="0" y="201616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46403" y="5205662"/>
            <a:ext cx="2172335" cy="0"/>
          </a:xfrm>
          <a:custGeom>
            <a:avLst/>
            <a:gdLst/>
            <a:ahLst/>
            <a:cxnLst/>
            <a:rect l="l" t="t" r="r" b="b"/>
            <a:pathLst>
              <a:path w="2172335">
                <a:moveTo>
                  <a:pt x="0" y="0"/>
                </a:moveTo>
                <a:lnTo>
                  <a:pt x="2172099" y="0"/>
                </a:lnTo>
              </a:path>
            </a:pathLst>
          </a:custGeom>
          <a:ln w="9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72234" y="5213448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05361" y="5213448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76020" y="5213448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905965" y="5413338"/>
            <a:ext cx="2828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0269" algn="l"/>
                <a:tab pos="1966595" algn="l"/>
              </a:tabLst>
            </a:pPr>
            <a:r>
              <a:rPr sz="1200" dirty="0">
                <a:latin typeface="Helvetica"/>
                <a:cs typeface="Helvetica"/>
              </a:rPr>
              <a:t>Wafer</a:t>
            </a:r>
            <a:r>
              <a:rPr sz="1200" spc="-1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Test	Package</a:t>
            </a:r>
            <a:r>
              <a:rPr sz="1200" spc="-5" dirty="0">
                <a:latin typeface="Helvetica"/>
                <a:cs typeface="Helvetica"/>
              </a:rPr>
              <a:t> Test	System</a:t>
            </a:r>
            <a:r>
              <a:rPr sz="1200" spc="-5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Test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90779" y="5413338"/>
            <a:ext cx="5175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Helvetica"/>
                <a:cs typeface="Helvetica"/>
              </a:rPr>
              <a:t>Burn-in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375878" y="5613874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5">
                <a:moveTo>
                  <a:pt x="0" y="0"/>
                </a:moveTo>
                <a:lnTo>
                  <a:pt x="0" y="18171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95953" y="5633485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0"/>
                </a:moveTo>
                <a:lnTo>
                  <a:pt x="0" y="162103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18502" y="5213448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34026" y="5798700"/>
            <a:ext cx="0" cy="200660"/>
          </a:xfrm>
          <a:custGeom>
            <a:avLst/>
            <a:gdLst/>
            <a:ahLst/>
            <a:cxnLst/>
            <a:rect l="l" t="t" r="r" b="b"/>
            <a:pathLst>
              <a:path h="200660">
                <a:moveTo>
                  <a:pt x="0" y="0"/>
                </a:moveTo>
                <a:lnTo>
                  <a:pt x="0" y="20005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815120" y="5790914"/>
            <a:ext cx="0" cy="201930"/>
          </a:xfrm>
          <a:custGeom>
            <a:avLst/>
            <a:gdLst/>
            <a:ahLst/>
            <a:cxnLst/>
            <a:rect l="l" t="t" r="r" b="b"/>
            <a:pathLst>
              <a:path h="201929">
                <a:moveTo>
                  <a:pt x="0" y="0"/>
                </a:moveTo>
                <a:lnTo>
                  <a:pt x="0" y="20193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2807552" y="5798700"/>
          <a:ext cx="6142351" cy="5829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40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56515" algn="ctr">
                        <a:lnSpc>
                          <a:spcPts val="132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Gross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ts val="1320"/>
                        </a:lnSpc>
                      </a:pPr>
                      <a:r>
                        <a:rPr sz="1200" spc="-5" dirty="0">
                          <a:latin typeface="Helvetica"/>
                          <a:cs typeface="Helvetica"/>
                        </a:rPr>
                        <a:t>DC</a:t>
                      </a:r>
                      <a:r>
                        <a:rPr sz="12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200" dirty="0">
                          <a:latin typeface="Helvetica"/>
                          <a:cs typeface="Helvetica"/>
                        </a:rPr>
                        <a:t>parametric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3495" algn="ctr">
                        <a:lnSpc>
                          <a:spcPts val="125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AC</a:t>
                      </a:r>
                      <a:r>
                        <a:rPr sz="120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200" spc="-5" dirty="0">
                          <a:latin typeface="Helvetica"/>
                          <a:cs typeface="Helvetica"/>
                        </a:rPr>
                        <a:t>parametric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25400" algn="ctr">
                        <a:lnSpc>
                          <a:spcPts val="132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Boolean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50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ts val="1405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Delay</a:t>
                      </a:r>
                      <a:r>
                        <a:rPr sz="1200" spc="-4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200" dirty="0">
                          <a:latin typeface="Helvetica"/>
                          <a:cs typeface="Helvetica"/>
                        </a:rPr>
                        <a:t>Test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12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2857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Functional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381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86360" algn="ctr">
                        <a:lnSpc>
                          <a:spcPts val="1395"/>
                        </a:lnSpc>
                      </a:pPr>
                      <a:r>
                        <a:rPr sz="1200" spc="-5" dirty="0">
                          <a:latin typeface="Helvetica"/>
                          <a:cs typeface="Helvetica"/>
                        </a:rPr>
                        <a:t>IDDQ,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31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07">
                <a:tc>
                  <a:txBody>
                    <a:bodyPr/>
                    <a:lstStyle/>
                    <a:p>
                      <a:pPr marR="55880" algn="ctr">
                        <a:lnSpc>
                          <a:spcPts val="139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Test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39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Test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1355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Test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139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Test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ts val="1225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Test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ts val="1330"/>
                        </a:lnSpc>
                      </a:pPr>
                      <a:r>
                        <a:rPr sz="1200" dirty="0">
                          <a:latin typeface="Helvetica"/>
                          <a:cs typeface="Helvetica"/>
                        </a:rPr>
                        <a:t>VLV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6104843" y="4938393"/>
            <a:ext cx="0" cy="267335"/>
          </a:xfrm>
          <a:custGeom>
            <a:avLst/>
            <a:gdLst/>
            <a:ahLst/>
            <a:cxnLst/>
            <a:rect l="l" t="t" r="r" b="b"/>
            <a:pathLst>
              <a:path h="267335">
                <a:moveTo>
                  <a:pt x="0" y="0"/>
                </a:moveTo>
                <a:lnTo>
                  <a:pt x="0" y="267268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76020" y="5205662"/>
            <a:ext cx="800735" cy="0"/>
          </a:xfrm>
          <a:custGeom>
            <a:avLst/>
            <a:gdLst/>
            <a:ahLst/>
            <a:cxnLst/>
            <a:rect l="l" t="t" r="r" b="b"/>
            <a:pathLst>
              <a:path w="800734">
                <a:moveTo>
                  <a:pt x="0" y="0"/>
                </a:moveTo>
                <a:lnTo>
                  <a:pt x="800243" y="0"/>
                </a:lnTo>
              </a:path>
            </a:pathLst>
          </a:custGeom>
          <a:ln w="9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76264" y="5205662"/>
            <a:ext cx="0" cy="201930"/>
          </a:xfrm>
          <a:custGeom>
            <a:avLst/>
            <a:gdLst/>
            <a:ahLst/>
            <a:cxnLst/>
            <a:rect l="l" t="t" r="r" b="b"/>
            <a:pathLst>
              <a:path h="201929">
                <a:moveTo>
                  <a:pt x="0" y="0"/>
                </a:moveTo>
                <a:lnTo>
                  <a:pt x="0" y="201934"/>
                </a:lnTo>
              </a:path>
            </a:pathLst>
          </a:custGeom>
          <a:ln w="9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570764" y="5413338"/>
            <a:ext cx="89979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Helvetica"/>
                <a:cs typeface="Helvetica"/>
              </a:rPr>
              <a:t>Acc. Life</a:t>
            </a:r>
            <a:r>
              <a:rPr sz="1200" spc="-9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test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162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3838</TotalTime>
  <Words>1909</Words>
  <Application>Microsoft Macintosh PowerPoint</Application>
  <PresentationFormat>On-screen Show (4:3)</PresentationFormat>
  <Paragraphs>510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Arial-BoldItalicMT</vt:lpstr>
      <vt:lpstr>Calibri</vt:lpstr>
      <vt:lpstr>Cambria Math</vt:lpstr>
      <vt:lpstr>Helvetica</vt:lpstr>
      <vt:lpstr>HelveticaNeue-BoldItalic</vt:lpstr>
      <vt:lpstr>Times New Roman</vt:lpstr>
      <vt:lpstr>Office Theme</vt:lpstr>
      <vt:lpstr>ECE 553: TESTING AND TESTABLE DESIGN OF DIGITAL SYSTEMS</vt:lpstr>
      <vt:lpstr>Outline</vt:lpstr>
      <vt:lpstr>What is Testing?</vt:lpstr>
      <vt:lpstr>Four Possible Outcomes</vt:lpstr>
      <vt:lpstr>Quiz</vt:lpstr>
      <vt:lpstr>Outline</vt:lpstr>
      <vt:lpstr>Stages of IC Product</vt:lpstr>
      <vt:lpstr>Why is Testing Important?</vt:lpstr>
      <vt:lpstr>Testing is Everyone’s Responsibility</vt:lpstr>
      <vt:lpstr>Introduction</vt:lpstr>
      <vt:lpstr>Types of Testing</vt:lpstr>
      <vt:lpstr>Types of Tests from A High-Level</vt:lpstr>
      <vt:lpstr>Types of Testing</vt:lpstr>
      <vt:lpstr>Design Verification</vt:lpstr>
      <vt:lpstr>Implicit or Online Testing</vt:lpstr>
      <vt:lpstr>Types of Testing</vt:lpstr>
      <vt:lpstr>PowerPoint Presentation</vt:lpstr>
      <vt:lpstr>Characterization Tests</vt:lpstr>
      <vt:lpstr>Shmoo Plot</vt:lpstr>
      <vt:lpstr>PowerPoint Presentation</vt:lpstr>
      <vt:lpstr>Reliability Tests</vt:lpstr>
      <vt:lpstr>Bathtub Curve</vt:lpstr>
      <vt:lpstr>PowerPoint Presentation</vt:lpstr>
      <vt:lpstr>Production Tests</vt:lpstr>
      <vt:lpstr>Production Test Floor</vt:lpstr>
      <vt:lpstr>PowerPoint Presentation</vt:lpstr>
      <vt:lpstr>Wafer Test Setup</vt:lpstr>
      <vt:lpstr>Wafer Sort / Map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user</dc:creator>
  <cp:lastModifiedBy>Azadeh Davoodi</cp:lastModifiedBy>
  <cp:revision>175</cp:revision>
  <cp:lastPrinted>2025-01-20T17:51:56Z</cp:lastPrinted>
  <dcterms:created xsi:type="dcterms:W3CDTF">2022-08-16T15:10:06Z</dcterms:created>
  <dcterms:modified xsi:type="dcterms:W3CDTF">2025-03-13T15:52:17Z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2022-08-16T00:00:00Z</vt:filetime>
  </property>
</Properties>
</file>