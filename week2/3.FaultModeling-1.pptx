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322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56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2" r:id="rId24"/>
    <p:sldId id="333" r:id="rId2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2A82"/>
    <a:srgbClr val="255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/>
    <p:restoredTop sz="85475"/>
  </p:normalViewPr>
  <p:slideViewPr>
    <p:cSldViewPr>
      <p:cViewPr varScale="1">
        <p:scale>
          <a:sx n="101" d="100"/>
          <a:sy n="101" d="100"/>
        </p:scale>
        <p:origin x="2296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43DA4-C7C3-C64B-B9EC-F9256B075DA1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9BBE0-496F-2447-BD52-767521AC6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56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Defect modeling means representing fault as abstract logic level; important for IC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28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a/0 detected by 11</a:t>
            </a:r>
          </a:p>
          <a:p>
            <a:r>
              <a:rPr lang="en-US" dirty="0"/>
              <a:t>a/1 not detected</a:t>
            </a:r>
          </a:p>
          <a:p>
            <a:r>
              <a:rPr lang="en-US" dirty="0"/>
              <a:t>b/0 detected by 11</a:t>
            </a:r>
          </a:p>
          <a:p>
            <a:r>
              <a:rPr lang="en-US" dirty="0"/>
              <a:t>b/1 not detected</a:t>
            </a:r>
          </a:p>
          <a:p>
            <a:r>
              <a:rPr lang="en-US" dirty="0"/>
              <a:t>c/0 detected by 11</a:t>
            </a:r>
          </a:p>
          <a:p>
            <a:r>
              <a:rPr lang="en-US" dirty="0"/>
              <a:t>c/0 not detected</a:t>
            </a:r>
          </a:p>
          <a:p>
            <a:r>
              <a:rPr lang="en-US" dirty="0"/>
              <a:t>c/1 detected by 00</a:t>
            </a:r>
          </a:p>
          <a:p>
            <a:r>
              <a:rPr lang="en-US" dirty="0"/>
              <a:t>Overall , 4 / 6 faults are detected </a:t>
            </a:r>
            <a:r>
              <a:rPr lang="en-US" dirty="0">
                <a:sym typeface="Wingdings" pitchFamily="2" charset="2"/>
              </a:rPr>
              <a:t> FC = 2/3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9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11 since it detects 3 faults , assuming 11 is picked, then pick 01 or 10 to cover 2 more faults , overall fault coverage (3+2) / 6 = 5/6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5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stems + branches </a:t>
            </a:r>
            <a:r>
              <a:rPr lang="en-US" dirty="0">
                <a:sym typeface="Wingdings" pitchFamily="2" charset="2"/>
              </a:rPr>
              <a:t> each s/0 or s/1  total 18 faults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85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3^n </a:t>
            </a:r>
            <a:r>
              <a:rPr lang="en-US" b="1" dirty="0"/>
              <a:t>total</a:t>
            </a:r>
            <a:r>
              <a:rPr lang="en-US" dirty="0"/>
              <a:t> combinations (each node could be S@1 + S@0 + good </a:t>
            </a:r>
            <a:r>
              <a:rPr lang="en-US" dirty="0">
                <a:sym typeface="Wingdings" pitchFamily="2" charset="2"/>
              </a:rPr>
              <a:t> 3 possibilities</a:t>
            </a:r>
            <a:r>
              <a:rPr lang="en-US" dirty="0"/>
              <a:t>)</a:t>
            </a:r>
          </a:p>
          <a:p>
            <a:r>
              <a:rPr lang="en-US" dirty="0"/>
              <a:t>3^n – 2n – 1  (2n for SSF - 1 for good circuit)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9BBE0-496F-2447-BD52-767521AC6A5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45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70553" y="164414"/>
            <a:ext cx="1802892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225" y="1998319"/>
            <a:ext cx="4365625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03772" y="6558488"/>
            <a:ext cx="313182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spc="-5" dirty="0"/>
              <a:t>3.1 </a:t>
            </a:r>
            <a:r>
              <a:rPr spc="-285" dirty="0"/>
              <a:t>© </a:t>
            </a:r>
            <a:r>
              <a:rPr spc="-5" dirty="0"/>
              <a:t>National </a:t>
            </a:r>
            <a:r>
              <a:rPr spc="-15" dirty="0"/>
              <a:t>Taiwan</a:t>
            </a:r>
            <a:r>
              <a:rPr spc="-5" dirty="0"/>
              <a:t>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1538681"/>
            <a:ext cx="6491350" cy="1667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algn="ctr">
              <a:lnSpc>
                <a:spcPts val="4305"/>
              </a:lnSpc>
              <a:spcBef>
                <a:spcPts val="100"/>
              </a:spcBef>
            </a:pPr>
            <a:r>
              <a:rPr lang="en-US" altLang="en-US" sz="3600" i="0" dirty="0">
                <a:solidFill>
                  <a:srgbClr val="00B050"/>
                </a:solidFill>
                <a:latin typeface="Arial"/>
                <a:cs typeface="Arial"/>
              </a:rPr>
              <a:t>ECE 553: TESTING AND TESTABLE DESIGN OF DIGITAL SYSTEMS</a:t>
            </a:r>
            <a:endParaRPr sz="3600" i="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448712A-7B4A-AE3A-614D-656387799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4849" y="3419602"/>
            <a:ext cx="67343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 marR="149225" algn="ctr">
              <a:lnSpc>
                <a:spcPct val="100000"/>
              </a:lnSpc>
              <a:spcBef>
                <a:spcPts val="100"/>
              </a:spcBef>
            </a:pPr>
            <a:r>
              <a:rPr lang="en-US" sz="3600" i="1" spc="-5">
                <a:solidFill>
                  <a:srgbClr val="FF0000"/>
                </a:solidFill>
                <a:latin typeface="Arial-BoldItalicMT"/>
              </a:rPr>
              <a:t>Fault Modeling (1)</a:t>
            </a:r>
            <a:endParaRPr lang="en-US" sz="3600" i="1" spc="-5" dirty="0">
              <a:solidFill>
                <a:srgbClr val="FF0000"/>
              </a:solidFill>
              <a:latin typeface="Arial-BoldItalic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1574" y="637103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40079" y="164414"/>
            <a:ext cx="69348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0665" algn="l"/>
              </a:tabLst>
            </a:pPr>
            <a:r>
              <a:rPr dirty="0"/>
              <a:t>Course</a:t>
            </a:r>
            <a:r>
              <a:rPr spc="10" dirty="0"/>
              <a:t> </a:t>
            </a:r>
            <a:r>
              <a:rPr spc="-5" dirty="0"/>
              <a:t>Roadmap	</a:t>
            </a:r>
            <a:r>
              <a:rPr dirty="0"/>
              <a:t>(EDA</a:t>
            </a:r>
            <a:r>
              <a:rPr spc="-60" dirty="0"/>
              <a:t> </a:t>
            </a:r>
            <a:r>
              <a:rPr spc="-5" dirty="0"/>
              <a:t>Topics)</a:t>
            </a:r>
          </a:p>
        </p:txBody>
      </p:sp>
      <p:sp>
        <p:nvSpPr>
          <p:cNvPr id="5" name="object 5"/>
          <p:cNvSpPr/>
          <p:nvPr/>
        </p:nvSpPr>
        <p:spPr>
          <a:xfrm>
            <a:off x="2921507" y="851916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03191" y="1575816"/>
            <a:ext cx="852169" cy="521334"/>
          </a:xfrm>
          <a:custGeom>
            <a:avLst/>
            <a:gdLst/>
            <a:ahLst/>
            <a:cxnLst/>
            <a:rect l="l" t="t" r="r" b="b"/>
            <a:pathLst>
              <a:path w="852170" h="521335">
                <a:moveTo>
                  <a:pt x="851916" y="260604"/>
                </a:moveTo>
                <a:lnTo>
                  <a:pt x="0" y="260604"/>
                </a:lnTo>
                <a:lnTo>
                  <a:pt x="425958" y="521208"/>
                </a:lnTo>
                <a:lnTo>
                  <a:pt x="851916" y="260604"/>
                </a:lnTo>
                <a:close/>
              </a:path>
              <a:path w="852170" h="521335">
                <a:moveTo>
                  <a:pt x="638937" y="0"/>
                </a:moveTo>
                <a:lnTo>
                  <a:pt x="212979" y="0"/>
                </a:lnTo>
                <a:lnTo>
                  <a:pt x="212979" y="260604"/>
                </a:lnTo>
                <a:lnTo>
                  <a:pt x="638937" y="260604"/>
                </a:lnTo>
                <a:lnTo>
                  <a:pt x="638937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21507" y="2173223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32505" y="2226310"/>
            <a:ext cx="31832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Helvetica"/>
                <a:cs typeface="Helvetica"/>
              </a:rPr>
              <a:t>Fault</a:t>
            </a:r>
            <a:r>
              <a:rPr sz="3200" b="1" spc="-55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Helvetica"/>
                <a:cs typeface="Helvetica"/>
              </a:rPr>
              <a:t>Simulation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41291" y="2897123"/>
            <a:ext cx="852169" cy="521334"/>
          </a:xfrm>
          <a:custGeom>
            <a:avLst/>
            <a:gdLst/>
            <a:ahLst/>
            <a:cxnLst/>
            <a:rect l="l" t="t" r="r" b="b"/>
            <a:pathLst>
              <a:path w="852170" h="521335">
                <a:moveTo>
                  <a:pt x="851916" y="260603"/>
                </a:moveTo>
                <a:lnTo>
                  <a:pt x="0" y="260603"/>
                </a:lnTo>
                <a:lnTo>
                  <a:pt x="425958" y="521208"/>
                </a:lnTo>
                <a:lnTo>
                  <a:pt x="851916" y="260603"/>
                </a:lnTo>
                <a:close/>
              </a:path>
              <a:path w="852170" h="521335">
                <a:moveTo>
                  <a:pt x="638937" y="0"/>
                </a:moveTo>
                <a:lnTo>
                  <a:pt x="212979" y="0"/>
                </a:lnTo>
                <a:lnTo>
                  <a:pt x="212979" y="260603"/>
                </a:lnTo>
                <a:lnTo>
                  <a:pt x="638937" y="260603"/>
                </a:lnTo>
                <a:lnTo>
                  <a:pt x="63893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21507" y="3518915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380359" y="3573017"/>
            <a:ext cx="24866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Comb.</a:t>
            </a:r>
            <a:r>
              <a:rPr sz="3200" b="1" spc="-21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60" dirty="0">
                <a:solidFill>
                  <a:srgbClr val="FFFFFF"/>
                </a:solidFill>
                <a:latin typeface="Helvetica"/>
                <a:cs typeface="Helvetica"/>
              </a:rPr>
              <a:t>ATPG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279391" y="4242815"/>
            <a:ext cx="852169" cy="521334"/>
          </a:xfrm>
          <a:custGeom>
            <a:avLst/>
            <a:gdLst/>
            <a:ahLst/>
            <a:cxnLst/>
            <a:rect l="l" t="t" r="r" b="b"/>
            <a:pathLst>
              <a:path w="852170" h="521335">
                <a:moveTo>
                  <a:pt x="851916" y="260603"/>
                </a:moveTo>
                <a:lnTo>
                  <a:pt x="0" y="260603"/>
                </a:lnTo>
                <a:lnTo>
                  <a:pt x="425958" y="521207"/>
                </a:lnTo>
                <a:lnTo>
                  <a:pt x="851916" y="260603"/>
                </a:lnTo>
                <a:close/>
              </a:path>
              <a:path w="852170" h="521335">
                <a:moveTo>
                  <a:pt x="638937" y="0"/>
                </a:moveTo>
                <a:lnTo>
                  <a:pt x="212979" y="0"/>
                </a:lnTo>
                <a:lnTo>
                  <a:pt x="212979" y="260603"/>
                </a:lnTo>
                <a:lnTo>
                  <a:pt x="638937" y="260603"/>
                </a:lnTo>
                <a:lnTo>
                  <a:pt x="63893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21507" y="4840223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583051" y="4893945"/>
            <a:ext cx="20815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Seq.</a:t>
            </a:r>
            <a:r>
              <a:rPr sz="3200" b="1" spc="-204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60" dirty="0">
                <a:solidFill>
                  <a:srgbClr val="FFFFFF"/>
                </a:solidFill>
                <a:latin typeface="Helvetica"/>
                <a:cs typeface="Helvetica"/>
              </a:rPr>
              <a:t>ATPG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17491" y="5564123"/>
            <a:ext cx="852169" cy="521334"/>
          </a:xfrm>
          <a:custGeom>
            <a:avLst/>
            <a:gdLst/>
            <a:ahLst/>
            <a:cxnLst/>
            <a:rect l="l" t="t" r="r" b="b"/>
            <a:pathLst>
              <a:path w="852170" h="521335">
                <a:moveTo>
                  <a:pt x="851916" y="260603"/>
                </a:moveTo>
                <a:lnTo>
                  <a:pt x="0" y="260603"/>
                </a:lnTo>
                <a:lnTo>
                  <a:pt x="425958" y="521207"/>
                </a:lnTo>
                <a:lnTo>
                  <a:pt x="851916" y="260603"/>
                </a:lnTo>
                <a:close/>
              </a:path>
              <a:path w="852170" h="521335">
                <a:moveTo>
                  <a:pt x="638937" y="0"/>
                </a:moveTo>
                <a:lnTo>
                  <a:pt x="212979" y="0"/>
                </a:lnTo>
                <a:lnTo>
                  <a:pt x="212979" y="260603"/>
                </a:lnTo>
                <a:lnTo>
                  <a:pt x="638937" y="260603"/>
                </a:lnTo>
                <a:lnTo>
                  <a:pt x="63893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21507" y="6123432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83"/>
                </a:lnTo>
                <a:lnTo>
                  <a:pt x="31638" y="31619"/>
                </a:lnTo>
                <a:lnTo>
                  <a:pt x="8491" y="65933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66"/>
                </a:lnTo>
                <a:lnTo>
                  <a:pt x="31638" y="616080"/>
                </a:lnTo>
                <a:lnTo>
                  <a:pt x="65954" y="639216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16"/>
                </a:lnTo>
                <a:lnTo>
                  <a:pt x="3371453" y="616080"/>
                </a:lnTo>
                <a:lnTo>
                  <a:pt x="3394600" y="581766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33"/>
                </a:lnTo>
                <a:lnTo>
                  <a:pt x="3371453" y="31619"/>
                </a:lnTo>
                <a:lnTo>
                  <a:pt x="3337137" y="8483"/>
                </a:lnTo>
                <a:lnTo>
                  <a:pt x="32951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610483" y="6176568"/>
            <a:ext cx="20250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Helvetica"/>
                <a:cs typeface="Helvetica"/>
              </a:rPr>
              <a:t>Delay</a:t>
            </a:r>
            <a:r>
              <a:rPr sz="3200" b="1" spc="-85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65" dirty="0">
                <a:solidFill>
                  <a:srgbClr val="FFFFFF"/>
                </a:solidFill>
                <a:latin typeface="Helvetica"/>
                <a:cs typeface="Helvetica"/>
              </a:rPr>
              <a:t>Test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68440" y="2185416"/>
            <a:ext cx="2296795" cy="647700"/>
          </a:xfrm>
          <a:custGeom>
            <a:avLst/>
            <a:gdLst/>
            <a:ahLst/>
            <a:cxnLst/>
            <a:rect l="l" t="t" r="r" b="b"/>
            <a:pathLst>
              <a:path w="2296795" h="647700">
                <a:moveTo>
                  <a:pt x="2188717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2188717" y="647700"/>
                </a:lnTo>
                <a:lnTo>
                  <a:pt x="2230713" y="639208"/>
                </a:lnTo>
                <a:lnTo>
                  <a:pt x="2265029" y="616061"/>
                </a:lnTo>
                <a:lnTo>
                  <a:pt x="2288176" y="581745"/>
                </a:lnTo>
                <a:lnTo>
                  <a:pt x="2296667" y="539750"/>
                </a:lnTo>
                <a:lnTo>
                  <a:pt x="2296667" y="107950"/>
                </a:lnTo>
                <a:lnTo>
                  <a:pt x="2288176" y="65954"/>
                </a:lnTo>
                <a:lnTo>
                  <a:pt x="2265029" y="31638"/>
                </a:lnTo>
                <a:lnTo>
                  <a:pt x="2230713" y="8491"/>
                </a:lnTo>
                <a:lnTo>
                  <a:pt x="218871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80454" y="2239137"/>
            <a:ext cx="20072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FFFFFF"/>
                </a:solidFill>
                <a:latin typeface="Helvetica"/>
                <a:cs typeface="Helvetica"/>
              </a:rPr>
              <a:t>Testability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4904" y="865632"/>
            <a:ext cx="2342515" cy="647700"/>
          </a:xfrm>
          <a:custGeom>
            <a:avLst/>
            <a:gdLst/>
            <a:ahLst/>
            <a:cxnLst/>
            <a:rect l="l" t="t" r="r" b="b"/>
            <a:pathLst>
              <a:path w="2342515" h="647700">
                <a:moveTo>
                  <a:pt x="2234438" y="0"/>
                </a:moveTo>
                <a:lnTo>
                  <a:pt x="107950" y="0"/>
                </a:lnTo>
                <a:lnTo>
                  <a:pt x="65933" y="8491"/>
                </a:lnTo>
                <a:lnTo>
                  <a:pt x="31619" y="31638"/>
                </a:lnTo>
                <a:lnTo>
                  <a:pt x="8483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83" y="581745"/>
                </a:lnTo>
                <a:lnTo>
                  <a:pt x="31619" y="616061"/>
                </a:lnTo>
                <a:lnTo>
                  <a:pt x="65933" y="639208"/>
                </a:lnTo>
                <a:lnTo>
                  <a:pt x="107950" y="647700"/>
                </a:lnTo>
                <a:lnTo>
                  <a:pt x="2234438" y="647700"/>
                </a:lnTo>
                <a:lnTo>
                  <a:pt x="2276433" y="639208"/>
                </a:lnTo>
                <a:lnTo>
                  <a:pt x="2310749" y="616061"/>
                </a:lnTo>
                <a:lnTo>
                  <a:pt x="2333896" y="581745"/>
                </a:lnTo>
                <a:lnTo>
                  <a:pt x="2342388" y="539750"/>
                </a:lnTo>
                <a:lnTo>
                  <a:pt x="2342388" y="107950"/>
                </a:lnTo>
                <a:lnTo>
                  <a:pt x="2333896" y="65954"/>
                </a:lnTo>
                <a:lnTo>
                  <a:pt x="2310749" y="31638"/>
                </a:lnTo>
                <a:lnTo>
                  <a:pt x="2276433" y="8491"/>
                </a:lnTo>
                <a:lnTo>
                  <a:pt x="2234438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5038" y="917524"/>
            <a:ext cx="55835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06370" algn="l"/>
              </a:tabLst>
            </a:pP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Logic</a:t>
            </a:r>
            <a:r>
              <a:rPr sz="3200" b="1" spc="-3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Helvetica"/>
                <a:cs typeface="Helvetica"/>
              </a:rPr>
              <a:t>Sim.	</a:t>
            </a:r>
            <a:r>
              <a:rPr sz="4800" b="1" spc="-7" baseline="1736" dirty="0">
                <a:solidFill>
                  <a:srgbClr val="FFFFFF"/>
                </a:solidFill>
                <a:latin typeface="Helvetica"/>
                <a:cs typeface="Helvetica"/>
              </a:rPr>
              <a:t>Fault</a:t>
            </a:r>
            <a:r>
              <a:rPr sz="4800" b="1" spc="-142" baseline="1736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4800" b="1" baseline="1736" dirty="0">
                <a:solidFill>
                  <a:srgbClr val="FFFFFF"/>
                </a:solidFill>
                <a:latin typeface="Helvetica"/>
                <a:cs typeface="Helvetica"/>
              </a:rPr>
              <a:t>Modeling</a:t>
            </a:r>
            <a:endParaRPr sz="4800" baseline="1736">
              <a:latin typeface="Helvetica"/>
              <a:cs typeface="Helvetic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53055" y="1557908"/>
            <a:ext cx="678815" cy="593090"/>
          </a:xfrm>
          <a:custGeom>
            <a:avLst/>
            <a:gdLst/>
            <a:ahLst/>
            <a:cxnLst/>
            <a:rect l="l" t="t" r="r" b="b"/>
            <a:pathLst>
              <a:path w="678814" h="593089">
                <a:moveTo>
                  <a:pt x="351917" y="0"/>
                </a:moveTo>
                <a:lnTo>
                  <a:pt x="12573" y="256666"/>
                </a:lnTo>
                <a:lnTo>
                  <a:pt x="169671" y="464312"/>
                </a:lnTo>
                <a:lnTo>
                  <a:pt x="0" y="592581"/>
                </a:lnTo>
                <a:lnTo>
                  <a:pt x="496443" y="543560"/>
                </a:lnTo>
                <a:lnTo>
                  <a:pt x="628327" y="207644"/>
                </a:lnTo>
                <a:lnTo>
                  <a:pt x="509016" y="207644"/>
                </a:lnTo>
                <a:lnTo>
                  <a:pt x="351917" y="0"/>
                </a:lnTo>
                <a:close/>
              </a:path>
              <a:path w="678814" h="593089">
                <a:moveTo>
                  <a:pt x="678688" y="79375"/>
                </a:moveTo>
                <a:lnTo>
                  <a:pt x="509016" y="207644"/>
                </a:lnTo>
                <a:lnTo>
                  <a:pt x="628327" y="207644"/>
                </a:lnTo>
                <a:lnTo>
                  <a:pt x="678688" y="79375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46291" y="2896107"/>
            <a:ext cx="741045" cy="558165"/>
          </a:xfrm>
          <a:custGeom>
            <a:avLst/>
            <a:gdLst/>
            <a:ahLst/>
            <a:cxnLst/>
            <a:rect l="l" t="t" r="r" b="b"/>
            <a:pathLst>
              <a:path w="741045" h="558164">
                <a:moveTo>
                  <a:pt x="0" y="122046"/>
                </a:moveTo>
                <a:lnTo>
                  <a:pt x="242316" y="557911"/>
                </a:lnTo>
                <a:lnTo>
                  <a:pt x="740790" y="540512"/>
                </a:lnTo>
                <a:lnTo>
                  <a:pt x="555625" y="435863"/>
                </a:lnTo>
                <a:lnTo>
                  <a:pt x="673810" y="226694"/>
                </a:lnTo>
                <a:lnTo>
                  <a:pt x="185166" y="226694"/>
                </a:lnTo>
                <a:lnTo>
                  <a:pt x="0" y="122046"/>
                </a:lnTo>
                <a:close/>
              </a:path>
              <a:path w="741045" h="558164">
                <a:moveTo>
                  <a:pt x="313309" y="0"/>
                </a:moveTo>
                <a:lnTo>
                  <a:pt x="185166" y="226694"/>
                </a:lnTo>
                <a:lnTo>
                  <a:pt x="673810" y="226694"/>
                </a:lnTo>
                <a:lnTo>
                  <a:pt x="683640" y="209295"/>
                </a:lnTo>
                <a:lnTo>
                  <a:pt x="313309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2148" y="4840223"/>
            <a:ext cx="2295525" cy="647700"/>
          </a:xfrm>
          <a:custGeom>
            <a:avLst/>
            <a:gdLst/>
            <a:ahLst/>
            <a:cxnLst/>
            <a:rect l="l" t="t" r="r" b="b"/>
            <a:pathLst>
              <a:path w="2295525" h="647700">
                <a:moveTo>
                  <a:pt x="2187194" y="0"/>
                </a:moveTo>
                <a:lnTo>
                  <a:pt x="107950" y="0"/>
                </a:lnTo>
                <a:lnTo>
                  <a:pt x="65933" y="8491"/>
                </a:lnTo>
                <a:lnTo>
                  <a:pt x="31619" y="31638"/>
                </a:lnTo>
                <a:lnTo>
                  <a:pt x="8483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83" y="581745"/>
                </a:lnTo>
                <a:lnTo>
                  <a:pt x="31619" y="616061"/>
                </a:lnTo>
                <a:lnTo>
                  <a:pt x="65933" y="639208"/>
                </a:lnTo>
                <a:lnTo>
                  <a:pt x="107950" y="647700"/>
                </a:lnTo>
                <a:lnTo>
                  <a:pt x="2187194" y="647700"/>
                </a:lnTo>
                <a:lnTo>
                  <a:pt x="2229189" y="639208"/>
                </a:lnTo>
                <a:lnTo>
                  <a:pt x="2263505" y="616061"/>
                </a:lnTo>
                <a:lnTo>
                  <a:pt x="2286652" y="581745"/>
                </a:lnTo>
                <a:lnTo>
                  <a:pt x="2295144" y="539750"/>
                </a:lnTo>
                <a:lnTo>
                  <a:pt x="2295144" y="107950"/>
                </a:lnTo>
                <a:lnTo>
                  <a:pt x="2286652" y="65954"/>
                </a:lnTo>
                <a:lnTo>
                  <a:pt x="2263505" y="31638"/>
                </a:lnTo>
                <a:lnTo>
                  <a:pt x="2229189" y="8491"/>
                </a:lnTo>
                <a:lnTo>
                  <a:pt x="2187194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32587" y="4893945"/>
            <a:ext cx="19697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Diagnosis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47341" y="4172458"/>
            <a:ext cx="741045" cy="558165"/>
          </a:xfrm>
          <a:custGeom>
            <a:avLst/>
            <a:gdLst/>
            <a:ahLst/>
            <a:cxnLst/>
            <a:rect l="l" t="t" r="r" b="b"/>
            <a:pathLst>
              <a:path w="741044" h="558164">
                <a:moveTo>
                  <a:pt x="0" y="122047"/>
                </a:moveTo>
                <a:lnTo>
                  <a:pt x="242442" y="557911"/>
                </a:lnTo>
                <a:lnTo>
                  <a:pt x="740917" y="540512"/>
                </a:lnTo>
                <a:lnTo>
                  <a:pt x="555625" y="435864"/>
                </a:lnTo>
                <a:lnTo>
                  <a:pt x="673927" y="226695"/>
                </a:lnTo>
                <a:lnTo>
                  <a:pt x="185292" y="226695"/>
                </a:lnTo>
                <a:lnTo>
                  <a:pt x="0" y="122047"/>
                </a:lnTo>
                <a:close/>
              </a:path>
              <a:path w="741044" h="558164">
                <a:moveTo>
                  <a:pt x="313308" y="0"/>
                </a:moveTo>
                <a:lnTo>
                  <a:pt x="185292" y="226695"/>
                </a:lnTo>
                <a:lnTo>
                  <a:pt x="673927" y="226695"/>
                </a:lnTo>
                <a:lnTo>
                  <a:pt x="683767" y="209296"/>
                </a:lnTo>
                <a:lnTo>
                  <a:pt x="313308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76174" y="6399903"/>
            <a:ext cx="2457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3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1838" y="164414"/>
            <a:ext cx="55130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 Am I Learning</a:t>
            </a:r>
            <a:r>
              <a:rPr spc="-100" dirty="0"/>
              <a:t> </a:t>
            </a:r>
            <a:r>
              <a:rPr dirty="0"/>
              <a:t>This?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5713730" cy="706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Fault models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quantify </a:t>
            </a:r>
            <a:r>
              <a:rPr sz="2000" b="1" dirty="0">
                <a:latin typeface="Arial"/>
                <a:cs typeface="Arial"/>
              </a:rPr>
              <a:t>test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quality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Fault models make test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automation</a:t>
            </a:r>
            <a:r>
              <a:rPr sz="2000" b="1" spc="-1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possible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7964" y="3933444"/>
            <a:ext cx="5148580" cy="2376170"/>
          </a:xfrm>
          <a:prstGeom prst="rect">
            <a:avLst/>
          </a:prstGeom>
          <a:ln w="12192">
            <a:solidFill>
              <a:srgbClr val="00AF50"/>
            </a:solidFill>
          </a:ln>
        </p:spPr>
        <p:txBody>
          <a:bodyPr vert="horz" wrap="square" lIns="0" tIns="201930" rIns="0" bIns="0" rtlCol="0">
            <a:spAutoFit/>
          </a:bodyPr>
          <a:lstStyle/>
          <a:p>
            <a:pPr marL="361315" marR="354330" algn="ctr">
              <a:lnSpc>
                <a:spcPct val="100000"/>
              </a:lnSpc>
              <a:spcBef>
                <a:spcPts val="1590"/>
              </a:spcBef>
            </a:pPr>
            <a:r>
              <a:rPr sz="3200" b="1" i="1" spc="75" dirty="0">
                <a:solidFill>
                  <a:srgbClr val="00AF50"/>
                </a:solidFill>
                <a:latin typeface="HelveticaNeue-BoldItalic"/>
                <a:cs typeface="HelveticaNeue-BoldItalic"/>
              </a:rPr>
              <a:t>“All </a:t>
            </a:r>
            <a:r>
              <a:rPr sz="3200" b="1" i="1" spc="15" dirty="0">
                <a:solidFill>
                  <a:srgbClr val="00AF50"/>
                </a:solidFill>
                <a:latin typeface="HelveticaNeue-BoldItalic"/>
                <a:cs typeface="HelveticaNeue-BoldItalic"/>
              </a:rPr>
              <a:t>models </a:t>
            </a:r>
            <a:r>
              <a:rPr sz="3200" b="1" i="1" spc="-40" dirty="0">
                <a:solidFill>
                  <a:srgbClr val="00AF50"/>
                </a:solidFill>
                <a:latin typeface="HelveticaNeue-BoldItalic"/>
                <a:cs typeface="HelveticaNeue-BoldItalic"/>
              </a:rPr>
              <a:t>are</a:t>
            </a:r>
            <a:r>
              <a:rPr sz="3200" b="1" i="1" spc="-210" dirty="0">
                <a:solidFill>
                  <a:srgbClr val="00AF50"/>
                </a:solidFill>
                <a:latin typeface="HelveticaNeue-BoldItalic"/>
                <a:cs typeface="HelveticaNeue-BoldItalic"/>
              </a:rPr>
              <a:t> </a:t>
            </a:r>
            <a:r>
              <a:rPr sz="3200" b="1" i="1" spc="-10" dirty="0">
                <a:solidFill>
                  <a:srgbClr val="00AF50"/>
                </a:solidFill>
                <a:latin typeface="HelveticaNeue-BoldItalic"/>
                <a:cs typeface="HelveticaNeue-BoldItalic"/>
              </a:rPr>
              <a:t>wrong.  </a:t>
            </a:r>
            <a:r>
              <a:rPr sz="3200" b="1" i="1" spc="-45" dirty="0">
                <a:solidFill>
                  <a:srgbClr val="00AF50"/>
                </a:solidFill>
                <a:latin typeface="HelveticaNeue-BoldItalic"/>
                <a:cs typeface="HelveticaNeue-BoldItalic"/>
              </a:rPr>
              <a:t>But </a:t>
            </a:r>
            <a:r>
              <a:rPr sz="3200" b="1" i="1" spc="10" dirty="0">
                <a:solidFill>
                  <a:srgbClr val="00AF50"/>
                </a:solidFill>
                <a:latin typeface="HelveticaNeue-BoldItalic"/>
                <a:cs typeface="HelveticaNeue-BoldItalic"/>
              </a:rPr>
              <a:t>some </a:t>
            </a:r>
            <a:r>
              <a:rPr sz="3200" b="1" i="1" spc="-40" dirty="0">
                <a:solidFill>
                  <a:srgbClr val="00AF50"/>
                </a:solidFill>
                <a:latin typeface="HelveticaNeue-BoldItalic"/>
                <a:cs typeface="HelveticaNeue-BoldItalic"/>
              </a:rPr>
              <a:t>are</a:t>
            </a:r>
            <a:r>
              <a:rPr sz="3200" b="1" i="1" spc="-75" dirty="0">
                <a:solidFill>
                  <a:srgbClr val="00AF50"/>
                </a:solidFill>
                <a:latin typeface="HelveticaNeue-BoldItalic"/>
                <a:cs typeface="HelveticaNeue-BoldItalic"/>
              </a:rPr>
              <a:t> </a:t>
            </a:r>
            <a:r>
              <a:rPr sz="3200" b="1" i="1" spc="15" dirty="0">
                <a:solidFill>
                  <a:srgbClr val="00AF50"/>
                </a:solidFill>
                <a:latin typeface="HelveticaNeue-BoldItalic"/>
                <a:cs typeface="HelveticaNeue-BoldItalic"/>
              </a:rPr>
              <a:t>useful.”</a:t>
            </a:r>
            <a:endParaRPr sz="3200">
              <a:latin typeface="HelveticaNeue-BoldItalic"/>
              <a:cs typeface="HelveticaNeue-BoldItalic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100">
              <a:latin typeface="HelveticaNeue-BoldItalic"/>
              <a:cs typeface="HelveticaNeue-BoldItalic"/>
            </a:endParaRPr>
          </a:p>
          <a:p>
            <a:pPr marL="76835" algn="ctr">
              <a:lnSpc>
                <a:spcPct val="100000"/>
              </a:lnSpc>
            </a:pPr>
            <a:r>
              <a:rPr sz="3200" b="1" i="1" dirty="0">
                <a:solidFill>
                  <a:srgbClr val="00AF50"/>
                </a:solidFill>
                <a:latin typeface="HelveticaNeue-BoldItalic"/>
                <a:cs typeface="HelveticaNeue-BoldItalic"/>
              </a:rPr>
              <a:t>(George</a:t>
            </a:r>
            <a:r>
              <a:rPr sz="3200" b="1" i="1" spc="-45" dirty="0">
                <a:solidFill>
                  <a:srgbClr val="00AF50"/>
                </a:solidFill>
                <a:latin typeface="HelveticaNeue-BoldItalic"/>
                <a:cs typeface="HelveticaNeue-BoldItalic"/>
              </a:rPr>
              <a:t> </a:t>
            </a:r>
            <a:r>
              <a:rPr sz="3200" b="1" i="1" spc="25" dirty="0">
                <a:solidFill>
                  <a:srgbClr val="00AF50"/>
                </a:solidFill>
                <a:latin typeface="HelveticaNeue-BoldItalic"/>
                <a:cs typeface="HelveticaNeue-BoldItalic"/>
              </a:rPr>
              <a:t>Box)</a:t>
            </a:r>
            <a:endParaRPr sz="3200">
              <a:latin typeface="HelveticaNeue-BoldItalic"/>
              <a:cs typeface="HelveticaNeue-BoldItal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164414"/>
            <a:ext cx="32499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45" dirty="0"/>
              <a:t> </a:t>
            </a:r>
            <a:r>
              <a:rPr spc="-5" dirty="0"/>
              <a:t>Modeling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2206625" cy="180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Fault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Models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Fault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Detection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Fault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Coverage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Conclusion</a:t>
            </a:r>
            <a:r>
              <a:rPr lang="en-US" sz="2000" b="1" dirty="0"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08320" y="3968496"/>
            <a:ext cx="1799844" cy="1946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6174" y="6399903"/>
            <a:ext cx="2457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4</a:t>
            </a:fld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225" y="900785"/>
            <a:ext cx="6828155" cy="25253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Defect</a:t>
            </a:r>
            <a:endParaRPr sz="2000">
              <a:latin typeface="Arial-BoldItalicMT"/>
              <a:cs typeface="Arial-BoldItalicMT"/>
            </a:endParaRPr>
          </a:p>
          <a:p>
            <a:pPr marL="756285" marR="7620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Unintended </a:t>
            </a:r>
            <a:r>
              <a:rPr sz="2000" b="1" spc="-5" dirty="0">
                <a:latin typeface="Arial"/>
                <a:cs typeface="Arial"/>
              </a:rPr>
              <a:t>physical </a:t>
            </a:r>
            <a:r>
              <a:rPr sz="2000" b="1" dirty="0">
                <a:latin typeface="Arial"/>
                <a:cs typeface="Arial"/>
              </a:rPr>
              <a:t>difference between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hardware  implementation and </a:t>
            </a:r>
            <a:r>
              <a:rPr sz="2000" b="1" spc="-5" dirty="0">
                <a:latin typeface="Arial"/>
                <a:cs typeface="Arial"/>
              </a:rPr>
              <a:t>its </a:t>
            </a:r>
            <a:r>
              <a:rPr sz="2000" b="1" dirty="0">
                <a:latin typeface="Arial"/>
                <a:cs typeface="Arial"/>
              </a:rPr>
              <a:t>intended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design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202438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Example:	</a:t>
            </a: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unwanted wire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(short to</a:t>
            </a:r>
            <a:r>
              <a:rPr sz="2000" b="1" spc="-1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ground)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Fault</a:t>
            </a:r>
            <a:endParaRPr sz="200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Representation of defects at abstracted </a:t>
            </a:r>
            <a:r>
              <a:rPr sz="2000" b="1" spc="-5" dirty="0">
                <a:latin typeface="Arial"/>
                <a:cs typeface="Arial"/>
              </a:rPr>
              <a:t>logic</a:t>
            </a:r>
            <a:r>
              <a:rPr sz="2000" b="1" spc="-17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level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2025014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Example:	b stuck at zero</a:t>
            </a:r>
            <a:r>
              <a:rPr sz="20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fault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0225" y="3400780"/>
            <a:ext cx="4845050" cy="22205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Error</a:t>
            </a:r>
            <a:endParaRPr sz="200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Wrong output signal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value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Example: output = 0, </a:t>
            </a:r>
            <a:r>
              <a:rPr sz="2000" b="1" spc="10" dirty="0">
                <a:solidFill>
                  <a:srgbClr val="0000FF"/>
                </a:solidFill>
                <a:latin typeface="Arial"/>
                <a:cs typeface="Arial"/>
              </a:rPr>
              <a:t>when</a:t>
            </a:r>
            <a:r>
              <a:rPr sz="2000" b="1" spc="-1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a=b=1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Failure</a:t>
            </a:r>
            <a:endParaRPr sz="200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Deviation from expected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behavior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Example: computer</a:t>
            </a:r>
            <a:r>
              <a:rPr sz="20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crash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14191" y="164414"/>
            <a:ext cx="23863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Definitions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47394" y="5845302"/>
            <a:ext cx="6650990" cy="585470"/>
          </a:xfrm>
          <a:prstGeom prst="rect">
            <a:avLst/>
          </a:prstGeom>
          <a:ln w="28955">
            <a:solidFill>
              <a:srgbClr val="FF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solidFill>
                  <a:srgbClr val="FF0000"/>
                </a:solidFill>
                <a:latin typeface="Helvetica"/>
                <a:cs typeface="Helvetica"/>
              </a:rPr>
              <a:t>Defect</a:t>
            </a:r>
            <a:r>
              <a:rPr sz="3200" b="1" spc="-3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3200" spc="855" dirty="0">
                <a:solidFill>
                  <a:srgbClr val="FF0000"/>
                </a:solidFill>
                <a:latin typeface="Arial Unicode MS"/>
                <a:cs typeface="Arial Unicode MS"/>
              </a:rPr>
              <a:t>→</a:t>
            </a:r>
            <a:r>
              <a:rPr sz="3200" spc="-5" dirty="0">
                <a:solidFill>
                  <a:srgbClr val="FF0000"/>
                </a:solidFill>
                <a:latin typeface="Arial Unicode MS"/>
                <a:cs typeface="Arial Unicode MS"/>
              </a:rPr>
              <a:t> </a:t>
            </a:r>
            <a:r>
              <a:rPr sz="3200" b="1" spc="-5" dirty="0">
                <a:solidFill>
                  <a:srgbClr val="FF0000"/>
                </a:solidFill>
                <a:latin typeface="Helvetica"/>
                <a:cs typeface="Helvetica"/>
              </a:rPr>
              <a:t>Fault</a:t>
            </a:r>
            <a:r>
              <a:rPr sz="3200" b="1" spc="-3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3200" spc="855" dirty="0">
                <a:solidFill>
                  <a:srgbClr val="FF0000"/>
                </a:solidFill>
                <a:latin typeface="Arial Unicode MS"/>
                <a:cs typeface="Arial Unicode MS"/>
              </a:rPr>
              <a:t>→</a:t>
            </a:r>
            <a:r>
              <a:rPr sz="3200" spc="-5" dirty="0">
                <a:solidFill>
                  <a:srgbClr val="FF0000"/>
                </a:solidFill>
                <a:latin typeface="Arial Unicode MS"/>
                <a:cs typeface="Arial Unicode MS"/>
              </a:rPr>
              <a:t>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Error</a:t>
            </a:r>
            <a:r>
              <a:rPr sz="3200" b="1" spc="-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3200" spc="855" dirty="0">
                <a:solidFill>
                  <a:srgbClr val="FF0000"/>
                </a:solidFill>
                <a:latin typeface="Arial Unicode MS"/>
                <a:cs typeface="Arial Unicode MS"/>
              </a:rPr>
              <a:t>→</a:t>
            </a:r>
            <a:r>
              <a:rPr sz="3200" spc="-15" dirty="0">
                <a:solidFill>
                  <a:srgbClr val="FF0000"/>
                </a:solidFill>
                <a:latin typeface="Arial Unicode MS"/>
                <a:cs typeface="Arial Unicode MS"/>
              </a:rPr>
              <a:t>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Failure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05343" y="1341119"/>
            <a:ext cx="835151" cy="9037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370446" y="3227577"/>
            <a:ext cx="153035" cy="892810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800" b="1" i="1" spc="-5" dirty="0">
                <a:latin typeface="Arial-BoldItalicMT"/>
                <a:cs typeface="Arial-BoldItalicMT"/>
              </a:rPr>
              <a:t>1</a:t>
            </a:r>
            <a:endParaRPr sz="1800">
              <a:latin typeface="Arial-BoldItalicMT"/>
              <a:cs typeface="Arial-BoldItalicMT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1800" b="1" i="1" spc="-5" dirty="0">
                <a:latin typeface="Arial-BoldItalicMT"/>
                <a:cs typeface="Arial-BoldItalicMT"/>
              </a:rPr>
              <a:t>1</a:t>
            </a:r>
            <a:endParaRPr sz="1800">
              <a:latin typeface="Arial-BoldItalicMT"/>
              <a:cs typeface="Arial-BoldItalic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87816" y="3562857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0000FF"/>
                </a:solidFill>
                <a:latin typeface="Arial-BoldItalicMT"/>
                <a:cs typeface="Arial-BoldItalicMT"/>
              </a:rPr>
              <a:t>1/0</a:t>
            </a:r>
            <a:endParaRPr sz="1800">
              <a:latin typeface="Arial-BoldItalicMT"/>
              <a:cs typeface="Arial-BoldItalic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01227" y="362705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2780" y="0"/>
                </a:lnTo>
              </a:path>
            </a:pathLst>
          </a:custGeom>
          <a:ln w="22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01227" y="3892921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2780" y="0"/>
                </a:lnTo>
              </a:path>
            </a:pathLst>
          </a:custGeom>
          <a:ln w="22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134007" y="3759948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2780" y="0"/>
                </a:moveTo>
                <a:lnTo>
                  <a:pt x="0" y="0"/>
                </a:lnTo>
              </a:path>
            </a:pathLst>
          </a:custGeom>
          <a:ln w="22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87741" y="3494077"/>
            <a:ext cx="692785" cy="532130"/>
          </a:xfrm>
          <a:custGeom>
            <a:avLst/>
            <a:gdLst/>
            <a:ahLst/>
            <a:cxnLst/>
            <a:rect l="l" t="t" r="r" b="b"/>
            <a:pathLst>
              <a:path w="692784" h="532129">
                <a:moveTo>
                  <a:pt x="207789" y="0"/>
                </a:moveTo>
                <a:lnTo>
                  <a:pt x="0" y="0"/>
                </a:lnTo>
                <a:lnTo>
                  <a:pt x="29477" y="42650"/>
                </a:lnTo>
                <a:lnTo>
                  <a:pt x="53595" y="86210"/>
                </a:lnTo>
                <a:lnTo>
                  <a:pt x="72353" y="130498"/>
                </a:lnTo>
                <a:lnTo>
                  <a:pt x="85752" y="175331"/>
                </a:lnTo>
                <a:lnTo>
                  <a:pt x="93791" y="220527"/>
                </a:lnTo>
                <a:lnTo>
                  <a:pt x="96468" y="265945"/>
                </a:lnTo>
                <a:lnTo>
                  <a:pt x="93791" y="311281"/>
                </a:lnTo>
                <a:lnTo>
                  <a:pt x="85752" y="356475"/>
                </a:lnTo>
                <a:lnTo>
                  <a:pt x="72353" y="401304"/>
                </a:lnTo>
                <a:lnTo>
                  <a:pt x="53595" y="445587"/>
                </a:lnTo>
                <a:lnTo>
                  <a:pt x="29477" y="489142"/>
                </a:lnTo>
                <a:lnTo>
                  <a:pt x="0" y="531786"/>
                </a:lnTo>
                <a:lnTo>
                  <a:pt x="207789" y="531786"/>
                </a:lnTo>
                <a:lnTo>
                  <a:pt x="262351" y="521477"/>
                </a:lnTo>
                <a:lnTo>
                  <a:pt x="314984" y="508660"/>
                </a:lnTo>
                <a:lnTo>
                  <a:pt x="365493" y="493442"/>
                </a:lnTo>
                <a:lnTo>
                  <a:pt x="413685" y="475928"/>
                </a:lnTo>
                <a:lnTo>
                  <a:pt x="459366" y="456226"/>
                </a:lnTo>
                <a:lnTo>
                  <a:pt x="502342" y="434441"/>
                </a:lnTo>
                <a:lnTo>
                  <a:pt x="542419" y="410679"/>
                </a:lnTo>
                <a:lnTo>
                  <a:pt x="579403" y="385048"/>
                </a:lnTo>
                <a:lnTo>
                  <a:pt x="613101" y="357652"/>
                </a:lnTo>
                <a:lnTo>
                  <a:pt x="643317" y="328599"/>
                </a:lnTo>
                <a:lnTo>
                  <a:pt x="669858" y="297995"/>
                </a:lnTo>
                <a:lnTo>
                  <a:pt x="692531" y="265945"/>
                </a:lnTo>
                <a:lnTo>
                  <a:pt x="670157" y="233751"/>
                </a:lnTo>
                <a:lnTo>
                  <a:pt x="643839" y="203014"/>
                </a:lnTo>
                <a:lnTo>
                  <a:pt x="613777" y="173844"/>
                </a:lnTo>
                <a:lnTo>
                  <a:pt x="580172" y="146352"/>
                </a:lnTo>
                <a:lnTo>
                  <a:pt x="543223" y="120647"/>
                </a:lnTo>
                <a:lnTo>
                  <a:pt x="503132" y="96840"/>
                </a:lnTo>
                <a:lnTo>
                  <a:pt x="460097" y="75040"/>
                </a:lnTo>
                <a:lnTo>
                  <a:pt x="414320" y="55358"/>
                </a:lnTo>
                <a:lnTo>
                  <a:pt x="366000" y="37902"/>
                </a:lnTo>
                <a:lnTo>
                  <a:pt x="315339" y="22784"/>
                </a:lnTo>
                <a:lnTo>
                  <a:pt x="262535" y="10113"/>
                </a:lnTo>
                <a:lnTo>
                  <a:pt x="2077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87741" y="3494077"/>
            <a:ext cx="692785" cy="532130"/>
          </a:xfrm>
          <a:custGeom>
            <a:avLst/>
            <a:gdLst/>
            <a:ahLst/>
            <a:cxnLst/>
            <a:rect l="l" t="t" r="r" b="b"/>
            <a:pathLst>
              <a:path w="692784" h="532129">
                <a:moveTo>
                  <a:pt x="692531" y="265945"/>
                </a:moveTo>
                <a:lnTo>
                  <a:pt x="669858" y="297995"/>
                </a:lnTo>
                <a:lnTo>
                  <a:pt x="643317" y="328599"/>
                </a:lnTo>
                <a:lnTo>
                  <a:pt x="613101" y="357652"/>
                </a:lnTo>
                <a:lnTo>
                  <a:pt x="579403" y="385048"/>
                </a:lnTo>
                <a:lnTo>
                  <a:pt x="542419" y="410679"/>
                </a:lnTo>
                <a:lnTo>
                  <a:pt x="502342" y="434441"/>
                </a:lnTo>
                <a:lnTo>
                  <a:pt x="459366" y="456226"/>
                </a:lnTo>
                <a:lnTo>
                  <a:pt x="413685" y="475928"/>
                </a:lnTo>
                <a:lnTo>
                  <a:pt x="365493" y="493442"/>
                </a:lnTo>
                <a:lnTo>
                  <a:pt x="314984" y="508660"/>
                </a:lnTo>
                <a:lnTo>
                  <a:pt x="262351" y="521477"/>
                </a:lnTo>
                <a:lnTo>
                  <a:pt x="207789" y="531786"/>
                </a:lnTo>
                <a:lnTo>
                  <a:pt x="0" y="531786"/>
                </a:lnTo>
                <a:lnTo>
                  <a:pt x="29477" y="489142"/>
                </a:lnTo>
                <a:lnTo>
                  <a:pt x="53595" y="445587"/>
                </a:lnTo>
                <a:lnTo>
                  <a:pt x="72353" y="401304"/>
                </a:lnTo>
                <a:lnTo>
                  <a:pt x="85752" y="356475"/>
                </a:lnTo>
                <a:lnTo>
                  <a:pt x="93791" y="311281"/>
                </a:lnTo>
                <a:lnTo>
                  <a:pt x="96471" y="265904"/>
                </a:lnTo>
                <a:lnTo>
                  <a:pt x="93791" y="220527"/>
                </a:lnTo>
                <a:lnTo>
                  <a:pt x="85752" y="175331"/>
                </a:lnTo>
                <a:lnTo>
                  <a:pt x="72353" y="130498"/>
                </a:lnTo>
                <a:lnTo>
                  <a:pt x="53595" y="86210"/>
                </a:lnTo>
                <a:lnTo>
                  <a:pt x="29477" y="42650"/>
                </a:lnTo>
                <a:lnTo>
                  <a:pt x="0" y="0"/>
                </a:lnTo>
                <a:lnTo>
                  <a:pt x="207789" y="0"/>
                </a:lnTo>
                <a:lnTo>
                  <a:pt x="262535" y="10113"/>
                </a:lnTo>
                <a:lnTo>
                  <a:pt x="315339" y="22784"/>
                </a:lnTo>
                <a:lnTo>
                  <a:pt x="366000" y="37902"/>
                </a:lnTo>
                <a:lnTo>
                  <a:pt x="414320" y="55358"/>
                </a:lnTo>
                <a:lnTo>
                  <a:pt x="460097" y="75040"/>
                </a:lnTo>
                <a:lnTo>
                  <a:pt x="503132" y="96840"/>
                </a:lnTo>
                <a:lnTo>
                  <a:pt x="543223" y="120647"/>
                </a:lnTo>
                <a:lnTo>
                  <a:pt x="580172" y="146352"/>
                </a:lnTo>
                <a:lnTo>
                  <a:pt x="613777" y="173844"/>
                </a:lnTo>
                <a:lnTo>
                  <a:pt x="643839" y="203014"/>
                </a:lnTo>
                <a:lnTo>
                  <a:pt x="670157" y="233751"/>
                </a:lnTo>
                <a:lnTo>
                  <a:pt x="692531" y="265945"/>
                </a:lnTo>
                <a:close/>
              </a:path>
            </a:pathLst>
          </a:custGeom>
          <a:ln w="225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87741" y="3494077"/>
            <a:ext cx="692785" cy="532130"/>
          </a:xfrm>
          <a:custGeom>
            <a:avLst/>
            <a:gdLst/>
            <a:ahLst/>
            <a:cxnLst/>
            <a:rect l="l" t="t" r="r" b="b"/>
            <a:pathLst>
              <a:path w="692784" h="532129">
                <a:moveTo>
                  <a:pt x="426178" y="0"/>
                </a:moveTo>
                <a:lnTo>
                  <a:pt x="0" y="0"/>
                </a:lnTo>
                <a:lnTo>
                  <a:pt x="0" y="531786"/>
                </a:lnTo>
                <a:lnTo>
                  <a:pt x="426179" y="531786"/>
                </a:lnTo>
                <a:lnTo>
                  <a:pt x="474061" y="527502"/>
                </a:lnTo>
                <a:lnTo>
                  <a:pt x="519125" y="515149"/>
                </a:lnTo>
                <a:lnTo>
                  <a:pt x="560620" y="495479"/>
                </a:lnTo>
                <a:lnTo>
                  <a:pt x="597794" y="469244"/>
                </a:lnTo>
                <a:lnTo>
                  <a:pt x="629895" y="437194"/>
                </a:lnTo>
                <a:lnTo>
                  <a:pt x="656170" y="400080"/>
                </a:lnTo>
                <a:lnTo>
                  <a:pt x="675870" y="358655"/>
                </a:lnTo>
                <a:lnTo>
                  <a:pt x="688240" y="313667"/>
                </a:lnTo>
                <a:lnTo>
                  <a:pt x="692531" y="265870"/>
                </a:lnTo>
                <a:lnTo>
                  <a:pt x="688240" y="218075"/>
                </a:lnTo>
                <a:lnTo>
                  <a:pt x="675869" y="173092"/>
                </a:lnTo>
                <a:lnTo>
                  <a:pt x="656170" y="131672"/>
                </a:lnTo>
                <a:lnTo>
                  <a:pt x="629894" y="94565"/>
                </a:lnTo>
                <a:lnTo>
                  <a:pt x="597794" y="62523"/>
                </a:lnTo>
                <a:lnTo>
                  <a:pt x="560620" y="36294"/>
                </a:lnTo>
                <a:lnTo>
                  <a:pt x="519125" y="16631"/>
                </a:lnTo>
                <a:lnTo>
                  <a:pt x="474061" y="4282"/>
                </a:lnTo>
                <a:lnTo>
                  <a:pt x="4261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87741" y="3494077"/>
            <a:ext cx="692785" cy="532130"/>
          </a:xfrm>
          <a:custGeom>
            <a:avLst/>
            <a:gdLst/>
            <a:ahLst/>
            <a:cxnLst/>
            <a:rect l="l" t="t" r="r" b="b"/>
            <a:pathLst>
              <a:path w="692784" h="532129">
                <a:moveTo>
                  <a:pt x="426179" y="531786"/>
                </a:moveTo>
                <a:lnTo>
                  <a:pt x="0" y="531786"/>
                </a:lnTo>
                <a:lnTo>
                  <a:pt x="0" y="0"/>
                </a:lnTo>
                <a:lnTo>
                  <a:pt x="426178" y="0"/>
                </a:lnTo>
                <a:lnTo>
                  <a:pt x="474061" y="4282"/>
                </a:lnTo>
                <a:lnTo>
                  <a:pt x="519125" y="16631"/>
                </a:lnTo>
                <a:lnTo>
                  <a:pt x="560620" y="36294"/>
                </a:lnTo>
                <a:lnTo>
                  <a:pt x="597794" y="62523"/>
                </a:lnTo>
                <a:lnTo>
                  <a:pt x="629894" y="94565"/>
                </a:lnTo>
                <a:lnTo>
                  <a:pt x="656170" y="131672"/>
                </a:lnTo>
                <a:lnTo>
                  <a:pt x="675869" y="173092"/>
                </a:lnTo>
                <a:lnTo>
                  <a:pt x="688240" y="218075"/>
                </a:lnTo>
                <a:lnTo>
                  <a:pt x="692531" y="265870"/>
                </a:lnTo>
                <a:lnTo>
                  <a:pt x="688240" y="313667"/>
                </a:lnTo>
                <a:lnTo>
                  <a:pt x="675870" y="358655"/>
                </a:lnTo>
                <a:lnTo>
                  <a:pt x="656170" y="400080"/>
                </a:lnTo>
                <a:lnTo>
                  <a:pt x="629895" y="437194"/>
                </a:lnTo>
                <a:lnTo>
                  <a:pt x="597794" y="469244"/>
                </a:lnTo>
                <a:lnTo>
                  <a:pt x="560620" y="495479"/>
                </a:lnTo>
                <a:lnTo>
                  <a:pt x="519125" y="515149"/>
                </a:lnTo>
                <a:lnTo>
                  <a:pt x="474061" y="527502"/>
                </a:lnTo>
                <a:lnTo>
                  <a:pt x="426179" y="531786"/>
                </a:lnTo>
                <a:close/>
              </a:path>
            </a:pathLst>
          </a:custGeom>
          <a:ln w="225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68508" y="3892921"/>
            <a:ext cx="532765" cy="643890"/>
          </a:xfrm>
          <a:custGeom>
            <a:avLst/>
            <a:gdLst/>
            <a:ahLst/>
            <a:cxnLst/>
            <a:rect l="l" t="t" r="r" b="b"/>
            <a:pathLst>
              <a:path w="532765" h="643889">
                <a:moveTo>
                  <a:pt x="532719" y="0"/>
                </a:moveTo>
                <a:lnTo>
                  <a:pt x="0" y="0"/>
                </a:lnTo>
                <a:lnTo>
                  <a:pt x="0" y="643462"/>
                </a:lnTo>
              </a:path>
            </a:pathLst>
          </a:custGeom>
          <a:ln w="22536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961959" y="4536383"/>
            <a:ext cx="213360" cy="0"/>
          </a:xfrm>
          <a:custGeom>
            <a:avLst/>
            <a:gdLst/>
            <a:ahLst/>
            <a:cxnLst/>
            <a:rect l="l" t="t" r="r" b="b"/>
            <a:pathLst>
              <a:path w="213359">
                <a:moveTo>
                  <a:pt x="0" y="0"/>
                </a:moveTo>
                <a:lnTo>
                  <a:pt x="213096" y="0"/>
                </a:lnTo>
              </a:path>
            </a:pathLst>
          </a:custGeom>
          <a:ln w="22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55403" y="4536383"/>
            <a:ext cx="426720" cy="0"/>
          </a:xfrm>
          <a:custGeom>
            <a:avLst/>
            <a:gdLst/>
            <a:ahLst/>
            <a:cxnLst/>
            <a:rect l="l" t="t" r="r" b="b"/>
            <a:pathLst>
              <a:path w="426720">
                <a:moveTo>
                  <a:pt x="0" y="0"/>
                </a:moveTo>
                <a:lnTo>
                  <a:pt x="426201" y="0"/>
                </a:lnTo>
              </a:path>
            </a:pathLst>
          </a:custGeom>
          <a:ln w="22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61959" y="4642739"/>
            <a:ext cx="213360" cy="0"/>
          </a:xfrm>
          <a:custGeom>
            <a:avLst/>
            <a:gdLst/>
            <a:ahLst/>
            <a:cxnLst/>
            <a:rect l="l" t="t" r="r" b="b"/>
            <a:pathLst>
              <a:path w="213359">
                <a:moveTo>
                  <a:pt x="0" y="0"/>
                </a:moveTo>
                <a:lnTo>
                  <a:pt x="213096" y="0"/>
                </a:lnTo>
              </a:path>
            </a:pathLst>
          </a:custGeom>
          <a:ln w="22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642306" y="3898249"/>
            <a:ext cx="426720" cy="21590"/>
          </a:xfrm>
          <a:custGeom>
            <a:avLst/>
            <a:gdLst/>
            <a:ahLst/>
            <a:cxnLst/>
            <a:rect l="l" t="t" r="r" b="b"/>
            <a:pathLst>
              <a:path w="426720" h="21589">
                <a:moveTo>
                  <a:pt x="0" y="0"/>
                </a:moveTo>
                <a:lnTo>
                  <a:pt x="426201" y="0"/>
                </a:lnTo>
                <a:lnTo>
                  <a:pt x="426201" y="21236"/>
                </a:lnTo>
              </a:path>
            </a:pathLst>
          </a:custGeom>
          <a:ln w="22512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42306" y="3621722"/>
            <a:ext cx="959485" cy="5715"/>
          </a:xfrm>
          <a:custGeom>
            <a:avLst/>
            <a:gdLst/>
            <a:ahLst/>
            <a:cxnLst/>
            <a:rect l="l" t="t" r="r" b="b"/>
            <a:pathLst>
              <a:path w="959484" h="5714">
                <a:moveTo>
                  <a:pt x="0" y="0"/>
                </a:moveTo>
                <a:lnTo>
                  <a:pt x="958921" y="5327"/>
                </a:lnTo>
              </a:path>
            </a:pathLst>
          </a:custGeom>
          <a:ln w="22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735951" y="4318761"/>
            <a:ext cx="1307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good /</a:t>
            </a:r>
            <a:r>
              <a:rPr sz="1800" b="1" i="1" spc="-85" dirty="0">
                <a:solidFill>
                  <a:srgbClr val="0000FF"/>
                </a:solidFill>
                <a:latin typeface="Arial-BoldItalicMT"/>
                <a:cs typeface="Arial-BoldItalicMT"/>
              </a:rPr>
              <a:t> </a:t>
            </a:r>
            <a:r>
              <a:rPr sz="1800" b="1" i="1" spc="-5" dirty="0">
                <a:solidFill>
                  <a:srgbClr val="0000FF"/>
                </a:solidFill>
                <a:latin typeface="Arial-BoldItalicMT"/>
                <a:cs typeface="Arial-BoldItalicMT"/>
              </a:rPr>
              <a:t>error</a:t>
            </a:r>
            <a:endParaRPr sz="1800">
              <a:latin typeface="Arial-BoldItalicMT"/>
              <a:cs typeface="Arial-BoldItalic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6174" y="6399903"/>
            <a:ext cx="2457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5</a:t>
            </a:fld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76174" y="6399903"/>
            <a:ext cx="2457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6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8060" y="164414"/>
            <a:ext cx="44970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Examples of</a:t>
            </a:r>
            <a:r>
              <a:rPr spc="-105" dirty="0"/>
              <a:t> </a:t>
            </a:r>
            <a:r>
              <a:rPr dirty="0"/>
              <a:t>Defects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14806"/>
            <a:ext cx="7212965" cy="38303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1875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b="1" spc="-5" dirty="0">
                <a:latin typeface="Arial"/>
                <a:cs typeface="Arial"/>
              </a:rPr>
              <a:t>Material</a:t>
            </a:r>
            <a:endParaRPr sz="16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600" b="1" spc="-5" dirty="0">
                <a:latin typeface="Arial"/>
                <a:cs typeface="Arial"/>
              </a:rPr>
              <a:t>Bulk defect (cracks, </a:t>
            </a:r>
            <a:r>
              <a:rPr sz="1600" b="1" spc="-10" dirty="0">
                <a:latin typeface="Arial"/>
                <a:cs typeface="Arial"/>
              </a:rPr>
              <a:t>crystal</a:t>
            </a:r>
            <a:r>
              <a:rPr sz="1600" b="1" spc="10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imperfections)</a:t>
            </a:r>
            <a:endParaRPr sz="16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8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600" b="1" spc="-5" dirty="0">
                <a:latin typeface="Arial"/>
                <a:cs typeface="Arial"/>
              </a:rPr>
              <a:t>Surface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impurities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Clr>
                <a:srgbClr val="FF0000"/>
              </a:buClr>
              <a:buSzPct val="11875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b="1" spc="-5" dirty="0">
                <a:latin typeface="Arial"/>
                <a:cs typeface="Arial"/>
              </a:rPr>
              <a:t>Wafer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process</a:t>
            </a:r>
            <a:endParaRPr sz="16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8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600" b="1" spc="-5" dirty="0">
                <a:latin typeface="Arial"/>
                <a:cs typeface="Arial"/>
              </a:rPr>
              <a:t>Dust particle </a:t>
            </a:r>
            <a:r>
              <a:rPr sz="1600" spc="420" dirty="0">
                <a:latin typeface="Arial Unicode MS"/>
                <a:cs typeface="Arial Unicode MS"/>
              </a:rPr>
              <a:t>→</a:t>
            </a:r>
            <a:r>
              <a:rPr sz="1600" spc="90" dirty="0">
                <a:latin typeface="Arial Unicode MS"/>
                <a:cs typeface="Arial Unicode MS"/>
              </a:rPr>
              <a:t> </a:t>
            </a:r>
            <a:r>
              <a:rPr sz="1600" b="1" spc="-10" dirty="0">
                <a:latin typeface="Arial"/>
                <a:cs typeface="Arial"/>
              </a:rPr>
              <a:t>Opens </a:t>
            </a:r>
            <a:r>
              <a:rPr sz="1600" b="1" spc="-5" dirty="0">
                <a:latin typeface="Arial"/>
                <a:cs typeface="Arial"/>
              </a:rPr>
              <a:t>, shorts</a:t>
            </a:r>
            <a:endParaRPr sz="16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8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600" b="1" spc="-5" dirty="0">
                <a:latin typeface="Arial"/>
                <a:cs typeface="Arial"/>
              </a:rPr>
              <a:t>Gate oxide </a:t>
            </a:r>
            <a:r>
              <a:rPr sz="1600" b="1" spc="45" dirty="0">
                <a:latin typeface="Arial"/>
                <a:cs typeface="Arial"/>
              </a:rPr>
              <a:t>pinhole</a:t>
            </a:r>
            <a:r>
              <a:rPr sz="1600" spc="45" dirty="0">
                <a:latin typeface="Arial Unicode MS"/>
                <a:cs typeface="Arial Unicode MS"/>
              </a:rPr>
              <a:t>→ </a:t>
            </a:r>
            <a:r>
              <a:rPr sz="1600" b="1" spc="-5" dirty="0">
                <a:latin typeface="Arial"/>
                <a:cs typeface="Arial"/>
              </a:rPr>
              <a:t>gate oxide</a:t>
            </a:r>
            <a:r>
              <a:rPr sz="1600" b="1" spc="5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shorts</a:t>
            </a:r>
            <a:endParaRPr sz="16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8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600" b="1" spc="-5" dirty="0">
                <a:latin typeface="Arial"/>
                <a:cs typeface="Arial"/>
              </a:rPr>
              <a:t>Bad ion implantation </a:t>
            </a:r>
            <a:r>
              <a:rPr sz="1600" spc="420" dirty="0">
                <a:latin typeface="Arial Unicode MS"/>
                <a:cs typeface="Arial Unicode MS"/>
              </a:rPr>
              <a:t>→ </a:t>
            </a:r>
            <a:r>
              <a:rPr sz="1600" b="1" spc="-5" dirty="0">
                <a:latin typeface="Arial"/>
                <a:cs typeface="Arial"/>
              </a:rPr>
              <a:t>transistor Vt</a:t>
            </a:r>
            <a:r>
              <a:rPr sz="1600" b="1" spc="-30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shift</a:t>
            </a:r>
            <a:endParaRPr sz="16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600" b="1" spc="-5" dirty="0">
                <a:latin typeface="Arial"/>
                <a:cs typeface="Arial"/>
              </a:rPr>
              <a:t>Mask problem </a:t>
            </a:r>
            <a:r>
              <a:rPr sz="1600" spc="420" dirty="0">
                <a:latin typeface="Arial Unicode MS"/>
                <a:cs typeface="Arial Unicode MS"/>
              </a:rPr>
              <a:t>→ </a:t>
            </a:r>
            <a:r>
              <a:rPr sz="1600" b="1" spc="-5" dirty="0">
                <a:latin typeface="Arial"/>
                <a:cs typeface="Arial"/>
              </a:rPr>
              <a:t>Missing/extra </a:t>
            </a:r>
            <a:r>
              <a:rPr sz="1600" b="1" dirty="0">
                <a:latin typeface="Arial"/>
                <a:cs typeface="Arial"/>
              </a:rPr>
              <a:t>wires,</a:t>
            </a:r>
            <a:r>
              <a:rPr sz="1600" b="1" spc="-30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missing contacts/vias</a:t>
            </a:r>
            <a:endParaRPr sz="16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600" b="1" spc="-5" dirty="0">
                <a:latin typeface="Arial"/>
                <a:cs typeface="Arial"/>
              </a:rPr>
              <a:t>Lithography problem </a:t>
            </a:r>
            <a:r>
              <a:rPr sz="1600" spc="425" dirty="0">
                <a:latin typeface="Arial Unicode MS"/>
                <a:cs typeface="Arial Unicode MS"/>
              </a:rPr>
              <a:t>→ </a:t>
            </a:r>
            <a:r>
              <a:rPr sz="1600" b="1" spc="-5" dirty="0">
                <a:latin typeface="Arial"/>
                <a:cs typeface="Arial"/>
              </a:rPr>
              <a:t>Missing/extra </a:t>
            </a:r>
            <a:r>
              <a:rPr sz="1600" b="1" spc="5" dirty="0">
                <a:latin typeface="Arial"/>
                <a:cs typeface="Arial"/>
              </a:rPr>
              <a:t>wires, </a:t>
            </a:r>
            <a:r>
              <a:rPr sz="1600" b="1" spc="-5" dirty="0">
                <a:latin typeface="Arial"/>
                <a:cs typeface="Arial"/>
              </a:rPr>
              <a:t>missing</a:t>
            </a:r>
            <a:r>
              <a:rPr sz="1600" b="1" spc="-26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contacts/vias</a:t>
            </a:r>
            <a:endParaRPr sz="16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9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600" b="1" spc="-5" dirty="0">
                <a:latin typeface="Arial"/>
                <a:cs typeface="Arial"/>
              </a:rPr>
              <a:t>Poor etching </a:t>
            </a:r>
            <a:r>
              <a:rPr sz="1600" spc="420" dirty="0">
                <a:latin typeface="Arial Unicode MS"/>
                <a:cs typeface="Arial Unicode MS"/>
              </a:rPr>
              <a:t>→ </a:t>
            </a:r>
            <a:r>
              <a:rPr sz="1600" b="1" spc="-5" dirty="0">
                <a:latin typeface="Arial"/>
                <a:cs typeface="Arial"/>
              </a:rPr>
              <a:t>ill formed contacts,</a:t>
            </a:r>
            <a:r>
              <a:rPr sz="1600" b="1" spc="165" dirty="0">
                <a:latin typeface="Arial"/>
                <a:cs typeface="Arial"/>
              </a:rPr>
              <a:t> </a:t>
            </a:r>
            <a:r>
              <a:rPr sz="1600" b="1" spc="-15" dirty="0">
                <a:latin typeface="Arial"/>
                <a:cs typeface="Arial"/>
              </a:rPr>
              <a:t>vias</a:t>
            </a:r>
            <a:endParaRPr sz="16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600" b="1" spc="-5" dirty="0">
                <a:latin typeface="Arial"/>
                <a:cs typeface="Arial"/>
              </a:rPr>
              <a:t>Careless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handling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spc="420" dirty="0">
                <a:latin typeface="Arial Unicode MS"/>
                <a:cs typeface="Arial Unicode MS"/>
              </a:rPr>
              <a:t>→</a:t>
            </a:r>
            <a:r>
              <a:rPr sz="1600" spc="10" dirty="0">
                <a:latin typeface="Arial Unicode MS"/>
                <a:cs typeface="Arial Unicode MS"/>
              </a:rPr>
              <a:t> </a:t>
            </a:r>
            <a:r>
              <a:rPr sz="1600" b="1" spc="-5" dirty="0">
                <a:latin typeface="Arial"/>
                <a:cs typeface="Arial"/>
              </a:rPr>
              <a:t>Oxide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breakdown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spc="420" dirty="0">
                <a:latin typeface="Arial Unicode MS"/>
                <a:cs typeface="Arial Unicode MS"/>
              </a:rPr>
              <a:t>→</a:t>
            </a:r>
            <a:r>
              <a:rPr sz="1600" spc="10" dirty="0">
                <a:latin typeface="Arial Unicode MS"/>
                <a:cs typeface="Arial Unicode MS"/>
              </a:rPr>
              <a:t> </a:t>
            </a:r>
            <a:r>
              <a:rPr sz="1600" b="1" spc="-5" dirty="0">
                <a:latin typeface="Arial"/>
                <a:cs typeface="Arial"/>
              </a:rPr>
              <a:t>gate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oxide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shorts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80"/>
              </a:spcBef>
              <a:buClr>
                <a:srgbClr val="FF0000"/>
              </a:buClr>
              <a:buSzPct val="11875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b="1" spc="-5" dirty="0">
                <a:latin typeface="Arial"/>
                <a:cs typeface="Arial"/>
              </a:rPr>
              <a:t>Package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problem</a:t>
            </a:r>
            <a:endParaRPr sz="16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8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600" b="1" spc="-5" dirty="0">
                <a:latin typeface="Arial"/>
                <a:cs typeface="Arial"/>
              </a:rPr>
              <a:t>Careless handling </a:t>
            </a:r>
            <a:r>
              <a:rPr sz="1600" spc="425" dirty="0">
                <a:latin typeface="Arial Unicode MS"/>
                <a:cs typeface="Arial Unicode MS"/>
              </a:rPr>
              <a:t>→</a:t>
            </a:r>
            <a:r>
              <a:rPr sz="1600" spc="60" dirty="0">
                <a:latin typeface="Arial Unicode MS"/>
                <a:cs typeface="Arial Unicode MS"/>
              </a:rPr>
              <a:t> </a:t>
            </a:r>
            <a:r>
              <a:rPr sz="1600" b="1" spc="-5" dirty="0">
                <a:latin typeface="Arial"/>
                <a:cs typeface="Arial"/>
              </a:rPr>
              <a:t>Oxide </a:t>
            </a:r>
            <a:r>
              <a:rPr sz="1600" b="1" dirty="0">
                <a:latin typeface="Arial"/>
                <a:cs typeface="Arial"/>
              </a:rPr>
              <a:t>breakdown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225" y="4719599"/>
            <a:ext cx="4407535" cy="14890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756285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600" b="1" spc="-5" dirty="0">
                <a:latin typeface="Arial"/>
                <a:cs typeface="Arial"/>
              </a:rPr>
              <a:t>Bad soldering </a:t>
            </a:r>
            <a:r>
              <a:rPr sz="1600" spc="420" dirty="0">
                <a:latin typeface="Arial Unicode MS"/>
                <a:cs typeface="Arial Unicode MS"/>
              </a:rPr>
              <a:t>→</a:t>
            </a:r>
            <a:r>
              <a:rPr sz="1600" spc="20" dirty="0">
                <a:latin typeface="Arial Unicode MS"/>
                <a:cs typeface="Arial Unicode MS"/>
              </a:rPr>
              <a:t> </a:t>
            </a:r>
            <a:r>
              <a:rPr sz="1600" b="1" spc="-5" dirty="0">
                <a:latin typeface="Arial"/>
                <a:cs typeface="Arial"/>
              </a:rPr>
              <a:t>Contact degradation</a:t>
            </a:r>
            <a:endParaRPr sz="160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3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600" b="1" spc="-5" dirty="0">
                <a:latin typeface="Arial"/>
                <a:cs typeface="Arial"/>
              </a:rPr>
              <a:t>Seal leaks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Clr>
                <a:srgbClr val="FF0000"/>
              </a:buClr>
              <a:buSzPct val="11875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b="1" spc="-15" dirty="0">
                <a:latin typeface="Arial"/>
                <a:cs typeface="Arial"/>
              </a:rPr>
              <a:t>Aging</a:t>
            </a:r>
            <a:r>
              <a:rPr sz="1600" b="1" spc="6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(wear-out)</a:t>
            </a:r>
            <a:endParaRPr sz="16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8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600" b="1" spc="-10" dirty="0">
                <a:latin typeface="Arial"/>
                <a:cs typeface="Arial"/>
              </a:rPr>
              <a:t>Overstress </a:t>
            </a:r>
            <a:r>
              <a:rPr sz="1600" spc="420" dirty="0">
                <a:latin typeface="Arial Unicode MS"/>
                <a:cs typeface="Arial Unicode MS"/>
              </a:rPr>
              <a:t>→</a:t>
            </a:r>
            <a:r>
              <a:rPr sz="1600" spc="90" dirty="0">
                <a:latin typeface="Arial Unicode MS"/>
                <a:cs typeface="Arial Unicode MS"/>
              </a:rPr>
              <a:t> </a:t>
            </a:r>
            <a:r>
              <a:rPr sz="1600" b="1" spc="-5" dirty="0">
                <a:latin typeface="Arial"/>
                <a:cs typeface="Arial"/>
              </a:rPr>
              <a:t>Oxide </a:t>
            </a:r>
            <a:r>
              <a:rPr sz="1600" b="1" dirty="0">
                <a:latin typeface="Arial"/>
                <a:cs typeface="Arial"/>
              </a:rPr>
              <a:t>breakdown</a:t>
            </a:r>
            <a:endParaRPr sz="16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8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600" b="1" spc="-5" dirty="0">
                <a:latin typeface="Arial"/>
                <a:cs typeface="Arial"/>
              </a:rPr>
              <a:t>Electromigration </a:t>
            </a:r>
            <a:r>
              <a:rPr sz="1600" spc="420" dirty="0">
                <a:latin typeface="Arial Unicode MS"/>
                <a:cs typeface="Arial Unicode MS"/>
              </a:rPr>
              <a:t>→</a:t>
            </a:r>
            <a:r>
              <a:rPr sz="1600" spc="70" dirty="0">
                <a:latin typeface="Arial Unicode MS"/>
                <a:cs typeface="Arial Unicode MS"/>
              </a:rPr>
              <a:t> </a:t>
            </a:r>
            <a:r>
              <a:rPr sz="1600" b="1" spc="-5" dirty="0">
                <a:latin typeface="Arial"/>
                <a:cs typeface="Arial"/>
              </a:rPr>
              <a:t>open, short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8834" y="4943094"/>
            <a:ext cx="3528060" cy="1076325"/>
          </a:xfrm>
          <a:prstGeom prst="rect">
            <a:avLst/>
          </a:prstGeom>
          <a:ln w="28955">
            <a:solidFill>
              <a:srgbClr val="FF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1440" marR="357505">
              <a:lnSpc>
                <a:spcPct val="100000"/>
              </a:lnSpc>
              <a:spcBef>
                <a:spcPts val="270"/>
              </a:spcBef>
            </a:pP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There are Many  </a:t>
            </a:r>
            <a:r>
              <a:rPr sz="3200" b="1" spc="-5" dirty="0">
                <a:solidFill>
                  <a:srgbClr val="FF0000"/>
                </a:solidFill>
                <a:latin typeface="Helvetica"/>
                <a:cs typeface="Helvetica"/>
              </a:rPr>
              <a:t>More Defects</a:t>
            </a:r>
            <a:r>
              <a:rPr sz="3200" b="1" spc="-8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…</a:t>
            </a:r>
            <a:endParaRPr sz="32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9144" y="164414"/>
            <a:ext cx="39141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Photos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Defects</a:t>
            </a:r>
          </a:p>
        </p:txBody>
      </p:sp>
      <p:sp>
        <p:nvSpPr>
          <p:cNvPr id="3" name="object 3"/>
          <p:cNvSpPr/>
          <p:nvPr/>
        </p:nvSpPr>
        <p:spPr>
          <a:xfrm>
            <a:off x="673215" y="937260"/>
            <a:ext cx="3292722" cy="27863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48200" y="1094232"/>
            <a:ext cx="4343400" cy="251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26528" y="4423482"/>
            <a:ext cx="2745978" cy="16938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75782" y="6123228"/>
            <a:ext cx="15494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808080"/>
                </a:solidFill>
                <a:latin typeface="Helvetica"/>
                <a:cs typeface="Helvetica"/>
              </a:rPr>
              <a:t>[Nigh IBM</a:t>
            </a:r>
            <a:r>
              <a:rPr sz="1600" b="1" spc="-40" dirty="0">
                <a:solidFill>
                  <a:srgbClr val="808080"/>
                </a:solidFill>
                <a:latin typeface="Helvetica"/>
                <a:cs typeface="Helvetica"/>
              </a:rPr>
              <a:t> </a:t>
            </a:r>
            <a:r>
              <a:rPr sz="1600" b="1" spc="-5" dirty="0">
                <a:solidFill>
                  <a:srgbClr val="808080"/>
                </a:solidFill>
                <a:latin typeface="Helvetica"/>
                <a:cs typeface="Helvetica"/>
              </a:rPr>
              <a:t>1998]</a:t>
            </a:r>
            <a:endParaRPr sz="16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5782" y="3602863"/>
            <a:ext cx="1630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solidFill>
                  <a:srgbClr val="808080"/>
                </a:solidFill>
                <a:latin typeface="Helvetica"/>
                <a:cs typeface="Helvetica"/>
              </a:rPr>
              <a:t>[Vallet </a:t>
            </a:r>
            <a:r>
              <a:rPr sz="1600" b="1" spc="-5" dirty="0">
                <a:solidFill>
                  <a:srgbClr val="808080"/>
                </a:solidFill>
                <a:latin typeface="Helvetica"/>
                <a:cs typeface="Helvetica"/>
              </a:rPr>
              <a:t>IBM</a:t>
            </a:r>
            <a:r>
              <a:rPr sz="1600" b="1" spc="-25" dirty="0">
                <a:solidFill>
                  <a:srgbClr val="808080"/>
                </a:solidFill>
                <a:latin typeface="Helvetica"/>
                <a:cs typeface="Helvetica"/>
              </a:rPr>
              <a:t> </a:t>
            </a:r>
            <a:r>
              <a:rPr sz="1600" b="1" spc="-5" dirty="0">
                <a:solidFill>
                  <a:srgbClr val="808080"/>
                </a:solidFill>
                <a:latin typeface="Helvetica"/>
                <a:cs typeface="Helvetica"/>
              </a:rPr>
              <a:t>1997]</a:t>
            </a:r>
            <a:endParaRPr sz="1600">
              <a:latin typeface="Helvetica"/>
              <a:cs typeface="Helvetic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9831" y="3982211"/>
            <a:ext cx="4968240" cy="24719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6174" y="6399903"/>
            <a:ext cx="2457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7</a:t>
            </a:fld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6724" y="164414"/>
            <a:ext cx="80886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Random Defects, Systematic</a:t>
            </a:r>
            <a:r>
              <a:rPr spc="-50" dirty="0"/>
              <a:t> </a:t>
            </a:r>
            <a:r>
              <a:rPr dirty="0"/>
              <a:t>Defects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7819390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Random</a:t>
            </a:r>
            <a:r>
              <a:rPr sz="2000" b="1" i="1" spc="-1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defects</a:t>
            </a:r>
            <a:endParaRPr sz="200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Caused </a:t>
            </a:r>
            <a:r>
              <a:rPr sz="2000" b="1" dirty="0">
                <a:latin typeface="Arial"/>
                <a:cs typeface="Arial"/>
              </a:rPr>
              <a:t>by </a:t>
            </a:r>
            <a:r>
              <a:rPr sz="2000" b="1" spc="-5" dirty="0">
                <a:latin typeface="Arial"/>
                <a:cs typeface="Arial"/>
              </a:rPr>
              <a:t>random </a:t>
            </a:r>
            <a:r>
              <a:rPr sz="2000" b="1" dirty="0">
                <a:latin typeface="Arial"/>
                <a:cs typeface="Arial"/>
              </a:rPr>
              <a:t>factors </a:t>
            </a:r>
            <a:r>
              <a:rPr sz="2000" b="1" spc="-5" dirty="0">
                <a:latin typeface="Arial"/>
                <a:cs typeface="Arial"/>
              </a:rPr>
              <a:t>such as </a:t>
            </a:r>
            <a:r>
              <a:rPr sz="2000" b="1" dirty="0">
                <a:latin typeface="Arial"/>
                <a:cs typeface="Arial"/>
              </a:rPr>
              <a:t>particles, </a:t>
            </a:r>
            <a:r>
              <a:rPr sz="2000" b="1" spc="-5" dirty="0">
                <a:latin typeface="Arial"/>
                <a:cs typeface="Arial"/>
              </a:rPr>
              <a:t>scratches,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…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5" dirty="0">
                <a:latin typeface="Arial"/>
                <a:cs typeface="Arial"/>
              </a:rPr>
              <a:t>No </a:t>
            </a:r>
            <a:r>
              <a:rPr sz="2000" b="1" dirty="0">
                <a:latin typeface="Arial"/>
                <a:cs typeface="Arial"/>
              </a:rPr>
              <a:t>correlation across wafers,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225" y="3827500"/>
            <a:ext cx="8269605" cy="11233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Systematic</a:t>
            </a:r>
            <a:r>
              <a:rPr sz="2000" b="1" i="1" spc="-5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defects</a:t>
            </a:r>
            <a:endParaRPr sz="200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Caused </a:t>
            </a:r>
            <a:r>
              <a:rPr sz="2000" b="1" dirty="0">
                <a:latin typeface="Arial"/>
                <a:cs typeface="Arial"/>
              </a:rPr>
              <a:t>by </a:t>
            </a:r>
            <a:r>
              <a:rPr sz="2000" b="1" spc="-5" dirty="0">
                <a:latin typeface="Arial"/>
                <a:cs typeface="Arial"/>
              </a:rPr>
              <a:t>deterministic </a:t>
            </a:r>
            <a:r>
              <a:rPr sz="2000" b="1" dirty="0">
                <a:latin typeface="Arial"/>
                <a:cs typeface="Arial"/>
              </a:rPr>
              <a:t>factors </a:t>
            </a:r>
            <a:r>
              <a:rPr sz="2000" b="1" spc="-5" dirty="0">
                <a:latin typeface="Arial"/>
                <a:cs typeface="Arial"/>
              </a:rPr>
              <a:t>such as mask, lithography,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…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Strong correlation across wafers,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08810" y="5807202"/>
            <a:ext cx="576580" cy="143510"/>
          </a:xfrm>
          <a:custGeom>
            <a:avLst/>
            <a:gdLst/>
            <a:ahLst/>
            <a:cxnLst/>
            <a:rect l="l" t="t" r="r" b="b"/>
            <a:pathLst>
              <a:path w="576580" h="143510">
                <a:moveTo>
                  <a:pt x="0" y="143256"/>
                </a:moveTo>
                <a:lnTo>
                  <a:pt x="576072" y="143256"/>
                </a:lnTo>
                <a:lnTo>
                  <a:pt x="576072" y="0"/>
                </a:lnTo>
                <a:lnTo>
                  <a:pt x="0" y="0"/>
                </a:lnTo>
                <a:lnTo>
                  <a:pt x="0" y="1432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08810" y="5807202"/>
            <a:ext cx="576580" cy="143510"/>
          </a:xfrm>
          <a:custGeom>
            <a:avLst/>
            <a:gdLst/>
            <a:ahLst/>
            <a:cxnLst/>
            <a:rect l="l" t="t" r="r" b="b"/>
            <a:pathLst>
              <a:path w="576580" h="143510">
                <a:moveTo>
                  <a:pt x="0" y="143256"/>
                </a:moveTo>
                <a:lnTo>
                  <a:pt x="576072" y="143256"/>
                </a:lnTo>
                <a:lnTo>
                  <a:pt x="576072" y="0"/>
                </a:lnTo>
                <a:lnTo>
                  <a:pt x="0" y="0"/>
                </a:lnTo>
                <a:lnTo>
                  <a:pt x="0" y="143256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40101" y="5878829"/>
            <a:ext cx="144780" cy="574675"/>
          </a:xfrm>
          <a:custGeom>
            <a:avLst/>
            <a:gdLst/>
            <a:ahLst/>
            <a:cxnLst/>
            <a:rect l="l" t="t" r="r" b="b"/>
            <a:pathLst>
              <a:path w="144780" h="574675">
                <a:moveTo>
                  <a:pt x="0" y="574548"/>
                </a:moveTo>
                <a:lnTo>
                  <a:pt x="144780" y="574548"/>
                </a:lnTo>
                <a:lnTo>
                  <a:pt x="144780" y="0"/>
                </a:lnTo>
                <a:lnTo>
                  <a:pt x="0" y="0"/>
                </a:lnTo>
                <a:lnTo>
                  <a:pt x="0" y="57454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40101" y="5878829"/>
            <a:ext cx="144780" cy="574675"/>
          </a:xfrm>
          <a:custGeom>
            <a:avLst/>
            <a:gdLst/>
            <a:ahLst/>
            <a:cxnLst/>
            <a:rect l="l" t="t" r="r" b="b"/>
            <a:pathLst>
              <a:path w="144780" h="574675">
                <a:moveTo>
                  <a:pt x="0" y="574548"/>
                </a:moveTo>
                <a:lnTo>
                  <a:pt x="144780" y="574548"/>
                </a:lnTo>
                <a:lnTo>
                  <a:pt x="144780" y="0"/>
                </a:lnTo>
                <a:lnTo>
                  <a:pt x="0" y="0"/>
                </a:lnTo>
                <a:lnTo>
                  <a:pt x="0" y="574548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28138" y="5662421"/>
            <a:ext cx="144780" cy="791210"/>
          </a:xfrm>
          <a:custGeom>
            <a:avLst/>
            <a:gdLst/>
            <a:ahLst/>
            <a:cxnLst/>
            <a:rect l="l" t="t" r="r" b="b"/>
            <a:pathLst>
              <a:path w="144780" h="791210">
                <a:moveTo>
                  <a:pt x="0" y="790955"/>
                </a:moveTo>
                <a:lnTo>
                  <a:pt x="144780" y="790955"/>
                </a:lnTo>
                <a:lnTo>
                  <a:pt x="144780" y="0"/>
                </a:lnTo>
                <a:lnTo>
                  <a:pt x="0" y="0"/>
                </a:lnTo>
                <a:lnTo>
                  <a:pt x="0" y="7909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28138" y="5590794"/>
            <a:ext cx="144780" cy="862965"/>
          </a:xfrm>
          <a:custGeom>
            <a:avLst/>
            <a:gdLst/>
            <a:ahLst/>
            <a:cxnLst/>
            <a:rect l="l" t="t" r="r" b="b"/>
            <a:pathLst>
              <a:path w="144780" h="862964">
                <a:moveTo>
                  <a:pt x="0" y="862583"/>
                </a:moveTo>
                <a:lnTo>
                  <a:pt x="144780" y="862583"/>
                </a:lnTo>
                <a:lnTo>
                  <a:pt x="144780" y="0"/>
                </a:lnTo>
                <a:lnTo>
                  <a:pt x="0" y="0"/>
                </a:lnTo>
                <a:lnTo>
                  <a:pt x="0" y="862583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8810" y="5517641"/>
            <a:ext cx="864235" cy="144780"/>
          </a:xfrm>
          <a:custGeom>
            <a:avLst/>
            <a:gdLst/>
            <a:ahLst/>
            <a:cxnLst/>
            <a:rect l="l" t="t" r="r" b="b"/>
            <a:pathLst>
              <a:path w="864235" h="144779">
                <a:moveTo>
                  <a:pt x="0" y="144780"/>
                </a:moveTo>
                <a:lnTo>
                  <a:pt x="864108" y="144780"/>
                </a:lnTo>
                <a:lnTo>
                  <a:pt x="864108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08810" y="5517641"/>
            <a:ext cx="864235" cy="144780"/>
          </a:xfrm>
          <a:custGeom>
            <a:avLst/>
            <a:gdLst/>
            <a:ahLst/>
            <a:cxnLst/>
            <a:rect l="l" t="t" r="r" b="b"/>
            <a:pathLst>
              <a:path w="864235" h="144779">
                <a:moveTo>
                  <a:pt x="0" y="144780"/>
                </a:moveTo>
                <a:lnTo>
                  <a:pt x="864108" y="144780"/>
                </a:lnTo>
                <a:lnTo>
                  <a:pt x="864108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77205" y="5805678"/>
            <a:ext cx="792480" cy="647700"/>
          </a:xfrm>
          <a:custGeom>
            <a:avLst/>
            <a:gdLst/>
            <a:ahLst/>
            <a:cxnLst/>
            <a:rect l="l" t="t" r="r" b="b"/>
            <a:pathLst>
              <a:path w="792479" h="647700">
                <a:moveTo>
                  <a:pt x="698881" y="0"/>
                </a:moveTo>
                <a:lnTo>
                  <a:pt x="325882" y="0"/>
                </a:lnTo>
                <a:lnTo>
                  <a:pt x="139827" y="43751"/>
                </a:lnTo>
                <a:lnTo>
                  <a:pt x="0" y="86550"/>
                </a:lnTo>
                <a:lnTo>
                  <a:pt x="139827" y="86550"/>
                </a:lnTo>
                <a:lnTo>
                  <a:pt x="233299" y="130302"/>
                </a:lnTo>
                <a:lnTo>
                  <a:pt x="512953" y="130302"/>
                </a:lnTo>
                <a:lnTo>
                  <a:pt x="559181" y="173101"/>
                </a:lnTo>
                <a:lnTo>
                  <a:pt x="606425" y="302450"/>
                </a:lnTo>
                <a:lnTo>
                  <a:pt x="606425" y="561149"/>
                </a:lnTo>
                <a:lnTo>
                  <a:pt x="652653" y="647700"/>
                </a:lnTo>
                <a:lnTo>
                  <a:pt x="698881" y="518350"/>
                </a:lnTo>
                <a:lnTo>
                  <a:pt x="746252" y="345249"/>
                </a:lnTo>
                <a:lnTo>
                  <a:pt x="746252" y="173101"/>
                </a:lnTo>
                <a:lnTo>
                  <a:pt x="792480" y="86550"/>
                </a:lnTo>
                <a:lnTo>
                  <a:pt x="69888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77205" y="5805678"/>
            <a:ext cx="792480" cy="647700"/>
          </a:xfrm>
          <a:custGeom>
            <a:avLst/>
            <a:gdLst/>
            <a:ahLst/>
            <a:cxnLst/>
            <a:rect l="l" t="t" r="r" b="b"/>
            <a:pathLst>
              <a:path w="792479" h="647700">
                <a:moveTo>
                  <a:pt x="0" y="86550"/>
                </a:moveTo>
                <a:lnTo>
                  <a:pt x="139827" y="43751"/>
                </a:lnTo>
                <a:lnTo>
                  <a:pt x="325882" y="0"/>
                </a:lnTo>
                <a:lnTo>
                  <a:pt x="512953" y="0"/>
                </a:lnTo>
                <a:lnTo>
                  <a:pt x="698881" y="0"/>
                </a:lnTo>
                <a:lnTo>
                  <a:pt x="746252" y="43751"/>
                </a:lnTo>
                <a:lnTo>
                  <a:pt x="792480" y="86550"/>
                </a:lnTo>
                <a:lnTo>
                  <a:pt x="746252" y="173101"/>
                </a:lnTo>
                <a:lnTo>
                  <a:pt x="746252" y="259651"/>
                </a:lnTo>
                <a:lnTo>
                  <a:pt x="746252" y="345249"/>
                </a:lnTo>
                <a:lnTo>
                  <a:pt x="698881" y="518350"/>
                </a:lnTo>
                <a:lnTo>
                  <a:pt x="652653" y="647700"/>
                </a:lnTo>
                <a:lnTo>
                  <a:pt x="606425" y="561149"/>
                </a:lnTo>
                <a:lnTo>
                  <a:pt x="606425" y="431800"/>
                </a:lnTo>
                <a:lnTo>
                  <a:pt x="606425" y="302450"/>
                </a:lnTo>
                <a:lnTo>
                  <a:pt x="559181" y="173101"/>
                </a:lnTo>
                <a:lnTo>
                  <a:pt x="512953" y="130302"/>
                </a:lnTo>
                <a:lnTo>
                  <a:pt x="373126" y="130302"/>
                </a:lnTo>
                <a:lnTo>
                  <a:pt x="233299" y="130302"/>
                </a:lnTo>
                <a:lnTo>
                  <a:pt x="139827" y="86550"/>
                </a:lnTo>
                <a:lnTo>
                  <a:pt x="0" y="86550"/>
                </a:lnTo>
                <a:close/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50358" y="5517641"/>
            <a:ext cx="935990" cy="862965"/>
          </a:xfrm>
          <a:custGeom>
            <a:avLst/>
            <a:gdLst/>
            <a:ahLst/>
            <a:cxnLst/>
            <a:rect l="l" t="t" r="r" b="b"/>
            <a:pathLst>
              <a:path w="935989" h="862964">
                <a:moveTo>
                  <a:pt x="792733" y="0"/>
                </a:moveTo>
                <a:lnTo>
                  <a:pt x="648207" y="71348"/>
                </a:lnTo>
                <a:lnTo>
                  <a:pt x="143001" y="71348"/>
                </a:lnTo>
                <a:lnTo>
                  <a:pt x="0" y="144297"/>
                </a:lnTo>
                <a:lnTo>
                  <a:pt x="216026" y="215646"/>
                </a:lnTo>
                <a:lnTo>
                  <a:pt x="576706" y="215646"/>
                </a:lnTo>
                <a:lnTo>
                  <a:pt x="648207" y="288582"/>
                </a:lnTo>
                <a:lnTo>
                  <a:pt x="792733" y="431292"/>
                </a:lnTo>
                <a:lnTo>
                  <a:pt x="792733" y="719874"/>
                </a:lnTo>
                <a:lnTo>
                  <a:pt x="864234" y="862584"/>
                </a:lnTo>
                <a:lnTo>
                  <a:pt x="935736" y="719874"/>
                </a:lnTo>
                <a:lnTo>
                  <a:pt x="935736" y="215646"/>
                </a:lnTo>
                <a:lnTo>
                  <a:pt x="79273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50358" y="5517641"/>
            <a:ext cx="935990" cy="862965"/>
          </a:xfrm>
          <a:custGeom>
            <a:avLst/>
            <a:gdLst/>
            <a:ahLst/>
            <a:cxnLst/>
            <a:rect l="l" t="t" r="r" b="b"/>
            <a:pathLst>
              <a:path w="935989" h="862964">
                <a:moveTo>
                  <a:pt x="648207" y="288582"/>
                </a:moveTo>
                <a:lnTo>
                  <a:pt x="792733" y="431292"/>
                </a:lnTo>
                <a:lnTo>
                  <a:pt x="792733" y="719874"/>
                </a:lnTo>
                <a:lnTo>
                  <a:pt x="864234" y="862584"/>
                </a:lnTo>
                <a:lnTo>
                  <a:pt x="935736" y="719874"/>
                </a:lnTo>
                <a:lnTo>
                  <a:pt x="935736" y="504228"/>
                </a:lnTo>
                <a:lnTo>
                  <a:pt x="935736" y="215646"/>
                </a:lnTo>
                <a:lnTo>
                  <a:pt x="792733" y="0"/>
                </a:lnTo>
                <a:lnTo>
                  <a:pt x="648207" y="71348"/>
                </a:lnTo>
                <a:lnTo>
                  <a:pt x="360679" y="71348"/>
                </a:lnTo>
                <a:lnTo>
                  <a:pt x="143001" y="71348"/>
                </a:lnTo>
                <a:lnTo>
                  <a:pt x="0" y="144297"/>
                </a:lnTo>
                <a:lnTo>
                  <a:pt x="216026" y="215646"/>
                </a:lnTo>
                <a:lnTo>
                  <a:pt x="432180" y="215646"/>
                </a:lnTo>
                <a:lnTo>
                  <a:pt x="576706" y="215646"/>
                </a:lnTo>
                <a:lnTo>
                  <a:pt x="648207" y="288582"/>
                </a:lnTo>
                <a:close/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35502" y="5877305"/>
            <a:ext cx="937260" cy="144780"/>
          </a:xfrm>
          <a:custGeom>
            <a:avLst/>
            <a:gdLst/>
            <a:ahLst/>
            <a:cxnLst/>
            <a:rect l="l" t="t" r="r" b="b"/>
            <a:pathLst>
              <a:path w="937260" h="144779">
                <a:moveTo>
                  <a:pt x="0" y="36195"/>
                </a:moveTo>
                <a:lnTo>
                  <a:pt x="702563" y="36195"/>
                </a:lnTo>
                <a:lnTo>
                  <a:pt x="702563" y="0"/>
                </a:lnTo>
                <a:lnTo>
                  <a:pt x="937260" y="72390"/>
                </a:lnTo>
                <a:lnTo>
                  <a:pt x="702563" y="144780"/>
                </a:lnTo>
                <a:lnTo>
                  <a:pt x="702563" y="108585"/>
                </a:lnTo>
                <a:lnTo>
                  <a:pt x="0" y="108585"/>
                </a:lnTo>
                <a:lnTo>
                  <a:pt x="0" y="36195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08810" y="2926842"/>
            <a:ext cx="576580" cy="143510"/>
          </a:xfrm>
          <a:custGeom>
            <a:avLst/>
            <a:gdLst/>
            <a:ahLst/>
            <a:cxnLst/>
            <a:rect l="l" t="t" r="r" b="b"/>
            <a:pathLst>
              <a:path w="576580" h="143510">
                <a:moveTo>
                  <a:pt x="0" y="143255"/>
                </a:moveTo>
                <a:lnTo>
                  <a:pt x="576072" y="143255"/>
                </a:lnTo>
                <a:lnTo>
                  <a:pt x="576072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8810" y="2926842"/>
            <a:ext cx="576580" cy="143510"/>
          </a:xfrm>
          <a:custGeom>
            <a:avLst/>
            <a:gdLst/>
            <a:ahLst/>
            <a:cxnLst/>
            <a:rect l="l" t="t" r="r" b="b"/>
            <a:pathLst>
              <a:path w="576580" h="143510">
                <a:moveTo>
                  <a:pt x="0" y="143255"/>
                </a:moveTo>
                <a:lnTo>
                  <a:pt x="576072" y="143255"/>
                </a:lnTo>
                <a:lnTo>
                  <a:pt x="576072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40101" y="2998470"/>
            <a:ext cx="144780" cy="574675"/>
          </a:xfrm>
          <a:custGeom>
            <a:avLst/>
            <a:gdLst/>
            <a:ahLst/>
            <a:cxnLst/>
            <a:rect l="l" t="t" r="r" b="b"/>
            <a:pathLst>
              <a:path w="144780" h="574675">
                <a:moveTo>
                  <a:pt x="0" y="574548"/>
                </a:moveTo>
                <a:lnTo>
                  <a:pt x="144780" y="574548"/>
                </a:lnTo>
                <a:lnTo>
                  <a:pt x="144780" y="0"/>
                </a:lnTo>
                <a:lnTo>
                  <a:pt x="0" y="0"/>
                </a:lnTo>
                <a:lnTo>
                  <a:pt x="0" y="57454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40101" y="2998470"/>
            <a:ext cx="144780" cy="574675"/>
          </a:xfrm>
          <a:custGeom>
            <a:avLst/>
            <a:gdLst/>
            <a:ahLst/>
            <a:cxnLst/>
            <a:rect l="l" t="t" r="r" b="b"/>
            <a:pathLst>
              <a:path w="144780" h="574675">
                <a:moveTo>
                  <a:pt x="0" y="574548"/>
                </a:moveTo>
                <a:lnTo>
                  <a:pt x="144780" y="574548"/>
                </a:lnTo>
                <a:lnTo>
                  <a:pt x="144780" y="0"/>
                </a:lnTo>
                <a:lnTo>
                  <a:pt x="0" y="0"/>
                </a:lnTo>
                <a:lnTo>
                  <a:pt x="0" y="574548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628138" y="2780538"/>
            <a:ext cx="144780" cy="792480"/>
          </a:xfrm>
          <a:custGeom>
            <a:avLst/>
            <a:gdLst/>
            <a:ahLst/>
            <a:cxnLst/>
            <a:rect l="l" t="t" r="r" b="b"/>
            <a:pathLst>
              <a:path w="144780" h="792479">
                <a:moveTo>
                  <a:pt x="0" y="792479"/>
                </a:moveTo>
                <a:lnTo>
                  <a:pt x="144780" y="792479"/>
                </a:lnTo>
                <a:lnTo>
                  <a:pt x="144780" y="0"/>
                </a:lnTo>
                <a:lnTo>
                  <a:pt x="0" y="0"/>
                </a:lnTo>
                <a:lnTo>
                  <a:pt x="0" y="7924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628138" y="2708910"/>
            <a:ext cx="144780" cy="864235"/>
          </a:xfrm>
          <a:custGeom>
            <a:avLst/>
            <a:gdLst/>
            <a:ahLst/>
            <a:cxnLst/>
            <a:rect l="l" t="t" r="r" b="b"/>
            <a:pathLst>
              <a:path w="144780" h="864235">
                <a:moveTo>
                  <a:pt x="0" y="864108"/>
                </a:moveTo>
                <a:lnTo>
                  <a:pt x="144780" y="864108"/>
                </a:lnTo>
                <a:lnTo>
                  <a:pt x="144780" y="0"/>
                </a:lnTo>
                <a:lnTo>
                  <a:pt x="0" y="0"/>
                </a:lnTo>
                <a:lnTo>
                  <a:pt x="0" y="864108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08810" y="2635757"/>
            <a:ext cx="864235" cy="144780"/>
          </a:xfrm>
          <a:custGeom>
            <a:avLst/>
            <a:gdLst/>
            <a:ahLst/>
            <a:cxnLst/>
            <a:rect l="l" t="t" r="r" b="b"/>
            <a:pathLst>
              <a:path w="864235" h="144780">
                <a:moveTo>
                  <a:pt x="0" y="144779"/>
                </a:moveTo>
                <a:lnTo>
                  <a:pt x="864108" y="144779"/>
                </a:lnTo>
                <a:lnTo>
                  <a:pt x="864108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8810" y="2635757"/>
            <a:ext cx="864235" cy="144780"/>
          </a:xfrm>
          <a:custGeom>
            <a:avLst/>
            <a:gdLst/>
            <a:ahLst/>
            <a:cxnLst/>
            <a:rect l="l" t="t" r="r" b="b"/>
            <a:pathLst>
              <a:path w="864235" h="144780">
                <a:moveTo>
                  <a:pt x="0" y="144779"/>
                </a:moveTo>
                <a:lnTo>
                  <a:pt x="864108" y="144779"/>
                </a:lnTo>
                <a:lnTo>
                  <a:pt x="864108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635502" y="3141726"/>
            <a:ext cx="937260" cy="144780"/>
          </a:xfrm>
          <a:custGeom>
            <a:avLst/>
            <a:gdLst/>
            <a:ahLst/>
            <a:cxnLst/>
            <a:rect l="l" t="t" r="r" b="b"/>
            <a:pathLst>
              <a:path w="937260" h="144779">
                <a:moveTo>
                  <a:pt x="0" y="36195"/>
                </a:moveTo>
                <a:lnTo>
                  <a:pt x="702563" y="36195"/>
                </a:lnTo>
                <a:lnTo>
                  <a:pt x="702563" y="0"/>
                </a:lnTo>
                <a:lnTo>
                  <a:pt x="937260" y="72389"/>
                </a:lnTo>
                <a:lnTo>
                  <a:pt x="702563" y="144779"/>
                </a:lnTo>
                <a:lnTo>
                  <a:pt x="702563" y="108585"/>
                </a:lnTo>
                <a:lnTo>
                  <a:pt x="0" y="108585"/>
                </a:lnTo>
                <a:lnTo>
                  <a:pt x="0" y="36195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20461" y="2926842"/>
            <a:ext cx="576580" cy="143510"/>
          </a:xfrm>
          <a:custGeom>
            <a:avLst/>
            <a:gdLst/>
            <a:ahLst/>
            <a:cxnLst/>
            <a:rect l="l" t="t" r="r" b="b"/>
            <a:pathLst>
              <a:path w="576579" h="143510">
                <a:moveTo>
                  <a:pt x="0" y="143255"/>
                </a:moveTo>
                <a:lnTo>
                  <a:pt x="576072" y="143255"/>
                </a:lnTo>
                <a:lnTo>
                  <a:pt x="576072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20461" y="2926842"/>
            <a:ext cx="576580" cy="143510"/>
          </a:xfrm>
          <a:custGeom>
            <a:avLst/>
            <a:gdLst/>
            <a:ahLst/>
            <a:cxnLst/>
            <a:rect l="l" t="t" r="r" b="b"/>
            <a:pathLst>
              <a:path w="576579" h="143510">
                <a:moveTo>
                  <a:pt x="0" y="143255"/>
                </a:moveTo>
                <a:lnTo>
                  <a:pt x="576072" y="143255"/>
                </a:lnTo>
                <a:lnTo>
                  <a:pt x="576072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51753" y="2998470"/>
            <a:ext cx="144780" cy="574675"/>
          </a:xfrm>
          <a:custGeom>
            <a:avLst/>
            <a:gdLst/>
            <a:ahLst/>
            <a:cxnLst/>
            <a:rect l="l" t="t" r="r" b="b"/>
            <a:pathLst>
              <a:path w="144779" h="574675">
                <a:moveTo>
                  <a:pt x="0" y="574548"/>
                </a:moveTo>
                <a:lnTo>
                  <a:pt x="144779" y="574548"/>
                </a:lnTo>
                <a:lnTo>
                  <a:pt x="144779" y="0"/>
                </a:lnTo>
                <a:lnTo>
                  <a:pt x="0" y="0"/>
                </a:lnTo>
                <a:lnTo>
                  <a:pt x="0" y="57454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651753" y="2998470"/>
            <a:ext cx="144780" cy="574675"/>
          </a:xfrm>
          <a:custGeom>
            <a:avLst/>
            <a:gdLst/>
            <a:ahLst/>
            <a:cxnLst/>
            <a:rect l="l" t="t" r="r" b="b"/>
            <a:pathLst>
              <a:path w="144779" h="574675">
                <a:moveTo>
                  <a:pt x="0" y="574548"/>
                </a:moveTo>
                <a:lnTo>
                  <a:pt x="144779" y="574548"/>
                </a:lnTo>
                <a:lnTo>
                  <a:pt x="144779" y="0"/>
                </a:lnTo>
                <a:lnTo>
                  <a:pt x="0" y="0"/>
                </a:lnTo>
                <a:lnTo>
                  <a:pt x="0" y="574548"/>
                </a:lnTo>
                <a:close/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939790" y="2780538"/>
            <a:ext cx="144780" cy="792480"/>
          </a:xfrm>
          <a:custGeom>
            <a:avLst/>
            <a:gdLst/>
            <a:ahLst/>
            <a:cxnLst/>
            <a:rect l="l" t="t" r="r" b="b"/>
            <a:pathLst>
              <a:path w="144779" h="792479">
                <a:moveTo>
                  <a:pt x="0" y="792479"/>
                </a:moveTo>
                <a:lnTo>
                  <a:pt x="144779" y="792479"/>
                </a:lnTo>
                <a:lnTo>
                  <a:pt x="144779" y="0"/>
                </a:lnTo>
                <a:lnTo>
                  <a:pt x="0" y="0"/>
                </a:lnTo>
                <a:lnTo>
                  <a:pt x="0" y="7924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939790" y="2708910"/>
            <a:ext cx="144780" cy="864235"/>
          </a:xfrm>
          <a:custGeom>
            <a:avLst/>
            <a:gdLst/>
            <a:ahLst/>
            <a:cxnLst/>
            <a:rect l="l" t="t" r="r" b="b"/>
            <a:pathLst>
              <a:path w="144779" h="864235">
                <a:moveTo>
                  <a:pt x="0" y="864108"/>
                </a:moveTo>
                <a:lnTo>
                  <a:pt x="144779" y="864108"/>
                </a:lnTo>
                <a:lnTo>
                  <a:pt x="144779" y="0"/>
                </a:lnTo>
                <a:lnTo>
                  <a:pt x="0" y="0"/>
                </a:lnTo>
                <a:lnTo>
                  <a:pt x="0" y="864108"/>
                </a:lnTo>
                <a:close/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220461" y="2635757"/>
            <a:ext cx="864235" cy="144780"/>
          </a:xfrm>
          <a:custGeom>
            <a:avLst/>
            <a:gdLst/>
            <a:ahLst/>
            <a:cxnLst/>
            <a:rect l="l" t="t" r="r" b="b"/>
            <a:pathLst>
              <a:path w="864235" h="144780">
                <a:moveTo>
                  <a:pt x="0" y="144779"/>
                </a:moveTo>
                <a:lnTo>
                  <a:pt x="864108" y="144779"/>
                </a:lnTo>
                <a:lnTo>
                  <a:pt x="864108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220461" y="2635757"/>
            <a:ext cx="864235" cy="144780"/>
          </a:xfrm>
          <a:custGeom>
            <a:avLst/>
            <a:gdLst/>
            <a:ahLst/>
            <a:cxnLst/>
            <a:rect l="l" t="t" r="r" b="b"/>
            <a:pathLst>
              <a:path w="864235" h="144780">
                <a:moveTo>
                  <a:pt x="0" y="144779"/>
                </a:moveTo>
                <a:lnTo>
                  <a:pt x="864108" y="144779"/>
                </a:lnTo>
                <a:lnTo>
                  <a:pt x="864108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724905" y="2925317"/>
            <a:ext cx="360045" cy="287020"/>
          </a:xfrm>
          <a:custGeom>
            <a:avLst/>
            <a:gdLst/>
            <a:ahLst/>
            <a:cxnLst/>
            <a:rect l="l" t="t" r="r" b="b"/>
            <a:pathLst>
              <a:path w="360045" h="287019">
                <a:moveTo>
                  <a:pt x="216408" y="0"/>
                </a:moveTo>
                <a:lnTo>
                  <a:pt x="71628" y="71247"/>
                </a:lnTo>
                <a:lnTo>
                  <a:pt x="0" y="144018"/>
                </a:lnTo>
                <a:lnTo>
                  <a:pt x="71628" y="286512"/>
                </a:lnTo>
                <a:lnTo>
                  <a:pt x="288036" y="215265"/>
                </a:lnTo>
                <a:lnTo>
                  <a:pt x="359664" y="144018"/>
                </a:lnTo>
                <a:lnTo>
                  <a:pt x="216408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724905" y="2925317"/>
            <a:ext cx="360045" cy="287020"/>
          </a:xfrm>
          <a:custGeom>
            <a:avLst/>
            <a:gdLst/>
            <a:ahLst/>
            <a:cxnLst/>
            <a:rect l="l" t="t" r="r" b="b"/>
            <a:pathLst>
              <a:path w="360045" h="287019">
                <a:moveTo>
                  <a:pt x="0" y="144018"/>
                </a:moveTo>
                <a:lnTo>
                  <a:pt x="71628" y="286512"/>
                </a:lnTo>
                <a:lnTo>
                  <a:pt x="288036" y="215265"/>
                </a:lnTo>
                <a:lnTo>
                  <a:pt x="359664" y="144018"/>
                </a:lnTo>
                <a:lnTo>
                  <a:pt x="216408" y="0"/>
                </a:lnTo>
                <a:lnTo>
                  <a:pt x="71628" y="71247"/>
                </a:lnTo>
                <a:lnTo>
                  <a:pt x="0" y="144018"/>
                </a:lnTo>
                <a:close/>
              </a:path>
            </a:pathLst>
          </a:custGeom>
          <a:ln w="28956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76174" y="6399903"/>
            <a:ext cx="2457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8</a:t>
            </a:fld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138" y="164414"/>
            <a:ext cx="5285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is Fault</a:t>
            </a:r>
            <a:r>
              <a:rPr spc="-85" dirty="0"/>
              <a:t> </a:t>
            </a:r>
            <a:r>
              <a:rPr dirty="0"/>
              <a:t>Modeling?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2659"/>
            <a:ext cx="5339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Representing defects at abstracted </a:t>
            </a:r>
            <a:r>
              <a:rPr sz="1800" b="1" dirty="0">
                <a:latin typeface="Arial"/>
                <a:cs typeface="Arial"/>
              </a:rPr>
              <a:t>logic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level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4074" y="1989582"/>
            <a:ext cx="370840" cy="3907790"/>
          </a:xfrm>
          <a:custGeom>
            <a:avLst/>
            <a:gdLst/>
            <a:ahLst/>
            <a:cxnLst/>
            <a:rect l="l" t="t" r="r" b="b"/>
            <a:pathLst>
              <a:path w="370839" h="3907790">
                <a:moveTo>
                  <a:pt x="370331" y="3306191"/>
                </a:moveTo>
                <a:lnTo>
                  <a:pt x="0" y="3306191"/>
                </a:lnTo>
                <a:lnTo>
                  <a:pt x="185165" y="3907535"/>
                </a:lnTo>
                <a:lnTo>
                  <a:pt x="370331" y="3306191"/>
                </a:lnTo>
                <a:close/>
              </a:path>
              <a:path w="370839" h="3907790">
                <a:moveTo>
                  <a:pt x="267462" y="601344"/>
                </a:moveTo>
                <a:lnTo>
                  <a:pt x="102869" y="601344"/>
                </a:lnTo>
                <a:lnTo>
                  <a:pt x="102869" y="3306191"/>
                </a:lnTo>
                <a:lnTo>
                  <a:pt x="267462" y="3306191"/>
                </a:lnTo>
                <a:lnTo>
                  <a:pt x="267462" y="601344"/>
                </a:lnTo>
                <a:close/>
              </a:path>
              <a:path w="370839" h="3907790">
                <a:moveTo>
                  <a:pt x="185165" y="0"/>
                </a:moveTo>
                <a:lnTo>
                  <a:pt x="0" y="601344"/>
                </a:lnTo>
                <a:lnTo>
                  <a:pt x="370331" y="601344"/>
                </a:lnTo>
                <a:lnTo>
                  <a:pt x="185165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54074" y="1989582"/>
            <a:ext cx="370840" cy="3907790"/>
          </a:xfrm>
          <a:custGeom>
            <a:avLst/>
            <a:gdLst/>
            <a:ahLst/>
            <a:cxnLst/>
            <a:rect l="l" t="t" r="r" b="b"/>
            <a:pathLst>
              <a:path w="370839" h="3907790">
                <a:moveTo>
                  <a:pt x="0" y="601344"/>
                </a:moveTo>
                <a:lnTo>
                  <a:pt x="185165" y="0"/>
                </a:lnTo>
                <a:lnTo>
                  <a:pt x="370331" y="601344"/>
                </a:lnTo>
                <a:lnTo>
                  <a:pt x="267462" y="601344"/>
                </a:lnTo>
                <a:lnTo>
                  <a:pt x="267462" y="3306191"/>
                </a:lnTo>
                <a:lnTo>
                  <a:pt x="370331" y="3306191"/>
                </a:lnTo>
                <a:lnTo>
                  <a:pt x="185165" y="3907535"/>
                </a:lnTo>
                <a:lnTo>
                  <a:pt x="0" y="3306191"/>
                </a:lnTo>
                <a:lnTo>
                  <a:pt x="102869" y="3306191"/>
                </a:lnTo>
                <a:lnTo>
                  <a:pt x="102869" y="601344"/>
                </a:lnTo>
                <a:lnTo>
                  <a:pt x="0" y="601344"/>
                </a:lnTo>
                <a:close/>
              </a:path>
            </a:pathLst>
          </a:custGeom>
          <a:ln w="2895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9591" y="1510030"/>
            <a:ext cx="14630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00FF"/>
                </a:solidFill>
                <a:latin typeface="Helvetica"/>
                <a:cs typeface="Helvetica"/>
              </a:rPr>
              <a:t>Higher</a:t>
            </a:r>
            <a:r>
              <a:rPr sz="2000" b="1" spc="-90" dirty="0">
                <a:solidFill>
                  <a:srgbClr val="0000FF"/>
                </a:solidFill>
                <a:latin typeface="Helvetica"/>
                <a:cs typeface="Helvetica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Helvetica"/>
                <a:cs typeface="Helvetica"/>
              </a:rPr>
              <a:t>level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8068" y="6048247"/>
            <a:ext cx="14052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0000FF"/>
                </a:solidFill>
                <a:latin typeface="Helvetica"/>
                <a:cs typeface="Helvetica"/>
              </a:rPr>
              <a:t>Lower</a:t>
            </a:r>
            <a:r>
              <a:rPr sz="2000" b="1" spc="-130" dirty="0">
                <a:solidFill>
                  <a:srgbClr val="0000FF"/>
                </a:solidFill>
                <a:latin typeface="Helvetica"/>
                <a:cs typeface="Helvetica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Helvetica"/>
                <a:cs typeface="Helvetica"/>
              </a:rPr>
              <a:t>level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0570" y="5400876"/>
            <a:ext cx="1594485" cy="3935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95"/>
              </a:spcBef>
            </a:pP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Physical</a:t>
            </a:r>
            <a:endParaRPr sz="2400" dirty="0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71800" y="4319142"/>
            <a:ext cx="838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Logic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44545" y="3094431"/>
            <a:ext cx="14312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I/O</a:t>
            </a:r>
            <a:r>
              <a:rPr sz="2400" b="1" spc="-1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Helvetica"/>
                <a:cs typeface="Helvetica"/>
              </a:rPr>
              <a:t>Signal</a:t>
            </a:r>
            <a:endParaRPr sz="2400" dirty="0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50895" y="1726184"/>
            <a:ext cx="1328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B</a:t>
            </a:r>
            <a:r>
              <a:rPr sz="2400" b="1" spc="-15" dirty="0">
                <a:solidFill>
                  <a:srgbClr val="FF0000"/>
                </a:solidFill>
                <a:latin typeface="Helvetica"/>
                <a:cs typeface="Helvetica"/>
              </a:rPr>
              <a:t>e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ha</a:t>
            </a:r>
            <a:r>
              <a:rPr sz="2400" b="1" spc="-15" dirty="0">
                <a:solidFill>
                  <a:srgbClr val="FF0000"/>
                </a:solidFill>
                <a:latin typeface="Helvetica"/>
                <a:cs typeface="Helvetica"/>
              </a:rPr>
              <a:t>v</a:t>
            </a:r>
            <a:r>
              <a:rPr sz="2400" b="1" spc="-5" dirty="0">
                <a:solidFill>
                  <a:srgbClr val="FF0000"/>
                </a:solidFill>
                <a:latin typeface="Helvetica"/>
                <a:cs typeface="Helvetica"/>
              </a:rPr>
              <a:t>ior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33023" y="3973135"/>
            <a:ext cx="2566035" cy="2312035"/>
          </a:xfrm>
          <a:custGeom>
            <a:avLst/>
            <a:gdLst/>
            <a:ahLst/>
            <a:cxnLst/>
            <a:rect l="l" t="t" r="r" b="b"/>
            <a:pathLst>
              <a:path w="2566034" h="2312035">
                <a:moveTo>
                  <a:pt x="0" y="1155867"/>
                </a:moveTo>
                <a:lnTo>
                  <a:pt x="970" y="1110480"/>
                </a:lnTo>
                <a:lnTo>
                  <a:pt x="3859" y="1065536"/>
                </a:lnTo>
                <a:lnTo>
                  <a:pt x="8629" y="1021067"/>
                </a:lnTo>
                <a:lnTo>
                  <a:pt x="15247" y="977106"/>
                </a:lnTo>
                <a:lnTo>
                  <a:pt x="23675" y="933685"/>
                </a:lnTo>
                <a:lnTo>
                  <a:pt x="33878" y="890835"/>
                </a:lnTo>
                <a:lnTo>
                  <a:pt x="45821" y="848590"/>
                </a:lnTo>
                <a:lnTo>
                  <a:pt x="59468" y="806980"/>
                </a:lnTo>
                <a:lnTo>
                  <a:pt x="74783" y="766038"/>
                </a:lnTo>
                <a:lnTo>
                  <a:pt x="91731" y="725797"/>
                </a:lnTo>
                <a:lnTo>
                  <a:pt x="110275" y="686288"/>
                </a:lnTo>
                <a:lnTo>
                  <a:pt x="130381" y="647543"/>
                </a:lnTo>
                <a:lnTo>
                  <a:pt x="152013" y="609595"/>
                </a:lnTo>
                <a:lnTo>
                  <a:pt x="175135" y="572476"/>
                </a:lnTo>
                <a:lnTo>
                  <a:pt x="199711" y="536218"/>
                </a:lnTo>
                <a:lnTo>
                  <a:pt x="225706" y="500852"/>
                </a:lnTo>
                <a:lnTo>
                  <a:pt x="253084" y="466412"/>
                </a:lnTo>
                <a:lnTo>
                  <a:pt x="281810" y="432929"/>
                </a:lnTo>
                <a:lnTo>
                  <a:pt x="311847" y="400435"/>
                </a:lnTo>
                <a:lnTo>
                  <a:pt x="343161" y="368962"/>
                </a:lnTo>
                <a:lnTo>
                  <a:pt x="375715" y="338543"/>
                </a:lnTo>
                <a:lnTo>
                  <a:pt x="409474" y="309210"/>
                </a:lnTo>
                <a:lnTo>
                  <a:pt x="444402" y="280995"/>
                </a:lnTo>
                <a:lnTo>
                  <a:pt x="480464" y="253929"/>
                </a:lnTo>
                <a:lnTo>
                  <a:pt x="517624" y="228045"/>
                </a:lnTo>
                <a:lnTo>
                  <a:pt x="555846" y="203376"/>
                </a:lnTo>
                <a:lnTo>
                  <a:pt x="595095" y="179953"/>
                </a:lnTo>
                <a:lnTo>
                  <a:pt x="635335" y="157808"/>
                </a:lnTo>
                <a:lnTo>
                  <a:pt x="676530" y="136974"/>
                </a:lnTo>
                <a:lnTo>
                  <a:pt x="718645" y="117482"/>
                </a:lnTo>
                <a:lnTo>
                  <a:pt x="761643" y="99365"/>
                </a:lnTo>
                <a:lnTo>
                  <a:pt x="805491" y="82655"/>
                </a:lnTo>
                <a:lnTo>
                  <a:pt x="850151" y="67384"/>
                </a:lnTo>
                <a:lnTo>
                  <a:pt x="895588" y="53585"/>
                </a:lnTo>
                <a:lnTo>
                  <a:pt x="941767" y="41288"/>
                </a:lnTo>
                <a:lnTo>
                  <a:pt x="988651" y="30527"/>
                </a:lnTo>
                <a:lnTo>
                  <a:pt x="1036206" y="21333"/>
                </a:lnTo>
                <a:lnTo>
                  <a:pt x="1084395" y="13738"/>
                </a:lnTo>
                <a:lnTo>
                  <a:pt x="1133183" y="7776"/>
                </a:lnTo>
                <a:lnTo>
                  <a:pt x="1182535" y="3477"/>
                </a:lnTo>
                <a:lnTo>
                  <a:pt x="1232414" y="874"/>
                </a:lnTo>
                <a:lnTo>
                  <a:pt x="1282785" y="0"/>
                </a:lnTo>
                <a:lnTo>
                  <a:pt x="1333150" y="874"/>
                </a:lnTo>
                <a:lnTo>
                  <a:pt x="1383024" y="3477"/>
                </a:lnTo>
                <a:lnTo>
                  <a:pt x="1432371" y="7776"/>
                </a:lnTo>
                <a:lnTo>
                  <a:pt x="1481154" y="13738"/>
                </a:lnTo>
                <a:lnTo>
                  <a:pt x="1529339" y="21333"/>
                </a:lnTo>
                <a:lnTo>
                  <a:pt x="1576890" y="30527"/>
                </a:lnTo>
                <a:lnTo>
                  <a:pt x="1623771" y="41288"/>
                </a:lnTo>
                <a:lnTo>
                  <a:pt x="1669947" y="53585"/>
                </a:lnTo>
                <a:lnTo>
                  <a:pt x="1715381" y="67384"/>
                </a:lnTo>
                <a:lnTo>
                  <a:pt x="1760039" y="82655"/>
                </a:lnTo>
                <a:lnTo>
                  <a:pt x="1803884" y="99365"/>
                </a:lnTo>
                <a:lnTo>
                  <a:pt x="1846880" y="117482"/>
                </a:lnTo>
                <a:lnTo>
                  <a:pt x="1888993" y="136974"/>
                </a:lnTo>
                <a:lnTo>
                  <a:pt x="1930187" y="157808"/>
                </a:lnTo>
                <a:lnTo>
                  <a:pt x="1970425" y="179953"/>
                </a:lnTo>
                <a:lnTo>
                  <a:pt x="2009673" y="203376"/>
                </a:lnTo>
                <a:lnTo>
                  <a:pt x="2047894" y="228045"/>
                </a:lnTo>
                <a:lnTo>
                  <a:pt x="2085053" y="253929"/>
                </a:lnTo>
                <a:lnTo>
                  <a:pt x="2121114" y="280995"/>
                </a:lnTo>
                <a:lnTo>
                  <a:pt x="2156042" y="309210"/>
                </a:lnTo>
                <a:lnTo>
                  <a:pt x="2189801" y="338543"/>
                </a:lnTo>
                <a:lnTo>
                  <a:pt x="2222355" y="368962"/>
                </a:lnTo>
                <a:lnTo>
                  <a:pt x="2253669" y="400435"/>
                </a:lnTo>
                <a:lnTo>
                  <a:pt x="2283706" y="432929"/>
                </a:lnTo>
                <a:lnTo>
                  <a:pt x="2312432" y="466412"/>
                </a:lnTo>
                <a:lnTo>
                  <a:pt x="2339811" y="500852"/>
                </a:lnTo>
                <a:lnTo>
                  <a:pt x="2365806" y="536218"/>
                </a:lnTo>
                <a:lnTo>
                  <a:pt x="2390383" y="572476"/>
                </a:lnTo>
                <a:lnTo>
                  <a:pt x="2413505" y="609595"/>
                </a:lnTo>
                <a:lnTo>
                  <a:pt x="2435137" y="647543"/>
                </a:lnTo>
                <a:lnTo>
                  <a:pt x="2455244" y="686288"/>
                </a:lnTo>
                <a:lnTo>
                  <a:pt x="2473789" y="725797"/>
                </a:lnTo>
                <a:lnTo>
                  <a:pt x="2490738" y="766038"/>
                </a:lnTo>
                <a:lnTo>
                  <a:pt x="2506053" y="806980"/>
                </a:lnTo>
                <a:lnTo>
                  <a:pt x="2519701" y="848590"/>
                </a:lnTo>
                <a:lnTo>
                  <a:pt x="2531644" y="890835"/>
                </a:lnTo>
                <a:lnTo>
                  <a:pt x="2541848" y="933685"/>
                </a:lnTo>
                <a:lnTo>
                  <a:pt x="2550277" y="977106"/>
                </a:lnTo>
                <a:lnTo>
                  <a:pt x="2556894" y="1021067"/>
                </a:lnTo>
                <a:lnTo>
                  <a:pt x="2561665" y="1065536"/>
                </a:lnTo>
                <a:lnTo>
                  <a:pt x="2564554" y="1110480"/>
                </a:lnTo>
                <a:lnTo>
                  <a:pt x="2565525" y="1155867"/>
                </a:lnTo>
                <a:lnTo>
                  <a:pt x="2564554" y="1201254"/>
                </a:lnTo>
                <a:lnTo>
                  <a:pt x="2561665" y="1246198"/>
                </a:lnTo>
                <a:lnTo>
                  <a:pt x="2556894" y="1290666"/>
                </a:lnTo>
                <a:lnTo>
                  <a:pt x="2550277" y="1334627"/>
                </a:lnTo>
                <a:lnTo>
                  <a:pt x="2541848" y="1378049"/>
                </a:lnTo>
                <a:lnTo>
                  <a:pt x="2531644" y="1420898"/>
                </a:lnTo>
                <a:lnTo>
                  <a:pt x="2519701" y="1463144"/>
                </a:lnTo>
                <a:lnTo>
                  <a:pt x="2506053" y="1504754"/>
                </a:lnTo>
                <a:lnTo>
                  <a:pt x="2490738" y="1545696"/>
                </a:lnTo>
                <a:lnTo>
                  <a:pt x="2473789" y="1585937"/>
                </a:lnTo>
                <a:lnTo>
                  <a:pt x="2455244" y="1625446"/>
                </a:lnTo>
                <a:lnTo>
                  <a:pt x="2435137" y="1664191"/>
                </a:lnTo>
                <a:lnTo>
                  <a:pt x="2413505" y="1702139"/>
                </a:lnTo>
                <a:lnTo>
                  <a:pt x="2390383" y="1739258"/>
                </a:lnTo>
                <a:lnTo>
                  <a:pt x="2365806" y="1775517"/>
                </a:lnTo>
                <a:lnTo>
                  <a:pt x="2339811" y="1810882"/>
                </a:lnTo>
                <a:lnTo>
                  <a:pt x="2312432" y="1845323"/>
                </a:lnTo>
                <a:lnTo>
                  <a:pt x="2283706" y="1878806"/>
                </a:lnTo>
                <a:lnTo>
                  <a:pt x="2253669" y="1911300"/>
                </a:lnTo>
                <a:lnTo>
                  <a:pt x="2222355" y="1942773"/>
                </a:lnTo>
                <a:lnTo>
                  <a:pt x="2189801" y="1973192"/>
                </a:lnTo>
                <a:lnTo>
                  <a:pt x="2156042" y="2002525"/>
                </a:lnTo>
                <a:lnTo>
                  <a:pt x="2121114" y="2030741"/>
                </a:lnTo>
                <a:lnTo>
                  <a:pt x="2085053" y="2057807"/>
                </a:lnTo>
                <a:lnTo>
                  <a:pt x="2047894" y="2083690"/>
                </a:lnTo>
                <a:lnTo>
                  <a:pt x="2009673" y="2108360"/>
                </a:lnTo>
                <a:lnTo>
                  <a:pt x="1970425" y="2131783"/>
                </a:lnTo>
                <a:lnTo>
                  <a:pt x="1930187" y="2153928"/>
                </a:lnTo>
                <a:lnTo>
                  <a:pt x="1888993" y="2174762"/>
                </a:lnTo>
                <a:lnTo>
                  <a:pt x="1846880" y="2194254"/>
                </a:lnTo>
                <a:lnTo>
                  <a:pt x="1803884" y="2212371"/>
                </a:lnTo>
                <a:lnTo>
                  <a:pt x="1760039" y="2229081"/>
                </a:lnTo>
                <a:lnTo>
                  <a:pt x="1715381" y="2244352"/>
                </a:lnTo>
                <a:lnTo>
                  <a:pt x="1669947" y="2258152"/>
                </a:lnTo>
                <a:lnTo>
                  <a:pt x="1623771" y="2270449"/>
                </a:lnTo>
                <a:lnTo>
                  <a:pt x="1576890" y="2281210"/>
                </a:lnTo>
                <a:lnTo>
                  <a:pt x="1529339" y="2290404"/>
                </a:lnTo>
                <a:lnTo>
                  <a:pt x="1481154" y="2297999"/>
                </a:lnTo>
                <a:lnTo>
                  <a:pt x="1432371" y="2303961"/>
                </a:lnTo>
                <a:lnTo>
                  <a:pt x="1383024" y="2308260"/>
                </a:lnTo>
                <a:lnTo>
                  <a:pt x="1333150" y="2310863"/>
                </a:lnTo>
                <a:lnTo>
                  <a:pt x="1282785" y="2311738"/>
                </a:lnTo>
                <a:lnTo>
                  <a:pt x="1232414" y="2310863"/>
                </a:lnTo>
                <a:lnTo>
                  <a:pt x="1182535" y="2308260"/>
                </a:lnTo>
                <a:lnTo>
                  <a:pt x="1133183" y="2303961"/>
                </a:lnTo>
                <a:lnTo>
                  <a:pt x="1084395" y="2297999"/>
                </a:lnTo>
                <a:lnTo>
                  <a:pt x="1036206" y="2290404"/>
                </a:lnTo>
                <a:lnTo>
                  <a:pt x="988651" y="2281211"/>
                </a:lnTo>
                <a:lnTo>
                  <a:pt x="941767" y="2270449"/>
                </a:lnTo>
                <a:lnTo>
                  <a:pt x="895588" y="2258153"/>
                </a:lnTo>
                <a:lnTo>
                  <a:pt x="850151" y="2244353"/>
                </a:lnTo>
                <a:lnTo>
                  <a:pt x="805491" y="2229081"/>
                </a:lnTo>
                <a:lnTo>
                  <a:pt x="761644" y="2212371"/>
                </a:lnTo>
                <a:lnTo>
                  <a:pt x="718645" y="2194254"/>
                </a:lnTo>
                <a:lnTo>
                  <a:pt x="676530" y="2174763"/>
                </a:lnTo>
                <a:lnTo>
                  <a:pt x="635335" y="2153928"/>
                </a:lnTo>
                <a:lnTo>
                  <a:pt x="595095" y="2131784"/>
                </a:lnTo>
                <a:lnTo>
                  <a:pt x="555846" y="2108360"/>
                </a:lnTo>
                <a:lnTo>
                  <a:pt x="517624" y="2083691"/>
                </a:lnTo>
                <a:lnTo>
                  <a:pt x="480465" y="2057807"/>
                </a:lnTo>
                <a:lnTo>
                  <a:pt x="444403" y="2030741"/>
                </a:lnTo>
                <a:lnTo>
                  <a:pt x="409475" y="2002526"/>
                </a:lnTo>
                <a:lnTo>
                  <a:pt x="375716" y="1973192"/>
                </a:lnTo>
                <a:lnTo>
                  <a:pt x="343161" y="1942773"/>
                </a:lnTo>
                <a:lnTo>
                  <a:pt x="311848" y="1911301"/>
                </a:lnTo>
                <a:lnTo>
                  <a:pt x="281810" y="1878807"/>
                </a:lnTo>
                <a:lnTo>
                  <a:pt x="253085" y="1845323"/>
                </a:lnTo>
                <a:lnTo>
                  <a:pt x="225707" y="1810883"/>
                </a:lnTo>
                <a:lnTo>
                  <a:pt x="199712" y="1775517"/>
                </a:lnTo>
                <a:lnTo>
                  <a:pt x="175135" y="1739258"/>
                </a:lnTo>
                <a:lnTo>
                  <a:pt x="152014" y="1702139"/>
                </a:lnTo>
                <a:lnTo>
                  <a:pt x="130382" y="1664191"/>
                </a:lnTo>
                <a:lnTo>
                  <a:pt x="110276" y="1625446"/>
                </a:lnTo>
                <a:lnTo>
                  <a:pt x="91731" y="1585937"/>
                </a:lnTo>
                <a:lnTo>
                  <a:pt x="74783" y="1545696"/>
                </a:lnTo>
                <a:lnTo>
                  <a:pt x="59468" y="1504754"/>
                </a:lnTo>
                <a:lnTo>
                  <a:pt x="45821" y="1463144"/>
                </a:lnTo>
                <a:lnTo>
                  <a:pt x="33878" y="1420898"/>
                </a:lnTo>
                <a:lnTo>
                  <a:pt x="23675" y="1378049"/>
                </a:lnTo>
                <a:lnTo>
                  <a:pt x="15247" y="1334627"/>
                </a:lnTo>
                <a:lnTo>
                  <a:pt x="8630" y="1290666"/>
                </a:lnTo>
                <a:lnTo>
                  <a:pt x="3859" y="1246198"/>
                </a:lnTo>
                <a:lnTo>
                  <a:pt x="970" y="1201254"/>
                </a:lnTo>
                <a:lnTo>
                  <a:pt x="0" y="1155867"/>
                </a:lnTo>
                <a:close/>
              </a:path>
            </a:pathLst>
          </a:custGeom>
          <a:ln w="19562">
            <a:solidFill>
              <a:srgbClr val="3475CD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802676" y="1533010"/>
            <a:ext cx="1026794" cy="770890"/>
          </a:xfrm>
          <a:prstGeom prst="rect">
            <a:avLst/>
          </a:prstGeom>
          <a:ln w="36954">
            <a:solidFill>
              <a:srgbClr val="000000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525"/>
              </a:spcBef>
            </a:pPr>
            <a:r>
              <a:rPr sz="2150" b="1" spc="-10" dirty="0">
                <a:latin typeface="Arial"/>
                <a:cs typeface="Arial"/>
              </a:rPr>
              <a:t>Failure</a:t>
            </a:r>
            <a:endParaRPr sz="2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02676" y="2817277"/>
            <a:ext cx="1026794" cy="770890"/>
          </a:xfrm>
          <a:prstGeom prst="rect">
            <a:avLst/>
          </a:prstGeom>
          <a:ln w="36954">
            <a:solidFill>
              <a:srgbClr val="000000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525"/>
              </a:spcBef>
            </a:pPr>
            <a:r>
              <a:rPr sz="2150" b="1" spc="-10" dirty="0">
                <a:latin typeface="Arial"/>
                <a:cs typeface="Arial"/>
              </a:rPr>
              <a:t>Error</a:t>
            </a:r>
            <a:endParaRPr sz="2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02676" y="4101544"/>
            <a:ext cx="1026794" cy="770890"/>
          </a:xfrm>
          <a:prstGeom prst="rect">
            <a:avLst/>
          </a:prstGeom>
          <a:ln w="36954">
            <a:solidFill>
              <a:srgbClr val="000000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1525"/>
              </a:spcBef>
            </a:pPr>
            <a:r>
              <a:rPr sz="2150" b="1" spc="-10" dirty="0">
                <a:latin typeface="Arial"/>
                <a:cs typeface="Arial"/>
              </a:rPr>
              <a:t>Fault</a:t>
            </a:r>
            <a:endParaRPr sz="21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02676" y="5385874"/>
            <a:ext cx="1026794" cy="770890"/>
          </a:xfrm>
          <a:prstGeom prst="rect">
            <a:avLst/>
          </a:prstGeom>
          <a:ln w="36954">
            <a:solidFill>
              <a:srgbClr val="000000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525"/>
              </a:spcBef>
            </a:pPr>
            <a:r>
              <a:rPr sz="2150" b="1" spc="-10" dirty="0">
                <a:latin typeface="Arial"/>
                <a:cs typeface="Arial"/>
              </a:rPr>
              <a:t>Defect</a:t>
            </a:r>
            <a:endParaRPr sz="21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59224" y="2431979"/>
            <a:ext cx="513080" cy="257175"/>
          </a:xfrm>
          <a:custGeom>
            <a:avLst/>
            <a:gdLst/>
            <a:ahLst/>
            <a:cxnLst/>
            <a:rect l="l" t="t" r="r" b="b"/>
            <a:pathLst>
              <a:path w="513079" h="257175">
                <a:moveTo>
                  <a:pt x="384831" y="85629"/>
                </a:moveTo>
                <a:lnTo>
                  <a:pt x="128246" y="85629"/>
                </a:lnTo>
                <a:lnTo>
                  <a:pt x="128246" y="256889"/>
                </a:lnTo>
                <a:lnTo>
                  <a:pt x="384831" y="256889"/>
                </a:lnTo>
                <a:lnTo>
                  <a:pt x="384831" y="85629"/>
                </a:lnTo>
                <a:close/>
              </a:path>
              <a:path w="513079" h="257175">
                <a:moveTo>
                  <a:pt x="256584" y="0"/>
                </a:moveTo>
                <a:lnTo>
                  <a:pt x="0" y="85629"/>
                </a:lnTo>
                <a:lnTo>
                  <a:pt x="513077" y="85629"/>
                </a:lnTo>
                <a:lnTo>
                  <a:pt x="256584" y="0"/>
                </a:lnTo>
                <a:close/>
              </a:path>
            </a:pathLst>
          </a:custGeom>
          <a:solidFill>
            <a:srgbClr val="DDE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59224" y="2431979"/>
            <a:ext cx="513080" cy="257175"/>
          </a:xfrm>
          <a:custGeom>
            <a:avLst/>
            <a:gdLst/>
            <a:ahLst/>
            <a:cxnLst/>
            <a:rect l="l" t="t" r="r" b="b"/>
            <a:pathLst>
              <a:path w="513079" h="257175">
                <a:moveTo>
                  <a:pt x="384831" y="256889"/>
                </a:moveTo>
                <a:lnTo>
                  <a:pt x="384831" y="85629"/>
                </a:lnTo>
                <a:lnTo>
                  <a:pt x="513077" y="85629"/>
                </a:lnTo>
                <a:lnTo>
                  <a:pt x="256584" y="0"/>
                </a:lnTo>
                <a:lnTo>
                  <a:pt x="0" y="85629"/>
                </a:lnTo>
                <a:lnTo>
                  <a:pt x="128246" y="85629"/>
                </a:lnTo>
                <a:lnTo>
                  <a:pt x="128246" y="256889"/>
                </a:lnTo>
                <a:lnTo>
                  <a:pt x="384831" y="25688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059224" y="3716336"/>
            <a:ext cx="513080" cy="257175"/>
          </a:xfrm>
          <a:custGeom>
            <a:avLst/>
            <a:gdLst/>
            <a:ahLst/>
            <a:cxnLst/>
            <a:rect l="l" t="t" r="r" b="b"/>
            <a:pathLst>
              <a:path w="513079" h="257175">
                <a:moveTo>
                  <a:pt x="384831" y="85539"/>
                </a:moveTo>
                <a:lnTo>
                  <a:pt x="128246" y="85539"/>
                </a:lnTo>
                <a:lnTo>
                  <a:pt x="128246" y="256798"/>
                </a:lnTo>
                <a:lnTo>
                  <a:pt x="384831" y="256798"/>
                </a:lnTo>
                <a:lnTo>
                  <a:pt x="384831" y="85539"/>
                </a:lnTo>
                <a:close/>
              </a:path>
              <a:path w="513079" h="257175">
                <a:moveTo>
                  <a:pt x="256584" y="0"/>
                </a:moveTo>
                <a:lnTo>
                  <a:pt x="0" y="85539"/>
                </a:lnTo>
                <a:lnTo>
                  <a:pt x="513077" y="85539"/>
                </a:lnTo>
                <a:lnTo>
                  <a:pt x="256584" y="0"/>
                </a:lnTo>
                <a:close/>
              </a:path>
            </a:pathLst>
          </a:custGeom>
          <a:solidFill>
            <a:srgbClr val="DDE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59224" y="3716336"/>
            <a:ext cx="513080" cy="257175"/>
          </a:xfrm>
          <a:custGeom>
            <a:avLst/>
            <a:gdLst/>
            <a:ahLst/>
            <a:cxnLst/>
            <a:rect l="l" t="t" r="r" b="b"/>
            <a:pathLst>
              <a:path w="513079" h="257175">
                <a:moveTo>
                  <a:pt x="384831" y="256798"/>
                </a:moveTo>
                <a:lnTo>
                  <a:pt x="384831" y="85539"/>
                </a:lnTo>
                <a:lnTo>
                  <a:pt x="513077" y="85539"/>
                </a:lnTo>
                <a:lnTo>
                  <a:pt x="256584" y="0"/>
                </a:lnTo>
                <a:lnTo>
                  <a:pt x="0" y="85539"/>
                </a:lnTo>
                <a:lnTo>
                  <a:pt x="128246" y="85539"/>
                </a:lnTo>
                <a:lnTo>
                  <a:pt x="128246" y="256798"/>
                </a:lnTo>
                <a:lnTo>
                  <a:pt x="384831" y="2567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59224" y="5000603"/>
            <a:ext cx="513080" cy="257175"/>
          </a:xfrm>
          <a:custGeom>
            <a:avLst/>
            <a:gdLst/>
            <a:ahLst/>
            <a:cxnLst/>
            <a:rect l="l" t="t" r="r" b="b"/>
            <a:pathLst>
              <a:path w="513079" h="257175">
                <a:moveTo>
                  <a:pt x="384831" y="85629"/>
                </a:moveTo>
                <a:lnTo>
                  <a:pt x="128246" y="85629"/>
                </a:lnTo>
                <a:lnTo>
                  <a:pt x="128246" y="256798"/>
                </a:lnTo>
                <a:lnTo>
                  <a:pt x="384831" y="256798"/>
                </a:lnTo>
                <a:lnTo>
                  <a:pt x="384831" y="85629"/>
                </a:lnTo>
                <a:close/>
              </a:path>
              <a:path w="513079" h="257175">
                <a:moveTo>
                  <a:pt x="256584" y="0"/>
                </a:moveTo>
                <a:lnTo>
                  <a:pt x="0" y="85629"/>
                </a:lnTo>
                <a:lnTo>
                  <a:pt x="513077" y="85629"/>
                </a:lnTo>
                <a:lnTo>
                  <a:pt x="256584" y="0"/>
                </a:lnTo>
                <a:close/>
              </a:path>
            </a:pathLst>
          </a:custGeom>
          <a:solidFill>
            <a:srgbClr val="DDE1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59224" y="5000603"/>
            <a:ext cx="513080" cy="257175"/>
          </a:xfrm>
          <a:custGeom>
            <a:avLst/>
            <a:gdLst/>
            <a:ahLst/>
            <a:cxnLst/>
            <a:rect l="l" t="t" r="r" b="b"/>
            <a:pathLst>
              <a:path w="513079" h="257175">
                <a:moveTo>
                  <a:pt x="384831" y="256798"/>
                </a:moveTo>
                <a:lnTo>
                  <a:pt x="384831" y="85629"/>
                </a:lnTo>
                <a:lnTo>
                  <a:pt x="513077" y="85629"/>
                </a:lnTo>
                <a:lnTo>
                  <a:pt x="256584" y="0"/>
                </a:lnTo>
                <a:lnTo>
                  <a:pt x="0" y="85629"/>
                </a:lnTo>
                <a:lnTo>
                  <a:pt x="128246" y="85629"/>
                </a:lnTo>
                <a:lnTo>
                  <a:pt x="128246" y="256798"/>
                </a:lnTo>
                <a:lnTo>
                  <a:pt x="384831" y="2567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7100" y="164414"/>
            <a:ext cx="46215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 </a:t>
            </a:r>
            <a:r>
              <a:rPr spc="-5" dirty="0"/>
              <a:t>Fault</a:t>
            </a:r>
            <a:r>
              <a:rPr spc="-45" dirty="0"/>
              <a:t> </a:t>
            </a:r>
            <a:r>
              <a:rPr spc="-5" dirty="0"/>
              <a:t>Modeling?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7922259" cy="411138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1. Fault model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quantify </a:t>
            </a:r>
            <a:r>
              <a:rPr sz="2000" b="1" dirty="0">
                <a:latin typeface="Arial"/>
                <a:cs typeface="Arial"/>
              </a:rPr>
              <a:t>test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Defects are hard to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handle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  <a:tabLst>
                <a:tab pos="6186805" algn="l"/>
              </a:tabLst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4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How </a:t>
            </a:r>
            <a:r>
              <a:rPr sz="2000" b="1" dirty="0">
                <a:latin typeface="Arial"/>
                <a:cs typeface="Arial"/>
              </a:rPr>
              <a:t>many possible defects in a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?	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Way too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many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Number of faults can be easily calculated in a</a:t>
            </a:r>
            <a:r>
              <a:rPr sz="2000" b="1" spc="-1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Arial"/>
              <a:buChar char="◆"/>
            </a:pPr>
            <a:endParaRPr sz="29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2. Fault models make test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automation</a:t>
            </a:r>
            <a:r>
              <a:rPr sz="2000" b="1" spc="-1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possible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Automatic test pattern generation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(ATPG)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Fault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evaluate </a:t>
            </a:r>
            <a:r>
              <a:rPr sz="2000" b="1" dirty="0">
                <a:latin typeface="Arial"/>
                <a:cs typeface="Arial"/>
              </a:rPr>
              <a:t>test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Automatic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diagnosis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locate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defects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8196" y="5786628"/>
            <a:ext cx="6007735" cy="52324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Automatic </a:t>
            </a:r>
            <a:r>
              <a:rPr sz="2800" b="1" spc="-50" dirty="0">
                <a:solidFill>
                  <a:srgbClr val="FF0000"/>
                </a:solidFill>
                <a:latin typeface="Helvetica"/>
                <a:cs typeface="Helvetica"/>
              </a:rPr>
              <a:t>Tools </a:t>
            </a: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Need Fault</a:t>
            </a:r>
            <a:r>
              <a:rPr sz="2800" b="1" spc="12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Model</a:t>
            </a:r>
            <a:endParaRPr sz="28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5805" y="164414"/>
            <a:ext cx="60210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Test Patterns and Test</a:t>
            </a:r>
            <a:r>
              <a:rPr spc="-95" dirty="0"/>
              <a:t> </a:t>
            </a:r>
            <a:r>
              <a:rPr spc="-5" dirty="0"/>
              <a:t>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7150734" cy="112594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Test pattern, </a:t>
            </a:r>
            <a:r>
              <a:rPr sz="2000" b="1" dirty="0">
                <a:latin typeface="Arial"/>
                <a:cs typeface="Arial"/>
              </a:rPr>
              <a:t>also </a:t>
            </a:r>
            <a:r>
              <a:rPr sz="2000" b="1" spc="5" dirty="0">
                <a:latin typeface="Arial"/>
                <a:cs typeface="Arial"/>
              </a:rPr>
              <a:t>known </a:t>
            </a:r>
            <a:r>
              <a:rPr sz="2000" b="1" dirty="0">
                <a:latin typeface="Arial"/>
                <a:cs typeface="Arial"/>
              </a:rPr>
              <a:t>as (aka):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Test</a:t>
            </a:r>
            <a:r>
              <a:rPr sz="2000" b="1" i="1" spc="-19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Vector</a:t>
            </a:r>
            <a:endParaRPr sz="20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Input Boolean </a:t>
            </a:r>
            <a:r>
              <a:rPr sz="2000" b="1" spc="-5" dirty="0">
                <a:latin typeface="Arial"/>
                <a:cs typeface="Arial"/>
              </a:rPr>
              <a:t>values </a:t>
            </a:r>
            <a:r>
              <a:rPr lang="en-US" sz="2000" b="1" spc="-5" dirty="0">
                <a:latin typeface="Arial"/>
                <a:cs typeface="Arial"/>
              </a:rPr>
              <a:t>to detect one or more</a:t>
            </a:r>
            <a:r>
              <a:rPr sz="2000" b="1" dirty="0">
                <a:latin typeface="Arial"/>
                <a:cs typeface="Arial"/>
              </a:rPr>
              <a:t> fault</a:t>
            </a:r>
            <a:r>
              <a:rPr lang="en-US" sz="2000" b="1" dirty="0"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Expected output often included (but not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required)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756285" indent="-28702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dirty="0">
                <a:solidFill>
                  <a:srgbClr val="000000"/>
                </a:solidFill>
              </a:rPr>
              <a:t>Example: </a:t>
            </a:r>
            <a:r>
              <a:rPr dirty="0"/>
              <a:t>b stuck-at zero</a:t>
            </a:r>
            <a:r>
              <a:rPr spc="-145" dirty="0"/>
              <a:t> </a:t>
            </a:r>
            <a:r>
              <a:rPr dirty="0"/>
              <a:t>fault</a:t>
            </a: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b="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b="0" spc="3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</a:rPr>
              <a:t>Test pattern </a:t>
            </a:r>
            <a:r>
              <a:rPr dirty="0"/>
              <a:t>a=1,</a:t>
            </a:r>
            <a:r>
              <a:rPr spc="-80" dirty="0"/>
              <a:t> </a:t>
            </a:r>
            <a:r>
              <a:rPr dirty="0"/>
              <a:t>b=1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i="1" dirty="0">
                <a:solidFill>
                  <a:srgbClr val="FF0000"/>
                </a:solidFill>
                <a:latin typeface="Arial-BoldItalicMT"/>
                <a:cs typeface="Arial-BoldItalicMT"/>
              </a:rPr>
              <a:t>Test Set </a:t>
            </a:r>
            <a:r>
              <a:rPr dirty="0">
                <a:solidFill>
                  <a:srgbClr val="000000"/>
                </a:solidFill>
              </a:rPr>
              <a:t>= A set of test</a:t>
            </a:r>
            <a:r>
              <a:rPr spc="-1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patterns</a:t>
            </a:r>
          </a:p>
          <a:p>
            <a:pPr marL="743585" marR="514350" lvl="2" indent="-286385"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2863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Example: ab= {11,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00}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0225" y="3827500"/>
            <a:ext cx="6421755" cy="7569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Test Length = </a:t>
            </a:r>
            <a:r>
              <a:rPr sz="2000" b="1" dirty="0">
                <a:latin typeface="Arial"/>
                <a:cs typeface="Arial"/>
              </a:rPr>
              <a:t>Number of test patterns in a test</a:t>
            </a:r>
            <a:r>
              <a:rPr sz="2000" b="1" spc="-1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set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Example: ab= {11, 00},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TL=2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2097" y="2035437"/>
            <a:ext cx="165735" cy="89217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345"/>
              </a:spcBef>
            </a:pPr>
            <a:r>
              <a:rPr sz="1800" b="1" i="1" spc="-5" dirty="0">
                <a:latin typeface="Arial-BoldItalicMT"/>
                <a:cs typeface="Arial-BoldItalicMT"/>
              </a:rPr>
              <a:t>a</a:t>
            </a:r>
            <a:endParaRPr sz="1800">
              <a:latin typeface="Arial-BoldItalicMT"/>
              <a:cs typeface="Arial-BoldItalicMT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sz="1800" b="1" i="1" dirty="0">
                <a:latin typeface="Arial-BoldItalicMT"/>
                <a:cs typeface="Arial-BoldItalicMT"/>
              </a:rPr>
              <a:t>b</a:t>
            </a:r>
            <a:endParaRPr sz="1800">
              <a:latin typeface="Arial-BoldItalicMT"/>
              <a:cs typeface="Arial-BoldItalic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24076" y="2430290"/>
            <a:ext cx="687705" cy="0"/>
          </a:xfrm>
          <a:custGeom>
            <a:avLst/>
            <a:gdLst/>
            <a:ahLst/>
            <a:cxnLst/>
            <a:rect l="l" t="t" r="r" b="b"/>
            <a:pathLst>
              <a:path w="687704">
                <a:moveTo>
                  <a:pt x="0" y="0"/>
                </a:moveTo>
                <a:lnTo>
                  <a:pt x="687308" y="0"/>
                </a:lnTo>
              </a:path>
            </a:pathLst>
          </a:custGeom>
          <a:ln w="290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24076" y="2773172"/>
            <a:ext cx="687705" cy="0"/>
          </a:xfrm>
          <a:custGeom>
            <a:avLst/>
            <a:gdLst/>
            <a:ahLst/>
            <a:cxnLst/>
            <a:rect l="l" t="t" r="r" b="b"/>
            <a:pathLst>
              <a:path w="687704">
                <a:moveTo>
                  <a:pt x="0" y="0"/>
                </a:moveTo>
                <a:lnTo>
                  <a:pt x="687308" y="0"/>
                </a:lnTo>
              </a:path>
            </a:pathLst>
          </a:custGeom>
          <a:ln w="290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11383" y="2601683"/>
            <a:ext cx="687705" cy="0"/>
          </a:xfrm>
          <a:custGeom>
            <a:avLst/>
            <a:gdLst/>
            <a:ahLst/>
            <a:cxnLst/>
            <a:rect l="l" t="t" r="r" b="b"/>
            <a:pathLst>
              <a:path w="687704">
                <a:moveTo>
                  <a:pt x="687308" y="0"/>
                </a:moveTo>
                <a:lnTo>
                  <a:pt x="0" y="0"/>
                </a:lnTo>
              </a:path>
            </a:pathLst>
          </a:custGeom>
          <a:ln w="290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64687" y="2258801"/>
            <a:ext cx="893444" cy="686435"/>
          </a:xfrm>
          <a:custGeom>
            <a:avLst/>
            <a:gdLst/>
            <a:ahLst/>
            <a:cxnLst/>
            <a:rect l="l" t="t" r="r" b="b"/>
            <a:pathLst>
              <a:path w="893445" h="686435">
                <a:moveTo>
                  <a:pt x="268056" y="0"/>
                </a:moveTo>
                <a:lnTo>
                  <a:pt x="0" y="0"/>
                </a:lnTo>
                <a:lnTo>
                  <a:pt x="29168" y="41134"/>
                </a:lnTo>
                <a:lnTo>
                  <a:pt x="54447" y="82961"/>
                </a:lnTo>
                <a:lnTo>
                  <a:pt x="75837" y="125382"/>
                </a:lnTo>
                <a:lnTo>
                  <a:pt x="93338" y="168297"/>
                </a:lnTo>
                <a:lnTo>
                  <a:pt x="106950" y="211608"/>
                </a:lnTo>
                <a:lnTo>
                  <a:pt x="116673" y="255216"/>
                </a:lnTo>
                <a:lnTo>
                  <a:pt x="122507" y="299021"/>
                </a:lnTo>
                <a:lnTo>
                  <a:pt x="124449" y="342978"/>
                </a:lnTo>
                <a:lnTo>
                  <a:pt x="122507" y="386828"/>
                </a:lnTo>
                <a:lnTo>
                  <a:pt x="116673" y="430631"/>
                </a:lnTo>
                <a:lnTo>
                  <a:pt x="106950" y="474237"/>
                </a:lnTo>
                <a:lnTo>
                  <a:pt x="93338" y="517544"/>
                </a:lnTo>
                <a:lnTo>
                  <a:pt x="75837" y="560456"/>
                </a:lnTo>
                <a:lnTo>
                  <a:pt x="54447" y="602872"/>
                </a:lnTo>
                <a:lnTo>
                  <a:pt x="29168" y="644693"/>
                </a:lnTo>
                <a:lnTo>
                  <a:pt x="0" y="685821"/>
                </a:lnTo>
                <a:lnTo>
                  <a:pt x="268057" y="685821"/>
                </a:lnTo>
                <a:lnTo>
                  <a:pt x="324557" y="675448"/>
                </a:lnTo>
                <a:lnTo>
                  <a:pt x="379497" y="662987"/>
                </a:lnTo>
                <a:lnTo>
                  <a:pt x="432748" y="648509"/>
                </a:lnTo>
                <a:lnTo>
                  <a:pt x="484182" y="632085"/>
                </a:lnTo>
                <a:lnTo>
                  <a:pt x="533671" y="613783"/>
                </a:lnTo>
                <a:lnTo>
                  <a:pt x="581087" y="593675"/>
                </a:lnTo>
                <a:lnTo>
                  <a:pt x="626301" y="571831"/>
                </a:lnTo>
                <a:lnTo>
                  <a:pt x="669186" y="548320"/>
                </a:lnTo>
                <a:lnTo>
                  <a:pt x="709613" y="523212"/>
                </a:lnTo>
                <a:lnTo>
                  <a:pt x="747454" y="496579"/>
                </a:lnTo>
                <a:lnTo>
                  <a:pt x="782582" y="468490"/>
                </a:lnTo>
                <a:lnTo>
                  <a:pt x="814868" y="439015"/>
                </a:lnTo>
                <a:lnTo>
                  <a:pt x="844184" y="408225"/>
                </a:lnTo>
                <a:lnTo>
                  <a:pt x="870402" y="376189"/>
                </a:lnTo>
                <a:lnTo>
                  <a:pt x="893394" y="342978"/>
                </a:lnTo>
                <a:lnTo>
                  <a:pt x="870718" y="309616"/>
                </a:lnTo>
                <a:lnTo>
                  <a:pt x="844753" y="277439"/>
                </a:lnTo>
                <a:lnTo>
                  <a:pt x="815631" y="246520"/>
                </a:lnTo>
                <a:lnTo>
                  <a:pt x="783485" y="216930"/>
                </a:lnTo>
                <a:lnTo>
                  <a:pt x="748446" y="188744"/>
                </a:lnTo>
                <a:lnTo>
                  <a:pt x="710646" y="162032"/>
                </a:lnTo>
                <a:lnTo>
                  <a:pt x="670219" y="136869"/>
                </a:lnTo>
                <a:lnTo>
                  <a:pt x="627295" y="113326"/>
                </a:lnTo>
                <a:lnTo>
                  <a:pt x="582008" y="91476"/>
                </a:lnTo>
                <a:lnTo>
                  <a:pt x="534490" y="71392"/>
                </a:lnTo>
                <a:lnTo>
                  <a:pt x="484873" y="53147"/>
                </a:lnTo>
                <a:lnTo>
                  <a:pt x="433288" y="36812"/>
                </a:lnTo>
                <a:lnTo>
                  <a:pt x="379869" y="22461"/>
                </a:lnTo>
                <a:lnTo>
                  <a:pt x="324748" y="10166"/>
                </a:lnTo>
                <a:lnTo>
                  <a:pt x="2680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64687" y="2258802"/>
            <a:ext cx="893444" cy="686435"/>
          </a:xfrm>
          <a:custGeom>
            <a:avLst/>
            <a:gdLst/>
            <a:ahLst/>
            <a:cxnLst/>
            <a:rect l="l" t="t" r="r" b="b"/>
            <a:pathLst>
              <a:path w="893445" h="686435">
                <a:moveTo>
                  <a:pt x="893394" y="342978"/>
                </a:moveTo>
                <a:lnTo>
                  <a:pt x="870402" y="376189"/>
                </a:lnTo>
                <a:lnTo>
                  <a:pt x="844184" y="408225"/>
                </a:lnTo>
                <a:lnTo>
                  <a:pt x="814868" y="439015"/>
                </a:lnTo>
                <a:lnTo>
                  <a:pt x="782582" y="468490"/>
                </a:lnTo>
                <a:lnTo>
                  <a:pt x="747454" y="496579"/>
                </a:lnTo>
                <a:lnTo>
                  <a:pt x="709613" y="523212"/>
                </a:lnTo>
                <a:lnTo>
                  <a:pt x="669186" y="548320"/>
                </a:lnTo>
                <a:lnTo>
                  <a:pt x="626301" y="571831"/>
                </a:lnTo>
                <a:lnTo>
                  <a:pt x="581087" y="593675"/>
                </a:lnTo>
                <a:lnTo>
                  <a:pt x="533671" y="613783"/>
                </a:lnTo>
                <a:lnTo>
                  <a:pt x="484182" y="632085"/>
                </a:lnTo>
                <a:lnTo>
                  <a:pt x="432748" y="648509"/>
                </a:lnTo>
                <a:lnTo>
                  <a:pt x="379497" y="662987"/>
                </a:lnTo>
                <a:lnTo>
                  <a:pt x="324557" y="675448"/>
                </a:lnTo>
                <a:lnTo>
                  <a:pt x="268057" y="685821"/>
                </a:lnTo>
                <a:lnTo>
                  <a:pt x="0" y="685821"/>
                </a:lnTo>
                <a:lnTo>
                  <a:pt x="29168" y="644693"/>
                </a:lnTo>
                <a:lnTo>
                  <a:pt x="54447" y="602872"/>
                </a:lnTo>
                <a:lnTo>
                  <a:pt x="75837" y="560456"/>
                </a:lnTo>
                <a:lnTo>
                  <a:pt x="93338" y="517544"/>
                </a:lnTo>
                <a:lnTo>
                  <a:pt x="106950" y="474237"/>
                </a:lnTo>
                <a:lnTo>
                  <a:pt x="116673" y="430631"/>
                </a:lnTo>
                <a:lnTo>
                  <a:pt x="122507" y="386828"/>
                </a:lnTo>
                <a:lnTo>
                  <a:pt x="124451" y="342925"/>
                </a:lnTo>
                <a:lnTo>
                  <a:pt x="122507" y="299021"/>
                </a:lnTo>
                <a:lnTo>
                  <a:pt x="116673" y="255216"/>
                </a:lnTo>
                <a:lnTo>
                  <a:pt x="106950" y="211608"/>
                </a:lnTo>
                <a:lnTo>
                  <a:pt x="93338" y="168297"/>
                </a:lnTo>
                <a:lnTo>
                  <a:pt x="75837" y="125382"/>
                </a:lnTo>
                <a:lnTo>
                  <a:pt x="54447" y="82961"/>
                </a:lnTo>
                <a:lnTo>
                  <a:pt x="29168" y="41134"/>
                </a:lnTo>
                <a:lnTo>
                  <a:pt x="0" y="0"/>
                </a:lnTo>
                <a:lnTo>
                  <a:pt x="268056" y="0"/>
                </a:lnTo>
                <a:lnTo>
                  <a:pt x="324748" y="10166"/>
                </a:lnTo>
                <a:lnTo>
                  <a:pt x="379869" y="22461"/>
                </a:lnTo>
                <a:lnTo>
                  <a:pt x="433288" y="36812"/>
                </a:lnTo>
                <a:lnTo>
                  <a:pt x="484873" y="53147"/>
                </a:lnTo>
                <a:lnTo>
                  <a:pt x="534490" y="71392"/>
                </a:lnTo>
                <a:lnTo>
                  <a:pt x="582008" y="91476"/>
                </a:lnTo>
                <a:lnTo>
                  <a:pt x="627295" y="113326"/>
                </a:lnTo>
                <a:lnTo>
                  <a:pt x="670219" y="136869"/>
                </a:lnTo>
                <a:lnTo>
                  <a:pt x="710646" y="162032"/>
                </a:lnTo>
                <a:lnTo>
                  <a:pt x="748446" y="188744"/>
                </a:lnTo>
                <a:lnTo>
                  <a:pt x="783485" y="216930"/>
                </a:lnTo>
                <a:lnTo>
                  <a:pt x="815631" y="246520"/>
                </a:lnTo>
                <a:lnTo>
                  <a:pt x="844753" y="277439"/>
                </a:lnTo>
                <a:lnTo>
                  <a:pt x="870718" y="309616"/>
                </a:lnTo>
                <a:lnTo>
                  <a:pt x="893394" y="342978"/>
                </a:lnTo>
                <a:close/>
              </a:path>
            </a:pathLst>
          </a:custGeom>
          <a:ln w="29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64687" y="2258801"/>
            <a:ext cx="893444" cy="686435"/>
          </a:xfrm>
          <a:custGeom>
            <a:avLst/>
            <a:gdLst/>
            <a:ahLst/>
            <a:cxnLst/>
            <a:rect l="l" t="t" r="r" b="b"/>
            <a:pathLst>
              <a:path w="893445" h="686435">
                <a:moveTo>
                  <a:pt x="549788" y="0"/>
                </a:moveTo>
                <a:lnTo>
                  <a:pt x="0" y="0"/>
                </a:lnTo>
                <a:lnTo>
                  <a:pt x="0" y="685821"/>
                </a:lnTo>
                <a:lnTo>
                  <a:pt x="549788" y="685821"/>
                </a:lnTo>
                <a:lnTo>
                  <a:pt x="596418" y="682690"/>
                </a:lnTo>
                <a:lnTo>
                  <a:pt x="641141" y="673570"/>
                </a:lnTo>
                <a:lnTo>
                  <a:pt x="683545" y="658870"/>
                </a:lnTo>
                <a:lnTo>
                  <a:pt x="723223" y="638998"/>
                </a:lnTo>
                <a:lnTo>
                  <a:pt x="759766" y="614363"/>
                </a:lnTo>
                <a:lnTo>
                  <a:pt x="792763" y="585373"/>
                </a:lnTo>
                <a:lnTo>
                  <a:pt x="821807" y="552438"/>
                </a:lnTo>
                <a:lnTo>
                  <a:pt x="846487" y="515966"/>
                </a:lnTo>
                <a:lnTo>
                  <a:pt x="866395" y="476366"/>
                </a:lnTo>
                <a:lnTo>
                  <a:pt x="881121" y="434046"/>
                </a:lnTo>
                <a:lnTo>
                  <a:pt x="890257" y="389414"/>
                </a:lnTo>
                <a:lnTo>
                  <a:pt x="893394" y="342881"/>
                </a:lnTo>
                <a:lnTo>
                  <a:pt x="890257" y="296349"/>
                </a:lnTo>
                <a:lnTo>
                  <a:pt x="881121" y="251721"/>
                </a:lnTo>
                <a:lnTo>
                  <a:pt x="866395" y="209406"/>
                </a:lnTo>
                <a:lnTo>
                  <a:pt x="846487" y="169811"/>
                </a:lnTo>
                <a:lnTo>
                  <a:pt x="821806" y="133346"/>
                </a:lnTo>
                <a:lnTo>
                  <a:pt x="792763" y="100418"/>
                </a:lnTo>
                <a:lnTo>
                  <a:pt x="759766" y="71436"/>
                </a:lnTo>
                <a:lnTo>
                  <a:pt x="723223" y="46807"/>
                </a:lnTo>
                <a:lnTo>
                  <a:pt x="683545" y="26941"/>
                </a:lnTo>
                <a:lnTo>
                  <a:pt x="641140" y="12246"/>
                </a:lnTo>
                <a:lnTo>
                  <a:pt x="596418" y="3129"/>
                </a:lnTo>
                <a:lnTo>
                  <a:pt x="5497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64687" y="2258802"/>
            <a:ext cx="893444" cy="686435"/>
          </a:xfrm>
          <a:custGeom>
            <a:avLst/>
            <a:gdLst/>
            <a:ahLst/>
            <a:cxnLst/>
            <a:rect l="l" t="t" r="r" b="b"/>
            <a:pathLst>
              <a:path w="893445" h="686435">
                <a:moveTo>
                  <a:pt x="549788" y="685821"/>
                </a:moveTo>
                <a:lnTo>
                  <a:pt x="0" y="685821"/>
                </a:lnTo>
                <a:lnTo>
                  <a:pt x="0" y="0"/>
                </a:lnTo>
                <a:lnTo>
                  <a:pt x="549788" y="0"/>
                </a:lnTo>
                <a:lnTo>
                  <a:pt x="596418" y="3129"/>
                </a:lnTo>
                <a:lnTo>
                  <a:pt x="641140" y="12246"/>
                </a:lnTo>
                <a:lnTo>
                  <a:pt x="683545" y="26941"/>
                </a:lnTo>
                <a:lnTo>
                  <a:pt x="723223" y="46807"/>
                </a:lnTo>
                <a:lnTo>
                  <a:pt x="759766" y="71436"/>
                </a:lnTo>
                <a:lnTo>
                  <a:pt x="792763" y="100418"/>
                </a:lnTo>
                <a:lnTo>
                  <a:pt x="821806" y="133346"/>
                </a:lnTo>
                <a:lnTo>
                  <a:pt x="846487" y="169811"/>
                </a:lnTo>
                <a:lnTo>
                  <a:pt x="866395" y="209406"/>
                </a:lnTo>
                <a:lnTo>
                  <a:pt x="881121" y="251721"/>
                </a:lnTo>
                <a:lnTo>
                  <a:pt x="890257" y="296349"/>
                </a:lnTo>
                <a:lnTo>
                  <a:pt x="893394" y="342881"/>
                </a:lnTo>
                <a:lnTo>
                  <a:pt x="890257" y="389414"/>
                </a:lnTo>
                <a:lnTo>
                  <a:pt x="881121" y="434046"/>
                </a:lnTo>
                <a:lnTo>
                  <a:pt x="866395" y="476366"/>
                </a:lnTo>
                <a:lnTo>
                  <a:pt x="846487" y="515966"/>
                </a:lnTo>
                <a:lnTo>
                  <a:pt x="821807" y="552438"/>
                </a:lnTo>
                <a:lnTo>
                  <a:pt x="792763" y="585373"/>
                </a:lnTo>
                <a:lnTo>
                  <a:pt x="759766" y="614363"/>
                </a:lnTo>
                <a:lnTo>
                  <a:pt x="723223" y="638998"/>
                </a:lnTo>
                <a:lnTo>
                  <a:pt x="683545" y="658870"/>
                </a:lnTo>
                <a:lnTo>
                  <a:pt x="641141" y="673570"/>
                </a:lnTo>
                <a:lnTo>
                  <a:pt x="596418" y="682690"/>
                </a:lnTo>
                <a:lnTo>
                  <a:pt x="549788" y="685821"/>
                </a:lnTo>
                <a:close/>
              </a:path>
            </a:pathLst>
          </a:custGeom>
          <a:ln w="29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36845" y="2773172"/>
            <a:ext cx="687705" cy="829944"/>
          </a:xfrm>
          <a:custGeom>
            <a:avLst/>
            <a:gdLst/>
            <a:ahLst/>
            <a:cxnLst/>
            <a:rect l="l" t="t" r="r" b="b"/>
            <a:pathLst>
              <a:path w="687704" h="829945">
                <a:moveTo>
                  <a:pt x="687230" y="0"/>
                </a:moveTo>
                <a:lnTo>
                  <a:pt x="0" y="0"/>
                </a:lnTo>
                <a:lnTo>
                  <a:pt x="0" y="829844"/>
                </a:lnTo>
              </a:path>
            </a:pathLst>
          </a:custGeom>
          <a:ln w="2906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99393" y="3603017"/>
            <a:ext cx="274955" cy="0"/>
          </a:xfrm>
          <a:custGeom>
            <a:avLst/>
            <a:gdLst/>
            <a:ahLst/>
            <a:cxnLst/>
            <a:rect l="l" t="t" r="r" b="b"/>
            <a:pathLst>
              <a:path w="274954">
                <a:moveTo>
                  <a:pt x="0" y="0"/>
                </a:moveTo>
                <a:lnTo>
                  <a:pt x="274903" y="0"/>
                </a:lnTo>
              </a:path>
            </a:pathLst>
          </a:custGeom>
          <a:ln w="290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61931" y="3603017"/>
            <a:ext cx="549910" cy="0"/>
          </a:xfrm>
          <a:custGeom>
            <a:avLst/>
            <a:gdLst/>
            <a:ahLst/>
            <a:cxnLst/>
            <a:rect l="l" t="t" r="r" b="b"/>
            <a:pathLst>
              <a:path w="549910">
                <a:moveTo>
                  <a:pt x="0" y="0"/>
                </a:moveTo>
                <a:lnTo>
                  <a:pt x="549817" y="0"/>
                </a:lnTo>
              </a:path>
            </a:pathLst>
          </a:custGeom>
          <a:ln w="290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99393" y="3740179"/>
            <a:ext cx="274955" cy="0"/>
          </a:xfrm>
          <a:custGeom>
            <a:avLst/>
            <a:gdLst/>
            <a:ahLst/>
            <a:cxnLst/>
            <a:rect l="l" t="t" r="r" b="b"/>
            <a:pathLst>
              <a:path w="274954">
                <a:moveTo>
                  <a:pt x="0" y="0"/>
                </a:moveTo>
                <a:lnTo>
                  <a:pt x="274903" y="0"/>
                </a:lnTo>
              </a:path>
            </a:pathLst>
          </a:custGeom>
          <a:ln w="290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87028" y="2780043"/>
            <a:ext cx="549910" cy="27940"/>
          </a:xfrm>
          <a:custGeom>
            <a:avLst/>
            <a:gdLst/>
            <a:ahLst/>
            <a:cxnLst/>
            <a:rect l="l" t="t" r="r" b="b"/>
            <a:pathLst>
              <a:path w="549910" h="27939">
                <a:moveTo>
                  <a:pt x="0" y="0"/>
                </a:moveTo>
                <a:lnTo>
                  <a:pt x="549817" y="0"/>
                </a:lnTo>
                <a:lnTo>
                  <a:pt x="549817" y="27388"/>
                </a:lnTo>
              </a:path>
            </a:pathLst>
          </a:custGeom>
          <a:ln w="29033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87027" y="2423419"/>
            <a:ext cx="1237615" cy="6985"/>
          </a:xfrm>
          <a:custGeom>
            <a:avLst/>
            <a:gdLst/>
            <a:ahLst/>
            <a:cxnLst/>
            <a:rect l="l" t="t" r="r" b="b"/>
            <a:pathLst>
              <a:path w="1237615" h="6985">
                <a:moveTo>
                  <a:pt x="0" y="0"/>
                </a:moveTo>
                <a:lnTo>
                  <a:pt x="1237048" y="6871"/>
                </a:lnTo>
              </a:path>
            </a:pathLst>
          </a:custGeom>
          <a:ln w="290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984248" y="5590032"/>
            <a:ext cx="5175885" cy="521334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Shorter TL = </a:t>
            </a:r>
            <a:r>
              <a:rPr sz="2800" b="1" spc="-10" dirty="0">
                <a:solidFill>
                  <a:srgbClr val="FF0000"/>
                </a:solidFill>
                <a:latin typeface="Helvetica"/>
                <a:cs typeface="Helvetica"/>
              </a:rPr>
              <a:t>Lower </a:t>
            </a:r>
            <a:r>
              <a:rPr sz="2800" b="1" spc="-55" dirty="0">
                <a:solidFill>
                  <a:srgbClr val="FF0000"/>
                </a:solidFill>
                <a:latin typeface="Helvetica"/>
                <a:cs typeface="Helvetica"/>
              </a:rPr>
              <a:t>Test</a:t>
            </a:r>
            <a:r>
              <a:rPr sz="2800" b="1" spc="-3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Cost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2067" y="164414"/>
            <a:ext cx="43688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 </a:t>
            </a:r>
            <a:r>
              <a:rPr dirty="0"/>
              <a:t>Coverage</a:t>
            </a:r>
            <a:r>
              <a:rPr spc="-60" dirty="0"/>
              <a:t> </a:t>
            </a:r>
            <a:r>
              <a:rPr spc="-5" dirty="0"/>
              <a:t>(FC)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125" y="2058670"/>
            <a:ext cx="8494675" cy="3296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b="1" dirty="0">
                <a:latin typeface="Arial"/>
                <a:cs typeface="Arial"/>
              </a:rPr>
              <a:t>Between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0-100%</a:t>
            </a:r>
            <a:endParaRPr sz="2000" dirty="0">
              <a:latin typeface="Arial"/>
              <a:cs typeface="Arial"/>
            </a:endParaRPr>
          </a:p>
          <a:p>
            <a:pPr marL="3937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b="1" dirty="0">
                <a:latin typeface="Arial"/>
                <a:cs typeface="Arial"/>
              </a:rPr>
              <a:t>FC is most </a:t>
            </a:r>
            <a:r>
              <a:rPr sz="2000" b="1" spc="5" dirty="0">
                <a:latin typeface="Arial"/>
                <a:cs typeface="Arial"/>
              </a:rPr>
              <a:t>widely </a:t>
            </a:r>
            <a:r>
              <a:rPr sz="2000" b="1" dirty="0">
                <a:latin typeface="Arial"/>
                <a:cs typeface="Arial"/>
              </a:rPr>
              <a:t>used </a:t>
            </a:r>
            <a:r>
              <a:rPr lang="en-US" sz="2000" b="1" dirty="0">
                <a:latin typeface="Arial"/>
                <a:cs typeface="Arial"/>
              </a:rPr>
              <a:t>as </a:t>
            </a:r>
            <a:r>
              <a:rPr sz="2000" b="1" spc="-5" dirty="0">
                <a:latin typeface="Arial"/>
                <a:cs typeface="Arial"/>
              </a:rPr>
              <a:t>quantitative </a:t>
            </a:r>
            <a:r>
              <a:rPr sz="2000" b="1" dirty="0">
                <a:latin typeface="Arial"/>
                <a:cs typeface="Arial"/>
              </a:rPr>
              <a:t>measure of test set</a:t>
            </a:r>
            <a:r>
              <a:rPr sz="2000" b="1" spc="-2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quality</a:t>
            </a:r>
            <a:endParaRPr sz="2000" dirty="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Higher fault </a:t>
            </a:r>
            <a:r>
              <a:rPr sz="2000" b="1" spc="-5" dirty="0">
                <a:latin typeface="Arial"/>
                <a:cs typeface="Arial"/>
              </a:rPr>
              <a:t>coverage implies </a:t>
            </a:r>
            <a:r>
              <a:rPr sz="2000" b="1" dirty="0">
                <a:latin typeface="Arial"/>
                <a:cs typeface="Arial"/>
              </a:rPr>
              <a:t>more </a:t>
            </a:r>
            <a:r>
              <a:rPr sz="2000" b="1" spc="-5" dirty="0">
                <a:latin typeface="Arial"/>
                <a:cs typeface="Arial"/>
              </a:rPr>
              <a:t>effective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tests</a:t>
            </a:r>
            <a:endParaRPr sz="2000" dirty="0">
              <a:latin typeface="Arial"/>
              <a:cs typeface="Arial"/>
            </a:endParaRPr>
          </a:p>
          <a:p>
            <a:pPr marL="1651000" lvl="1" indent="-22923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0000"/>
              <a:buFont typeface="Arial"/>
              <a:buChar char="−"/>
              <a:tabLst>
                <a:tab pos="1651000" algn="l"/>
                <a:tab pos="1651635" algn="l"/>
              </a:tabLst>
            </a:pPr>
            <a:r>
              <a:rPr sz="2000" b="1" dirty="0">
                <a:latin typeface="Arial"/>
                <a:cs typeface="Arial"/>
              </a:rPr>
              <a:t>0-70% </a:t>
            </a:r>
            <a:r>
              <a:rPr sz="2000" spc="350" dirty="0">
                <a:latin typeface="Arial Unicode MS"/>
                <a:cs typeface="Arial Unicode MS"/>
              </a:rPr>
              <a:t>➔</a:t>
            </a:r>
            <a:r>
              <a:rPr sz="2000" spc="-70" dirty="0">
                <a:latin typeface="Arial Unicode MS"/>
                <a:cs typeface="Arial Unicode MS"/>
              </a:rPr>
              <a:t> </a:t>
            </a:r>
            <a:r>
              <a:rPr sz="2000" b="1" dirty="0">
                <a:latin typeface="Arial"/>
                <a:cs typeface="Arial"/>
              </a:rPr>
              <a:t>not good</a:t>
            </a:r>
            <a:endParaRPr sz="2000" dirty="0">
              <a:latin typeface="Arial"/>
              <a:cs typeface="Arial"/>
            </a:endParaRPr>
          </a:p>
          <a:p>
            <a:pPr marL="1651000" lvl="1" indent="-229235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0000"/>
              <a:buFont typeface="Arial"/>
              <a:buChar char="−"/>
              <a:tabLst>
                <a:tab pos="1651000" algn="l"/>
                <a:tab pos="1651635" algn="l"/>
              </a:tabLst>
            </a:pPr>
            <a:r>
              <a:rPr sz="2000" b="1" dirty="0">
                <a:latin typeface="Arial"/>
                <a:cs typeface="Arial"/>
              </a:rPr>
              <a:t>70-95% </a:t>
            </a:r>
            <a:r>
              <a:rPr sz="2000" spc="350" dirty="0">
                <a:latin typeface="Arial Unicode MS"/>
                <a:cs typeface="Arial Unicode MS"/>
              </a:rPr>
              <a:t>➔</a:t>
            </a:r>
            <a:r>
              <a:rPr sz="2000" spc="-80" dirty="0">
                <a:latin typeface="Arial Unicode MS"/>
                <a:cs typeface="Arial Unicode MS"/>
              </a:rPr>
              <a:t> </a:t>
            </a:r>
            <a:r>
              <a:rPr sz="2000" b="1" dirty="0">
                <a:latin typeface="Arial"/>
                <a:cs typeface="Arial"/>
              </a:rPr>
              <a:t>sometimes acceptable</a:t>
            </a:r>
            <a:endParaRPr sz="2000" dirty="0">
              <a:latin typeface="Arial"/>
              <a:cs typeface="Arial"/>
            </a:endParaRPr>
          </a:p>
          <a:p>
            <a:pPr marL="1422400">
              <a:lnSpc>
                <a:spcPct val="100000"/>
              </a:lnSpc>
              <a:spcBef>
                <a:spcPts val="480"/>
              </a:spcBef>
              <a:tabLst>
                <a:tab pos="1651000" algn="l"/>
              </a:tabLst>
            </a:pPr>
            <a:r>
              <a:rPr sz="1400" spc="-50" dirty="0">
                <a:solidFill>
                  <a:srgbClr val="FF0000"/>
                </a:solidFill>
                <a:latin typeface="Arial"/>
                <a:cs typeface="Arial"/>
              </a:rPr>
              <a:t>−	</a:t>
            </a:r>
            <a:r>
              <a:rPr sz="2000" b="1" dirty="0">
                <a:latin typeface="Arial"/>
                <a:cs typeface="Arial"/>
              </a:rPr>
              <a:t>95-100% </a:t>
            </a:r>
            <a:r>
              <a:rPr sz="2000" spc="350" dirty="0">
                <a:latin typeface="Arial Unicode MS"/>
                <a:cs typeface="Arial Unicode MS"/>
              </a:rPr>
              <a:t>➔</a:t>
            </a:r>
            <a:r>
              <a:rPr sz="2000" spc="-50" dirty="0">
                <a:latin typeface="Arial Unicode MS"/>
                <a:cs typeface="Arial Unicode MS"/>
              </a:rPr>
              <a:t> </a:t>
            </a:r>
            <a:r>
              <a:rPr sz="2000" b="1" spc="-5" dirty="0">
                <a:latin typeface="Arial"/>
                <a:cs typeface="Arial"/>
              </a:rPr>
              <a:t>good</a:t>
            </a:r>
            <a:endParaRPr sz="2000" dirty="0">
              <a:latin typeface="Arial"/>
              <a:cs typeface="Arial"/>
            </a:endParaRPr>
          </a:p>
          <a:p>
            <a:pPr marL="1422400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Arial"/>
                <a:cs typeface="Arial"/>
              </a:rPr>
              <a:t>(Standard depends on company and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products)</a:t>
            </a:r>
            <a:endParaRPr sz="2000" dirty="0">
              <a:latin typeface="Arial"/>
              <a:cs typeface="Arial"/>
            </a:endParaRPr>
          </a:p>
          <a:p>
            <a:pPr marL="3937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b="1" dirty="0">
                <a:latin typeface="Arial"/>
                <a:cs typeface="Arial"/>
              </a:rPr>
              <a:t>In Brown &amp; </a:t>
            </a:r>
            <a:r>
              <a:rPr sz="2000" b="1" spc="-5" dirty="0">
                <a:latin typeface="Arial"/>
                <a:cs typeface="Arial"/>
              </a:rPr>
              <a:t>Williams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model,</a:t>
            </a:r>
            <a:endParaRPr sz="2000" dirty="0">
              <a:latin typeface="Arial"/>
              <a:cs typeface="Arial"/>
            </a:endParaRPr>
          </a:p>
          <a:p>
            <a:pPr marL="794385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Defect Level = </a:t>
            </a:r>
            <a:r>
              <a:rPr sz="2000" b="1" i="1" spc="5" dirty="0">
                <a:solidFill>
                  <a:srgbClr val="0000FF"/>
                </a:solidFill>
                <a:latin typeface="Arial-BoldItalicMT"/>
                <a:cs typeface="Arial-BoldItalicMT"/>
              </a:rPr>
              <a:t>1-Y</a:t>
            </a:r>
            <a:r>
              <a:rPr sz="2000" b="1" i="1" spc="-100" dirty="0">
                <a:solidFill>
                  <a:srgbClr val="0000FF"/>
                </a:solidFill>
                <a:latin typeface="Arial-BoldItalicMT"/>
                <a:cs typeface="Arial-BoldItalicMT"/>
              </a:rPr>
              <a:t> </a:t>
            </a:r>
            <a:r>
              <a:rPr sz="1950" b="1" i="1" spc="22" baseline="25641" dirty="0">
                <a:solidFill>
                  <a:srgbClr val="0000FF"/>
                </a:solidFill>
                <a:latin typeface="Arial-BoldItalicMT"/>
                <a:cs typeface="Arial-BoldItalicMT"/>
              </a:rPr>
              <a:t>(1-FC)</a:t>
            </a:r>
            <a:endParaRPr sz="1950" baseline="25641" dirty="0">
              <a:latin typeface="Arial-BoldItalicMT"/>
              <a:cs typeface="Arial-BoldItalic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3000" y="5876544"/>
            <a:ext cx="6934200" cy="468718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95"/>
              </a:spcBef>
            </a:pP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Higher FC </a:t>
            </a:r>
            <a:r>
              <a:rPr lang="en-US" sz="2800" b="1" spc="-5" dirty="0">
                <a:solidFill>
                  <a:srgbClr val="FF0000"/>
                </a:solidFill>
                <a:latin typeface="Helvetica"/>
                <a:cs typeface="Helvetica"/>
              </a:rPr>
              <a:t>results in</a:t>
            </a: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n-US" sz="2800" b="1" spc="-5" dirty="0">
                <a:solidFill>
                  <a:srgbClr val="FF0000"/>
                </a:solidFill>
                <a:latin typeface="Helvetica"/>
                <a:cs typeface="Helvetica"/>
              </a:rPr>
              <a:t>Lower Defect Level</a:t>
            </a:r>
            <a:endParaRPr sz="2800" dirty="0">
              <a:latin typeface="Helvetica"/>
              <a:cs typeface="Helvetic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FB3241-44F8-287B-0B74-FDC39A5E6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558" y="833784"/>
            <a:ext cx="6417817" cy="10712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9465">
              <a:lnSpc>
                <a:spcPct val="100000"/>
              </a:lnSpc>
              <a:spcBef>
                <a:spcPts val="100"/>
              </a:spcBef>
            </a:pPr>
            <a:r>
              <a:rPr dirty="0"/>
              <a:t>Q</a:t>
            </a:r>
            <a:r>
              <a:rPr spc="-15" dirty="0"/>
              <a:t>u</a:t>
            </a:r>
            <a:r>
              <a:rPr dirty="0"/>
              <a:t>iz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8075980" cy="1065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  <a:tab pos="2553335" algn="l"/>
              </a:tabLst>
            </a:pPr>
            <a:r>
              <a:rPr lang="en-US" sz="2000" b="1" spc="-5" dirty="0">
                <a:latin typeface="Arial"/>
                <a:cs typeface="Arial"/>
              </a:rPr>
              <a:t>You are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asked to </a:t>
            </a:r>
            <a:r>
              <a:rPr sz="2000" b="1" spc="-5" dirty="0">
                <a:latin typeface="Arial"/>
                <a:cs typeface="Arial"/>
              </a:rPr>
              <a:t>pick </a:t>
            </a:r>
            <a:r>
              <a:rPr sz="2000" b="1" dirty="0">
                <a:latin typeface="Arial"/>
                <a:cs typeface="Arial"/>
              </a:rPr>
              <a:t>2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patterns…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Suppose </a:t>
            </a:r>
            <a:r>
              <a:rPr sz="2000" b="1" spc="-15" dirty="0">
                <a:latin typeface="Arial"/>
                <a:cs typeface="Arial"/>
              </a:rPr>
              <a:t>you </a:t>
            </a:r>
            <a:r>
              <a:rPr sz="2000" b="1" dirty="0">
                <a:latin typeface="Arial"/>
                <a:cs typeface="Arial"/>
              </a:rPr>
              <a:t>picked {11, 00} for AND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gate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both output 1 and 0 functions are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tested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225" y="3887851"/>
            <a:ext cx="4809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  <a:tab pos="1242695" algn="l"/>
              </a:tabLst>
            </a:pPr>
            <a:r>
              <a:rPr sz="2000" b="1" dirty="0">
                <a:latin typeface="Arial"/>
                <a:cs typeface="Arial"/>
              </a:rPr>
              <a:t>Table:	total six single stuck-at</a:t>
            </a:r>
            <a:r>
              <a:rPr sz="2000" b="1" spc="-1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2133600"/>
            <a:ext cx="6669576" cy="654666"/>
          </a:xfrm>
          <a:prstGeom prst="rect">
            <a:avLst/>
          </a:prstGeom>
          <a:solidFill>
            <a:srgbClr val="66FF66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805" marR="759460">
              <a:lnSpc>
                <a:spcPct val="100000"/>
              </a:lnSpc>
              <a:spcBef>
                <a:spcPts val="305"/>
              </a:spcBef>
            </a:pPr>
            <a:r>
              <a:rPr sz="2000" b="1" dirty="0">
                <a:latin typeface="Helvetica"/>
                <a:cs typeface="Helvetica"/>
              </a:rPr>
              <a:t>Q: What is single stuck-at fault</a:t>
            </a:r>
            <a:r>
              <a:rPr sz="2000" b="1" spc="-155" dirty="0">
                <a:latin typeface="Helvetica"/>
                <a:cs typeface="Helvetica"/>
              </a:rPr>
              <a:t> </a:t>
            </a:r>
            <a:r>
              <a:rPr lang="en-US" sz="2000" b="1" spc="-155" dirty="0">
                <a:latin typeface="Helvetica"/>
                <a:cs typeface="Helvetica"/>
              </a:rPr>
              <a:t>(SSF) </a:t>
            </a:r>
            <a:r>
              <a:rPr sz="2000" b="1" spc="-5" dirty="0">
                <a:latin typeface="Helvetica"/>
                <a:cs typeface="Helvetica"/>
              </a:rPr>
              <a:t>coverage?  </a:t>
            </a:r>
            <a:r>
              <a:rPr sz="2000" b="1" dirty="0">
                <a:latin typeface="Helvetica"/>
                <a:cs typeface="Helvetica"/>
              </a:rPr>
              <a:t>A:</a:t>
            </a:r>
            <a:endParaRPr sz="2000" dirty="0">
              <a:latin typeface="Helvetica"/>
              <a:cs typeface="Helvetic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52481" y="4282187"/>
          <a:ext cx="7547608" cy="13789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9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4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4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0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43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3995">
                <a:tc>
                  <a:txBody>
                    <a:bodyPr/>
                    <a:lstStyle/>
                    <a:p>
                      <a:pPr marL="635" algn="ctr">
                        <a:lnSpc>
                          <a:spcPts val="254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Input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80365" marR="197485" indent="-175895">
                        <a:lnSpc>
                          <a:spcPts val="2500"/>
                        </a:lnSpc>
                        <a:spcBef>
                          <a:spcPts val="110"/>
                        </a:spcBef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Fa</a:t>
                      </a:r>
                      <a:r>
                        <a:rPr sz="2150" spc="-10" dirty="0">
                          <a:latin typeface="Helvetica"/>
                          <a:cs typeface="Helvetica"/>
                        </a:rPr>
                        <a:t>u</a:t>
                      </a:r>
                      <a:r>
                        <a:rPr sz="2150" spc="-15" dirty="0">
                          <a:latin typeface="Helvetica"/>
                          <a:cs typeface="Helvetica"/>
                        </a:rPr>
                        <a:t>l</a:t>
                      </a:r>
                      <a:r>
                        <a:rPr sz="2150" spc="-5" dirty="0">
                          <a:latin typeface="Helvetica"/>
                          <a:cs typeface="Helvetica"/>
                        </a:rPr>
                        <a:t>t</a:t>
                      </a:r>
                      <a:r>
                        <a:rPr sz="2150" spc="5" dirty="0">
                          <a:latin typeface="Helvetica"/>
                          <a:cs typeface="Helvetica"/>
                        </a:rPr>
                        <a:t>-</a:t>
                      </a:r>
                      <a:r>
                        <a:rPr sz="2150" spc="15" dirty="0">
                          <a:latin typeface="Helvetica"/>
                          <a:cs typeface="Helvetica"/>
                        </a:rPr>
                        <a:t>f</a:t>
                      </a:r>
                      <a:r>
                        <a:rPr sz="2150" spc="5" dirty="0">
                          <a:latin typeface="Helvetica"/>
                          <a:cs typeface="Helvetica"/>
                        </a:rPr>
                        <a:t>r</a:t>
                      </a:r>
                      <a:r>
                        <a:rPr sz="2150" spc="-10" dirty="0">
                          <a:latin typeface="Helvetica"/>
                          <a:cs typeface="Helvetica"/>
                        </a:rPr>
                        <a:t>e</a:t>
                      </a:r>
                      <a:r>
                        <a:rPr sz="2150" dirty="0">
                          <a:latin typeface="Helvetica"/>
                          <a:cs typeface="Helvetica"/>
                        </a:rPr>
                        <a:t>e  Output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139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ts val="2540"/>
                        </a:lnSpc>
                      </a:pPr>
                      <a:r>
                        <a:rPr sz="2150" spc="5" dirty="0">
                          <a:latin typeface="Helvetica"/>
                          <a:cs typeface="Helvetica"/>
                        </a:rPr>
                        <a:t>Faulty Output Value </a:t>
                      </a:r>
                      <a:r>
                        <a:rPr sz="2150" dirty="0">
                          <a:latin typeface="Helvetica"/>
                          <a:cs typeface="Helvetica"/>
                        </a:rPr>
                        <a:t>with</a:t>
                      </a:r>
                      <a:r>
                        <a:rPr sz="2150" spc="10" dirty="0">
                          <a:latin typeface="Helvetica"/>
                          <a:cs typeface="Helvetica"/>
                        </a:rPr>
                        <a:t> SSF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995">
                <a:tc>
                  <a:txBody>
                    <a:bodyPr/>
                    <a:lstStyle/>
                    <a:p>
                      <a:pPr algn="ctr">
                        <a:lnSpc>
                          <a:spcPts val="2540"/>
                        </a:lnSpc>
                      </a:pPr>
                      <a:r>
                        <a:rPr sz="2150" i="1" spc="5" dirty="0">
                          <a:latin typeface="Helvetica"/>
                          <a:cs typeface="Helvetica"/>
                        </a:rPr>
                        <a:t>a</a:t>
                      </a:r>
                      <a:r>
                        <a:rPr sz="2150" i="1" spc="-2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150" i="1" spc="5" dirty="0">
                          <a:latin typeface="Helvetica"/>
                          <a:cs typeface="Helvetica"/>
                        </a:rPr>
                        <a:t>b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0"/>
                        </a:lnSpc>
                      </a:pPr>
                      <a:r>
                        <a:rPr sz="2150" i="1" dirty="0">
                          <a:latin typeface="Helvetica"/>
                          <a:cs typeface="Helvetica"/>
                        </a:rPr>
                        <a:t>a</a:t>
                      </a:r>
                      <a:r>
                        <a:rPr sz="2150" dirty="0">
                          <a:latin typeface="Helvetica"/>
                          <a:cs typeface="Helvetica"/>
                        </a:rPr>
                        <a:t>/0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0"/>
                        </a:lnSpc>
                      </a:pPr>
                      <a:r>
                        <a:rPr sz="2150" i="1" dirty="0">
                          <a:latin typeface="Helvetica"/>
                          <a:cs typeface="Helvetica"/>
                        </a:rPr>
                        <a:t>a</a:t>
                      </a:r>
                      <a:r>
                        <a:rPr sz="2150" dirty="0">
                          <a:latin typeface="Helvetica"/>
                          <a:cs typeface="Helvetica"/>
                        </a:rPr>
                        <a:t>/1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0"/>
                        </a:lnSpc>
                      </a:pPr>
                      <a:r>
                        <a:rPr sz="2150" i="1" dirty="0">
                          <a:latin typeface="Helvetica"/>
                          <a:cs typeface="Helvetica"/>
                        </a:rPr>
                        <a:t>b</a:t>
                      </a:r>
                      <a:r>
                        <a:rPr sz="2150" dirty="0">
                          <a:latin typeface="Helvetica"/>
                          <a:cs typeface="Helvetica"/>
                        </a:rPr>
                        <a:t>/0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0"/>
                        </a:lnSpc>
                      </a:pPr>
                      <a:r>
                        <a:rPr sz="2150" i="1" dirty="0">
                          <a:latin typeface="Helvetica"/>
                          <a:cs typeface="Helvetica"/>
                        </a:rPr>
                        <a:t>b</a:t>
                      </a:r>
                      <a:r>
                        <a:rPr sz="2150" dirty="0">
                          <a:latin typeface="Helvetica"/>
                          <a:cs typeface="Helvetica"/>
                        </a:rPr>
                        <a:t>/1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540"/>
                        </a:lnSpc>
                      </a:pPr>
                      <a:r>
                        <a:rPr sz="2150" i="1" spc="5" dirty="0">
                          <a:latin typeface="Helvetica"/>
                          <a:cs typeface="Helvetica"/>
                        </a:rPr>
                        <a:t>c</a:t>
                      </a:r>
                      <a:r>
                        <a:rPr sz="2150" spc="5" dirty="0">
                          <a:latin typeface="Helvetica"/>
                          <a:cs typeface="Helvetica"/>
                        </a:rPr>
                        <a:t>/0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540"/>
                        </a:lnSpc>
                      </a:pPr>
                      <a:r>
                        <a:rPr sz="2150" i="1" spc="5" dirty="0">
                          <a:latin typeface="Helvetica"/>
                          <a:cs typeface="Helvetica"/>
                        </a:rPr>
                        <a:t>c</a:t>
                      </a:r>
                      <a:r>
                        <a:rPr sz="2150" spc="5" dirty="0">
                          <a:latin typeface="Helvetica"/>
                          <a:cs typeface="Helvetica"/>
                        </a:rPr>
                        <a:t>/1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96">
                <a:tc>
                  <a:txBody>
                    <a:bodyPr/>
                    <a:lstStyle/>
                    <a:p>
                      <a:pPr algn="ctr">
                        <a:lnSpc>
                          <a:spcPts val="2565"/>
                        </a:lnSpc>
                      </a:pPr>
                      <a:r>
                        <a:rPr sz="2150" spc="5" dirty="0">
                          <a:latin typeface="Helvetica"/>
                          <a:cs typeface="Helvetica"/>
                        </a:rPr>
                        <a:t>0</a:t>
                      </a:r>
                      <a:r>
                        <a:rPr sz="2150" spc="-2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150" spc="5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5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65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65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65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65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65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3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665"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2150" spc="5" dirty="0">
                          <a:latin typeface="Helvetica"/>
                          <a:cs typeface="Helvetica"/>
                        </a:rPr>
                        <a:t>1</a:t>
                      </a:r>
                      <a:r>
                        <a:rPr sz="2150" spc="-2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150" spc="5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5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10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35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10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35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10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35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197597" y="1820671"/>
            <a:ext cx="153035" cy="88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7500"/>
              </a:lnSpc>
              <a:spcBef>
                <a:spcPts val="100"/>
              </a:spcBef>
            </a:pPr>
            <a:r>
              <a:rPr sz="1800" i="1" spc="-5" dirty="0">
                <a:latin typeface="Helvetica"/>
                <a:cs typeface="Helvetica"/>
              </a:rPr>
              <a:t>a  b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56472" y="219405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Helvetica"/>
                <a:cs typeface="Helvetica"/>
              </a:rPr>
              <a:t>c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64597" y="2247670"/>
            <a:ext cx="421005" cy="0"/>
          </a:xfrm>
          <a:custGeom>
            <a:avLst/>
            <a:gdLst/>
            <a:ahLst/>
            <a:cxnLst/>
            <a:rect l="l" t="t" r="r" b="b"/>
            <a:pathLst>
              <a:path w="421004">
                <a:moveTo>
                  <a:pt x="0" y="0"/>
                </a:moveTo>
                <a:lnTo>
                  <a:pt x="420601" y="0"/>
                </a:lnTo>
              </a:path>
            </a:pathLst>
          </a:custGeom>
          <a:ln w="19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64598" y="2551882"/>
            <a:ext cx="421005" cy="0"/>
          </a:xfrm>
          <a:custGeom>
            <a:avLst/>
            <a:gdLst/>
            <a:ahLst/>
            <a:cxnLst/>
            <a:rect l="l" t="t" r="r" b="b"/>
            <a:pathLst>
              <a:path w="421004">
                <a:moveTo>
                  <a:pt x="0" y="0"/>
                </a:moveTo>
                <a:lnTo>
                  <a:pt x="420601" y="0"/>
                </a:lnTo>
              </a:path>
            </a:pathLst>
          </a:custGeom>
          <a:ln w="19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85200" y="2399786"/>
            <a:ext cx="421005" cy="0"/>
          </a:xfrm>
          <a:custGeom>
            <a:avLst/>
            <a:gdLst/>
            <a:ahLst/>
            <a:cxnLst/>
            <a:rect l="l" t="t" r="r" b="b"/>
            <a:pathLst>
              <a:path w="421004">
                <a:moveTo>
                  <a:pt x="420618" y="0"/>
                </a:moveTo>
                <a:lnTo>
                  <a:pt x="0" y="0"/>
                </a:lnTo>
              </a:path>
            </a:pathLst>
          </a:custGeom>
          <a:ln w="19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11814" y="2095569"/>
            <a:ext cx="547370" cy="608965"/>
          </a:xfrm>
          <a:custGeom>
            <a:avLst/>
            <a:gdLst/>
            <a:ahLst/>
            <a:cxnLst/>
            <a:rect l="l" t="t" r="r" b="b"/>
            <a:pathLst>
              <a:path w="547370" h="608964">
                <a:moveTo>
                  <a:pt x="164039" y="0"/>
                </a:moveTo>
                <a:lnTo>
                  <a:pt x="0" y="0"/>
                </a:lnTo>
                <a:lnTo>
                  <a:pt x="21637" y="45003"/>
                </a:lnTo>
                <a:lnTo>
                  <a:pt x="39667" y="90906"/>
                </a:lnTo>
                <a:lnTo>
                  <a:pt x="54092" y="137544"/>
                </a:lnTo>
                <a:lnTo>
                  <a:pt x="64911" y="184756"/>
                </a:lnTo>
                <a:lnTo>
                  <a:pt x="72123" y="232375"/>
                </a:lnTo>
                <a:lnTo>
                  <a:pt x="75729" y="280240"/>
                </a:lnTo>
                <a:lnTo>
                  <a:pt x="75729" y="328187"/>
                </a:lnTo>
                <a:lnTo>
                  <a:pt x="72123" y="376051"/>
                </a:lnTo>
                <a:lnTo>
                  <a:pt x="64911" y="423670"/>
                </a:lnTo>
                <a:lnTo>
                  <a:pt x="54092" y="470879"/>
                </a:lnTo>
                <a:lnTo>
                  <a:pt x="39668" y="517515"/>
                </a:lnTo>
                <a:lnTo>
                  <a:pt x="21637" y="563415"/>
                </a:lnTo>
                <a:lnTo>
                  <a:pt x="0" y="608414"/>
                </a:lnTo>
                <a:lnTo>
                  <a:pt x="164040" y="608414"/>
                </a:lnTo>
                <a:lnTo>
                  <a:pt x="215558" y="593912"/>
                </a:lnTo>
                <a:lnTo>
                  <a:pt x="264839" y="575313"/>
                </a:lnTo>
                <a:lnTo>
                  <a:pt x="311618" y="552827"/>
                </a:lnTo>
                <a:lnTo>
                  <a:pt x="355631" y="526664"/>
                </a:lnTo>
                <a:lnTo>
                  <a:pt x="396614" y="497034"/>
                </a:lnTo>
                <a:lnTo>
                  <a:pt x="434301" y="464148"/>
                </a:lnTo>
                <a:lnTo>
                  <a:pt x="468428" y="428215"/>
                </a:lnTo>
                <a:lnTo>
                  <a:pt x="498731" y="389447"/>
                </a:lnTo>
                <a:lnTo>
                  <a:pt x="524946" y="348054"/>
                </a:lnTo>
                <a:lnTo>
                  <a:pt x="546807" y="304245"/>
                </a:lnTo>
                <a:lnTo>
                  <a:pt x="525227" y="260249"/>
                </a:lnTo>
                <a:lnTo>
                  <a:pt x="499209" y="218690"/>
                </a:lnTo>
                <a:lnTo>
                  <a:pt x="469026" y="179786"/>
                </a:lnTo>
                <a:lnTo>
                  <a:pt x="434951" y="143753"/>
                </a:lnTo>
                <a:lnTo>
                  <a:pt x="397256" y="110808"/>
                </a:lnTo>
                <a:lnTo>
                  <a:pt x="356215" y="81168"/>
                </a:lnTo>
                <a:lnTo>
                  <a:pt x="312100" y="55050"/>
                </a:lnTo>
                <a:lnTo>
                  <a:pt x="265184" y="32672"/>
                </a:lnTo>
                <a:lnTo>
                  <a:pt x="215739" y="14249"/>
                </a:lnTo>
                <a:lnTo>
                  <a:pt x="1640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611814" y="2095569"/>
            <a:ext cx="547370" cy="608965"/>
          </a:xfrm>
          <a:custGeom>
            <a:avLst/>
            <a:gdLst/>
            <a:ahLst/>
            <a:cxnLst/>
            <a:rect l="l" t="t" r="r" b="b"/>
            <a:pathLst>
              <a:path w="547370" h="608964">
                <a:moveTo>
                  <a:pt x="546807" y="304245"/>
                </a:moveTo>
                <a:lnTo>
                  <a:pt x="524946" y="348054"/>
                </a:lnTo>
                <a:lnTo>
                  <a:pt x="498731" y="389447"/>
                </a:lnTo>
                <a:lnTo>
                  <a:pt x="468428" y="428215"/>
                </a:lnTo>
                <a:lnTo>
                  <a:pt x="434301" y="464148"/>
                </a:lnTo>
                <a:lnTo>
                  <a:pt x="396614" y="497034"/>
                </a:lnTo>
                <a:lnTo>
                  <a:pt x="355631" y="526664"/>
                </a:lnTo>
                <a:lnTo>
                  <a:pt x="311618" y="552827"/>
                </a:lnTo>
                <a:lnTo>
                  <a:pt x="264839" y="575313"/>
                </a:lnTo>
                <a:lnTo>
                  <a:pt x="215558" y="593912"/>
                </a:lnTo>
                <a:lnTo>
                  <a:pt x="164040" y="608414"/>
                </a:lnTo>
                <a:lnTo>
                  <a:pt x="0" y="608414"/>
                </a:lnTo>
                <a:lnTo>
                  <a:pt x="21637" y="563414"/>
                </a:lnTo>
                <a:lnTo>
                  <a:pt x="39668" y="517515"/>
                </a:lnTo>
                <a:lnTo>
                  <a:pt x="54092" y="470879"/>
                </a:lnTo>
                <a:lnTo>
                  <a:pt x="64911" y="423670"/>
                </a:lnTo>
                <a:lnTo>
                  <a:pt x="72123" y="376051"/>
                </a:lnTo>
                <a:lnTo>
                  <a:pt x="75729" y="328187"/>
                </a:lnTo>
                <a:lnTo>
                  <a:pt x="75729" y="280240"/>
                </a:lnTo>
                <a:lnTo>
                  <a:pt x="72123" y="232375"/>
                </a:lnTo>
                <a:lnTo>
                  <a:pt x="64911" y="184756"/>
                </a:lnTo>
                <a:lnTo>
                  <a:pt x="54092" y="137544"/>
                </a:lnTo>
                <a:lnTo>
                  <a:pt x="39667" y="90906"/>
                </a:lnTo>
                <a:lnTo>
                  <a:pt x="21637" y="45003"/>
                </a:lnTo>
                <a:lnTo>
                  <a:pt x="0" y="0"/>
                </a:lnTo>
                <a:lnTo>
                  <a:pt x="164039" y="0"/>
                </a:lnTo>
                <a:lnTo>
                  <a:pt x="215739" y="14249"/>
                </a:lnTo>
                <a:lnTo>
                  <a:pt x="265184" y="32672"/>
                </a:lnTo>
                <a:lnTo>
                  <a:pt x="312100" y="55050"/>
                </a:lnTo>
                <a:lnTo>
                  <a:pt x="356215" y="81168"/>
                </a:lnTo>
                <a:lnTo>
                  <a:pt x="397256" y="110808"/>
                </a:lnTo>
                <a:lnTo>
                  <a:pt x="434951" y="143753"/>
                </a:lnTo>
                <a:lnTo>
                  <a:pt x="469026" y="179786"/>
                </a:lnTo>
                <a:lnTo>
                  <a:pt x="499209" y="218690"/>
                </a:lnTo>
                <a:lnTo>
                  <a:pt x="525227" y="260249"/>
                </a:lnTo>
                <a:lnTo>
                  <a:pt x="546807" y="304245"/>
                </a:lnTo>
                <a:close/>
              </a:path>
            </a:pathLst>
          </a:custGeom>
          <a:ln w="16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11814" y="2095569"/>
            <a:ext cx="547370" cy="608965"/>
          </a:xfrm>
          <a:custGeom>
            <a:avLst/>
            <a:gdLst/>
            <a:ahLst/>
            <a:cxnLst/>
            <a:rect l="l" t="t" r="r" b="b"/>
            <a:pathLst>
              <a:path w="547370" h="608964">
                <a:moveTo>
                  <a:pt x="336497" y="0"/>
                </a:moveTo>
                <a:lnTo>
                  <a:pt x="0" y="0"/>
                </a:lnTo>
                <a:lnTo>
                  <a:pt x="0" y="608414"/>
                </a:lnTo>
                <a:lnTo>
                  <a:pt x="336498" y="608414"/>
                </a:lnTo>
                <a:lnTo>
                  <a:pt x="374297" y="603513"/>
                </a:lnTo>
                <a:lnTo>
                  <a:pt x="409875" y="589382"/>
                </a:lnTo>
                <a:lnTo>
                  <a:pt x="442638" y="566882"/>
                </a:lnTo>
                <a:lnTo>
                  <a:pt x="471991" y="536870"/>
                </a:lnTo>
                <a:lnTo>
                  <a:pt x="497340" y="500207"/>
                </a:lnTo>
                <a:lnTo>
                  <a:pt x="518090" y="457750"/>
                </a:lnTo>
                <a:lnTo>
                  <a:pt x="533648" y="410360"/>
                </a:lnTo>
                <a:lnTo>
                  <a:pt x="543418" y="358896"/>
                </a:lnTo>
                <a:lnTo>
                  <a:pt x="546807" y="304216"/>
                </a:lnTo>
                <a:lnTo>
                  <a:pt x="543418" y="249537"/>
                </a:lnTo>
                <a:lnTo>
                  <a:pt x="533648" y="198072"/>
                </a:lnTo>
                <a:lnTo>
                  <a:pt x="518090" y="150679"/>
                </a:lnTo>
                <a:lnTo>
                  <a:pt x="497340" y="108220"/>
                </a:lnTo>
                <a:lnTo>
                  <a:pt x="471991" y="71553"/>
                </a:lnTo>
                <a:lnTo>
                  <a:pt x="442638" y="41538"/>
                </a:lnTo>
                <a:lnTo>
                  <a:pt x="409875" y="19034"/>
                </a:lnTo>
                <a:lnTo>
                  <a:pt x="374297" y="4901"/>
                </a:lnTo>
                <a:lnTo>
                  <a:pt x="3364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611814" y="2095569"/>
            <a:ext cx="547370" cy="608965"/>
          </a:xfrm>
          <a:custGeom>
            <a:avLst/>
            <a:gdLst/>
            <a:ahLst/>
            <a:cxnLst/>
            <a:rect l="l" t="t" r="r" b="b"/>
            <a:pathLst>
              <a:path w="547370" h="608964">
                <a:moveTo>
                  <a:pt x="336498" y="608414"/>
                </a:moveTo>
                <a:lnTo>
                  <a:pt x="0" y="608414"/>
                </a:lnTo>
                <a:lnTo>
                  <a:pt x="0" y="0"/>
                </a:lnTo>
                <a:lnTo>
                  <a:pt x="336497" y="0"/>
                </a:lnTo>
                <a:lnTo>
                  <a:pt x="374297" y="4901"/>
                </a:lnTo>
                <a:lnTo>
                  <a:pt x="409875" y="19034"/>
                </a:lnTo>
                <a:lnTo>
                  <a:pt x="442638" y="41538"/>
                </a:lnTo>
                <a:lnTo>
                  <a:pt x="471991" y="71553"/>
                </a:lnTo>
                <a:lnTo>
                  <a:pt x="497340" y="108220"/>
                </a:lnTo>
                <a:lnTo>
                  <a:pt x="518090" y="150679"/>
                </a:lnTo>
                <a:lnTo>
                  <a:pt x="533648" y="198072"/>
                </a:lnTo>
                <a:lnTo>
                  <a:pt x="543418" y="249537"/>
                </a:lnTo>
                <a:lnTo>
                  <a:pt x="546807" y="304216"/>
                </a:lnTo>
                <a:lnTo>
                  <a:pt x="543418" y="358896"/>
                </a:lnTo>
                <a:lnTo>
                  <a:pt x="533648" y="410360"/>
                </a:lnTo>
                <a:lnTo>
                  <a:pt x="518090" y="457750"/>
                </a:lnTo>
                <a:lnTo>
                  <a:pt x="497340" y="500207"/>
                </a:lnTo>
                <a:lnTo>
                  <a:pt x="471991" y="536870"/>
                </a:lnTo>
                <a:lnTo>
                  <a:pt x="442638" y="566882"/>
                </a:lnTo>
                <a:lnTo>
                  <a:pt x="409875" y="589382"/>
                </a:lnTo>
                <a:lnTo>
                  <a:pt x="374297" y="603513"/>
                </a:lnTo>
                <a:lnTo>
                  <a:pt x="336498" y="608414"/>
                </a:lnTo>
                <a:close/>
              </a:path>
            </a:pathLst>
          </a:custGeom>
          <a:ln w="161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058670" y="5857747"/>
            <a:ext cx="362140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0000"/>
                </a:solidFill>
                <a:latin typeface="Helvetica"/>
                <a:cs typeface="Helvetica"/>
              </a:rPr>
              <a:t>*erroneous </a:t>
            </a:r>
            <a:r>
              <a:rPr sz="1600" b="1" spc="-10" dirty="0">
                <a:solidFill>
                  <a:srgbClr val="FF0000"/>
                </a:solidFill>
                <a:latin typeface="Helvetica"/>
                <a:cs typeface="Helvetica"/>
              </a:rPr>
              <a:t>output values</a:t>
            </a:r>
            <a:r>
              <a:rPr sz="1600" b="1" spc="6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n-US" sz="1600" b="1" spc="-5" dirty="0">
                <a:solidFill>
                  <a:srgbClr val="FF0000"/>
                </a:solidFill>
                <a:latin typeface="Helvetica"/>
                <a:cs typeface="Helvetica"/>
              </a:rPr>
              <a:t>underlined</a:t>
            </a:r>
            <a:endParaRPr sz="1600" dirty="0">
              <a:solidFill>
                <a:srgbClr val="FF0000"/>
              </a:solidFill>
              <a:latin typeface="Helvetica"/>
              <a:cs typeface="Helvetic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2" y="164414"/>
            <a:ext cx="2110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7061834" cy="186974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Fault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modeling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Fault models help to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quantify </a:t>
            </a:r>
            <a:r>
              <a:rPr sz="2000" b="1" dirty="0">
                <a:latin typeface="Arial"/>
                <a:cs typeface="Arial"/>
              </a:rPr>
              <a:t>and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automate</a:t>
            </a:r>
            <a:r>
              <a:rPr sz="2000" b="1" spc="-1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Defect </a:t>
            </a:r>
            <a:r>
              <a:rPr sz="2000" b="1" spc="-25" dirty="0">
                <a:solidFill>
                  <a:srgbClr val="0000FF"/>
                </a:solidFill>
                <a:latin typeface="Arial"/>
                <a:cs typeface="Arial"/>
              </a:rPr>
              <a:t>→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fault </a:t>
            </a:r>
            <a:r>
              <a:rPr sz="2000" b="1" spc="-25" dirty="0">
                <a:latin typeface="Arial"/>
                <a:cs typeface="Arial"/>
              </a:rPr>
              <a:t>→ </a:t>
            </a:r>
            <a:r>
              <a:rPr sz="2000" b="1" dirty="0">
                <a:latin typeface="Arial"/>
                <a:cs typeface="Arial"/>
              </a:rPr>
              <a:t>error </a:t>
            </a:r>
            <a:r>
              <a:rPr sz="2000" b="1" spc="-25" dirty="0">
                <a:latin typeface="Arial"/>
                <a:cs typeface="Arial"/>
              </a:rPr>
              <a:t>→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failure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Test length </a:t>
            </a:r>
            <a:r>
              <a:rPr sz="2000" b="1" dirty="0">
                <a:latin typeface="Arial"/>
                <a:cs typeface="Arial"/>
              </a:rPr>
              <a:t>= number of test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patterns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Fault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coverage </a:t>
            </a:r>
            <a:r>
              <a:rPr sz="2000" b="1" dirty="0">
                <a:latin typeface="Arial"/>
                <a:cs typeface="Arial"/>
              </a:rPr>
              <a:t>= detected faults / total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08320" y="3968496"/>
            <a:ext cx="1799844" cy="1946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164414"/>
            <a:ext cx="32499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45" dirty="0"/>
              <a:t> </a:t>
            </a:r>
            <a:r>
              <a:rPr spc="-5" dirty="0"/>
              <a:t>Modeling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251835" cy="3267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</a:t>
            </a: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Stuck-at fault</a:t>
            </a:r>
            <a:r>
              <a:rPr sz="2000" b="1" u="sng" spc="-1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(1961)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Bridging fault</a:t>
            </a:r>
            <a:r>
              <a:rPr sz="2000" b="1" spc="-12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(1973)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2178685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Delay fault	(1974)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Transistor </a:t>
            </a: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level</a:t>
            </a:r>
            <a:r>
              <a:rPr sz="2000" b="1" spc="-9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8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Detection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</a:t>
            </a:r>
            <a:r>
              <a:rPr sz="2000" b="1" spc="-7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Coverage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Conclusion</a:t>
            </a:r>
            <a:r>
              <a:rPr lang="en-US" sz="2000" b="1" dirty="0">
                <a:solidFill>
                  <a:srgbClr val="A6A6A6"/>
                </a:solidFill>
                <a:latin typeface="Arial"/>
                <a:cs typeface="Arial"/>
              </a:rPr>
              <a:t>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08320" y="3968496"/>
            <a:ext cx="1799844" cy="1946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8730" y="164414"/>
            <a:ext cx="64776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Classification of </a:t>
            </a:r>
            <a:r>
              <a:rPr spc="-5" dirty="0"/>
              <a:t>Fault</a:t>
            </a:r>
            <a:r>
              <a:rPr spc="-85" dirty="0"/>
              <a:t> </a:t>
            </a:r>
            <a:r>
              <a:rPr dirty="0"/>
              <a:t>Models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5B01A4D-9B9D-89E5-24A7-35C550614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67" y="1250006"/>
            <a:ext cx="7303265" cy="42788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522" y="164414"/>
            <a:ext cx="59956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Single </a:t>
            </a:r>
            <a:r>
              <a:rPr dirty="0"/>
              <a:t>Stuck-at </a:t>
            </a:r>
            <a:r>
              <a:rPr spc="-5" dirty="0"/>
              <a:t>Fault</a:t>
            </a:r>
            <a:r>
              <a:rPr spc="-45" dirty="0"/>
              <a:t> </a:t>
            </a:r>
            <a:r>
              <a:rPr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8604250" cy="399922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Single Stuck-at Fault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(SSF) </a:t>
            </a:r>
            <a:r>
              <a:rPr sz="2000" b="1" dirty="0">
                <a:latin typeface="Arial"/>
                <a:cs typeface="Arial"/>
              </a:rPr>
              <a:t>model [Galey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61]</a:t>
            </a:r>
            <a:endParaRPr sz="2000" dirty="0">
              <a:latin typeface="Arial"/>
              <a:cs typeface="Arial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One signal </a:t>
            </a:r>
            <a:r>
              <a:rPr sz="2000" b="1" spc="-5" dirty="0">
                <a:latin typeface="Arial"/>
                <a:cs typeface="Arial"/>
              </a:rPr>
              <a:t>line </a:t>
            </a:r>
            <a:r>
              <a:rPr sz="2000" b="1" dirty="0">
                <a:latin typeface="Arial"/>
                <a:cs typeface="Arial"/>
              </a:rPr>
              <a:t>in Boolean network of logic gates is fixed to</a:t>
            </a:r>
            <a:r>
              <a:rPr sz="2000" b="1" spc="-19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logic  </a:t>
            </a:r>
            <a:r>
              <a:rPr sz="2000" b="1" dirty="0">
                <a:latin typeface="Arial"/>
                <a:cs typeface="Arial"/>
              </a:rPr>
              <a:t>0 or 1, independent of </a:t>
            </a:r>
            <a:r>
              <a:rPr sz="2000" b="1" spc="-5" dirty="0">
                <a:latin typeface="Arial"/>
                <a:cs typeface="Arial"/>
              </a:rPr>
              <a:t>logic values </a:t>
            </a:r>
            <a:r>
              <a:rPr sz="2000" b="1" dirty="0">
                <a:latin typeface="Arial"/>
                <a:cs typeface="Arial"/>
              </a:rPr>
              <a:t>on other signal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lines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Notations: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node 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x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stuck-at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fault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  <a:tabLst>
                <a:tab pos="1717675" algn="l"/>
              </a:tabLst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x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/0,	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x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/1,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  <a:tabLst>
                <a:tab pos="2176780" algn="l"/>
              </a:tabLst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x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s@0,	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x</a:t>
            </a:r>
            <a:r>
              <a:rPr sz="2000" b="1" i="1" spc="-15" dirty="0">
                <a:solidFill>
                  <a:srgbClr val="0000FF"/>
                </a:solidFill>
                <a:latin typeface="Arial-BoldItalicMT"/>
                <a:cs typeface="Arial-BoldItalicMT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s@1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x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SA0, 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x</a:t>
            </a:r>
            <a:r>
              <a:rPr sz="2000" b="1" i="1" spc="-30" dirty="0">
                <a:solidFill>
                  <a:srgbClr val="0000FF"/>
                </a:solidFill>
                <a:latin typeface="Arial-BoldItalicMT"/>
                <a:cs typeface="Arial-BoldItalicMT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SA1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Number of faults is </a:t>
            </a:r>
            <a:r>
              <a:rPr sz="2000" b="1" i="1" dirty="0">
                <a:latin typeface="Arial-BoldItalicMT"/>
                <a:cs typeface="Arial-BoldItalicMT"/>
              </a:rPr>
              <a:t>linear </a:t>
            </a:r>
            <a:r>
              <a:rPr sz="2000" b="1" dirty="0">
                <a:latin typeface="Arial"/>
                <a:cs typeface="Arial"/>
              </a:rPr>
              <a:t>to circuit</a:t>
            </a:r>
            <a:r>
              <a:rPr sz="2000" b="1" spc="-1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size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2 faults (stuck-at one, stuck-at zero) </a:t>
            </a:r>
            <a:r>
              <a:rPr sz="2000" b="1" dirty="0">
                <a:latin typeface="Arial"/>
                <a:cs typeface="Arial"/>
              </a:rPr>
              <a:t>per</a:t>
            </a:r>
            <a:r>
              <a:rPr sz="2000" b="1" spc="-1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node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309626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n </a:t>
            </a:r>
            <a:r>
              <a:rPr sz="2000" b="1" spc="-5" dirty="0">
                <a:latin typeface="Arial"/>
                <a:cs typeface="Arial"/>
              </a:rPr>
              <a:t>SSF in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	of </a:t>
            </a:r>
            <a:r>
              <a:rPr sz="2000" b="1" i="1" dirty="0">
                <a:latin typeface="Arial-BoldItalicMT"/>
                <a:cs typeface="Arial-BoldItalicMT"/>
              </a:rPr>
              <a:t>n</a:t>
            </a:r>
            <a:r>
              <a:rPr sz="2000" b="1" i="1" spc="-45" dirty="0"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nodes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Most commonly studied fault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model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29155" y="5731764"/>
            <a:ext cx="5885815" cy="52451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0"/>
              </a:spcBef>
            </a:pPr>
            <a:r>
              <a:rPr sz="2800" b="1" spc="-10" dirty="0">
                <a:solidFill>
                  <a:srgbClr val="FF0000"/>
                </a:solidFill>
                <a:latin typeface="Helvetica"/>
                <a:cs typeface="Helvetica"/>
              </a:rPr>
              <a:t>SSF </a:t>
            </a: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is Scalable for Large</a:t>
            </a:r>
            <a:r>
              <a:rPr sz="2800" b="1" spc="5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Circuits</a:t>
            </a:r>
            <a:endParaRPr sz="28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224" y="164414"/>
            <a:ext cx="83041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Single Stuck-at Fault </a:t>
            </a: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4" y="736596"/>
            <a:ext cx="7237376" cy="1658146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  <a:tab pos="1497330" algn="l"/>
              </a:tabLst>
            </a:pPr>
            <a:r>
              <a:rPr sz="1800" b="1" spc="-5" dirty="0">
                <a:latin typeface="Arial"/>
                <a:cs typeface="Arial"/>
              </a:rPr>
              <a:t>Example:	</a:t>
            </a:r>
            <a:r>
              <a:rPr sz="1800" b="1" dirty="0">
                <a:latin typeface="Arial"/>
                <a:cs typeface="Arial"/>
              </a:rPr>
              <a:t>SSF table of </a:t>
            </a:r>
            <a:r>
              <a:rPr sz="1800" b="1" spc="10" dirty="0">
                <a:latin typeface="Arial"/>
                <a:cs typeface="Arial"/>
              </a:rPr>
              <a:t>two </a:t>
            </a:r>
            <a:r>
              <a:rPr sz="1800" b="1" dirty="0">
                <a:latin typeface="Arial"/>
                <a:cs typeface="Arial"/>
              </a:rPr>
              <a:t>input </a:t>
            </a:r>
            <a:r>
              <a:rPr sz="1800" b="1" spc="-20" dirty="0">
                <a:latin typeface="Arial"/>
                <a:cs typeface="Arial"/>
              </a:rPr>
              <a:t>AND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gate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spc="-5" dirty="0">
                <a:latin typeface="Arial"/>
                <a:cs typeface="Arial"/>
              </a:rPr>
              <a:t>Total </a:t>
            </a:r>
            <a:r>
              <a:rPr sz="1800" b="1" spc="-5" dirty="0">
                <a:solidFill>
                  <a:srgbClr val="0000FF"/>
                </a:solidFill>
                <a:latin typeface="Arial"/>
                <a:cs typeface="Arial"/>
              </a:rPr>
              <a:t>six </a:t>
            </a:r>
            <a:r>
              <a:rPr sz="1800" b="1" spc="-5" dirty="0">
                <a:latin typeface="Arial"/>
                <a:cs typeface="Arial"/>
              </a:rPr>
              <a:t>faults: </a:t>
            </a:r>
            <a:r>
              <a:rPr sz="1800" b="1" spc="-5" dirty="0">
                <a:solidFill>
                  <a:srgbClr val="0000FF"/>
                </a:solidFill>
                <a:latin typeface="Arial"/>
                <a:cs typeface="Arial"/>
              </a:rPr>
              <a:t>a/0, a/1, b/0, b/1, c/0,</a:t>
            </a:r>
            <a:r>
              <a:rPr sz="18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c/1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  <a:tab pos="1345565" algn="l"/>
              </a:tabLst>
            </a:pPr>
            <a:r>
              <a:rPr lang="en-US" sz="1800" b="1" spc="-5" dirty="0">
                <a:latin typeface="Arial"/>
                <a:cs typeface="Arial"/>
              </a:rPr>
              <a:t>What’s the minimum test length for 100% SSF fault coverage?</a:t>
            </a: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  <a:tab pos="1345565" algn="l"/>
              </a:tabLst>
            </a:pPr>
            <a:r>
              <a:rPr sz="1800" b="1" spc="-5" dirty="0">
                <a:latin typeface="Arial"/>
                <a:cs typeface="Arial"/>
              </a:rPr>
              <a:t>Test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set	</a:t>
            </a:r>
            <a:r>
              <a:rPr sz="1800" b="1" dirty="0">
                <a:latin typeface="Arial"/>
                <a:cs typeface="Arial"/>
              </a:rPr>
              <a:t>ab =</a:t>
            </a:r>
            <a:r>
              <a:rPr sz="1800" b="1" spc="-5" dirty="0">
                <a:latin typeface="Arial"/>
                <a:cs typeface="Arial"/>
              </a:rPr>
              <a:t> {01,11,10}</a:t>
            </a:r>
            <a:r>
              <a:rPr lang="en-US" sz="1800" b="1" spc="-5" dirty="0">
                <a:latin typeface="Arial"/>
                <a:cs typeface="Arial"/>
              </a:rPr>
              <a:t> with length 3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  <a:tab pos="3650615" algn="l"/>
              </a:tabLst>
            </a:pPr>
            <a:r>
              <a:rPr sz="1800" b="1" spc="-5" dirty="0">
                <a:solidFill>
                  <a:srgbClr val="0000FF"/>
                </a:solidFill>
                <a:latin typeface="Arial"/>
                <a:cs typeface="Arial"/>
              </a:rPr>
              <a:t>100% </a:t>
            </a:r>
            <a:r>
              <a:rPr sz="1800" b="1" dirty="0">
                <a:latin typeface="Arial"/>
                <a:cs typeface="Arial"/>
              </a:rPr>
              <a:t>SSF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fault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coverage,	</a:t>
            </a:r>
            <a:r>
              <a:rPr sz="1800" b="1" spc="-5" dirty="0">
                <a:latin typeface="Arial"/>
                <a:cs typeface="Arial"/>
              </a:rPr>
              <a:t>detects </a:t>
            </a:r>
            <a:r>
              <a:rPr sz="1800" b="1" dirty="0">
                <a:latin typeface="Arial"/>
                <a:cs typeface="Arial"/>
              </a:rPr>
              <a:t>all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SSF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50821" y="3573811"/>
          <a:ext cx="7543164" cy="20494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8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0918">
                <a:tc>
                  <a:txBody>
                    <a:bodyPr/>
                    <a:lstStyle/>
                    <a:p>
                      <a:pPr marL="63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Input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79730" marR="196215" indent="-175260">
                        <a:lnSpc>
                          <a:spcPts val="2480"/>
                        </a:lnSpc>
                        <a:spcBef>
                          <a:spcPts val="100"/>
                        </a:spcBef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F</a:t>
                      </a:r>
                      <a:r>
                        <a:rPr sz="2150" spc="-10" dirty="0">
                          <a:latin typeface="Helvetica"/>
                          <a:cs typeface="Helvetica"/>
                        </a:rPr>
                        <a:t>a</a:t>
                      </a:r>
                      <a:r>
                        <a:rPr sz="2150" spc="-15" dirty="0">
                          <a:latin typeface="Helvetica"/>
                          <a:cs typeface="Helvetica"/>
                        </a:rPr>
                        <a:t>u</a:t>
                      </a:r>
                      <a:r>
                        <a:rPr sz="2150" spc="-20" dirty="0">
                          <a:latin typeface="Helvetica"/>
                          <a:cs typeface="Helvetica"/>
                        </a:rPr>
                        <a:t>l</a:t>
                      </a:r>
                      <a:r>
                        <a:rPr sz="2150" spc="-5" dirty="0">
                          <a:latin typeface="Helvetica"/>
                          <a:cs typeface="Helvetica"/>
                        </a:rPr>
                        <a:t>t</a:t>
                      </a:r>
                      <a:r>
                        <a:rPr sz="2150" dirty="0">
                          <a:latin typeface="Helvetica"/>
                          <a:cs typeface="Helvetica"/>
                        </a:rPr>
                        <a:t>-</a:t>
                      </a:r>
                      <a:r>
                        <a:rPr sz="2150" spc="15" dirty="0">
                          <a:latin typeface="Helvetica"/>
                          <a:cs typeface="Helvetica"/>
                        </a:rPr>
                        <a:t>f</a:t>
                      </a:r>
                      <a:r>
                        <a:rPr sz="2150" spc="5" dirty="0">
                          <a:latin typeface="Helvetica"/>
                          <a:cs typeface="Helvetica"/>
                        </a:rPr>
                        <a:t>r</a:t>
                      </a:r>
                      <a:r>
                        <a:rPr sz="2150" spc="-15" dirty="0">
                          <a:latin typeface="Helvetica"/>
                          <a:cs typeface="Helvetica"/>
                        </a:rPr>
                        <a:t>e</a:t>
                      </a:r>
                      <a:r>
                        <a:rPr sz="2150" dirty="0">
                          <a:latin typeface="Helvetica"/>
                          <a:cs typeface="Helvetica"/>
                        </a:rPr>
                        <a:t>e  Output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2150" spc="10" dirty="0">
                          <a:latin typeface="Helvetica"/>
                          <a:cs typeface="Helvetica"/>
                        </a:rPr>
                        <a:t>Faulty </a:t>
                      </a:r>
                      <a:r>
                        <a:rPr sz="2150" spc="5" dirty="0">
                          <a:latin typeface="Helvetica"/>
                          <a:cs typeface="Helvetica"/>
                        </a:rPr>
                        <a:t>Output Value </a:t>
                      </a:r>
                      <a:r>
                        <a:rPr sz="2150" dirty="0">
                          <a:latin typeface="Helvetica"/>
                          <a:cs typeface="Helvetica"/>
                        </a:rPr>
                        <a:t>with</a:t>
                      </a:r>
                      <a:r>
                        <a:rPr sz="2150" spc="-3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150" spc="10" dirty="0">
                          <a:latin typeface="Helvetica"/>
                          <a:cs typeface="Helvetica"/>
                        </a:rPr>
                        <a:t>SSF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918">
                <a:tc>
                  <a:txBody>
                    <a:bodyPr/>
                    <a:lstStyle/>
                    <a:p>
                      <a:pPr algn="ctr">
                        <a:lnSpc>
                          <a:spcPts val="2525"/>
                        </a:lnSpc>
                      </a:pPr>
                      <a:r>
                        <a:rPr sz="2150" i="1" spc="10" dirty="0">
                          <a:latin typeface="Helvetica"/>
                          <a:cs typeface="Helvetica"/>
                        </a:rPr>
                        <a:t>a</a:t>
                      </a:r>
                      <a:r>
                        <a:rPr sz="2150" i="1" spc="-2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150" i="1" spc="10" dirty="0">
                          <a:latin typeface="Helvetica"/>
                          <a:cs typeface="Helvetica"/>
                        </a:rPr>
                        <a:t>b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5"/>
                        </a:lnSpc>
                      </a:pPr>
                      <a:r>
                        <a:rPr sz="2150" i="1" spc="-5" dirty="0">
                          <a:latin typeface="Helvetica"/>
                          <a:cs typeface="Helvetica"/>
                        </a:rPr>
                        <a:t>a</a:t>
                      </a:r>
                      <a:r>
                        <a:rPr sz="2150" spc="-5" dirty="0">
                          <a:latin typeface="Helvetica"/>
                          <a:cs typeface="Helvetica"/>
                        </a:rPr>
                        <a:t>/0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5"/>
                        </a:lnSpc>
                      </a:pPr>
                      <a:r>
                        <a:rPr sz="2150" i="1" dirty="0">
                          <a:latin typeface="Helvetica"/>
                          <a:cs typeface="Helvetica"/>
                        </a:rPr>
                        <a:t>a</a:t>
                      </a:r>
                      <a:r>
                        <a:rPr sz="2150" dirty="0">
                          <a:latin typeface="Helvetica"/>
                          <a:cs typeface="Helvetica"/>
                        </a:rPr>
                        <a:t>/1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5"/>
                        </a:lnSpc>
                      </a:pPr>
                      <a:r>
                        <a:rPr sz="2150" i="1" spc="-5" dirty="0">
                          <a:latin typeface="Helvetica"/>
                          <a:cs typeface="Helvetica"/>
                        </a:rPr>
                        <a:t>b</a:t>
                      </a:r>
                      <a:r>
                        <a:rPr sz="2150" spc="-5" dirty="0">
                          <a:latin typeface="Helvetica"/>
                          <a:cs typeface="Helvetica"/>
                        </a:rPr>
                        <a:t>/0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5"/>
                        </a:lnSpc>
                      </a:pPr>
                      <a:r>
                        <a:rPr sz="2150" i="1" dirty="0">
                          <a:latin typeface="Helvetica"/>
                          <a:cs typeface="Helvetica"/>
                        </a:rPr>
                        <a:t>b</a:t>
                      </a:r>
                      <a:r>
                        <a:rPr sz="2150" dirty="0">
                          <a:latin typeface="Helvetica"/>
                          <a:cs typeface="Helvetica"/>
                        </a:rPr>
                        <a:t>/1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525"/>
                        </a:lnSpc>
                      </a:pPr>
                      <a:r>
                        <a:rPr sz="2150" i="1" spc="5" dirty="0">
                          <a:latin typeface="Helvetica"/>
                          <a:cs typeface="Helvetica"/>
                        </a:rPr>
                        <a:t>c</a:t>
                      </a:r>
                      <a:r>
                        <a:rPr sz="2150" spc="5" dirty="0">
                          <a:latin typeface="Helvetica"/>
                          <a:cs typeface="Helvetica"/>
                        </a:rPr>
                        <a:t>/0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525"/>
                        </a:lnSpc>
                      </a:pPr>
                      <a:r>
                        <a:rPr sz="2150" i="1" spc="5" dirty="0">
                          <a:latin typeface="Helvetica"/>
                          <a:cs typeface="Helvetica"/>
                        </a:rPr>
                        <a:t>c</a:t>
                      </a:r>
                      <a:r>
                        <a:rPr sz="2150" spc="5" dirty="0">
                          <a:latin typeface="Helvetica"/>
                          <a:cs typeface="Helvetica"/>
                        </a:rPr>
                        <a:t>/1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560"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150" spc="10" dirty="0">
                          <a:latin typeface="Helvetica"/>
                          <a:cs typeface="Helvetica"/>
                        </a:rPr>
                        <a:t>0</a:t>
                      </a:r>
                      <a:r>
                        <a:rPr sz="2150" spc="-2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150" spc="1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5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5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5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5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5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55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52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91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2150" spc="10" dirty="0">
                          <a:latin typeface="Helvetica"/>
                          <a:cs typeface="Helvetica"/>
                        </a:rPr>
                        <a:t>0</a:t>
                      </a:r>
                      <a:r>
                        <a:rPr sz="2150" spc="-2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150" spc="10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49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49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91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2150" spc="10" dirty="0">
                          <a:latin typeface="Helvetica"/>
                          <a:cs typeface="Helvetica"/>
                        </a:rPr>
                        <a:t>1</a:t>
                      </a:r>
                      <a:r>
                        <a:rPr sz="2150" spc="-2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150" spc="10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49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49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49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3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2150" spc="10" dirty="0">
                          <a:latin typeface="Helvetica"/>
                          <a:cs typeface="Helvetica"/>
                        </a:rPr>
                        <a:t>1</a:t>
                      </a:r>
                      <a:r>
                        <a:rPr sz="2150" spc="-2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150" spc="1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49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49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950591" y="2323846"/>
            <a:ext cx="153035" cy="889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7500"/>
              </a:lnSpc>
              <a:spcBef>
                <a:spcPts val="95"/>
              </a:spcBef>
            </a:pPr>
            <a:r>
              <a:rPr sz="1800" i="1" spc="-5" dirty="0">
                <a:latin typeface="Helvetica"/>
                <a:cs typeface="Helvetica"/>
              </a:rPr>
              <a:t>a  b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7165" y="2697607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Helvetica"/>
                <a:cs typeface="Helvetica"/>
              </a:rPr>
              <a:t>c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22817" y="2724378"/>
            <a:ext cx="728345" cy="0"/>
          </a:xfrm>
          <a:custGeom>
            <a:avLst/>
            <a:gdLst/>
            <a:ahLst/>
            <a:cxnLst/>
            <a:rect l="l" t="t" r="r" b="b"/>
            <a:pathLst>
              <a:path w="728345">
                <a:moveTo>
                  <a:pt x="0" y="0"/>
                </a:moveTo>
                <a:lnTo>
                  <a:pt x="728236" y="0"/>
                </a:lnTo>
              </a:path>
            </a:pathLst>
          </a:custGeom>
          <a:ln w="1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22817" y="3089177"/>
            <a:ext cx="728345" cy="0"/>
          </a:xfrm>
          <a:custGeom>
            <a:avLst/>
            <a:gdLst/>
            <a:ahLst/>
            <a:cxnLst/>
            <a:rect l="l" t="t" r="r" b="b"/>
            <a:pathLst>
              <a:path w="728345">
                <a:moveTo>
                  <a:pt x="0" y="0"/>
                </a:moveTo>
                <a:lnTo>
                  <a:pt x="728236" y="0"/>
                </a:lnTo>
              </a:path>
            </a:pathLst>
          </a:custGeom>
          <a:ln w="1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51054" y="2906789"/>
            <a:ext cx="728345" cy="0"/>
          </a:xfrm>
          <a:custGeom>
            <a:avLst/>
            <a:gdLst/>
            <a:ahLst/>
            <a:cxnLst/>
            <a:rect l="l" t="t" r="r" b="b"/>
            <a:pathLst>
              <a:path w="728345">
                <a:moveTo>
                  <a:pt x="728265" y="0"/>
                </a:moveTo>
                <a:lnTo>
                  <a:pt x="0" y="0"/>
                </a:lnTo>
              </a:path>
            </a:pathLst>
          </a:custGeom>
          <a:ln w="1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77710" y="2541991"/>
            <a:ext cx="946785" cy="729615"/>
          </a:xfrm>
          <a:custGeom>
            <a:avLst/>
            <a:gdLst/>
            <a:ahLst/>
            <a:cxnLst/>
            <a:rect l="l" t="t" r="r" b="b"/>
            <a:pathLst>
              <a:path w="946785" h="729614">
                <a:moveTo>
                  <a:pt x="284021" y="0"/>
                </a:moveTo>
                <a:lnTo>
                  <a:pt x="0" y="0"/>
                </a:lnTo>
                <a:lnTo>
                  <a:pt x="29209" y="41163"/>
                </a:lnTo>
                <a:lnTo>
                  <a:pt x="54768" y="82984"/>
                </a:lnTo>
                <a:lnTo>
                  <a:pt x="76675" y="125375"/>
                </a:lnTo>
                <a:lnTo>
                  <a:pt x="94931" y="168249"/>
                </a:lnTo>
                <a:lnTo>
                  <a:pt x="109536" y="211517"/>
                </a:lnTo>
                <a:lnTo>
                  <a:pt x="120489" y="255092"/>
                </a:lnTo>
                <a:lnTo>
                  <a:pt x="127792" y="298886"/>
                </a:lnTo>
                <a:lnTo>
                  <a:pt x="131443" y="342811"/>
                </a:lnTo>
                <a:lnTo>
                  <a:pt x="131443" y="386780"/>
                </a:lnTo>
                <a:lnTo>
                  <a:pt x="127792" y="430705"/>
                </a:lnTo>
                <a:lnTo>
                  <a:pt x="120489" y="474497"/>
                </a:lnTo>
                <a:lnTo>
                  <a:pt x="109536" y="518071"/>
                </a:lnTo>
                <a:lnTo>
                  <a:pt x="94931" y="561337"/>
                </a:lnTo>
                <a:lnTo>
                  <a:pt x="76675" y="604208"/>
                </a:lnTo>
                <a:lnTo>
                  <a:pt x="54768" y="646596"/>
                </a:lnTo>
                <a:lnTo>
                  <a:pt x="29209" y="688414"/>
                </a:lnTo>
                <a:lnTo>
                  <a:pt x="0" y="729574"/>
                </a:lnTo>
                <a:lnTo>
                  <a:pt x="284021" y="729574"/>
                </a:lnTo>
                <a:lnTo>
                  <a:pt x="340200" y="719294"/>
                </a:lnTo>
                <a:lnTo>
                  <a:pt x="394933" y="707058"/>
                </a:lnTo>
                <a:lnTo>
                  <a:pt x="448108" y="692928"/>
                </a:lnTo>
                <a:lnTo>
                  <a:pt x="499613" y="676965"/>
                </a:lnTo>
                <a:lnTo>
                  <a:pt x="549337" y="659230"/>
                </a:lnTo>
                <a:lnTo>
                  <a:pt x="597168" y="639786"/>
                </a:lnTo>
                <a:lnTo>
                  <a:pt x="642994" y="618693"/>
                </a:lnTo>
                <a:lnTo>
                  <a:pt x="686703" y="596014"/>
                </a:lnTo>
                <a:lnTo>
                  <a:pt x="728183" y="571809"/>
                </a:lnTo>
                <a:lnTo>
                  <a:pt x="767323" y="546141"/>
                </a:lnTo>
                <a:lnTo>
                  <a:pt x="804010" y="519070"/>
                </a:lnTo>
                <a:lnTo>
                  <a:pt x="838134" y="490659"/>
                </a:lnTo>
                <a:lnTo>
                  <a:pt x="869581" y="460969"/>
                </a:lnTo>
                <a:lnTo>
                  <a:pt x="898241" y="430061"/>
                </a:lnTo>
                <a:lnTo>
                  <a:pt x="924001" y="397997"/>
                </a:lnTo>
                <a:lnTo>
                  <a:pt x="946750" y="364838"/>
                </a:lnTo>
                <a:lnTo>
                  <a:pt x="924324" y="331530"/>
                </a:lnTo>
                <a:lnTo>
                  <a:pt x="898826" y="299331"/>
                </a:lnTo>
                <a:lnTo>
                  <a:pt x="870374" y="268300"/>
                </a:lnTo>
                <a:lnTo>
                  <a:pt x="839081" y="238499"/>
                </a:lnTo>
                <a:lnTo>
                  <a:pt x="805063" y="209992"/>
                </a:lnTo>
                <a:lnTo>
                  <a:pt x="768437" y="182844"/>
                </a:lnTo>
                <a:lnTo>
                  <a:pt x="729316" y="157116"/>
                </a:lnTo>
                <a:lnTo>
                  <a:pt x="687816" y="132873"/>
                </a:lnTo>
                <a:lnTo>
                  <a:pt x="644053" y="110178"/>
                </a:lnTo>
                <a:lnTo>
                  <a:pt x="598141" y="89095"/>
                </a:lnTo>
                <a:lnTo>
                  <a:pt x="550197" y="69687"/>
                </a:lnTo>
                <a:lnTo>
                  <a:pt x="500336" y="52018"/>
                </a:lnTo>
                <a:lnTo>
                  <a:pt x="448672" y="36151"/>
                </a:lnTo>
                <a:lnTo>
                  <a:pt x="395321" y="22150"/>
                </a:lnTo>
                <a:lnTo>
                  <a:pt x="340399" y="10079"/>
                </a:lnTo>
                <a:lnTo>
                  <a:pt x="2840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77710" y="2541991"/>
            <a:ext cx="946785" cy="729615"/>
          </a:xfrm>
          <a:custGeom>
            <a:avLst/>
            <a:gdLst/>
            <a:ahLst/>
            <a:cxnLst/>
            <a:rect l="l" t="t" r="r" b="b"/>
            <a:pathLst>
              <a:path w="946785" h="729614">
                <a:moveTo>
                  <a:pt x="946750" y="364838"/>
                </a:moveTo>
                <a:lnTo>
                  <a:pt x="924001" y="397997"/>
                </a:lnTo>
                <a:lnTo>
                  <a:pt x="898241" y="430061"/>
                </a:lnTo>
                <a:lnTo>
                  <a:pt x="869581" y="460969"/>
                </a:lnTo>
                <a:lnTo>
                  <a:pt x="838134" y="490659"/>
                </a:lnTo>
                <a:lnTo>
                  <a:pt x="804010" y="519070"/>
                </a:lnTo>
                <a:lnTo>
                  <a:pt x="767323" y="546141"/>
                </a:lnTo>
                <a:lnTo>
                  <a:pt x="728183" y="571809"/>
                </a:lnTo>
                <a:lnTo>
                  <a:pt x="686703" y="596014"/>
                </a:lnTo>
                <a:lnTo>
                  <a:pt x="642994" y="618693"/>
                </a:lnTo>
                <a:lnTo>
                  <a:pt x="597168" y="639786"/>
                </a:lnTo>
                <a:lnTo>
                  <a:pt x="549337" y="659231"/>
                </a:lnTo>
                <a:lnTo>
                  <a:pt x="499613" y="676965"/>
                </a:lnTo>
                <a:lnTo>
                  <a:pt x="448108" y="692928"/>
                </a:lnTo>
                <a:lnTo>
                  <a:pt x="394933" y="707058"/>
                </a:lnTo>
                <a:lnTo>
                  <a:pt x="340200" y="719294"/>
                </a:lnTo>
                <a:lnTo>
                  <a:pt x="284021" y="729574"/>
                </a:lnTo>
                <a:lnTo>
                  <a:pt x="0" y="729574"/>
                </a:lnTo>
                <a:lnTo>
                  <a:pt x="29209" y="688414"/>
                </a:lnTo>
                <a:lnTo>
                  <a:pt x="54768" y="646596"/>
                </a:lnTo>
                <a:lnTo>
                  <a:pt x="76675" y="604208"/>
                </a:lnTo>
                <a:lnTo>
                  <a:pt x="94931" y="561337"/>
                </a:lnTo>
                <a:lnTo>
                  <a:pt x="109536" y="518071"/>
                </a:lnTo>
                <a:lnTo>
                  <a:pt x="120489" y="474498"/>
                </a:lnTo>
                <a:lnTo>
                  <a:pt x="127792" y="430705"/>
                </a:lnTo>
                <a:lnTo>
                  <a:pt x="131443" y="386780"/>
                </a:lnTo>
                <a:lnTo>
                  <a:pt x="131443" y="342811"/>
                </a:lnTo>
                <a:lnTo>
                  <a:pt x="127792" y="298886"/>
                </a:lnTo>
                <a:lnTo>
                  <a:pt x="120489" y="255092"/>
                </a:lnTo>
                <a:lnTo>
                  <a:pt x="109536" y="211517"/>
                </a:lnTo>
                <a:lnTo>
                  <a:pt x="94931" y="168249"/>
                </a:lnTo>
                <a:lnTo>
                  <a:pt x="76675" y="125375"/>
                </a:lnTo>
                <a:lnTo>
                  <a:pt x="54768" y="82984"/>
                </a:lnTo>
                <a:lnTo>
                  <a:pt x="29209" y="41163"/>
                </a:lnTo>
                <a:lnTo>
                  <a:pt x="0" y="0"/>
                </a:lnTo>
                <a:lnTo>
                  <a:pt x="284021" y="0"/>
                </a:lnTo>
                <a:lnTo>
                  <a:pt x="340399" y="10079"/>
                </a:lnTo>
                <a:lnTo>
                  <a:pt x="395321" y="22150"/>
                </a:lnTo>
                <a:lnTo>
                  <a:pt x="448672" y="36151"/>
                </a:lnTo>
                <a:lnTo>
                  <a:pt x="500336" y="52018"/>
                </a:lnTo>
                <a:lnTo>
                  <a:pt x="550197" y="69687"/>
                </a:lnTo>
                <a:lnTo>
                  <a:pt x="598141" y="89095"/>
                </a:lnTo>
                <a:lnTo>
                  <a:pt x="644053" y="110178"/>
                </a:lnTo>
                <a:lnTo>
                  <a:pt x="687816" y="132873"/>
                </a:lnTo>
                <a:lnTo>
                  <a:pt x="729316" y="157116"/>
                </a:lnTo>
                <a:lnTo>
                  <a:pt x="768437" y="182844"/>
                </a:lnTo>
                <a:lnTo>
                  <a:pt x="805063" y="209992"/>
                </a:lnTo>
                <a:lnTo>
                  <a:pt x="839081" y="238499"/>
                </a:lnTo>
                <a:lnTo>
                  <a:pt x="870374" y="268300"/>
                </a:lnTo>
                <a:lnTo>
                  <a:pt x="898826" y="299332"/>
                </a:lnTo>
                <a:lnTo>
                  <a:pt x="924324" y="331530"/>
                </a:lnTo>
                <a:lnTo>
                  <a:pt x="946750" y="364833"/>
                </a:lnTo>
                <a:close/>
              </a:path>
            </a:pathLst>
          </a:custGeom>
          <a:ln w="17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77710" y="2541991"/>
            <a:ext cx="946785" cy="729615"/>
          </a:xfrm>
          <a:custGeom>
            <a:avLst/>
            <a:gdLst/>
            <a:ahLst/>
            <a:cxnLst/>
            <a:rect l="l" t="t" r="r" b="b"/>
            <a:pathLst>
              <a:path w="946785" h="729614">
                <a:moveTo>
                  <a:pt x="582617" y="0"/>
                </a:moveTo>
                <a:lnTo>
                  <a:pt x="0" y="0"/>
                </a:lnTo>
                <a:lnTo>
                  <a:pt x="0" y="729574"/>
                </a:lnTo>
                <a:lnTo>
                  <a:pt x="582618" y="729574"/>
                </a:lnTo>
                <a:lnTo>
                  <a:pt x="632023" y="726244"/>
                </a:lnTo>
                <a:lnTo>
                  <a:pt x="679409" y="716544"/>
                </a:lnTo>
                <a:lnTo>
                  <a:pt x="724343" y="700908"/>
                </a:lnTo>
                <a:lnTo>
                  <a:pt x="766390" y="679771"/>
                </a:lnTo>
                <a:lnTo>
                  <a:pt x="805117" y="653567"/>
                </a:lnTo>
                <a:lnTo>
                  <a:pt x="840088" y="622732"/>
                </a:lnTo>
                <a:lnTo>
                  <a:pt x="870871" y="587700"/>
                </a:lnTo>
                <a:lnTo>
                  <a:pt x="897030" y="548906"/>
                </a:lnTo>
                <a:lnTo>
                  <a:pt x="918131" y="506784"/>
                </a:lnTo>
                <a:lnTo>
                  <a:pt x="933741" y="461769"/>
                </a:lnTo>
                <a:lnTo>
                  <a:pt x="943426" y="414295"/>
                </a:lnTo>
                <a:lnTo>
                  <a:pt x="946750" y="364798"/>
                </a:lnTo>
                <a:lnTo>
                  <a:pt x="943426" y="315301"/>
                </a:lnTo>
                <a:lnTo>
                  <a:pt x="933741" y="267826"/>
                </a:lnTo>
                <a:lnTo>
                  <a:pt x="918131" y="222809"/>
                </a:lnTo>
                <a:lnTo>
                  <a:pt x="897029" y="180685"/>
                </a:lnTo>
                <a:lnTo>
                  <a:pt x="870870" y="141888"/>
                </a:lnTo>
                <a:lnTo>
                  <a:pt x="840088" y="106853"/>
                </a:lnTo>
                <a:lnTo>
                  <a:pt x="805117" y="76015"/>
                </a:lnTo>
                <a:lnTo>
                  <a:pt x="766390" y="49809"/>
                </a:lnTo>
                <a:lnTo>
                  <a:pt x="724343" y="28670"/>
                </a:lnTo>
                <a:lnTo>
                  <a:pt x="679409" y="13032"/>
                </a:lnTo>
                <a:lnTo>
                  <a:pt x="632022" y="3330"/>
                </a:lnTo>
                <a:lnTo>
                  <a:pt x="5826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77710" y="2541991"/>
            <a:ext cx="946785" cy="729615"/>
          </a:xfrm>
          <a:custGeom>
            <a:avLst/>
            <a:gdLst/>
            <a:ahLst/>
            <a:cxnLst/>
            <a:rect l="l" t="t" r="r" b="b"/>
            <a:pathLst>
              <a:path w="946785" h="729614">
                <a:moveTo>
                  <a:pt x="582618" y="729574"/>
                </a:moveTo>
                <a:lnTo>
                  <a:pt x="0" y="729574"/>
                </a:lnTo>
                <a:lnTo>
                  <a:pt x="0" y="0"/>
                </a:lnTo>
                <a:lnTo>
                  <a:pt x="582617" y="0"/>
                </a:lnTo>
                <a:lnTo>
                  <a:pt x="632022" y="3330"/>
                </a:lnTo>
                <a:lnTo>
                  <a:pt x="679409" y="13032"/>
                </a:lnTo>
                <a:lnTo>
                  <a:pt x="724343" y="28670"/>
                </a:lnTo>
                <a:lnTo>
                  <a:pt x="766390" y="49809"/>
                </a:lnTo>
                <a:lnTo>
                  <a:pt x="805117" y="76015"/>
                </a:lnTo>
                <a:lnTo>
                  <a:pt x="840088" y="106853"/>
                </a:lnTo>
                <a:lnTo>
                  <a:pt x="870870" y="141888"/>
                </a:lnTo>
                <a:lnTo>
                  <a:pt x="897029" y="180685"/>
                </a:lnTo>
                <a:lnTo>
                  <a:pt x="918131" y="222809"/>
                </a:lnTo>
                <a:lnTo>
                  <a:pt x="933741" y="267826"/>
                </a:lnTo>
                <a:lnTo>
                  <a:pt x="943426" y="315301"/>
                </a:lnTo>
                <a:lnTo>
                  <a:pt x="946750" y="364798"/>
                </a:lnTo>
                <a:lnTo>
                  <a:pt x="943426" y="414295"/>
                </a:lnTo>
                <a:lnTo>
                  <a:pt x="933741" y="461769"/>
                </a:lnTo>
                <a:lnTo>
                  <a:pt x="918131" y="506784"/>
                </a:lnTo>
                <a:lnTo>
                  <a:pt x="897030" y="548906"/>
                </a:lnTo>
                <a:lnTo>
                  <a:pt x="870871" y="587700"/>
                </a:lnTo>
                <a:lnTo>
                  <a:pt x="840088" y="622732"/>
                </a:lnTo>
                <a:lnTo>
                  <a:pt x="805117" y="653567"/>
                </a:lnTo>
                <a:lnTo>
                  <a:pt x="766390" y="679771"/>
                </a:lnTo>
                <a:lnTo>
                  <a:pt x="724343" y="700908"/>
                </a:lnTo>
                <a:lnTo>
                  <a:pt x="679409" y="716544"/>
                </a:lnTo>
                <a:lnTo>
                  <a:pt x="632023" y="726244"/>
                </a:lnTo>
                <a:lnTo>
                  <a:pt x="582618" y="729574"/>
                </a:lnTo>
                <a:close/>
              </a:path>
            </a:pathLst>
          </a:custGeom>
          <a:ln w="17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58669" y="5835497"/>
            <a:ext cx="42180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Helvetica"/>
                <a:cs typeface="Helvetica"/>
              </a:rPr>
              <a:t>*erroneous </a:t>
            </a:r>
            <a:r>
              <a:rPr sz="1600" b="1" spc="-10" dirty="0">
                <a:latin typeface="Helvetica"/>
                <a:cs typeface="Helvetica"/>
              </a:rPr>
              <a:t>output values</a:t>
            </a:r>
            <a:r>
              <a:rPr sz="1600" b="1" spc="60" dirty="0">
                <a:latin typeface="Helvetica"/>
                <a:cs typeface="Helvetica"/>
              </a:rPr>
              <a:t> </a:t>
            </a:r>
            <a:r>
              <a:rPr lang="en-US" sz="1600" b="1" spc="60" dirty="0">
                <a:latin typeface="Helvetica"/>
                <a:cs typeface="Helvetica"/>
              </a:rPr>
              <a:t>red/</a:t>
            </a:r>
            <a:r>
              <a:rPr lang="en-US" sz="1600" b="1" spc="-5" dirty="0">
                <a:latin typeface="Helvetica"/>
                <a:cs typeface="Helvetica"/>
              </a:rPr>
              <a:t>underlined</a:t>
            </a:r>
            <a:endParaRPr sz="1600" dirty="0">
              <a:latin typeface="Helvetica"/>
              <a:cs typeface="Helvetic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4276" y="164414"/>
            <a:ext cx="348170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Quiz</a:t>
            </a:r>
            <a:r>
              <a:rPr spc="-70" dirty="0"/>
              <a:t> </a:t>
            </a:r>
            <a:r>
              <a:rPr dirty="0"/>
              <a:t>(Revisited)</a:t>
            </a:r>
          </a:p>
        </p:txBody>
      </p:sp>
      <p:sp>
        <p:nvSpPr>
          <p:cNvPr id="3" name="object 3"/>
          <p:cNvSpPr/>
          <p:nvPr/>
        </p:nvSpPr>
        <p:spPr>
          <a:xfrm>
            <a:off x="1078991" y="1339596"/>
            <a:ext cx="6986270" cy="1938655"/>
          </a:xfrm>
          <a:custGeom>
            <a:avLst/>
            <a:gdLst/>
            <a:ahLst/>
            <a:cxnLst/>
            <a:rect l="l" t="t" r="r" b="b"/>
            <a:pathLst>
              <a:path w="6986270" h="1938654">
                <a:moveTo>
                  <a:pt x="0" y="1938527"/>
                </a:moveTo>
                <a:lnTo>
                  <a:pt x="6986016" y="1938527"/>
                </a:lnTo>
                <a:lnTo>
                  <a:pt x="6986016" y="0"/>
                </a:lnTo>
                <a:lnTo>
                  <a:pt x="0" y="0"/>
                </a:lnTo>
                <a:lnTo>
                  <a:pt x="0" y="1938527"/>
                </a:lnTo>
                <a:close/>
              </a:path>
            </a:pathLst>
          </a:custGeom>
          <a:solidFill>
            <a:srgbClr val="66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50821" y="3573811"/>
          <a:ext cx="7543164" cy="20494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8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0918">
                <a:tc>
                  <a:txBody>
                    <a:bodyPr/>
                    <a:lstStyle/>
                    <a:p>
                      <a:pPr marL="63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Input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79730" marR="196215" indent="-175260">
                        <a:lnSpc>
                          <a:spcPts val="2480"/>
                        </a:lnSpc>
                        <a:spcBef>
                          <a:spcPts val="100"/>
                        </a:spcBef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F</a:t>
                      </a:r>
                      <a:r>
                        <a:rPr sz="2150" spc="-10" dirty="0">
                          <a:latin typeface="Helvetica"/>
                          <a:cs typeface="Helvetica"/>
                        </a:rPr>
                        <a:t>a</a:t>
                      </a:r>
                      <a:r>
                        <a:rPr sz="2150" spc="-15" dirty="0">
                          <a:latin typeface="Helvetica"/>
                          <a:cs typeface="Helvetica"/>
                        </a:rPr>
                        <a:t>u</a:t>
                      </a:r>
                      <a:r>
                        <a:rPr sz="2150" spc="-20" dirty="0">
                          <a:latin typeface="Helvetica"/>
                          <a:cs typeface="Helvetica"/>
                        </a:rPr>
                        <a:t>l</a:t>
                      </a:r>
                      <a:r>
                        <a:rPr sz="2150" spc="-5" dirty="0">
                          <a:latin typeface="Helvetica"/>
                          <a:cs typeface="Helvetica"/>
                        </a:rPr>
                        <a:t>t</a:t>
                      </a:r>
                      <a:r>
                        <a:rPr sz="2150" dirty="0">
                          <a:latin typeface="Helvetica"/>
                          <a:cs typeface="Helvetica"/>
                        </a:rPr>
                        <a:t>-</a:t>
                      </a:r>
                      <a:r>
                        <a:rPr sz="2150" spc="15" dirty="0">
                          <a:latin typeface="Helvetica"/>
                          <a:cs typeface="Helvetica"/>
                        </a:rPr>
                        <a:t>f</a:t>
                      </a:r>
                      <a:r>
                        <a:rPr sz="2150" spc="5" dirty="0">
                          <a:latin typeface="Helvetica"/>
                          <a:cs typeface="Helvetica"/>
                        </a:rPr>
                        <a:t>r</a:t>
                      </a:r>
                      <a:r>
                        <a:rPr sz="2150" spc="-15" dirty="0">
                          <a:latin typeface="Helvetica"/>
                          <a:cs typeface="Helvetica"/>
                        </a:rPr>
                        <a:t>e</a:t>
                      </a:r>
                      <a:r>
                        <a:rPr sz="2150" dirty="0">
                          <a:latin typeface="Helvetica"/>
                          <a:cs typeface="Helvetica"/>
                        </a:rPr>
                        <a:t>e  Output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2150" spc="10" dirty="0">
                          <a:latin typeface="Helvetica"/>
                          <a:cs typeface="Helvetica"/>
                        </a:rPr>
                        <a:t>Faulty </a:t>
                      </a:r>
                      <a:r>
                        <a:rPr sz="2150" spc="5" dirty="0">
                          <a:latin typeface="Helvetica"/>
                          <a:cs typeface="Helvetica"/>
                        </a:rPr>
                        <a:t>Output Value </a:t>
                      </a:r>
                      <a:r>
                        <a:rPr sz="2150" dirty="0">
                          <a:latin typeface="Helvetica"/>
                          <a:cs typeface="Helvetica"/>
                        </a:rPr>
                        <a:t>with</a:t>
                      </a:r>
                      <a:r>
                        <a:rPr sz="2150" spc="-3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150" spc="10" dirty="0">
                          <a:latin typeface="Helvetica"/>
                          <a:cs typeface="Helvetica"/>
                        </a:rPr>
                        <a:t>SSF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918">
                <a:tc>
                  <a:txBody>
                    <a:bodyPr/>
                    <a:lstStyle/>
                    <a:p>
                      <a:pPr algn="ctr">
                        <a:lnSpc>
                          <a:spcPts val="2525"/>
                        </a:lnSpc>
                      </a:pPr>
                      <a:r>
                        <a:rPr sz="2150" i="1" spc="10" dirty="0">
                          <a:latin typeface="Helvetica"/>
                          <a:cs typeface="Helvetica"/>
                        </a:rPr>
                        <a:t>a</a:t>
                      </a:r>
                      <a:r>
                        <a:rPr sz="2150" i="1" spc="-2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150" i="1" spc="10" dirty="0">
                          <a:latin typeface="Helvetica"/>
                          <a:cs typeface="Helvetica"/>
                        </a:rPr>
                        <a:t>b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5"/>
                        </a:lnSpc>
                      </a:pPr>
                      <a:r>
                        <a:rPr sz="2150" i="1" spc="-5" dirty="0">
                          <a:latin typeface="Helvetica"/>
                          <a:cs typeface="Helvetica"/>
                        </a:rPr>
                        <a:t>a</a:t>
                      </a:r>
                      <a:r>
                        <a:rPr sz="2150" spc="-5" dirty="0">
                          <a:latin typeface="Helvetica"/>
                          <a:cs typeface="Helvetica"/>
                        </a:rPr>
                        <a:t>/0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5"/>
                        </a:lnSpc>
                      </a:pPr>
                      <a:r>
                        <a:rPr sz="2150" i="1" dirty="0">
                          <a:latin typeface="Helvetica"/>
                          <a:cs typeface="Helvetica"/>
                        </a:rPr>
                        <a:t>a</a:t>
                      </a:r>
                      <a:r>
                        <a:rPr sz="2150" dirty="0">
                          <a:latin typeface="Helvetica"/>
                          <a:cs typeface="Helvetica"/>
                        </a:rPr>
                        <a:t>/1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5"/>
                        </a:lnSpc>
                      </a:pPr>
                      <a:r>
                        <a:rPr sz="2150" i="1" spc="-5" dirty="0">
                          <a:latin typeface="Helvetica"/>
                          <a:cs typeface="Helvetica"/>
                        </a:rPr>
                        <a:t>b</a:t>
                      </a:r>
                      <a:r>
                        <a:rPr sz="2150" spc="-5" dirty="0">
                          <a:latin typeface="Helvetica"/>
                          <a:cs typeface="Helvetica"/>
                        </a:rPr>
                        <a:t>/0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5"/>
                        </a:lnSpc>
                      </a:pPr>
                      <a:r>
                        <a:rPr sz="2150" i="1" dirty="0">
                          <a:latin typeface="Helvetica"/>
                          <a:cs typeface="Helvetica"/>
                        </a:rPr>
                        <a:t>b</a:t>
                      </a:r>
                      <a:r>
                        <a:rPr sz="2150" dirty="0">
                          <a:latin typeface="Helvetica"/>
                          <a:cs typeface="Helvetica"/>
                        </a:rPr>
                        <a:t>/1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525"/>
                        </a:lnSpc>
                      </a:pPr>
                      <a:r>
                        <a:rPr sz="2150" i="1" spc="5" dirty="0">
                          <a:latin typeface="Helvetica"/>
                          <a:cs typeface="Helvetica"/>
                        </a:rPr>
                        <a:t>c</a:t>
                      </a:r>
                      <a:r>
                        <a:rPr sz="2150" spc="5" dirty="0">
                          <a:latin typeface="Helvetica"/>
                          <a:cs typeface="Helvetica"/>
                        </a:rPr>
                        <a:t>/0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525"/>
                        </a:lnSpc>
                      </a:pPr>
                      <a:r>
                        <a:rPr sz="2150" i="1" spc="5" dirty="0">
                          <a:latin typeface="Helvetica"/>
                          <a:cs typeface="Helvetica"/>
                        </a:rPr>
                        <a:t>c</a:t>
                      </a:r>
                      <a:r>
                        <a:rPr sz="2150" spc="5" dirty="0">
                          <a:latin typeface="Helvetica"/>
                          <a:cs typeface="Helvetica"/>
                        </a:rPr>
                        <a:t>/1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560"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150" spc="10" dirty="0">
                          <a:latin typeface="Helvetica"/>
                          <a:cs typeface="Helvetica"/>
                        </a:rPr>
                        <a:t>0</a:t>
                      </a:r>
                      <a:r>
                        <a:rPr sz="2150" spc="-2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150" spc="1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5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5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5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5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5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55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52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91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2150" spc="10" dirty="0">
                          <a:latin typeface="Helvetica"/>
                          <a:cs typeface="Helvetica"/>
                        </a:rPr>
                        <a:t>0</a:t>
                      </a:r>
                      <a:r>
                        <a:rPr sz="2150" spc="-2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150" spc="10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49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49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91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2150" spc="10" dirty="0">
                          <a:latin typeface="Helvetica"/>
                          <a:cs typeface="Helvetica"/>
                        </a:rPr>
                        <a:t>1</a:t>
                      </a:r>
                      <a:r>
                        <a:rPr sz="2150" spc="-2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150" spc="10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49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49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49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3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2150" spc="10" dirty="0">
                          <a:latin typeface="Helvetica"/>
                          <a:cs typeface="Helvetica"/>
                        </a:rPr>
                        <a:t>1</a:t>
                      </a:r>
                      <a:r>
                        <a:rPr sz="2150" spc="-2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150" spc="1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49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520"/>
                        </a:lnSpc>
                      </a:pPr>
                      <a:r>
                        <a:rPr sz="2150" dirty="0">
                          <a:latin typeface="Helvetica"/>
                          <a:cs typeface="Helvetica"/>
                        </a:rPr>
                        <a:t>0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495"/>
                        </a:lnSpc>
                      </a:pPr>
                      <a:r>
                        <a:rPr sz="2150" b="1" u="heavy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Helvetica"/>
                          <a:cs typeface="Helvetica"/>
                        </a:rPr>
                        <a:t>1</a:t>
                      </a:r>
                      <a:endParaRPr sz="215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30225" y="862050"/>
            <a:ext cx="7835265" cy="228663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  <a:tab pos="2553335" algn="l"/>
              </a:tabLst>
            </a:pPr>
            <a:r>
              <a:rPr lang="en-US" sz="2000" b="1" dirty="0">
                <a:latin typeface="Arial"/>
                <a:cs typeface="Arial"/>
              </a:rPr>
              <a:t>You are asked </a:t>
            </a:r>
            <a:r>
              <a:rPr sz="2000" b="1" dirty="0">
                <a:latin typeface="Arial"/>
                <a:cs typeface="Arial"/>
              </a:rPr>
              <a:t>to pick 2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patterns…</a:t>
            </a:r>
            <a:endParaRPr sz="2000" dirty="0">
              <a:latin typeface="Arial"/>
              <a:cs typeface="Arial"/>
            </a:endParaRPr>
          </a:p>
          <a:p>
            <a:pPr marL="940435">
              <a:lnSpc>
                <a:spcPct val="100000"/>
              </a:lnSpc>
              <a:spcBef>
                <a:spcPts val="785"/>
              </a:spcBef>
            </a:pPr>
            <a:r>
              <a:rPr sz="2000" b="1" dirty="0">
                <a:latin typeface="Helvetica"/>
                <a:cs typeface="Helvetica"/>
              </a:rPr>
              <a:t>Q: Based on </a:t>
            </a:r>
            <a:r>
              <a:rPr sz="2000" b="1" spc="-5" dirty="0">
                <a:latin typeface="Helvetica"/>
                <a:cs typeface="Helvetica"/>
              </a:rPr>
              <a:t>SSF </a:t>
            </a:r>
            <a:r>
              <a:rPr sz="2000" b="1" dirty="0">
                <a:latin typeface="Helvetica"/>
                <a:cs typeface="Helvetica"/>
              </a:rPr>
              <a:t>model, </a:t>
            </a:r>
            <a:r>
              <a:rPr sz="2000" b="1" spc="5" dirty="0">
                <a:latin typeface="Helvetica"/>
                <a:cs typeface="Helvetica"/>
              </a:rPr>
              <a:t>which </a:t>
            </a:r>
            <a:r>
              <a:rPr sz="2000" b="1" dirty="0">
                <a:latin typeface="Helvetica"/>
                <a:cs typeface="Helvetica"/>
              </a:rPr>
              <a:t>patterns do </a:t>
            </a:r>
            <a:r>
              <a:rPr sz="2000" b="1" spc="-15" dirty="0">
                <a:latin typeface="Helvetica"/>
                <a:cs typeface="Helvetica"/>
              </a:rPr>
              <a:t>you </a:t>
            </a:r>
            <a:r>
              <a:rPr sz="2000" b="1" dirty="0">
                <a:latin typeface="Helvetica"/>
                <a:cs typeface="Helvetica"/>
              </a:rPr>
              <a:t>pick</a:t>
            </a:r>
            <a:r>
              <a:rPr sz="2000" b="1" spc="-14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?</a:t>
            </a:r>
            <a:endParaRPr sz="2000" dirty="0">
              <a:latin typeface="Helvetica"/>
              <a:cs typeface="Helvetica"/>
            </a:endParaRPr>
          </a:p>
          <a:p>
            <a:pPr marL="1289685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What is maximum fault</a:t>
            </a:r>
            <a:r>
              <a:rPr sz="2000" b="1" spc="-114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coverage?</a:t>
            </a:r>
            <a:endParaRPr sz="2000" dirty="0">
              <a:latin typeface="Helvetica"/>
              <a:cs typeface="Helvetica"/>
            </a:endParaRPr>
          </a:p>
          <a:p>
            <a:pPr marL="940435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A:</a:t>
            </a:r>
            <a:endParaRPr sz="2000" dirty="0">
              <a:latin typeface="Helvetica"/>
              <a:cs typeface="Helvetica"/>
            </a:endParaRPr>
          </a:p>
          <a:p>
            <a:pPr marR="2234565" algn="ctr">
              <a:lnSpc>
                <a:spcPts val="1930"/>
              </a:lnSpc>
              <a:spcBef>
                <a:spcPts val="1070"/>
              </a:spcBef>
            </a:pPr>
            <a:r>
              <a:rPr sz="1800" i="1" spc="-5" dirty="0">
                <a:latin typeface="Helvetica"/>
                <a:cs typeface="Helvetica"/>
              </a:rPr>
              <a:t>a</a:t>
            </a:r>
            <a:endParaRPr sz="1800" dirty="0">
              <a:latin typeface="Helvetica"/>
              <a:cs typeface="Helvetica"/>
            </a:endParaRPr>
          </a:p>
          <a:p>
            <a:pPr marL="1358265" algn="ctr">
              <a:lnSpc>
                <a:spcPts val="1700"/>
              </a:lnSpc>
            </a:pPr>
            <a:r>
              <a:rPr sz="1800" i="1" dirty="0">
                <a:latin typeface="Helvetica"/>
                <a:cs typeface="Helvetica"/>
              </a:rPr>
              <a:t>c</a:t>
            </a:r>
            <a:endParaRPr sz="1800" dirty="0">
              <a:latin typeface="Helvetica"/>
              <a:cs typeface="Helvetica"/>
            </a:endParaRPr>
          </a:p>
          <a:p>
            <a:pPr marR="2234565" algn="ctr">
              <a:lnSpc>
                <a:spcPts val="1930"/>
              </a:lnSpc>
            </a:pPr>
            <a:r>
              <a:rPr sz="1800" i="1" spc="-5" dirty="0">
                <a:latin typeface="Helvetica"/>
                <a:cs typeface="Helvetica"/>
              </a:rPr>
              <a:t>b</a:t>
            </a:r>
            <a:endParaRPr sz="1800" dirty="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22817" y="2659877"/>
            <a:ext cx="728345" cy="0"/>
          </a:xfrm>
          <a:custGeom>
            <a:avLst/>
            <a:gdLst/>
            <a:ahLst/>
            <a:cxnLst/>
            <a:rect l="l" t="t" r="r" b="b"/>
            <a:pathLst>
              <a:path w="728345">
                <a:moveTo>
                  <a:pt x="0" y="0"/>
                </a:moveTo>
                <a:lnTo>
                  <a:pt x="728236" y="0"/>
                </a:lnTo>
              </a:path>
            </a:pathLst>
          </a:custGeom>
          <a:ln w="171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22817" y="3024059"/>
            <a:ext cx="728345" cy="0"/>
          </a:xfrm>
          <a:custGeom>
            <a:avLst/>
            <a:gdLst/>
            <a:ahLst/>
            <a:cxnLst/>
            <a:rect l="l" t="t" r="r" b="b"/>
            <a:pathLst>
              <a:path w="728345">
                <a:moveTo>
                  <a:pt x="0" y="0"/>
                </a:moveTo>
                <a:lnTo>
                  <a:pt x="728236" y="0"/>
                </a:lnTo>
              </a:path>
            </a:pathLst>
          </a:custGeom>
          <a:ln w="171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51054" y="2841980"/>
            <a:ext cx="728345" cy="0"/>
          </a:xfrm>
          <a:custGeom>
            <a:avLst/>
            <a:gdLst/>
            <a:ahLst/>
            <a:cxnLst/>
            <a:rect l="l" t="t" r="r" b="b"/>
            <a:pathLst>
              <a:path w="728345">
                <a:moveTo>
                  <a:pt x="728265" y="0"/>
                </a:moveTo>
                <a:lnTo>
                  <a:pt x="0" y="0"/>
                </a:lnTo>
              </a:path>
            </a:pathLst>
          </a:custGeom>
          <a:ln w="171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77710" y="2477797"/>
            <a:ext cx="946785" cy="728345"/>
          </a:xfrm>
          <a:custGeom>
            <a:avLst/>
            <a:gdLst/>
            <a:ahLst/>
            <a:cxnLst/>
            <a:rect l="l" t="t" r="r" b="b"/>
            <a:pathLst>
              <a:path w="946785" h="728344">
                <a:moveTo>
                  <a:pt x="284021" y="0"/>
                </a:moveTo>
                <a:lnTo>
                  <a:pt x="0" y="0"/>
                </a:lnTo>
                <a:lnTo>
                  <a:pt x="29209" y="41093"/>
                </a:lnTo>
                <a:lnTo>
                  <a:pt x="54768" y="82844"/>
                </a:lnTo>
                <a:lnTo>
                  <a:pt x="76675" y="125164"/>
                </a:lnTo>
                <a:lnTo>
                  <a:pt x="94931" y="167965"/>
                </a:lnTo>
                <a:lnTo>
                  <a:pt x="109536" y="211160"/>
                </a:lnTo>
                <a:lnTo>
                  <a:pt x="120489" y="254661"/>
                </a:lnTo>
                <a:lnTo>
                  <a:pt x="127792" y="298381"/>
                </a:lnTo>
                <a:lnTo>
                  <a:pt x="131443" y="342232"/>
                </a:lnTo>
                <a:lnTo>
                  <a:pt x="131443" y="386127"/>
                </a:lnTo>
                <a:lnTo>
                  <a:pt x="127792" y="429977"/>
                </a:lnTo>
                <a:lnTo>
                  <a:pt x="120489" y="473696"/>
                </a:lnTo>
                <a:lnTo>
                  <a:pt x="109536" y="517196"/>
                </a:lnTo>
                <a:lnTo>
                  <a:pt x="94931" y="560389"/>
                </a:lnTo>
                <a:lnTo>
                  <a:pt x="76675" y="603188"/>
                </a:lnTo>
                <a:lnTo>
                  <a:pt x="54768" y="645505"/>
                </a:lnTo>
                <a:lnTo>
                  <a:pt x="29209" y="687252"/>
                </a:lnTo>
                <a:lnTo>
                  <a:pt x="0" y="728342"/>
                </a:lnTo>
                <a:lnTo>
                  <a:pt x="284021" y="728342"/>
                </a:lnTo>
                <a:lnTo>
                  <a:pt x="340200" y="718080"/>
                </a:lnTo>
                <a:lnTo>
                  <a:pt x="394933" y="705864"/>
                </a:lnTo>
                <a:lnTo>
                  <a:pt x="448108" y="691758"/>
                </a:lnTo>
                <a:lnTo>
                  <a:pt x="499613" y="675822"/>
                </a:lnTo>
                <a:lnTo>
                  <a:pt x="549337" y="658117"/>
                </a:lnTo>
                <a:lnTo>
                  <a:pt x="597168" y="638706"/>
                </a:lnTo>
                <a:lnTo>
                  <a:pt x="642994" y="617649"/>
                </a:lnTo>
                <a:lnTo>
                  <a:pt x="686703" y="595007"/>
                </a:lnTo>
                <a:lnTo>
                  <a:pt x="728183" y="570844"/>
                </a:lnTo>
                <a:lnTo>
                  <a:pt x="767323" y="545218"/>
                </a:lnTo>
                <a:lnTo>
                  <a:pt x="804010" y="518194"/>
                </a:lnTo>
                <a:lnTo>
                  <a:pt x="838134" y="489830"/>
                </a:lnTo>
                <a:lnTo>
                  <a:pt x="869581" y="460190"/>
                </a:lnTo>
                <a:lnTo>
                  <a:pt x="898241" y="429334"/>
                </a:lnTo>
                <a:lnTo>
                  <a:pt x="924001" y="397325"/>
                </a:lnTo>
                <a:lnTo>
                  <a:pt x="946750" y="364222"/>
                </a:lnTo>
                <a:lnTo>
                  <a:pt x="924324" y="330970"/>
                </a:lnTo>
                <a:lnTo>
                  <a:pt x="898826" y="298826"/>
                </a:lnTo>
                <a:lnTo>
                  <a:pt x="870374" y="267847"/>
                </a:lnTo>
                <a:lnTo>
                  <a:pt x="839081" y="238096"/>
                </a:lnTo>
                <a:lnTo>
                  <a:pt x="805063" y="209638"/>
                </a:lnTo>
                <a:lnTo>
                  <a:pt x="768437" y="182535"/>
                </a:lnTo>
                <a:lnTo>
                  <a:pt x="729316" y="156851"/>
                </a:lnTo>
                <a:lnTo>
                  <a:pt x="687816" y="132648"/>
                </a:lnTo>
                <a:lnTo>
                  <a:pt x="644053" y="109992"/>
                </a:lnTo>
                <a:lnTo>
                  <a:pt x="598141" y="88945"/>
                </a:lnTo>
                <a:lnTo>
                  <a:pt x="550197" y="69570"/>
                </a:lnTo>
                <a:lnTo>
                  <a:pt x="500336" y="51930"/>
                </a:lnTo>
                <a:lnTo>
                  <a:pt x="448672" y="36090"/>
                </a:lnTo>
                <a:lnTo>
                  <a:pt x="395321" y="22113"/>
                </a:lnTo>
                <a:lnTo>
                  <a:pt x="340399" y="10062"/>
                </a:lnTo>
                <a:lnTo>
                  <a:pt x="2840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77710" y="2477797"/>
            <a:ext cx="946785" cy="728345"/>
          </a:xfrm>
          <a:custGeom>
            <a:avLst/>
            <a:gdLst/>
            <a:ahLst/>
            <a:cxnLst/>
            <a:rect l="l" t="t" r="r" b="b"/>
            <a:pathLst>
              <a:path w="946785" h="728344">
                <a:moveTo>
                  <a:pt x="946750" y="364222"/>
                </a:moveTo>
                <a:lnTo>
                  <a:pt x="924001" y="397325"/>
                </a:lnTo>
                <a:lnTo>
                  <a:pt x="898241" y="429334"/>
                </a:lnTo>
                <a:lnTo>
                  <a:pt x="869581" y="460190"/>
                </a:lnTo>
                <a:lnTo>
                  <a:pt x="838134" y="489830"/>
                </a:lnTo>
                <a:lnTo>
                  <a:pt x="804010" y="518194"/>
                </a:lnTo>
                <a:lnTo>
                  <a:pt x="767323" y="545218"/>
                </a:lnTo>
                <a:lnTo>
                  <a:pt x="728183" y="570844"/>
                </a:lnTo>
                <a:lnTo>
                  <a:pt x="686703" y="595007"/>
                </a:lnTo>
                <a:lnTo>
                  <a:pt x="642994" y="617649"/>
                </a:lnTo>
                <a:lnTo>
                  <a:pt x="597168" y="638706"/>
                </a:lnTo>
                <a:lnTo>
                  <a:pt x="549337" y="658117"/>
                </a:lnTo>
                <a:lnTo>
                  <a:pt x="499613" y="675822"/>
                </a:lnTo>
                <a:lnTo>
                  <a:pt x="448108" y="691758"/>
                </a:lnTo>
                <a:lnTo>
                  <a:pt x="394933" y="705864"/>
                </a:lnTo>
                <a:lnTo>
                  <a:pt x="340200" y="718080"/>
                </a:lnTo>
                <a:lnTo>
                  <a:pt x="284021" y="728342"/>
                </a:lnTo>
                <a:lnTo>
                  <a:pt x="0" y="728342"/>
                </a:lnTo>
                <a:lnTo>
                  <a:pt x="29209" y="687252"/>
                </a:lnTo>
                <a:lnTo>
                  <a:pt x="54768" y="645505"/>
                </a:lnTo>
                <a:lnTo>
                  <a:pt x="76675" y="603188"/>
                </a:lnTo>
                <a:lnTo>
                  <a:pt x="94931" y="560389"/>
                </a:lnTo>
                <a:lnTo>
                  <a:pt x="109536" y="517196"/>
                </a:lnTo>
                <a:lnTo>
                  <a:pt x="120489" y="473696"/>
                </a:lnTo>
                <a:lnTo>
                  <a:pt x="127792" y="429977"/>
                </a:lnTo>
                <a:lnTo>
                  <a:pt x="131443" y="386127"/>
                </a:lnTo>
                <a:lnTo>
                  <a:pt x="131443" y="342232"/>
                </a:lnTo>
                <a:lnTo>
                  <a:pt x="127792" y="298381"/>
                </a:lnTo>
                <a:lnTo>
                  <a:pt x="120489" y="254661"/>
                </a:lnTo>
                <a:lnTo>
                  <a:pt x="109536" y="211160"/>
                </a:lnTo>
                <a:lnTo>
                  <a:pt x="94931" y="167965"/>
                </a:lnTo>
                <a:lnTo>
                  <a:pt x="76675" y="125164"/>
                </a:lnTo>
                <a:lnTo>
                  <a:pt x="54768" y="82844"/>
                </a:lnTo>
                <a:lnTo>
                  <a:pt x="29209" y="41093"/>
                </a:lnTo>
                <a:lnTo>
                  <a:pt x="0" y="0"/>
                </a:lnTo>
                <a:lnTo>
                  <a:pt x="284021" y="0"/>
                </a:lnTo>
                <a:lnTo>
                  <a:pt x="340399" y="10062"/>
                </a:lnTo>
                <a:lnTo>
                  <a:pt x="395321" y="22113"/>
                </a:lnTo>
                <a:lnTo>
                  <a:pt x="448672" y="36090"/>
                </a:lnTo>
                <a:lnTo>
                  <a:pt x="500336" y="51930"/>
                </a:lnTo>
                <a:lnTo>
                  <a:pt x="550197" y="69570"/>
                </a:lnTo>
                <a:lnTo>
                  <a:pt x="598141" y="88945"/>
                </a:lnTo>
                <a:lnTo>
                  <a:pt x="644053" y="109992"/>
                </a:lnTo>
                <a:lnTo>
                  <a:pt x="687816" y="132648"/>
                </a:lnTo>
                <a:lnTo>
                  <a:pt x="729316" y="156851"/>
                </a:lnTo>
                <a:lnTo>
                  <a:pt x="768437" y="182535"/>
                </a:lnTo>
                <a:lnTo>
                  <a:pt x="805063" y="209638"/>
                </a:lnTo>
                <a:lnTo>
                  <a:pt x="839081" y="238096"/>
                </a:lnTo>
                <a:lnTo>
                  <a:pt x="870374" y="267847"/>
                </a:lnTo>
                <a:lnTo>
                  <a:pt x="898826" y="298826"/>
                </a:lnTo>
                <a:lnTo>
                  <a:pt x="924324" y="330970"/>
                </a:lnTo>
                <a:lnTo>
                  <a:pt x="946750" y="364217"/>
                </a:lnTo>
                <a:close/>
              </a:path>
            </a:pathLst>
          </a:custGeom>
          <a:ln w="171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77710" y="2477797"/>
            <a:ext cx="946785" cy="728345"/>
          </a:xfrm>
          <a:custGeom>
            <a:avLst/>
            <a:gdLst/>
            <a:ahLst/>
            <a:cxnLst/>
            <a:rect l="l" t="t" r="r" b="b"/>
            <a:pathLst>
              <a:path w="946785" h="728344">
                <a:moveTo>
                  <a:pt x="582617" y="0"/>
                </a:moveTo>
                <a:lnTo>
                  <a:pt x="0" y="0"/>
                </a:lnTo>
                <a:lnTo>
                  <a:pt x="0" y="728342"/>
                </a:lnTo>
                <a:lnTo>
                  <a:pt x="582618" y="728342"/>
                </a:lnTo>
                <a:lnTo>
                  <a:pt x="632023" y="725018"/>
                </a:lnTo>
                <a:lnTo>
                  <a:pt x="679409" y="715334"/>
                </a:lnTo>
                <a:lnTo>
                  <a:pt x="724343" y="699724"/>
                </a:lnTo>
                <a:lnTo>
                  <a:pt x="766390" y="678623"/>
                </a:lnTo>
                <a:lnTo>
                  <a:pt x="805117" y="652464"/>
                </a:lnTo>
                <a:lnTo>
                  <a:pt x="840088" y="621681"/>
                </a:lnTo>
                <a:lnTo>
                  <a:pt x="870871" y="586708"/>
                </a:lnTo>
                <a:lnTo>
                  <a:pt x="897030" y="547979"/>
                </a:lnTo>
                <a:lnTo>
                  <a:pt x="918131" y="505928"/>
                </a:lnTo>
                <a:lnTo>
                  <a:pt x="933741" y="460989"/>
                </a:lnTo>
                <a:lnTo>
                  <a:pt x="943426" y="413596"/>
                </a:lnTo>
                <a:lnTo>
                  <a:pt x="946750" y="364182"/>
                </a:lnTo>
                <a:lnTo>
                  <a:pt x="943426" y="314768"/>
                </a:lnTo>
                <a:lnTo>
                  <a:pt x="933741" y="267374"/>
                </a:lnTo>
                <a:lnTo>
                  <a:pt x="918131" y="222433"/>
                </a:lnTo>
                <a:lnTo>
                  <a:pt x="897029" y="180380"/>
                </a:lnTo>
                <a:lnTo>
                  <a:pt x="870870" y="141648"/>
                </a:lnTo>
                <a:lnTo>
                  <a:pt x="840088" y="106673"/>
                </a:lnTo>
                <a:lnTo>
                  <a:pt x="805117" y="75887"/>
                </a:lnTo>
                <a:lnTo>
                  <a:pt x="766390" y="49725"/>
                </a:lnTo>
                <a:lnTo>
                  <a:pt x="724343" y="28621"/>
                </a:lnTo>
                <a:lnTo>
                  <a:pt x="679409" y="13010"/>
                </a:lnTo>
                <a:lnTo>
                  <a:pt x="632022" y="3324"/>
                </a:lnTo>
                <a:lnTo>
                  <a:pt x="5826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77710" y="2477797"/>
            <a:ext cx="946785" cy="728345"/>
          </a:xfrm>
          <a:custGeom>
            <a:avLst/>
            <a:gdLst/>
            <a:ahLst/>
            <a:cxnLst/>
            <a:rect l="l" t="t" r="r" b="b"/>
            <a:pathLst>
              <a:path w="946785" h="728344">
                <a:moveTo>
                  <a:pt x="582618" y="728342"/>
                </a:moveTo>
                <a:lnTo>
                  <a:pt x="0" y="728342"/>
                </a:lnTo>
                <a:lnTo>
                  <a:pt x="0" y="0"/>
                </a:lnTo>
                <a:lnTo>
                  <a:pt x="582617" y="0"/>
                </a:lnTo>
                <a:lnTo>
                  <a:pt x="632022" y="3324"/>
                </a:lnTo>
                <a:lnTo>
                  <a:pt x="679409" y="13010"/>
                </a:lnTo>
                <a:lnTo>
                  <a:pt x="724343" y="28621"/>
                </a:lnTo>
                <a:lnTo>
                  <a:pt x="766390" y="49725"/>
                </a:lnTo>
                <a:lnTo>
                  <a:pt x="805117" y="75887"/>
                </a:lnTo>
                <a:lnTo>
                  <a:pt x="840088" y="106673"/>
                </a:lnTo>
                <a:lnTo>
                  <a:pt x="870870" y="141648"/>
                </a:lnTo>
                <a:lnTo>
                  <a:pt x="897029" y="180380"/>
                </a:lnTo>
                <a:lnTo>
                  <a:pt x="918131" y="222433"/>
                </a:lnTo>
                <a:lnTo>
                  <a:pt x="933741" y="267374"/>
                </a:lnTo>
                <a:lnTo>
                  <a:pt x="943426" y="314768"/>
                </a:lnTo>
                <a:lnTo>
                  <a:pt x="946750" y="364182"/>
                </a:lnTo>
                <a:lnTo>
                  <a:pt x="943426" y="413596"/>
                </a:lnTo>
                <a:lnTo>
                  <a:pt x="933741" y="460989"/>
                </a:lnTo>
                <a:lnTo>
                  <a:pt x="918131" y="505928"/>
                </a:lnTo>
                <a:lnTo>
                  <a:pt x="897030" y="547979"/>
                </a:lnTo>
                <a:lnTo>
                  <a:pt x="870871" y="586708"/>
                </a:lnTo>
                <a:lnTo>
                  <a:pt x="840088" y="621681"/>
                </a:lnTo>
                <a:lnTo>
                  <a:pt x="805117" y="652464"/>
                </a:lnTo>
                <a:lnTo>
                  <a:pt x="766390" y="678623"/>
                </a:lnTo>
                <a:lnTo>
                  <a:pt x="724343" y="699724"/>
                </a:lnTo>
                <a:lnTo>
                  <a:pt x="679409" y="715334"/>
                </a:lnTo>
                <a:lnTo>
                  <a:pt x="632023" y="725018"/>
                </a:lnTo>
                <a:lnTo>
                  <a:pt x="582618" y="728342"/>
                </a:lnTo>
                <a:close/>
              </a:path>
            </a:pathLst>
          </a:custGeom>
          <a:ln w="171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381658" y="2288857"/>
            <a:ext cx="4595368" cy="1381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551739"/>
              </p:ext>
            </p:extLst>
          </p:nvPr>
        </p:nvGraphicFramePr>
        <p:xfrm>
          <a:off x="2398776" y="3783076"/>
          <a:ext cx="4924418" cy="29227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1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19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99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14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72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226">
                <a:tc gridSpan="3"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Input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7">
                  <a:txBody>
                    <a:bodyPr/>
                    <a:lstStyle/>
                    <a:p>
                      <a:pPr marL="53975" marR="4889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Output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227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A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B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C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good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E/0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F/0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L/0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21590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E/1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5244" marR="3175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F/1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55244" marR="48895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L/1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353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marR="2159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marR="3175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marR="4889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227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marR="2159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marR="31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marR="4889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353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marR="2159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marR="31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marR="4889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226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marR="2159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marR="31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marR="4889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315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marR="2159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marR="3175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marR="4889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290"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marR="2159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marR="31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marR="4889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277"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marR="2159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5244" marR="31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5244" marR="4889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290"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marR="2159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marR="31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marR="4889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7413" y="164414"/>
            <a:ext cx="62001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Fanout </a:t>
            </a:r>
            <a:r>
              <a:rPr dirty="0"/>
              <a:t>Stems and</a:t>
            </a:r>
            <a:r>
              <a:rPr spc="-60" dirty="0"/>
              <a:t> </a:t>
            </a:r>
            <a:r>
              <a:rPr dirty="0"/>
              <a:t>Branches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0225" y="900785"/>
            <a:ext cx="8391525" cy="14890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SSF </a:t>
            </a:r>
            <a:r>
              <a:rPr sz="2000" b="1" dirty="0">
                <a:latin typeface="Arial"/>
                <a:cs typeface="Arial"/>
              </a:rPr>
              <a:t>on fanout stem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not equivalent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2000" b="1" spc="-5" dirty="0">
                <a:latin typeface="Arial"/>
                <a:cs typeface="Arial"/>
              </a:rPr>
              <a:t>SSF </a:t>
            </a:r>
            <a:r>
              <a:rPr sz="2000" b="1" dirty="0">
                <a:latin typeface="Arial"/>
                <a:cs typeface="Arial"/>
              </a:rPr>
              <a:t>on fanout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branches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Faults on stems and faults on branches are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counted</a:t>
            </a:r>
            <a:r>
              <a:rPr sz="2000" b="1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separately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  <a:tab pos="1623695" algn="l"/>
              </a:tabLst>
            </a:pPr>
            <a:r>
              <a:rPr sz="2000" b="1" dirty="0">
                <a:latin typeface="Arial"/>
                <a:cs typeface="Arial"/>
              </a:rPr>
              <a:t>Example:	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E </a:t>
            </a:r>
            <a:r>
              <a:rPr sz="2000" b="1" dirty="0">
                <a:latin typeface="Arial"/>
                <a:cs typeface="Arial"/>
              </a:rPr>
              <a:t>is fanout stem; 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L,F </a:t>
            </a:r>
            <a:r>
              <a:rPr sz="2000" b="1" dirty="0">
                <a:latin typeface="Arial"/>
                <a:cs typeface="Arial"/>
              </a:rPr>
              <a:t>are fanout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branches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6 faults are not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equivalent</a:t>
            </a:r>
            <a:endParaRPr sz="20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/>
              <p:cNvSpPr txBox="1"/>
              <p:nvPr/>
            </p:nvSpPr>
            <p:spPr>
              <a:xfrm>
                <a:off x="108204" y="5262371"/>
                <a:ext cx="2231390" cy="778418"/>
              </a:xfrm>
              <a:prstGeom prst="rect">
                <a:avLst/>
              </a:prstGeom>
              <a:ln w="9144">
                <a:solidFill>
                  <a:srgbClr val="FF0000"/>
                </a:solidFill>
              </a:ln>
            </p:spPr>
            <p:txBody>
              <a:bodyPr vert="horz" wrap="square" lIns="0" tIns="39370" rIns="0" bIns="0" rtlCol="0">
                <a:spAutoFit/>
              </a:bodyPr>
              <a:lstStyle/>
              <a:p>
                <a:pPr marL="90805">
                  <a:lnSpc>
                    <a:spcPct val="100000"/>
                  </a:lnSpc>
                  <a:spcBef>
                    <a:spcPts val="310"/>
                  </a:spcBef>
                </a:pPr>
                <a:r>
                  <a:rPr sz="2400" b="1" spc="-5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Stem </a:t>
                </a:r>
                <a:r>
                  <a:rPr sz="2400" b="1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Faults</a:t>
                </a:r>
                <a:r>
                  <a:rPr lang="en-US" sz="2400" b="1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/>
                      </a:rPr>
                      <m:t>≠</m:t>
                    </m:r>
                  </m:oMath>
                </a14:m>
                <a:endParaRPr sz="2400" dirty="0">
                  <a:latin typeface="Arial"/>
                  <a:cs typeface="Arial"/>
                </a:endParaRPr>
              </a:p>
              <a:p>
                <a:pPr marL="90805">
                  <a:lnSpc>
                    <a:spcPct val="100000"/>
                  </a:lnSpc>
                </a:pPr>
                <a:r>
                  <a:rPr sz="2400" b="1" spc="-5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Branch</a:t>
                </a:r>
                <a:r>
                  <a:rPr sz="2400" b="1" spc="-50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 </a:t>
                </a:r>
                <a:r>
                  <a:rPr sz="2400" b="1" spc="-5" dirty="0">
                    <a:solidFill>
                      <a:srgbClr val="FF0000"/>
                    </a:solidFill>
                    <a:latin typeface="Helvetica"/>
                    <a:cs typeface="Helvetica"/>
                  </a:rPr>
                  <a:t>Faults</a:t>
                </a:r>
                <a:endParaRPr sz="2400" dirty="0">
                  <a:latin typeface="Helvetica"/>
                  <a:cs typeface="Helvetica"/>
                </a:endParaRPr>
              </a:p>
            </p:txBody>
          </p:sp>
        </mc:Choice>
        <mc:Fallback xmlns=""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04" y="5262371"/>
                <a:ext cx="2231390" cy="778418"/>
              </a:xfrm>
              <a:prstGeom prst="rect">
                <a:avLst/>
              </a:prstGeom>
              <a:blipFill>
                <a:blip r:embed="rId3"/>
                <a:stretch>
                  <a:fillRect l="-4520" t="-6250" r="-2825" b="-21875"/>
                </a:stretch>
              </a:blipFill>
              <a:ln w="9144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13">
            <a:extLst>
              <a:ext uri="{FF2B5EF4-FFF2-40B4-BE49-F238E27FC236}">
                <a16:creationId xmlns:a16="http://schemas.microsoft.com/office/drawing/2014/main" id="{185BD552-81EB-3AC3-2511-8500F876A61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0246" y="164414"/>
            <a:ext cx="1016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</a:t>
            </a:r>
            <a:r>
              <a:rPr spc="-15" dirty="0"/>
              <a:t>u</a:t>
            </a:r>
            <a:r>
              <a:rPr dirty="0"/>
              <a:t>iz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3667" y="1412747"/>
            <a:ext cx="6838315" cy="1270220"/>
          </a:xfrm>
          <a:prstGeom prst="rect">
            <a:avLst/>
          </a:prstGeom>
          <a:solidFill>
            <a:srgbClr val="66FF66"/>
          </a:solidFill>
          <a:ln w="9144">
            <a:solidFill>
              <a:srgbClr val="00AF5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sz="2000" b="1" dirty="0">
                <a:latin typeface="Helvetica"/>
                <a:cs typeface="Helvetica"/>
              </a:rPr>
              <a:t>Q: </a:t>
            </a:r>
            <a:r>
              <a:rPr sz="2000" b="1" spc="-5" dirty="0">
                <a:latin typeface="Helvetica"/>
                <a:cs typeface="Helvetica"/>
              </a:rPr>
              <a:t>How </a:t>
            </a:r>
            <a:r>
              <a:rPr sz="2000" b="1" dirty="0">
                <a:latin typeface="Helvetica"/>
                <a:cs typeface="Helvetica"/>
              </a:rPr>
              <a:t>many single stuck-at at faults in this</a:t>
            </a:r>
            <a:r>
              <a:rPr sz="2000" b="1" spc="-200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circuit?</a:t>
            </a:r>
            <a:endParaRPr sz="2000" dirty="0">
              <a:latin typeface="Helvetica"/>
              <a:cs typeface="Helvetica"/>
            </a:endParaRPr>
          </a:p>
          <a:p>
            <a:pPr marL="1400175" indent="-394335">
              <a:lnSpc>
                <a:spcPct val="100000"/>
              </a:lnSpc>
              <a:buAutoNum type="alphaUcPeriod"/>
              <a:tabLst>
                <a:tab pos="1400175" algn="l"/>
                <a:tab pos="1400810" algn="l"/>
              </a:tabLst>
            </a:pPr>
            <a:r>
              <a:rPr lang="en-US" sz="2000" b="1" spc="-15" dirty="0">
                <a:latin typeface="Helvetica"/>
                <a:cs typeface="Helvetica"/>
              </a:rPr>
              <a:t>9</a:t>
            </a:r>
            <a:r>
              <a:rPr sz="2000" b="1" spc="-1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fault</a:t>
            </a:r>
            <a:r>
              <a:rPr lang="en-US" sz="2000" b="1" dirty="0">
                <a:latin typeface="Helvetica"/>
                <a:cs typeface="Helvetica"/>
              </a:rPr>
              <a:t>s</a:t>
            </a:r>
            <a:endParaRPr sz="2000" dirty="0">
              <a:latin typeface="Helvetica"/>
              <a:cs typeface="Helvetica"/>
            </a:endParaRPr>
          </a:p>
          <a:p>
            <a:pPr marL="1400175" indent="-394335">
              <a:lnSpc>
                <a:spcPct val="100000"/>
              </a:lnSpc>
              <a:buAutoNum type="alphaUcPeriod"/>
              <a:tabLst>
                <a:tab pos="1400175" algn="l"/>
                <a:tab pos="1400810" algn="l"/>
              </a:tabLst>
            </a:pPr>
            <a:r>
              <a:rPr sz="2000" b="1" dirty="0">
                <a:latin typeface="Helvetica"/>
                <a:cs typeface="Helvetica"/>
              </a:rPr>
              <a:t>14</a:t>
            </a:r>
            <a:r>
              <a:rPr sz="2000" b="1" spc="-9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faults</a:t>
            </a:r>
            <a:endParaRPr sz="2000" dirty="0">
              <a:latin typeface="Helvetica"/>
              <a:cs typeface="Helvetica"/>
            </a:endParaRPr>
          </a:p>
          <a:p>
            <a:pPr marL="1400175" indent="-394335">
              <a:lnSpc>
                <a:spcPct val="100000"/>
              </a:lnSpc>
              <a:buAutoNum type="alphaUcPeriod"/>
              <a:tabLst>
                <a:tab pos="1400175" algn="l"/>
                <a:tab pos="1400810" algn="l"/>
              </a:tabLst>
            </a:pPr>
            <a:r>
              <a:rPr sz="2000" b="1" dirty="0">
                <a:latin typeface="Helvetica"/>
                <a:cs typeface="Helvetica"/>
              </a:rPr>
              <a:t>18</a:t>
            </a:r>
            <a:r>
              <a:rPr sz="2000" b="1" spc="-90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faults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05722" y="3367932"/>
            <a:ext cx="4595164" cy="13830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8622" y="164414"/>
            <a:ext cx="5156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Multiple Stuck-at Faults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4" y="900785"/>
            <a:ext cx="7922259" cy="112594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Multiple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stuck-at fault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(MSF)</a:t>
            </a:r>
            <a:r>
              <a:rPr sz="2000" b="1" spc="-1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model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More than one stuck </a:t>
            </a:r>
            <a:r>
              <a:rPr lang="en-US" sz="2000" b="1" dirty="0">
                <a:latin typeface="Arial"/>
                <a:cs typeface="Arial"/>
              </a:rPr>
              <a:t>at </a:t>
            </a:r>
            <a:r>
              <a:rPr sz="2000" b="1" dirty="0">
                <a:latin typeface="Arial"/>
                <a:cs typeface="Arial"/>
              </a:rPr>
              <a:t>fault in a</a:t>
            </a:r>
            <a:r>
              <a:rPr sz="2000" b="1" spc="-1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</a:t>
            </a:r>
            <a:r>
              <a:rPr lang="en-US" sz="2000" b="1" dirty="0">
                <a:latin typeface="Arial"/>
                <a:cs typeface="Arial"/>
              </a:rPr>
              <a:t> simultaneously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Quiz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225" y="3827500"/>
            <a:ext cx="6411595" cy="7569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Too may MSF, not scalable for large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Fortunately, SSF </a:t>
            </a:r>
            <a:r>
              <a:rPr sz="2000" b="1" dirty="0">
                <a:latin typeface="Arial"/>
                <a:cs typeface="Arial"/>
              </a:rPr>
              <a:t>test set can detect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many</a:t>
            </a:r>
            <a:r>
              <a:rPr sz="20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MSF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7532" y="2133600"/>
            <a:ext cx="7922259" cy="1630680"/>
          </a:xfrm>
          <a:prstGeom prst="rect">
            <a:avLst/>
          </a:prstGeom>
          <a:solidFill>
            <a:srgbClr val="66FF66"/>
          </a:solidFill>
          <a:ln w="9144">
            <a:solidFill>
              <a:srgbClr val="00AF5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369570" marR="552450" indent="-279400">
              <a:lnSpc>
                <a:spcPct val="100000"/>
              </a:lnSpc>
              <a:spcBef>
                <a:spcPts val="305"/>
              </a:spcBef>
            </a:pPr>
            <a:r>
              <a:rPr sz="2000" b="1" dirty="0">
                <a:latin typeface="Helvetica"/>
                <a:cs typeface="Helvetica"/>
              </a:rPr>
              <a:t>Q: </a:t>
            </a:r>
            <a:r>
              <a:rPr sz="2000" b="1" spc="-5" dirty="0">
                <a:latin typeface="Helvetica"/>
                <a:cs typeface="Helvetica"/>
              </a:rPr>
              <a:t>how </a:t>
            </a:r>
            <a:r>
              <a:rPr sz="2000" b="1" dirty="0">
                <a:latin typeface="Helvetica"/>
                <a:cs typeface="Helvetica"/>
              </a:rPr>
              <a:t>many multiple stuck-at faults in a circuit of </a:t>
            </a:r>
            <a:r>
              <a:rPr sz="2000" b="1" i="1" dirty="0">
                <a:latin typeface="HelveticaNeue-BoldItalic"/>
                <a:cs typeface="HelveticaNeue-BoldItalic"/>
              </a:rPr>
              <a:t>n</a:t>
            </a:r>
            <a:r>
              <a:rPr sz="2000" b="1" i="1" spc="-229" dirty="0">
                <a:latin typeface="HelveticaNeue-BoldItalic"/>
                <a:cs typeface="HelveticaNeue-BoldItalic"/>
              </a:rPr>
              <a:t> </a:t>
            </a:r>
            <a:r>
              <a:rPr sz="2000" b="1" dirty="0">
                <a:latin typeface="Helvetica"/>
                <a:cs typeface="Helvetica"/>
              </a:rPr>
              <a:t>nodes?  (do not include single stuck-at</a:t>
            </a:r>
            <a:r>
              <a:rPr sz="2000" b="1" spc="-10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fault)</a:t>
            </a:r>
            <a:endParaRPr sz="2000">
              <a:latin typeface="Helvetica"/>
              <a:cs typeface="Helvetica"/>
            </a:endParaRPr>
          </a:p>
          <a:p>
            <a:pPr marL="90805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A: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9927" y="5731764"/>
            <a:ext cx="5724525" cy="52451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MSF Not Considered in</a:t>
            </a:r>
            <a:r>
              <a:rPr sz="2800" b="1" spc="3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Helvetica"/>
                <a:cs typeface="Helvetica"/>
              </a:rPr>
              <a:t>Practice</a:t>
            </a:r>
            <a:endParaRPr sz="2800">
              <a:latin typeface="Helvetica"/>
              <a:cs typeface="Helvetic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23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9767" y="164414"/>
            <a:ext cx="30746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70" dirty="0"/>
              <a:t> </a:t>
            </a:r>
            <a:r>
              <a:rPr dirty="0"/>
              <a:t>Masking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125" y="900785"/>
            <a:ext cx="7279640" cy="29521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b="1" dirty="0">
                <a:latin typeface="Arial"/>
                <a:cs typeface="Arial"/>
              </a:rPr>
              <a:t>Fault </a:t>
            </a:r>
            <a:r>
              <a:rPr sz="2000" b="1" i="1" spc="5" dirty="0">
                <a:latin typeface="Arial-BoldItalicMT"/>
                <a:cs typeface="Arial-BoldItalicMT"/>
              </a:rPr>
              <a:t>f</a:t>
            </a:r>
            <a:r>
              <a:rPr sz="1950" b="1" i="1" spc="7" baseline="-21367" dirty="0">
                <a:latin typeface="Arial-BoldItalicMT"/>
                <a:cs typeface="Arial-BoldItalicMT"/>
              </a:rPr>
              <a:t>2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masks </a:t>
            </a:r>
            <a:r>
              <a:rPr sz="2000" b="1" dirty="0">
                <a:latin typeface="Arial"/>
                <a:cs typeface="Arial"/>
              </a:rPr>
              <a:t>fault </a:t>
            </a:r>
            <a:r>
              <a:rPr sz="2000" b="1" i="1" spc="5" dirty="0">
                <a:latin typeface="Arial-BoldItalicMT"/>
                <a:cs typeface="Arial-BoldItalicMT"/>
              </a:rPr>
              <a:t>f</a:t>
            </a:r>
            <a:r>
              <a:rPr sz="1950" b="1" i="1" spc="7" baseline="-21367" dirty="0">
                <a:latin typeface="Arial-BoldItalicMT"/>
                <a:cs typeface="Arial-BoldItalicMT"/>
              </a:rPr>
              <a:t>1</a:t>
            </a:r>
            <a:r>
              <a:rPr sz="1950" b="1" i="1" spc="-135" baseline="-21367" dirty="0">
                <a:latin typeface="Arial-BoldItalicMT"/>
                <a:cs typeface="Arial-BoldItalicMT"/>
              </a:rPr>
              <a:t> </a:t>
            </a:r>
            <a:r>
              <a:rPr sz="2000" b="1" spc="-10" dirty="0">
                <a:latin typeface="Arial"/>
                <a:cs typeface="Arial"/>
              </a:rPr>
              <a:t>if</a:t>
            </a:r>
            <a:endParaRPr sz="2000" dirty="0">
              <a:latin typeface="Arial"/>
              <a:cs typeface="Arial"/>
            </a:endParaRPr>
          </a:p>
          <a:p>
            <a:pPr marL="7943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dirty="0">
                <a:latin typeface="Arial"/>
                <a:cs typeface="Arial"/>
              </a:rPr>
              <a:t>A test for </a:t>
            </a:r>
            <a:r>
              <a:rPr sz="2000" b="1" i="1" spc="5" dirty="0">
                <a:latin typeface="Arial-BoldItalicMT"/>
                <a:cs typeface="Arial-BoldItalicMT"/>
              </a:rPr>
              <a:t>f</a:t>
            </a:r>
            <a:r>
              <a:rPr sz="1950" b="1" i="1" spc="7" baseline="-21367" dirty="0">
                <a:latin typeface="Arial-BoldItalicMT"/>
                <a:cs typeface="Arial-BoldItalicMT"/>
              </a:rPr>
              <a:t>1 </a:t>
            </a:r>
            <a:r>
              <a:rPr sz="2000" b="1" spc="-5" dirty="0">
                <a:latin typeface="Arial"/>
                <a:cs typeface="Arial"/>
              </a:rPr>
              <a:t>fails </a:t>
            </a:r>
            <a:r>
              <a:rPr sz="2000" b="1" dirty="0">
                <a:latin typeface="Arial"/>
                <a:cs typeface="Arial"/>
              </a:rPr>
              <a:t>to detect </a:t>
            </a:r>
            <a:r>
              <a:rPr sz="2000" b="1" i="1" spc="5" dirty="0">
                <a:latin typeface="Arial-BoldItalicMT"/>
                <a:cs typeface="Arial-BoldItalicMT"/>
              </a:rPr>
              <a:t>f</a:t>
            </a:r>
            <a:r>
              <a:rPr sz="1950" b="1" i="1" spc="7" baseline="-21367" dirty="0">
                <a:latin typeface="Arial-BoldItalicMT"/>
                <a:cs typeface="Arial-BoldItalicMT"/>
              </a:rPr>
              <a:t>1 </a:t>
            </a:r>
            <a:r>
              <a:rPr sz="2000" b="1" dirty="0">
                <a:latin typeface="Arial"/>
                <a:cs typeface="Arial"/>
              </a:rPr>
              <a:t>in the presence of</a:t>
            </a:r>
            <a:r>
              <a:rPr sz="2000" b="1" spc="175" dirty="0">
                <a:latin typeface="Arial"/>
                <a:cs typeface="Arial"/>
              </a:rPr>
              <a:t> </a:t>
            </a:r>
            <a:r>
              <a:rPr sz="2000" b="1" i="1" spc="10" dirty="0">
                <a:latin typeface="Arial-BoldItalicMT"/>
                <a:cs typeface="Arial-BoldItalicMT"/>
              </a:rPr>
              <a:t>f</a:t>
            </a:r>
            <a:r>
              <a:rPr sz="1950" b="1" i="1" spc="15" baseline="-21367" dirty="0">
                <a:latin typeface="Arial-BoldItalicMT"/>
                <a:cs typeface="Arial-BoldItalicMT"/>
              </a:rPr>
              <a:t>2</a:t>
            </a:r>
            <a:endParaRPr sz="1950" baseline="-21367" dirty="0">
              <a:latin typeface="Arial-BoldItalicMT"/>
              <a:cs typeface="Arial-BoldItalicMT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Arial"/>
              <a:buChar char="◆"/>
            </a:pPr>
            <a:endParaRPr sz="2900" dirty="0">
              <a:latin typeface="Arial-BoldItalicMT"/>
              <a:cs typeface="Arial-BoldItalicMT"/>
            </a:endParaRPr>
          </a:p>
          <a:p>
            <a:pPr marL="393700" indent="-342900">
              <a:lnSpc>
                <a:spcPct val="100000"/>
              </a:lnSpc>
              <a:buClr>
                <a:srgbClr val="FF0000"/>
              </a:buClr>
              <a:buSzPct val="120000"/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b="1" dirty="0">
                <a:latin typeface="Arial"/>
                <a:cs typeface="Arial"/>
              </a:rPr>
              <a:t>When a test </a:t>
            </a:r>
            <a:r>
              <a:rPr sz="2000" b="1" spc="-5" dirty="0">
                <a:latin typeface="Arial"/>
                <a:cs typeface="Arial"/>
              </a:rPr>
              <a:t>fails </a:t>
            </a:r>
            <a:r>
              <a:rPr sz="2000" b="1" dirty="0">
                <a:latin typeface="Arial"/>
                <a:cs typeface="Arial"/>
              </a:rPr>
              <a:t>to detect a fault it is supposed to</a:t>
            </a:r>
            <a:r>
              <a:rPr sz="2000" b="1" spc="-20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detect</a:t>
            </a:r>
            <a:endParaRPr sz="2000" dirty="0">
              <a:latin typeface="Arial"/>
              <a:cs typeface="Arial"/>
            </a:endParaRPr>
          </a:p>
          <a:p>
            <a:pPr marL="7943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dirty="0">
                <a:latin typeface="Arial"/>
                <a:cs typeface="Arial"/>
              </a:rPr>
              <a:t>We call it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test</a:t>
            </a:r>
            <a:r>
              <a:rPr sz="2000" b="1" i="1" spc="-10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invalidation</a:t>
            </a:r>
            <a:endParaRPr sz="2000" dirty="0">
              <a:latin typeface="Arial-BoldItalicMT"/>
              <a:cs typeface="Arial-BoldItalicMT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Arial"/>
              <a:buChar char="◆"/>
            </a:pPr>
            <a:endParaRPr sz="2900" dirty="0">
              <a:latin typeface="Arial-BoldItalicMT"/>
              <a:cs typeface="Arial-BoldItalicMT"/>
            </a:endParaRPr>
          </a:p>
          <a:p>
            <a:pPr marL="393700" indent="-342900">
              <a:lnSpc>
                <a:spcPct val="100000"/>
              </a:lnSpc>
              <a:buClr>
                <a:srgbClr val="FF0000"/>
              </a:buClr>
              <a:buSzPct val="120000"/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b="1" dirty="0">
                <a:latin typeface="Arial"/>
                <a:cs typeface="Arial"/>
              </a:rPr>
              <a:t>Fault masking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rarely </a:t>
            </a:r>
            <a:r>
              <a:rPr sz="2000" b="1" dirty="0">
                <a:latin typeface="Arial"/>
                <a:cs typeface="Arial"/>
              </a:rPr>
              <a:t>happens in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practice</a:t>
            </a:r>
            <a:endParaRPr sz="2000" dirty="0">
              <a:latin typeface="Arial"/>
              <a:cs typeface="Arial"/>
            </a:endParaRPr>
          </a:p>
          <a:p>
            <a:pPr marL="7943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dirty="0">
                <a:latin typeface="Arial"/>
                <a:cs typeface="Arial"/>
              </a:rPr>
              <a:t>Trouble more for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diagnosis </a:t>
            </a:r>
            <a:r>
              <a:rPr sz="2000" b="1" dirty="0">
                <a:latin typeface="Arial"/>
                <a:cs typeface="Arial"/>
              </a:rPr>
              <a:t>than for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testing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2416" y="5228844"/>
            <a:ext cx="7039609" cy="954405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Fault Masking Invalidates</a:t>
            </a:r>
            <a:r>
              <a:rPr sz="2800" b="1" spc="5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800" b="1" spc="-45" dirty="0">
                <a:solidFill>
                  <a:srgbClr val="FF0000"/>
                </a:solidFill>
                <a:latin typeface="Helvetica"/>
                <a:cs typeface="Helvetica"/>
              </a:rPr>
              <a:t>Tests</a:t>
            </a:r>
            <a:endParaRPr sz="2800">
              <a:latin typeface="Helvetica"/>
              <a:cs typeface="Helvetica"/>
            </a:endParaRPr>
          </a:p>
          <a:p>
            <a:pPr marL="92075">
              <a:lnSpc>
                <a:spcPct val="100000"/>
              </a:lnSpc>
            </a:pP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Fault Masking Makes Diagnosis</a:t>
            </a:r>
            <a:r>
              <a:rPr sz="2800" b="1" spc="1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Helvetica"/>
                <a:cs typeface="Helvetica"/>
              </a:rPr>
              <a:t>Difficult</a:t>
            </a:r>
            <a:endParaRPr sz="28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164414"/>
            <a:ext cx="32499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45" dirty="0"/>
              <a:t> </a:t>
            </a:r>
            <a:r>
              <a:rPr spc="-5" dirty="0"/>
              <a:t>Modeling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8268970" cy="18548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</a:t>
            </a: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Stuck-at</a:t>
            </a:r>
            <a:r>
              <a:rPr sz="2000" b="1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Number of single stuck-at faults is linear to circuit size :</a:t>
            </a:r>
            <a:r>
              <a:rPr sz="2000" b="1" spc="-2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2n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Multiple stuck-at faults are exponential in</a:t>
            </a:r>
            <a:r>
              <a:rPr sz="2000" b="1" spc="-2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number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Fault masking means </a:t>
            </a:r>
            <a:r>
              <a:rPr sz="2000" b="1" spc="5" dirty="0">
                <a:solidFill>
                  <a:srgbClr val="0000FF"/>
                </a:solidFill>
                <a:latin typeface="Arial"/>
                <a:cs typeface="Arial"/>
              </a:rPr>
              <a:t>two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faults cancel each</a:t>
            </a:r>
            <a:r>
              <a:rPr sz="2000" b="1" spc="-1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other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08320" y="3968496"/>
            <a:ext cx="1799844" cy="1946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24</a:t>
            </a:fld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29201</TotalTime>
  <Words>1648</Words>
  <Application>Microsoft Macintosh PowerPoint</Application>
  <PresentationFormat>On-screen Show (4:3)</PresentationFormat>
  <Paragraphs>456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 Unicode MS</vt:lpstr>
      <vt:lpstr>Arial</vt:lpstr>
      <vt:lpstr>Arial-BoldItalicMT</vt:lpstr>
      <vt:lpstr>Calibri</vt:lpstr>
      <vt:lpstr>Cambria Math</vt:lpstr>
      <vt:lpstr>Helvetica</vt:lpstr>
      <vt:lpstr>HelveticaNeue-BoldItalic</vt:lpstr>
      <vt:lpstr>Wingdings</vt:lpstr>
      <vt:lpstr>Office Theme</vt:lpstr>
      <vt:lpstr>ECE 553: TESTING AND TESTABLE DESIGN OF DIGITAL SYSTEMS</vt:lpstr>
      <vt:lpstr>Course Roadmap (EDA Topics)</vt:lpstr>
      <vt:lpstr>Why Am I Learning This?</vt:lpstr>
      <vt:lpstr>Fault Modeling</vt:lpstr>
      <vt:lpstr>Definitions</vt:lpstr>
      <vt:lpstr>Examples of Defects</vt:lpstr>
      <vt:lpstr>Photos of Defects</vt:lpstr>
      <vt:lpstr>Random Defects, Systematic Defects</vt:lpstr>
      <vt:lpstr>What is Fault Modeling?</vt:lpstr>
      <vt:lpstr>Why Fault Modeling?</vt:lpstr>
      <vt:lpstr>Test Patterns and Test Sets</vt:lpstr>
      <vt:lpstr>Fault Coverage (FC)</vt:lpstr>
      <vt:lpstr>Quiz</vt:lpstr>
      <vt:lpstr>Summary</vt:lpstr>
      <vt:lpstr>Fault Modeling</vt:lpstr>
      <vt:lpstr>Classification of Fault Models</vt:lpstr>
      <vt:lpstr>Single Stuck-at Fault Model</vt:lpstr>
      <vt:lpstr>Single Stuck-at Fault Example</vt:lpstr>
      <vt:lpstr>Quiz (Revisited)</vt:lpstr>
      <vt:lpstr>Fanout Stems and Branches</vt:lpstr>
      <vt:lpstr>Quiz</vt:lpstr>
      <vt:lpstr>Multiple Stuck-at Faults</vt:lpstr>
      <vt:lpstr>Fault Masking</vt:lpstr>
      <vt:lpstr>Fault Modeling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cmli</dc:creator>
  <cp:lastModifiedBy>Azadeh Davoodi</cp:lastModifiedBy>
  <cp:revision>232</cp:revision>
  <cp:lastPrinted>2025-01-27T23:18:02Z</cp:lastPrinted>
  <dcterms:created xsi:type="dcterms:W3CDTF">2022-08-17T00:47:06Z</dcterms:created>
  <dcterms:modified xsi:type="dcterms:W3CDTF">2026-09-10T14:04:13Z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2022-08-17T00:00:00Z</vt:filetime>
  </property>
</Properties>
</file>