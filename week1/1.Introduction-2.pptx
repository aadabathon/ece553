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4"/>
  </p:notesMasterIdLst>
  <p:sldIdLst>
    <p:sldId id="256" r:id="rId2"/>
    <p:sldId id="293" r:id="rId3"/>
    <p:sldId id="294" r:id="rId4"/>
    <p:sldId id="295" r:id="rId5"/>
    <p:sldId id="296" r:id="rId6"/>
    <p:sldId id="297" r:id="rId7"/>
    <p:sldId id="298" r:id="rId8"/>
    <p:sldId id="300" r:id="rId9"/>
    <p:sldId id="302" r:id="rId10"/>
    <p:sldId id="303" r:id="rId11"/>
    <p:sldId id="304" r:id="rId12"/>
    <p:sldId id="305" r:id="rId13"/>
    <p:sldId id="306" r:id="rId14"/>
    <p:sldId id="307" r:id="rId15"/>
    <p:sldId id="308" r:id="rId16"/>
    <p:sldId id="309" r:id="rId17"/>
    <p:sldId id="310" r:id="rId18"/>
    <p:sldId id="311" r:id="rId19"/>
    <p:sldId id="312" r:id="rId20"/>
    <p:sldId id="314" r:id="rId21"/>
    <p:sldId id="315" r:id="rId22"/>
    <p:sldId id="316" r:id="rId23"/>
    <p:sldId id="317" r:id="rId24"/>
    <p:sldId id="319" r:id="rId25"/>
    <p:sldId id="321" r:id="rId26"/>
    <p:sldId id="322" r:id="rId27"/>
    <p:sldId id="323" r:id="rId28"/>
    <p:sldId id="324" r:id="rId29"/>
    <p:sldId id="325" r:id="rId30"/>
    <p:sldId id="332" r:id="rId31"/>
    <p:sldId id="333" r:id="rId32"/>
    <p:sldId id="335" r:id="rId33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78"/>
    <p:restoredTop sz="83636"/>
  </p:normalViewPr>
  <p:slideViewPr>
    <p:cSldViewPr>
      <p:cViewPr varScale="1">
        <p:scale>
          <a:sx n="124" d="100"/>
          <a:sy n="124" d="100"/>
        </p:scale>
        <p:origin x="2888" y="17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73F2F4-069A-4346-8679-FA97C691195C}" type="datetimeFigureOut">
              <a:rPr lang="en-US" smtClean="0"/>
              <a:t>9/7/26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22CC2F-F856-C947-B9CF-170448065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7295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22CC2F-F856-C947-B9CF-170448065F0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0211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10^3/10^6=0.001=0.1%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22CC2F-F856-C947-B9CF-170448065F0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7024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200/10^6=0.0002=0.02%</a:t>
            </a:r>
          </a:p>
          <a:p>
            <a:endParaRPr lang="en-US" dirty="0"/>
          </a:p>
          <a:p>
            <a:r>
              <a:rPr lang="en-US" dirty="0"/>
              <a:t>1 – ( 1- 0.02%)^20 = 0.4%</a:t>
            </a:r>
          </a:p>
          <a:p>
            <a:r>
              <a:rPr lang="en-US" dirty="0"/>
              <a:t>From 2% (previous slide) to 0.4% is 5X improvement (lower) System DPM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22CC2F-F856-C947-B9CF-170448065F0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0457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22CC2F-F856-C947-B9CF-170448065F0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4500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Williams-Brown model</a:t>
            </a:r>
            <a:r>
              <a:rPr lang="en-US" dirty="0"/>
              <a:t> formula relates the quality of the shipped products (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Defect Level</a:t>
            </a:r>
            <a:r>
              <a:rPr lang="en-US" dirty="0"/>
              <a:t>) to the quality of the manufacturing process (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Yield</a:t>
            </a:r>
            <a:r>
              <a:rPr lang="en-US" dirty="0"/>
              <a:t>) and the quality of the test suite (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Fault Coverage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1-FC = the blind spot that test fails to cover</a:t>
            </a:r>
          </a:p>
          <a:p>
            <a:endParaRPr lang="en-US" dirty="0"/>
          </a:p>
          <a:p>
            <a:r>
              <a:rPr lang="en-US" dirty="0"/>
              <a:t>Y^(1-FC) = probability of being genuinely good</a:t>
            </a:r>
          </a:p>
          <a:p>
            <a:r>
              <a:rPr lang="en-US" dirty="0"/>
              <a:t>Under this model, faults are assumed to be randomly and independently distributed. If the probability of the entire chip being defect-free is Y, then the probability that the </a:t>
            </a:r>
            <a:r>
              <a:rPr lang="en-US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untested fraction</a:t>
            </a:r>
            <a:r>
              <a:rPr lang="en-US" dirty="0"/>
              <a:t> is defect-free scales exponentially with its size: 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Y^(1-FC)</a:t>
            </a:r>
          </a:p>
          <a:p>
            <a:endParaRPr lang="en-US" sz="1200" b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b="0" dirty="0"/>
              <a:t>The exponential nature of the formula means that 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your manufacturing yield Y is poor, your fault coverage FC must be exceptionally high</a:t>
            </a:r>
            <a:r>
              <a:rPr lang="en-US" b="0" dirty="0"/>
              <a:t> to keep defective parts from reaching customers.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22CC2F-F856-C947-B9CF-170448065F0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4059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need to know and won’t discuss at 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22CC2F-F856-C947-B9CF-170448065F0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6444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Q1: 1 – 0.98^(1-0.7) = 6042 DPM</a:t>
            </a:r>
          </a:p>
          <a:p>
            <a:r>
              <a:rPr lang="en-US" dirty="0"/>
              <a:t>Q2: 1 -  0.97^(1-0.99) = 304 DPM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22CC2F-F856-C947-B9CF-170448065F0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2572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probability of a number of independent events occurring in a fixed time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Number of defects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22CC2F-F856-C947-B9CF-170448065F0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4040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 = e^(- 0.8 x 0.5) = 67%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22CC2F-F856-C947-B9CF-170448065F0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4320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CAA: simulating how 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random particle defects</a:t>
            </a:r>
            <a:r>
              <a:rPr lang="en-US" b="0" dirty="0"/>
              <a:t> </a:t>
            </a:r>
            <a:r>
              <a:rPr lang="en-US" dirty="0"/>
              <a:t>interact with a physical chip layout</a:t>
            </a:r>
          </a:p>
          <a:p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random particle defects</a:t>
            </a:r>
            <a:r>
              <a:rPr lang="en-US" b="0" dirty="0"/>
              <a:t> interact with a physical chip layout. By combining foundry defect density data with software models, CAA identifies the specific layout zones—the 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critical areas</a:t>
            </a:r>
            <a:r>
              <a:rPr lang="en-US" b="0" dirty="0"/>
              <a:t>—where a particle of a given size will cause a functional failure, such as a 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short circuit (bridging)</a:t>
            </a:r>
            <a:r>
              <a:rPr lang="en-US" b="0" dirty="0"/>
              <a:t> or an 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broken wire (open fault)</a:t>
            </a:r>
          </a:p>
          <a:p>
            <a:endParaRPr lang="en-US" sz="1200" b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b="0" dirty="0"/>
              <a:t>https://</a:t>
            </a:r>
            <a:r>
              <a:rPr lang="en-US" b="0" dirty="0" err="1"/>
              <a:t>blogs.sw.siemens.com</a:t>
            </a:r>
            <a:r>
              <a:rPr lang="en-US" b="0" dirty="0"/>
              <a:t>/</a:t>
            </a:r>
            <a:r>
              <a:rPr lang="en-US" b="0" dirty="0" err="1"/>
              <a:t>calibre</a:t>
            </a:r>
            <a:r>
              <a:rPr lang="en-US" b="0" dirty="0"/>
              <a:t>/2021/04/01/what-is-critical-area-analysis-and-why-should-i-care-2/</a:t>
            </a:r>
          </a:p>
          <a:p>
            <a:endParaRPr lang="en-US" b="0" dirty="0"/>
          </a:p>
          <a:p>
            <a:r>
              <a:rPr lang="en-US" b="0" dirty="0"/>
              <a:t>Traditional 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ATPG </a:t>
            </a:r>
            <a:r>
              <a:rPr lang="en-US" b="0" dirty="0"/>
              <a:t>creates test vectors based on abstract logical assumptions, like the standard "stuck-at" fault model. CAA bridges the gap between physical reality and logical testing by locating exactly where physical defects are most likely to occur.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22CC2F-F856-C947-B9CF-170448065F0E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6328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not do IC testing well, board will be defective and will be thrown away, the cost for that is $5.</a:t>
            </a:r>
          </a:p>
          <a:p>
            <a:endParaRPr lang="en-US" dirty="0"/>
          </a:p>
          <a:p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Component/IC Level ($0.50):</a:t>
            </a:r>
            <a:r>
              <a:rPr lang="en-US" b="0" dirty="0"/>
              <a:t> Catching a fault (like a bridging or open circuit via CAA/ATPG) directly on the semiconductor wafer before packaging costs pennies.</a:t>
            </a:r>
          </a:p>
          <a:p>
            <a:endParaRPr lang="en-US" b="0" dirty="0"/>
          </a:p>
          <a:p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System/Final Assembly Level ($50.00):</a:t>
            </a:r>
            <a:r>
              <a:rPr lang="en-US" b="0" dirty="0"/>
              <a:t> If the board passes ICT and is built into the final chassis or product assembly, identifying the issue during system-level functional test spikes another 10x</a:t>
            </a:r>
          </a:p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22CC2F-F856-C947-B9CF-170448065F0E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9274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22CC2F-F856-C947-B9CF-170448065F0E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28491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IDM: Integrated Device Manufacturer: a semiconductor company that handles 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every single phase</a:t>
            </a:r>
            <a:r>
              <a:rPr lang="en-US" b="0" dirty="0"/>
              <a:t> of </a:t>
            </a:r>
            <a:r>
              <a:rPr lang="en-US" dirty="0"/>
              <a:t>the microchip creation process completely in-house</a:t>
            </a:r>
          </a:p>
          <a:p>
            <a:r>
              <a:rPr lang="en-US" dirty="0"/>
              <a:t>Design Houses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22CC2F-F856-C947-B9CF-170448065F0E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7691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EEF0FF"/>
                </a:solidFill>
                <a:effectLst/>
                <a:latin typeface="Google Sans"/>
              </a:rPr>
              <a:t>Outsourced Semiconductor Assembly and Test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22CC2F-F856-C947-B9CF-170448065F0E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56407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Fewer dies after DFT because design is larger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22CC2F-F856-C947-B9CF-170448065F0E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336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B1B1B1"/>
                </a:solidFill>
                <a:latin typeface="Helvetica"/>
                <a:cs typeface="Helvetica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VLSI </a:t>
            </a:r>
            <a:r>
              <a:rPr spc="-25" dirty="0"/>
              <a:t>Test </a:t>
            </a:r>
            <a:r>
              <a:rPr spc="-5" dirty="0"/>
              <a:t>1.1 </a:t>
            </a:r>
            <a:r>
              <a:rPr spc="-285" dirty="0"/>
              <a:t>© </a:t>
            </a:r>
            <a:r>
              <a:rPr spc="-5" dirty="0"/>
              <a:t>National </a:t>
            </a:r>
            <a:r>
              <a:rPr spc="-15" dirty="0"/>
              <a:t>Taiwan</a:t>
            </a:r>
            <a:r>
              <a:rPr spc="-10" dirty="0"/>
              <a:t> </a:t>
            </a:r>
            <a:r>
              <a:rPr spc="-5" dirty="0"/>
              <a:t>University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9/7/26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1">
                <a:solidFill>
                  <a:srgbClr val="00AF50"/>
                </a:solidFill>
                <a:latin typeface="HelveticaNeue-BoldItalic"/>
                <a:cs typeface="HelveticaNeue-BoldItal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600" b="1" i="1">
                <a:solidFill>
                  <a:srgbClr val="FF0000"/>
                </a:solidFill>
                <a:latin typeface="Arial-BoldItalicMT"/>
                <a:cs typeface="Arial-BoldItalic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B1B1B1"/>
                </a:solidFill>
                <a:latin typeface="Helvetica"/>
                <a:cs typeface="Helvetica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VLSI </a:t>
            </a:r>
            <a:r>
              <a:rPr spc="-25" dirty="0"/>
              <a:t>Test </a:t>
            </a:r>
            <a:r>
              <a:rPr spc="-5" dirty="0"/>
              <a:t>1.1 </a:t>
            </a:r>
            <a:r>
              <a:rPr spc="-285" dirty="0"/>
              <a:t>© </a:t>
            </a:r>
            <a:r>
              <a:rPr spc="-5" dirty="0"/>
              <a:t>National </a:t>
            </a:r>
            <a:r>
              <a:rPr spc="-15" dirty="0"/>
              <a:t>Taiwan</a:t>
            </a:r>
            <a:r>
              <a:rPr spc="-10" dirty="0"/>
              <a:t> </a:t>
            </a:r>
            <a:r>
              <a:rPr spc="-5" dirty="0"/>
              <a:t>University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9/7/26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1">
                <a:solidFill>
                  <a:srgbClr val="00AF50"/>
                </a:solidFill>
                <a:latin typeface="HelveticaNeue-BoldItalic"/>
                <a:cs typeface="HelveticaNeue-BoldItal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B1B1B1"/>
                </a:solidFill>
                <a:latin typeface="Helvetica"/>
                <a:cs typeface="Helvetica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VLSI </a:t>
            </a:r>
            <a:r>
              <a:rPr spc="-25" dirty="0"/>
              <a:t>Test </a:t>
            </a:r>
            <a:r>
              <a:rPr spc="-5" dirty="0"/>
              <a:t>1.1 </a:t>
            </a:r>
            <a:r>
              <a:rPr spc="-285" dirty="0"/>
              <a:t>© </a:t>
            </a:r>
            <a:r>
              <a:rPr spc="-5" dirty="0"/>
              <a:t>National </a:t>
            </a:r>
            <a:r>
              <a:rPr spc="-15" dirty="0"/>
              <a:t>Taiwan</a:t>
            </a:r>
            <a:r>
              <a:rPr spc="-10" dirty="0"/>
              <a:t> </a:t>
            </a:r>
            <a:r>
              <a:rPr spc="-5" dirty="0"/>
              <a:t>University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9/7/26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1">
                <a:solidFill>
                  <a:srgbClr val="00AF50"/>
                </a:solidFill>
                <a:latin typeface="HelveticaNeue-BoldItalic"/>
                <a:cs typeface="HelveticaNeue-BoldItal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B1B1B1"/>
                </a:solidFill>
                <a:latin typeface="Helvetica"/>
                <a:cs typeface="Helvetica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VLSI </a:t>
            </a:r>
            <a:r>
              <a:rPr spc="-25" dirty="0"/>
              <a:t>Test </a:t>
            </a:r>
            <a:r>
              <a:rPr spc="-5" dirty="0"/>
              <a:t>1.1 </a:t>
            </a:r>
            <a:r>
              <a:rPr spc="-285" dirty="0"/>
              <a:t>© </a:t>
            </a:r>
            <a:r>
              <a:rPr spc="-5" dirty="0"/>
              <a:t>National </a:t>
            </a:r>
            <a:r>
              <a:rPr spc="-15" dirty="0"/>
              <a:t>Taiwan</a:t>
            </a:r>
            <a:r>
              <a:rPr spc="-10" dirty="0"/>
              <a:t> </a:t>
            </a:r>
            <a:r>
              <a:rPr spc="-5" dirty="0"/>
              <a:t>University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9/7/26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B1B1B1"/>
                </a:solidFill>
                <a:latin typeface="Helvetica"/>
                <a:cs typeface="Helvetica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VLSI </a:t>
            </a:r>
            <a:r>
              <a:rPr spc="-25" dirty="0"/>
              <a:t>Test </a:t>
            </a:r>
            <a:r>
              <a:rPr spc="-5" dirty="0"/>
              <a:t>1.1 </a:t>
            </a:r>
            <a:r>
              <a:rPr spc="-285" dirty="0"/>
              <a:t>© </a:t>
            </a:r>
            <a:r>
              <a:rPr spc="-5" dirty="0"/>
              <a:t>National </a:t>
            </a:r>
            <a:r>
              <a:rPr spc="-15" dirty="0"/>
              <a:t>Taiwan</a:t>
            </a:r>
            <a:r>
              <a:rPr spc="-10" dirty="0"/>
              <a:t> </a:t>
            </a:r>
            <a:r>
              <a:rPr spc="-5" dirty="0"/>
              <a:t>University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9/7/26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837433" y="1956307"/>
            <a:ext cx="3469132" cy="5137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1">
                <a:solidFill>
                  <a:srgbClr val="00AF50"/>
                </a:solidFill>
                <a:latin typeface="HelveticaNeue-BoldItalic"/>
                <a:cs typeface="HelveticaNeue-BoldItal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04849" y="3419602"/>
            <a:ext cx="6734301" cy="2565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1">
                <a:solidFill>
                  <a:srgbClr val="FF0000"/>
                </a:solidFill>
                <a:latin typeface="Arial-BoldItalicMT"/>
                <a:cs typeface="Arial-BoldItalic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882132" y="6516427"/>
            <a:ext cx="3089275" cy="2076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rgbClr val="B1B1B1"/>
                </a:solidFill>
                <a:latin typeface="Helvetica"/>
                <a:cs typeface="Helvetica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VLSI </a:t>
            </a:r>
            <a:r>
              <a:rPr spc="-25" dirty="0"/>
              <a:t>Test </a:t>
            </a:r>
            <a:r>
              <a:rPr spc="-5" dirty="0"/>
              <a:t>1.1 </a:t>
            </a:r>
            <a:r>
              <a:rPr spc="-285" dirty="0"/>
              <a:t>© </a:t>
            </a:r>
            <a:r>
              <a:rPr spc="-5" dirty="0"/>
              <a:t>National </a:t>
            </a:r>
            <a:r>
              <a:rPr spc="-15" dirty="0"/>
              <a:t>Taiwan</a:t>
            </a:r>
            <a:r>
              <a:rPr spc="-10" dirty="0"/>
              <a:t> </a:t>
            </a:r>
            <a:r>
              <a:rPr spc="-5" dirty="0"/>
              <a:t>University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9/7/26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215798" y="6399903"/>
            <a:ext cx="245745" cy="3663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45.png"/><Relationship Id="rId10" Type="http://schemas.openxmlformats.org/officeDocument/2006/relationships/image" Target="../media/image13.png"/><Relationship Id="rId4" Type="http://schemas.openxmlformats.org/officeDocument/2006/relationships/image" Target="../media/image47.png"/><Relationship Id="rId9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jpg"/><Relationship Id="rId13" Type="http://schemas.openxmlformats.org/officeDocument/2006/relationships/image" Target="../media/image34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12" Type="http://schemas.openxmlformats.org/officeDocument/2006/relationships/image" Target="../media/image3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0" Type="http://schemas.openxmlformats.org/officeDocument/2006/relationships/image" Target="../media/image31.jpg"/><Relationship Id="rId4" Type="http://schemas.openxmlformats.org/officeDocument/2006/relationships/image" Target="../media/image25.jpg"/><Relationship Id="rId9" Type="http://schemas.openxmlformats.org/officeDocument/2006/relationships/image" Target="../media/image30.jpg"/><Relationship Id="rId14" Type="http://schemas.openxmlformats.org/officeDocument/2006/relationships/image" Target="../media/image35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47800" y="1538681"/>
            <a:ext cx="6491350" cy="16671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15" algn="ctr">
              <a:lnSpc>
                <a:spcPts val="4305"/>
              </a:lnSpc>
              <a:spcBef>
                <a:spcPts val="100"/>
              </a:spcBef>
            </a:pPr>
            <a:r>
              <a:rPr lang="en-US" altLang="en-US" sz="3600" i="0" dirty="0">
                <a:solidFill>
                  <a:srgbClr val="00B050"/>
                </a:solidFill>
                <a:latin typeface="Arial"/>
                <a:cs typeface="Arial"/>
              </a:rPr>
              <a:t>ECE 553: TESTING AND TESTABLE DESIGN OF DIGITAL SYSTEMS</a:t>
            </a:r>
            <a:endParaRPr sz="3600" i="0" dirty="0">
              <a:solidFill>
                <a:srgbClr val="00B050"/>
              </a:solidFill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1204849" y="3419602"/>
            <a:ext cx="6734301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8750" marR="149225" algn="ctr">
              <a:lnSpc>
                <a:spcPct val="100000"/>
              </a:lnSpc>
              <a:spcBef>
                <a:spcPts val="100"/>
              </a:spcBef>
            </a:pPr>
            <a:r>
              <a:rPr lang="en-US" spc="-5" dirty="0"/>
              <a:t>General </a:t>
            </a:r>
            <a:r>
              <a:rPr spc="-5" dirty="0"/>
              <a:t>Introduction</a:t>
            </a:r>
            <a:endParaRPr lang="en-US" spc="-5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1</a:t>
            </a:fld>
            <a:endParaRPr spc="-5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85"/>
    </mc:Choice>
    <mc:Fallback xmlns="">
      <p:transition spd="slow" advTm="2185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61792" y="164414"/>
            <a:ext cx="269113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0B050"/>
                </a:solidFill>
                <a:latin typeface="Arial"/>
                <a:cs typeface="Arial"/>
              </a:rPr>
              <a:t>Introduction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0225" y="961136"/>
            <a:ext cx="3687445" cy="292451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solidFill>
                  <a:srgbClr val="7E7E7E"/>
                </a:solidFill>
                <a:latin typeface="Arial"/>
                <a:cs typeface="Arial"/>
              </a:rPr>
              <a:t>What Is</a:t>
            </a:r>
            <a:r>
              <a:rPr sz="2000" b="1" spc="-5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7E7E7E"/>
                </a:solidFill>
                <a:latin typeface="Arial"/>
                <a:cs typeface="Arial"/>
              </a:rPr>
              <a:t>Testing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7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spc="-5" dirty="0">
                <a:solidFill>
                  <a:srgbClr val="7E7E7E"/>
                </a:solidFill>
                <a:latin typeface="Arial"/>
                <a:cs typeface="Arial"/>
              </a:rPr>
              <a:t>Types </a:t>
            </a:r>
            <a:r>
              <a:rPr sz="2000" b="1" dirty="0">
                <a:solidFill>
                  <a:srgbClr val="7E7E7E"/>
                </a:solidFill>
                <a:latin typeface="Arial"/>
                <a:cs typeface="Arial"/>
              </a:rPr>
              <a:t>of Testing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4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Test</a:t>
            </a:r>
            <a:r>
              <a:rPr sz="2000" b="1" u="sng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0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Quality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Defect per </a:t>
            </a:r>
            <a:r>
              <a:rPr sz="2000" b="1" u="sng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Million</a:t>
            </a:r>
            <a:r>
              <a:rPr sz="2000" b="1" u="sng" spc="-10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0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(DPM)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Models to Predict</a:t>
            </a:r>
            <a:r>
              <a:rPr sz="2000" b="1" spc="-9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DPM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Models to Predict</a:t>
            </a:r>
            <a:r>
              <a:rPr sz="2000" b="1" spc="-11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Yield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4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solidFill>
                  <a:srgbClr val="7E7E7E"/>
                </a:solidFill>
                <a:latin typeface="Arial"/>
                <a:cs typeface="Arial"/>
              </a:rPr>
              <a:t>Test</a:t>
            </a:r>
            <a:r>
              <a:rPr sz="2000" b="1" spc="-2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7E7E7E"/>
                </a:solidFill>
                <a:latin typeface="Arial"/>
                <a:cs typeface="Arial"/>
              </a:rPr>
              <a:t>Economics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solidFill>
                  <a:srgbClr val="7E7E7E"/>
                </a:solidFill>
                <a:latin typeface="Arial"/>
                <a:cs typeface="Arial"/>
              </a:rPr>
              <a:t>Conclusion</a:t>
            </a:r>
            <a:r>
              <a:rPr lang="en-US" sz="2000" b="1" dirty="0">
                <a:solidFill>
                  <a:srgbClr val="7E7E7E"/>
                </a:solidFill>
                <a:latin typeface="Arial"/>
                <a:cs typeface="Arial"/>
              </a:rPr>
              <a:t>s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439411" y="3247644"/>
            <a:ext cx="4119372" cy="295351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15798" y="6399903"/>
            <a:ext cx="393802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z="2400" b="1" spc="-5" dirty="0">
                <a:latin typeface="Arial"/>
                <a:cs typeface="Arial"/>
              </a:rPr>
              <a:t>2</a:t>
            </a:fld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30579" y="164414"/>
            <a:ext cx="655193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0B050"/>
                </a:solidFill>
                <a:latin typeface="Arial"/>
                <a:cs typeface="Arial"/>
              </a:rPr>
              <a:t>How to Measure Test Quality?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58583" y="3284217"/>
            <a:ext cx="922019" cy="829944"/>
          </a:xfrm>
          <a:prstGeom prst="rect">
            <a:avLst/>
          </a:prstGeom>
          <a:ln w="15827">
            <a:solidFill>
              <a:srgbClr val="000000"/>
            </a:solidFill>
          </a:ln>
        </p:spPr>
        <p:txBody>
          <a:bodyPr vert="horz" wrap="square" lIns="0" tIns="247650" rIns="0" bIns="0" rtlCol="0">
            <a:spAutoFit/>
          </a:bodyPr>
          <a:lstStyle/>
          <a:p>
            <a:pPr marL="33020">
              <a:lnSpc>
                <a:spcPct val="100000"/>
              </a:lnSpc>
              <a:spcBef>
                <a:spcPts val="1950"/>
              </a:spcBef>
            </a:pPr>
            <a:r>
              <a:rPr sz="2050" spc="-5" dirty="0">
                <a:latin typeface="Helvetica"/>
                <a:cs typeface="Helvetica"/>
              </a:rPr>
              <a:t>Testing</a:t>
            </a:r>
            <a:endParaRPr sz="2050">
              <a:latin typeface="Helvetica"/>
              <a:cs typeface="Helvetic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00937" y="3299548"/>
            <a:ext cx="2056130" cy="814705"/>
          </a:xfrm>
          <a:prstGeom prst="rect">
            <a:avLst/>
          </a:prstGeom>
          <a:ln w="15842">
            <a:solidFill>
              <a:srgbClr val="000000"/>
            </a:solidFill>
          </a:ln>
        </p:spPr>
        <p:txBody>
          <a:bodyPr vert="horz" wrap="square" lIns="0" tIns="107315" rIns="0" bIns="0" rtlCol="0">
            <a:spAutoFit/>
          </a:bodyPr>
          <a:lstStyle/>
          <a:p>
            <a:pPr marL="551180" marR="205104" indent="-352425">
              <a:lnSpc>
                <a:spcPts val="2360"/>
              </a:lnSpc>
              <a:spcBef>
                <a:spcPts val="845"/>
              </a:spcBef>
            </a:pPr>
            <a:r>
              <a:rPr sz="2050" spc="-20" dirty="0">
                <a:latin typeface="Helvetica"/>
                <a:cs typeface="Helvetica"/>
              </a:rPr>
              <a:t>M</a:t>
            </a:r>
            <a:r>
              <a:rPr sz="2050" spc="-5" dirty="0">
                <a:latin typeface="Helvetica"/>
                <a:cs typeface="Helvetica"/>
              </a:rPr>
              <a:t>a</a:t>
            </a:r>
            <a:r>
              <a:rPr sz="2050" dirty="0">
                <a:latin typeface="Helvetica"/>
                <a:cs typeface="Helvetica"/>
              </a:rPr>
              <a:t>n</a:t>
            </a:r>
            <a:r>
              <a:rPr sz="2050" spc="-25" dirty="0">
                <a:latin typeface="Helvetica"/>
                <a:cs typeface="Helvetica"/>
              </a:rPr>
              <a:t>u</a:t>
            </a:r>
            <a:r>
              <a:rPr sz="2050" spc="15" dirty="0">
                <a:latin typeface="Helvetica"/>
                <a:cs typeface="Helvetica"/>
              </a:rPr>
              <a:t>f</a:t>
            </a:r>
            <a:r>
              <a:rPr sz="2050" spc="-5" dirty="0">
                <a:latin typeface="Helvetica"/>
                <a:cs typeface="Helvetica"/>
              </a:rPr>
              <a:t>a</a:t>
            </a:r>
            <a:r>
              <a:rPr sz="2050" spc="-25" dirty="0">
                <a:latin typeface="Helvetica"/>
                <a:cs typeface="Helvetica"/>
              </a:rPr>
              <a:t>c</a:t>
            </a:r>
            <a:r>
              <a:rPr sz="2050" spc="-5" dirty="0">
                <a:latin typeface="Helvetica"/>
                <a:cs typeface="Helvetica"/>
              </a:rPr>
              <a:t>t</a:t>
            </a:r>
            <a:r>
              <a:rPr sz="2050" dirty="0">
                <a:latin typeface="Helvetica"/>
                <a:cs typeface="Helvetica"/>
              </a:rPr>
              <a:t>u</a:t>
            </a:r>
            <a:r>
              <a:rPr sz="2050" spc="-15" dirty="0">
                <a:latin typeface="Helvetica"/>
                <a:cs typeface="Helvetica"/>
              </a:rPr>
              <a:t>r</a:t>
            </a:r>
            <a:r>
              <a:rPr sz="2050" spc="-5" dirty="0">
                <a:latin typeface="Helvetica"/>
                <a:cs typeface="Helvetica"/>
              </a:rPr>
              <a:t>ing  Process</a:t>
            </a:r>
            <a:endParaRPr sz="2050">
              <a:latin typeface="Helvetica"/>
              <a:cs typeface="Helvetic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0224" y="900785"/>
            <a:ext cx="7923176" cy="249812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80"/>
              </a:spcBef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i="1" dirty="0">
                <a:solidFill>
                  <a:srgbClr val="FF0000"/>
                </a:solidFill>
                <a:latin typeface="Arial-BoldItalicMT"/>
                <a:cs typeface="Arial-BoldItalicMT"/>
              </a:rPr>
              <a:t>Defect Level</a:t>
            </a:r>
            <a:r>
              <a:rPr sz="2000" b="1" i="1" spc="-65" dirty="0">
                <a:solidFill>
                  <a:srgbClr val="FF0000"/>
                </a:solidFill>
                <a:latin typeface="Arial-BoldItalicMT"/>
                <a:cs typeface="Arial-BoldItalicMT"/>
              </a:rPr>
              <a:t> </a:t>
            </a:r>
            <a:r>
              <a:rPr sz="2000" b="1" i="1" dirty="0">
                <a:solidFill>
                  <a:srgbClr val="FF0000"/>
                </a:solidFill>
                <a:latin typeface="Arial-BoldItalicMT"/>
                <a:cs typeface="Arial-BoldItalicMT"/>
              </a:rPr>
              <a:t>(DL)</a:t>
            </a:r>
            <a:endParaRPr sz="2000" dirty="0">
              <a:latin typeface="Arial-BoldItalicMT"/>
              <a:cs typeface="Arial-BoldItalicMT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Fraction of </a:t>
            </a:r>
            <a:r>
              <a:rPr lang="en-US" sz="2000" b="1" dirty="0">
                <a:solidFill>
                  <a:srgbClr val="0000FF"/>
                </a:solidFill>
                <a:latin typeface="Arial"/>
                <a:cs typeface="Arial"/>
              </a:rPr>
              <a:t>bad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b="1" spc="-5" dirty="0">
                <a:solidFill>
                  <a:srgbClr val="0000FF"/>
                </a:solidFill>
                <a:latin typeface="Arial"/>
                <a:cs typeface="Arial"/>
              </a:rPr>
              <a:t>IC</a:t>
            </a:r>
            <a:r>
              <a:rPr lang="en-US" sz="2000" b="1" spc="-5" dirty="0">
                <a:solidFill>
                  <a:srgbClr val="0000FF"/>
                </a:solidFill>
                <a:latin typeface="Arial"/>
                <a:cs typeface="Arial"/>
              </a:rPr>
              <a:t>s</a:t>
            </a:r>
            <a:r>
              <a:rPr sz="2000" b="1" spc="-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passing the test (test</a:t>
            </a:r>
            <a:r>
              <a:rPr sz="2000" b="1" spc="-15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escapes)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Measured by </a:t>
            </a:r>
            <a:r>
              <a:rPr sz="2000" b="1" i="1" dirty="0">
                <a:solidFill>
                  <a:srgbClr val="FF0000"/>
                </a:solidFill>
                <a:latin typeface="Arial-BoldItalicMT"/>
                <a:cs typeface="Arial-BoldItalicMT"/>
              </a:rPr>
              <a:t>Defective Parts per </a:t>
            </a:r>
            <a:r>
              <a:rPr sz="2000" b="1" i="1" spc="-5" dirty="0">
                <a:solidFill>
                  <a:srgbClr val="FF0000"/>
                </a:solidFill>
                <a:latin typeface="Arial-BoldItalicMT"/>
                <a:cs typeface="Arial-BoldItalicMT"/>
              </a:rPr>
              <a:t>Million</a:t>
            </a:r>
            <a:r>
              <a:rPr sz="2000" b="1" i="1" spc="-140" dirty="0">
                <a:solidFill>
                  <a:srgbClr val="FF0000"/>
                </a:solidFill>
                <a:latin typeface="Arial-BoldItalicMT"/>
                <a:cs typeface="Arial-BoldItalicMT"/>
              </a:rPr>
              <a:t> </a:t>
            </a:r>
            <a:r>
              <a:rPr sz="2000" b="1" i="1" spc="-5" dirty="0">
                <a:solidFill>
                  <a:srgbClr val="FF0000"/>
                </a:solidFill>
                <a:latin typeface="Arial-BoldItalicMT"/>
                <a:cs typeface="Arial-BoldItalicMT"/>
              </a:rPr>
              <a:t>(DPM)</a:t>
            </a:r>
            <a:endParaRPr sz="2000" dirty="0">
              <a:latin typeface="Arial-BoldItalicMT"/>
              <a:cs typeface="Arial-BoldItalicMT"/>
            </a:endParaRPr>
          </a:p>
          <a:p>
            <a:pPr marL="927100">
              <a:lnSpc>
                <a:spcPct val="100000"/>
              </a:lnSpc>
              <a:spcBef>
                <a:spcPts val="480"/>
              </a:spcBef>
            </a:pPr>
            <a:r>
              <a:rPr sz="1800" spc="-600" dirty="0">
                <a:solidFill>
                  <a:srgbClr val="FF0000"/>
                </a:solidFill>
                <a:latin typeface="Arial"/>
                <a:cs typeface="Arial"/>
              </a:rPr>
              <a:t></a:t>
            </a:r>
            <a:r>
              <a:rPr sz="1800" spc="39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&lt; 200 DPM is acceptable for some</a:t>
            </a:r>
            <a:r>
              <a:rPr sz="2000" b="1" spc="-14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IC</a:t>
            </a:r>
            <a:endParaRPr sz="2000" dirty="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480"/>
              </a:spcBef>
            </a:pPr>
            <a:r>
              <a:rPr sz="1800" spc="-600" dirty="0">
                <a:solidFill>
                  <a:srgbClr val="FF0000"/>
                </a:solidFill>
                <a:latin typeface="Arial"/>
                <a:cs typeface="Arial"/>
              </a:rPr>
              <a:t></a:t>
            </a:r>
            <a:r>
              <a:rPr sz="1800" spc="39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&gt;1,000 DPM </a:t>
            </a:r>
            <a:r>
              <a:rPr sz="2000" b="1" spc="-10" dirty="0">
                <a:latin typeface="Arial"/>
                <a:cs typeface="Arial"/>
              </a:rPr>
              <a:t>is </a:t>
            </a:r>
            <a:r>
              <a:rPr sz="2000" b="1" spc="-5" dirty="0">
                <a:latin typeface="Arial"/>
                <a:cs typeface="Arial"/>
              </a:rPr>
              <a:t>very </a:t>
            </a:r>
            <a:r>
              <a:rPr sz="2000" b="1" dirty="0">
                <a:latin typeface="Arial"/>
                <a:cs typeface="Arial"/>
              </a:rPr>
              <a:t>bad for</a:t>
            </a:r>
            <a:r>
              <a:rPr sz="2000" b="1" spc="-7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IC</a:t>
            </a:r>
            <a:endParaRPr lang="en-US" sz="2000" b="1" dirty="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480"/>
              </a:spcBef>
            </a:pPr>
            <a:endParaRPr lang="en-US" sz="800" b="1" dirty="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480"/>
              </a:spcBef>
            </a:pPr>
            <a:r>
              <a:rPr lang="en-US" sz="2000" b="1" spc="-5" dirty="0">
                <a:latin typeface="Arial"/>
                <a:cs typeface="Arial"/>
              </a:rPr>
              <a:t>				</a:t>
            </a:r>
            <a:r>
              <a:rPr lang="en-US" sz="2050" spc="-5" dirty="0">
                <a:latin typeface="Helvetica"/>
                <a:cs typeface="Helvetica"/>
              </a:rPr>
              <a:t>Pass:</a:t>
            </a:r>
            <a:endParaRPr lang="en-US" sz="2050" dirty="0">
              <a:latin typeface="Helvetica"/>
              <a:cs typeface="Helvetic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589312" y="3294945"/>
            <a:ext cx="1654810" cy="338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50" spc="-5" dirty="0">
                <a:latin typeface="Helvetica"/>
                <a:cs typeface="Helvetica"/>
              </a:rPr>
              <a:t>Shipped</a:t>
            </a:r>
            <a:r>
              <a:rPr sz="2050" spc="-85" dirty="0">
                <a:latin typeface="Helvetica"/>
                <a:cs typeface="Helvetica"/>
              </a:rPr>
              <a:t> </a:t>
            </a:r>
            <a:r>
              <a:rPr sz="2050" spc="-5" dirty="0">
                <a:latin typeface="Helvetica"/>
                <a:cs typeface="Helvetica"/>
              </a:rPr>
              <a:t>Parts</a:t>
            </a:r>
            <a:endParaRPr sz="2050">
              <a:latin typeface="Helvetica"/>
              <a:cs typeface="Helvetic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835051" y="3611915"/>
            <a:ext cx="691515" cy="172720"/>
          </a:xfrm>
          <a:custGeom>
            <a:avLst/>
            <a:gdLst/>
            <a:ahLst/>
            <a:cxnLst/>
            <a:rect l="l" t="t" r="r" b="b"/>
            <a:pathLst>
              <a:path w="691514" h="172720">
                <a:moveTo>
                  <a:pt x="648310" y="86210"/>
                </a:moveTo>
                <a:lnTo>
                  <a:pt x="536029" y="153916"/>
                </a:lnTo>
                <a:lnTo>
                  <a:pt x="533876" y="156572"/>
                </a:lnTo>
                <a:lnTo>
                  <a:pt x="531293" y="159206"/>
                </a:lnTo>
                <a:lnTo>
                  <a:pt x="531293" y="164497"/>
                </a:lnTo>
                <a:lnTo>
                  <a:pt x="533876" y="167153"/>
                </a:lnTo>
                <a:lnTo>
                  <a:pt x="536029" y="169787"/>
                </a:lnTo>
                <a:lnTo>
                  <a:pt x="538612" y="172443"/>
                </a:lnTo>
                <a:lnTo>
                  <a:pt x="546577" y="172443"/>
                </a:lnTo>
                <a:lnTo>
                  <a:pt x="673714" y="96780"/>
                </a:lnTo>
                <a:lnTo>
                  <a:pt x="665839" y="96780"/>
                </a:lnTo>
                <a:lnTo>
                  <a:pt x="648310" y="86210"/>
                </a:lnTo>
                <a:close/>
              </a:path>
              <a:path w="691514" h="172720">
                <a:moveTo>
                  <a:pt x="630781" y="75641"/>
                </a:moveTo>
                <a:lnTo>
                  <a:pt x="7965" y="75641"/>
                </a:lnTo>
                <a:lnTo>
                  <a:pt x="2798" y="80931"/>
                </a:lnTo>
                <a:lnTo>
                  <a:pt x="0" y="86221"/>
                </a:lnTo>
                <a:lnTo>
                  <a:pt x="2798" y="91512"/>
                </a:lnTo>
                <a:lnTo>
                  <a:pt x="7965" y="96780"/>
                </a:lnTo>
                <a:lnTo>
                  <a:pt x="630781" y="96780"/>
                </a:lnTo>
                <a:lnTo>
                  <a:pt x="648310" y="86210"/>
                </a:lnTo>
                <a:lnTo>
                  <a:pt x="630781" y="75641"/>
                </a:lnTo>
                <a:close/>
              </a:path>
              <a:path w="691514" h="172720">
                <a:moveTo>
                  <a:pt x="665839" y="75641"/>
                </a:moveTo>
                <a:lnTo>
                  <a:pt x="648310" y="86210"/>
                </a:lnTo>
                <a:lnTo>
                  <a:pt x="665839" y="96780"/>
                </a:lnTo>
                <a:lnTo>
                  <a:pt x="665839" y="75641"/>
                </a:lnTo>
                <a:close/>
              </a:path>
              <a:path w="691514" h="172720">
                <a:moveTo>
                  <a:pt x="673677" y="75641"/>
                </a:moveTo>
                <a:lnTo>
                  <a:pt x="665839" y="75641"/>
                </a:lnTo>
                <a:lnTo>
                  <a:pt x="665839" y="96780"/>
                </a:lnTo>
                <a:lnTo>
                  <a:pt x="673714" y="96780"/>
                </a:lnTo>
                <a:lnTo>
                  <a:pt x="680134" y="92960"/>
                </a:lnTo>
                <a:lnTo>
                  <a:pt x="681554" y="91512"/>
                </a:lnTo>
                <a:lnTo>
                  <a:pt x="681554" y="80931"/>
                </a:lnTo>
                <a:lnTo>
                  <a:pt x="680161" y="79499"/>
                </a:lnTo>
                <a:lnTo>
                  <a:pt x="673677" y="75641"/>
                </a:lnTo>
                <a:close/>
              </a:path>
              <a:path w="691514" h="172720">
                <a:moveTo>
                  <a:pt x="680134" y="92960"/>
                </a:moveTo>
                <a:lnTo>
                  <a:pt x="673714" y="96780"/>
                </a:lnTo>
                <a:lnTo>
                  <a:pt x="676172" y="96780"/>
                </a:lnTo>
                <a:lnTo>
                  <a:pt x="678970" y="94146"/>
                </a:lnTo>
                <a:lnTo>
                  <a:pt x="680134" y="92960"/>
                </a:lnTo>
                <a:close/>
              </a:path>
              <a:path w="691514" h="172720">
                <a:moveTo>
                  <a:pt x="680161" y="79499"/>
                </a:moveTo>
                <a:lnTo>
                  <a:pt x="681554" y="80931"/>
                </a:lnTo>
                <a:lnTo>
                  <a:pt x="681554" y="91512"/>
                </a:lnTo>
                <a:lnTo>
                  <a:pt x="680134" y="92960"/>
                </a:lnTo>
                <a:lnTo>
                  <a:pt x="691456" y="86221"/>
                </a:lnTo>
                <a:lnTo>
                  <a:pt x="680161" y="79499"/>
                </a:lnTo>
                <a:close/>
              </a:path>
              <a:path w="691514" h="172720">
                <a:moveTo>
                  <a:pt x="546577" y="0"/>
                </a:moveTo>
                <a:lnTo>
                  <a:pt x="536029" y="0"/>
                </a:lnTo>
                <a:lnTo>
                  <a:pt x="533876" y="5290"/>
                </a:lnTo>
                <a:lnTo>
                  <a:pt x="531293" y="7924"/>
                </a:lnTo>
                <a:lnTo>
                  <a:pt x="531293" y="13215"/>
                </a:lnTo>
                <a:lnTo>
                  <a:pt x="533876" y="15849"/>
                </a:lnTo>
                <a:lnTo>
                  <a:pt x="536029" y="18505"/>
                </a:lnTo>
                <a:lnTo>
                  <a:pt x="648310" y="86210"/>
                </a:lnTo>
                <a:lnTo>
                  <a:pt x="665839" y="75641"/>
                </a:lnTo>
                <a:lnTo>
                  <a:pt x="673677" y="75641"/>
                </a:lnTo>
                <a:lnTo>
                  <a:pt x="546577" y="0"/>
                </a:lnTo>
                <a:close/>
              </a:path>
              <a:path w="691514" h="172720">
                <a:moveTo>
                  <a:pt x="676172" y="75641"/>
                </a:moveTo>
                <a:lnTo>
                  <a:pt x="673677" y="75641"/>
                </a:lnTo>
                <a:lnTo>
                  <a:pt x="680161" y="79499"/>
                </a:lnTo>
                <a:lnTo>
                  <a:pt x="678970" y="78275"/>
                </a:lnTo>
                <a:lnTo>
                  <a:pt x="676172" y="7564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835051" y="3687557"/>
            <a:ext cx="681990" cy="21590"/>
          </a:xfrm>
          <a:custGeom>
            <a:avLst/>
            <a:gdLst/>
            <a:ahLst/>
            <a:cxnLst/>
            <a:rect l="l" t="t" r="r" b="b"/>
            <a:pathLst>
              <a:path w="681989" h="21589">
                <a:moveTo>
                  <a:pt x="13131" y="0"/>
                </a:moveTo>
                <a:lnTo>
                  <a:pt x="671005" y="0"/>
                </a:lnTo>
                <a:lnTo>
                  <a:pt x="676172" y="0"/>
                </a:lnTo>
                <a:lnTo>
                  <a:pt x="678970" y="2634"/>
                </a:lnTo>
                <a:lnTo>
                  <a:pt x="681554" y="5290"/>
                </a:lnTo>
                <a:lnTo>
                  <a:pt x="681554" y="10580"/>
                </a:lnTo>
                <a:lnTo>
                  <a:pt x="681554" y="15871"/>
                </a:lnTo>
                <a:lnTo>
                  <a:pt x="678970" y="18505"/>
                </a:lnTo>
                <a:lnTo>
                  <a:pt x="676172" y="21139"/>
                </a:lnTo>
                <a:lnTo>
                  <a:pt x="671005" y="21139"/>
                </a:lnTo>
                <a:lnTo>
                  <a:pt x="13131" y="21139"/>
                </a:lnTo>
                <a:lnTo>
                  <a:pt x="7965" y="21139"/>
                </a:lnTo>
                <a:lnTo>
                  <a:pt x="5381" y="18505"/>
                </a:lnTo>
                <a:lnTo>
                  <a:pt x="2798" y="15871"/>
                </a:lnTo>
                <a:lnTo>
                  <a:pt x="0" y="10580"/>
                </a:lnTo>
                <a:lnTo>
                  <a:pt x="2798" y="5290"/>
                </a:lnTo>
                <a:lnTo>
                  <a:pt x="5381" y="2634"/>
                </a:lnTo>
                <a:lnTo>
                  <a:pt x="7965" y="0"/>
                </a:lnTo>
                <a:lnTo>
                  <a:pt x="13131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364836" y="3610407"/>
            <a:ext cx="163181" cy="17546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476938" y="3611915"/>
            <a:ext cx="1123950" cy="172720"/>
          </a:xfrm>
          <a:custGeom>
            <a:avLst/>
            <a:gdLst/>
            <a:ahLst/>
            <a:cxnLst/>
            <a:rect l="l" t="t" r="r" b="b"/>
            <a:pathLst>
              <a:path w="1123950" h="172720">
                <a:moveTo>
                  <a:pt x="1077680" y="86210"/>
                </a:moveTo>
                <a:lnTo>
                  <a:pt x="966144" y="153916"/>
                </a:lnTo>
                <a:lnTo>
                  <a:pt x="963346" y="156572"/>
                </a:lnTo>
                <a:lnTo>
                  <a:pt x="960763" y="159206"/>
                </a:lnTo>
                <a:lnTo>
                  <a:pt x="960763" y="164497"/>
                </a:lnTo>
                <a:lnTo>
                  <a:pt x="963346" y="167153"/>
                </a:lnTo>
                <a:lnTo>
                  <a:pt x="966144" y="172443"/>
                </a:lnTo>
                <a:lnTo>
                  <a:pt x="976047" y="172443"/>
                </a:lnTo>
                <a:lnTo>
                  <a:pt x="1105639" y="96780"/>
                </a:lnTo>
                <a:lnTo>
                  <a:pt x="1095087" y="96777"/>
                </a:lnTo>
                <a:lnTo>
                  <a:pt x="1077680" y="86210"/>
                </a:lnTo>
                <a:close/>
              </a:path>
              <a:path w="1123950" h="172720">
                <a:moveTo>
                  <a:pt x="1060268" y="75641"/>
                </a:moveTo>
                <a:lnTo>
                  <a:pt x="7965" y="75641"/>
                </a:lnTo>
                <a:lnTo>
                  <a:pt x="2583" y="78275"/>
                </a:lnTo>
                <a:lnTo>
                  <a:pt x="2583" y="80931"/>
                </a:lnTo>
                <a:lnTo>
                  <a:pt x="0" y="86221"/>
                </a:lnTo>
                <a:lnTo>
                  <a:pt x="2583" y="91512"/>
                </a:lnTo>
                <a:lnTo>
                  <a:pt x="2583" y="94146"/>
                </a:lnTo>
                <a:lnTo>
                  <a:pt x="7965" y="96780"/>
                </a:lnTo>
                <a:lnTo>
                  <a:pt x="1060274" y="96777"/>
                </a:lnTo>
                <a:lnTo>
                  <a:pt x="1077680" y="86210"/>
                </a:lnTo>
                <a:lnTo>
                  <a:pt x="1060268" y="75641"/>
                </a:lnTo>
                <a:close/>
              </a:path>
              <a:path w="1123950" h="172720">
                <a:moveTo>
                  <a:pt x="1095093" y="75641"/>
                </a:moveTo>
                <a:lnTo>
                  <a:pt x="1077680" y="86210"/>
                </a:lnTo>
                <a:lnTo>
                  <a:pt x="1095093" y="96780"/>
                </a:lnTo>
                <a:lnTo>
                  <a:pt x="1095093" y="75641"/>
                </a:lnTo>
                <a:close/>
              </a:path>
              <a:path w="1123950" h="172720">
                <a:moveTo>
                  <a:pt x="1105602" y="75641"/>
                </a:moveTo>
                <a:lnTo>
                  <a:pt x="1095093" y="75641"/>
                </a:lnTo>
                <a:lnTo>
                  <a:pt x="1095093" y="96780"/>
                </a:lnTo>
                <a:lnTo>
                  <a:pt x="1105645" y="96777"/>
                </a:lnTo>
                <a:lnTo>
                  <a:pt x="1108440" y="94146"/>
                </a:lnTo>
                <a:lnTo>
                  <a:pt x="1111023" y="91512"/>
                </a:lnTo>
                <a:lnTo>
                  <a:pt x="1111023" y="80931"/>
                </a:lnTo>
                <a:lnTo>
                  <a:pt x="1108440" y="78275"/>
                </a:lnTo>
                <a:lnTo>
                  <a:pt x="1105705" y="75701"/>
                </a:lnTo>
                <a:close/>
              </a:path>
              <a:path w="1123950" h="172720">
                <a:moveTo>
                  <a:pt x="1105705" y="75701"/>
                </a:moveTo>
                <a:lnTo>
                  <a:pt x="1108440" y="78275"/>
                </a:lnTo>
                <a:lnTo>
                  <a:pt x="1111023" y="80931"/>
                </a:lnTo>
                <a:lnTo>
                  <a:pt x="1111023" y="91512"/>
                </a:lnTo>
                <a:lnTo>
                  <a:pt x="1108440" y="94146"/>
                </a:lnTo>
                <a:lnTo>
                  <a:pt x="1105645" y="96777"/>
                </a:lnTo>
                <a:lnTo>
                  <a:pt x="1123724" y="86221"/>
                </a:lnTo>
                <a:lnTo>
                  <a:pt x="1105705" y="75701"/>
                </a:lnTo>
                <a:close/>
              </a:path>
              <a:path w="1123950" h="172720">
                <a:moveTo>
                  <a:pt x="976047" y="0"/>
                </a:moveTo>
                <a:lnTo>
                  <a:pt x="968728" y="0"/>
                </a:lnTo>
                <a:lnTo>
                  <a:pt x="966144" y="2634"/>
                </a:lnTo>
                <a:lnTo>
                  <a:pt x="963346" y="5290"/>
                </a:lnTo>
                <a:lnTo>
                  <a:pt x="960763" y="7924"/>
                </a:lnTo>
                <a:lnTo>
                  <a:pt x="960763" y="13215"/>
                </a:lnTo>
                <a:lnTo>
                  <a:pt x="963346" y="15849"/>
                </a:lnTo>
                <a:lnTo>
                  <a:pt x="966144" y="18505"/>
                </a:lnTo>
                <a:lnTo>
                  <a:pt x="1077680" y="86210"/>
                </a:lnTo>
                <a:lnTo>
                  <a:pt x="1095093" y="75641"/>
                </a:lnTo>
                <a:lnTo>
                  <a:pt x="1105602" y="75641"/>
                </a:lnTo>
                <a:lnTo>
                  <a:pt x="976047" y="0"/>
                </a:lnTo>
                <a:close/>
              </a:path>
              <a:path w="1123950" h="172720">
                <a:moveTo>
                  <a:pt x="1105641" y="75641"/>
                </a:move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476938" y="3687557"/>
            <a:ext cx="1111250" cy="21590"/>
          </a:xfrm>
          <a:custGeom>
            <a:avLst/>
            <a:gdLst/>
            <a:ahLst/>
            <a:cxnLst/>
            <a:rect l="l" t="t" r="r" b="b"/>
            <a:pathLst>
              <a:path w="1111250" h="21589">
                <a:moveTo>
                  <a:pt x="10548" y="0"/>
                </a:moveTo>
                <a:lnTo>
                  <a:pt x="1100475" y="0"/>
                </a:lnTo>
                <a:lnTo>
                  <a:pt x="1105641" y="0"/>
                </a:lnTo>
                <a:lnTo>
                  <a:pt x="1108440" y="2634"/>
                </a:lnTo>
                <a:lnTo>
                  <a:pt x="1111023" y="5290"/>
                </a:lnTo>
                <a:lnTo>
                  <a:pt x="1111023" y="10580"/>
                </a:lnTo>
                <a:lnTo>
                  <a:pt x="1111023" y="15871"/>
                </a:lnTo>
                <a:lnTo>
                  <a:pt x="1108440" y="18505"/>
                </a:lnTo>
                <a:lnTo>
                  <a:pt x="1105641" y="21139"/>
                </a:lnTo>
                <a:lnTo>
                  <a:pt x="1100475" y="21139"/>
                </a:lnTo>
                <a:lnTo>
                  <a:pt x="10548" y="21139"/>
                </a:lnTo>
                <a:lnTo>
                  <a:pt x="7965" y="21139"/>
                </a:lnTo>
                <a:lnTo>
                  <a:pt x="2583" y="18505"/>
                </a:lnTo>
                <a:lnTo>
                  <a:pt x="2583" y="15871"/>
                </a:lnTo>
                <a:lnTo>
                  <a:pt x="0" y="10580"/>
                </a:lnTo>
                <a:lnTo>
                  <a:pt x="2583" y="5290"/>
                </a:lnTo>
                <a:lnTo>
                  <a:pt x="2583" y="2634"/>
                </a:lnTo>
                <a:lnTo>
                  <a:pt x="7965" y="0"/>
                </a:lnTo>
                <a:lnTo>
                  <a:pt x="10548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436192" y="3610406"/>
            <a:ext cx="165979" cy="17546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923041" y="4193766"/>
            <a:ext cx="130175" cy="678180"/>
          </a:xfrm>
          <a:custGeom>
            <a:avLst/>
            <a:gdLst/>
            <a:ahLst/>
            <a:cxnLst/>
            <a:rect l="l" t="t" r="r" b="b"/>
            <a:pathLst>
              <a:path w="130175" h="678179">
                <a:moveTo>
                  <a:pt x="51665" y="547495"/>
                </a:moveTo>
                <a:lnTo>
                  <a:pt x="0" y="547495"/>
                </a:lnTo>
                <a:lnTo>
                  <a:pt x="64797" y="678134"/>
                </a:lnTo>
                <a:lnTo>
                  <a:pt x="114117" y="578697"/>
                </a:lnTo>
                <a:lnTo>
                  <a:pt x="59415" y="578697"/>
                </a:lnTo>
                <a:lnTo>
                  <a:pt x="56832" y="576042"/>
                </a:lnTo>
                <a:lnTo>
                  <a:pt x="54248" y="573925"/>
                </a:lnTo>
                <a:lnTo>
                  <a:pt x="51665" y="568635"/>
                </a:lnTo>
                <a:lnTo>
                  <a:pt x="51665" y="547495"/>
                </a:lnTo>
                <a:close/>
              </a:path>
              <a:path w="130175" h="678179">
                <a:moveTo>
                  <a:pt x="67380" y="0"/>
                </a:moveTo>
                <a:lnTo>
                  <a:pt x="59415" y="0"/>
                </a:lnTo>
                <a:lnTo>
                  <a:pt x="54248" y="5290"/>
                </a:lnTo>
                <a:lnTo>
                  <a:pt x="51665" y="10580"/>
                </a:lnTo>
                <a:lnTo>
                  <a:pt x="51665" y="568635"/>
                </a:lnTo>
                <a:lnTo>
                  <a:pt x="54248" y="573925"/>
                </a:lnTo>
                <a:lnTo>
                  <a:pt x="56832" y="576042"/>
                </a:lnTo>
                <a:lnTo>
                  <a:pt x="59415" y="578697"/>
                </a:lnTo>
                <a:lnTo>
                  <a:pt x="67380" y="578697"/>
                </a:lnTo>
                <a:lnTo>
                  <a:pt x="72116" y="576042"/>
                </a:lnTo>
                <a:lnTo>
                  <a:pt x="72116" y="573925"/>
                </a:lnTo>
                <a:lnTo>
                  <a:pt x="74699" y="568635"/>
                </a:lnTo>
                <a:lnTo>
                  <a:pt x="74699" y="10580"/>
                </a:lnTo>
                <a:lnTo>
                  <a:pt x="72116" y="5290"/>
                </a:lnTo>
                <a:lnTo>
                  <a:pt x="72116" y="2655"/>
                </a:lnTo>
                <a:lnTo>
                  <a:pt x="67380" y="0"/>
                </a:lnTo>
                <a:close/>
              </a:path>
              <a:path w="130175" h="678179">
                <a:moveTo>
                  <a:pt x="129594" y="547495"/>
                </a:moveTo>
                <a:lnTo>
                  <a:pt x="74699" y="547495"/>
                </a:lnTo>
                <a:lnTo>
                  <a:pt x="74699" y="568635"/>
                </a:lnTo>
                <a:lnTo>
                  <a:pt x="72116" y="573925"/>
                </a:lnTo>
                <a:lnTo>
                  <a:pt x="72116" y="576042"/>
                </a:lnTo>
                <a:lnTo>
                  <a:pt x="67380" y="578697"/>
                </a:lnTo>
                <a:lnTo>
                  <a:pt x="114117" y="578697"/>
                </a:lnTo>
                <a:lnTo>
                  <a:pt x="129594" y="54749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974706" y="4193766"/>
            <a:ext cx="23495" cy="579120"/>
          </a:xfrm>
          <a:custGeom>
            <a:avLst/>
            <a:gdLst/>
            <a:ahLst/>
            <a:cxnLst/>
            <a:rect l="l" t="t" r="r" b="b"/>
            <a:pathLst>
              <a:path w="23495" h="579120">
                <a:moveTo>
                  <a:pt x="23034" y="10580"/>
                </a:moveTo>
                <a:lnTo>
                  <a:pt x="23034" y="568635"/>
                </a:lnTo>
                <a:lnTo>
                  <a:pt x="20450" y="573925"/>
                </a:lnTo>
                <a:lnTo>
                  <a:pt x="20450" y="576042"/>
                </a:lnTo>
                <a:lnTo>
                  <a:pt x="15714" y="578697"/>
                </a:lnTo>
                <a:lnTo>
                  <a:pt x="13131" y="578697"/>
                </a:lnTo>
                <a:lnTo>
                  <a:pt x="7749" y="578697"/>
                </a:lnTo>
                <a:lnTo>
                  <a:pt x="5166" y="576042"/>
                </a:lnTo>
                <a:lnTo>
                  <a:pt x="2583" y="573925"/>
                </a:lnTo>
                <a:lnTo>
                  <a:pt x="0" y="568635"/>
                </a:lnTo>
                <a:lnTo>
                  <a:pt x="0" y="10580"/>
                </a:lnTo>
                <a:lnTo>
                  <a:pt x="2583" y="5290"/>
                </a:lnTo>
                <a:lnTo>
                  <a:pt x="5166" y="2655"/>
                </a:lnTo>
                <a:lnTo>
                  <a:pt x="7749" y="0"/>
                </a:lnTo>
                <a:lnTo>
                  <a:pt x="13131" y="0"/>
                </a:lnTo>
                <a:lnTo>
                  <a:pt x="15714" y="0"/>
                </a:lnTo>
                <a:lnTo>
                  <a:pt x="20450" y="2655"/>
                </a:lnTo>
                <a:lnTo>
                  <a:pt x="20450" y="5290"/>
                </a:lnTo>
                <a:lnTo>
                  <a:pt x="23034" y="1058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923041" y="4741262"/>
            <a:ext cx="130175" cy="130810"/>
          </a:xfrm>
          <a:custGeom>
            <a:avLst/>
            <a:gdLst/>
            <a:ahLst/>
            <a:cxnLst/>
            <a:rect l="l" t="t" r="r" b="b"/>
            <a:pathLst>
              <a:path w="130175" h="130810">
                <a:moveTo>
                  <a:pt x="129594" y="0"/>
                </a:moveTo>
                <a:lnTo>
                  <a:pt x="64797" y="130638"/>
                </a:lnTo>
                <a:lnTo>
                  <a:pt x="0" y="0"/>
                </a:lnTo>
                <a:lnTo>
                  <a:pt x="129594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3576883" y="4773929"/>
            <a:ext cx="760730" cy="635635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 marR="5080" indent="121285">
              <a:lnSpc>
                <a:spcPts val="2340"/>
              </a:lnSpc>
              <a:spcBef>
                <a:spcPts val="280"/>
              </a:spcBef>
            </a:pPr>
            <a:r>
              <a:rPr sz="2050" spc="-5" dirty="0">
                <a:latin typeface="Helvetica"/>
                <a:cs typeface="Helvetica"/>
              </a:rPr>
              <a:t>Fail:  </a:t>
            </a:r>
            <a:r>
              <a:rPr sz="2050" spc="-15" dirty="0">
                <a:latin typeface="Helvetica"/>
                <a:cs typeface="Helvetica"/>
              </a:rPr>
              <a:t>R</a:t>
            </a:r>
            <a:r>
              <a:rPr sz="2050" spc="-5" dirty="0">
                <a:latin typeface="Helvetica"/>
                <a:cs typeface="Helvetica"/>
              </a:rPr>
              <a:t>eject</a:t>
            </a:r>
            <a:endParaRPr sz="2050">
              <a:latin typeface="Helvetica"/>
              <a:cs typeface="Helvetic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15798" y="6399903"/>
            <a:ext cx="393802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z="2400" b="1" spc="-5" dirty="0">
                <a:latin typeface="Arial"/>
                <a:cs typeface="Arial"/>
              </a:rPr>
              <a:t>3</a:t>
            </a:fld>
            <a:endParaRPr sz="2400" dirty="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931670" y="6035802"/>
            <a:ext cx="5282565" cy="463550"/>
          </a:xfrm>
          <a:prstGeom prst="rect">
            <a:avLst/>
          </a:prstGeom>
          <a:ln w="19811">
            <a:solidFill>
              <a:srgbClr val="FF0000"/>
            </a:solidFill>
          </a:ln>
        </p:spPr>
        <p:txBody>
          <a:bodyPr vert="horz" wrap="square" lIns="0" tIns="39370" rIns="0" bIns="0" rtlCol="0">
            <a:spAutoFit/>
          </a:bodyPr>
          <a:lstStyle/>
          <a:p>
            <a:pPr marL="96520">
              <a:lnSpc>
                <a:spcPct val="100000"/>
              </a:lnSpc>
              <a:spcBef>
                <a:spcPts val="310"/>
              </a:spcBef>
            </a:pPr>
            <a:r>
              <a:rPr sz="2400" b="1" dirty="0">
                <a:solidFill>
                  <a:srgbClr val="FF0000"/>
                </a:solidFill>
                <a:latin typeface="Helvetica"/>
                <a:cs typeface="Helvetica"/>
              </a:rPr>
              <a:t>Low DPM </a:t>
            </a:r>
            <a:r>
              <a:rPr sz="2400" b="1" spc="-5" dirty="0">
                <a:solidFill>
                  <a:srgbClr val="FF0000"/>
                </a:solidFill>
                <a:latin typeface="Helvetica"/>
                <a:cs typeface="Helvetica"/>
              </a:rPr>
              <a:t>Means </a:t>
            </a:r>
            <a:r>
              <a:rPr sz="2400" b="1" dirty="0">
                <a:solidFill>
                  <a:srgbClr val="FF0000"/>
                </a:solidFill>
                <a:latin typeface="Helvetica"/>
                <a:cs typeface="Helvetica"/>
              </a:rPr>
              <a:t>Good </a:t>
            </a:r>
            <a:r>
              <a:rPr sz="2400" b="1" spc="-50" dirty="0">
                <a:solidFill>
                  <a:srgbClr val="FF0000"/>
                </a:solidFill>
                <a:latin typeface="Helvetica"/>
                <a:cs typeface="Helvetica"/>
              </a:rPr>
              <a:t>Test</a:t>
            </a:r>
            <a:r>
              <a:rPr sz="2400" b="1" spc="-40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sz="2400" b="1" dirty="0">
                <a:solidFill>
                  <a:srgbClr val="FF0000"/>
                </a:solidFill>
                <a:latin typeface="Helvetica"/>
                <a:cs typeface="Helvetica"/>
              </a:rPr>
              <a:t>Quality</a:t>
            </a:r>
            <a:endParaRPr sz="2400">
              <a:latin typeface="Helvetica"/>
              <a:cs typeface="Helvetica"/>
            </a:endParaRPr>
          </a:p>
        </p:txBody>
      </p:sp>
      <p:graphicFrame>
        <p:nvGraphicFramePr>
          <p:cNvPr id="18" name="object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3782027"/>
              </p:ext>
            </p:extLst>
          </p:nvPr>
        </p:nvGraphicFramePr>
        <p:xfrm>
          <a:off x="5270563" y="4056062"/>
          <a:ext cx="3199765" cy="13637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03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82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82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409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AA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Good</a:t>
                      </a:r>
                      <a:r>
                        <a:rPr sz="1200" b="1" spc="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IC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AA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b="1" spc="-5" dirty="0">
                          <a:latin typeface="Arial"/>
                          <a:cs typeface="Arial"/>
                        </a:rPr>
                        <a:t>Bad</a:t>
                      </a:r>
                      <a:r>
                        <a:rPr sz="12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IC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AA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b="1" spc="-5" dirty="0">
                          <a:latin typeface="Arial"/>
                          <a:cs typeface="Arial"/>
                        </a:rPr>
                        <a:t>Pass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AA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b="1" spc="-20" dirty="0">
                          <a:solidFill>
                            <a:srgbClr val="7E7E7E"/>
                          </a:solidFill>
                          <a:latin typeface="Arial"/>
                          <a:cs typeface="Arial"/>
                        </a:rPr>
                        <a:t>True </a:t>
                      </a:r>
                      <a:r>
                        <a:rPr sz="1200" b="1" spc="-35" dirty="0">
                          <a:solidFill>
                            <a:srgbClr val="7E7E7E"/>
                          </a:solidFill>
                          <a:latin typeface="Arial"/>
                          <a:cs typeface="Arial"/>
                        </a:rPr>
                        <a:t>PASS</a:t>
                      </a:r>
                      <a:endParaRPr sz="1200" dirty="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101600">
                        <a:lnSpc>
                          <a:spcPct val="120000"/>
                        </a:lnSpc>
                        <a:spcBef>
                          <a:spcPts val="45"/>
                        </a:spcBef>
                      </a:pPr>
                      <a:r>
                        <a:rPr sz="1200" b="1" spc="-25" dirty="0">
                          <a:latin typeface="Arial"/>
                          <a:cs typeface="Arial"/>
                        </a:rPr>
                        <a:t>Test </a:t>
                      </a:r>
                      <a:r>
                        <a:rPr sz="1200" b="1" spc="-5" dirty="0">
                          <a:latin typeface="Arial"/>
                          <a:cs typeface="Arial"/>
                        </a:rPr>
                        <a:t>Escapes  (Defect</a:t>
                      </a:r>
                      <a:r>
                        <a:rPr sz="1200" b="1" spc="-7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5" dirty="0">
                          <a:latin typeface="Arial"/>
                          <a:cs typeface="Arial"/>
                        </a:rPr>
                        <a:t>Level)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571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9876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Fail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AA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b="1" spc="-15" dirty="0">
                          <a:solidFill>
                            <a:srgbClr val="7E7E7E"/>
                          </a:solidFill>
                          <a:latin typeface="Arial"/>
                          <a:cs typeface="Arial"/>
                        </a:rPr>
                        <a:t>Yield</a:t>
                      </a:r>
                      <a:r>
                        <a:rPr sz="1200" b="1" dirty="0">
                          <a:solidFill>
                            <a:srgbClr val="7E7E7E"/>
                          </a:solidFill>
                          <a:latin typeface="Arial"/>
                          <a:cs typeface="Arial"/>
                        </a:rPr>
                        <a:t> Loss</a:t>
                      </a:r>
                      <a:endParaRPr sz="1200" dirty="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b="1" spc="-15" dirty="0">
                          <a:solidFill>
                            <a:srgbClr val="7E7E7E"/>
                          </a:solidFill>
                          <a:latin typeface="Arial"/>
                          <a:cs typeface="Arial"/>
                        </a:rPr>
                        <a:t>True</a:t>
                      </a:r>
                      <a:r>
                        <a:rPr sz="1200" b="1" spc="-20" dirty="0">
                          <a:solidFill>
                            <a:srgbClr val="7E7E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5" dirty="0">
                          <a:solidFill>
                            <a:srgbClr val="7E7E7E"/>
                          </a:solidFill>
                          <a:latin typeface="Arial"/>
                          <a:cs typeface="Arial"/>
                        </a:rPr>
                        <a:t>Reject</a:t>
                      </a:r>
                      <a:endParaRPr sz="1200" dirty="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215798" y="6399903"/>
            <a:ext cx="393802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z="2400" b="1" spc="-5" dirty="0">
                <a:latin typeface="Arial"/>
                <a:cs typeface="Arial"/>
              </a:rPr>
              <a:t>4</a:t>
            </a:fld>
            <a:endParaRPr sz="2400" dirty="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59101" y="164414"/>
            <a:ext cx="509651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0B050"/>
                </a:solidFill>
                <a:latin typeface="Arial"/>
                <a:cs typeface="Arial"/>
              </a:rPr>
              <a:t>IC DPM → System DPM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2125" y="961136"/>
            <a:ext cx="8391525" cy="287065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93700" indent="-342900">
              <a:lnSpc>
                <a:spcPct val="100000"/>
              </a:lnSpc>
              <a:spcBef>
                <a:spcPts val="10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93065" algn="l"/>
                <a:tab pos="393700" algn="l"/>
              </a:tabLst>
            </a:pPr>
            <a:r>
              <a:rPr sz="2000" b="1" dirty="0">
                <a:latin typeface="Arial"/>
                <a:cs typeface="Arial"/>
              </a:rPr>
              <a:t>If </a:t>
            </a:r>
            <a:r>
              <a:rPr sz="2000" b="1" spc="-10" dirty="0">
                <a:latin typeface="Arial"/>
                <a:cs typeface="Arial"/>
              </a:rPr>
              <a:t>you </a:t>
            </a:r>
            <a:r>
              <a:rPr sz="2000" b="1" dirty="0">
                <a:latin typeface="Arial"/>
                <a:cs typeface="Arial"/>
              </a:rPr>
              <a:t>think DPM= 1,000 </a:t>
            </a:r>
            <a:r>
              <a:rPr sz="2000" b="1" spc="-10" dirty="0">
                <a:latin typeface="Arial"/>
                <a:cs typeface="Arial"/>
              </a:rPr>
              <a:t>(0.1%) </a:t>
            </a:r>
            <a:r>
              <a:rPr sz="2000" b="1" dirty="0">
                <a:latin typeface="Arial"/>
                <a:cs typeface="Arial"/>
              </a:rPr>
              <a:t>is </a:t>
            </a:r>
            <a:r>
              <a:rPr lang="en-US" sz="2000" b="1" dirty="0">
                <a:latin typeface="Arial"/>
                <a:cs typeface="Arial"/>
              </a:rPr>
              <a:t>a sufficient level of defect</a:t>
            </a:r>
            <a:r>
              <a:rPr sz="2000" b="1" dirty="0">
                <a:latin typeface="Arial"/>
                <a:cs typeface="Arial"/>
              </a:rPr>
              <a:t>, consider this</a:t>
            </a:r>
            <a:r>
              <a:rPr sz="2000" b="1" spc="-10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case</a:t>
            </a:r>
            <a:endParaRPr sz="20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FF0000"/>
              </a:buClr>
              <a:buFont typeface="Arial"/>
              <a:buChar char="•"/>
            </a:pPr>
            <a:endParaRPr sz="2900" dirty="0">
              <a:latin typeface="Arial"/>
              <a:cs typeface="Arial"/>
            </a:endParaRPr>
          </a:p>
          <a:p>
            <a:pPr marL="393700" indent="-342900">
              <a:lnSpc>
                <a:spcPct val="100000"/>
              </a:lnSpc>
              <a:spcBef>
                <a:spcPts val="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93065" algn="l"/>
                <a:tab pos="393700" algn="l"/>
              </a:tabLst>
            </a:pPr>
            <a:r>
              <a:rPr sz="2000" b="1" dirty="0">
                <a:latin typeface="Arial"/>
                <a:cs typeface="Arial"/>
              </a:rPr>
              <a:t>A </a:t>
            </a:r>
            <a:r>
              <a:rPr sz="2000" b="1" spc="-5" dirty="0">
                <a:latin typeface="Arial"/>
                <a:cs typeface="Arial"/>
              </a:rPr>
              <a:t>system </a:t>
            </a:r>
            <a:r>
              <a:rPr sz="2000" b="1" dirty="0">
                <a:latin typeface="Arial"/>
                <a:cs typeface="Arial"/>
              </a:rPr>
              <a:t>has twenty </a:t>
            </a:r>
            <a:r>
              <a:rPr sz="2000" b="1" spc="-5" dirty="0">
                <a:latin typeface="Arial"/>
                <a:cs typeface="Arial"/>
              </a:rPr>
              <a:t>IC</a:t>
            </a:r>
            <a:r>
              <a:rPr lang="en-US" sz="2000" b="1" spc="-5" dirty="0">
                <a:latin typeface="Arial"/>
                <a:cs typeface="Arial"/>
              </a:rPr>
              <a:t>s</a:t>
            </a:r>
            <a:r>
              <a:rPr sz="2000" b="1" spc="-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(each 1000 DPM), </a:t>
            </a:r>
            <a:r>
              <a:rPr sz="2000" b="1" spc="10" dirty="0">
                <a:latin typeface="Arial"/>
                <a:cs typeface="Arial"/>
              </a:rPr>
              <a:t>what </a:t>
            </a:r>
            <a:r>
              <a:rPr sz="2000" b="1" dirty="0">
                <a:latin typeface="Arial"/>
                <a:cs typeface="Arial"/>
              </a:rPr>
              <a:t>is </a:t>
            </a:r>
            <a:r>
              <a:rPr sz="2000" b="1" spc="-5" dirty="0">
                <a:latin typeface="Arial"/>
                <a:cs typeface="Arial"/>
              </a:rPr>
              <a:t>system</a:t>
            </a:r>
            <a:r>
              <a:rPr sz="2000" b="1" spc="-21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DPM?</a:t>
            </a:r>
            <a:endParaRPr sz="2000" dirty="0">
              <a:latin typeface="Arial"/>
              <a:cs typeface="Arial"/>
            </a:endParaRPr>
          </a:p>
          <a:p>
            <a:pPr marL="7943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94385" algn="l"/>
                <a:tab pos="795020" algn="l"/>
              </a:tabLst>
            </a:pPr>
            <a:r>
              <a:rPr sz="2000" b="1" spc="5" dirty="0">
                <a:latin typeface="Arial"/>
                <a:cs typeface="Arial"/>
              </a:rPr>
              <a:t>No </a:t>
            </a:r>
            <a:r>
              <a:rPr sz="2000" b="1" spc="-5" dirty="0">
                <a:latin typeface="Arial"/>
                <a:cs typeface="Arial"/>
              </a:rPr>
              <a:t>IC </a:t>
            </a:r>
            <a:r>
              <a:rPr sz="2000" b="1" dirty="0">
                <a:latin typeface="Arial"/>
                <a:cs typeface="Arial"/>
              </a:rPr>
              <a:t>is </a:t>
            </a:r>
            <a:r>
              <a:rPr sz="2000" b="1" spc="-5" dirty="0">
                <a:latin typeface="Arial"/>
                <a:cs typeface="Arial"/>
              </a:rPr>
              <a:t>defective </a:t>
            </a:r>
            <a:r>
              <a:rPr sz="2000" b="1" dirty="0">
                <a:latin typeface="Arial"/>
                <a:cs typeface="Arial"/>
              </a:rPr>
              <a:t>for </a:t>
            </a:r>
            <a:r>
              <a:rPr sz="2000" b="1" spc="-5" dirty="0">
                <a:latin typeface="Arial"/>
                <a:cs typeface="Arial"/>
              </a:rPr>
              <a:t>system </a:t>
            </a:r>
            <a:r>
              <a:rPr sz="2000" b="1" dirty="0">
                <a:latin typeface="Arial"/>
                <a:cs typeface="Arial"/>
              </a:rPr>
              <a:t>to </a:t>
            </a:r>
            <a:r>
              <a:rPr sz="2000" b="1" spc="10" dirty="0">
                <a:latin typeface="Arial"/>
                <a:cs typeface="Arial"/>
              </a:rPr>
              <a:t>work</a:t>
            </a:r>
            <a:r>
              <a:rPr sz="2000" b="1" spc="-15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correctly</a:t>
            </a:r>
            <a:endParaRPr sz="2000" dirty="0">
              <a:latin typeface="Arial"/>
              <a:cs typeface="Arial"/>
            </a:endParaRPr>
          </a:p>
          <a:p>
            <a:pPr marL="965200">
              <a:lnSpc>
                <a:spcPct val="100000"/>
              </a:lnSpc>
              <a:spcBef>
                <a:spcPts val="480"/>
              </a:spcBef>
            </a:pPr>
            <a:r>
              <a:rPr sz="1800" spc="-600" dirty="0">
                <a:solidFill>
                  <a:srgbClr val="FF0000"/>
                </a:solidFill>
                <a:latin typeface="Arial"/>
                <a:cs typeface="Arial"/>
              </a:rPr>
              <a:t></a:t>
            </a:r>
            <a:r>
              <a:rPr sz="1800" spc="40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System </a:t>
            </a:r>
            <a:r>
              <a:rPr sz="2000" b="1" dirty="0">
                <a:latin typeface="Arial"/>
                <a:cs typeface="Arial"/>
              </a:rPr>
              <a:t>DPM = </a:t>
            </a:r>
            <a:r>
              <a:rPr sz="2000" b="1" spc="-5" dirty="0">
                <a:solidFill>
                  <a:srgbClr val="0000FF"/>
                </a:solidFill>
                <a:latin typeface="Arial"/>
                <a:cs typeface="Arial"/>
              </a:rPr>
              <a:t>1-(1-0.</a:t>
            </a:r>
            <a:r>
              <a:rPr lang="en-US" sz="2000" b="1" spc="-5" dirty="0">
                <a:solidFill>
                  <a:srgbClr val="0000FF"/>
                </a:solidFill>
                <a:latin typeface="Arial"/>
                <a:cs typeface="Arial"/>
              </a:rPr>
              <a:t>001</a:t>
            </a:r>
            <a:r>
              <a:rPr sz="2000" b="1" spc="-5" dirty="0">
                <a:solidFill>
                  <a:srgbClr val="0000FF"/>
                </a:solidFill>
                <a:latin typeface="Arial"/>
                <a:cs typeface="Arial"/>
              </a:rPr>
              <a:t>)</a:t>
            </a:r>
            <a:r>
              <a:rPr sz="1950" b="1" spc="-7" baseline="25641" dirty="0">
                <a:solidFill>
                  <a:srgbClr val="0000FF"/>
                </a:solidFill>
                <a:latin typeface="Arial"/>
                <a:cs typeface="Arial"/>
              </a:rPr>
              <a:t>20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= </a:t>
            </a:r>
            <a:r>
              <a:rPr lang="en-US" sz="2000" b="1" dirty="0">
                <a:solidFill>
                  <a:srgbClr val="0000FF"/>
                </a:solidFill>
                <a:latin typeface="Arial"/>
                <a:cs typeface="Arial"/>
              </a:rPr>
              <a:t>0.0198 = 2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% = 20,000 DPM</a:t>
            </a:r>
            <a:r>
              <a:rPr sz="2000" b="1" spc="-9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!</a:t>
            </a:r>
            <a:endParaRPr sz="2000" dirty="0">
              <a:latin typeface="Arial"/>
              <a:cs typeface="Arial"/>
            </a:endParaRPr>
          </a:p>
          <a:p>
            <a:pPr marL="7943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94385" algn="l"/>
                <a:tab pos="795020" algn="l"/>
              </a:tabLst>
            </a:pPr>
            <a:r>
              <a:rPr sz="2000" b="1" dirty="0">
                <a:latin typeface="Arial"/>
                <a:cs typeface="Arial"/>
              </a:rPr>
              <a:t>If </a:t>
            </a:r>
            <a:r>
              <a:rPr sz="2000" b="1" spc="-10" dirty="0">
                <a:latin typeface="Arial"/>
                <a:cs typeface="Arial"/>
              </a:rPr>
              <a:t>you </a:t>
            </a:r>
            <a:r>
              <a:rPr sz="2000" b="1" dirty="0">
                <a:latin typeface="Arial"/>
                <a:cs typeface="Arial"/>
              </a:rPr>
              <a:t>sell a </a:t>
            </a:r>
            <a:r>
              <a:rPr sz="2000" b="1" spc="-5" dirty="0">
                <a:latin typeface="Arial"/>
                <a:cs typeface="Arial"/>
              </a:rPr>
              <a:t>million</a:t>
            </a:r>
            <a:r>
              <a:rPr sz="2000" b="1" spc="-45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system</a:t>
            </a:r>
            <a:endParaRPr sz="2000" dirty="0">
              <a:latin typeface="Arial"/>
              <a:cs typeface="Arial"/>
            </a:endParaRPr>
          </a:p>
          <a:p>
            <a:pPr marL="965200">
              <a:lnSpc>
                <a:spcPct val="100000"/>
              </a:lnSpc>
              <a:spcBef>
                <a:spcPts val="484"/>
              </a:spcBef>
            </a:pPr>
            <a:r>
              <a:rPr sz="1800" spc="-600" dirty="0">
                <a:solidFill>
                  <a:srgbClr val="FF0000"/>
                </a:solidFill>
                <a:latin typeface="Arial"/>
                <a:cs typeface="Arial"/>
              </a:rPr>
              <a:t></a:t>
            </a:r>
            <a:r>
              <a:rPr sz="1800" spc="39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You </a:t>
            </a:r>
            <a:r>
              <a:rPr sz="2000" b="1" spc="-5" dirty="0">
                <a:latin typeface="Arial"/>
                <a:cs typeface="Arial"/>
              </a:rPr>
              <a:t>have </a:t>
            </a:r>
            <a:r>
              <a:rPr sz="2000" b="1" dirty="0">
                <a:latin typeface="Arial"/>
                <a:cs typeface="Arial"/>
              </a:rPr>
              <a:t>to fix 20,000 of</a:t>
            </a:r>
            <a:r>
              <a:rPr sz="2000" b="1" spc="-6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them!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59101" y="5181600"/>
            <a:ext cx="4556760" cy="462280"/>
          </a:xfrm>
          <a:prstGeom prst="rect">
            <a:avLst/>
          </a:prstGeom>
          <a:ln w="19811">
            <a:solidFill>
              <a:srgbClr val="FF0000"/>
            </a:solidFill>
          </a:ln>
        </p:spPr>
        <p:txBody>
          <a:bodyPr vert="horz" wrap="square" lIns="0" tIns="3746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95"/>
              </a:spcBef>
            </a:pPr>
            <a:r>
              <a:rPr sz="2400" b="1" spc="-5" dirty="0">
                <a:solidFill>
                  <a:srgbClr val="FF0000"/>
                </a:solidFill>
                <a:latin typeface="Helvetica"/>
                <a:cs typeface="Helvetica"/>
              </a:rPr>
              <a:t>Low </a:t>
            </a:r>
            <a:r>
              <a:rPr sz="2400" b="1" dirty="0">
                <a:solidFill>
                  <a:srgbClr val="FF0000"/>
                </a:solidFill>
                <a:latin typeface="Helvetica"/>
                <a:cs typeface="Helvetica"/>
              </a:rPr>
              <a:t>IC </a:t>
            </a:r>
            <a:r>
              <a:rPr sz="2400" b="1" spc="-5" dirty="0">
                <a:solidFill>
                  <a:srgbClr val="FF0000"/>
                </a:solidFill>
                <a:latin typeface="Helvetica"/>
                <a:cs typeface="Helvetica"/>
              </a:rPr>
              <a:t>DPM </a:t>
            </a:r>
            <a:r>
              <a:rPr sz="2400" b="1" dirty="0">
                <a:solidFill>
                  <a:srgbClr val="FF0000"/>
                </a:solidFill>
                <a:latin typeface="Helvetica"/>
                <a:cs typeface="Helvetica"/>
              </a:rPr>
              <a:t>is </a:t>
            </a:r>
            <a:r>
              <a:rPr sz="2400" b="1" spc="-35" dirty="0">
                <a:solidFill>
                  <a:srgbClr val="FF0000"/>
                </a:solidFill>
                <a:latin typeface="Helvetica"/>
                <a:cs typeface="Helvetica"/>
              </a:rPr>
              <a:t>Very</a:t>
            </a:r>
            <a:r>
              <a:rPr sz="2400" b="1" spc="-75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sz="2400" b="1" dirty="0">
                <a:solidFill>
                  <a:srgbClr val="FF0000"/>
                </a:solidFill>
                <a:latin typeface="Helvetica"/>
                <a:cs typeface="Helvetica"/>
              </a:rPr>
              <a:t>Important</a:t>
            </a:r>
            <a:endParaRPr sz="2400">
              <a:latin typeface="Helvetica"/>
              <a:cs typeface="Helvetic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215798" y="6399903"/>
            <a:ext cx="470002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z="2400" b="1" spc="-5" dirty="0">
                <a:latin typeface="Arial"/>
                <a:cs typeface="Arial"/>
              </a:rPr>
              <a:t>5</a:t>
            </a:fld>
            <a:endParaRPr sz="2400" dirty="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99991" y="164414"/>
            <a:ext cx="10160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0B050"/>
                </a:solidFill>
                <a:latin typeface="Arial"/>
                <a:cs typeface="Arial"/>
              </a:rPr>
              <a:t>Quiz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90244" y="1007363"/>
            <a:ext cx="6764020" cy="1886414"/>
          </a:xfrm>
          <a:prstGeom prst="rect">
            <a:avLst/>
          </a:prstGeom>
          <a:solidFill>
            <a:srgbClr val="66FF66"/>
          </a:solidFill>
        </p:spPr>
        <p:txBody>
          <a:bodyPr vert="horz" wrap="square" lIns="0" tIns="3937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10"/>
              </a:spcBef>
            </a:pPr>
            <a:r>
              <a:rPr sz="2000" b="1" dirty="0">
                <a:latin typeface="Helvetica"/>
                <a:cs typeface="Helvetica"/>
              </a:rPr>
              <a:t>Q: (Cont’d from last</a:t>
            </a:r>
            <a:r>
              <a:rPr sz="2000" b="1" spc="-125" dirty="0">
                <a:latin typeface="Helvetica"/>
                <a:cs typeface="Helvetica"/>
              </a:rPr>
              <a:t> </a:t>
            </a:r>
            <a:r>
              <a:rPr sz="2000" b="1" spc="-5" dirty="0">
                <a:latin typeface="Helvetica"/>
                <a:cs typeface="Helvetica"/>
              </a:rPr>
              <a:t>slide)</a:t>
            </a:r>
            <a:endParaRPr sz="2000" dirty="0">
              <a:latin typeface="Helvetica"/>
              <a:cs typeface="Helvetica"/>
            </a:endParaRPr>
          </a:p>
          <a:p>
            <a:pPr marL="161925">
              <a:lnSpc>
                <a:spcPct val="100000"/>
              </a:lnSpc>
            </a:pPr>
            <a:r>
              <a:rPr sz="2000" b="1" dirty="0">
                <a:latin typeface="Helvetica"/>
                <a:cs typeface="Helvetica"/>
              </a:rPr>
              <a:t>20 IC</a:t>
            </a:r>
            <a:r>
              <a:rPr lang="en-US" sz="2000" b="1" dirty="0">
                <a:latin typeface="Helvetica"/>
                <a:cs typeface="Helvetica"/>
              </a:rPr>
              <a:t>s</a:t>
            </a:r>
            <a:r>
              <a:rPr sz="2000" b="1" dirty="0">
                <a:latin typeface="Helvetica"/>
                <a:cs typeface="Helvetica"/>
              </a:rPr>
              <a:t> </a:t>
            </a:r>
            <a:r>
              <a:rPr sz="2000" b="1" spc="-5" dirty="0">
                <a:latin typeface="Helvetica"/>
                <a:cs typeface="Helvetica"/>
              </a:rPr>
              <a:t>in </a:t>
            </a:r>
            <a:r>
              <a:rPr sz="2000" b="1" dirty="0">
                <a:latin typeface="Helvetica"/>
                <a:cs typeface="Helvetica"/>
              </a:rPr>
              <a:t>a</a:t>
            </a:r>
            <a:r>
              <a:rPr sz="2000" b="1" spc="-35" dirty="0">
                <a:latin typeface="Helvetica"/>
                <a:cs typeface="Helvetica"/>
              </a:rPr>
              <a:t> </a:t>
            </a:r>
            <a:r>
              <a:rPr sz="2000" b="1" spc="-5" dirty="0">
                <a:latin typeface="Helvetica"/>
                <a:cs typeface="Helvetica"/>
              </a:rPr>
              <a:t>system.</a:t>
            </a:r>
            <a:endParaRPr sz="2000" dirty="0">
              <a:latin typeface="Helvetica"/>
              <a:cs typeface="Helvetica"/>
            </a:endParaRPr>
          </a:p>
          <a:p>
            <a:pPr marL="161925" marR="952500">
              <a:lnSpc>
                <a:spcPct val="100000"/>
              </a:lnSpc>
            </a:pPr>
            <a:r>
              <a:rPr sz="2000" b="1" dirty="0">
                <a:latin typeface="Helvetica"/>
                <a:cs typeface="Helvetica"/>
              </a:rPr>
              <a:t>Suppose </a:t>
            </a:r>
            <a:r>
              <a:rPr sz="2000" b="1" spc="15" dirty="0">
                <a:latin typeface="Helvetica"/>
                <a:cs typeface="Helvetica"/>
              </a:rPr>
              <a:t>we </a:t>
            </a:r>
            <a:r>
              <a:rPr sz="2000" b="1" spc="-5" dirty="0">
                <a:latin typeface="Helvetica"/>
                <a:cs typeface="Helvetica"/>
              </a:rPr>
              <a:t>improve IC </a:t>
            </a:r>
            <a:r>
              <a:rPr sz="2000" b="1" dirty="0">
                <a:latin typeface="Helvetica"/>
                <a:cs typeface="Helvetica"/>
              </a:rPr>
              <a:t>test quality to</a:t>
            </a:r>
            <a:r>
              <a:rPr sz="2000" b="1" spc="-165" dirty="0">
                <a:latin typeface="Helvetica"/>
                <a:cs typeface="Helvetica"/>
              </a:rPr>
              <a:t> </a:t>
            </a:r>
            <a:r>
              <a:rPr sz="2000" b="1" dirty="0">
                <a:latin typeface="Helvetica"/>
                <a:cs typeface="Helvetica"/>
              </a:rPr>
              <a:t>200DPM  What is </a:t>
            </a:r>
            <a:r>
              <a:rPr sz="2000" b="1" spc="-5" dirty="0">
                <a:latin typeface="Helvetica"/>
                <a:cs typeface="Helvetica"/>
              </a:rPr>
              <a:t>system</a:t>
            </a:r>
            <a:r>
              <a:rPr sz="2000" b="1" spc="-50" dirty="0">
                <a:latin typeface="Helvetica"/>
                <a:cs typeface="Helvetica"/>
              </a:rPr>
              <a:t> </a:t>
            </a:r>
            <a:r>
              <a:rPr sz="2000" b="1" dirty="0">
                <a:latin typeface="Helvetica"/>
                <a:cs typeface="Helvetica"/>
              </a:rPr>
              <a:t>DPM?</a:t>
            </a:r>
            <a:endParaRPr sz="2000" dirty="0">
              <a:latin typeface="Helvetica"/>
              <a:cs typeface="Helvetica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000" dirty="0">
              <a:latin typeface="Helvetica"/>
              <a:cs typeface="Helvetica"/>
            </a:endParaRPr>
          </a:p>
          <a:p>
            <a:pPr marL="92075">
              <a:lnSpc>
                <a:spcPct val="100000"/>
              </a:lnSpc>
            </a:pPr>
            <a:r>
              <a:rPr sz="2000" b="1" dirty="0">
                <a:latin typeface="Helvetica"/>
                <a:cs typeface="Helvetica"/>
              </a:rPr>
              <a:t>A:</a:t>
            </a:r>
            <a:endParaRPr sz="2000" dirty="0">
              <a:latin typeface="Helvetica"/>
              <a:cs typeface="Helvetic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object 4"/>
              <p:cNvSpPr txBox="1"/>
              <p:nvPr/>
            </p:nvSpPr>
            <p:spPr>
              <a:xfrm>
                <a:off x="1017905" y="4953000"/>
                <a:ext cx="7108190" cy="408445"/>
              </a:xfrm>
              <a:prstGeom prst="rect">
                <a:avLst/>
              </a:prstGeom>
              <a:ln w="19811">
                <a:solidFill>
                  <a:srgbClr val="FF0000"/>
                </a:solidFill>
              </a:ln>
            </p:spPr>
            <p:txBody>
              <a:bodyPr vert="horz" wrap="square" lIns="0" tIns="38735" rIns="0" bIns="0" rtlCol="0">
                <a:spAutoFit/>
              </a:bodyPr>
              <a:lstStyle/>
              <a:p>
                <a:pPr marL="90170">
                  <a:lnSpc>
                    <a:spcPct val="100000"/>
                  </a:lnSpc>
                  <a:spcBef>
                    <a:spcPts val="305"/>
                  </a:spcBef>
                  <a:tabLst>
                    <a:tab pos="2136140" algn="l"/>
                  </a:tabLst>
                </a:pPr>
                <a:r>
                  <a:rPr sz="2400" b="1" spc="-5" dirty="0">
                    <a:solidFill>
                      <a:srgbClr val="FF0000"/>
                    </a:solidFill>
                    <a:latin typeface="Helvetica"/>
                    <a:cs typeface="Helvetica"/>
                  </a:rPr>
                  <a:t>IC DPM</a:t>
                </a:r>
                <a14:m>
                  <m:oMath xmlns:m="http://schemas.openxmlformats.org/officeDocument/2006/math">
                    <m:r>
                      <a:rPr lang="en-US" sz="2400" b="1" i="1" spc="15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"/>
                      </a:rPr>
                      <m:t>↑</m:t>
                    </m:r>
                  </m:oMath>
                </a14:m>
                <a:r>
                  <a:rPr sz="2400" b="1" spc="-475" dirty="0">
                    <a:solidFill>
                      <a:srgbClr val="FF0000"/>
                    </a:solidFill>
                    <a:latin typeface="Arial"/>
                    <a:cs typeface="Arial"/>
                  </a:rPr>
                  <a:t>  </a:t>
                </a:r>
                <a:r>
                  <a:rPr sz="2400" b="1" spc="-385" dirty="0">
                    <a:solidFill>
                      <a:srgbClr val="FF0000"/>
                    </a:solidFill>
                    <a:latin typeface="Arial"/>
                    <a:cs typeface="Arial"/>
                  </a:rPr>
                  <a:t> </a:t>
                </a:r>
                <a:r>
                  <a:rPr sz="2400" b="1" spc="-5" dirty="0">
                    <a:solidFill>
                      <a:srgbClr val="FF0000"/>
                    </a:solidFill>
                    <a:latin typeface="Helvetica"/>
                    <a:cs typeface="Helvetica"/>
                  </a:rPr>
                  <a:t>5X,	System </a:t>
                </a:r>
                <a:r>
                  <a:rPr sz="2400" b="1" spc="-125" dirty="0">
                    <a:solidFill>
                      <a:srgbClr val="FF0000"/>
                    </a:solidFill>
                    <a:latin typeface="Helvetica"/>
                    <a:cs typeface="Helvetica"/>
                  </a:rPr>
                  <a:t>DPM</a:t>
                </a:r>
                <a:r>
                  <a:rPr lang="en-US" sz="2400" b="1" spc="-125" dirty="0">
                    <a:solidFill>
                      <a:srgbClr val="FF0000"/>
                    </a:solidFill>
                    <a:latin typeface="Arial"/>
                    <a:cs typeface="Arial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1" i="1" spc="-125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/>
                      </a:rPr>
                      <m:t>↓</m:t>
                    </m:r>
                  </m:oMath>
                </a14:m>
                <a:r>
                  <a:rPr sz="2400" b="1" spc="-15" dirty="0">
                    <a:solidFill>
                      <a:srgbClr val="FF0000"/>
                    </a:solidFill>
                    <a:latin typeface="Arial"/>
                    <a:cs typeface="Arial"/>
                  </a:rPr>
                  <a:t> </a:t>
                </a:r>
                <a:r>
                  <a:rPr sz="2400" b="1" spc="-10" dirty="0">
                    <a:solidFill>
                      <a:srgbClr val="FF0000"/>
                    </a:solidFill>
                    <a:latin typeface="Helvetica"/>
                    <a:cs typeface="Helvetica"/>
                  </a:rPr>
                  <a:t>5X</a:t>
                </a:r>
                <a:r>
                  <a:rPr lang="en-US" sz="2400" b="1" spc="-10" dirty="0">
                    <a:solidFill>
                      <a:srgbClr val="FF0000"/>
                    </a:solidFill>
                    <a:latin typeface="Helvetica"/>
                    <a:cs typeface="Helvetica"/>
                  </a:rPr>
                  <a:t> in this example</a:t>
                </a:r>
                <a:endParaRPr sz="2400" dirty="0">
                  <a:latin typeface="Helvetica"/>
                  <a:cs typeface="Helvetica"/>
                </a:endParaRPr>
              </a:p>
            </p:txBody>
          </p:sp>
        </mc:Choice>
        <mc:Fallback>
          <p:sp>
            <p:nvSpPr>
              <p:cNvPr id="4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905" y="4953000"/>
                <a:ext cx="7108190" cy="408445"/>
              </a:xfrm>
              <a:prstGeom prst="rect">
                <a:avLst/>
              </a:prstGeom>
              <a:blipFill>
                <a:blip r:embed="rId3"/>
                <a:stretch>
                  <a:fillRect l="-1246" t="-11429" b="-37143"/>
                </a:stretch>
              </a:blipFill>
              <a:ln w="19811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61792" y="164414"/>
            <a:ext cx="269113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0B050"/>
                </a:solidFill>
                <a:latin typeface="Arial"/>
                <a:cs typeface="Arial"/>
              </a:rPr>
              <a:t>Introduction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0225" y="961136"/>
            <a:ext cx="3687445" cy="1794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solidFill>
                  <a:srgbClr val="7E7E7E"/>
                </a:solidFill>
                <a:latin typeface="Arial"/>
                <a:cs typeface="Arial"/>
              </a:rPr>
              <a:t>What Is</a:t>
            </a:r>
            <a:r>
              <a:rPr sz="2000" b="1" spc="-5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7E7E7E"/>
                </a:solidFill>
                <a:latin typeface="Arial"/>
                <a:cs typeface="Arial"/>
              </a:rPr>
              <a:t>Testing</a:t>
            </a:r>
            <a:endParaRPr sz="2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7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spc="-5" dirty="0">
                <a:solidFill>
                  <a:srgbClr val="7E7E7E"/>
                </a:solidFill>
                <a:latin typeface="Arial"/>
                <a:cs typeface="Arial"/>
              </a:rPr>
              <a:t>Types </a:t>
            </a:r>
            <a:r>
              <a:rPr sz="2000" b="1" dirty="0">
                <a:solidFill>
                  <a:srgbClr val="7E7E7E"/>
                </a:solidFill>
                <a:latin typeface="Arial"/>
                <a:cs typeface="Arial"/>
              </a:rPr>
              <a:t>of Testing</a:t>
            </a:r>
            <a:endParaRPr sz="2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4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Test</a:t>
            </a:r>
            <a:r>
              <a:rPr sz="2000" b="1" u="sng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0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Quality</a:t>
            </a:r>
            <a:endParaRPr sz="20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Defect per </a:t>
            </a:r>
            <a:r>
              <a:rPr sz="2000" b="1" spc="-5" dirty="0">
                <a:latin typeface="Arial"/>
                <a:cs typeface="Arial"/>
              </a:rPr>
              <a:t>Million</a:t>
            </a:r>
            <a:r>
              <a:rPr sz="2000" b="1" spc="-10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(DPM)</a:t>
            </a:r>
            <a:endParaRPr sz="20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Models to Predict</a:t>
            </a:r>
            <a:r>
              <a:rPr sz="2000" b="1" u="sng" spc="-9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0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DPM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228600" y="2819400"/>
            <a:ext cx="7620000" cy="1869743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927100">
              <a:lnSpc>
                <a:spcPct val="100000"/>
              </a:lnSpc>
              <a:spcBef>
                <a:spcPts val="580"/>
              </a:spcBef>
            </a:pPr>
            <a:r>
              <a:rPr sz="1100" b="0" i="0" u="none" spc="-600" dirty="0">
                <a:solidFill>
                  <a:srgbClr val="FF0000"/>
                </a:solidFill>
                <a:latin typeface="Arial"/>
                <a:cs typeface="Arial"/>
              </a:rPr>
              <a:t></a:t>
            </a:r>
            <a:r>
              <a:rPr lang="en-US" sz="1100" b="0" i="0" u="none" spc="40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i="0" spc="5" dirty="0">
                <a:solidFill>
                  <a:schemeClr val="tx1"/>
                </a:solidFill>
              </a:rPr>
              <a:t>Brown </a:t>
            </a:r>
            <a:r>
              <a:rPr sz="2000" i="0" dirty="0">
                <a:solidFill>
                  <a:schemeClr val="tx1"/>
                </a:solidFill>
              </a:rPr>
              <a:t>&amp; </a:t>
            </a:r>
            <a:r>
              <a:rPr sz="2000" i="0" spc="-5" dirty="0">
                <a:solidFill>
                  <a:schemeClr val="tx1"/>
                </a:solidFill>
              </a:rPr>
              <a:t>Williams </a:t>
            </a:r>
            <a:r>
              <a:rPr sz="2000" i="0" dirty="0">
                <a:solidFill>
                  <a:schemeClr val="tx1"/>
                </a:solidFill>
              </a:rPr>
              <a:t>(IBM, 1981), Binomial</a:t>
            </a:r>
            <a:r>
              <a:rPr sz="2000" i="0" spc="-150" dirty="0">
                <a:solidFill>
                  <a:schemeClr val="tx1"/>
                </a:solidFill>
              </a:rPr>
              <a:t> </a:t>
            </a:r>
            <a:r>
              <a:rPr sz="2000" i="0" spc="-20" dirty="0">
                <a:solidFill>
                  <a:schemeClr val="tx1"/>
                </a:solidFill>
              </a:rPr>
              <a:t>distribution</a:t>
            </a:r>
            <a:endParaRPr lang="en-US" sz="1100" i="0" dirty="0">
              <a:solidFill>
                <a:schemeClr val="tx1"/>
              </a:solidFill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484"/>
              </a:spcBef>
            </a:pPr>
            <a:r>
              <a:rPr lang="en-US" sz="1100" b="0" i="0" u="none" spc="-600" dirty="0">
                <a:solidFill>
                  <a:schemeClr val="tx1"/>
                </a:solidFill>
                <a:latin typeface="Arial"/>
                <a:cs typeface="Arial"/>
              </a:rPr>
              <a:t></a:t>
            </a:r>
            <a:r>
              <a:rPr lang="en-US" sz="1100" b="0" i="0" u="none" spc="39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sz="2000" i="0" u="none" dirty="0">
                <a:solidFill>
                  <a:schemeClr val="tx1"/>
                </a:solidFill>
              </a:rPr>
              <a:t>Agrawal (Bell Lab, 1982), ), Poisson</a:t>
            </a:r>
            <a:r>
              <a:rPr lang="en-US" sz="2000" i="0" u="none" spc="-145" dirty="0">
                <a:solidFill>
                  <a:schemeClr val="tx1"/>
                </a:solidFill>
              </a:rPr>
              <a:t> </a:t>
            </a:r>
            <a:r>
              <a:rPr lang="en-US" sz="2000" i="0" u="none" dirty="0">
                <a:solidFill>
                  <a:schemeClr val="tx1"/>
                </a:solidFill>
              </a:rPr>
              <a:t>distribution</a:t>
            </a:r>
            <a:endParaRPr lang="en-US" sz="1100" i="0" dirty="0">
              <a:solidFill>
                <a:schemeClr val="tx1"/>
              </a:solidFill>
              <a:latin typeface="Arial"/>
              <a:cs typeface="Arial"/>
            </a:endParaRPr>
          </a:p>
          <a:p>
            <a:pPr marL="756285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i="0" u="none" dirty="0">
                <a:solidFill>
                  <a:schemeClr val="tx1"/>
                </a:solidFill>
              </a:rPr>
              <a:t>Models for</a:t>
            </a:r>
            <a:r>
              <a:rPr sz="2000" i="0" u="none" spc="-50" dirty="0">
                <a:solidFill>
                  <a:schemeClr val="tx1"/>
                </a:solidFill>
              </a:rPr>
              <a:t> </a:t>
            </a:r>
            <a:r>
              <a:rPr sz="2000" i="0" u="none" dirty="0">
                <a:solidFill>
                  <a:schemeClr val="tx1"/>
                </a:solidFill>
              </a:rPr>
              <a:t>Yield</a:t>
            </a: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i="0" u="none" dirty="0">
                <a:solidFill>
                  <a:srgbClr val="7E7E7E"/>
                </a:solidFill>
              </a:rPr>
              <a:t>Test</a:t>
            </a:r>
            <a:r>
              <a:rPr sz="2000" i="0" u="none" spc="-20" dirty="0">
                <a:solidFill>
                  <a:srgbClr val="7E7E7E"/>
                </a:solidFill>
              </a:rPr>
              <a:t> </a:t>
            </a:r>
            <a:r>
              <a:rPr sz="2000" i="0" u="none" dirty="0">
                <a:solidFill>
                  <a:srgbClr val="7E7E7E"/>
                </a:solidFill>
              </a:rPr>
              <a:t>Economy</a:t>
            </a: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i="0" u="none" dirty="0">
                <a:solidFill>
                  <a:srgbClr val="7E7E7E"/>
                </a:solidFill>
              </a:rPr>
              <a:t>Conclusion</a:t>
            </a:r>
            <a:r>
              <a:rPr lang="en-US" sz="2000" i="0" u="none" dirty="0">
                <a:solidFill>
                  <a:srgbClr val="7E7E7E"/>
                </a:solidFill>
              </a:rPr>
              <a:t>s</a:t>
            </a:r>
            <a:endParaRPr sz="2000" i="0" u="none" dirty="0">
              <a:solidFill>
                <a:srgbClr val="7E7E7E"/>
              </a:solidFill>
            </a:endParaRPr>
          </a:p>
        </p:txBody>
      </p:sp>
      <p:sp>
        <p:nvSpPr>
          <p:cNvPr id="5" name="object 5"/>
          <p:cNvSpPr/>
          <p:nvPr/>
        </p:nvSpPr>
        <p:spPr>
          <a:xfrm>
            <a:off x="4439411" y="3555491"/>
            <a:ext cx="4119372" cy="29535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232909" y="1315974"/>
            <a:ext cx="4646930" cy="829310"/>
          </a:xfrm>
          <a:prstGeom prst="rect">
            <a:avLst/>
          </a:prstGeom>
          <a:ln w="19811">
            <a:solidFill>
              <a:srgbClr val="FF0000"/>
            </a:solidFill>
          </a:ln>
        </p:spPr>
        <p:txBody>
          <a:bodyPr vert="horz" wrap="square" lIns="0" tIns="36830" rIns="0" bIns="0" rtlCol="0">
            <a:spAutoFit/>
          </a:bodyPr>
          <a:lstStyle/>
          <a:p>
            <a:pPr marL="91440" marR="208279">
              <a:lnSpc>
                <a:spcPct val="100000"/>
              </a:lnSpc>
              <a:spcBef>
                <a:spcPts val="290"/>
              </a:spcBef>
            </a:pPr>
            <a:r>
              <a:rPr sz="2400" b="1" spc="-5" dirty="0">
                <a:solidFill>
                  <a:srgbClr val="FF0000"/>
                </a:solidFill>
                <a:latin typeface="Helvetica"/>
                <a:cs typeface="Helvetica"/>
              </a:rPr>
              <a:t>Measure </a:t>
            </a:r>
            <a:r>
              <a:rPr sz="2400" b="1" i="1" spc="-25" dirty="0">
                <a:solidFill>
                  <a:srgbClr val="FF0000"/>
                </a:solidFill>
                <a:latin typeface="HelveticaNeue-BoldItalic"/>
                <a:cs typeface="HelveticaNeue-BoldItalic"/>
              </a:rPr>
              <a:t>Real </a:t>
            </a:r>
            <a:r>
              <a:rPr sz="2400" b="1" i="1" spc="-80" dirty="0">
                <a:solidFill>
                  <a:srgbClr val="FF0000"/>
                </a:solidFill>
                <a:latin typeface="HelveticaNeue-BoldItalic"/>
                <a:cs typeface="HelveticaNeue-BoldItalic"/>
              </a:rPr>
              <a:t>DPM </a:t>
            </a:r>
            <a:r>
              <a:rPr sz="2400" b="1" spc="-5" dirty="0">
                <a:solidFill>
                  <a:srgbClr val="FF0000"/>
                </a:solidFill>
                <a:latin typeface="Helvetica"/>
                <a:cs typeface="Helvetica"/>
              </a:rPr>
              <a:t>Is </a:t>
            </a:r>
            <a:r>
              <a:rPr sz="2400" b="1" dirty="0">
                <a:solidFill>
                  <a:srgbClr val="FF0000"/>
                </a:solidFill>
                <a:latin typeface="Helvetica"/>
                <a:cs typeface="Helvetica"/>
              </a:rPr>
              <a:t>difficult.  </a:t>
            </a:r>
            <a:r>
              <a:rPr sz="2400" b="1" spc="-5" dirty="0">
                <a:solidFill>
                  <a:srgbClr val="FF0000"/>
                </a:solidFill>
                <a:latin typeface="Helvetica"/>
                <a:cs typeface="Helvetica"/>
              </a:rPr>
              <a:t>Can </a:t>
            </a:r>
            <a:r>
              <a:rPr sz="2400" b="1" spc="10" dirty="0">
                <a:solidFill>
                  <a:srgbClr val="FF0000"/>
                </a:solidFill>
                <a:latin typeface="Helvetica"/>
                <a:cs typeface="Helvetica"/>
              </a:rPr>
              <a:t>we </a:t>
            </a:r>
            <a:r>
              <a:rPr sz="2400" b="1" spc="-5" dirty="0">
                <a:solidFill>
                  <a:srgbClr val="FF0000"/>
                </a:solidFill>
                <a:latin typeface="Helvetica"/>
                <a:cs typeface="Helvetica"/>
              </a:rPr>
              <a:t>predict</a:t>
            </a:r>
            <a:r>
              <a:rPr sz="2400" b="1" spc="-50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sz="2400" b="1" dirty="0">
                <a:solidFill>
                  <a:srgbClr val="FF0000"/>
                </a:solidFill>
                <a:latin typeface="Helvetica"/>
                <a:cs typeface="Helvetica"/>
              </a:rPr>
              <a:t>it?</a:t>
            </a:r>
            <a:endParaRPr sz="2400">
              <a:latin typeface="Helvetica"/>
              <a:cs typeface="Helvetic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5798" y="6399903"/>
            <a:ext cx="546202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z="2400" b="1" spc="-5" dirty="0">
                <a:latin typeface="Arial"/>
                <a:cs typeface="Arial"/>
              </a:rPr>
              <a:t>6</a:t>
            </a:fld>
            <a:endParaRPr sz="240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78178" y="164414"/>
            <a:ext cx="7187971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0B050"/>
                </a:solidFill>
                <a:latin typeface="Arial"/>
                <a:cs typeface="Arial"/>
              </a:rPr>
              <a:t>Brown &amp; Williams Model </a:t>
            </a:r>
            <a:r>
              <a:rPr sz="2000" dirty="0">
                <a:solidFill>
                  <a:srgbClr val="00B050"/>
                </a:solidFill>
                <a:latin typeface="Arial"/>
                <a:cs typeface="Arial"/>
              </a:rPr>
              <a:t>[Williams 81]</a:t>
            </a:r>
            <a:endParaRPr dirty="0">
              <a:solidFill>
                <a:srgbClr val="00B050"/>
              </a:solidFill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7425" y="1631735"/>
            <a:ext cx="7578725" cy="1433726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580"/>
              </a:spcBef>
              <a:buSzPct val="75000"/>
              <a:buFont typeface="Arial"/>
              <a:buChar char="◆"/>
              <a:tabLst>
                <a:tab pos="299085" algn="l"/>
                <a:tab pos="299720" algn="l"/>
              </a:tabLst>
            </a:pPr>
            <a:r>
              <a:rPr sz="2000" b="1" i="1" spc="-5" dirty="0">
                <a:solidFill>
                  <a:srgbClr val="FF0000"/>
                </a:solidFill>
                <a:latin typeface="Arial-BoldItalicMT"/>
                <a:cs typeface="Arial-BoldItalicMT"/>
              </a:rPr>
              <a:t>Y=Yield, </a:t>
            </a:r>
            <a:r>
              <a:rPr sz="2000" b="1" dirty="0">
                <a:latin typeface="Arial"/>
                <a:cs typeface="Arial"/>
              </a:rPr>
              <a:t>fraction of total manufactured IC that are </a:t>
            </a:r>
            <a:r>
              <a:rPr lang="en-US" sz="2000" b="1" dirty="0">
                <a:latin typeface="Arial"/>
                <a:cs typeface="Arial"/>
              </a:rPr>
              <a:t>estimated to be </a:t>
            </a:r>
            <a:r>
              <a:rPr sz="2000" b="1" dirty="0">
                <a:latin typeface="Arial"/>
                <a:cs typeface="Arial"/>
              </a:rPr>
              <a:t>good</a:t>
            </a:r>
          </a:p>
          <a:p>
            <a:pPr marL="469900">
              <a:lnSpc>
                <a:spcPct val="100000"/>
              </a:lnSpc>
              <a:spcBef>
                <a:spcPts val="484"/>
              </a:spcBef>
            </a:pPr>
            <a:r>
              <a:rPr sz="1800" spc="-600" dirty="0">
                <a:solidFill>
                  <a:srgbClr val="FF0000"/>
                </a:solidFill>
                <a:latin typeface="Arial"/>
                <a:cs typeface="Arial"/>
              </a:rPr>
              <a:t></a:t>
            </a:r>
            <a:r>
              <a:rPr sz="1800" spc="39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High Y means good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manufacturing</a:t>
            </a:r>
            <a:r>
              <a:rPr sz="2000" b="1" spc="-8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quality</a:t>
            </a:r>
            <a:endParaRPr sz="2000" dirty="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480"/>
              </a:spcBef>
            </a:pPr>
            <a:r>
              <a:rPr sz="1800" spc="-600" dirty="0">
                <a:solidFill>
                  <a:srgbClr val="FF0000"/>
                </a:solidFill>
                <a:latin typeface="Arial"/>
                <a:cs typeface="Arial"/>
              </a:rPr>
              <a:t></a:t>
            </a:r>
            <a:r>
              <a:rPr sz="1800" spc="409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Unknown </a:t>
            </a:r>
            <a:r>
              <a:rPr sz="2000" b="1" dirty="0">
                <a:latin typeface="Arial"/>
                <a:cs typeface="Arial"/>
              </a:rPr>
              <a:t>parameter, estimated by fab. data or</a:t>
            </a:r>
            <a:r>
              <a:rPr sz="2000" b="1" spc="-160" dirty="0">
                <a:latin typeface="Arial"/>
                <a:cs typeface="Arial"/>
              </a:rPr>
              <a:t> </a:t>
            </a:r>
            <a:r>
              <a:rPr sz="2000" b="1" spc="-25" dirty="0">
                <a:latin typeface="Arial"/>
                <a:cs typeface="Arial"/>
              </a:rPr>
              <a:t>prediction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62025" y="4192690"/>
            <a:ext cx="8035290" cy="1733808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24485" indent="-287020">
              <a:lnSpc>
                <a:spcPct val="100000"/>
              </a:lnSpc>
              <a:spcBef>
                <a:spcPts val="580"/>
              </a:spcBef>
              <a:buSzPct val="75000"/>
              <a:buFont typeface="Arial"/>
              <a:buChar char="◆"/>
              <a:tabLst>
                <a:tab pos="324485" algn="l"/>
                <a:tab pos="325120" algn="l"/>
              </a:tabLst>
            </a:pPr>
            <a:r>
              <a:rPr sz="2000" b="1" i="1" dirty="0">
                <a:solidFill>
                  <a:srgbClr val="FF0000"/>
                </a:solidFill>
                <a:latin typeface="Arial-BoldItalicMT"/>
                <a:cs typeface="Arial-BoldItalicMT"/>
              </a:rPr>
              <a:t>FC = Fault Coverage, </a:t>
            </a:r>
            <a:r>
              <a:rPr sz="2000" b="1" dirty="0">
                <a:latin typeface="Arial"/>
                <a:cs typeface="Arial"/>
              </a:rPr>
              <a:t>fraction of detect</a:t>
            </a:r>
            <a:r>
              <a:rPr lang="en-US" sz="2000" b="1" dirty="0">
                <a:latin typeface="Arial"/>
                <a:cs typeface="Arial"/>
              </a:rPr>
              <a:t>ed</a:t>
            </a:r>
            <a:r>
              <a:rPr sz="2000" b="1" spc="-16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faults</a:t>
            </a:r>
            <a:endParaRPr sz="2000" dirty="0">
              <a:latin typeface="Arial"/>
              <a:cs typeface="Arial"/>
            </a:endParaRPr>
          </a:p>
          <a:p>
            <a:pPr marL="495300">
              <a:lnSpc>
                <a:spcPct val="100000"/>
              </a:lnSpc>
              <a:spcBef>
                <a:spcPts val="484"/>
              </a:spcBef>
            </a:pPr>
            <a:r>
              <a:rPr sz="1800" spc="-600" dirty="0">
                <a:solidFill>
                  <a:srgbClr val="FF0000"/>
                </a:solidFill>
                <a:latin typeface="Arial"/>
                <a:cs typeface="Arial"/>
              </a:rPr>
              <a:t></a:t>
            </a:r>
            <a:r>
              <a:rPr sz="1800" spc="39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High </a:t>
            </a:r>
            <a:r>
              <a:rPr sz="2000" b="1" spc="-5" dirty="0">
                <a:latin typeface="Arial"/>
                <a:cs typeface="Arial"/>
              </a:rPr>
              <a:t>FC </a:t>
            </a:r>
            <a:r>
              <a:rPr sz="2000" b="1" dirty="0">
                <a:latin typeface="Arial"/>
                <a:cs typeface="Arial"/>
              </a:rPr>
              <a:t>means good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test</a:t>
            </a:r>
            <a:r>
              <a:rPr sz="2000" b="1" spc="-7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quality</a:t>
            </a:r>
            <a:endParaRPr sz="2000" dirty="0">
              <a:latin typeface="Arial"/>
              <a:cs typeface="Arial"/>
            </a:endParaRPr>
          </a:p>
          <a:p>
            <a:pPr marL="495300">
              <a:lnSpc>
                <a:spcPct val="100000"/>
              </a:lnSpc>
              <a:spcBef>
                <a:spcPts val="480"/>
              </a:spcBef>
            </a:pPr>
            <a:r>
              <a:rPr sz="1800" spc="-600" dirty="0">
                <a:solidFill>
                  <a:srgbClr val="FF0000"/>
                </a:solidFill>
                <a:latin typeface="Arial"/>
                <a:cs typeface="Arial"/>
              </a:rPr>
              <a:t></a:t>
            </a:r>
            <a:r>
              <a:rPr sz="1800" spc="39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spc="5" dirty="0">
                <a:solidFill>
                  <a:srgbClr val="0000FF"/>
                </a:solidFill>
                <a:latin typeface="Arial"/>
                <a:cs typeface="Arial"/>
              </a:rPr>
              <a:t>Known </a:t>
            </a:r>
            <a:r>
              <a:rPr sz="2000" b="1" dirty="0">
                <a:latin typeface="Arial"/>
                <a:cs typeface="Arial"/>
              </a:rPr>
              <a:t>parameter, from </a:t>
            </a:r>
            <a:r>
              <a:rPr sz="2000" b="1" i="1" dirty="0">
                <a:latin typeface="Arial-BoldItalicMT"/>
                <a:cs typeface="Arial-BoldItalicMT"/>
              </a:rPr>
              <a:t>fault simulator </a:t>
            </a:r>
            <a:r>
              <a:rPr lang="en-US" sz="2000" b="1" dirty="0">
                <a:latin typeface="Arial"/>
                <a:cs typeface="Arial"/>
              </a:rPr>
              <a:t>and based on some considered fault models</a:t>
            </a:r>
            <a:endParaRPr sz="20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950" dirty="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15798" y="6399903"/>
            <a:ext cx="446227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z="2400" b="1" spc="-5" dirty="0">
                <a:latin typeface="Arial"/>
                <a:cs typeface="Arial"/>
              </a:rPr>
              <a:t>7</a:t>
            </a:fld>
            <a:endParaRPr sz="2400">
              <a:latin typeface="Arial"/>
              <a:cs typeface="Arial"/>
            </a:endParaRPr>
          </a:p>
        </p:txBody>
      </p:sp>
      <p:pic>
        <p:nvPicPr>
          <p:cNvPr id="13" name="Content Placeholder 4">
            <a:extLst>
              <a:ext uri="{FF2B5EF4-FFF2-40B4-BE49-F238E27FC236}">
                <a16:creationId xmlns:a16="http://schemas.microsoft.com/office/drawing/2014/main" id="{B3984007-218F-317B-7219-BA8E51AF41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9000" y="1066800"/>
            <a:ext cx="2209800" cy="50825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FB52E73-5FFA-22C1-F8A1-8B0D565C1F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3036411"/>
            <a:ext cx="4572000" cy="77358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F58237A-A405-D962-BB8D-DF60E03AC89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8475" y="5557431"/>
            <a:ext cx="5911850" cy="84336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215798" y="6399903"/>
            <a:ext cx="470002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z="2400" b="1" spc="-5" dirty="0">
                <a:latin typeface="Arial"/>
                <a:cs typeface="Arial"/>
              </a:rPr>
              <a:t>8</a:t>
            </a:fld>
            <a:endParaRPr sz="2400" dirty="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3862" y="113473"/>
            <a:ext cx="7010400" cy="81304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0B050"/>
                </a:solidFill>
                <a:latin typeface="Arial"/>
                <a:cs typeface="Arial"/>
              </a:rPr>
              <a:t>B&amp;W Proof </a:t>
            </a:r>
            <a:br>
              <a:rPr lang="en-US" dirty="0">
                <a:solidFill>
                  <a:srgbClr val="00B050"/>
                </a:solidFill>
                <a:latin typeface="Arial"/>
                <a:cs typeface="Arial"/>
              </a:rPr>
            </a:br>
            <a:r>
              <a:rPr sz="2000" dirty="0">
                <a:solidFill>
                  <a:srgbClr val="00B050"/>
                </a:solidFill>
                <a:latin typeface="Arial"/>
                <a:cs typeface="Arial"/>
              </a:rPr>
              <a:t>(simplified!</a:t>
            </a:r>
            <a:r>
              <a:rPr lang="en-US" sz="2000" dirty="0">
                <a:solidFill>
                  <a:srgbClr val="00B050"/>
                </a:solidFill>
                <a:latin typeface="Arial"/>
                <a:cs typeface="Arial"/>
              </a:rPr>
              <a:t> Not required/just for your reference</a:t>
            </a:r>
            <a:r>
              <a:rPr sz="2000" dirty="0">
                <a:solidFill>
                  <a:srgbClr val="00B050"/>
                </a:solidFill>
                <a:latin typeface="Arial"/>
                <a:cs typeface="Arial"/>
              </a:rPr>
              <a:t>)</a:t>
            </a:r>
            <a:endParaRPr dirty="0">
              <a:solidFill>
                <a:srgbClr val="00B050"/>
              </a:solidFill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17525" y="899261"/>
            <a:ext cx="8682990" cy="4844916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68300" indent="-342900">
              <a:lnSpc>
                <a:spcPct val="100000"/>
              </a:lnSpc>
              <a:spcBef>
                <a:spcPts val="5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67665" algn="l"/>
                <a:tab pos="368300" algn="l"/>
              </a:tabLst>
            </a:pPr>
            <a:r>
              <a:rPr sz="2000" b="1" dirty="0">
                <a:latin typeface="Arial"/>
                <a:cs typeface="Arial"/>
              </a:rPr>
              <a:t>Assume each fault occurrence probability is </a:t>
            </a:r>
            <a:r>
              <a:rPr sz="2000" b="1" i="1" dirty="0">
                <a:solidFill>
                  <a:srgbClr val="0000FF"/>
                </a:solidFill>
                <a:latin typeface="TimesNewRomanPS-BoldItalicMT"/>
                <a:cs typeface="TimesNewRomanPS-BoldItalicMT"/>
              </a:rPr>
              <a:t>q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(uniform</a:t>
            </a:r>
            <a:r>
              <a:rPr sz="2000" b="1" spc="-16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independent)</a:t>
            </a:r>
            <a:endParaRPr sz="2000" dirty="0">
              <a:latin typeface="Arial"/>
              <a:cs typeface="Arial"/>
            </a:endParaRPr>
          </a:p>
          <a:p>
            <a:pPr marL="7689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68985" algn="l"/>
                <a:tab pos="769620" algn="l"/>
              </a:tabLst>
            </a:pPr>
            <a:r>
              <a:rPr sz="2000" b="1" dirty="0">
                <a:latin typeface="Arial"/>
                <a:cs typeface="Arial"/>
              </a:rPr>
              <a:t>Total </a:t>
            </a:r>
            <a:r>
              <a:rPr sz="2000" b="1" i="1" dirty="0">
                <a:solidFill>
                  <a:srgbClr val="0000FF"/>
                </a:solidFill>
                <a:latin typeface="TimesNewRomanPS-BoldItalicMT"/>
                <a:cs typeface="TimesNewRomanPS-BoldItalicMT"/>
              </a:rPr>
              <a:t>t </a:t>
            </a:r>
            <a:r>
              <a:rPr sz="2000" b="1" dirty="0">
                <a:latin typeface="Arial"/>
                <a:cs typeface="Arial"/>
              </a:rPr>
              <a:t>faults in an</a:t>
            </a:r>
            <a:r>
              <a:rPr sz="2000" b="1" spc="-9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IC</a:t>
            </a:r>
            <a:endParaRPr sz="2000" dirty="0">
              <a:latin typeface="Arial"/>
              <a:cs typeface="Arial"/>
            </a:endParaRPr>
          </a:p>
          <a:p>
            <a:pPr marL="7689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68985" algn="l"/>
                <a:tab pos="769620" algn="l"/>
              </a:tabLst>
            </a:pPr>
            <a:r>
              <a:rPr sz="2000" b="1" i="1" dirty="0">
                <a:solidFill>
                  <a:srgbClr val="0000FF"/>
                </a:solidFill>
                <a:latin typeface="TimesNewRomanPS-BoldItalicMT"/>
                <a:cs typeface="TimesNewRomanPS-BoldItalicMT"/>
              </a:rPr>
              <a:t>d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out of </a:t>
            </a:r>
            <a:r>
              <a:rPr sz="2000" b="1" i="1" dirty="0">
                <a:solidFill>
                  <a:srgbClr val="0000FF"/>
                </a:solidFill>
                <a:latin typeface="TimesNewRomanPS-BoldItalicMT"/>
                <a:cs typeface="TimesNewRomanPS-BoldItalicMT"/>
              </a:rPr>
              <a:t>t </a:t>
            </a:r>
            <a:r>
              <a:rPr sz="2000" b="1" dirty="0">
                <a:latin typeface="Arial"/>
                <a:cs typeface="Arial"/>
              </a:rPr>
              <a:t>faults detected by this test </a:t>
            </a:r>
            <a:r>
              <a:rPr sz="2000" spc="-35" dirty="0">
                <a:latin typeface="Arial"/>
                <a:cs typeface="Arial"/>
              </a:rPr>
              <a:t>→ </a:t>
            </a:r>
            <a:r>
              <a:rPr sz="2000" b="1" dirty="0">
                <a:solidFill>
                  <a:srgbClr val="0000FF"/>
                </a:solidFill>
                <a:latin typeface="Times New Roman"/>
                <a:cs typeface="Times New Roman"/>
              </a:rPr>
              <a:t>FC =</a:t>
            </a:r>
            <a:r>
              <a:rPr sz="2000" b="1" spc="44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0000FF"/>
                </a:solidFill>
                <a:latin typeface="TimesNewRomanPS-BoldItalicMT"/>
                <a:cs typeface="TimesNewRomanPS-BoldItalicMT"/>
              </a:rPr>
              <a:t>d/t</a:t>
            </a:r>
            <a:endParaRPr sz="2000" dirty="0">
              <a:latin typeface="TimesNewRomanPS-BoldItalicMT"/>
              <a:cs typeface="TimesNewRomanPS-BoldItalicMT"/>
            </a:endParaRPr>
          </a:p>
          <a:p>
            <a:pPr marL="368300" indent="-342900">
              <a:lnSpc>
                <a:spcPct val="100000"/>
              </a:lnSpc>
              <a:spcBef>
                <a:spcPts val="49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67665" algn="l"/>
                <a:tab pos="368300" algn="l"/>
              </a:tabLst>
            </a:pPr>
            <a:r>
              <a:rPr sz="2000" b="1" spc="-5" dirty="0">
                <a:solidFill>
                  <a:srgbClr val="0000FF"/>
                </a:solidFill>
                <a:latin typeface="Arial"/>
                <a:cs typeface="Arial"/>
              </a:rPr>
              <a:t>Event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A </a:t>
            </a:r>
            <a:r>
              <a:rPr sz="2000" b="1" dirty="0">
                <a:latin typeface="Arial"/>
                <a:cs typeface="Arial"/>
              </a:rPr>
              <a:t>= an </a:t>
            </a:r>
            <a:r>
              <a:rPr sz="2000" b="1" spc="-5" dirty="0">
                <a:latin typeface="Arial"/>
                <a:cs typeface="Arial"/>
              </a:rPr>
              <a:t>IC </a:t>
            </a:r>
            <a:r>
              <a:rPr sz="2000" b="1" dirty="0">
                <a:latin typeface="Arial"/>
                <a:cs typeface="Arial"/>
              </a:rPr>
              <a:t>is good (no fault </a:t>
            </a:r>
            <a:r>
              <a:rPr lang="en-US" sz="2000" b="1" dirty="0">
                <a:latin typeface="Arial"/>
                <a:cs typeface="Arial"/>
              </a:rPr>
              <a:t>found</a:t>
            </a:r>
            <a:r>
              <a:rPr sz="2000" b="1" spc="-5" dirty="0">
                <a:latin typeface="Arial"/>
                <a:cs typeface="Arial"/>
              </a:rPr>
              <a:t>)</a:t>
            </a:r>
            <a:endParaRPr sz="2000" dirty="0">
              <a:latin typeface="Arial"/>
              <a:cs typeface="Arial"/>
            </a:endParaRPr>
          </a:p>
          <a:p>
            <a:pPr marL="768985" lvl="1" indent="-287020">
              <a:lnSpc>
                <a:spcPct val="100000"/>
              </a:lnSpc>
              <a:spcBef>
                <a:spcPts val="47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68985" algn="l"/>
                <a:tab pos="769620" algn="l"/>
              </a:tabLst>
            </a:pPr>
            <a:r>
              <a:rPr sz="2000" b="1" dirty="0">
                <a:latin typeface="Times New Roman"/>
                <a:cs typeface="Times New Roman"/>
              </a:rPr>
              <a:t>Prob(A) </a:t>
            </a:r>
            <a:r>
              <a:rPr sz="2000" b="1" dirty="0">
                <a:latin typeface="Arial"/>
                <a:cs typeface="Arial"/>
              </a:rPr>
              <a:t>= probability that an IC </a:t>
            </a:r>
            <a:r>
              <a:rPr sz="2000" b="1" spc="-5" dirty="0">
                <a:latin typeface="Arial"/>
                <a:cs typeface="Arial"/>
              </a:rPr>
              <a:t>is </a:t>
            </a:r>
            <a:r>
              <a:rPr sz="2000" b="1" dirty="0">
                <a:latin typeface="Arial"/>
                <a:cs typeface="Arial"/>
              </a:rPr>
              <a:t>good </a:t>
            </a:r>
            <a:r>
              <a:rPr sz="2000" spc="-40" dirty="0">
                <a:latin typeface="Arial"/>
                <a:cs typeface="Arial"/>
              </a:rPr>
              <a:t>→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b="1" i="1" dirty="0">
                <a:solidFill>
                  <a:srgbClr val="0000FF"/>
                </a:solidFill>
                <a:latin typeface="TimesNewRomanPS-BoldItalicMT"/>
                <a:cs typeface="TimesNewRomanPS-BoldItalicMT"/>
              </a:rPr>
              <a:t>Prob(A)</a:t>
            </a:r>
            <a:r>
              <a:rPr sz="2000" b="1" dirty="0">
                <a:solidFill>
                  <a:srgbClr val="0000FF"/>
                </a:solidFill>
                <a:latin typeface="Times New Roman"/>
                <a:cs typeface="Times New Roman"/>
              </a:rPr>
              <a:t>=</a:t>
            </a:r>
            <a:r>
              <a:rPr sz="2000" b="1" i="1" dirty="0">
                <a:solidFill>
                  <a:srgbClr val="0000FF"/>
                </a:solidFill>
                <a:latin typeface="TimesNewRomanPS-BoldItalicMT"/>
                <a:cs typeface="TimesNewRomanPS-BoldItalicMT"/>
              </a:rPr>
              <a:t>(1-q)</a:t>
            </a:r>
            <a:r>
              <a:rPr sz="1950" b="1" i="1" baseline="25641" dirty="0">
                <a:solidFill>
                  <a:srgbClr val="0000FF"/>
                </a:solidFill>
                <a:latin typeface="TimesNewRomanPS-BoldItalicMT"/>
                <a:cs typeface="TimesNewRomanPS-BoldItalicMT"/>
              </a:rPr>
              <a:t>t</a:t>
            </a:r>
            <a:endParaRPr sz="1950" baseline="25641" dirty="0">
              <a:latin typeface="TimesNewRomanPS-BoldItalicMT"/>
              <a:cs typeface="TimesNewRomanPS-BoldItalicMT"/>
            </a:endParaRPr>
          </a:p>
          <a:p>
            <a:pPr marL="7689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68985" algn="l"/>
                <a:tab pos="769620" algn="l"/>
              </a:tabLst>
            </a:pPr>
            <a:r>
              <a:rPr sz="2000" b="1" dirty="0">
                <a:latin typeface="Arial"/>
                <a:cs typeface="Arial"/>
              </a:rPr>
              <a:t>Y = fraction of IC that are </a:t>
            </a:r>
            <a:r>
              <a:rPr sz="2000" b="1" spc="-5" dirty="0">
                <a:latin typeface="Arial"/>
                <a:cs typeface="Arial"/>
              </a:rPr>
              <a:t>good</a:t>
            </a:r>
            <a:r>
              <a:rPr sz="2000" spc="-5" dirty="0">
                <a:latin typeface="Arial"/>
                <a:cs typeface="Arial"/>
              </a:rPr>
              <a:t>→</a:t>
            </a:r>
            <a:r>
              <a:rPr sz="2000" spc="-150" dirty="0">
                <a:latin typeface="Arial"/>
                <a:cs typeface="Arial"/>
              </a:rPr>
              <a:t> </a:t>
            </a:r>
            <a:r>
              <a:rPr sz="2000" b="1" i="1" dirty="0">
                <a:solidFill>
                  <a:srgbClr val="0000FF"/>
                </a:solidFill>
                <a:latin typeface="TimesNewRomanPS-BoldItalicMT"/>
                <a:cs typeface="TimesNewRomanPS-BoldItalicMT"/>
              </a:rPr>
              <a:t>Y=Prob(A)</a:t>
            </a:r>
            <a:endParaRPr sz="2000" dirty="0">
              <a:latin typeface="TimesNewRomanPS-BoldItalicMT"/>
              <a:cs typeface="TimesNewRomanPS-BoldItalicMT"/>
            </a:endParaRPr>
          </a:p>
          <a:p>
            <a:pPr marL="368300" indent="-342900">
              <a:lnSpc>
                <a:spcPct val="100000"/>
              </a:lnSpc>
              <a:spcBef>
                <a:spcPts val="49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67665" algn="l"/>
                <a:tab pos="368300" algn="l"/>
              </a:tabLst>
            </a:pPr>
            <a:r>
              <a:rPr sz="2000" b="1" spc="-5" dirty="0">
                <a:solidFill>
                  <a:srgbClr val="0000FF"/>
                </a:solidFill>
                <a:latin typeface="Arial"/>
                <a:cs typeface="Arial"/>
              </a:rPr>
              <a:t>Event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B </a:t>
            </a:r>
            <a:r>
              <a:rPr sz="2000" b="1" dirty="0">
                <a:latin typeface="Arial"/>
                <a:cs typeface="Arial"/>
              </a:rPr>
              <a:t>= an </a:t>
            </a:r>
            <a:r>
              <a:rPr sz="2000" b="1" spc="-5" dirty="0">
                <a:latin typeface="Arial"/>
                <a:cs typeface="Arial"/>
              </a:rPr>
              <a:t>IC </a:t>
            </a:r>
            <a:r>
              <a:rPr sz="2000" b="1" dirty="0">
                <a:latin typeface="Arial"/>
                <a:cs typeface="Arial"/>
              </a:rPr>
              <a:t>pass the</a:t>
            </a:r>
            <a:r>
              <a:rPr sz="2000" b="1" spc="-5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test</a:t>
            </a:r>
            <a:endParaRPr sz="2000" dirty="0">
              <a:latin typeface="Arial"/>
              <a:cs typeface="Arial"/>
            </a:endParaRPr>
          </a:p>
          <a:p>
            <a:pPr marL="768985" lvl="1" indent="-287020">
              <a:lnSpc>
                <a:spcPct val="100000"/>
              </a:lnSpc>
              <a:spcBef>
                <a:spcPts val="47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68985" algn="l"/>
                <a:tab pos="769620" algn="l"/>
                <a:tab pos="4501515" algn="l"/>
              </a:tabLst>
            </a:pPr>
            <a:r>
              <a:rPr sz="2000" b="1" dirty="0">
                <a:latin typeface="Times New Roman"/>
                <a:cs typeface="Times New Roman"/>
              </a:rPr>
              <a:t>Prob(B) </a:t>
            </a:r>
            <a:r>
              <a:rPr sz="2000" b="1" dirty="0">
                <a:latin typeface="Arial"/>
                <a:cs typeface="Arial"/>
              </a:rPr>
              <a:t>= an </a:t>
            </a:r>
            <a:r>
              <a:rPr sz="2000" b="1" spc="-5" dirty="0">
                <a:latin typeface="Arial"/>
                <a:cs typeface="Arial"/>
              </a:rPr>
              <a:t>IC </a:t>
            </a:r>
            <a:r>
              <a:rPr sz="2000" b="1" dirty="0">
                <a:latin typeface="Arial"/>
                <a:cs typeface="Arial"/>
              </a:rPr>
              <a:t>free of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i="1" dirty="0">
                <a:latin typeface="Arial-BoldItalicMT"/>
                <a:cs typeface="Arial-BoldItalicMT"/>
              </a:rPr>
              <a:t>d</a:t>
            </a:r>
            <a:r>
              <a:rPr sz="2000" b="1" i="1" spc="5" dirty="0">
                <a:latin typeface="Arial-BoldItalicMT"/>
                <a:cs typeface="Arial-BoldItalicMT"/>
              </a:rPr>
              <a:t> </a:t>
            </a:r>
            <a:r>
              <a:rPr sz="2000" b="1" dirty="0">
                <a:latin typeface="Arial"/>
                <a:cs typeface="Arial"/>
              </a:rPr>
              <a:t>faults	</a:t>
            </a:r>
            <a:r>
              <a:rPr sz="2000" spc="-40" dirty="0">
                <a:latin typeface="Arial"/>
                <a:cs typeface="Arial"/>
              </a:rPr>
              <a:t>→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b="1" i="1" dirty="0">
                <a:solidFill>
                  <a:srgbClr val="0000FF"/>
                </a:solidFill>
                <a:latin typeface="TimesNewRomanPS-BoldItalicMT"/>
                <a:cs typeface="TimesNewRomanPS-BoldItalicMT"/>
              </a:rPr>
              <a:t>Prob(B)=(1-q)</a:t>
            </a:r>
            <a:r>
              <a:rPr sz="1950" b="1" i="1" baseline="25641" dirty="0">
                <a:solidFill>
                  <a:srgbClr val="0000FF"/>
                </a:solidFill>
                <a:latin typeface="TimesNewRomanPS-BoldItalicMT"/>
                <a:cs typeface="TimesNewRomanPS-BoldItalicMT"/>
              </a:rPr>
              <a:t>d</a:t>
            </a:r>
            <a:endParaRPr sz="1950" baseline="25641" dirty="0">
              <a:latin typeface="TimesNewRomanPS-BoldItalicMT"/>
              <a:cs typeface="TimesNewRomanPS-BoldItalicMT"/>
            </a:endParaRPr>
          </a:p>
          <a:p>
            <a:pPr marL="368300" indent="-34290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67665" algn="l"/>
                <a:tab pos="368300" algn="l"/>
              </a:tabLst>
            </a:pP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Event AB </a:t>
            </a:r>
            <a:r>
              <a:rPr sz="2000" b="1" dirty="0">
                <a:latin typeface="Arial"/>
                <a:cs typeface="Arial"/>
              </a:rPr>
              <a:t>= an IC is good and pass</a:t>
            </a:r>
            <a:r>
              <a:rPr sz="2000" b="1" spc="-13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test</a:t>
            </a:r>
            <a:endParaRPr sz="2000" dirty="0">
              <a:latin typeface="Arial"/>
              <a:cs typeface="Arial"/>
            </a:endParaRPr>
          </a:p>
          <a:p>
            <a:pPr marL="411480">
              <a:lnSpc>
                <a:spcPct val="100000"/>
              </a:lnSpc>
              <a:spcBef>
                <a:spcPts val="480"/>
              </a:spcBef>
            </a:pPr>
            <a:r>
              <a:rPr sz="1500" dirty="0">
                <a:solidFill>
                  <a:srgbClr val="FF0000"/>
                </a:solidFill>
                <a:latin typeface="Arial"/>
                <a:cs typeface="Arial"/>
              </a:rPr>
              <a:t></a:t>
            </a:r>
            <a:r>
              <a:rPr sz="2000" b="1" dirty="0">
                <a:latin typeface="Arial"/>
                <a:cs typeface="Arial"/>
              </a:rPr>
              <a:t>Assume no overkill </a:t>
            </a:r>
            <a:r>
              <a:rPr sz="2000" spc="-35" dirty="0">
                <a:latin typeface="Arial"/>
                <a:cs typeface="Arial"/>
              </a:rPr>
              <a:t>→ </a:t>
            </a:r>
            <a:r>
              <a:rPr sz="2000" b="1" i="1" dirty="0">
                <a:solidFill>
                  <a:srgbClr val="0000FF"/>
                </a:solidFill>
                <a:latin typeface="TimesNewRomanPS-BoldItalicMT"/>
                <a:cs typeface="TimesNewRomanPS-BoldItalicMT"/>
              </a:rPr>
              <a:t>Prob(AB) = Prob(A)</a:t>
            </a:r>
            <a:endParaRPr sz="2000" dirty="0">
              <a:latin typeface="TimesNewRomanPS-BoldItalicMT"/>
              <a:cs typeface="TimesNewRomanPS-BoldItalicMT"/>
            </a:endParaRPr>
          </a:p>
          <a:p>
            <a:pPr marL="368300" indent="-342900">
              <a:lnSpc>
                <a:spcPct val="100000"/>
              </a:lnSpc>
              <a:spcBef>
                <a:spcPts val="51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67665" algn="l"/>
                <a:tab pos="368300" algn="l"/>
              </a:tabLst>
            </a:pPr>
            <a:r>
              <a:rPr sz="2000" b="1" i="1" dirty="0">
                <a:latin typeface="Arial-BoldItalicMT"/>
                <a:cs typeface="Arial-BoldItalicMT"/>
              </a:rPr>
              <a:t>Quality Level (QL) </a:t>
            </a:r>
            <a:r>
              <a:rPr sz="2000" b="1" dirty="0">
                <a:latin typeface="Arial"/>
                <a:cs typeface="Arial"/>
              </a:rPr>
              <a:t>= fraction of good IC passing the</a:t>
            </a:r>
            <a:r>
              <a:rPr sz="2000" b="1" spc="-22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test</a:t>
            </a:r>
            <a:endParaRPr sz="2000" dirty="0">
              <a:latin typeface="Arial"/>
              <a:cs typeface="Arial"/>
            </a:endParaRPr>
          </a:p>
          <a:p>
            <a:pPr marL="511175">
              <a:lnSpc>
                <a:spcPct val="100000"/>
              </a:lnSpc>
              <a:spcBef>
                <a:spcPts val="465"/>
              </a:spcBef>
            </a:pPr>
            <a:r>
              <a:rPr sz="1500" dirty="0">
                <a:solidFill>
                  <a:srgbClr val="FF0000"/>
                </a:solidFill>
                <a:latin typeface="Arial"/>
                <a:cs typeface="Arial"/>
              </a:rPr>
              <a:t></a:t>
            </a:r>
            <a:r>
              <a:rPr sz="2000" b="1" i="1" dirty="0">
                <a:latin typeface="TimesNewRomanPS-BoldItalicMT"/>
                <a:cs typeface="TimesNewRomanPS-BoldItalicMT"/>
              </a:rPr>
              <a:t>QL </a:t>
            </a:r>
            <a:r>
              <a:rPr sz="2000" b="1" dirty="0">
                <a:latin typeface="Times New Roman"/>
                <a:cs typeface="Times New Roman"/>
              </a:rPr>
              <a:t>= </a:t>
            </a:r>
            <a:r>
              <a:rPr sz="2000" b="1" i="1" dirty="0">
                <a:solidFill>
                  <a:srgbClr val="0000FF"/>
                </a:solidFill>
                <a:latin typeface="TimesNewRomanPS-BoldItalicMT"/>
                <a:cs typeface="TimesNewRomanPS-BoldItalicMT"/>
              </a:rPr>
              <a:t>Prob(A|B) = Prob(AB)/Prob(B) </a:t>
            </a:r>
            <a:r>
              <a:rPr sz="2000" b="1" dirty="0">
                <a:solidFill>
                  <a:srgbClr val="0000FF"/>
                </a:solidFill>
                <a:latin typeface="Times New Roman"/>
                <a:cs typeface="Times New Roman"/>
              </a:rPr>
              <a:t>= </a:t>
            </a:r>
            <a:r>
              <a:rPr sz="2000" b="1" i="1" spc="5" dirty="0">
                <a:solidFill>
                  <a:srgbClr val="0000FF"/>
                </a:solidFill>
                <a:latin typeface="TimesNewRomanPS-BoldItalicMT"/>
                <a:cs typeface="TimesNewRomanPS-BoldItalicMT"/>
              </a:rPr>
              <a:t>(1-q)</a:t>
            </a:r>
            <a:r>
              <a:rPr sz="1950" b="1" i="1" spc="7" baseline="25641" dirty="0">
                <a:solidFill>
                  <a:srgbClr val="0000FF"/>
                </a:solidFill>
                <a:latin typeface="TimesNewRomanPS-BoldItalicMT"/>
                <a:cs typeface="TimesNewRomanPS-BoldItalicMT"/>
              </a:rPr>
              <a:t>t-d </a:t>
            </a:r>
            <a:r>
              <a:rPr sz="2000" b="1" dirty="0">
                <a:solidFill>
                  <a:srgbClr val="0000FF"/>
                </a:solidFill>
                <a:latin typeface="Times New Roman"/>
                <a:cs typeface="Times New Roman"/>
              </a:rPr>
              <a:t>= </a:t>
            </a:r>
            <a:r>
              <a:rPr sz="2000" b="1" i="1" spc="5" dirty="0">
                <a:solidFill>
                  <a:srgbClr val="0000FF"/>
                </a:solidFill>
                <a:latin typeface="TimesNewRomanPS-BoldItalicMT"/>
                <a:cs typeface="TimesNewRomanPS-BoldItalicMT"/>
              </a:rPr>
              <a:t>(1-q)</a:t>
            </a:r>
            <a:r>
              <a:rPr sz="1950" b="1" i="1" spc="7" baseline="25641" dirty="0">
                <a:solidFill>
                  <a:srgbClr val="0000FF"/>
                </a:solidFill>
                <a:latin typeface="TimesNewRomanPS-BoldItalicMT"/>
                <a:cs typeface="TimesNewRomanPS-BoldItalicMT"/>
              </a:rPr>
              <a:t>t(1-d/t) </a:t>
            </a:r>
            <a:r>
              <a:rPr sz="2000" b="1" dirty="0">
                <a:solidFill>
                  <a:srgbClr val="0000FF"/>
                </a:solidFill>
                <a:latin typeface="Times New Roman"/>
                <a:cs typeface="Times New Roman"/>
              </a:rPr>
              <a:t>=</a:t>
            </a:r>
            <a:r>
              <a:rPr sz="2000" b="1" spc="-13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b="1" i="1" spc="10" dirty="0">
                <a:solidFill>
                  <a:srgbClr val="0000FF"/>
                </a:solidFill>
                <a:latin typeface="TimesNewRomanPS-BoldItalicMT"/>
                <a:cs typeface="TimesNewRomanPS-BoldItalicMT"/>
              </a:rPr>
              <a:t>Y</a:t>
            </a:r>
            <a:r>
              <a:rPr sz="1950" b="1" i="1" spc="15" baseline="25641" dirty="0">
                <a:solidFill>
                  <a:srgbClr val="0000FF"/>
                </a:solidFill>
                <a:latin typeface="TimesNewRomanPS-BoldItalicMT"/>
                <a:cs typeface="TimesNewRomanPS-BoldItalicMT"/>
              </a:rPr>
              <a:t>(1-FC)</a:t>
            </a:r>
            <a:endParaRPr sz="1950" baseline="25641" dirty="0">
              <a:latin typeface="TimesNewRomanPS-BoldItalicMT"/>
              <a:cs typeface="TimesNewRomanPS-BoldItalicMT"/>
            </a:endParaRPr>
          </a:p>
          <a:p>
            <a:pPr marL="25400">
              <a:lnSpc>
                <a:spcPct val="100000"/>
              </a:lnSpc>
              <a:spcBef>
                <a:spcPts val="495"/>
              </a:spcBef>
              <a:buClr>
                <a:srgbClr val="FF0000"/>
              </a:buClr>
              <a:buSzPct val="120000"/>
              <a:tabLst>
                <a:tab pos="367665" algn="l"/>
                <a:tab pos="368300" algn="l"/>
              </a:tabLst>
            </a:pPr>
            <a:endParaRPr sz="20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341691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215798" y="6399903"/>
            <a:ext cx="393802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9</a:t>
            </a:fld>
            <a:endParaRPr spc="-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99991" y="164414"/>
            <a:ext cx="10160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0B050"/>
                </a:solidFill>
                <a:latin typeface="Arial"/>
                <a:cs typeface="Arial"/>
              </a:rPr>
              <a:t>Quiz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63752" y="1007363"/>
            <a:ext cx="7134225" cy="3117520"/>
          </a:xfrm>
          <a:prstGeom prst="rect">
            <a:avLst/>
          </a:prstGeom>
          <a:solidFill>
            <a:srgbClr val="66FF66"/>
          </a:solidFill>
        </p:spPr>
        <p:txBody>
          <a:bodyPr vert="horz" wrap="square" lIns="0" tIns="3937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310"/>
              </a:spcBef>
            </a:pPr>
            <a:r>
              <a:rPr sz="2000" b="1" dirty="0">
                <a:latin typeface="Helvetica"/>
                <a:cs typeface="Helvetica"/>
              </a:rPr>
              <a:t>Q1: </a:t>
            </a:r>
            <a:r>
              <a:rPr sz="2000" b="1" spc="5" dirty="0">
                <a:latin typeface="Helvetica"/>
                <a:cs typeface="Helvetica"/>
              </a:rPr>
              <a:t>Use B&amp;W</a:t>
            </a:r>
            <a:r>
              <a:rPr sz="2000" b="1" spc="-55" dirty="0">
                <a:latin typeface="Helvetica"/>
                <a:cs typeface="Helvetica"/>
              </a:rPr>
              <a:t> </a:t>
            </a:r>
            <a:r>
              <a:rPr sz="2000" b="1" dirty="0">
                <a:latin typeface="Helvetica"/>
                <a:cs typeface="Helvetica"/>
              </a:rPr>
              <a:t>model.</a:t>
            </a:r>
            <a:endParaRPr sz="2000" dirty="0">
              <a:latin typeface="Helvetica"/>
              <a:cs typeface="Helvetica"/>
            </a:endParaRPr>
          </a:p>
          <a:p>
            <a:pPr marL="575945">
              <a:lnSpc>
                <a:spcPct val="100000"/>
              </a:lnSpc>
              <a:tabLst>
                <a:tab pos="1612900" algn="l"/>
                <a:tab pos="2816860" algn="l"/>
              </a:tabLst>
            </a:pPr>
            <a:r>
              <a:rPr sz="2000" b="1" spc="-5" dirty="0">
                <a:solidFill>
                  <a:srgbClr val="0000FF"/>
                </a:solidFill>
                <a:latin typeface="Helvetica"/>
                <a:cs typeface="Helvetica"/>
              </a:rPr>
              <a:t>Y=98%,	FC=70%.	</a:t>
            </a:r>
            <a:r>
              <a:rPr sz="2000" b="1" dirty="0">
                <a:latin typeface="Helvetica"/>
                <a:cs typeface="Helvetica"/>
              </a:rPr>
              <a:t>DL=?</a:t>
            </a:r>
            <a:endParaRPr sz="2000" dirty="0">
              <a:latin typeface="Helvetica"/>
              <a:cs typeface="Helvetica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000" dirty="0">
              <a:latin typeface="Helvetica"/>
              <a:cs typeface="Helvetica"/>
            </a:endParaRPr>
          </a:p>
          <a:p>
            <a:pPr marL="90805">
              <a:lnSpc>
                <a:spcPct val="100000"/>
              </a:lnSpc>
            </a:pPr>
            <a:r>
              <a:rPr sz="2000" b="1" spc="5" dirty="0">
                <a:latin typeface="Helvetica"/>
                <a:cs typeface="Helvetica"/>
              </a:rPr>
              <a:t>A:</a:t>
            </a:r>
            <a:endParaRPr sz="2000" dirty="0">
              <a:latin typeface="Helvetica"/>
              <a:cs typeface="Helvetic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000" dirty="0">
              <a:latin typeface="Helvetica"/>
              <a:cs typeface="Helvetica"/>
            </a:endParaRPr>
          </a:p>
          <a:p>
            <a:pPr marL="650240" marR="361315" indent="-559435">
              <a:lnSpc>
                <a:spcPct val="100000"/>
              </a:lnSpc>
              <a:tabLst>
                <a:tab pos="648335" algn="l"/>
                <a:tab pos="4817745" algn="l"/>
              </a:tabLst>
            </a:pPr>
            <a:r>
              <a:rPr sz="2000" b="1" dirty="0">
                <a:latin typeface="Helvetica"/>
                <a:cs typeface="Helvetica"/>
              </a:rPr>
              <a:t>Q2:	If </a:t>
            </a:r>
            <a:r>
              <a:rPr sz="2000" b="1" spc="15" dirty="0">
                <a:latin typeface="Helvetica"/>
                <a:cs typeface="Helvetica"/>
              </a:rPr>
              <a:t>we </a:t>
            </a:r>
            <a:r>
              <a:rPr sz="2000" b="1" dirty="0">
                <a:latin typeface="Helvetica"/>
                <a:cs typeface="Helvetica"/>
              </a:rPr>
              <a:t>add </a:t>
            </a:r>
            <a:r>
              <a:rPr sz="2000" b="1" spc="-5" dirty="0">
                <a:latin typeface="Helvetica"/>
                <a:cs typeface="Helvetica"/>
              </a:rPr>
              <a:t>some  </a:t>
            </a:r>
            <a:r>
              <a:rPr sz="2000" b="1" dirty="0">
                <a:latin typeface="Helvetica"/>
                <a:cs typeface="Helvetica"/>
              </a:rPr>
              <a:t>design for testability (DFT) circuits to </a:t>
            </a:r>
            <a:r>
              <a:rPr sz="2000" b="1" spc="-5" dirty="0">
                <a:latin typeface="Helvetica"/>
                <a:cs typeface="Helvetica"/>
              </a:rPr>
              <a:t>improves</a:t>
            </a:r>
            <a:r>
              <a:rPr sz="2000" b="1" spc="-80" dirty="0">
                <a:latin typeface="Helvetica"/>
                <a:cs typeface="Helvetica"/>
              </a:rPr>
              <a:t> </a:t>
            </a:r>
            <a:r>
              <a:rPr sz="2000" b="1" dirty="0">
                <a:latin typeface="Helvetica"/>
                <a:cs typeface="Helvetica"/>
              </a:rPr>
              <a:t>FC  but harms </a:t>
            </a:r>
            <a:r>
              <a:rPr sz="2000" b="1" spc="-10" dirty="0">
                <a:latin typeface="Helvetica"/>
                <a:cs typeface="Helvetica"/>
              </a:rPr>
              <a:t>yield </a:t>
            </a:r>
            <a:r>
              <a:rPr sz="2000" b="1" dirty="0">
                <a:latin typeface="Helvetica"/>
                <a:cs typeface="Helvetica"/>
              </a:rPr>
              <a:t>a little</a:t>
            </a:r>
            <a:r>
              <a:rPr lang="en-US" sz="2000" b="1" dirty="0">
                <a:latin typeface="Helvetica"/>
                <a:cs typeface="Helvetica"/>
              </a:rPr>
              <a:t> we have</a:t>
            </a:r>
            <a:r>
              <a:rPr lang="en-US" sz="2000" dirty="0">
                <a:latin typeface="Helvetica"/>
                <a:cs typeface="Helvetica"/>
              </a:rPr>
              <a:t> </a:t>
            </a:r>
            <a:r>
              <a:rPr sz="2000" b="1" spc="-5" dirty="0">
                <a:solidFill>
                  <a:srgbClr val="0000FF"/>
                </a:solidFill>
                <a:latin typeface="Helvetica"/>
                <a:cs typeface="Helvetica"/>
              </a:rPr>
              <a:t>Y=97%,</a:t>
            </a:r>
            <a:r>
              <a:rPr sz="2000" b="1" spc="10" dirty="0">
                <a:solidFill>
                  <a:srgbClr val="0000FF"/>
                </a:solidFill>
                <a:latin typeface="Helvetica"/>
                <a:cs typeface="Helvetica"/>
              </a:rPr>
              <a:t> </a:t>
            </a:r>
            <a:r>
              <a:rPr sz="2000" b="1" spc="-5" dirty="0">
                <a:solidFill>
                  <a:srgbClr val="0000FF"/>
                </a:solidFill>
                <a:latin typeface="Helvetica"/>
                <a:cs typeface="Helvetica"/>
              </a:rPr>
              <a:t>FC=99%</a:t>
            </a:r>
            <a:r>
              <a:rPr sz="2000" b="1" spc="-5" dirty="0">
                <a:latin typeface="Helvetica"/>
                <a:cs typeface="Helvetica"/>
              </a:rPr>
              <a:t>.	</a:t>
            </a:r>
            <a:r>
              <a:rPr sz="2000" b="1" dirty="0">
                <a:latin typeface="Helvetica"/>
                <a:cs typeface="Helvetica"/>
              </a:rPr>
              <a:t>DL=?</a:t>
            </a:r>
            <a:endParaRPr sz="2000" dirty="0">
              <a:latin typeface="Helvetica"/>
              <a:cs typeface="Helvetica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000" dirty="0">
              <a:latin typeface="Helvetica"/>
              <a:cs typeface="Helvetica"/>
            </a:endParaRPr>
          </a:p>
          <a:p>
            <a:pPr marL="90805">
              <a:lnSpc>
                <a:spcPct val="100000"/>
              </a:lnSpc>
            </a:pPr>
            <a:r>
              <a:rPr sz="2000" b="1" spc="5" dirty="0">
                <a:latin typeface="Helvetica"/>
                <a:cs typeface="Helvetica"/>
              </a:rPr>
              <a:t>A:</a:t>
            </a:r>
            <a:endParaRPr sz="2000" dirty="0">
              <a:latin typeface="Helvetica"/>
              <a:cs typeface="Helvetic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62955" y="1109472"/>
            <a:ext cx="2689860" cy="532130"/>
          </a:xfrm>
          <a:prstGeom prst="rect">
            <a:avLst/>
          </a:prstGeom>
          <a:solidFill>
            <a:srgbClr val="FFCCCC"/>
          </a:solidFill>
          <a:ln w="9144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8740">
              <a:lnSpc>
                <a:spcPts val="2820"/>
              </a:lnSpc>
            </a:pPr>
            <a:r>
              <a:rPr sz="4950" i="1" spc="60" baseline="-25252" dirty="0">
                <a:latin typeface="Times New Roman"/>
                <a:cs typeface="Times New Roman"/>
              </a:rPr>
              <a:t>DL</a:t>
            </a:r>
            <a:r>
              <a:rPr sz="4950" i="1" spc="-240" baseline="-25252" dirty="0">
                <a:latin typeface="Times New Roman"/>
                <a:cs typeface="Times New Roman"/>
              </a:rPr>
              <a:t> </a:t>
            </a:r>
            <a:r>
              <a:rPr sz="4950" baseline="-25252" dirty="0">
                <a:latin typeface="Arial"/>
                <a:cs typeface="Arial"/>
              </a:rPr>
              <a:t>=</a:t>
            </a:r>
            <a:r>
              <a:rPr sz="4950" spc="-839" baseline="-25252" dirty="0">
                <a:latin typeface="Arial"/>
                <a:cs typeface="Arial"/>
              </a:rPr>
              <a:t> </a:t>
            </a:r>
            <a:r>
              <a:rPr sz="4950" spc="359" baseline="-25252" dirty="0">
                <a:latin typeface="Times New Roman"/>
                <a:cs typeface="Times New Roman"/>
              </a:rPr>
              <a:t>1</a:t>
            </a:r>
            <a:r>
              <a:rPr sz="4950" spc="359" baseline="-25252" dirty="0">
                <a:latin typeface="Arial"/>
                <a:cs typeface="Arial"/>
              </a:rPr>
              <a:t>−</a:t>
            </a:r>
            <a:r>
              <a:rPr sz="4950" i="1" spc="359" baseline="-25252" dirty="0">
                <a:latin typeface="Times New Roman"/>
                <a:cs typeface="Times New Roman"/>
              </a:rPr>
              <a:t>Y</a:t>
            </a:r>
            <a:r>
              <a:rPr sz="4950" i="1" spc="-600" baseline="-25252" dirty="0">
                <a:latin typeface="Times New Roman"/>
                <a:cs typeface="Times New Roman"/>
              </a:rPr>
              <a:t> </a:t>
            </a:r>
            <a:r>
              <a:rPr sz="1950" spc="25" dirty="0">
                <a:latin typeface="Times New Roman"/>
                <a:cs typeface="Times New Roman"/>
              </a:rPr>
              <a:t>(1</a:t>
            </a:r>
            <a:r>
              <a:rPr sz="1950" spc="25" dirty="0">
                <a:latin typeface="Arial"/>
                <a:cs typeface="Arial"/>
              </a:rPr>
              <a:t>−</a:t>
            </a:r>
            <a:r>
              <a:rPr sz="1950" i="1" spc="25" dirty="0">
                <a:latin typeface="Times New Roman"/>
                <a:cs typeface="Times New Roman"/>
              </a:rPr>
              <a:t>FC</a:t>
            </a:r>
            <a:r>
              <a:rPr sz="1950" spc="25" dirty="0">
                <a:latin typeface="Times New Roman"/>
                <a:cs typeface="Times New Roman"/>
              </a:rPr>
              <a:t>)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44574" y="5982461"/>
            <a:ext cx="6057900" cy="462280"/>
          </a:xfrm>
          <a:prstGeom prst="rect">
            <a:avLst/>
          </a:prstGeom>
          <a:ln w="19811">
            <a:solidFill>
              <a:srgbClr val="FF0000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305"/>
              </a:spcBef>
            </a:pPr>
            <a:r>
              <a:rPr sz="2400" b="1" spc="-5" dirty="0">
                <a:solidFill>
                  <a:srgbClr val="FF0000"/>
                </a:solidFill>
                <a:latin typeface="Helvetica"/>
                <a:cs typeface="Helvetica"/>
              </a:rPr>
              <a:t>DFT </a:t>
            </a:r>
            <a:r>
              <a:rPr sz="2400" b="1" spc="-35" dirty="0">
                <a:solidFill>
                  <a:srgbClr val="FF0000"/>
                </a:solidFill>
                <a:latin typeface="Helvetica"/>
                <a:cs typeface="Helvetica"/>
              </a:rPr>
              <a:t>Very </a:t>
            </a:r>
            <a:r>
              <a:rPr sz="2400" b="1" dirty="0">
                <a:solidFill>
                  <a:srgbClr val="FF0000"/>
                </a:solidFill>
                <a:latin typeface="Helvetica"/>
                <a:cs typeface="Helvetica"/>
              </a:rPr>
              <a:t>Important </a:t>
            </a:r>
            <a:r>
              <a:rPr sz="2400" b="1" spc="-5" dirty="0">
                <a:solidFill>
                  <a:srgbClr val="FF0000"/>
                </a:solidFill>
                <a:latin typeface="Helvetica"/>
                <a:cs typeface="Helvetica"/>
              </a:rPr>
              <a:t>for </a:t>
            </a:r>
            <a:r>
              <a:rPr sz="2400" b="1" spc="-10" dirty="0">
                <a:solidFill>
                  <a:srgbClr val="FF0000"/>
                </a:solidFill>
                <a:latin typeface="Helvetica"/>
                <a:cs typeface="Helvetica"/>
              </a:rPr>
              <a:t>DL</a:t>
            </a:r>
            <a:r>
              <a:rPr sz="2400" b="1" spc="-30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sz="2400" b="1" spc="-5" dirty="0">
                <a:solidFill>
                  <a:srgbClr val="FF0000"/>
                </a:solidFill>
                <a:latin typeface="Helvetica"/>
                <a:cs typeface="Helvetica"/>
              </a:rPr>
              <a:t>Improvement</a:t>
            </a:r>
            <a:endParaRPr sz="2400">
              <a:latin typeface="Helvetica"/>
              <a:cs typeface="Helvetic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61792" y="164414"/>
            <a:ext cx="269113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0B050"/>
                </a:solidFill>
                <a:latin typeface="Arial"/>
                <a:cs typeface="Arial"/>
              </a:rPr>
              <a:t>Introduction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0225" y="961136"/>
            <a:ext cx="7400290" cy="366831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solidFill>
                  <a:srgbClr val="7E7E7E"/>
                </a:solidFill>
                <a:latin typeface="Arial"/>
                <a:cs typeface="Arial"/>
              </a:rPr>
              <a:t>What Is</a:t>
            </a:r>
            <a:r>
              <a:rPr sz="2000" b="1" spc="-5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7E7E7E"/>
                </a:solidFill>
                <a:latin typeface="Arial"/>
                <a:cs typeface="Arial"/>
              </a:rPr>
              <a:t>Testing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7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spc="-5" dirty="0">
                <a:solidFill>
                  <a:srgbClr val="7E7E7E"/>
                </a:solidFill>
                <a:latin typeface="Arial"/>
                <a:cs typeface="Arial"/>
              </a:rPr>
              <a:t>Types </a:t>
            </a:r>
            <a:r>
              <a:rPr sz="2000" b="1" dirty="0">
                <a:solidFill>
                  <a:srgbClr val="7E7E7E"/>
                </a:solidFill>
                <a:latin typeface="Arial"/>
                <a:cs typeface="Arial"/>
              </a:rPr>
              <a:t>of</a:t>
            </a:r>
            <a:r>
              <a:rPr sz="2000" b="1" spc="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7E7E7E"/>
                </a:solidFill>
                <a:latin typeface="Arial"/>
                <a:cs typeface="Arial"/>
              </a:rPr>
              <a:t>Testing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4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Test</a:t>
            </a:r>
            <a:r>
              <a:rPr sz="2000" b="1" u="sng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0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Quality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Defect per </a:t>
            </a:r>
            <a:r>
              <a:rPr sz="2000" b="1" spc="-5" dirty="0">
                <a:latin typeface="Arial"/>
                <a:cs typeface="Arial"/>
              </a:rPr>
              <a:t>Million</a:t>
            </a:r>
            <a:r>
              <a:rPr sz="2000" b="1" spc="-7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(DPM)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Models to Predict</a:t>
            </a:r>
            <a:r>
              <a:rPr sz="2000" b="1" u="sng" spc="-6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0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DPM</a:t>
            </a:r>
            <a:endParaRPr sz="2000" dirty="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480"/>
              </a:spcBef>
            </a:pPr>
            <a:r>
              <a:rPr sz="1800" spc="-600" dirty="0">
                <a:solidFill>
                  <a:srgbClr val="FF0000"/>
                </a:solidFill>
                <a:latin typeface="Arial"/>
                <a:cs typeface="Arial"/>
              </a:rPr>
              <a:t></a:t>
            </a:r>
            <a:r>
              <a:rPr sz="1800" spc="40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spc="5" dirty="0">
                <a:latin typeface="Arial"/>
                <a:cs typeface="Arial"/>
              </a:rPr>
              <a:t>Brown </a:t>
            </a:r>
            <a:r>
              <a:rPr sz="2000" b="1" dirty="0">
                <a:latin typeface="Arial"/>
                <a:cs typeface="Arial"/>
              </a:rPr>
              <a:t>&amp; </a:t>
            </a:r>
            <a:r>
              <a:rPr sz="2000" b="1" spc="-5" dirty="0">
                <a:latin typeface="Arial"/>
                <a:cs typeface="Arial"/>
              </a:rPr>
              <a:t>Williams </a:t>
            </a:r>
            <a:r>
              <a:rPr sz="2000" b="1" dirty="0">
                <a:latin typeface="Arial"/>
                <a:cs typeface="Arial"/>
              </a:rPr>
              <a:t>(IBM, 1981), Binomial</a:t>
            </a:r>
            <a:r>
              <a:rPr sz="2000" b="1" spc="-150" dirty="0">
                <a:latin typeface="Arial"/>
                <a:cs typeface="Arial"/>
              </a:rPr>
              <a:t> </a:t>
            </a:r>
            <a:r>
              <a:rPr sz="2000" b="1" spc="-20" dirty="0">
                <a:latin typeface="Arial"/>
                <a:cs typeface="Arial"/>
              </a:rPr>
              <a:t>distribution</a:t>
            </a:r>
            <a:endParaRPr sz="2000" dirty="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484"/>
              </a:spcBef>
            </a:pPr>
            <a:r>
              <a:rPr sz="1800" spc="-600" dirty="0">
                <a:solidFill>
                  <a:srgbClr val="FF0000"/>
                </a:solidFill>
                <a:latin typeface="Arial"/>
                <a:cs typeface="Arial"/>
              </a:rPr>
              <a:t></a:t>
            </a:r>
            <a:r>
              <a:rPr sz="1800" spc="39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Agrawal (Bell Lab, 1982), Poisson distribution</a:t>
            </a:r>
          </a:p>
          <a:p>
            <a:pPr marL="756285" lvl="1" indent="-287020">
              <a:lnSpc>
                <a:spcPct val="100000"/>
              </a:lnSpc>
              <a:spcBef>
                <a:spcPts val="475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Models for</a:t>
            </a:r>
            <a:r>
              <a:rPr sz="2000" b="1" spc="-5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Yield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solidFill>
                  <a:srgbClr val="7E7E7E"/>
                </a:solidFill>
                <a:latin typeface="Arial"/>
                <a:cs typeface="Arial"/>
              </a:rPr>
              <a:t>Test</a:t>
            </a:r>
            <a:r>
              <a:rPr sz="2000" b="1" spc="-2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7E7E7E"/>
                </a:solidFill>
                <a:latin typeface="Arial"/>
                <a:cs typeface="Arial"/>
              </a:rPr>
              <a:t>Economy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4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solidFill>
                  <a:srgbClr val="7E7E7E"/>
                </a:solidFill>
                <a:latin typeface="Arial"/>
                <a:cs typeface="Arial"/>
              </a:rPr>
              <a:t>Conclusion</a:t>
            </a:r>
            <a:r>
              <a:rPr lang="en-US" sz="2000" b="1" dirty="0">
                <a:solidFill>
                  <a:srgbClr val="7E7E7E"/>
                </a:solidFill>
                <a:latin typeface="Arial"/>
                <a:cs typeface="Arial"/>
              </a:rPr>
              <a:t>s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439411" y="3555491"/>
            <a:ext cx="4119372" cy="29535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215798" y="6399903"/>
            <a:ext cx="546202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10</a:t>
            </a:fld>
            <a:endParaRPr spc="-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74698" y="164414"/>
            <a:ext cx="546481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0B050"/>
                </a:solidFill>
                <a:latin typeface="Arial"/>
                <a:cs typeface="Arial"/>
              </a:rPr>
              <a:t>Why B&amp;W Not Accurate?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3"/>
              <p:cNvSpPr txBox="1"/>
              <p:nvPr/>
            </p:nvSpPr>
            <p:spPr>
              <a:xfrm>
                <a:off x="230225" y="900785"/>
                <a:ext cx="8913775" cy="2190343"/>
              </a:xfrm>
              <a:prstGeom prst="rect">
                <a:avLst/>
              </a:prstGeom>
            </p:spPr>
            <p:txBody>
              <a:bodyPr vert="horz" wrap="square" lIns="0" tIns="73660" rIns="0" bIns="0" rtlCol="0">
                <a:spAutoFit/>
              </a:bodyPr>
              <a:lstStyle/>
              <a:p>
                <a:pPr marL="355600" indent="-342900">
                  <a:lnSpc>
                    <a:spcPct val="100000"/>
                  </a:lnSpc>
                  <a:spcBef>
                    <a:spcPts val="580"/>
                  </a:spcBef>
                  <a:buClr>
                    <a:srgbClr val="FF0000"/>
                  </a:buClr>
                  <a:buSzPct val="120000"/>
                  <a:buFont typeface="Arial"/>
                  <a:buChar char="•"/>
                  <a:tabLst>
                    <a:tab pos="354965" algn="l"/>
                    <a:tab pos="355600" algn="l"/>
                  </a:tabLst>
                </a:pPr>
                <a:r>
                  <a:rPr sz="2000" b="1" dirty="0">
                    <a:latin typeface="Arial"/>
                    <a:cs typeface="Arial"/>
                  </a:rPr>
                  <a:t>1. Fault </a:t>
                </a:r>
                <a:r>
                  <a:rPr sz="2000" b="1" spc="-5" dirty="0">
                    <a:latin typeface="Arial"/>
                    <a:cs typeface="Arial"/>
                  </a:rPr>
                  <a:t>coverage </a:t>
                </a:r>
                <a:r>
                  <a:rPr sz="2000" b="1" dirty="0">
                    <a:latin typeface="Arial"/>
                    <a:cs typeface="Arial"/>
                  </a:rPr>
                  <a:t>does not represent defect</a:t>
                </a:r>
                <a:r>
                  <a:rPr sz="2000" b="1" spc="-65" dirty="0">
                    <a:latin typeface="Arial"/>
                    <a:cs typeface="Arial"/>
                  </a:rPr>
                  <a:t> </a:t>
                </a:r>
                <a:r>
                  <a:rPr sz="2000" b="1" spc="-5" dirty="0">
                    <a:latin typeface="Arial"/>
                    <a:cs typeface="Arial"/>
                  </a:rPr>
                  <a:t>coverage</a:t>
                </a:r>
                <a:endParaRPr sz="2000" dirty="0">
                  <a:latin typeface="Arial"/>
                  <a:cs typeface="Arial"/>
                </a:endParaRPr>
              </a:p>
              <a:p>
                <a:pPr marL="756285" lvl="1" indent="-287020">
                  <a:lnSpc>
                    <a:spcPct val="100000"/>
                  </a:lnSpc>
                  <a:spcBef>
                    <a:spcPts val="480"/>
                  </a:spcBef>
                  <a:buClr>
                    <a:srgbClr val="FF0000"/>
                  </a:buClr>
                  <a:buSzPct val="75000"/>
                  <a:buFont typeface="Arial"/>
                  <a:buChar char="◆"/>
                  <a:tabLst>
                    <a:tab pos="756285" algn="l"/>
                    <a:tab pos="756920" algn="l"/>
                  </a:tabLst>
                </a:pPr>
                <a:r>
                  <a:rPr sz="2000" b="1" dirty="0">
                    <a:solidFill>
                      <a:srgbClr val="0000FF"/>
                    </a:solidFill>
                    <a:latin typeface="Arial"/>
                    <a:cs typeface="Arial"/>
                  </a:rPr>
                  <a:t>100% FC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/>
                      </a:rPr>
                      <m:t>≠</m:t>
                    </m:r>
                  </m:oMath>
                </a14:m>
                <a:r>
                  <a:rPr lang="en-US" sz="2000" b="1" dirty="0">
                    <a:solidFill>
                      <a:srgbClr val="0000FF"/>
                    </a:solidFill>
                    <a:latin typeface="Arial"/>
                    <a:cs typeface="Arial"/>
                  </a:rPr>
                  <a:t> </a:t>
                </a:r>
                <a:r>
                  <a:rPr sz="2000" b="1" dirty="0">
                    <a:solidFill>
                      <a:srgbClr val="0000FF"/>
                    </a:solidFill>
                    <a:latin typeface="Arial"/>
                    <a:cs typeface="Arial"/>
                  </a:rPr>
                  <a:t>0 DPM </a:t>
                </a:r>
                <a:r>
                  <a:rPr sz="2000" b="1" dirty="0">
                    <a:latin typeface="Arial"/>
                    <a:cs typeface="Arial"/>
                  </a:rPr>
                  <a:t>(</a:t>
                </a:r>
                <a:r>
                  <a:rPr sz="2000" b="1" i="1" dirty="0">
                    <a:latin typeface="Arial-BoldItalicMT"/>
                    <a:cs typeface="Arial-BoldItalicMT"/>
                  </a:rPr>
                  <a:t>fault </a:t>
                </a:r>
                <a:r>
                  <a:rPr sz="2000" b="1" i="1" spc="-5" dirty="0">
                    <a:latin typeface="Arial-BoldItalicMT"/>
                    <a:cs typeface="Arial-BoldItalicMT"/>
                  </a:rPr>
                  <a:t>modeling</a:t>
                </a:r>
                <a:r>
                  <a:rPr sz="2000" b="1" i="1" spc="-100" dirty="0">
                    <a:latin typeface="Arial-BoldItalicMT"/>
                    <a:cs typeface="Arial-BoldItalicMT"/>
                  </a:rPr>
                  <a:t> </a:t>
                </a:r>
                <a:r>
                  <a:rPr lang="en-US" sz="2000" b="1" dirty="0">
                    <a:latin typeface="Arial"/>
                    <a:cs typeface="Arial"/>
                  </a:rPr>
                  <a:t>discussed later</a:t>
                </a:r>
                <a:r>
                  <a:rPr sz="2000" b="1" dirty="0">
                    <a:latin typeface="Arial"/>
                    <a:cs typeface="Arial"/>
                  </a:rPr>
                  <a:t>)</a:t>
                </a:r>
                <a:endParaRPr sz="2000" dirty="0">
                  <a:latin typeface="Arial"/>
                  <a:cs typeface="Arial"/>
                </a:endParaRPr>
              </a:p>
              <a:p>
                <a:pPr marL="355600" indent="-342900">
                  <a:lnSpc>
                    <a:spcPct val="100000"/>
                  </a:lnSpc>
                  <a:spcBef>
                    <a:spcPts val="480"/>
                  </a:spcBef>
                  <a:buClr>
                    <a:srgbClr val="FF0000"/>
                  </a:buClr>
                  <a:buSzPct val="120000"/>
                  <a:buFont typeface="Arial"/>
                  <a:buChar char="•"/>
                  <a:tabLst>
                    <a:tab pos="354965" algn="l"/>
                    <a:tab pos="355600" algn="l"/>
                  </a:tabLst>
                </a:pPr>
                <a:r>
                  <a:rPr sz="2000" b="1" dirty="0">
                    <a:latin typeface="Arial"/>
                    <a:cs typeface="Arial"/>
                  </a:rPr>
                  <a:t>2. Defects are</a:t>
                </a:r>
                <a:r>
                  <a:rPr sz="2000" b="1" spc="-85" dirty="0">
                    <a:latin typeface="Arial"/>
                    <a:cs typeface="Arial"/>
                  </a:rPr>
                  <a:t> </a:t>
                </a:r>
                <a:r>
                  <a:rPr sz="2000" b="1" dirty="0">
                    <a:latin typeface="Arial"/>
                    <a:cs typeface="Arial"/>
                  </a:rPr>
                  <a:t>clustered</a:t>
                </a:r>
                <a:endParaRPr sz="2000" dirty="0">
                  <a:latin typeface="Arial"/>
                  <a:cs typeface="Arial"/>
                </a:endParaRPr>
              </a:p>
              <a:p>
                <a:pPr marL="756285" lvl="1" indent="-287020">
                  <a:spcBef>
                    <a:spcPts val="480"/>
                  </a:spcBef>
                  <a:buClr>
                    <a:srgbClr val="FF0000"/>
                  </a:buClr>
                  <a:buSzPct val="75000"/>
                  <a:buFont typeface="Arial"/>
                  <a:buChar char="◆"/>
                  <a:tabLst>
                    <a:tab pos="756285" algn="l"/>
                    <a:tab pos="756920" algn="l"/>
                  </a:tabLst>
                </a:pPr>
                <a:r>
                  <a:rPr sz="2000" b="1" dirty="0">
                    <a:latin typeface="Arial"/>
                    <a:cs typeface="Arial"/>
                  </a:rPr>
                  <a:t>Agrawal used Poisson</a:t>
                </a:r>
                <a:r>
                  <a:rPr sz="2000" b="1" spc="-65" dirty="0">
                    <a:latin typeface="Arial"/>
                    <a:cs typeface="Arial"/>
                  </a:rPr>
                  <a:t> </a:t>
                </a:r>
                <a:r>
                  <a:rPr sz="2000" b="1" dirty="0">
                    <a:latin typeface="Arial"/>
                    <a:cs typeface="Arial"/>
                  </a:rPr>
                  <a:t>distribution</a:t>
                </a:r>
                <a:r>
                  <a:rPr lang="en-US" sz="2000" b="1" dirty="0">
                    <a:latin typeface="Arial"/>
                    <a:cs typeface="Arial"/>
                  </a:rPr>
                  <a:t> because actual data </a:t>
                </a:r>
                <a:r>
                  <a:rPr lang="en-US" sz="2000" b="1" spc="-5" dirty="0">
                    <a:latin typeface="Arial"/>
                    <a:cs typeface="Arial"/>
                  </a:rPr>
                  <a:t>show </a:t>
                </a:r>
                <a:r>
                  <a:rPr lang="en-US" sz="2000" b="1" dirty="0">
                    <a:latin typeface="Arial"/>
                    <a:cs typeface="Arial"/>
                  </a:rPr>
                  <a:t>defects are</a:t>
                </a:r>
                <a:r>
                  <a:rPr lang="en-US" sz="2000" b="1" spc="-95" dirty="0">
                    <a:latin typeface="Arial"/>
                    <a:cs typeface="Arial"/>
                  </a:rPr>
                  <a:t> </a:t>
                </a:r>
                <a:r>
                  <a:rPr lang="en-US" sz="2000" b="1" dirty="0">
                    <a:solidFill>
                      <a:srgbClr val="0000FF"/>
                    </a:solidFill>
                    <a:latin typeface="Arial"/>
                    <a:cs typeface="Arial"/>
                  </a:rPr>
                  <a:t>clustered</a:t>
                </a:r>
                <a:endParaRPr lang="en-US" sz="2000" dirty="0">
                  <a:latin typeface="Arial"/>
                  <a:cs typeface="Arial"/>
                </a:endParaRPr>
              </a:p>
              <a:p>
                <a:pPr marL="756285" lvl="1" indent="-287020">
                  <a:lnSpc>
                    <a:spcPct val="100000"/>
                  </a:lnSpc>
                  <a:spcBef>
                    <a:spcPts val="480"/>
                  </a:spcBef>
                  <a:buClr>
                    <a:srgbClr val="FF0000"/>
                  </a:buClr>
                  <a:buSzPct val="75000"/>
                  <a:buFont typeface="Arial"/>
                  <a:buChar char="◆"/>
                  <a:tabLst>
                    <a:tab pos="756285" algn="l"/>
                    <a:tab pos="756920" algn="l"/>
                  </a:tabLst>
                </a:pPr>
                <a:endParaRPr sz="2000" dirty="0"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3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225" y="900785"/>
                <a:ext cx="8913775" cy="2190343"/>
              </a:xfrm>
              <a:prstGeom prst="rect">
                <a:avLst/>
              </a:prstGeom>
              <a:blipFill>
                <a:blip r:embed="rId2"/>
                <a:stretch>
                  <a:fillRect l="-1852" t="-28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bject 4"/>
          <p:cNvSpPr/>
          <p:nvPr/>
        </p:nvSpPr>
        <p:spPr>
          <a:xfrm>
            <a:off x="1565910" y="3838194"/>
            <a:ext cx="1801495" cy="1455420"/>
          </a:xfrm>
          <a:custGeom>
            <a:avLst/>
            <a:gdLst/>
            <a:ahLst/>
            <a:cxnLst/>
            <a:rect l="l" t="t" r="r" b="b"/>
            <a:pathLst>
              <a:path w="1801495" h="1455420">
                <a:moveTo>
                  <a:pt x="0" y="727709"/>
                </a:moveTo>
                <a:lnTo>
                  <a:pt x="1528" y="684946"/>
                </a:lnTo>
                <a:lnTo>
                  <a:pt x="6059" y="642834"/>
                </a:lnTo>
                <a:lnTo>
                  <a:pt x="13506" y="601441"/>
                </a:lnTo>
                <a:lnTo>
                  <a:pt x="23786" y="560836"/>
                </a:lnTo>
                <a:lnTo>
                  <a:pt x="36814" y="521087"/>
                </a:lnTo>
                <a:lnTo>
                  <a:pt x="52505" y="482262"/>
                </a:lnTo>
                <a:lnTo>
                  <a:pt x="70776" y="444430"/>
                </a:lnTo>
                <a:lnTo>
                  <a:pt x="91542" y="407658"/>
                </a:lnTo>
                <a:lnTo>
                  <a:pt x="114717" y="372016"/>
                </a:lnTo>
                <a:lnTo>
                  <a:pt x="140219" y="337570"/>
                </a:lnTo>
                <a:lnTo>
                  <a:pt x="167962" y="304389"/>
                </a:lnTo>
                <a:lnTo>
                  <a:pt x="197862" y="272542"/>
                </a:lnTo>
                <a:lnTo>
                  <a:pt x="229834" y="242097"/>
                </a:lnTo>
                <a:lnTo>
                  <a:pt x="263794" y="213121"/>
                </a:lnTo>
                <a:lnTo>
                  <a:pt x="299658" y="185684"/>
                </a:lnTo>
                <a:lnTo>
                  <a:pt x="337341" y="159853"/>
                </a:lnTo>
                <a:lnTo>
                  <a:pt x="376759" y="135696"/>
                </a:lnTo>
                <a:lnTo>
                  <a:pt x="417826" y="113282"/>
                </a:lnTo>
                <a:lnTo>
                  <a:pt x="460460" y="92680"/>
                </a:lnTo>
                <a:lnTo>
                  <a:pt x="504575" y="73956"/>
                </a:lnTo>
                <a:lnTo>
                  <a:pt x="550086" y="57179"/>
                </a:lnTo>
                <a:lnTo>
                  <a:pt x="596910" y="42418"/>
                </a:lnTo>
                <a:lnTo>
                  <a:pt x="644962" y="29741"/>
                </a:lnTo>
                <a:lnTo>
                  <a:pt x="694157" y="19216"/>
                </a:lnTo>
                <a:lnTo>
                  <a:pt x="744411" y="10911"/>
                </a:lnTo>
                <a:lnTo>
                  <a:pt x="795640" y="4895"/>
                </a:lnTo>
                <a:lnTo>
                  <a:pt x="847759" y="1235"/>
                </a:lnTo>
                <a:lnTo>
                  <a:pt x="900684" y="0"/>
                </a:lnTo>
                <a:lnTo>
                  <a:pt x="953608" y="1235"/>
                </a:lnTo>
                <a:lnTo>
                  <a:pt x="1005727" y="4895"/>
                </a:lnTo>
                <a:lnTo>
                  <a:pt x="1056956" y="10911"/>
                </a:lnTo>
                <a:lnTo>
                  <a:pt x="1107210" y="19216"/>
                </a:lnTo>
                <a:lnTo>
                  <a:pt x="1156405" y="29741"/>
                </a:lnTo>
                <a:lnTo>
                  <a:pt x="1204457" y="42418"/>
                </a:lnTo>
                <a:lnTo>
                  <a:pt x="1251281" y="57179"/>
                </a:lnTo>
                <a:lnTo>
                  <a:pt x="1296792" y="73956"/>
                </a:lnTo>
                <a:lnTo>
                  <a:pt x="1340907" y="92680"/>
                </a:lnTo>
                <a:lnTo>
                  <a:pt x="1383541" y="113282"/>
                </a:lnTo>
                <a:lnTo>
                  <a:pt x="1424608" y="135696"/>
                </a:lnTo>
                <a:lnTo>
                  <a:pt x="1464026" y="159853"/>
                </a:lnTo>
                <a:lnTo>
                  <a:pt x="1501709" y="185684"/>
                </a:lnTo>
                <a:lnTo>
                  <a:pt x="1537573" y="213121"/>
                </a:lnTo>
                <a:lnTo>
                  <a:pt x="1571533" y="242097"/>
                </a:lnTo>
                <a:lnTo>
                  <a:pt x="1603505" y="272542"/>
                </a:lnTo>
                <a:lnTo>
                  <a:pt x="1633405" y="304389"/>
                </a:lnTo>
                <a:lnTo>
                  <a:pt x="1661148" y="337570"/>
                </a:lnTo>
                <a:lnTo>
                  <a:pt x="1686650" y="372016"/>
                </a:lnTo>
                <a:lnTo>
                  <a:pt x="1709825" y="407658"/>
                </a:lnTo>
                <a:lnTo>
                  <a:pt x="1730591" y="444430"/>
                </a:lnTo>
                <a:lnTo>
                  <a:pt x="1748862" y="482262"/>
                </a:lnTo>
                <a:lnTo>
                  <a:pt x="1764553" y="521087"/>
                </a:lnTo>
                <a:lnTo>
                  <a:pt x="1777581" y="560836"/>
                </a:lnTo>
                <a:lnTo>
                  <a:pt x="1787861" y="601441"/>
                </a:lnTo>
                <a:lnTo>
                  <a:pt x="1795308" y="642834"/>
                </a:lnTo>
                <a:lnTo>
                  <a:pt x="1799839" y="684946"/>
                </a:lnTo>
                <a:lnTo>
                  <a:pt x="1801367" y="727709"/>
                </a:lnTo>
                <a:lnTo>
                  <a:pt x="1799839" y="770473"/>
                </a:lnTo>
                <a:lnTo>
                  <a:pt x="1795308" y="812585"/>
                </a:lnTo>
                <a:lnTo>
                  <a:pt x="1787861" y="853978"/>
                </a:lnTo>
                <a:lnTo>
                  <a:pt x="1777581" y="894583"/>
                </a:lnTo>
                <a:lnTo>
                  <a:pt x="1764553" y="934332"/>
                </a:lnTo>
                <a:lnTo>
                  <a:pt x="1748862" y="973157"/>
                </a:lnTo>
                <a:lnTo>
                  <a:pt x="1730591" y="1010989"/>
                </a:lnTo>
                <a:lnTo>
                  <a:pt x="1709825" y="1047761"/>
                </a:lnTo>
                <a:lnTo>
                  <a:pt x="1686650" y="1083403"/>
                </a:lnTo>
                <a:lnTo>
                  <a:pt x="1661148" y="1117849"/>
                </a:lnTo>
                <a:lnTo>
                  <a:pt x="1633405" y="1151030"/>
                </a:lnTo>
                <a:lnTo>
                  <a:pt x="1603505" y="1182877"/>
                </a:lnTo>
                <a:lnTo>
                  <a:pt x="1571533" y="1213322"/>
                </a:lnTo>
                <a:lnTo>
                  <a:pt x="1537573" y="1242298"/>
                </a:lnTo>
                <a:lnTo>
                  <a:pt x="1501709" y="1269735"/>
                </a:lnTo>
                <a:lnTo>
                  <a:pt x="1464026" y="1295566"/>
                </a:lnTo>
                <a:lnTo>
                  <a:pt x="1424608" y="1319723"/>
                </a:lnTo>
                <a:lnTo>
                  <a:pt x="1383541" y="1342137"/>
                </a:lnTo>
                <a:lnTo>
                  <a:pt x="1340907" y="1362739"/>
                </a:lnTo>
                <a:lnTo>
                  <a:pt x="1296792" y="1381463"/>
                </a:lnTo>
                <a:lnTo>
                  <a:pt x="1251281" y="1398240"/>
                </a:lnTo>
                <a:lnTo>
                  <a:pt x="1204457" y="1413001"/>
                </a:lnTo>
                <a:lnTo>
                  <a:pt x="1156405" y="1425678"/>
                </a:lnTo>
                <a:lnTo>
                  <a:pt x="1107210" y="1436203"/>
                </a:lnTo>
                <a:lnTo>
                  <a:pt x="1056956" y="1444508"/>
                </a:lnTo>
                <a:lnTo>
                  <a:pt x="1005727" y="1450524"/>
                </a:lnTo>
                <a:lnTo>
                  <a:pt x="953608" y="1454184"/>
                </a:lnTo>
                <a:lnTo>
                  <a:pt x="900684" y="1455419"/>
                </a:lnTo>
                <a:lnTo>
                  <a:pt x="847759" y="1454184"/>
                </a:lnTo>
                <a:lnTo>
                  <a:pt x="795640" y="1450524"/>
                </a:lnTo>
                <a:lnTo>
                  <a:pt x="744411" y="1444508"/>
                </a:lnTo>
                <a:lnTo>
                  <a:pt x="694157" y="1436203"/>
                </a:lnTo>
                <a:lnTo>
                  <a:pt x="644962" y="1425678"/>
                </a:lnTo>
                <a:lnTo>
                  <a:pt x="596910" y="1413001"/>
                </a:lnTo>
                <a:lnTo>
                  <a:pt x="550086" y="1398240"/>
                </a:lnTo>
                <a:lnTo>
                  <a:pt x="504575" y="1381463"/>
                </a:lnTo>
                <a:lnTo>
                  <a:pt x="460460" y="1362739"/>
                </a:lnTo>
                <a:lnTo>
                  <a:pt x="417826" y="1342137"/>
                </a:lnTo>
                <a:lnTo>
                  <a:pt x="376759" y="1319723"/>
                </a:lnTo>
                <a:lnTo>
                  <a:pt x="337341" y="1295566"/>
                </a:lnTo>
                <a:lnTo>
                  <a:pt x="299658" y="1269735"/>
                </a:lnTo>
                <a:lnTo>
                  <a:pt x="263794" y="1242298"/>
                </a:lnTo>
                <a:lnTo>
                  <a:pt x="229834" y="1213322"/>
                </a:lnTo>
                <a:lnTo>
                  <a:pt x="197862" y="1182877"/>
                </a:lnTo>
                <a:lnTo>
                  <a:pt x="167962" y="1151030"/>
                </a:lnTo>
                <a:lnTo>
                  <a:pt x="140219" y="1117849"/>
                </a:lnTo>
                <a:lnTo>
                  <a:pt x="114717" y="1083403"/>
                </a:lnTo>
                <a:lnTo>
                  <a:pt x="91542" y="1047761"/>
                </a:lnTo>
                <a:lnTo>
                  <a:pt x="70776" y="1010989"/>
                </a:lnTo>
                <a:lnTo>
                  <a:pt x="52505" y="973157"/>
                </a:lnTo>
                <a:lnTo>
                  <a:pt x="36814" y="934332"/>
                </a:lnTo>
                <a:lnTo>
                  <a:pt x="23786" y="894583"/>
                </a:lnTo>
                <a:lnTo>
                  <a:pt x="13506" y="853978"/>
                </a:lnTo>
                <a:lnTo>
                  <a:pt x="6059" y="812585"/>
                </a:lnTo>
                <a:lnTo>
                  <a:pt x="1528" y="770473"/>
                </a:lnTo>
                <a:lnTo>
                  <a:pt x="0" y="727709"/>
                </a:lnTo>
                <a:close/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12697" y="3103626"/>
            <a:ext cx="3089275" cy="2508885"/>
          </a:xfrm>
          <a:custGeom>
            <a:avLst/>
            <a:gdLst/>
            <a:ahLst/>
            <a:cxnLst/>
            <a:rect l="l" t="t" r="r" b="b"/>
            <a:pathLst>
              <a:path w="3089275" h="2508885">
                <a:moveTo>
                  <a:pt x="0" y="1254252"/>
                </a:moveTo>
                <a:lnTo>
                  <a:pt x="895" y="1211135"/>
                </a:lnTo>
                <a:lnTo>
                  <a:pt x="3563" y="1168383"/>
                </a:lnTo>
                <a:lnTo>
                  <a:pt x="7974" y="1126019"/>
                </a:lnTo>
                <a:lnTo>
                  <a:pt x="14099" y="1084067"/>
                </a:lnTo>
                <a:lnTo>
                  <a:pt x="21911" y="1042549"/>
                </a:lnTo>
                <a:lnTo>
                  <a:pt x="31379" y="1001489"/>
                </a:lnTo>
                <a:lnTo>
                  <a:pt x="42476" y="960911"/>
                </a:lnTo>
                <a:lnTo>
                  <a:pt x="55172" y="920838"/>
                </a:lnTo>
                <a:lnTo>
                  <a:pt x="69439" y="881292"/>
                </a:lnTo>
                <a:lnTo>
                  <a:pt x="85248" y="842299"/>
                </a:lnTo>
                <a:lnTo>
                  <a:pt x="102571" y="803880"/>
                </a:lnTo>
                <a:lnTo>
                  <a:pt x="121378" y="766060"/>
                </a:lnTo>
                <a:lnTo>
                  <a:pt x="141641" y="728861"/>
                </a:lnTo>
                <a:lnTo>
                  <a:pt x="163330" y="692307"/>
                </a:lnTo>
                <a:lnTo>
                  <a:pt x="186418" y="656421"/>
                </a:lnTo>
                <a:lnTo>
                  <a:pt x="210876" y="621227"/>
                </a:lnTo>
                <a:lnTo>
                  <a:pt x="236674" y="586748"/>
                </a:lnTo>
                <a:lnTo>
                  <a:pt x="263785" y="553008"/>
                </a:lnTo>
                <a:lnTo>
                  <a:pt x="292178" y="520029"/>
                </a:lnTo>
                <a:lnTo>
                  <a:pt x="321827" y="487835"/>
                </a:lnTo>
                <a:lnTo>
                  <a:pt x="352700" y="456450"/>
                </a:lnTo>
                <a:lnTo>
                  <a:pt x="384771" y="425897"/>
                </a:lnTo>
                <a:lnTo>
                  <a:pt x="418011" y="396198"/>
                </a:lnTo>
                <a:lnTo>
                  <a:pt x="452389" y="367379"/>
                </a:lnTo>
                <a:lnTo>
                  <a:pt x="487879" y="339461"/>
                </a:lnTo>
                <a:lnTo>
                  <a:pt x="524450" y="312469"/>
                </a:lnTo>
                <a:lnTo>
                  <a:pt x="562075" y="286425"/>
                </a:lnTo>
                <a:lnTo>
                  <a:pt x="600724" y="261353"/>
                </a:lnTo>
                <a:lnTo>
                  <a:pt x="640369" y="237276"/>
                </a:lnTo>
                <a:lnTo>
                  <a:pt x="680981" y="214218"/>
                </a:lnTo>
                <a:lnTo>
                  <a:pt x="722531" y="192202"/>
                </a:lnTo>
                <a:lnTo>
                  <a:pt x="764991" y="171252"/>
                </a:lnTo>
                <a:lnTo>
                  <a:pt x="808331" y="151390"/>
                </a:lnTo>
                <a:lnTo>
                  <a:pt x="852524" y="132641"/>
                </a:lnTo>
                <a:lnTo>
                  <a:pt x="897539" y="115027"/>
                </a:lnTo>
                <a:lnTo>
                  <a:pt x="943350" y="98571"/>
                </a:lnTo>
                <a:lnTo>
                  <a:pt x="989925" y="83298"/>
                </a:lnTo>
                <a:lnTo>
                  <a:pt x="1037238" y="69231"/>
                </a:lnTo>
                <a:lnTo>
                  <a:pt x="1085259" y="56392"/>
                </a:lnTo>
                <a:lnTo>
                  <a:pt x="1133960" y="44806"/>
                </a:lnTo>
                <a:lnTo>
                  <a:pt x="1183311" y="34495"/>
                </a:lnTo>
                <a:lnTo>
                  <a:pt x="1233284" y="25483"/>
                </a:lnTo>
                <a:lnTo>
                  <a:pt x="1283850" y="17794"/>
                </a:lnTo>
                <a:lnTo>
                  <a:pt x="1334981" y="11450"/>
                </a:lnTo>
                <a:lnTo>
                  <a:pt x="1386647" y="6476"/>
                </a:lnTo>
                <a:lnTo>
                  <a:pt x="1438821" y="2893"/>
                </a:lnTo>
                <a:lnTo>
                  <a:pt x="1491472" y="727"/>
                </a:lnTo>
                <a:lnTo>
                  <a:pt x="1544574" y="0"/>
                </a:lnTo>
                <a:lnTo>
                  <a:pt x="1597675" y="727"/>
                </a:lnTo>
                <a:lnTo>
                  <a:pt x="1650326" y="2893"/>
                </a:lnTo>
                <a:lnTo>
                  <a:pt x="1702500" y="6476"/>
                </a:lnTo>
                <a:lnTo>
                  <a:pt x="1754166" y="11450"/>
                </a:lnTo>
                <a:lnTo>
                  <a:pt x="1805297" y="17794"/>
                </a:lnTo>
                <a:lnTo>
                  <a:pt x="1855863" y="25483"/>
                </a:lnTo>
                <a:lnTo>
                  <a:pt x="1905836" y="34495"/>
                </a:lnTo>
                <a:lnTo>
                  <a:pt x="1955187" y="44806"/>
                </a:lnTo>
                <a:lnTo>
                  <a:pt x="2003888" y="56392"/>
                </a:lnTo>
                <a:lnTo>
                  <a:pt x="2051909" y="69231"/>
                </a:lnTo>
                <a:lnTo>
                  <a:pt x="2099222" y="83298"/>
                </a:lnTo>
                <a:lnTo>
                  <a:pt x="2145797" y="98571"/>
                </a:lnTo>
                <a:lnTo>
                  <a:pt x="2191608" y="115027"/>
                </a:lnTo>
                <a:lnTo>
                  <a:pt x="2236623" y="132641"/>
                </a:lnTo>
                <a:lnTo>
                  <a:pt x="2280816" y="151390"/>
                </a:lnTo>
                <a:lnTo>
                  <a:pt x="2324156" y="171252"/>
                </a:lnTo>
                <a:lnTo>
                  <a:pt x="2366616" y="192202"/>
                </a:lnTo>
                <a:lnTo>
                  <a:pt x="2408166" y="214218"/>
                </a:lnTo>
                <a:lnTo>
                  <a:pt x="2448778" y="237276"/>
                </a:lnTo>
                <a:lnTo>
                  <a:pt x="2488423" y="261353"/>
                </a:lnTo>
                <a:lnTo>
                  <a:pt x="2527072" y="286425"/>
                </a:lnTo>
                <a:lnTo>
                  <a:pt x="2564697" y="312469"/>
                </a:lnTo>
                <a:lnTo>
                  <a:pt x="2601268" y="339461"/>
                </a:lnTo>
                <a:lnTo>
                  <a:pt x="2636758" y="367379"/>
                </a:lnTo>
                <a:lnTo>
                  <a:pt x="2671136" y="396198"/>
                </a:lnTo>
                <a:lnTo>
                  <a:pt x="2704376" y="425897"/>
                </a:lnTo>
                <a:lnTo>
                  <a:pt x="2736447" y="456450"/>
                </a:lnTo>
                <a:lnTo>
                  <a:pt x="2767320" y="487835"/>
                </a:lnTo>
                <a:lnTo>
                  <a:pt x="2796969" y="520029"/>
                </a:lnTo>
                <a:lnTo>
                  <a:pt x="2825362" y="553008"/>
                </a:lnTo>
                <a:lnTo>
                  <a:pt x="2852473" y="586748"/>
                </a:lnTo>
                <a:lnTo>
                  <a:pt x="2878271" y="621227"/>
                </a:lnTo>
                <a:lnTo>
                  <a:pt x="2902729" y="656421"/>
                </a:lnTo>
                <a:lnTo>
                  <a:pt x="2925817" y="692307"/>
                </a:lnTo>
                <a:lnTo>
                  <a:pt x="2947506" y="728861"/>
                </a:lnTo>
                <a:lnTo>
                  <a:pt x="2967769" y="766060"/>
                </a:lnTo>
                <a:lnTo>
                  <a:pt x="2986576" y="803880"/>
                </a:lnTo>
                <a:lnTo>
                  <a:pt x="3003899" y="842299"/>
                </a:lnTo>
                <a:lnTo>
                  <a:pt x="3019708" y="881292"/>
                </a:lnTo>
                <a:lnTo>
                  <a:pt x="3033975" y="920838"/>
                </a:lnTo>
                <a:lnTo>
                  <a:pt x="3046671" y="960911"/>
                </a:lnTo>
                <a:lnTo>
                  <a:pt x="3057768" y="1001489"/>
                </a:lnTo>
                <a:lnTo>
                  <a:pt x="3067236" y="1042549"/>
                </a:lnTo>
                <a:lnTo>
                  <a:pt x="3075048" y="1084067"/>
                </a:lnTo>
                <a:lnTo>
                  <a:pt x="3081173" y="1126019"/>
                </a:lnTo>
                <a:lnTo>
                  <a:pt x="3085584" y="1168383"/>
                </a:lnTo>
                <a:lnTo>
                  <a:pt x="3088252" y="1211135"/>
                </a:lnTo>
                <a:lnTo>
                  <a:pt x="3089148" y="1254252"/>
                </a:lnTo>
                <a:lnTo>
                  <a:pt x="3088252" y="1297368"/>
                </a:lnTo>
                <a:lnTo>
                  <a:pt x="3085584" y="1340120"/>
                </a:lnTo>
                <a:lnTo>
                  <a:pt x="3081173" y="1382484"/>
                </a:lnTo>
                <a:lnTo>
                  <a:pt x="3075048" y="1424436"/>
                </a:lnTo>
                <a:lnTo>
                  <a:pt x="3067236" y="1465954"/>
                </a:lnTo>
                <a:lnTo>
                  <a:pt x="3057768" y="1507014"/>
                </a:lnTo>
                <a:lnTo>
                  <a:pt x="3046671" y="1547592"/>
                </a:lnTo>
                <a:lnTo>
                  <a:pt x="3033975" y="1587665"/>
                </a:lnTo>
                <a:lnTo>
                  <a:pt x="3019708" y="1627211"/>
                </a:lnTo>
                <a:lnTo>
                  <a:pt x="3003899" y="1666204"/>
                </a:lnTo>
                <a:lnTo>
                  <a:pt x="2986576" y="1704623"/>
                </a:lnTo>
                <a:lnTo>
                  <a:pt x="2967769" y="1742443"/>
                </a:lnTo>
                <a:lnTo>
                  <a:pt x="2947506" y="1779642"/>
                </a:lnTo>
                <a:lnTo>
                  <a:pt x="2925817" y="1816196"/>
                </a:lnTo>
                <a:lnTo>
                  <a:pt x="2902729" y="1852082"/>
                </a:lnTo>
                <a:lnTo>
                  <a:pt x="2878271" y="1887276"/>
                </a:lnTo>
                <a:lnTo>
                  <a:pt x="2852473" y="1921755"/>
                </a:lnTo>
                <a:lnTo>
                  <a:pt x="2825362" y="1955495"/>
                </a:lnTo>
                <a:lnTo>
                  <a:pt x="2796969" y="1988474"/>
                </a:lnTo>
                <a:lnTo>
                  <a:pt x="2767320" y="2020668"/>
                </a:lnTo>
                <a:lnTo>
                  <a:pt x="2736447" y="2052053"/>
                </a:lnTo>
                <a:lnTo>
                  <a:pt x="2704376" y="2082606"/>
                </a:lnTo>
                <a:lnTo>
                  <a:pt x="2671136" y="2112305"/>
                </a:lnTo>
                <a:lnTo>
                  <a:pt x="2636758" y="2141124"/>
                </a:lnTo>
                <a:lnTo>
                  <a:pt x="2601268" y="2169042"/>
                </a:lnTo>
                <a:lnTo>
                  <a:pt x="2564697" y="2196034"/>
                </a:lnTo>
                <a:lnTo>
                  <a:pt x="2527072" y="2222078"/>
                </a:lnTo>
                <a:lnTo>
                  <a:pt x="2488423" y="2247150"/>
                </a:lnTo>
                <a:lnTo>
                  <a:pt x="2448778" y="2271227"/>
                </a:lnTo>
                <a:lnTo>
                  <a:pt x="2408166" y="2294285"/>
                </a:lnTo>
                <a:lnTo>
                  <a:pt x="2366616" y="2316301"/>
                </a:lnTo>
                <a:lnTo>
                  <a:pt x="2324156" y="2337251"/>
                </a:lnTo>
                <a:lnTo>
                  <a:pt x="2280816" y="2357113"/>
                </a:lnTo>
                <a:lnTo>
                  <a:pt x="2236623" y="2375862"/>
                </a:lnTo>
                <a:lnTo>
                  <a:pt x="2191608" y="2393476"/>
                </a:lnTo>
                <a:lnTo>
                  <a:pt x="2145797" y="2409932"/>
                </a:lnTo>
                <a:lnTo>
                  <a:pt x="2099222" y="2425205"/>
                </a:lnTo>
                <a:lnTo>
                  <a:pt x="2051909" y="2439272"/>
                </a:lnTo>
                <a:lnTo>
                  <a:pt x="2003888" y="2452111"/>
                </a:lnTo>
                <a:lnTo>
                  <a:pt x="1955187" y="2463697"/>
                </a:lnTo>
                <a:lnTo>
                  <a:pt x="1905836" y="2474008"/>
                </a:lnTo>
                <a:lnTo>
                  <a:pt x="1855863" y="2483020"/>
                </a:lnTo>
                <a:lnTo>
                  <a:pt x="1805297" y="2490709"/>
                </a:lnTo>
                <a:lnTo>
                  <a:pt x="1754166" y="2497053"/>
                </a:lnTo>
                <a:lnTo>
                  <a:pt x="1702500" y="2502027"/>
                </a:lnTo>
                <a:lnTo>
                  <a:pt x="1650326" y="2505610"/>
                </a:lnTo>
                <a:lnTo>
                  <a:pt x="1597675" y="2507776"/>
                </a:lnTo>
                <a:lnTo>
                  <a:pt x="1544574" y="2508504"/>
                </a:lnTo>
                <a:lnTo>
                  <a:pt x="1491472" y="2507776"/>
                </a:lnTo>
                <a:lnTo>
                  <a:pt x="1438821" y="2505610"/>
                </a:lnTo>
                <a:lnTo>
                  <a:pt x="1386647" y="2502027"/>
                </a:lnTo>
                <a:lnTo>
                  <a:pt x="1334981" y="2497053"/>
                </a:lnTo>
                <a:lnTo>
                  <a:pt x="1283850" y="2490709"/>
                </a:lnTo>
                <a:lnTo>
                  <a:pt x="1233284" y="2483020"/>
                </a:lnTo>
                <a:lnTo>
                  <a:pt x="1183311" y="2474008"/>
                </a:lnTo>
                <a:lnTo>
                  <a:pt x="1133960" y="2463697"/>
                </a:lnTo>
                <a:lnTo>
                  <a:pt x="1085259" y="2452111"/>
                </a:lnTo>
                <a:lnTo>
                  <a:pt x="1037238" y="2439272"/>
                </a:lnTo>
                <a:lnTo>
                  <a:pt x="989925" y="2425205"/>
                </a:lnTo>
                <a:lnTo>
                  <a:pt x="943350" y="2409932"/>
                </a:lnTo>
                <a:lnTo>
                  <a:pt x="897539" y="2393476"/>
                </a:lnTo>
                <a:lnTo>
                  <a:pt x="852524" y="2375862"/>
                </a:lnTo>
                <a:lnTo>
                  <a:pt x="808331" y="2357113"/>
                </a:lnTo>
                <a:lnTo>
                  <a:pt x="764991" y="2337251"/>
                </a:lnTo>
                <a:lnTo>
                  <a:pt x="722531" y="2316301"/>
                </a:lnTo>
                <a:lnTo>
                  <a:pt x="680981" y="2294285"/>
                </a:lnTo>
                <a:lnTo>
                  <a:pt x="640369" y="2271227"/>
                </a:lnTo>
                <a:lnTo>
                  <a:pt x="600724" y="2247150"/>
                </a:lnTo>
                <a:lnTo>
                  <a:pt x="562075" y="2222078"/>
                </a:lnTo>
                <a:lnTo>
                  <a:pt x="524450" y="2196034"/>
                </a:lnTo>
                <a:lnTo>
                  <a:pt x="487879" y="2169042"/>
                </a:lnTo>
                <a:lnTo>
                  <a:pt x="452389" y="2141124"/>
                </a:lnTo>
                <a:lnTo>
                  <a:pt x="418011" y="2112305"/>
                </a:lnTo>
                <a:lnTo>
                  <a:pt x="384771" y="2082606"/>
                </a:lnTo>
                <a:lnTo>
                  <a:pt x="352700" y="2052053"/>
                </a:lnTo>
                <a:lnTo>
                  <a:pt x="321827" y="2020668"/>
                </a:lnTo>
                <a:lnTo>
                  <a:pt x="292178" y="1988474"/>
                </a:lnTo>
                <a:lnTo>
                  <a:pt x="263785" y="1955495"/>
                </a:lnTo>
                <a:lnTo>
                  <a:pt x="236674" y="1921755"/>
                </a:lnTo>
                <a:lnTo>
                  <a:pt x="210876" y="1887276"/>
                </a:lnTo>
                <a:lnTo>
                  <a:pt x="186418" y="1852082"/>
                </a:lnTo>
                <a:lnTo>
                  <a:pt x="163330" y="1816196"/>
                </a:lnTo>
                <a:lnTo>
                  <a:pt x="141641" y="1779642"/>
                </a:lnTo>
                <a:lnTo>
                  <a:pt x="121378" y="1742443"/>
                </a:lnTo>
                <a:lnTo>
                  <a:pt x="102571" y="1704623"/>
                </a:lnTo>
                <a:lnTo>
                  <a:pt x="85248" y="1666204"/>
                </a:lnTo>
                <a:lnTo>
                  <a:pt x="69439" y="1627211"/>
                </a:lnTo>
                <a:lnTo>
                  <a:pt x="55172" y="1587665"/>
                </a:lnTo>
                <a:lnTo>
                  <a:pt x="42476" y="1547592"/>
                </a:lnTo>
                <a:lnTo>
                  <a:pt x="31379" y="1507014"/>
                </a:lnTo>
                <a:lnTo>
                  <a:pt x="21911" y="1465954"/>
                </a:lnTo>
                <a:lnTo>
                  <a:pt x="14099" y="1424436"/>
                </a:lnTo>
                <a:lnTo>
                  <a:pt x="7974" y="1382484"/>
                </a:lnTo>
                <a:lnTo>
                  <a:pt x="3563" y="1340120"/>
                </a:lnTo>
                <a:lnTo>
                  <a:pt x="895" y="1297368"/>
                </a:lnTo>
                <a:lnTo>
                  <a:pt x="0" y="1254252"/>
                </a:lnTo>
                <a:close/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37919" y="5829401"/>
            <a:ext cx="122237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dirty="0">
                <a:latin typeface="Helvetica"/>
                <a:cs typeface="Helvetica"/>
              </a:rPr>
              <a:t>Fau</a:t>
            </a:r>
            <a:r>
              <a:rPr sz="3200" b="1" spc="-15" dirty="0">
                <a:latin typeface="Helvetica"/>
                <a:cs typeface="Helvetica"/>
              </a:rPr>
              <a:t>l</a:t>
            </a:r>
            <a:r>
              <a:rPr sz="3200" b="1" dirty="0">
                <a:latin typeface="Helvetica"/>
                <a:cs typeface="Helvetica"/>
              </a:rPr>
              <a:t>ts</a:t>
            </a:r>
            <a:endParaRPr sz="3200">
              <a:latin typeface="Helvetica"/>
              <a:cs typeface="Helvetic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902957" y="3722370"/>
            <a:ext cx="749935" cy="1594485"/>
          </a:xfrm>
          <a:custGeom>
            <a:avLst/>
            <a:gdLst/>
            <a:ahLst/>
            <a:cxnLst/>
            <a:rect l="l" t="t" r="r" b="b"/>
            <a:pathLst>
              <a:path w="749934" h="1594485">
                <a:moveTo>
                  <a:pt x="0" y="797051"/>
                </a:moveTo>
                <a:lnTo>
                  <a:pt x="1128" y="734765"/>
                </a:lnTo>
                <a:lnTo>
                  <a:pt x="4457" y="673789"/>
                </a:lnTo>
                <a:lnTo>
                  <a:pt x="9903" y="614300"/>
                </a:lnTo>
                <a:lnTo>
                  <a:pt x="17384" y="556477"/>
                </a:lnTo>
                <a:lnTo>
                  <a:pt x="26815" y="500497"/>
                </a:lnTo>
                <a:lnTo>
                  <a:pt x="38113" y="446536"/>
                </a:lnTo>
                <a:lnTo>
                  <a:pt x="51195" y="394772"/>
                </a:lnTo>
                <a:lnTo>
                  <a:pt x="65977" y="345382"/>
                </a:lnTo>
                <a:lnTo>
                  <a:pt x="82375" y="298544"/>
                </a:lnTo>
                <a:lnTo>
                  <a:pt x="100308" y="254434"/>
                </a:lnTo>
                <a:lnTo>
                  <a:pt x="119690" y="213229"/>
                </a:lnTo>
                <a:lnTo>
                  <a:pt x="140439" y="175108"/>
                </a:lnTo>
                <a:lnTo>
                  <a:pt x="162470" y="140248"/>
                </a:lnTo>
                <a:lnTo>
                  <a:pt x="185702" y="108824"/>
                </a:lnTo>
                <a:lnTo>
                  <a:pt x="235430" y="56999"/>
                </a:lnTo>
                <a:lnTo>
                  <a:pt x="288955" y="21051"/>
                </a:lnTo>
                <a:lnTo>
                  <a:pt x="345611" y="2398"/>
                </a:lnTo>
                <a:lnTo>
                  <a:pt x="374903" y="0"/>
                </a:lnTo>
                <a:lnTo>
                  <a:pt x="404196" y="2398"/>
                </a:lnTo>
                <a:lnTo>
                  <a:pt x="460852" y="21051"/>
                </a:lnTo>
                <a:lnTo>
                  <a:pt x="514377" y="56999"/>
                </a:lnTo>
                <a:lnTo>
                  <a:pt x="564105" y="108824"/>
                </a:lnTo>
                <a:lnTo>
                  <a:pt x="587337" y="140248"/>
                </a:lnTo>
                <a:lnTo>
                  <a:pt x="609368" y="175108"/>
                </a:lnTo>
                <a:lnTo>
                  <a:pt x="630117" y="213229"/>
                </a:lnTo>
                <a:lnTo>
                  <a:pt x="649499" y="254434"/>
                </a:lnTo>
                <a:lnTo>
                  <a:pt x="667432" y="298544"/>
                </a:lnTo>
                <a:lnTo>
                  <a:pt x="683830" y="345382"/>
                </a:lnTo>
                <a:lnTo>
                  <a:pt x="698612" y="394772"/>
                </a:lnTo>
                <a:lnTo>
                  <a:pt x="711694" y="446536"/>
                </a:lnTo>
                <a:lnTo>
                  <a:pt x="722992" y="500497"/>
                </a:lnTo>
                <a:lnTo>
                  <a:pt x="732423" y="556477"/>
                </a:lnTo>
                <a:lnTo>
                  <a:pt x="739904" y="614300"/>
                </a:lnTo>
                <a:lnTo>
                  <a:pt x="745350" y="673789"/>
                </a:lnTo>
                <a:lnTo>
                  <a:pt x="748679" y="734765"/>
                </a:lnTo>
                <a:lnTo>
                  <a:pt x="749808" y="797051"/>
                </a:lnTo>
                <a:lnTo>
                  <a:pt x="748679" y="859338"/>
                </a:lnTo>
                <a:lnTo>
                  <a:pt x="745350" y="920314"/>
                </a:lnTo>
                <a:lnTo>
                  <a:pt x="739904" y="979803"/>
                </a:lnTo>
                <a:lnTo>
                  <a:pt x="732423" y="1037626"/>
                </a:lnTo>
                <a:lnTo>
                  <a:pt x="722992" y="1093606"/>
                </a:lnTo>
                <a:lnTo>
                  <a:pt x="711694" y="1147567"/>
                </a:lnTo>
                <a:lnTo>
                  <a:pt x="698612" y="1199331"/>
                </a:lnTo>
                <a:lnTo>
                  <a:pt x="683830" y="1248721"/>
                </a:lnTo>
                <a:lnTo>
                  <a:pt x="667432" y="1295559"/>
                </a:lnTo>
                <a:lnTo>
                  <a:pt x="649499" y="1339669"/>
                </a:lnTo>
                <a:lnTo>
                  <a:pt x="630117" y="1380874"/>
                </a:lnTo>
                <a:lnTo>
                  <a:pt x="609368" y="1418995"/>
                </a:lnTo>
                <a:lnTo>
                  <a:pt x="587337" y="1453855"/>
                </a:lnTo>
                <a:lnTo>
                  <a:pt x="564105" y="1485279"/>
                </a:lnTo>
                <a:lnTo>
                  <a:pt x="514377" y="1537104"/>
                </a:lnTo>
                <a:lnTo>
                  <a:pt x="460852" y="1573052"/>
                </a:lnTo>
                <a:lnTo>
                  <a:pt x="404196" y="1591705"/>
                </a:lnTo>
                <a:lnTo>
                  <a:pt x="374903" y="1594103"/>
                </a:lnTo>
                <a:lnTo>
                  <a:pt x="345611" y="1591705"/>
                </a:lnTo>
                <a:lnTo>
                  <a:pt x="288955" y="1573052"/>
                </a:lnTo>
                <a:lnTo>
                  <a:pt x="235430" y="1537104"/>
                </a:lnTo>
                <a:lnTo>
                  <a:pt x="185702" y="1485279"/>
                </a:lnTo>
                <a:lnTo>
                  <a:pt x="162470" y="1453855"/>
                </a:lnTo>
                <a:lnTo>
                  <a:pt x="140439" y="1418995"/>
                </a:lnTo>
                <a:lnTo>
                  <a:pt x="119690" y="1380874"/>
                </a:lnTo>
                <a:lnTo>
                  <a:pt x="100308" y="1339669"/>
                </a:lnTo>
                <a:lnTo>
                  <a:pt x="82375" y="1295559"/>
                </a:lnTo>
                <a:lnTo>
                  <a:pt x="65977" y="1248721"/>
                </a:lnTo>
                <a:lnTo>
                  <a:pt x="51195" y="1199331"/>
                </a:lnTo>
                <a:lnTo>
                  <a:pt x="38113" y="1147567"/>
                </a:lnTo>
                <a:lnTo>
                  <a:pt x="26815" y="1093606"/>
                </a:lnTo>
                <a:lnTo>
                  <a:pt x="17384" y="1037626"/>
                </a:lnTo>
                <a:lnTo>
                  <a:pt x="9903" y="979803"/>
                </a:lnTo>
                <a:lnTo>
                  <a:pt x="4457" y="920314"/>
                </a:lnTo>
                <a:lnTo>
                  <a:pt x="1128" y="859338"/>
                </a:lnTo>
                <a:lnTo>
                  <a:pt x="0" y="797051"/>
                </a:lnTo>
                <a:close/>
              </a:path>
            </a:pathLst>
          </a:custGeom>
          <a:ln w="289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171694" y="2462022"/>
            <a:ext cx="3214370" cy="3173095"/>
          </a:xfrm>
          <a:custGeom>
            <a:avLst/>
            <a:gdLst/>
            <a:ahLst/>
            <a:cxnLst/>
            <a:rect l="l" t="t" r="r" b="b"/>
            <a:pathLst>
              <a:path w="3214370" h="3173095">
                <a:moveTo>
                  <a:pt x="0" y="1586483"/>
                </a:moveTo>
                <a:lnTo>
                  <a:pt x="710" y="1538860"/>
                </a:lnTo>
                <a:lnTo>
                  <a:pt x="2827" y="1491585"/>
                </a:lnTo>
                <a:lnTo>
                  <a:pt x="6332" y="1444679"/>
                </a:lnTo>
                <a:lnTo>
                  <a:pt x="11204" y="1398160"/>
                </a:lnTo>
                <a:lnTo>
                  <a:pt x="17423" y="1352049"/>
                </a:lnTo>
                <a:lnTo>
                  <a:pt x="24970" y="1306365"/>
                </a:lnTo>
                <a:lnTo>
                  <a:pt x="33825" y="1261127"/>
                </a:lnTo>
                <a:lnTo>
                  <a:pt x="43967" y="1216356"/>
                </a:lnTo>
                <a:lnTo>
                  <a:pt x="55378" y="1172072"/>
                </a:lnTo>
                <a:lnTo>
                  <a:pt x="68037" y="1128292"/>
                </a:lnTo>
                <a:lnTo>
                  <a:pt x="81924" y="1085039"/>
                </a:lnTo>
                <a:lnTo>
                  <a:pt x="97019" y="1042330"/>
                </a:lnTo>
                <a:lnTo>
                  <a:pt x="113302" y="1000186"/>
                </a:lnTo>
                <a:lnTo>
                  <a:pt x="130755" y="958626"/>
                </a:lnTo>
                <a:lnTo>
                  <a:pt x="149356" y="917670"/>
                </a:lnTo>
                <a:lnTo>
                  <a:pt x="169085" y="877337"/>
                </a:lnTo>
                <a:lnTo>
                  <a:pt x="189924" y="837648"/>
                </a:lnTo>
                <a:lnTo>
                  <a:pt x="211851" y="798621"/>
                </a:lnTo>
                <a:lnTo>
                  <a:pt x="234848" y="760277"/>
                </a:lnTo>
                <a:lnTo>
                  <a:pt x="258894" y="722634"/>
                </a:lnTo>
                <a:lnTo>
                  <a:pt x="283969" y="685714"/>
                </a:lnTo>
                <a:lnTo>
                  <a:pt x="310054" y="649534"/>
                </a:lnTo>
                <a:lnTo>
                  <a:pt x="337129" y="614116"/>
                </a:lnTo>
                <a:lnTo>
                  <a:pt x="365173" y="579478"/>
                </a:lnTo>
                <a:lnTo>
                  <a:pt x="394167" y="545641"/>
                </a:lnTo>
                <a:lnTo>
                  <a:pt x="424091" y="512623"/>
                </a:lnTo>
                <a:lnTo>
                  <a:pt x="454925" y="480445"/>
                </a:lnTo>
                <a:lnTo>
                  <a:pt x="486650" y="449126"/>
                </a:lnTo>
                <a:lnTo>
                  <a:pt x="519244" y="418685"/>
                </a:lnTo>
                <a:lnTo>
                  <a:pt x="552689" y="389143"/>
                </a:lnTo>
                <a:lnTo>
                  <a:pt x="586965" y="360519"/>
                </a:lnTo>
                <a:lnTo>
                  <a:pt x="622051" y="332833"/>
                </a:lnTo>
                <a:lnTo>
                  <a:pt x="657929" y="306104"/>
                </a:lnTo>
                <a:lnTo>
                  <a:pt x="694577" y="280352"/>
                </a:lnTo>
                <a:lnTo>
                  <a:pt x="731976" y="255596"/>
                </a:lnTo>
                <a:lnTo>
                  <a:pt x="770106" y="231857"/>
                </a:lnTo>
                <a:lnTo>
                  <a:pt x="808948" y="209154"/>
                </a:lnTo>
                <a:lnTo>
                  <a:pt x="848481" y="187505"/>
                </a:lnTo>
                <a:lnTo>
                  <a:pt x="888685" y="166932"/>
                </a:lnTo>
                <a:lnTo>
                  <a:pt x="929541" y="147454"/>
                </a:lnTo>
                <a:lnTo>
                  <a:pt x="971029" y="129090"/>
                </a:lnTo>
                <a:lnTo>
                  <a:pt x="1013129" y="111860"/>
                </a:lnTo>
                <a:lnTo>
                  <a:pt x="1055820" y="95784"/>
                </a:lnTo>
                <a:lnTo>
                  <a:pt x="1099084" y="80881"/>
                </a:lnTo>
                <a:lnTo>
                  <a:pt x="1142900" y="67171"/>
                </a:lnTo>
                <a:lnTo>
                  <a:pt x="1187248" y="54674"/>
                </a:lnTo>
                <a:lnTo>
                  <a:pt x="1232109" y="43408"/>
                </a:lnTo>
                <a:lnTo>
                  <a:pt x="1277462" y="33395"/>
                </a:lnTo>
                <a:lnTo>
                  <a:pt x="1323288" y="24653"/>
                </a:lnTo>
                <a:lnTo>
                  <a:pt x="1369567" y="17201"/>
                </a:lnTo>
                <a:lnTo>
                  <a:pt x="1416279" y="11061"/>
                </a:lnTo>
                <a:lnTo>
                  <a:pt x="1463404" y="6251"/>
                </a:lnTo>
                <a:lnTo>
                  <a:pt x="1510922" y="2791"/>
                </a:lnTo>
                <a:lnTo>
                  <a:pt x="1558813" y="701"/>
                </a:lnTo>
                <a:lnTo>
                  <a:pt x="1607057" y="0"/>
                </a:lnTo>
                <a:lnTo>
                  <a:pt x="1655302" y="701"/>
                </a:lnTo>
                <a:lnTo>
                  <a:pt x="1703193" y="2791"/>
                </a:lnTo>
                <a:lnTo>
                  <a:pt x="1750711" y="6251"/>
                </a:lnTo>
                <a:lnTo>
                  <a:pt x="1797836" y="11061"/>
                </a:lnTo>
                <a:lnTo>
                  <a:pt x="1844548" y="17201"/>
                </a:lnTo>
                <a:lnTo>
                  <a:pt x="1890827" y="24653"/>
                </a:lnTo>
                <a:lnTo>
                  <a:pt x="1936653" y="33395"/>
                </a:lnTo>
                <a:lnTo>
                  <a:pt x="1982006" y="43408"/>
                </a:lnTo>
                <a:lnTo>
                  <a:pt x="2026867" y="54674"/>
                </a:lnTo>
                <a:lnTo>
                  <a:pt x="2071215" y="67171"/>
                </a:lnTo>
                <a:lnTo>
                  <a:pt x="2115031" y="80881"/>
                </a:lnTo>
                <a:lnTo>
                  <a:pt x="2158295" y="95784"/>
                </a:lnTo>
                <a:lnTo>
                  <a:pt x="2200986" y="111860"/>
                </a:lnTo>
                <a:lnTo>
                  <a:pt x="2243086" y="129090"/>
                </a:lnTo>
                <a:lnTo>
                  <a:pt x="2284574" y="147454"/>
                </a:lnTo>
                <a:lnTo>
                  <a:pt x="2325430" y="166932"/>
                </a:lnTo>
                <a:lnTo>
                  <a:pt x="2365634" y="187505"/>
                </a:lnTo>
                <a:lnTo>
                  <a:pt x="2405167" y="209154"/>
                </a:lnTo>
                <a:lnTo>
                  <a:pt x="2444009" y="231857"/>
                </a:lnTo>
                <a:lnTo>
                  <a:pt x="2482139" y="255596"/>
                </a:lnTo>
                <a:lnTo>
                  <a:pt x="2519538" y="280352"/>
                </a:lnTo>
                <a:lnTo>
                  <a:pt x="2556186" y="306104"/>
                </a:lnTo>
                <a:lnTo>
                  <a:pt x="2592064" y="332833"/>
                </a:lnTo>
                <a:lnTo>
                  <a:pt x="2627150" y="360519"/>
                </a:lnTo>
                <a:lnTo>
                  <a:pt x="2661426" y="389143"/>
                </a:lnTo>
                <a:lnTo>
                  <a:pt x="2694871" y="418685"/>
                </a:lnTo>
                <a:lnTo>
                  <a:pt x="2727465" y="449126"/>
                </a:lnTo>
                <a:lnTo>
                  <a:pt x="2759190" y="480445"/>
                </a:lnTo>
                <a:lnTo>
                  <a:pt x="2790024" y="512623"/>
                </a:lnTo>
                <a:lnTo>
                  <a:pt x="2819948" y="545641"/>
                </a:lnTo>
                <a:lnTo>
                  <a:pt x="2848942" y="579478"/>
                </a:lnTo>
                <a:lnTo>
                  <a:pt x="2876986" y="614116"/>
                </a:lnTo>
                <a:lnTo>
                  <a:pt x="2904061" y="649534"/>
                </a:lnTo>
                <a:lnTo>
                  <a:pt x="2930146" y="685714"/>
                </a:lnTo>
                <a:lnTo>
                  <a:pt x="2955221" y="722634"/>
                </a:lnTo>
                <a:lnTo>
                  <a:pt x="2979267" y="760277"/>
                </a:lnTo>
                <a:lnTo>
                  <a:pt x="3002264" y="798621"/>
                </a:lnTo>
                <a:lnTo>
                  <a:pt x="3024191" y="837648"/>
                </a:lnTo>
                <a:lnTo>
                  <a:pt x="3045030" y="877337"/>
                </a:lnTo>
                <a:lnTo>
                  <a:pt x="3064759" y="917670"/>
                </a:lnTo>
                <a:lnTo>
                  <a:pt x="3083360" y="958626"/>
                </a:lnTo>
                <a:lnTo>
                  <a:pt x="3100813" y="1000186"/>
                </a:lnTo>
                <a:lnTo>
                  <a:pt x="3117096" y="1042330"/>
                </a:lnTo>
                <a:lnTo>
                  <a:pt x="3132191" y="1085039"/>
                </a:lnTo>
                <a:lnTo>
                  <a:pt x="3146078" y="1128292"/>
                </a:lnTo>
                <a:lnTo>
                  <a:pt x="3158737" y="1172072"/>
                </a:lnTo>
                <a:lnTo>
                  <a:pt x="3170148" y="1216356"/>
                </a:lnTo>
                <a:lnTo>
                  <a:pt x="3180290" y="1261127"/>
                </a:lnTo>
                <a:lnTo>
                  <a:pt x="3189145" y="1306365"/>
                </a:lnTo>
                <a:lnTo>
                  <a:pt x="3196692" y="1352049"/>
                </a:lnTo>
                <a:lnTo>
                  <a:pt x="3202911" y="1398160"/>
                </a:lnTo>
                <a:lnTo>
                  <a:pt x="3207783" y="1444679"/>
                </a:lnTo>
                <a:lnTo>
                  <a:pt x="3211288" y="1491585"/>
                </a:lnTo>
                <a:lnTo>
                  <a:pt x="3213405" y="1538860"/>
                </a:lnTo>
                <a:lnTo>
                  <a:pt x="3214115" y="1586483"/>
                </a:lnTo>
                <a:lnTo>
                  <a:pt x="3213405" y="1634107"/>
                </a:lnTo>
                <a:lnTo>
                  <a:pt x="3211288" y="1681382"/>
                </a:lnTo>
                <a:lnTo>
                  <a:pt x="3207783" y="1728288"/>
                </a:lnTo>
                <a:lnTo>
                  <a:pt x="3202911" y="1774807"/>
                </a:lnTo>
                <a:lnTo>
                  <a:pt x="3196692" y="1820918"/>
                </a:lnTo>
                <a:lnTo>
                  <a:pt x="3189145" y="1866602"/>
                </a:lnTo>
                <a:lnTo>
                  <a:pt x="3180290" y="1911840"/>
                </a:lnTo>
                <a:lnTo>
                  <a:pt x="3170148" y="1956611"/>
                </a:lnTo>
                <a:lnTo>
                  <a:pt x="3158737" y="2000895"/>
                </a:lnTo>
                <a:lnTo>
                  <a:pt x="3146078" y="2044675"/>
                </a:lnTo>
                <a:lnTo>
                  <a:pt x="3132191" y="2087928"/>
                </a:lnTo>
                <a:lnTo>
                  <a:pt x="3117096" y="2130637"/>
                </a:lnTo>
                <a:lnTo>
                  <a:pt x="3100813" y="2172781"/>
                </a:lnTo>
                <a:lnTo>
                  <a:pt x="3083360" y="2214341"/>
                </a:lnTo>
                <a:lnTo>
                  <a:pt x="3064759" y="2255297"/>
                </a:lnTo>
                <a:lnTo>
                  <a:pt x="3045030" y="2295630"/>
                </a:lnTo>
                <a:lnTo>
                  <a:pt x="3024191" y="2335319"/>
                </a:lnTo>
                <a:lnTo>
                  <a:pt x="3002264" y="2374346"/>
                </a:lnTo>
                <a:lnTo>
                  <a:pt x="2979267" y="2412690"/>
                </a:lnTo>
                <a:lnTo>
                  <a:pt x="2955221" y="2450333"/>
                </a:lnTo>
                <a:lnTo>
                  <a:pt x="2930146" y="2487253"/>
                </a:lnTo>
                <a:lnTo>
                  <a:pt x="2904061" y="2523433"/>
                </a:lnTo>
                <a:lnTo>
                  <a:pt x="2876986" y="2558851"/>
                </a:lnTo>
                <a:lnTo>
                  <a:pt x="2848942" y="2593489"/>
                </a:lnTo>
                <a:lnTo>
                  <a:pt x="2819948" y="2627326"/>
                </a:lnTo>
                <a:lnTo>
                  <a:pt x="2790024" y="2660344"/>
                </a:lnTo>
                <a:lnTo>
                  <a:pt x="2759190" y="2692522"/>
                </a:lnTo>
                <a:lnTo>
                  <a:pt x="2727465" y="2723841"/>
                </a:lnTo>
                <a:lnTo>
                  <a:pt x="2694871" y="2754282"/>
                </a:lnTo>
                <a:lnTo>
                  <a:pt x="2661426" y="2783824"/>
                </a:lnTo>
                <a:lnTo>
                  <a:pt x="2627150" y="2812448"/>
                </a:lnTo>
                <a:lnTo>
                  <a:pt x="2592064" y="2840134"/>
                </a:lnTo>
                <a:lnTo>
                  <a:pt x="2556186" y="2866863"/>
                </a:lnTo>
                <a:lnTo>
                  <a:pt x="2519538" y="2892615"/>
                </a:lnTo>
                <a:lnTo>
                  <a:pt x="2482139" y="2917371"/>
                </a:lnTo>
                <a:lnTo>
                  <a:pt x="2444009" y="2941110"/>
                </a:lnTo>
                <a:lnTo>
                  <a:pt x="2405167" y="2963813"/>
                </a:lnTo>
                <a:lnTo>
                  <a:pt x="2365634" y="2985462"/>
                </a:lnTo>
                <a:lnTo>
                  <a:pt x="2325430" y="3006035"/>
                </a:lnTo>
                <a:lnTo>
                  <a:pt x="2284574" y="3025513"/>
                </a:lnTo>
                <a:lnTo>
                  <a:pt x="2243086" y="3043877"/>
                </a:lnTo>
                <a:lnTo>
                  <a:pt x="2200986" y="3061107"/>
                </a:lnTo>
                <a:lnTo>
                  <a:pt x="2158295" y="3077183"/>
                </a:lnTo>
                <a:lnTo>
                  <a:pt x="2115031" y="3092086"/>
                </a:lnTo>
                <a:lnTo>
                  <a:pt x="2071215" y="3105796"/>
                </a:lnTo>
                <a:lnTo>
                  <a:pt x="2026867" y="3118293"/>
                </a:lnTo>
                <a:lnTo>
                  <a:pt x="1982006" y="3129559"/>
                </a:lnTo>
                <a:lnTo>
                  <a:pt x="1936653" y="3139572"/>
                </a:lnTo>
                <a:lnTo>
                  <a:pt x="1890827" y="3148314"/>
                </a:lnTo>
                <a:lnTo>
                  <a:pt x="1844548" y="3155766"/>
                </a:lnTo>
                <a:lnTo>
                  <a:pt x="1797836" y="3161906"/>
                </a:lnTo>
                <a:lnTo>
                  <a:pt x="1750711" y="3166716"/>
                </a:lnTo>
                <a:lnTo>
                  <a:pt x="1703193" y="3170176"/>
                </a:lnTo>
                <a:lnTo>
                  <a:pt x="1655302" y="3172266"/>
                </a:lnTo>
                <a:lnTo>
                  <a:pt x="1607057" y="3172967"/>
                </a:lnTo>
                <a:lnTo>
                  <a:pt x="1558813" y="3172266"/>
                </a:lnTo>
                <a:lnTo>
                  <a:pt x="1510922" y="3170176"/>
                </a:lnTo>
                <a:lnTo>
                  <a:pt x="1463404" y="3166716"/>
                </a:lnTo>
                <a:lnTo>
                  <a:pt x="1416279" y="3161906"/>
                </a:lnTo>
                <a:lnTo>
                  <a:pt x="1369567" y="3155766"/>
                </a:lnTo>
                <a:lnTo>
                  <a:pt x="1323288" y="3148314"/>
                </a:lnTo>
                <a:lnTo>
                  <a:pt x="1277462" y="3139572"/>
                </a:lnTo>
                <a:lnTo>
                  <a:pt x="1232109" y="3129559"/>
                </a:lnTo>
                <a:lnTo>
                  <a:pt x="1187248" y="3118293"/>
                </a:lnTo>
                <a:lnTo>
                  <a:pt x="1142900" y="3105796"/>
                </a:lnTo>
                <a:lnTo>
                  <a:pt x="1099084" y="3092086"/>
                </a:lnTo>
                <a:lnTo>
                  <a:pt x="1055820" y="3077183"/>
                </a:lnTo>
                <a:lnTo>
                  <a:pt x="1013129" y="3061107"/>
                </a:lnTo>
                <a:lnTo>
                  <a:pt x="971029" y="3043877"/>
                </a:lnTo>
                <a:lnTo>
                  <a:pt x="929541" y="3025513"/>
                </a:lnTo>
                <a:lnTo>
                  <a:pt x="888685" y="3006035"/>
                </a:lnTo>
                <a:lnTo>
                  <a:pt x="848481" y="2985462"/>
                </a:lnTo>
                <a:lnTo>
                  <a:pt x="808948" y="2963813"/>
                </a:lnTo>
                <a:lnTo>
                  <a:pt x="770106" y="2941110"/>
                </a:lnTo>
                <a:lnTo>
                  <a:pt x="731976" y="2917371"/>
                </a:lnTo>
                <a:lnTo>
                  <a:pt x="694577" y="2892615"/>
                </a:lnTo>
                <a:lnTo>
                  <a:pt x="657929" y="2866863"/>
                </a:lnTo>
                <a:lnTo>
                  <a:pt x="622051" y="2840134"/>
                </a:lnTo>
                <a:lnTo>
                  <a:pt x="586965" y="2812448"/>
                </a:lnTo>
                <a:lnTo>
                  <a:pt x="552689" y="2783824"/>
                </a:lnTo>
                <a:lnTo>
                  <a:pt x="519244" y="2754282"/>
                </a:lnTo>
                <a:lnTo>
                  <a:pt x="486650" y="2723841"/>
                </a:lnTo>
                <a:lnTo>
                  <a:pt x="454925" y="2692522"/>
                </a:lnTo>
                <a:lnTo>
                  <a:pt x="424091" y="2660344"/>
                </a:lnTo>
                <a:lnTo>
                  <a:pt x="394167" y="2627326"/>
                </a:lnTo>
                <a:lnTo>
                  <a:pt x="365173" y="2593489"/>
                </a:lnTo>
                <a:lnTo>
                  <a:pt x="337129" y="2558851"/>
                </a:lnTo>
                <a:lnTo>
                  <a:pt x="310054" y="2523433"/>
                </a:lnTo>
                <a:lnTo>
                  <a:pt x="283969" y="2487253"/>
                </a:lnTo>
                <a:lnTo>
                  <a:pt x="258894" y="2450333"/>
                </a:lnTo>
                <a:lnTo>
                  <a:pt x="234848" y="2412690"/>
                </a:lnTo>
                <a:lnTo>
                  <a:pt x="211851" y="2374346"/>
                </a:lnTo>
                <a:lnTo>
                  <a:pt x="189924" y="2335319"/>
                </a:lnTo>
                <a:lnTo>
                  <a:pt x="169085" y="2295630"/>
                </a:lnTo>
                <a:lnTo>
                  <a:pt x="149356" y="2255297"/>
                </a:lnTo>
                <a:lnTo>
                  <a:pt x="130755" y="2214341"/>
                </a:lnTo>
                <a:lnTo>
                  <a:pt x="113302" y="2172781"/>
                </a:lnTo>
                <a:lnTo>
                  <a:pt x="97019" y="2130637"/>
                </a:lnTo>
                <a:lnTo>
                  <a:pt x="81924" y="2087928"/>
                </a:lnTo>
                <a:lnTo>
                  <a:pt x="68037" y="2044675"/>
                </a:lnTo>
                <a:lnTo>
                  <a:pt x="55378" y="2000895"/>
                </a:lnTo>
                <a:lnTo>
                  <a:pt x="43967" y="1956611"/>
                </a:lnTo>
                <a:lnTo>
                  <a:pt x="33825" y="1911840"/>
                </a:lnTo>
                <a:lnTo>
                  <a:pt x="24970" y="1866602"/>
                </a:lnTo>
                <a:lnTo>
                  <a:pt x="17423" y="1820918"/>
                </a:lnTo>
                <a:lnTo>
                  <a:pt x="11204" y="1774807"/>
                </a:lnTo>
                <a:lnTo>
                  <a:pt x="6332" y="1728288"/>
                </a:lnTo>
                <a:lnTo>
                  <a:pt x="2827" y="1681382"/>
                </a:lnTo>
                <a:lnTo>
                  <a:pt x="710" y="1634107"/>
                </a:lnTo>
                <a:lnTo>
                  <a:pt x="0" y="1586483"/>
                </a:lnTo>
                <a:close/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423153" y="5851652"/>
            <a:ext cx="149352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dirty="0">
                <a:latin typeface="Helvetica"/>
                <a:cs typeface="Helvetica"/>
              </a:rPr>
              <a:t>Defe</a:t>
            </a:r>
            <a:r>
              <a:rPr sz="3200" b="1" spc="-15" dirty="0">
                <a:latin typeface="Helvetica"/>
                <a:cs typeface="Helvetica"/>
              </a:rPr>
              <a:t>c</a:t>
            </a:r>
            <a:r>
              <a:rPr sz="3200" b="1" dirty="0">
                <a:latin typeface="Helvetica"/>
                <a:cs typeface="Helvetica"/>
              </a:rPr>
              <a:t>ts</a:t>
            </a:r>
            <a:endParaRPr sz="3200">
              <a:latin typeface="Helvetica"/>
              <a:cs typeface="Helvetic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37969" y="3126435"/>
            <a:ext cx="16129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i="1" spc="-120" dirty="0">
                <a:latin typeface="HelveticaNeue-BoldItalic"/>
                <a:cs typeface="HelveticaNeue-BoldItalic"/>
              </a:rPr>
              <a:t>t</a:t>
            </a:r>
            <a:endParaRPr sz="3200">
              <a:latin typeface="HelveticaNeue-BoldItalic"/>
              <a:cs typeface="HelveticaNeue-BoldItalic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184019" y="4339538"/>
            <a:ext cx="27432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i="1" dirty="0">
                <a:latin typeface="HelveticaNeue-BoldItalic"/>
                <a:cs typeface="HelveticaNeue-BoldItalic"/>
              </a:rPr>
              <a:t>d</a:t>
            </a:r>
            <a:endParaRPr sz="3200">
              <a:latin typeface="HelveticaNeue-BoldItalic"/>
              <a:cs typeface="HelveticaNeue-BoldItalic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180582" y="2959684"/>
            <a:ext cx="27432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latin typeface="Helvetica"/>
                <a:cs typeface="Helvetica"/>
              </a:rPr>
              <a:t>?</a:t>
            </a:r>
            <a:endParaRPr sz="3200">
              <a:latin typeface="Helvetica"/>
              <a:cs typeface="Helvetic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212583" y="4243196"/>
            <a:ext cx="27432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dirty="0">
                <a:latin typeface="Helvetica"/>
                <a:cs typeface="Helvetica"/>
              </a:rPr>
              <a:t>?</a:t>
            </a:r>
            <a:endParaRPr sz="3200">
              <a:latin typeface="Helvetica"/>
              <a:cs typeface="Helvetic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322826" y="4185665"/>
            <a:ext cx="666115" cy="0"/>
          </a:xfrm>
          <a:custGeom>
            <a:avLst/>
            <a:gdLst/>
            <a:ahLst/>
            <a:cxnLst/>
            <a:rect l="l" t="t" r="r" b="b"/>
            <a:pathLst>
              <a:path w="666114">
                <a:moveTo>
                  <a:pt x="0" y="0"/>
                </a:moveTo>
                <a:lnTo>
                  <a:pt x="665988" y="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463034" y="4062221"/>
            <a:ext cx="581025" cy="553720"/>
          </a:xfrm>
          <a:custGeom>
            <a:avLst/>
            <a:gdLst/>
            <a:ahLst/>
            <a:cxnLst/>
            <a:rect l="l" t="t" r="r" b="b"/>
            <a:pathLst>
              <a:path w="581025" h="553720">
                <a:moveTo>
                  <a:pt x="0" y="0"/>
                </a:moveTo>
                <a:lnTo>
                  <a:pt x="580643" y="553211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339590" y="4386834"/>
            <a:ext cx="664845" cy="0"/>
          </a:xfrm>
          <a:custGeom>
            <a:avLst/>
            <a:gdLst/>
            <a:ahLst/>
            <a:cxnLst/>
            <a:rect l="l" t="t" r="r" b="b"/>
            <a:pathLst>
              <a:path w="664845">
                <a:moveTo>
                  <a:pt x="0" y="0"/>
                </a:moveTo>
                <a:lnTo>
                  <a:pt x="664463" y="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xfrm>
            <a:off x="215798" y="6399903"/>
            <a:ext cx="546202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11</a:t>
            </a:fld>
            <a:endParaRPr spc="-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38933" y="164414"/>
            <a:ext cx="473646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0B050"/>
                </a:solidFill>
                <a:latin typeface="Arial"/>
                <a:cs typeface="Arial"/>
              </a:rPr>
              <a:t>Agrawal Model </a:t>
            </a:r>
            <a:r>
              <a:rPr sz="2000" dirty="0">
                <a:solidFill>
                  <a:srgbClr val="00B050"/>
                </a:solidFill>
                <a:latin typeface="Arial"/>
                <a:cs typeface="Arial"/>
              </a:rPr>
              <a:t>[Agrawal 82]</a:t>
            </a:r>
            <a:endParaRPr dirty="0">
              <a:solidFill>
                <a:srgbClr val="00B050"/>
              </a:solidFill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0225" y="1998319"/>
            <a:ext cx="5598160" cy="1869743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Actual data </a:t>
            </a:r>
            <a:r>
              <a:rPr sz="2000" b="1" spc="-5" dirty="0">
                <a:latin typeface="Arial"/>
                <a:cs typeface="Arial"/>
              </a:rPr>
              <a:t>show </a:t>
            </a:r>
            <a:r>
              <a:rPr sz="2000" b="1" dirty="0">
                <a:latin typeface="Arial"/>
                <a:cs typeface="Arial"/>
              </a:rPr>
              <a:t>defects are</a:t>
            </a:r>
            <a:r>
              <a:rPr sz="2000" b="1" spc="-95" dirty="0"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clustered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i="1" dirty="0">
                <a:solidFill>
                  <a:srgbClr val="0000FF"/>
                </a:solidFill>
                <a:latin typeface="Arial-BoldItalicMT"/>
                <a:cs typeface="Arial-BoldItalicMT"/>
              </a:rPr>
              <a:t>n </a:t>
            </a:r>
            <a:r>
              <a:rPr sz="2000" b="1" spc="-5" dirty="0">
                <a:solidFill>
                  <a:srgbClr val="0000FF"/>
                </a:solidFill>
                <a:latin typeface="Arial"/>
                <a:cs typeface="Arial"/>
              </a:rPr>
              <a:t>=average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num. of defects on a bad</a:t>
            </a:r>
            <a:r>
              <a:rPr sz="2000" b="1" spc="-1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b="1" spc="-5" dirty="0">
                <a:solidFill>
                  <a:srgbClr val="0000FF"/>
                </a:solidFill>
                <a:latin typeface="Arial"/>
                <a:cs typeface="Arial"/>
              </a:rPr>
              <a:t>die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We need </a:t>
            </a:r>
            <a:r>
              <a:rPr sz="2000" b="1" spc="5" dirty="0">
                <a:latin typeface="Arial"/>
                <a:cs typeface="Arial"/>
              </a:rPr>
              <a:t>two </a:t>
            </a:r>
            <a:r>
              <a:rPr lang="en-US" sz="2000" b="1" dirty="0">
                <a:latin typeface="Arial"/>
                <a:cs typeface="Arial"/>
              </a:rPr>
              <a:t>estimated</a:t>
            </a:r>
            <a:r>
              <a:rPr sz="2000" b="1" spc="-13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parameters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i="1" spc="-5" dirty="0">
                <a:solidFill>
                  <a:srgbClr val="0000FF"/>
                </a:solidFill>
                <a:latin typeface="Arial-BoldItalicMT"/>
                <a:cs typeface="Arial-BoldItalicMT"/>
              </a:rPr>
              <a:t>n</a:t>
            </a:r>
            <a:r>
              <a:rPr sz="2000" b="1" spc="-5" dirty="0">
                <a:latin typeface="Arial"/>
                <a:cs typeface="Arial"/>
              </a:rPr>
              <a:t>: </a:t>
            </a:r>
            <a:r>
              <a:rPr lang="en-US" sz="2000" b="1" spc="-5" dirty="0">
                <a:latin typeface="Arial"/>
                <a:cs typeface="Arial"/>
              </a:rPr>
              <a:t>found </a:t>
            </a:r>
            <a:r>
              <a:rPr sz="2000" b="1" dirty="0">
                <a:latin typeface="Arial"/>
                <a:cs typeface="Arial"/>
              </a:rPr>
              <a:t>from</a:t>
            </a:r>
            <a:r>
              <a:rPr sz="2000" b="1" spc="-2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experiment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i="1" spc="-5" dirty="0">
                <a:solidFill>
                  <a:srgbClr val="0000FF"/>
                </a:solidFill>
                <a:latin typeface="Arial-BoldItalicMT"/>
                <a:cs typeface="Arial-BoldItalicMT"/>
              </a:rPr>
              <a:t>Y</a:t>
            </a:r>
            <a:r>
              <a:rPr sz="2000" b="1" spc="-5" dirty="0">
                <a:latin typeface="Arial"/>
                <a:cs typeface="Arial"/>
              </a:rPr>
              <a:t>: </a:t>
            </a:r>
            <a:r>
              <a:rPr lang="en-US" sz="2000" b="1" spc="-5" dirty="0">
                <a:latin typeface="Arial"/>
                <a:cs typeface="Arial"/>
              </a:rPr>
              <a:t>estimated </a:t>
            </a:r>
            <a:r>
              <a:rPr sz="2000" b="1" dirty="0">
                <a:latin typeface="Arial"/>
                <a:cs typeface="Arial"/>
              </a:rPr>
              <a:t>from fab. or</a:t>
            </a:r>
            <a:r>
              <a:rPr sz="2000" b="1" spc="-5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prediction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56844" y="893063"/>
            <a:ext cx="4316095" cy="1024255"/>
          </a:xfrm>
          <a:custGeom>
            <a:avLst/>
            <a:gdLst/>
            <a:ahLst/>
            <a:cxnLst/>
            <a:rect l="l" t="t" r="r" b="b"/>
            <a:pathLst>
              <a:path w="4316095" h="1024255">
                <a:moveTo>
                  <a:pt x="0" y="1024127"/>
                </a:moveTo>
                <a:lnTo>
                  <a:pt x="4315967" y="1024127"/>
                </a:lnTo>
                <a:lnTo>
                  <a:pt x="4315967" y="0"/>
                </a:lnTo>
                <a:lnTo>
                  <a:pt x="0" y="0"/>
                </a:lnTo>
                <a:lnTo>
                  <a:pt x="0" y="1024127"/>
                </a:lnTo>
                <a:close/>
              </a:path>
            </a:pathLst>
          </a:custGeom>
          <a:solidFill>
            <a:srgbClr val="FF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491837" y="1392146"/>
            <a:ext cx="3411220" cy="0"/>
          </a:xfrm>
          <a:custGeom>
            <a:avLst/>
            <a:gdLst/>
            <a:ahLst/>
            <a:cxnLst/>
            <a:rect l="l" t="t" r="r" b="b"/>
            <a:pathLst>
              <a:path w="3411220">
                <a:moveTo>
                  <a:pt x="0" y="0"/>
                </a:moveTo>
                <a:lnTo>
                  <a:pt x="3410775" y="0"/>
                </a:lnTo>
              </a:path>
            </a:pathLst>
          </a:custGeom>
          <a:ln w="139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198474" y="1381524"/>
            <a:ext cx="657225" cy="19177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40"/>
              </a:spcBef>
            </a:pPr>
            <a:r>
              <a:rPr sz="1050" spc="35" dirty="0">
                <a:latin typeface="Arial"/>
                <a:cs typeface="Arial"/>
              </a:rPr>
              <a:t>−</a:t>
            </a:r>
            <a:r>
              <a:rPr sz="1050" spc="35" dirty="0">
                <a:latin typeface="Times New Roman"/>
                <a:cs typeface="Times New Roman"/>
              </a:rPr>
              <a:t>(</a:t>
            </a:r>
            <a:r>
              <a:rPr sz="1050" spc="-140" dirty="0">
                <a:latin typeface="Times New Roman"/>
                <a:cs typeface="Times New Roman"/>
              </a:rPr>
              <a:t> </a:t>
            </a:r>
            <a:r>
              <a:rPr sz="1050" i="1" spc="25" dirty="0">
                <a:latin typeface="Times New Roman"/>
                <a:cs typeface="Times New Roman"/>
              </a:rPr>
              <a:t>n</a:t>
            </a:r>
            <a:r>
              <a:rPr sz="1050" i="1" spc="-180" dirty="0">
                <a:latin typeface="Times New Roman"/>
                <a:cs typeface="Times New Roman"/>
              </a:rPr>
              <a:t> </a:t>
            </a:r>
            <a:r>
              <a:rPr sz="1050" spc="15" dirty="0">
                <a:latin typeface="Arial"/>
                <a:cs typeface="Arial"/>
              </a:rPr>
              <a:t>−</a:t>
            </a:r>
            <a:r>
              <a:rPr sz="1050" spc="15" dirty="0">
                <a:latin typeface="Times New Roman"/>
                <a:cs typeface="Times New Roman"/>
              </a:rPr>
              <a:t>1)</a:t>
            </a:r>
            <a:r>
              <a:rPr sz="1050" spc="-110" dirty="0">
                <a:latin typeface="Times New Roman"/>
                <a:cs typeface="Times New Roman"/>
              </a:rPr>
              <a:t> </a:t>
            </a:r>
            <a:r>
              <a:rPr sz="1050" i="1" spc="75" dirty="0">
                <a:latin typeface="Times New Roman"/>
                <a:cs typeface="Times New Roman"/>
              </a:rPr>
              <a:t>FC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90487" y="1422875"/>
            <a:ext cx="2693035" cy="4248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sz="2600" i="1" spc="30" dirty="0">
                <a:latin typeface="Times New Roman"/>
                <a:cs typeface="Times New Roman"/>
              </a:rPr>
              <a:t>Y</a:t>
            </a:r>
            <a:r>
              <a:rPr sz="2600" i="1" spc="195" dirty="0">
                <a:latin typeface="Times New Roman"/>
                <a:cs typeface="Times New Roman"/>
              </a:rPr>
              <a:t> </a:t>
            </a:r>
            <a:r>
              <a:rPr sz="2600" spc="-65" dirty="0">
                <a:latin typeface="Arial"/>
                <a:cs typeface="Arial"/>
              </a:rPr>
              <a:t>+</a:t>
            </a:r>
            <a:r>
              <a:rPr sz="2600" spc="-275" dirty="0">
                <a:latin typeface="Arial"/>
                <a:cs typeface="Arial"/>
              </a:rPr>
              <a:t> </a:t>
            </a:r>
            <a:r>
              <a:rPr sz="2600" spc="-55" dirty="0">
                <a:latin typeface="Times New Roman"/>
                <a:cs typeface="Times New Roman"/>
              </a:rPr>
              <a:t>(1</a:t>
            </a:r>
            <a:r>
              <a:rPr sz="2600" spc="-390" dirty="0">
                <a:latin typeface="Times New Roman"/>
                <a:cs typeface="Times New Roman"/>
              </a:rPr>
              <a:t> </a:t>
            </a:r>
            <a:r>
              <a:rPr sz="2600" spc="-65" dirty="0">
                <a:latin typeface="Arial"/>
                <a:cs typeface="Arial"/>
              </a:rPr>
              <a:t>−</a:t>
            </a:r>
            <a:r>
              <a:rPr sz="2600" spc="-175" dirty="0">
                <a:latin typeface="Arial"/>
                <a:cs typeface="Arial"/>
              </a:rPr>
              <a:t> </a:t>
            </a:r>
            <a:r>
              <a:rPr sz="2600" i="1" spc="20" dirty="0">
                <a:latin typeface="Times New Roman"/>
                <a:cs typeface="Times New Roman"/>
              </a:rPr>
              <a:t>FC</a:t>
            </a:r>
            <a:r>
              <a:rPr sz="2600" spc="20" dirty="0">
                <a:latin typeface="Times New Roman"/>
                <a:cs typeface="Times New Roman"/>
              </a:rPr>
              <a:t>)(1</a:t>
            </a:r>
            <a:r>
              <a:rPr sz="2600" spc="-395" dirty="0">
                <a:latin typeface="Times New Roman"/>
                <a:cs typeface="Times New Roman"/>
              </a:rPr>
              <a:t> </a:t>
            </a:r>
            <a:r>
              <a:rPr sz="2600" spc="-65" dirty="0">
                <a:latin typeface="Arial"/>
                <a:cs typeface="Arial"/>
              </a:rPr>
              <a:t>−</a:t>
            </a:r>
            <a:r>
              <a:rPr sz="2600" spc="-434" dirty="0">
                <a:latin typeface="Arial"/>
                <a:cs typeface="Arial"/>
              </a:rPr>
              <a:t> </a:t>
            </a:r>
            <a:r>
              <a:rPr sz="2600" i="1" spc="30" dirty="0">
                <a:latin typeface="Times New Roman"/>
                <a:cs typeface="Times New Roman"/>
              </a:rPr>
              <a:t>Y</a:t>
            </a:r>
            <a:r>
              <a:rPr sz="2600" i="1" spc="-235" dirty="0">
                <a:latin typeface="Times New Roman"/>
                <a:cs typeface="Times New Roman"/>
              </a:rPr>
              <a:t> </a:t>
            </a:r>
            <a:r>
              <a:rPr sz="2600" spc="35" dirty="0">
                <a:latin typeface="Times New Roman"/>
                <a:cs typeface="Times New Roman"/>
              </a:rPr>
              <a:t>)</a:t>
            </a:r>
            <a:r>
              <a:rPr sz="2600" i="1" spc="35" dirty="0">
                <a:latin typeface="Times New Roman"/>
                <a:cs typeface="Times New Roman"/>
              </a:rPr>
              <a:t>e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16197" y="1130072"/>
            <a:ext cx="704215" cy="4248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sz="2600" i="1" spc="10" dirty="0">
                <a:latin typeface="Times New Roman"/>
                <a:cs typeface="Times New Roman"/>
              </a:rPr>
              <a:t>DL</a:t>
            </a:r>
            <a:r>
              <a:rPr sz="2600" i="1" spc="-100" dirty="0">
                <a:latin typeface="Times New Roman"/>
                <a:cs typeface="Times New Roman"/>
              </a:rPr>
              <a:t> </a:t>
            </a:r>
            <a:r>
              <a:rPr sz="2600" spc="-65" dirty="0">
                <a:latin typeface="Arial"/>
                <a:cs typeface="Arial"/>
              </a:rPr>
              <a:t>=</a:t>
            </a:r>
            <a:endParaRPr sz="26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56659" y="921771"/>
            <a:ext cx="3071495" cy="4248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14"/>
              </a:spcBef>
            </a:pPr>
            <a:r>
              <a:rPr sz="2600" spc="-55" dirty="0">
                <a:latin typeface="Times New Roman"/>
                <a:cs typeface="Times New Roman"/>
              </a:rPr>
              <a:t>(1</a:t>
            </a:r>
            <a:r>
              <a:rPr sz="2600" spc="-390" dirty="0">
                <a:latin typeface="Times New Roman"/>
                <a:cs typeface="Times New Roman"/>
              </a:rPr>
              <a:t> </a:t>
            </a:r>
            <a:r>
              <a:rPr sz="2600" spc="-65" dirty="0">
                <a:latin typeface="Arial"/>
                <a:cs typeface="Arial"/>
              </a:rPr>
              <a:t>−</a:t>
            </a:r>
            <a:r>
              <a:rPr sz="2600" spc="-175" dirty="0">
                <a:latin typeface="Arial"/>
                <a:cs typeface="Arial"/>
              </a:rPr>
              <a:t> </a:t>
            </a:r>
            <a:r>
              <a:rPr sz="2600" i="1" spc="20" dirty="0">
                <a:latin typeface="Times New Roman"/>
                <a:cs typeface="Times New Roman"/>
              </a:rPr>
              <a:t>FC</a:t>
            </a:r>
            <a:r>
              <a:rPr sz="2600" spc="20" dirty="0">
                <a:latin typeface="Times New Roman"/>
                <a:cs typeface="Times New Roman"/>
              </a:rPr>
              <a:t>)(1</a:t>
            </a:r>
            <a:r>
              <a:rPr sz="2600" spc="-390" dirty="0">
                <a:latin typeface="Times New Roman"/>
                <a:cs typeface="Times New Roman"/>
              </a:rPr>
              <a:t> </a:t>
            </a:r>
            <a:r>
              <a:rPr sz="2600" spc="-65" dirty="0">
                <a:latin typeface="Arial"/>
                <a:cs typeface="Arial"/>
              </a:rPr>
              <a:t>−</a:t>
            </a:r>
            <a:r>
              <a:rPr sz="2600" spc="-434" dirty="0">
                <a:latin typeface="Arial"/>
                <a:cs typeface="Arial"/>
              </a:rPr>
              <a:t> </a:t>
            </a:r>
            <a:r>
              <a:rPr sz="2600" i="1" spc="30" dirty="0">
                <a:latin typeface="Times New Roman"/>
                <a:cs typeface="Times New Roman"/>
              </a:rPr>
              <a:t>Y</a:t>
            </a:r>
            <a:r>
              <a:rPr sz="2600" i="1" spc="-235" dirty="0">
                <a:latin typeface="Times New Roman"/>
                <a:cs typeface="Times New Roman"/>
              </a:rPr>
              <a:t> </a:t>
            </a:r>
            <a:r>
              <a:rPr sz="2600" spc="45" dirty="0">
                <a:latin typeface="Times New Roman"/>
                <a:cs typeface="Times New Roman"/>
              </a:rPr>
              <a:t>)</a:t>
            </a:r>
            <a:r>
              <a:rPr sz="2600" i="1" spc="45" dirty="0">
                <a:latin typeface="Times New Roman"/>
                <a:cs typeface="Times New Roman"/>
              </a:rPr>
              <a:t>e</a:t>
            </a:r>
            <a:r>
              <a:rPr sz="2250" spc="67" baseline="42592" dirty="0">
                <a:latin typeface="Arial"/>
                <a:cs typeface="Arial"/>
              </a:rPr>
              <a:t>−</a:t>
            </a:r>
            <a:r>
              <a:rPr sz="2250" spc="67" baseline="42592" dirty="0">
                <a:latin typeface="Times New Roman"/>
                <a:cs typeface="Times New Roman"/>
              </a:rPr>
              <a:t>(</a:t>
            </a:r>
            <a:r>
              <a:rPr sz="2250" i="1" spc="67" baseline="42592" dirty="0">
                <a:latin typeface="Times New Roman"/>
                <a:cs typeface="Times New Roman"/>
              </a:rPr>
              <a:t>n</a:t>
            </a:r>
            <a:r>
              <a:rPr sz="2250" spc="67" baseline="42592" dirty="0">
                <a:latin typeface="Arial"/>
                <a:cs typeface="Arial"/>
              </a:rPr>
              <a:t>−</a:t>
            </a:r>
            <a:r>
              <a:rPr sz="2250" spc="67" baseline="42592" dirty="0">
                <a:latin typeface="Times New Roman"/>
                <a:cs typeface="Times New Roman"/>
              </a:rPr>
              <a:t>1)</a:t>
            </a:r>
            <a:r>
              <a:rPr sz="2250" spc="-337" baseline="42592" dirty="0">
                <a:latin typeface="Times New Roman"/>
                <a:cs typeface="Times New Roman"/>
              </a:rPr>
              <a:t> </a:t>
            </a:r>
            <a:r>
              <a:rPr sz="2250" i="1" spc="135" baseline="42592" dirty="0">
                <a:latin typeface="Times New Roman"/>
                <a:cs typeface="Times New Roman"/>
              </a:rPr>
              <a:t>FC</a:t>
            </a:r>
            <a:endParaRPr sz="2250" baseline="42592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52272" y="888491"/>
            <a:ext cx="4325620" cy="1033780"/>
          </a:xfrm>
          <a:custGeom>
            <a:avLst/>
            <a:gdLst/>
            <a:ahLst/>
            <a:cxnLst/>
            <a:rect l="l" t="t" r="r" b="b"/>
            <a:pathLst>
              <a:path w="4325620" h="1033780">
                <a:moveTo>
                  <a:pt x="0" y="1033272"/>
                </a:moveTo>
                <a:lnTo>
                  <a:pt x="4325112" y="1033272"/>
                </a:lnTo>
                <a:lnTo>
                  <a:pt x="4325112" y="0"/>
                </a:lnTo>
                <a:lnTo>
                  <a:pt x="0" y="0"/>
                </a:lnTo>
                <a:lnTo>
                  <a:pt x="0" y="1033272"/>
                </a:lnTo>
                <a:close/>
              </a:path>
            </a:pathLst>
          </a:custGeom>
          <a:ln w="914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977392" y="1217423"/>
            <a:ext cx="3041373" cy="304661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166609" y="2718054"/>
            <a:ext cx="45720" cy="47625"/>
          </a:xfrm>
          <a:custGeom>
            <a:avLst/>
            <a:gdLst/>
            <a:ahLst/>
            <a:cxnLst/>
            <a:rect l="l" t="t" r="r" b="b"/>
            <a:pathLst>
              <a:path w="45720" h="47625">
                <a:moveTo>
                  <a:pt x="0" y="23622"/>
                </a:moveTo>
                <a:lnTo>
                  <a:pt x="1803" y="14412"/>
                </a:lnTo>
                <a:lnTo>
                  <a:pt x="6715" y="6905"/>
                </a:lnTo>
                <a:lnTo>
                  <a:pt x="13983" y="1851"/>
                </a:lnTo>
                <a:lnTo>
                  <a:pt x="22860" y="0"/>
                </a:lnTo>
                <a:lnTo>
                  <a:pt x="31736" y="1851"/>
                </a:lnTo>
                <a:lnTo>
                  <a:pt x="39004" y="6905"/>
                </a:lnTo>
                <a:lnTo>
                  <a:pt x="43916" y="14412"/>
                </a:lnTo>
                <a:lnTo>
                  <a:pt x="45720" y="23622"/>
                </a:lnTo>
                <a:lnTo>
                  <a:pt x="43916" y="32831"/>
                </a:lnTo>
                <a:lnTo>
                  <a:pt x="39004" y="40338"/>
                </a:lnTo>
                <a:lnTo>
                  <a:pt x="31736" y="45392"/>
                </a:lnTo>
                <a:lnTo>
                  <a:pt x="22860" y="47244"/>
                </a:lnTo>
                <a:lnTo>
                  <a:pt x="13983" y="45392"/>
                </a:lnTo>
                <a:lnTo>
                  <a:pt x="6715" y="40338"/>
                </a:lnTo>
                <a:lnTo>
                  <a:pt x="1803" y="32831"/>
                </a:lnTo>
                <a:lnTo>
                  <a:pt x="0" y="23622"/>
                </a:lnTo>
                <a:close/>
              </a:path>
            </a:pathLst>
          </a:custGeom>
          <a:ln w="2895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316723" y="2136648"/>
            <a:ext cx="74675" cy="746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450073" y="2189226"/>
            <a:ext cx="45720" cy="45720"/>
          </a:xfrm>
          <a:custGeom>
            <a:avLst/>
            <a:gdLst/>
            <a:ahLst/>
            <a:cxnLst/>
            <a:rect l="l" t="t" r="r" b="b"/>
            <a:pathLst>
              <a:path w="45720" h="45719">
                <a:moveTo>
                  <a:pt x="0" y="22860"/>
                </a:moveTo>
                <a:lnTo>
                  <a:pt x="1803" y="13983"/>
                </a:lnTo>
                <a:lnTo>
                  <a:pt x="6715" y="6715"/>
                </a:lnTo>
                <a:lnTo>
                  <a:pt x="13983" y="1803"/>
                </a:lnTo>
                <a:lnTo>
                  <a:pt x="22859" y="0"/>
                </a:lnTo>
                <a:lnTo>
                  <a:pt x="31736" y="1803"/>
                </a:lnTo>
                <a:lnTo>
                  <a:pt x="39004" y="6715"/>
                </a:lnTo>
                <a:lnTo>
                  <a:pt x="43916" y="13983"/>
                </a:lnTo>
                <a:lnTo>
                  <a:pt x="45720" y="22860"/>
                </a:lnTo>
                <a:lnTo>
                  <a:pt x="43916" y="31736"/>
                </a:lnTo>
                <a:lnTo>
                  <a:pt x="39004" y="39004"/>
                </a:lnTo>
                <a:lnTo>
                  <a:pt x="31736" y="43916"/>
                </a:lnTo>
                <a:lnTo>
                  <a:pt x="22859" y="45720"/>
                </a:lnTo>
                <a:lnTo>
                  <a:pt x="13983" y="43916"/>
                </a:lnTo>
                <a:lnTo>
                  <a:pt x="6715" y="39004"/>
                </a:lnTo>
                <a:lnTo>
                  <a:pt x="1803" y="31736"/>
                </a:lnTo>
                <a:lnTo>
                  <a:pt x="0" y="22860"/>
                </a:lnTo>
                <a:close/>
              </a:path>
            </a:pathLst>
          </a:custGeom>
          <a:ln w="2895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792973" y="3365753"/>
            <a:ext cx="45720" cy="47625"/>
          </a:xfrm>
          <a:custGeom>
            <a:avLst/>
            <a:gdLst/>
            <a:ahLst/>
            <a:cxnLst/>
            <a:rect l="l" t="t" r="r" b="b"/>
            <a:pathLst>
              <a:path w="45720" h="47625">
                <a:moveTo>
                  <a:pt x="0" y="23622"/>
                </a:moveTo>
                <a:lnTo>
                  <a:pt x="1803" y="14412"/>
                </a:lnTo>
                <a:lnTo>
                  <a:pt x="6715" y="6905"/>
                </a:lnTo>
                <a:lnTo>
                  <a:pt x="13983" y="1851"/>
                </a:lnTo>
                <a:lnTo>
                  <a:pt x="22859" y="0"/>
                </a:lnTo>
                <a:lnTo>
                  <a:pt x="31736" y="1851"/>
                </a:lnTo>
                <a:lnTo>
                  <a:pt x="39004" y="6905"/>
                </a:lnTo>
                <a:lnTo>
                  <a:pt x="43916" y="14412"/>
                </a:lnTo>
                <a:lnTo>
                  <a:pt x="45720" y="23622"/>
                </a:lnTo>
                <a:lnTo>
                  <a:pt x="43916" y="32831"/>
                </a:lnTo>
                <a:lnTo>
                  <a:pt x="39004" y="40338"/>
                </a:lnTo>
                <a:lnTo>
                  <a:pt x="31736" y="45392"/>
                </a:lnTo>
                <a:lnTo>
                  <a:pt x="22859" y="47244"/>
                </a:lnTo>
                <a:lnTo>
                  <a:pt x="13983" y="45392"/>
                </a:lnTo>
                <a:lnTo>
                  <a:pt x="6715" y="40338"/>
                </a:lnTo>
                <a:lnTo>
                  <a:pt x="1803" y="32831"/>
                </a:lnTo>
                <a:lnTo>
                  <a:pt x="0" y="23622"/>
                </a:lnTo>
                <a:close/>
              </a:path>
            </a:pathLst>
          </a:custGeom>
          <a:ln w="2895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197090" y="2811017"/>
            <a:ext cx="45720" cy="44450"/>
          </a:xfrm>
          <a:custGeom>
            <a:avLst/>
            <a:gdLst/>
            <a:ahLst/>
            <a:cxnLst/>
            <a:rect l="l" t="t" r="r" b="b"/>
            <a:pathLst>
              <a:path w="45720" h="44450">
                <a:moveTo>
                  <a:pt x="0" y="22098"/>
                </a:moveTo>
                <a:lnTo>
                  <a:pt x="1803" y="13501"/>
                </a:lnTo>
                <a:lnTo>
                  <a:pt x="6715" y="6476"/>
                </a:lnTo>
                <a:lnTo>
                  <a:pt x="13983" y="1738"/>
                </a:lnTo>
                <a:lnTo>
                  <a:pt x="22859" y="0"/>
                </a:lnTo>
                <a:lnTo>
                  <a:pt x="31736" y="1738"/>
                </a:lnTo>
                <a:lnTo>
                  <a:pt x="39004" y="6477"/>
                </a:lnTo>
                <a:lnTo>
                  <a:pt x="43916" y="13501"/>
                </a:lnTo>
                <a:lnTo>
                  <a:pt x="45719" y="22098"/>
                </a:lnTo>
                <a:lnTo>
                  <a:pt x="43916" y="30694"/>
                </a:lnTo>
                <a:lnTo>
                  <a:pt x="39004" y="37719"/>
                </a:lnTo>
                <a:lnTo>
                  <a:pt x="31736" y="42457"/>
                </a:lnTo>
                <a:lnTo>
                  <a:pt x="22859" y="44196"/>
                </a:lnTo>
                <a:lnTo>
                  <a:pt x="13983" y="42457"/>
                </a:lnTo>
                <a:lnTo>
                  <a:pt x="6715" y="37719"/>
                </a:lnTo>
                <a:lnTo>
                  <a:pt x="1803" y="30694"/>
                </a:lnTo>
                <a:lnTo>
                  <a:pt x="0" y="22098"/>
                </a:lnTo>
                <a:close/>
              </a:path>
            </a:pathLst>
          </a:custGeom>
          <a:ln w="2895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860030" y="3429761"/>
            <a:ext cx="47625" cy="44450"/>
          </a:xfrm>
          <a:custGeom>
            <a:avLst/>
            <a:gdLst/>
            <a:ahLst/>
            <a:cxnLst/>
            <a:rect l="l" t="t" r="r" b="b"/>
            <a:pathLst>
              <a:path w="47625" h="44450">
                <a:moveTo>
                  <a:pt x="0" y="22098"/>
                </a:moveTo>
                <a:lnTo>
                  <a:pt x="1851" y="13501"/>
                </a:lnTo>
                <a:lnTo>
                  <a:pt x="6905" y="6476"/>
                </a:lnTo>
                <a:lnTo>
                  <a:pt x="14412" y="1738"/>
                </a:lnTo>
                <a:lnTo>
                  <a:pt x="23622" y="0"/>
                </a:lnTo>
                <a:lnTo>
                  <a:pt x="32831" y="1738"/>
                </a:lnTo>
                <a:lnTo>
                  <a:pt x="40338" y="6476"/>
                </a:lnTo>
                <a:lnTo>
                  <a:pt x="45392" y="13501"/>
                </a:lnTo>
                <a:lnTo>
                  <a:pt x="47244" y="22098"/>
                </a:lnTo>
                <a:lnTo>
                  <a:pt x="45392" y="30694"/>
                </a:lnTo>
                <a:lnTo>
                  <a:pt x="40338" y="37719"/>
                </a:lnTo>
                <a:lnTo>
                  <a:pt x="32831" y="42457"/>
                </a:lnTo>
                <a:lnTo>
                  <a:pt x="23622" y="44196"/>
                </a:lnTo>
                <a:lnTo>
                  <a:pt x="14412" y="42457"/>
                </a:lnTo>
                <a:lnTo>
                  <a:pt x="6905" y="37718"/>
                </a:lnTo>
                <a:lnTo>
                  <a:pt x="1851" y="30694"/>
                </a:lnTo>
                <a:lnTo>
                  <a:pt x="0" y="22098"/>
                </a:lnTo>
                <a:close/>
              </a:path>
            </a:pathLst>
          </a:custGeom>
          <a:ln w="2895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7428738" y="2103882"/>
            <a:ext cx="45720" cy="44450"/>
          </a:xfrm>
          <a:custGeom>
            <a:avLst/>
            <a:gdLst/>
            <a:ahLst/>
            <a:cxnLst/>
            <a:rect l="l" t="t" r="r" b="b"/>
            <a:pathLst>
              <a:path w="45720" h="44450">
                <a:moveTo>
                  <a:pt x="0" y="22097"/>
                </a:moveTo>
                <a:lnTo>
                  <a:pt x="1803" y="13501"/>
                </a:lnTo>
                <a:lnTo>
                  <a:pt x="6715" y="6476"/>
                </a:lnTo>
                <a:lnTo>
                  <a:pt x="13983" y="1738"/>
                </a:lnTo>
                <a:lnTo>
                  <a:pt x="22859" y="0"/>
                </a:lnTo>
                <a:lnTo>
                  <a:pt x="31736" y="1738"/>
                </a:lnTo>
                <a:lnTo>
                  <a:pt x="39004" y="6476"/>
                </a:lnTo>
                <a:lnTo>
                  <a:pt x="43916" y="13501"/>
                </a:lnTo>
                <a:lnTo>
                  <a:pt x="45719" y="22097"/>
                </a:lnTo>
                <a:lnTo>
                  <a:pt x="43916" y="30694"/>
                </a:lnTo>
                <a:lnTo>
                  <a:pt x="39004" y="37718"/>
                </a:lnTo>
                <a:lnTo>
                  <a:pt x="31736" y="42457"/>
                </a:lnTo>
                <a:lnTo>
                  <a:pt x="22859" y="44195"/>
                </a:lnTo>
                <a:lnTo>
                  <a:pt x="13983" y="42457"/>
                </a:lnTo>
                <a:lnTo>
                  <a:pt x="6715" y="37718"/>
                </a:lnTo>
                <a:lnTo>
                  <a:pt x="1803" y="30694"/>
                </a:lnTo>
                <a:lnTo>
                  <a:pt x="0" y="22097"/>
                </a:lnTo>
                <a:close/>
              </a:path>
            </a:pathLst>
          </a:custGeom>
          <a:ln w="2895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7055357" y="4547742"/>
            <a:ext cx="949960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i="1" spc="-5" dirty="0">
                <a:solidFill>
                  <a:srgbClr val="7E7E7E"/>
                </a:solidFill>
                <a:latin typeface="HelveticaNeue-BoldItalic"/>
                <a:cs typeface="HelveticaNeue-BoldItalic"/>
              </a:rPr>
              <a:t>7</a:t>
            </a:r>
            <a:r>
              <a:rPr sz="1600" b="1" i="1" spc="-95" dirty="0">
                <a:solidFill>
                  <a:srgbClr val="7E7E7E"/>
                </a:solidFill>
                <a:latin typeface="HelveticaNeue-BoldItalic"/>
                <a:cs typeface="HelveticaNeue-BoldItalic"/>
              </a:rPr>
              <a:t> </a:t>
            </a:r>
            <a:r>
              <a:rPr sz="1600" b="1" spc="-5" dirty="0">
                <a:solidFill>
                  <a:srgbClr val="7E7E7E"/>
                </a:solidFill>
                <a:latin typeface="Helvetica"/>
                <a:cs typeface="Helvetica"/>
              </a:rPr>
              <a:t>defects</a:t>
            </a:r>
            <a:endParaRPr sz="1600">
              <a:latin typeface="Helvetica"/>
              <a:cs typeface="Helvetica"/>
            </a:endParaRPr>
          </a:p>
          <a:p>
            <a:pPr marL="12700">
              <a:lnSpc>
                <a:spcPct val="100000"/>
              </a:lnSpc>
            </a:pPr>
            <a:r>
              <a:rPr sz="1600" b="1" i="1" spc="-5" dirty="0">
                <a:solidFill>
                  <a:srgbClr val="7E7E7E"/>
                </a:solidFill>
                <a:latin typeface="HelveticaNeue-BoldItalic"/>
                <a:cs typeface="HelveticaNeue-BoldItalic"/>
              </a:rPr>
              <a:t>3 </a:t>
            </a:r>
            <a:r>
              <a:rPr sz="1600" b="1" spc="-5" dirty="0">
                <a:solidFill>
                  <a:srgbClr val="7E7E7E"/>
                </a:solidFill>
                <a:latin typeface="Helvetica"/>
                <a:cs typeface="Helvetica"/>
              </a:rPr>
              <a:t>bad</a:t>
            </a:r>
            <a:r>
              <a:rPr sz="1600" b="1" spc="-85" dirty="0">
                <a:solidFill>
                  <a:srgbClr val="7E7E7E"/>
                </a:solidFill>
                <a:latin typeface="Helvetica"/>
                <a:cs typeface="Helvetica"/>
              </a:rPr>
              <a:t> </a:t>
            </a:r>
            <a:r>
              <a:rPr sz="1600" b="1" spc="-5" dirty="0">
                <a:solidFill>
                  <a:srgbClr val="7E7E7E"/>
                </a:solidFill>
                <a:latin typeface="Helvetica"/>
                <a:cs typeface="Helvetica"/>
              </a:rPr>
              <a:t>die</a:t>
            </a:r>
            <a:endParaRPr sz="1600">
              <a:latin typeface="Helvetica"/>
              <a:cs typeface="Helvetica"/>
            </a:endParaRPr>
          </a:p>
          <a:p>
            <a:pPr marL="12700">
              <a:lnSpc>
                <a:spcPct val="100000"/>
              </a:lnSpc>
            </a:pPr>
            <a:r>
              <a:rPr sz="1600" b="1" i="1" spc="-10" dirty="0">
                <a:solidFill>
                  <a:srgbClr val="7E7E7E"/>
                </a:solidFill>
                <a:latin typeface="HelveticaNeue-BoldItalic"/>
                <a:cs typeface="HelveticaNeue-BoldItalic"/>
              </a:rPr>
              <a:t>n</a:t>
            </a:r>
            <a:r>
              <a:rPr sz="1600" b="1" spc="-5" dirty="0">
                <a:solidFill>
                  <a:srgbClr val="7E7E7E"/>
                </a:solidFill>
                <a:latin typeface="Helvetica"/>
                <a:cs typeface="Helvetica"/>
              </a:rPr>
              <a:t>=7/3=2.3</a:t>
            </a:r>
            <a:endParaRPr sz="1600">
              <a:latin typeface="Helvetica"/>
              <a:cs typeface="Helvetica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xfrm>
            <a:off x="215798" y="6399903"/>
            <a:ext cx="500399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12</a:t>
            </a:fld>
            <a:endParaRPr spc="-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61792" y="164414"/>
            <a:ext cx="269113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0B050"/>
                </a:solidFill>
                <a:latin typeface="Arial"/>
                <a:cs typeface="Arial"/>
              </a:rPr>
              <a:t>Introduction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0225" y="961136"/>
            <a:ext cx="3687445" cy="366831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solidFill>
                  <a:srgbClr val="7E7E7E"/>
                </a:solidFill>
                <a:latin typeface="Arial"/>
                <a:cs typeface="Arial"/>
              </a:rPr>
              <a:t>What Is</a:t>
            </a:r>
            <a:r>
              <a:rPr sz="2000" b="1" spc="-5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7E7E7E"/>
                </a:solidFill>
                <a:latin typeface="Arial"/>
                <a:cs typeface="Arial"/>
              </a:rPr>
              <a:t>Testing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7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spc="-5" dirty="0">
                <a:solidFill>
                  <a:srgbClr val="7E7E7E"/>
                </a:solidFill>
                <a:latin typeface="Arial"/>
                <a:cs typeface="Arial"/>
              </a:rPr>
              <a:t>Types </a:t>
            </a:r>
            <a:r>
              <a:rPr sz="2000" b="1" dirty="0">
                <a:solidFill>
                  <a:srgbClr val="7E7E7E"/>
                </a:solidFill>
                <a:latin typeface="Arial"/>
                <a:cs typeface="Arial"/>
              </a:rPr>
              <a:t>of Testing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4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Test</a:t>
            </a:r>
            <a:r>
              <a:rPr sz="2000" b="1" u="sng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0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Quality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Defect per </a:t>
            </a:r>
            <a:r>
              <a:rPr sz="2000" b="1" spc="-5" dirty="0">
                <a:latin typeface="Arial"/>
                <a:cs typeface="Arial"/>
              </a:rPr>
              <a:t>Million</a:t>
            </a:r>
            <a:r>
              <a:rPr sz="2000" b="1" spc="-10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(DPM)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Models to Predict</a:t>
            </a:r>
            <a:r>
              <a:rPr sz="2000" b="1" spc="-9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DPM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Models for</a:t>
            </a:r>
            <a:r>
              <a:rPr sz="2000" b="1" u="sng" spc="-5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0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Yield</a:t>
            </a:r>
            <a:endParaRPr sz="2000" dirty="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484"/>
              </a:spcBef>
            </a:pPr>
            <a:r>
              <a:rPr sz="1800" spc="-600" dirty="0">
                <a:solidFill>
                  <a:srgbClr val="FF0000"/>
                </a:solidFill>
                <a:latin typeface="Arial"/>
                <a:cs typeface="Arial"/>
              </a:rPr>
              <a:t></a:t>
            </a:r>
            <a:r>
              <a:rPr sz="1800" spc="39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u="sng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Simple</a:t>
            </a:r>
            <a:endParaRPr sz="2000" dirty="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475"/>
              </a:spcBef>
            </a:pPr>
            <a:r>
              <a:rPr sz="1800" spc="-600" dirty="0">
                <a:solidFill>
                  <a:srgbClr val="FF0000"/>
                </a:solidFill>
                <a:latin typeface="Arial"/>
                <a:cs typeface="Arial"/>
              </a:rPr>
              <a:t></a:t>
            </a:r>
            <a:r>
              <a:rPr sz="1800" spc="39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Critical</a:t>
            </a:r>
            <a:r>
              <a:rPr sz="2000" b="1" u="sng" spc="-5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0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Area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solidFill>
                  <a:srgbClr val="7E7E7E"/>
                </a:solidFill>
                <a:latin typeface="Arial"/>
                <a:cs typeface="Arial"/>
              </a:rPr>
              <a:t>Test</a:t>
            </a:r>
            <a:r>
              <a:rPr sz="2000" b="1" spc="-2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7E7E7E"/>
                </a:solidFill>
                <a:latin typeface="Arial"/>
                <a:cs typeface="Arial"/>
              </a:rPr>
              <a:t>Economy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4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solidFill>
                  <a:srgbClr val="7E7E7E"/>
                </a:solidFill>
                <a:latin typeface="Arial"/>
                <a:cs typeface="Arial"/>
              </a:rPr>
              <a:t>Conclusion</a:t>
            </a:r>
            <a:r>
              <a:rPr lang="en-US" sz="2000" b="1" dirty="0">
                <a:solidFill>
                  <a:srgbClr val="7E7E7E"/>
                </a:solidFill>
                <a:latin typeface="Arial"/>
                <a:cs typeface="Arial"/>
              </a:rPr>
              <a:t>s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439411" y="3555491"/>
            <a:ext cx="4119372" cy="29535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232909" y="1315974"/>
            <a:ext cx="4646930" cy="829310"/>
          </a:xfrm>
          <a:prstGeom prst="rect">
            <a:avLst/>
          </a:prstGeom>
          <a:ln w="19811">
            <a:solidFill>
              <a:srgbClr val="FF0000"/>
            </a:solidFill>
          </a:ln>
        </p:spPr>
        <p:txBody>
          <a:bodyPr vert="horz" wrap="square" lIns="0" tIns="36830" rIns="0" bIns="0" rtlCol="0">
            <a:spAutoFit/>
          </a:bodyPr>
          <a:lstStyle/>
          <a:p>
            <a:pPr marL="91440" marR="194945">
              <a:lnSpc>
                <a:spcPct val="100000"/>
              </a:lnSpc>
              <a:spcBef>
                <a:spcPts val="290"/>
              </a:spcBef>
            </a:pPr>
            <a:r>
              <a:rPr sz="2400" b="1" spc="-5" dirty="0">
                <a:solidFill>
                  <a:srgbClr val="FF0000"/>
                </a:solidFill>
                <a:latin typeface="Helvetica"/>
                <a:cs typeface="Helvetica"/>
              </a:rPr>
              <a:t>Measure </a:t>
            </a:r>
            <a:r>
              <a:rPr sz="2400" b="1" i="1" spc="-25" dirty="0">
                <a:solidFill>
                  <a:srgbClr val="FF0000"/>
                </a:solidFill>
                <a:latin typeface="HelveticaNeue-BoldItalic"/>
                <a:cs typeface="HelveticaNeue-BoldItalic"/>
              </a:rPr>
              <a:t>Real </a:t>
            </a:r>
            <a:r>
              <a:rPr sz="2400" b="1" i="1" spc="-10" dirty="0">
                <a:solidFill>
                  <a:srgbClr val="FF0000"/>
                </a:solidFill>
                <a:latin typeface="HelveticaNeue-BoldItalic"/>
                <a:cs typeface="HelveticaNeue-BoldItalic"/>
              </a:rPr>
              <a:t>Yield </a:t>
            </a:r>
            <a:r>
              <a:rPr sz="2400" b="1" spc="-5" dirty="0">
                <a:solidFill>
                  <a:srgbClr val="FF0000"/>
                </a:solidFill>
                <a:latin typeface="Helvetica"/>
                <a:cs typeface="Helvetica"/>
              </a:rPr>
              <a:t>Is </a:t>
            </a:r>
            <a:r>
              <a:rPr sz="2400" b="1" dirty="0">
                <a:solidFill>
                  <a:srgbClr val="FF0000"/>
                </a:solidFill>
                <a:latin typeface="Helvetica"/>
                <a:cs typeface="Helvetica"/>
              </a:rPr>
              <a:t>too late.  </a:t>
            </a:r>
            <a:r>
              <a:rPr sz="2400" b="1" spc="-5" dirty="0">
                <a:solidFill>
                  <a:srgbClr val="FF0000"/>
                </a:solidFill>
                <a:latin typeface="Helvetica"/>
                <a:cs typeface="Helvetica"/>
              </a:rPr>
              <a:t>Can </a:t>
            </a:r>
            <a:r>
              <a:rPr sz="2400" b="1" spc="10" dirty="0">
                <a:solidFill>
                  <a:srgbClr val="FF0000"/>
                </a:solidFill>
                <a:latin typeface="Helvetica"/>
                <a:cs typeface="Helvetica"/>
              </a:rPr>
              <a:t>we </a:t>
            </a:r>
            <a:r>
              <a:rPr sz="2400" b="1" spc="-5" dirty="0">
                <a:solidFill>
                  <a:srgbClr val="FF0000"/>
                </a:solidFill>
                <a:latin typeface="Helvetica"/>
                <a:cs typeface="Helvetica"/>
              </a:rPr>
              <a:t>predict</a:t>
            </a:r>
            <a:r>
              <a:rPr sz="2400" b="1" spc="-50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sz="2400" b="1" dirty="0">
                <a:solidFill>
                  <a:srgbClr val="FF0000"/>
                </a:solidFill>
                <a:latin typeface="Helvetica"/>
                <a:cs typeface="Helvetica"/>
              </a:rPr>
              <a:t>it?</a:t>
            </a:r>
            <a:endParaRPr sz="2400">
              <a:latin typeface="Helvetica"/>
              <a:cs typeface="Helvetic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215798" y="6399903"/>
            <a:ext cx="470002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13</a:t>
            </a:fld>
            <a:endParaRPr spc="-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298205" y="1526436"/>
            <a:ext cx="2097847" cy="214745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117842" y="2585466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0" y="16001"/>
                </a:moveTo>
                <a:lnTo>
                  <a:pt x="0" y="7112"/>
                </a:lnTo>
                <a:lnTo>
                  <a:pt x="7111" y="0"/>
                </a:lnTo>
                <a:lnTo>
                  <a:pt x="16001" y="0"/>
                </a:lnTo>
                <a:lnTo>
                  <a:pt x="24891" y="0"/>
                </a:lnTo>
                <a:lnTo>
                  <a:pt x="32003" y="7112"/>
                </a:lnTo>
                <a:lnTo>
                  <a:pt x="32003" y="16001"/>
                </a:lnTo>
                <a:lnTo>
                  <a:pt x="32003" y="24892"/>
                </a:lnTo>
                <a:lnTo>
                  <a:pt x="24891" y="32004"/>
                </a:lnTo>
                <a:lnTo>
                  <a:pt x="16001" y="32004"/>
                </a:lnTo>
                <a:lnTo>
                  <a:pt x="7111" y="32004"/>
                </a:lnTo>
                <a:lnTo>
                  <a:pt x="0" y="24892"/>
                </a:lnTo>
                <a:lnTo>
                  <a:pt x="0" y="16001"/>
                </a:lnTo>
                <a:close/>
              </a:path>
            </a:pathLst>
          </a:custGeom>
          <a:ln w="2895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230618" y="2186177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0" y="16001"/>
                </a:moveTo>
                <a:lnTo>
                  <a:pt x="0" y="7112"/>
                </a:lnTo>
                <a:lnTo>
                  <a:pt x="7111" y="0"/>
                </a:lnTo>
                <a:lnTo>
                  <a:pt x="16001" y="0"/>
                </a:lnTo>
                <a:lnTo>
                  <a:pt x="24891" y="0"/>
                </a:lnTo>
                <a:lnTo>
                  <a:pt x="32003" y="7112"/>
                </a:lnTo>
                <a:lnTo>
                  <a:pt x="32003" y="16001"/>
                </a:lnTo>
                <a:lnTo>
                  <a:pt x="32003" y="24892"/>
                </a:lnTo>
                <a:lnTo>
                  <a:pt x="24891" y="32004"/>
                </a:lnTo>
                <a:lnTo>
                  <a:pt x="16001" y="32004"/>
                </a:lnTo>
                <a:lnTo>
                  <a:pt x="7111" y="32004"/>
                </a:lnTo>
                <a:lnTo>
                  <a:pt x="0" y="24892"/>
                </a:lnTo>
                <a:lnTo>
                  <a:pt x="0" y="16001"/>
                </a:lnTo>
                <a:close/>
              </a:path>
            </a:pathLst>
          </a:custGeom>
          <a:ln w="2895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312914" y="2212085"/>
            <a:ext cx="30480" cy="32384"/>
          </a:xfrm>
          <a:custGeom>
            <a:avLst/>
            <a:gdLst/>
            <a:ahLst/>
            <a:cxnLst/>
            <a:rect l="l" t="t" r="r" b="b"/>
            <a:pathLst>
              <a:path w="30479" h="32385">
                <a:moveTo>
                  <a:pt x="0" y="16001"/>
                </a:moveTo>
                <a:lnTo>
                  <a:pt x="0" y="7112"/>
                </a:lnTo>
                <a:lnTo>
                  <a:pt x="6857" y="0"/>
                </a:lnTo>
                <a:lnTo>
                  <a:pt x="15239" y="0"/>
                </a:lnTo>
                <a:lnTo>
                  <a:pt x="23621" y="0"/>
                </a:lnTo>
                <a:lnTo>
                  <a:pt x="30479" y="7112"/>
                </a:lnTo>
                <a:lnTo>
                  <a:pt x="30479" y="16001"/>
                </a:lnTo>
                <a:lnTo>
                  <a:pt x="30479" y="24891"/>
                </a:lnTo>
                <a:lnTo>
                  <a:pt x="23621" y="32003"/>
                </a:lnTo>
                <a:lnTo>
                  <a:pt x="15239" y="32003"/>
                </a:lnTo>
                <a:lnTo>
                  <a:pt x="6857" y="32003"/>
                </a:lnTo>
                <a:lnTo>
                  <a:pt x="0" y="24891"/>
                </a:lnTo>
                <a:lnTo>
                  <a:pt x="0" y="16001"/>
                </a:lnTo>
                <a:close/>
              </a:path>
            </a:pathLst>
          </a:custGeom>
          <a:ln w="2895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549133" y="3042666"/>
            <a:ext cx="30480" cy="32384"/>
          </a:xfrm>
          <a:custGeom>
            <a:avLst/>
            <a:gdLst/>
            <a:ahLst/>
            <a:cxnLst/>
            <a:rect l="l" t="t" r="r" b="b"/>
            <a:pathLst>
              <a:path w="30479" h="32385">
                <a:moveTo>
                  <a:pt x="0" y="16001"/>
                </a:moveTo>
                <a:lnTo>
                  <a:pt x="0" y="7112"/>
                </a:lnTo>
                <a:lnTo>
                  <a:pt x="6858" y="0"/>
                </a:lnTo>
                <a:lnTo>
                  <a:pt x="15240" y="0"/>
                </a:lnTo>
                <a:lnTo>
                  <a:pt x="23622" y="0"/>
                </a:lnTo>
                <a:lnTo>
                  <a:pt x="30480" y="7112"/>
                </a:lnTo>
                <a:lnTo>
                  <a:pt x="30480" y="16001"/>
                </a:lnTo>
                <a:lnTo>
                  <a:pt x="30480" y="24892"/>
                </a:lnTo>
                <a:lnTo>
                  <a:pt x="23622" y="32004"/>
                </a:lnTo>
                <a:lnTo>
                  <a:pt x="15240" y="32004"/>
                </a:lnTo>
                <a:lnTo>
                  <a:pt x="6858" y="32004"/>
                </a:lnTo>
                <a:lnTo>
                  <a:pt x="0" y="24892"/>
                </a:lnTo>
                <a:lnTo>
                  <a:pt x="0" y="16001"/>
                </a:lnTo>
                <a:close/>
              </a:path>
            </a:pathLst>
          </a:custGeom>
          <a:ln w="2895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750314" y="164414"/>
            <a:ext cx="55118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0B050"/>
                </a:solidFill>
                <a:latin typeface="Arial"/>
                <a:cs typeface="Arial"/>
              </a:rPr>
              <a:t>Yield Estimation (Simple)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8"/>
              <p:cNvSpPr txBox="1"/>
              <p:nvPr/>
            </p:nvSpPr>
            <p:spPr>
              <a:xfrm>
                <a:off x="230225" y="4619625"/>
                <a:ext cx="5117465" cy="679673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355600" indent="-342900">
                  <a:lnSpc>
                    <a:spcPct val="100000"/>
                  </a:lnSpc>
                  <a:spcBef>
                    <a:spcPts val="100"/>
                  </a:spcBef>
                  <a:buClr>
                    <a:srgbClr val="FF0000"/>
                  </a:buClr>
                  <a:buSzPct val="120000"/>
                  <a:buFont typeface="Arial"/>
                  <a:buChar char="•"/>
                  <a:tabLst>
                    <a:tab pos="354965" algn="l"/>
                    <a:tab pos="355600" algn="l"/>
                  </a:tabLst>
                </a:pPr>
                <a:r>
                  <a:rPr sz="2000" b="1" i="1" dirty="0">
                    <a:solidFill>
                      <a:srgbClr val="0000FF"/>
                    </a:solidFill>
                    <a:latin typeface="Arial-BoldItalicMT"/>
                    <a:cs typeface="Arial-BoldItalicMT"/>
                  </a:rPr>
                  <a:t>A </a:t>
                </a:r>
                <a:r>
                  <a:rPr sz="2000" b="1" dirty="0">
                    <a:solidFill>
                      <a:srgbClr val="0000FF"/>
                    </a:solidFill>
                    <a:latin typeface="Arial"/>
                    <a:cs typeface="Arial"/>
                  </a:rPr>
                  <a:t>= die area, </a:t>
                </a:r>
                <a:r>
                  <a:rPr sz="2000" b="1" i="1" dirty="0">
                    <a:solidFill>
                      <a:srgbClr val="0000FF"/>
                    </a:solidFill>
                    <a:latin typeface="Arial-BoldItalicMT"/>
                    <a:cs typeface="Arial-BoldItalicMT"/>
                  </a:rPr>
                  <a:t>D </a:t>
                </a:r>
                <a:r>
                  <a:rPr sz="2000" b="1" dirty="0">
                    <a:solidFill>
                      <a:srgbClr val="0000FF"/>
                    </a:solidFill>
                    <a:latin typeface="Arial"/>
                    <a:cs typeface="Arial"/>
                  </a:rPr>
                  <a:t>= defect</a:t>
                </a:r>
                <a:r>
                  <a:rPr sz="2000" b="1" spc="-135" dirty="0">
                    <a:solidFill>
                      <a:srgbClr val="0000FF"/>
                    </a:solidFill>
                    <a:latin typeface="Arial"/>
                    <a:cs typeface="Arial"/>
                  </a:rPr>
                  <a:t> </a:t>
                </a:r>
                <a:r>
                  <a:rPr sz="2000" b="1" dirty="0">
                    <a:solidFill>
                      <a:srgbClr val="0000FF"/>
                    </a:solidFill>
                    <a:latin typeface="Arial"/>
                    <a:cs typeface="Arial"/>
                  </a:rPr>
                  <a:t>density</a:t>
                </a:r>
                <a:endParaRPr sz="2000" dirty="0">
                  <a:latin typeface="Arial"/>
                  <a:cs typeface="Arial"/>
                </a:endParaRPr>
              </a:p>
              <a:p>
                <a:pPr marL="355600" indent="-342900">
                  <a:lnSpc>
                    <a:spcPct val="100000"/>
                  </a:lnSpc>
                  <a:spcBef>
                    <a:spcPts val="384"/>
                  </a:spcBef>
                  <a:buClr>
                    <a:srgbClr val="FF0000"/>
                  </a:buClr>
                  <a:buSzPct val="114285"/>
                  <a:buFont typeface="Arial"/>
                  <a:buChar char="•"/>
                  <a:tabLst>
                    <a:tab pos="354965" algn="l"/>
                    <a:tab pos="355600" algn="l"/>
                  </a:tabLst>
                </a:pP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cs typeface="Arial-BoldItalicMT"/>
                      </a:rPr>
                      <m:t>𝝀</m:t>
                    </m:r>
                  </m:oMath>
                </a14:m>
                <a:r>
                  <a:rPr lang="en-US" sz="2000" b="1" i="1" dirty="0">
                    <a:solidFill>
                      <a:srgbClr val="0000FF"/>
                    </a:solidFill>
                    <a:latin typeface="Arial-BoldItalicMT"/>
                    <a:cs typeface="Arial-BoldItalicMT"/>
                  </a:rPr>
                  <a:t> </a:t>
                </a:r>
                <a:r>
                  <a:rPr sz="2000" b="1" i="1" dirty="0">
                    <a:solidFill>
                      <a:srgbClr val="0000FF"/>
                    </a:solidFill>
                    <a:latin typeface="Arial-BoldItalicMT"/>
                    <a:cs typeface="Arial-BoldItalicMT"/>
                  </a:rPr>
                  <a:t>= AD </a:t>
                </a:r>
                <a:r>
                  <a:rPr sz="2000" b="1" dirty="0">
                    <a:solidFill>
                      <a:srgbClr val="0000FF"/>
                    </a:solidFill>
                    <a:latin typeface="Arial"/>
                    <a:cs typeface="Arial"/>
                  </a:rPr>
                  <a:t>= </a:t>
                </a:r>
                <a:r>
                  <a:rPr sz="2000" b="1" spc="-5" dirty="0">
                    <a:solidFill>
                      <a:srgbClr val="0000FF"/>
                    </a:solidFill>
                    <a:latin typeface="Arial"/>
                    <a:cs typeface="Arial"/>
                  </a:rPr>
                  <a:t>ave. </a:t>
                </a:r>
                <a:r>
                  <a:rPr sz="2000" b="1" dirty="0">
                    <a:solidFill>
                      <a:srgbClr val="0000FF"/>
                    </a:solidFill>
                    <a:latin typeface="Arial"/>
                    <a:cs typeface="Arial"/>
                  </a:rPr>
                  <a:t>number of defects per</a:t>
                </a:r>
                <a:r>
                  <a:rPr sz="2000" b="1" spc="-120" dirty="0">
                    <a:solidFill>
                      <a:srgbClr val="0000FF"/>
                    </a:solidFill>
                    <a:latin typeface="Arial"/>
                    <a:cs typeface="Arial"/>
                  </a:rPr>
                  <a:t> </a:t>
                </a:r>
                <a:r>
                  <a:rPr sz="2000" b="1" spc="-100" dirty="0">
                    <a:solidFill>
                      <a:srgbClr val="0000FF"/>
                    </a:solidFill>
                    <a:latin typeface="Arial"/>
                    <a:cs typeface="Arial"/>
                  </a:rPr>
                  <a:t>die</a:t>
                </a:r>
                <a:endParaRPr sz="2000" dirty="0"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8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225" y="4619625"/>
                <a:ext cx="5117465" cy="679673"/>
              </a:xfrm>
              <a:prstGeom prst="rect">
                <a:avLst/>
              </a:prstGeom>
              <a:blipFill>
                <a:blip r:embed="rId4"/>
                <a:stretch>
                  <a:fillRect l="-3226" t="-16364" r="-1737" b="-2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10"/>
              <p:cNvSpPr txBox="1"/>
              <p:nvPr/>
            </p:nvSpPr>
            <p:spPr>
              <a:xfrm>
                <a:off x="217525" y="888265"/>
                <a:ext cx="8697595" cy="1497205"/>
              </a:xfrm>
              <a:prstGeom prst="rect">
                <a:avLst/>
              </a:prstGeom>
            </p:spPr>
            <p:txBody>
              <a:bodyPr vert="horz" wrap="square" lIns="0" tIns="73025" rIns="0" bIns="0" rtlCol="0">
                <a:spAutoFit/>
              </a:bodyPr>
              <a:lstStyle/>
              <a:p>
                <a:pPr marL="368300" indent="-342900">
                  <a:lnSpc>
                    <a:spcPct val="100000"/>
                  </a:lnSpc>
                  <a:spcBef>
                    <a:spcPts val="575"/>
                  </a:spcBef>
                  <a:buClr>
                    <a:srgbClr val="FF0000"/>
                  </a:buClr>
                  <a:buSzPct val="120000"/>
                  <a:buFont typeface="Arial"/>
                  <a:buChar char="•"/>
                  <a:tabLst>
                    <a:tab pos="367665" algn="l"/>
                    <a:tab pos="368300" algn="l"/>
                  </a:tabLst>
                </a:pPr>
                <a:r>
                  <a:rPr sz="2000" b="1" dirty="0">
                    <a:latin typeface="Arial"/>
                    <a:cs typeface="Arial"/>
                  </a:rPr>
                  <a:t>Number of defects </a:t>
                </a:r>
                <a:r>
                  <a:rPr sz="2000" b="1" i="1" dirty="0">
                    <a:solidFill>
                      <a:srgbClr val="0000FF"/>
                    </a:solidFill>
                    <a:latin typeface="TimesNewRomanPS-BoldItalicMT"/>
                    <a:cs typeface="TimesNewRomanPS-BoldItalicMT"/>
                  </a:rPr>
                  <a:t>k </a:t>
                </a:r>
                <a:r>
                  <a:rPr sz="2000" b="1" dirty="0">
                    <a:latin typeface="Arial"/>
                    <a:cs typeface="Arial"/>
                  </a:rPr>
                  <a:t>on a die </a:t>
                </a:r>
                <a:r>
                  <a:rPr sz="2000" b="1" spc="-5" dirty="0">
                    <a:latin typeface="Arial"/>
                    <a:cs typeface="Arial"/>
                  </a:rPr>
                  <a:t>obeys </a:t>
                </a:r>
                <a:r>
                  <a:rPr sz="2000" b="1" i="1" dirty="0">
                    <a:solidFill>
                      <a:srgbClr val="0000FF"/>
                    </a:solidFill>
                    <a:latin typeface="Arial-BoldItalicMT"/>
                    <a:cs typeface="Arial-BoldItalicMT"/>
                  </a:rPr>
                  <a:t>Poisson distribution </a:t>
                </a:r>
                <a:r>
                  <a:rPr sz="2000" b="1" dirty="0">
                    <a:latin typeface="Arial"/>
                    <a:cs typeface="Arial"/>
                  </a:rPr>
                  <a:t>with mean</a:t>
                </a:r>
                <a:r>
                  <a:rPr lang="en-US" sz="2000" b="1" dirty="0">
                    <a:latin typeface="Arial"/>
                    <a:cs typeface="Arial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/>
                      </a:rPr>
                      <m:t>𝝀</m:t>
                    </m:r>
                  </m:oMath>
                </a14:m>
                <a:endParaRPr lang="en-US" sz="2100" dirty="0">
                  <a:latin typeface="Arial-BoldItalicMT"/>
                  <a:cs typeface="Arial-BoldItalicMT"/>
                </a:endParaRPr>
              </a:p>
              <a:p>
                <a:pPr marL="768985" lvl="1" indent="-287020">
                  <a:lnSpc>
                    <a:spcPct val="100000"/>
                  </a:lnSpc>
                  <a:spcBef>
                    <a:spcPts val="450"/>
                  </a:spcBef>
                  <a:buClr>
                    <a:srgbClr val="FF0000"/>
                  </a:buClr>
                  <a:buSzPct val="75000"/>
                  <a:buFont typeface="Arial"/>
                  <a:buChar char="◆"/>
                  <a:tabLst>
                    <a:tab pos="768985" algn="l"/>
                    <a:tab pos="769620" algn="l"/>
                  </a:tabLst>
                </a:pPr>
                <a:r>
                  <a:rPr lang="en-US" sz="2000" b="1" i="1" dirty="0">
                    <a:solidFill>
                      <a:srgbClr val="0000FF"/>
                    </a:solidFill>
                    <a:latin typeface="TimesNewRomanPS-BoldItalicMT"/>
                    <a:cs typeface="TimesNewRomanPS-BoldItalicMT"/>
                  </a:rPr>
                  <a:t>Prob(k) </a:t>
                </a:r>
                <a:r>
                  <a:rPr lang="en-US" sz="2000" b="1" i="1" dirty="0">
                    <a:latin typeface="Arial-BoldItalicMT"/>
                    <a:cs typeface="Arial-BoldItalicMT"/>
                  </a:rPr>
                  <a:t>= </a:t>
                </a:r>
                <a:r>
                  <a:rPr lang="en-US" sz="2000" b="1" dirty="0">
                    <a:latin typeface="Arial"/>
                    <a:cs typeface="Arial"/>
                  </a:rPr>
                  <a:t>prob exactly </a:t>
                </a:r>
                <a:r>
                  <a:rPr lang="en-US" sz="2000" b="1" i="1" dirty="0">
                    <a:latin typeface="TimesNewRomanPS-BoldItalicMT"/>
                    <a:cs typeface="TimesNewRomanPS-BoldItalicMT"/>
                  </a:rPr>
                  <a:t>k </a:t>
                </a:r>
                <a:r>
                  <a:rPr lang="en-US" sz="2000" b="1" dirty="0">
                    <a:latin typeface="Arial"/>
                    <a:cs typeface="Arial"/>
                  </a:rPr>
                  <a:t>defects on a</a:t>
                </a:r>
                <a:r>
                  <a:rPr lang="en-US" sz="2000" b="1" spc="-45" dirty="0">
                    <a:latin typeface="Arial"/>
                    <a:cs typeface="Arial"/>
                  </a:rPr>
                  <a:t> </a:t>
                </a:r>
                <a:r>
                  <a:rPr lang="en-US" sz="2000" b="1" dirty="0">
                    <a:latin typeface="Arial"/>
                    <a:cs typeface="Arial"/>
                  </a:rPr>
                  <a:t>die</a:t>
                </a:r>
                <a:endParaRPr lang="en-US" sz="2000" dirty="0">
                  <a:latin typeface="Arial"/>
                  <a:cs typeface="Arial"/>
                </a:endParaRPr>
              </a:p>
              <a:p>
                <a:pPr marL="768985" lvl="1" indent="-287020">
                  <a:lnSpc>
                    <a:spcPct val="100000"/>
                  </a:lnSpc>
                  <a:spcBef>
                    <a:spcPts val="480"/>
                  </a:spcBef>
                  <a:buClr>
                    <a:srgbClr val="FF0000"/>
                  </a:buClr>
                  <a:buSzPct val="75000"/>
                  <a:buFont typeface="Arial"/>
                  <a:buChar char="◆"/>
                  <a:tabLst>
                    <a:tab pos="768985" algn="l"/>
                    <a:tab pos="769620" algn="l"/>
                  </a:tabLst>
                </a:pPr>
                <a:r>
                  <a:rPr sz="2000" b="1" dirty="0">
                    <a:latin typeface="Arial"/>
                    <a:cs typeface="Arial"/>
                  </a:rPr>
                  <a:t>A </a:t>
                </a:r>
                <a:r>
                  <a:rPr sz="2000" b="1" spc="-5" dirty="0">
                    <a:latin typeface="Arial"/>
                    <a:cs typeface="Arial"/>
                  </a:rPr>
                  <a:t>die </a:t>
                </a:r>
                <a:r>
                  <a:rPr sz="2000" b="1" dirty="0">
                    <a:latin typeface="Arial"/>
                    <a:cs typeface="Arial"/>
                  </a:rPr>
                  <a:t>is good </a:t>
                </a:r>
                <a:r>
                  <a:rPr sz="2000" b="1" spc="15" dirty="0">
                    <a:latin typeface="Arial"/>
                    <a:cs typeface="Arial"/>
                  </a:rPr>
                  <a:t>when</a:t>
                </a:r>
                <a:r>
                  <a:rPr sz="2000" b="1" spc="-110" dirty="0">
                    <a:latin typeface="Arial"/>
                    <a:cs typeface="Arial"/>
                  </a:rPr>
                  <a:t> </a:t>
                </a:r>
                <a:r>
                  <a:rPr sz="2000" b="1" i="1" dirty="0">
                    <a:latin typeface="TimesNewRomanPS-BoldItalicMT"/>
                    <a:cs typeface="TimesNewRomanPS-BoldItalicMT"/>
                  </a:rPr>
                  <a:t>k</a:t>
                </a:r>
                <a:r>
                  <a:rPr sz="2000" b="1" dirty="0">
                    <a:latin typeface="Arial"/>
                    <a:cs typeface="Arial"/>
                  </a:rPr>
                  <a:t>=0</a:t>
                </a:r>
                <a:endParaRPr sz="2000" dirty="0">
                  <a:latin typeface="Arial"/>
                  <a:cs typeface="Arial"/>
                </a:endParaRPr>
              </a:p>
              <a:p>
                <a:pPr marL="768985" lvl="1" indent="-287020">
                  <a:lnSpc>
                    <a:spcPts val="2385"/>
                  </a:lnSpc>
                  <a:spcBef>
                    <a:spcPts val="480"/>
                  </a:spcBef>
                  <a:buClr>
                    <a:srgbClr val="FF0000"/>
                  </a:buClr>
                  <a:buSzPct val="75000"/>
                  <a:buFont typeface="Arial"/>
                  <a:buChar char="◆"/>
                  <a:tabLst>
                    <a:tab pos="768985" algn="l"/>
                    <a:tab pos="769620" algn="l"/>
                  </a:tabLst>
                </a:pPr>
                <a:r>
                  <a:rPr sz="2000" b="1" dirty="0">
                    <a:latin typeface="Arial"/>
                    <a:cs typeface="Arial"/>
                  </a:rPr>
                  <a:t>Yield </a:t>
                </a:r>
                <a:r>
                  <a:rPr sz="2000" b="1" i="1" dirty="0">
                    <a:latin typeface="Arial-BoldItalicMT"/>
                    <a:cs typeface="Arial-BoldItalicMT"/>
                  </a:rPr>
                  <a:t>=</a:t>
                </a:r>
                <a:r>
                  <a:rPr sz="2000" b="1" i="1" spc="-110" dirty="0">
                    <a:latin typeface="Arial-BoldItalicMT"/>
                    <a:cs typeface="Arial-BoldItalicMT"/>
                  </a:rPr>
                  <a:t> </a:t>
                </a:r>
                <a:r>
                  <a:rPr sz="2000" b="1" i="1" dirty="0">
                    <a:latin typeface="TimesNewRomanPS-BoldItalicMT"/>
                    <a:cs typeface="TimesNewRomanPS-BoldItalicMT"/>
                  </a:rPr>
                  <a:t>Prob(k=0)</a:t>
                </a:r>
                <a:endParaRPr sz="2000" dirty="0">
                  <a:latin typeface="TimesNewRomanPS-BoldItalicMT"/>
                  <a:cs typeface="TimesNewRomanPS-BoldItalicMT"/>
                </a:endParaRPr>
              </a:p>
            </p:txBody>
          </p:sp>
        </mc:Choice>
        <mc:Fallback xmlns="">
          <p:sp>
            <p:nvSpPr>
              <p:cNvPr id="10" name="objec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525" y="888265"/>
                <a:ext cx="8697595" cy="1497205"/>
              </a:xfrm>
              <a:prstGeom prst="rect">
                <a:avLst/>
              </a:prstGeom>
              <a:blipFill>
                <a:blip r:embed="rId5"/>
                <a:stretch>
                  <a:fillRect l="-1752" t="-4237" r="-730" b="-93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object 18"/>
          <p:cNvSpPr/>
          <p:nvPr/>
        </p:nvSpPr>
        <p:spPr>
          <a:xfrm>
            <a:off x="7773923" y="2269235"/>
            <a:ext cx="76200" cy="7315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7542276" y="2974848"/>
            <a:ext cx="76200" cy="7467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7576636" y="5435523"/>
            <a:ext cx="1042669" cy="0"/>
          </a:xfrm>
          <a:custGeom>
            <a:avLst/>
            <a:gdLst/>
            <a:ahLst/>
            <a:cxnLst/>
            <a:rect l="l" t="t" r="r" b="b"/>
            <a:pathLst>
              <a:path w="1042670">
                <a:moveTo>
                  <a:pt x="0" y="0"/>
                </a:moveTo>
                <a:lnTo>
                  <a:pt x="1042600" y="0"/>
                </a:lnTo>
              </a:path>
            </a:pathLst>
          </a:custGeom>
          <a:ln w="7071">
            <a:solidFill>
              <a:srgbClr val="8585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7264617" y="5435523"/>
            <a:ext cx="190500" cy="0"/>
          </a:xfrm>
          <a:custGeom>
            <a:avLst/>
            <a:gdLst/>
            <a:ahLst/>
            <a:cxnLst/>
            <a:rect l="l" t="t" r="r" b="b"/>
            <a:pathLst>
              <a:path w="190500">
                <a:moveTo>
                  <a:pt x="0" y="0"/>
                </a:moveTo>
                <a:lnTo>
                  <a:pt x="190255" y="0"/>
                </a:lnTo>
              </a:path>
            </a:pathLst>
          </a:custGeom>
          <a:ln w="7071">
            <a:solidFill>
              <a:srgbClr val="8585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6952598" y="5435523"/>
            <a:ext cx="182880" cy="0"/>
          </a:xfrm>
          <a:custGeom>
            <a:avLst/>
            <a:gdLst/>
            <a:ahLst/>
            <a:cxnLst/>
            <a:rect l="l" t="t" r="r" b="b"/>
            <a:pathLst>
              <a:path w="182879">
                <a:moveTo>
                  <a:pt x="0" y="0"/>
                </a:moveTo>
                <a:lnTo>
                  <a:pt x="182645" y="0"/>
                </a:lnTo>
              </a:path>
            </a:pathLst>
          </a:custGeom>
          <a:ln w="7071">
            <a:solidFill>
              <a:srgbClr val="8585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6632969" y="5435523"/>
            <a:ext cx="190500" cy="0"/>
          </a:xfrm>
          <a:custGeom>
            <a:avLst/>
            <a:gdLst/>
            <a:ahLst/>
            <a:cxnLst/>
            <a:rect l="l" t="t" r="r" b="b"/>
            <a:pathLst>
              <a:path w="190500">
                <a:moveTo>
                  <a:pt x="0" y="0"/>
                </a:moveTo>
                <a:lnTo>
                  <a:pt x="190255" y="0"/>
                </a:lnTo>
              </a:path>
            </a:pathLst>
          </a:custGeom>
          <a:ln w="7071">
            <a:solidFill>
              <a:srgbClr val="8585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6320950" y="5435523"/>
            <a:ext cx="190500" cy="0"/>
          </a:xfrm>
          <a:custGeom>
            <a:avLst/>
            <a:gdLst/>
            <a:ahLst/>
            <a:cxnLst/>
            <a:rect l="l" t="t" r="r" b="b"/>
            <a:pathLst>
              <a:path w="190500">
                <a:moveTo>
                  <a:pt x="0" y="0"/>
                </a:moveTo>
                <a:lnTo>
                  <a:pt x="190255" y="0"/>
                </a:lnTo>
              </a:path>
            </a:pathLst>
          </a:custGeom>
          <a:ln w="7071">
            <a:solidFill>
              <a:srgbClr val="8585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6100253" y="5435523"/>
            <a:ext cx="91440" cy="0"/>
          </a:xfrm>
          <a:custGeom>
            <a:avLst/>
            <a:gdLst/>
            <a:ahLst/>
            <a:cxnLst/>
            <a:rect l="l" t="t" r="r" b="b"/>
            <a:pathLst>
              <a:path w="91439">
                <a:moveTo>
                  <a:pt x="0" y="0"/>
                </a:moveTo>
                <a:lnTo>
                  <a:pt x="91322" y="0"/>
                </a:lnTo>
              </a:path>
            </a:pathLst>
          </a:custGeom>
          <a:ln w="7071">
            <a:solidFill>
              <a:srgbClr val="8585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7264617" y="5131444"/>
            <a:ext cx="1355090" cy="0"/>
          </a:xfrm>
          <a:custGeom>
            <a:avLst/>
            <a:gdLst/>
            <a:ahLst/>
            <a:cxnLst/>
            <a:rect l="l" t="t" r="r" b="b"/>
            <a:pathLst>
              <a:path w="1355090">
                <a:moveTo>
                  <a:pt x="0" y="0"/>
                </a:moveTo>
                <a:lnTo>
                  <a:pt x="1354619" y="0"/>
                </a:lnTo>
              </a:path>
            </a:pathLst>
          </a:custGeom>
          <a:ln w="7071">
            <a:solidFill>
              <a:srgbClr val="8585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6952598" y="5131444"/>
            <a:ext cx="182880" cy="0"/>
          </a:xfrm>
          <a:custGeom>
            <a:avLst/>
            <a:gdLst/>
            <a:ahLst/>
            <a:cxnLst/>
            <a:rect l="l" t="t" r="r" b="b"/>
            <a:pathLst>
              <a:path w="182879">
                <a:moveTo>
                  <a:pt x="0" y="0"/>
                </a:moveTo>
                <a:lnTo>
                  <a:pt x="182645" y="0"/>
                </a:lnTo>
              </a:path>
            </a:pathLst>
          </a:custGeom>
          <a:ln w="7071">
            <a:solidFill>
              <a:srgbClr val="8585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6632969" y="5131444"/>
            <a:ext cx="190500" cy="0"/>
          </a:xfrm>
          <a:custGeom>
            <a:avLst/>
            <a:gdLst/>
            <a:ahLst/>
            <a:cxnLst/>
            <a:rect l="l" t="t" r="r" b="b"/>
            <a:pathLst>
              <a:path w="190500">
                <a:moveTo>
                  <a:pt x="0" y="0"/>
                </a:moveTo>
                <a:lnTo>
                  <a:pt x="190255" y="0"/>
                </a:lnTo>
              </a:path>
            </a:pathLst>
          </a:custGeom>
          <a:ln w="7071">
            <a:solidFill>
              <a:srgbClr val="8585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6320950" y="5131444"/>
            <a:ext cx="190500" cy="0"/>
          </a:xfrm>
          <a:custGeom>
            <a:avLst/>
            <a:gdLst/>
            <a:ahLst/>
            <a:cxnLst/>
            <a:rect l="l" t="t" r="r" b="b"/>
            <a:pathLst>
              <a:path w="190500">
                <a:moveTo>
                  <a:pt x="0" y="0"/>
                </a:moveTo>
                <a:lnTo>
                  <a:pt x="190255" y="0"/>
                </a:lnTo>
              </a:path>
            </a:pathLst>
          </a:custGeom>
          <a:ln w="7071">
            <a:solidFill>
              <a:srgbClr val="8585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6100253" y="5131444"/>
            <a:ext cx="91440" cy="0"/>
          </a:xfrm>
          <a:custGeom>
            <a:avLst/>
            <a:gdLst/>
            <a:ahLst/>
            <a:cxnLst/>
            <a:rect l="l" t="t" r="r" b="b"/>
            <a:pathLst>
              <a:path w="91439">
                <a:moveTo>
                  <a:pt x="0" y="0"/>
                </a:moveTo>
                <a:lnTo>
                  <a:pt x="91322" y="0"/>
                </a:lnTo>
              </a:path>
            </a:pathLst>
          </a:custGeom>
          <a:ln w="7071">
            <a:solidFill>
              <a:srgbClr val="8585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7264617" y="4834435"/>
            <a:ext cx="1355090" cy="0"/>
          </a:xfrm>
          <a:custGeom>
            <a:avLst/>
            <a:gdLst/>
            <a:ahLst/>
            <a:cxnLst/>
            <a:rect l="l" t="t" r="r" b="b"/>
            <a:pathLst>
              <a:path w="1355090">
                <a:moveTo>
                  <a:pt x="0" y="0"/>
                </a:moveTo>
                <a:lnTo>
                  <a:pt x="1354619" y="0"/>
                </a:lnTo>
              </a:path>
            </a:pathLst>
          </a:custGeom>
          <a:ln w="7071">
            <a:solidFill>
              <a:srgbClr val="8585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6952598" y="4834435"/>
            <a:ext cx="182880" cy="0"/>
          </a:xfrm>
          <a:custGeom>
            <a:avLst/>
            <a:gdLst/>
            <a:ahLst/>
            <a:cxnLst/>
            <a:rect l="l" t="t" r="r" b="b"/>
            <a:pathLst>
              <a:path w="182879">
                <a:moveTo>
                  <a:pt x="0" y="0"/>
                </a:moveTo>
                <a:lnTo>
                  <a:pt x="182645" y="0"/>
                </a:lnTo>
              </a:path>
            </a:pathLst>
          </a:custGeom>
          <a:ln w="7071">
            <a:solidFill>
              <a:srgbClr val="8585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6632969" y="4834435"/>
            <a:ext cx="190500" cy="0"/>
          </a:xfrm>
          <a:custGeom>
            <a:avLst/>
            <a:gdLst/>
            <a:ahLst/>
            <a:cxnLst/>
            <a:rect l="l" t="t" r="r" b="b"/>
            <a:pathLst>
              <a:path w="190500">
                <a:moveTo>
                  <a:pt x="0" y="0"/>
                </a:moveTo>
                <a:lnTo>
                  <a:pt x="190255" y="0"/>
                </a:lnTo>
              </a:path>
            </a:pathLst>
          </a:custGeom>
          <a:ln w="7071">
            <a:solidFill>
              <a:srgbClr val="8585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6100253" y="4834435"/>
            <a:ext cx="411480" cy="0"/>
          </a:xfrm>
          <a:custGeom>
            <a:avLst/>
            <a:gdLst/>
            <a:ahLst/>
            <a:cxnLst/>
            <a:rect l="l" t="t" r="r" b="b"/>
            <a:pathLst>
              <a:path w="411479">
                <a:moveTo>
                  <a:pt x="0" y="0"/>
                </a:moveTo>
                <a:lnTo>
                  <a:pt x="410951" y="0"/>
                </a:lnTo>
              </a:path>
            </a:pathLst>
          </a:custGeom>
          <a:ln w="7071">
            <a:solidFill>
              <a:srgbClr val="8585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6952598" y="4530356"/>
            <a:ext cx="1666875" cy="0"/>
          </a:xfrm>
          <a:custGeom>
            <a:avLst/>
            <a:gdLst/>
            <a:ahLst/>
            <a:cxnLst/>
            <a:rect l="l" t="t" r="r" b="b"/>
            <a:pathLst>
              <a:path w="1666875">
                <a:moveTo>
                  <a:pt x="0" y="0"/>
                </a:moveTo>
                <a:lnTo>
                  <a:pt x="1666638" y="0"/>
                </a:lnTo>
              </a:path>
            </a:pathLst>
          </a:custGeom>
          <a:ln w="7071">
            <a:solidFill>
              <a:srgbClr val="8585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6632969" y="4530356"/>
            <a:ext cx="190500" cy="0"/>
          </a:xfrm>
          <a:custGeom>
            <a:avLst/>
            <a:gdLst/>
            <a:ahLst/>
            <a:cxnLst/>
            <a:rect l="l" t="t" r="r" b="b"/>
            <a:pathLst>
              <a:path w="190500">
                <a:moveTo>
                  <a:pt x="0" y="0"/>
                </a:moveTo>
                <a:lnTo>
                  <a:pt x="190255" y="0"/>
                </a:lnTo>
              </a:path>
            </a:pathLst>
          </a:custGeom>
          <a:ln w="7071">
            <a:solidFill>
              <a:srgbClr val="8585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6100253" y="4530356"/>
            <a:ext cx="411480" cy="0"/>
          </a:xfrm>
          <a:custGeom>
            <a:avLst/>
            <a:gdLst/>
            <a:ahLst/>
            <a:cxnLst/>
            <a:rect l="l" t="t" r="r" b="b"/>
            <a:pathLst>
              <a:path w="411479">
                <a:moveTo>
                  <a:pt x="0" y="0"/>
                </a:moveTo>
                <a:lnTo>
                  <a:pt x="410952" y="0"/>
                </a:lnTo>
              </a:path>
            </a:pathLst>
          </a:custGeom>
          <a:ln w="7071">
            <a:solidFill>
              <a:srgbClr val="8585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6952598" y="4233348"/>
            <a:ext cx="1666875" cy="0"/>
          </a:xfrm>
          <a:custGeom>
            <a:avLst/>
            <a:gdLst/>
            <a:ahLst/>
            <a:cxnLst/>
            <a:rect l="l" t="t" r="r" b="b"/>
            <a:pathLst>
              <a:path w="1666875">
                <a:moveTo>
                  <a:pt x="0" y="0"/>
                </a:moveTo>
                <a:lnTo>
                  <a:pt x="1666638" y="0"/>
                </a:lnTo>
              </a:path>
            </a:pathLst>
          </a:custGeom>
          <a:ln w="7071">
            <a:solidFill>
              <a:srgbClr val="8585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6632969" y="4233348"/>
            <a:ext cx="190500" cy="0"/>
          </a:xfrm>
          <a:custGeom>
            <a:avLst/>
            <a:gdLst/>
            <a:ahLst/>
            <a:cxnLst/>
            <a:rect l="l" t="t" r="r" b="b"/>
            <a:pathLst>
              <a:path w="190500">
                <a:moveTo>
                  <a:pt x="0" y="0"/>
                </a:moveTo>
                <a:lnTo>
                  <a:pt x="190255" y="0"/>
                </a:lnTo>
              </a:path>
            </a:pathLst>
          </a:custGeom>
          <a:ln w="7071">
            <a:solidFill>
              <a:srgbClr val="8585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6100253" y="4233348"/>
            <a:ext cx="411480" cy="0"/>
          </a:xfrm>
          <a:custGeom>
            <a:avLst/>
            <a:gdLst/>
            <a:ahLst/>
            <a:cxnLst/>
            <a:rect l="l" t="t" r="r" b="b"/>
            <a:pathLst>
              <a:path w="411479">
                <a:moveTo>
                  <a:pt x="0" y="0"/>
                </a:moveTo>
                <a:lnTo>
                  <a:pt x="410952" y="0"/>
                </a:lnTo>
              </a:path>
            </a:pathLst>
          </a:custGeom>
          <a:ln w="7071">
            <a:solidFill>
              <a:srgbClr val="8585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6100253" y="3929268"/>
            <a:ext cx="2519045" cy="0"/>
          </a:xfrm>
          <a:custGeom>
            <a:avLst/>
            <a:gdLst/>
            <a:ahLst/>
            <a:cxnLst/>
            <a:rect l="l" t="t" r="r" b="b"/>
            <a:pathLst>
              <a:path w="2519045">
                <a:moveTo>
                  <a:pt x="0" y="0"/>
                </a:moveTo>
                <a:lnTo>
                  <a:pt x="2518983" y="0"/>
                </a:lnTo>
              </a:path>
            </a:pathLst>
          </a:custGeom>
          <a:ln w="7071">
            <a:solidFill>
              <a:srgbClr val="8585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6191576" y="4919295"/>
            <a:ext cx="129539" cy="820419"/>
          </a:xfrm>
          <a:custGeom>
            <a:avLst/>
            <a:gdLst/>
            <a:ahLst/>
            <a:cxnLst/>
            <a:rect l="l" t="t" r="r" b="b"/>
            <a:pathLst>
              <a:path w="129539" h="820420">
                <a:moveTo>
                  <a:pt x="0" y="820308"/>
                </a:moveTo>
                <a:lnTo>
                  <a:pt x="129373" y="820308"/>
                </a:lnTo>
                <a:lnTo>
                  <a:pt x="129373" y="0"/>
                </a:lnTo>
                <a:lnTo>
                  <a:pt x="0" y="0"/>
                </a:lnTo>
                <a:lnTo>
                  <a:pt x="0" y="820308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6191576" y="4919295"/>
            <a:ext cx="129539" cy="820419"/>
          </a:xfrm>
          <a:custGeom>
            <a:avLst/>
            <a:gdLst/>
            <a:ahLst/>
            <a:cxnLst/>
            <a:rect l="l" t="t" r="r" b="b"/>
            <a:pathLst>
              <a:path w="129539" h="820420">
                <a:moveTo>
                  <a:pt x="0" y="820308"/>
                </a:moveTo>
                <a:lnTo>
                  <a:pt x="129373" y="820308"/>
                </a:lnTo>
                <a:lnTo>
                  <a:pt x="129373" y="0"/>
                </a:lnTo>
                <a:lnTo>
                  <a:pt x="0" y="0"/>
                </a:lnTo>
                <a:lnTo>
                  <a:pt x="0" y="820308"/>
                </a:lnTo>
                <a:close/>
              </a:path>
            </a:pathLst>
          </a:custGeom>
          <a:ln w="7597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6511205" y="4106059"/>
            <a:ext cx="121920" cy="1633855"/>
          </a:xfrm>
          <a:custGeom>
            <a:avLst/>
            <a:gdLst/>
            <a:ahLst/>
            <a:cxnLst/>
            <a:rect l="l" t="t" r="r" b="b"/>
            <a:pathLst>
              <a:path w="121920" h="1633854">
                <a:moveTo>
                  <a:pt x="0" y="1633544"/>
                </a:moveTo>
                <a:lnTo>
                  <a:pt x="121763" y="1633544"/>
                </a:lnTo>
                <a:lnTo>
                  <a:pt x="121763" y="0"/>
                </a:lnTo>
                <a:lnTo>
                  <a:pt x="0" y="0"/>
                </a:lnTo>
                <a:lnTo>
                  <a:pt x="0" y="163354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6511205" y="4106058"/>
            <a:ext cx="121920" cy="1633855"/>
          </a:xfrm>
          <a:custGeom>
            <a:avLst/>
            <a:gdLst/>
            <a:ahLst/>
            <a:cxnLst/>
            <a:rect l="l" t="t" r="r" b="b"/>
            <a:pathLst>
              <a:path w="121920" h="1633854">
                <a:moveTo>
                  <a:pt x="0" y="1633544"/>
                </a:moveTo>
                <a:lnTo>
                  <a:pt x="121763" y="1633544"/>
                </a:lnTo>
                <a:lnTo>
                  <a:pt x="121763" y="0"/>
                </a:lnTo>
                <a:lnTo>
                  <a:pt x="0" y="0"/>
                </a:lnTo>
                <a:lnTo>
                  <a:pt x="0" y="1633544"/>
                </a:lnTo>
                <a:close/>
              </a:path>
            </a:pathLst>
          </a:custGeom>
          <a:ln w="7607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6823224" y="4106059"/>
            <a:ext cx="129539" cy="1633855"/>
          </a:xfrm>
          <a:custGeom>
            <a:avLst/>
            <a:gdLst/>
            <a:ahLst/>
            <a:cxnLst/>
            <a:rect l="l" t="t" r="r" b="b"/>
            <a:pathLst>
              <a:path w="129540" h="1633854">
                <a:moveTo>
                  <a:pt x="0" y="1633544"/>
                </a:moveTo>
                <a:lnTo>
                  <a:pt x="129373" y="1633544"/>
                </a:lnTo>
                <a:lnTo>
                  <a:pt x="129373" y="0"/>
                </a:lnTo>
                <a:lnTo>
                  <a:pt x="0" y="0"/>
                </a:lnTo>
                <a:lnTo>
                  <a:pt x="0" y="163354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6823224" y="4106058"/>
            <a:ext cx="129539" cy="1633855"/>
          </a:xfrm>
          <a:custGeom>
            <a:avLst/>
            <a:gdLst/>
            <a:ahLst/>
            <a:cxnLst/>
            <a:rect l="l" t="t" r="r" b="b"/>
            <a:pathLst>
              <a:path w="129540" h="1633854">
                <a:moveTo>
                  <a:pt x="0" y="1633544"/>
                </a:moveTo>
                <a:lnTo>
                  <a:pt x="129373" y="1633544"/>
                </a:lnTo>
                <a:lnTo>
                  <a:pt x="129373" y="0"/>
                </a:lnTo>
                <a:lnTo>
                  <a:pt x="0" y="0"/>
                </a:lnTo>
                <a:lnTo>
                  <a:pt x="0" y="1633544"/>
                </a:lnTo>
                <a:close/>
              </a:path>
            </a:pathLst>
          </a:custGeom>
          <a:ln w="760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7135243" y="4650573"/>
            <a:ext cx="129539" cy="1089025"/>
          </a:xfrm>
          <a:custGeom>
            <a:avLst/>
            <a:gdLst/>
            <a:ahLst/>
            <a:cxnLst/>
            <a:rect l="l" t="t" r="r" b="b"/>
            <a:pathLst>
              <a:path w="129540" h="1089025">
                <a:moveTo>
                  <a:pt x="0" y="1089029"/>
                </a:moveTo>
                <a:lnTo>
                  <a:pt x="129373" y="1089029"/>
                </a:lnTo>
                <a:lnTo>
                  <a:pt x="129373" y="0"/>
                </a:lnTo>
                <a:lnTo>
                  <a:pt x="0" y="0"/>
                </a:lnTo>
                <a:lnTo>
                  <a:pt x="0" y="108902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7135243" y="4650573"/>
            <a:ext cx="129539" cy="1089025"/>
          </a:xfrm>
          <a:custGeom>
            <a:avLst/>
            <a:gdLst/>
            <a:ahLst/>
            <a:cxnLst/>
            <a:rect l="l" t="t" r="r" b="b"/>
            <a:pathLst>
              <a:path w="129540" h="1089025">
                <a:moveTo>
                  <a:pt x="0" y="1089029"/>
                </a:moveTo>
                <a:lnTo>
                  <a:pt x="129373" y="1089029"/>
                </a:lnTo>
                <a:lnTo>
                  <a:pt x="129373" y="0"/>
                </a:lnTo>
                <a:lnTo>
                  <a:pt x="0" y="0"/>
                </a:lnTo>
                <a:lnTo>
                  <a:pt x="0" y="1089029"/>
                </a:lnTo>
                <a:close/>
              </a:path>
            </a:pathLst>
          </a:custGeom>
          <a:ln w="760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7454873" y="5195088"/>
            <a:ext cx="121920" cy="544830"/>
          </a:xfrm>
          <a:custGeom>
            <a:avLst/>
            <a:gdLst/>
            <a:ahLst/>
            <a:cxnLst/>
            <a:rect l="l" t="t" r="r" b="b"/>
            <a:pathLst>
              <a:path w="121920" h="544829">
                <a:moveTo>
                  <a:pt x="0" y="544514"/>
                </a:moveTo>
                <a:lnTo>
                  <a:pt x="121763" y="544514"/>
                </a:lnTo>
                <a:lnTo>
                  <a:pt x="121763" y="0"/>
                </a:lnTo>
                <a:lnTo>
                  <a:pt x="0" y="0"/>
                </a:lnTo>
                <a:lnTo>
                  <a:pt x="0" y="54451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7454872" y="5195088"/>
            <a:ext cx="121920" cy="544830"/>
          </a:xfrm>
          <a:custGeom>
            <a:avLst/>
            <a:gdLst/>
            <a:ahLst/>
            <a:cxnLst/>
            <a:rect l="l" t="t" r="r" b="b"/>
            <a:pathLst>
              <a:path w="121920" h="544829">
                <a:moveTo>
                  <a:pt x="0" y="544514"/>
                </a:moveTo>
                <a:lnTo>
                  <a:pt x="121763" y="544514"/>
                </a:lnTo>
                <a:lnTo>
                  <a:pt x="121763" y="0"/>
                </a:lnTo>
                <a:lnTo>
                  <a:pt x="0" y="0"/>
                </a:lnTo>
                <a:lnTo>
                  <a:pt x="0" y="544514"/>
                </a:lnTo>
                <a:close/>
              </a:path>
            </a:pathLst>
          </a:custGeom>
          <a:ln w="758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7766892" y="5520383"/>
            <a:ext cx="129539" cy="219710"/>
          </a:xfrm>
          <a:custGeom>
            <a:avLst/>
            <a:gdLst/>
            <a:ahLst/>
            <a:cxnLst/>
            <a:rect l="l" t="t" r="r" b="b"/>
            <a:pathLst>
              <a:path w="129540" h="219710">
                <a:moveTo>
                  <a:pt x="0" y="219220"/>
                </a:moveTo>
                <a:lnTo>
                  <a:pt x="129373" y="219220"/>
                </a:lnTo>
                <a:lnTo>
                  <a:pt x="129373" y="0"/>
                </a:lnTo>
                <a:lnTo>
                  <a:pt x="0" y="0"/>
                </a:lnTo>
                <a:lnTo>
                  <a:pt x="0" y="21922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7766892" y="5520383"/>
            <a:ext cx="129539" cy="219710"/>
          </a:xfrm>
          <a:custGeom>
            <a:avLst/>
            <a:gdLst/>
            <a:ahLst/>
            <a:cxnLst/>
            <a:rect l="l" t="t" r="r" b="b"/>
            <a:pathLst>
              <a:path w="129540" h="219710">
                <a:moveTo>
                  <a:pt x="0" y="219220"/>
                </a:moveTo>
                <a:lnTo>
                  <a:pt x="129373" y="219220"/>
                </a:lnTo>
                <a:lnTo>
                  <a:pt x="129373" y="0"/>
                </a:lnTo>
                <a:lnTo>
                  <a:pt x="0" y="0"/>
                </a:lnTo>
                <a:lnTo>
                  <a:pt x="0" y="219220"/>
                </a:lnTo>
                <a:close/>
              </a:path>
            </a:pathLst>
          </a:custGeom>
          <a:ln w="7471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8086521" y="5700709"/>
            <a:ext cx="121920" cy="0"/>
          </a:xfrm>
          <a:custGeom>
            <a:avLst/>
            <a:gdLst/>
            <a:ahLst/>
            <a:cxnLst/>
            <a:rect l="l" t="t" r="r" b="b"/>
            <a:pathLst>
              <a:path w="121920">
                <a:moveTo>
                  <a:pt x="0" y="0"/>
                </a:moveTo>
                <a:lnTo>
                  <a:pt x="121763" y="0"/>
                </a:lnTo>
              </a:path>
            </a:pathLst>
          </a:custGeom>
          <a:ln w="77787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8086521" y="5661815"/>
            <a:ext cx="121920" cy="78105"/>
          </a:xfrm>
          <a:custGeom>
            <a:avLst/>
            <a:gdLst/>
            <a:ahLst/>
            <a:cxnLst/>
            <a:rect l="l" t="t" r="r" b="b"/>
            <a:pathLst>
              <a:path w="121920" h="78104">
                <a:moveTo>
                  <a:pt x="0" y="77787"/>
                </a:moveTo>
                <a:lnTo>
                  <a:pt x="121763" y="77787"/>
                </a:lnTo>
                <a:lnTo>
                  <a:pt x="121763" y="0"/>
                </a:lnTo>
                <a:lnTo>
                  <a:pt x="0" y="0"/>
                </a:lnTo>
                <a:lnTo>
                  <a:pt x="0" y="77787"/>
                </a:lnTo>
                <a:close/>
              </a:path>
            </a:pathLst>
          </a:custGeom>
          <a:ln w="7227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6100253" y="3929268"/>
            <a:ext cx="0" cy="1810385"/>
          </a:xfrm>
          <a:custGeom>
            <a:avLst/>
            <a:gdLst/>
            <a:ahLst/>
            <a:cxnLst/>
            <a:rect l="l" t="t" r="r" b="b"/>
            <a:pathLst>
              <a:path h="1810385">
                <a:moveTo>
                  <a:pt x="0" y="1810335"/>
                </a:moveTo>
                <a:lnTo>
                  <a:pt x="0" y="0"/>
                </a:lnTo>
              </a:path>
            </a:pathLst>
          </a:custGeom>
          <a:ln w="7610">
            <a:solidFill>
              <a:srgbClr val="8585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6046982" y="5739603"/>
            <a:ext cx="53340" cy="0"/>
          </a:xfrm>
          <a:custGeom>
            <a:avLst/>
            <a:gdLst/>
            <a:ahLst/>
            <a:cxnLst/>
            <a:rect l="l" t="t" r="r" b="b"/>
            <a:pathLst>
              <a:path w="53339">
                <a:moveTo>
                  <a:pt x="0" y="0"/>
                </a:moveTo>
                <a:lnTo>
                  <a:pt x="53271" y="0"/>
                </a:lnTo>
              </a:path>
            </a:pathLst>
          </a:custGeom>
          <a:ln w="7071">
            <a:solidFill>
              <a:srgbClr val="8585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6046982" y="5435523"/>
            <a:ext cx="53340" cy="0"/>
          </a:xfrm>
          <a:custGeom>
            <a:avLst/>
            <a:gdLst/>
            <a:ahLst/>
            <a:cxnLst/>
            <a:rect l="l" t="t" r="r" b="b"/>
            <a:pathLst>
              <a:path w="53339">
                <a:moveTo>
                  <a:pt x="0" y="0"/>
                </a:moveTo>
                <a:lnTo>
                  <a:pt x="53271" y="0"/>
                </a:lnTo>
              </a:path>
            </a:pathLst>
          </a:custGeom>
          <a:ln w="7071">
            <a:solidFill>
              <a:srgbClr val="8585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6046982" y="5131444"/>
            <a:ext cx="53340" cy="0"/>
          </a:xfrm>
          <a:custGeom>
            <a:avLst/>
            <a:gdLst/>
            <a:ahLst/>
            <a:cxnLst/>
            <a:rect l="l" t="t" r="r" b="b"/>
            <a:pathLst>
              <a:path w="53339">
                <a:moveTo>
                  <a:pt x="0" y="0"/>
                </a:moveTo>
                <a:lnTo>
                  <a:pt x="53271" y="0"/>
                </a:lnTo>
              </a:path>
            </a:pathLst>
          </a:custGeom>
          <a:ln w="7071">
            <a:solidFill>
              <a:srgbClr val="8585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6046982" y="4834435"/>
            <a:ext cx="53340" cy="0"/>
          </a:xfrm>
          <a:custGeom>
            <a:avLst/>
            <a:gdLst/>
            <a:ahLst/>
            <a:cxnLst/>
            <a:rect l="l" t="t" r="r" b="b"/>
            <a:pathLst>
              <a:path w="53339">
                <a:moveTo>
                  <a:pt x="0" y="0"/>
                </a:moveTo>
                <a:lnTo>
                  <a:pt x="53271" y="0"/>
                </a:lnTo>
              </a:path>
            </a:pathLst>
          </a:custGeom>
          <a:ln w="7071">
            <a:solidFill>
              <a:srgbClr val="8585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6046982" y="4530356"/>
            <a:ext cx="53340" cy="0"/>
          </a:xfrm>
          <a:custGeom>
            <a:avLst/>
            <a:gdLst/>
            <a:ahLst/>
            <a:cxnLst/>
            <a:rect l="l" t="t" r="r" b="b"/>
            <a:pathLst>
              <a:path w="53339">
                <a:moveTo>
                  <a:pt x="0" y="0"/>
                </a:moveTo>
                <a:lnTo>
                  <a:pt x="53271" y="0"/>
                </a:lnTo>
              </a:path>
            </a:pathLst>
          </a:custGeom>
          <a:ln w="7071">
            <a:solidFill>
              <a:srgbClr val="8585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6046981" y="4233348"/>
            <a:ext cx="53340" cy="0"/>
          </a:xfrm>
          <a:custGeom>
            <a:avLst/>
            <a:gdLst/>
            <a:ahLst/>
            <a:cxnLst/>
            <a:rect l="l" t="t" r="r" b="b"/>
            <a:pathLst>
              <a:path w="53339">
                <a:moveTo>
                  <a:pt x="0" y="0"/>
                </a:moveTo>
                <a:lnTo>
                  <a:pt x="53271" y="0"/>
                </a:lnTo>
              </a:path>
            </a:pathLst>
          </a:custGeom>
          <a:ln w="7071">
            <a:solidFill>
              <a:srgbClr val="8585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6046981" y="3929268"/>
            <a:ext cx="53340" cy="0"/>
          </a:xfrm>
          <a:custGeom>
            <a:avLst/>
            <a:gdLst/>
            <a:ahLst/>
            <a:cxnLst/>
            <a:rect l="l" t="t" r="r" b="b"/>
            <a:pathLst>
              <a:path w="53339">
                <a:moveTo>
                  <a:pt x="0" y="0"/>
                </a:moveTo>
                <a:lnTo>
                  <a:pt x="53271" y="0"/>
                </a:lnTo>
              </a:path>
            </a:pathLst>
          </a:custGeom>
          <a:ln w="7071">
            <a:solidFill>
              <a:srgbClr val="8585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6100253" y="5739603"/>
            <a:ext cx="2519045" cy="0"/>
          </a:xfrm>
          <a:custGeom>
            <a:avLst/>
            <a:gdLst/>
            <a:ahLst/>
            <a:cxnLst/>
            <a:rect l="l" t="t" r="r" b="b"/>
            <a:pathLst>
              <a:path w="2519045">
                <a:moveTo>
                  <a:pt x="0" y="0"/>
                </a:moveTo>
                <a:lnTo>
                  <a:pt x="2518983" y="0"/>
                </a:lnTo>
              </a:path>
            </a:pathLst>
          </a:custGeom>
          <a:ln w="7071">
            <a:solidFill>
              <a:srgbClr val="8585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6100253" y="5739603"/>
            <a:ext cx="0" cy="42545"/>
          </a:xfrm>
          <a:custGeom>
            <a:avLst/>
            <a:gdLst/>
            <a:ahLst/>
            <a:cxnLst/>
            <a:rect l="l" t="t" r="r" b="b"/>
            <a:pathLst>
              <a:path h="42545">
                <a:moveTo>
                  <a:pt x="0" y="0"/>
                </a:moveTo>
                <a:lnTo>
                  <a:pt x="0" y="42429"/>
                </a:lnTo>
              </a:path>
            </a:pathLst>
          </a:custGeom>
          <a:ln w="7610">
            <a:solidFill>
              <a:srgbClr val="8585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6412272" y="5739603"/>
            <a:ext cx="0" cy="42545"/>
          </a:xfrm>
          <a:custGeom>
            <a:avLst/>
            <a:gdLst/>
            <a:ahLst/>
            <a:cxnLst/>
            <a:rect l="l" t="t" r="r" b="b"/>
            <a:pathLst>
              <a:path h="42545">
                <a:moveTo>
                  <a:pt x="0" y="0"/>
                </a:moveTo>
                <a:lnTo>
                  <a:pt x="0" y="42429"/>
                </a:lnTo>
              </a:path>
            </a:pathLst>
          </a:custGeom>
          <a:ln w="7610">
            <a:solidFill>
              <a:srgbClr val="8585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6731902" y="5739603"/>
            <a:ext cx="0" cy="42545"/>
          </a:xfrm>
          <a:custGeom>
            <a:avLst/>
            <a:gdLst/>
            <a:ahLst/>
            <a:cxnLst/>
            <a:rect l="l" t="t" r="r" b="b"/>
            <a:pathLst>
              <a:path h="42545">
                <a:moveTo>
                  <a:pt x="0" y="0"/>
                </a:moveTo>
                <a:lnTo>
                  <a:pt x="0" y="42429"/>
                </a:lnTo>
              </a:path>
            </a:pathLst>
          </a:custGeom>
          <a:ln w="7610">
            <a:solidFill>
              <a:srgbClr val="8585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7043921" y="5739603"/>
            <a:ext cx="0" cy="42545"/>
          </a:xfrm>
          <a:custGeom>
            <a:avLst/>
            <a:gdLst/>
            <a:ahLst/>
            <a:cxnLst/>
            <a:rect l="l" t="t" r="r" b="b"/>
            <a:pathLst>
              <a:path h="42545">
                <a:moveTo>
                  <a:pt x="0" y="0"/>
                </a:moveTo>
                <a:lnTo>
                  <a:pt x="0" y="42429"/>
                </a:lnTo>
              </a:path>
            </a:pathLst>
          </a:custGeom>
          <a:ln w="7610">
            <a:solidFill>
              <a:srgbClr val="8585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7355940" y="5739603"/>
            <a:ext cx="0" cy="42545"/>
          </a:xfrm>
          <a:custGeom>
            <a:avLst/>
            <a:gdLst/>
            <a:ahLst/>
            <a:cxnLst/>
            <a:rect l="l" t="t" r="r" b="b"/>
            <a:pathLst>
              <a:path h="42545">
                <a:moveTo>
                  <a:pt x="0" y="0"/>
                </a:moveTo>
                <a:lnTo>
                  <a:pt x="0" y="42429"/>
                </a:lnTo>
              </a:path>
            </a:pathLst>
          </a:custGeom>
          <a:ln w="7610">
            <a:solidFill>
              <a:srgbClr val="8585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7675569" y="5739603"/>
            <a:ext cx="0" cy="42545"/>
          </a:xfrm>
          <a:custGeom>
            <a:avLst/>
            <a:gdLst/>
            <a:ahLst/>
            <a:cxnLst/>
            <a:rect l="l" t="t" r="r" b="b"/>
            <a:pathLst>
              <a:path h="42545">
                <a:moveTo>
                  <a:pt x="0" y="0"/>
                </a:moveTo>
                <a:lnTo>
                  <a:pt x="0" y="42429"/>
                </a:lnTo>
              </a:path>
            </a:pathLst>
          </a:custGeom>
          <a:ln w="7610">
            <a:solidFill>
              <a:srgbClr val="8585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7987589" y="5739603"/>
            <a:ext cx="0" cy="42545"/>
          </a:xfrm>
          <a:custGeom>
            <a:avLst/>
            <a:gdLst/>
            <a:ahLst/>
            <a:cxnLst/>
            <a:rect l="l" t="t" r="r" b="b"/>
            <a:pathLst>
              <a:path h="42545">
                <a:moveTo>
                  <a:pt x="0" y="0"/>
                </a:moveTo>
                <a:lnTo>
                  <a:pt x="0" y="42429"/>
                </a:lnTo>
              </a:path>
            </a:pathLst>
          </a:custGeom>
          <a:ln w="7610">
            <a:solidFill>
              <a:srgbClr val="8585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8307218" y="5739603"/>
            <a:ext cx="0" cy="42545"/>
          </a:xfrm>
          <a:custGeom>
            <a:avLst/>
            <a:gdLst/>
            <a:ahLst/>
            <a:cxnLst/>
            <a:rect l="l" t="t" r="r" b="b"/>
            <a:pathLst>
              <a:path h="42545">
                <a:moveTo>
                  <a:pt x="0" y="0"/>
                </a:moveTo>
                <a:lnTo>
                  <a:pt x="0" y="42429"/>
                </a:lnTo>
              </a:path>
            </a:pathLst>
          </a:custGeom>
          <a:ln w="7610">
            <a:solidFill>
              <a:srgbClr val="8585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8619237" y="5739603"/>
            <a:ext cx="0" cy="42545"/>
          </a:xfrm>
          <a:custGeom>
            <a:avLst/>
            <a:gdLst/>
            <a:ahLst/>
            <a:cxnLst/>
            <a:rect l="l" t="t" r="r" b="b"/>
            <a:pathLst>
              <a:path h="42545">
                <a:moveTo>
                  <a:pt x="0" y="0"/>
                </a:moveTo>
                <a:lnTo>
                  <a:pt x="0" y="42429"/>
                </a:lnTo>
              </a:path>
            </a:pathLst>
          </a:custGeom>
          <a:ln w="7610">
            <a:solidFill>
              <a:srgbClr val="8585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 txBox="1"/>
          <p:nvPr/>
        </p:nvSpPr>
        <p:spPr>
          <a:xfrm>
            <a:off x="5869076" y="5633204"/>
            <a:ext cx="102870" cy="1962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00" b="1" spc="-5" dirty="0">
                <a:latin typeface="Arial"/>
                <a:cs typeface="Arial"/>
              </a:rPr>
              <a:t>0</a:t>
            </a:r>
            <a:endParaRPr sz="1100">
              <a:latin typeface="Arial"/>
              <a:cs typeface="Arial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5673430" y="5330597"/>
            <a:ext cx="301625" cy="1962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00" b="1" spc="-15" dirty="0">
                <a:latin typeface="Arial"/>
                <a:cs typeface="Arial"/>
              </a:rPr>
              <a:t>0</a:t>
            </a:r>
            <a:r>
              <a:rPr sz="1100" b="1" spc="-10" dirty="0">
                <a:latin typeface="Arial"/>
                <a:cs typeface="Arial"/>
              </a:rPr>
              <a:t>.</a:t>
            </a:r>
            <a:r>
              <a:rPr sz="1100" b="1" spc="45" dirty="0">
                <a:latin typeface="Arial"/>
                <a:cs typeface="Arial"/>
              </a:rPr>
              <a:t>0</a:t>
            </a:r>
            <a:r>
              <a:rPr sz="1100" b="1" spc="-5" dirty="0">
                <a:latin typeface="Arial"/>
                <a:cs typeface="Arial"/>
              </a:rPr>
              <a:t>5</a:t>
            </a:r>
            <a:endParaRPr sz="1100">
              <a:latin typeface="Arial"/>
              <a:cs typeface="Arial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5750801" y="5027991"/>
            <a:ext cx="217804" cy="1962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00" b="1" spc="-15" dirty="0">
                <a:latin typeface="Arial"/>
                <a:cs typeface="Arial"/>
              </a:rPr>
              <a:t>0</a:t>
            </a:r>
            <a:r>
              <a:rPr sz="1100" b="1" spc="-10" dirty="0">
                <a:latin typeface="Arial"/>
                <a:cs typeface="Arial"/>
              </a:rPr>
              <a:t>.</a:t>
            </a:r>
            <a:r>
              <a:rPr sz="1100" b="1" spc="-5" dirty="0">
                <a:latin typeface="Arial"/>
                <a:cs typeface="Arial"/>
              </a:rPr>
              <a:t>1</a:t>
            </a:r>
            <a:endParaRPr sz="1100">
              <a:latin typeface="Arial"/>
              <a:cs typeface="Arial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5673430" y="4725326"/>
            <a:ext cx="301625" cy="1962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00" b="1" spc="-15" dirty="0">
                <a:latin typeface="Arial"/>
                <a:cs typeface="Arial"/>
              </a:rPr>
              <a:t>0</a:t>
            </a:r>
            <a:r>
              <a:rPr sz="1100" b="1" spc="-10" dirty="0">
                <a:latin typeface="Arial"/>
                <a:cs typeface="Arial"/>
              </a:rPr>
              <a:t>.</a:t>
            </a:r>
            <a:r>
              <a:rPr sz="1100" b="1" spc="45" dirty="0">
                <a:latin typeface="Arial"/>
                <a:cs typeface="Arial"/>
              </a:rPr>
              <a:t>1</a:t>
            </a:r>
            <a:r>
              <a:rPr sz="1100" b="1" spc="-5" dirty="0">
                <a:latin typeface="Arial"/>
                <a:cs typeface="Arial"/>
              </a:rPr>
              <a:t>5</a:t>
            </a:r>
            <a:endParaRPr sz="1100">
              <a:latin typeface="Arial"/>
              <a:cs typeface="Arial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5750800" y="4422778"/>
            <a:ext cx="217804" cy="1962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00" b="1" spc="-15" dirty="0">
                <a:latin typeface="Arial"/>
                <a:cs typeface="Arial"/>
              </a:rPr>
              <a:t>0</a:t>
            </a:r>
            <a:r>
              <a:rPr sz="1100" b="1" spc="-10" dirty="0">
                <a:latin typeface="Arial"/>
                <a:cs typeface="Arial"/>
              </a:rPr>
              <a:t>.</a:t>
            </a:r>
            <a:r>
              <a:rPr sz="1100" b="1" spc="-5" dirty="0">
                <a:latin typeface="Arial"/>
                <a:cs typeface="Arial"/>
              </a:rPr>
              <a:t>2</a:t>
            </a:r>
            <a:endParaRPr sz="1100">
              <a:latin typeface="Arial"/>
              <a:cs typeface="Arial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5673430" y="4120113"/>
            <a:ext cx="301625" cy="1962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00" b="1" spc="-15" dirty="0">
                <a:latin typeface="Arial"/>
                <a:cs typeface="Arial"/>
              </a:rPr>
              <a:t>0</a:t>
            </a:r>
            <a:r>
              <a:rPr sz="1100" b="1" spc="-10" dirty="0">
                <a:latin typeface="Arial"/>
                <a:cs typeface="Arial"/>
              </a:rPr>
              <a:t>.</a:t>
            </a:r>
            <a:r>
              <a:rPr sz="1100" b="1" spc="45" dirty="0">
                <a:latin typeface="Arial"/>
                <a:cs typeface="Arial"/>
              </a:rPr>
              <a:t>2</a:t>
            </a:r>
            <a:r>
              <a:rPr sz="1100" b="1" spc="-5" dirty="0">
                <a:latin typeface="Arial"/>
                <a:cs typeface="Arial"/>
              </a:rPr>
              <a:t>5</a:t>
            </a:r>
            <a:endParaRPr sz="1100">
              <a:latin typeface="Arial"/>
              <a:cs typeface="Arial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5750800" y="3817565"/>
            <a:ext cx="217804" cy="1962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00" b="1" spc="-15" dirty="0">
                <a:latin typeface="Arial"/>
                <a:cs typeface="Arial"/>
              </a:rPr>
              <a:t>0</a:t>
            </a:r>
            <a:r>
              <a:rPr sz="1100" b="1" spc="-10" dirty="0">
                <a:latin typeface="Arial"/>
                <a:cs typeface="Arial"/>
              </a:rPr>
              <a:t>.</a:t>
            </a:r>
            <a:r>
              <a:rPr sz="1100" b="1" spc="-5" dirty="0">
                <a:latin typeface="Arial"/>
                <a:cs typeface="Arial"/>
              </a:rPr>
              <a:t>3</a:t>
            </a:r>
            <a:endParaRPr sz="1100">
              <a:latin typeface="Arial"/>
              <a:cs typeface="Arial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5468424" y="4600840"/>
            <a:ext cx="194945" cy="47752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b="1" i="1" spc="-40" dirty="0">
                <a:latin typeface="TimesNewRomanPS-BoldItalicMT"/>
                <a:cs typeface="TimesNewRomanPS-BoldItalicMT"/>
              </a:rPr>
              <a:t>Prob(k)</a:t>
            </a:r>
            <a:endParaRPr sz="1200">
              <a:latin typeface="TimesNewRomanPS-BoldItalicMT"/>
              <a:cs typeface="TimesNewRomanPS-BoldItalicMT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6208048" y="5779842"/>
            <a:ext cx="2003425" cy="443230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15"/>
              </a:spcBef>
              <a:tabLst>
                <a:tab pos="328930" algn="l"/>
                <a:tab pos="645795" algn="l"/>
                <a:tab pos="962025" algn="l"/>
                <a:tab pos="1278890" algn="l"/>
                <a:tab pos="1595755" algn="l"/>
                <a:tab pos="1912620" algn="l"/>
              </a:tabLst>
            </a:pPr>
            <a:r>
              <a:rPr sz="1100" b="1" spc="-5" dirty="0">
                <a:latin typeface="Arial"/>
                <a:cs typeface="Arial"/>
              </a:rPr>
              <a:t>0	1	2	3	4	5	6</a:t>
            </a:r>
            <a:endParaRPr sz="1100">
              <a:latin typeface="Arial"/>
              <a:cs typeface="Arial"/>
            </a:endParaRPr>
          </a:p>
          <a:p>
            <a:pPr marL="313690" algn="ctr">
              <a:lnSpc>
                <a:spcPct val="100000"/>
              </a:lnSpc>
              <a:spcBef>
                <a:spcPts val="325"/>
              </a:spcBef>
            </a:pPr>
            <a:r>
              <a:rPr sz="1100" b="1" i="1" spc="50" dirty="0">
                <a:latin typeface="TimesNewRomanPS-BoldItalicMT"/>
                <a:cs typeface="TimesNewRomanPS-BoldItalicMT"/>
              </a:rPr>
              <a:t>k</a:t>
            </a:r>
            <a:endParaRPr sz="1100">
              <a:latin typeface="TimesNewRomanPS-BoldItalicMT"/>
              <a:cs typeface="TimesNewRomanPS-BoldItalicM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object 83"/>
              <p:cNvSpPr txBox="1"/>
              <p:nvPr/>
            </p:nvSpPr>
            <p:spPr>
              <a:xfrm>
                <a:off x="7216402" y="3994356"/>
                <a:ext cx="1313815" cy="380872"/>
              </a:xfrm>
              <a:prstGeom prst="rect">
                <a:avLst/>
              </a:prstGeom>
            </p:spPr>
            <p:txBody>
              <a:bodyPr vert="horz" wrap="square" lIns="0" tIns="29209" rIns="0" bIns="0" rtlCol="0"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229"/>
                  </a:spcBef>
                </a:pPr>
                <a:r>
                  <a:rPr sz="1100" b="1" spc="-60" dirty="0">
                    <a:latin typeface="Arial"/>
                    <a:cs typeface="Arial"/>
                  </a:rPr>
                  <a:t>Poisson</a:t>
                </a:r>
                <a:r>
                  <a:rPr sz="1100" b="1" spc="-140" dirty="0">
                    <a:latin typeface="Arial"/>
                    <a:cs typeface="Arial"/>
                  </a:rPr>
                  <a:t> </a:t>
                </a:r>
                <a:r>
                  <a:rPr sz="1100" b="1" spc="-15" dirty="0">
                    <a:latin typeface="Arial"/>
                    <a:cs typeface="Arial"/>
                  </a:rPr>
                  <a:t>Distribution</a:t>
                </a:r>
                <a:endParaRPr sz="1100" dirty="0">
                  <a:latin typeface="Arial"/>
                  <a:cs typeface="Arial"/>
                </a:endParaRPr>
              </a:p>
              <a:p>
                <a:pPr marL="50165" algn="ctr">
                  <a:lnSpc>
                    <a:spcPct val="100000"/>
                  </a:lnSpc>
                  <a:spcBef>
                    <a:spcPts val="135"/>
                  </a:spcBef>
                </a:pPr>
                <a14:m>
                  <m:oMath xmlns:m="http://schemas.openxmlformats.org/officeDocument/2006/math">
                    <m:r>
                      <a:rPr lang="en-US" sz="11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/>
                      </a:rPr>
                      <m:t>𝝀</m:t>
                    </m:r>
                    <m:r>
                      <a:rPr lang="en-US" sz="11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/>
                      </a:rPr>
                      <m:t> </m:t>
                    </m:r>
                  </m:oMath>
                </a14:m>
                <a:r>
                  <a:rPr sz="1100" b="1" spc="-50" dirty="0">
                    <a:latin typeface="Arial"/>
                    <a:cs typeface="Arial"/>
                  </a:rPr>
                  <a:t>=2</a:t>
                </a:r>
                <a:endParaRPr sz="1100" dirty="0"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83" name="object 8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6402" y="3994356"/>
                <a:ext cx="1313815" cy="380872"/>
              </a:xfrm>
              <a:prstGeom prst="rect">
                <a:avLst/>
              </a:prstGeom>
              <a:blipFill>
                <a:blip r:embed="rId8"/>
                <a:stretch>
                  <a:fillRect l="-4808" t="-3226" r="-4808" b="-22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4" name="object 84"/>
          <p:cNvSpPr/>
          <p:nvPr/>
        </p:nvSpPr>
        <p:spPr>
          <a:xfrm>
            <a:off x="8368283" y="5911596"/>
            <a:ext cx="339725" cy="0"/>
          </a:xfrm>
          <a:custGeom>
            <a:avLst/>
            <a:gdLst/>
            <a:ahLst/>
            <a:cxnLst/>
            <a:rect l="l" t="t" r="r" b="b"/>
            <a:pathLst>
              <a:path w="339725">
                <a:moveTo>
                  <a:pt x="0" y="0"/>
                </a:moveTo>
                <a:lnTo>
                  <a:pt x="339725" y="0"/>
                </a:lnTo>
              </a:path>
            </a:pathLst>
          </a:custGeom>
          <a:ln w="57912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 txBox="1">
            <a:spLocks noGrp="1"/>
          </p:cNvSpPr>
          <p:nvPr>
            <p:ph type="sldNum" sz="quarter" idx="7"/>
          </p:nvPr>
        </p:nvSpPr>
        <p:spPr>
          <a:xfrm>
            <a:off x="215798" y="6399903"/>
            <a:ext cx="622402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14</a:t>
            </a:fld>
            <a:endParaRPr spc="-5" dirty="0"/>
          </a:p>
        </p:txBody>
      </p:sp>
      <p:pic>
        <p:nvPicPr>
          <p:cNvPr id="92" name="Picture 91">
            <a:extLst>
              <a:ext uri="{FF2B5EF4-FFF2-40B4-BE49-F238E27FC236}">
                <a16:creationId xmlns:a16="http://schemas.microsoft.com/office/drawing/2014/main" id="{CCD99B6C-24C1-A544-4982-C1EF5FA5270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7915" y="2577102"/>
            <a:ext cx="3227350" cy="1718459"/>
          </a:xfrm>
          <a:prstGeom prst="rect">
            <a:avLst/>
          </a:prstGeom>
        </p:spPr>
      </p:pic>
      <p:pic>
        <p:nvPicPr>
          <p:cNvPr id="94" name="Picture 93">
            <a:extLst>
              <a:ext uri="{FF2B5EF4-FFF2-40B4-BE49-F238E27FC236}">
                <a16:creationId xmlns:a16="http://schemas.microsoft.com/office/drawing/2014/main" id="{818A53CD-7EE3-4E95-CC51-4C32473F7F5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2191" y="5406534"/>
            <a:ext cx="4006023" cy="70868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99991" y="164414"/>
            <a:ext cx="10160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0B050"/>
                </a:solidFill>
                <a:latin typeface="Arial"/>
                <a:cs typeface="Arial"/>
              </a:rPr>
              <a:t>Quiz</a:t>
            </a:r>
          </a:p>
        </p:txBody>
      </p:sp>
      <p:sp>
        <p:nvSpPr>
          <p:cNvPr id="3" name="object 3"/>
          <p:cNvSpPr/>
          <p:nvPr/>
        </p:nvSpPr>
        <p:spPr>
          <a:xfrm>
            <a:off x="1213103" y="989075"/>
            <a:ext cx="6868795" cy="2862580"/>
          </a:xfrm>
          <a:custGeom>
            <a:avLst/>
            <a:gdLst/>
            <a:ahLst/>
            <a:cxnLst/>
            <a:rect l="l" t="t" r="r" b="b"/>
            <a:pathLst>
              <a:path w="6868795" h="2862579">
                <a:moveTo>
                  <a:pt x="0" y="2862072"/>
                </a:moveTo>
                <a:lnTo>
                  <a:pt x="6868668" y="2862072"/>
                </a:lnTo>
                <a:lnTo>
                  <a:pt x="6868668" y="0"/>
                </a:lnTo>
                <a:lnTo>
                  <a:pt x="0" y="0"/>
                </a:lnTo>
                <a:lnTo>
                  <a:pt x="0" y="2862072"/>
                </a:lnTo>
                <a:close/>
              </a:path>
            </a:pathLst>
          </a:custGeom>
          <a:solidFill>
            <a:srgbClr val="66FF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87703" y="1014730"/>
            <a:ext cx="6919595" cy="1855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16839">
              <a:lnSpc>
                <a:spcPct val="100000"/>
              </a:lnSpc>
              <a:spcBef>
                <a:spcPts val="105"/>
              </a:spcBef>
              <a:tabLst>
                <a:tab pos="3145155" algn="l"/>
              </a:tabLst>
            </a:pPr>
            <a:r>
              <a:rPr sz="2000" b="1" dirty="0">
                <a:latin typeface="Helvetica"/>
                <a:cs typeface="Helvetica"/>
              </a:rPr>
              <a:t>Q:</a:t>
            </a:r>
            <a:r>
              <a:rPr sz="2000" b="1" spc="-80" dirty="0">
                <a:latin typeface="Helvetica"/>
                <a:cs typeface="Helvetica"/>
              </a:rPr>
              <a:t> </a:t>
            </a:r>
            <a:r>
              <a:rPr sz="2000" b="1" dirty="0">
                <a:latin typeface="Helvetica"/>
                <a:cs typeface="Helvetica"/>
              </a:rPr>
              <a:t>A=0.8cm</a:t>
            </a:r>
            <a:r>
              <a:rPr sz="1950" b="1" baseline="25641" dirty="0">
                <a:latin typeface="Helvetica"/>
                <a:cs typeface="Helvetica"/>
              </a:rPr>
              <a:t>2</a:t>
            </a:r>
            <a:r>
              <a:rPr sz="2000" b="1" dirty="0">
                <a:latin typeface="Helvetica"/>
                <a:cs typeface="Helvetica"/>
              </a:rPr>
              <a:t>,</a:t>
            </a:r>
            <a:r>
              <a:rPr sz="2000" b="1" spc="-30" dirty="0">
                <a:latin typeface="Helvetica"/>
                <a:cs typeface="Helvetica"/>
              </a:rPr>
              <a:t> </a:t>
            </a:r>
            <a:r>
              <a:rPr sz="2000" b="1" dirty="0">
                <a:latin typeface="Helvetica"/>
                <a:cs typeface="Helvetica"/>
              </a:rPr>
              <a:t>D=0.5/cm</a:t>
            </a:r>
            <a:r>
              <a:rPr sz="1950" b="1" baseline="25641" dirty="0">
                <a:latin typeface="Helvetica"/>
                <a:cs typeface="Helvetica"/>
              </a:rPr>
              <a:t>2.	</a:t>
            </a:r>
            <a:r>
              <a:rPr sz="2000" b="1" dirty="0">
                <a:latin typeface="Helvetica"/>
                <a:cs typeface="Helvetica"/>
              </a:rPr>
              <a:t>What is</a:t>
            </a:r>
            <a:r>
              <a:rPr sz="2000" b="1" spc="-45" dirty="0">
                <a:latin typeface="Helvetica"/>
                <a:cs typeface="Helvetica"/>
              </a:rPr>
              <a:t> </a:t>
            </a:r>
            <a:r>
              <a:rPr sz="2000" b="1" spc="-10" dirty="0">
                <a:latin typeface="Helvetica"/>
                <a:cs typeface="Helvetica"/>
              </a:rPr>
              <a:t>yield?</a:t>
            </a:r>
            <a:endParaRPr sz="2000" dirty="0">
              <a:latin typeface="Helvetica"/>
              <a:cs typeface="Helvetica"/>
            </a:endParaRPr>
          </a:p>
          <a:p>
            <a:pPr>
              <a:lnSpc>
                <a:spcPct val="100000"/>
              </a:lnSpc>
            </a:pPr>
            <a:endParaRPr lang="en-US" sz="2400" dirty="0">
              <a:latin typeface="Helvetica"/>
              <a:cs typeface="Helvetica"/>
            </a:endParaRPr>
          </a:p>
          <a:p>
            <a:pPr>
              <a:lnSpc>
                <a:spcPct val="100000"/>
              </a:lnSpc>
            </a:pPr>
            <a:endParaRPr sz="2400" dirty="0">
              <a:latin typeface="Helvetica"/>
              <a:cs typeface="Helvetic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250" dirty="0">
              <a:latin typeface="Helvetica"/>
              <a:cs typeface="Helvetica"/>
            </a:endParaRPr>
          </a:p>
          <a:p>
            <a:pPr marL="116839">
              <a:lnSpc>
                <a:spcPct val="100000"/>
              </a:lnSpc>
            </a:pPr>
            <a:r>
              <a:rPr sz="2000" b="1" dirty="0">
                <a:latin typeface="Helvetica"/>
                <a:cs typeface="Helvetica"/>
              </a:rPr>
              <a:t>A:</a:t>
            </a:r>
            <a:endParaRPr sz="2000" dirty="0">
              <a:latin typeface="Helvetica"/>
              <a:cs typeface="Helvetic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xfrm>
            <a:off x="215798" y="6399903"/>
            <a:ext cx="470002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15</a:t>
            </a:fld>
            <a:endParaRPr spc="-5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37DFD13-A449-4A48-C34E-85C5B28AFD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2800" y="1524000"/>
            <a:ext cx="2032000" cy="7112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26867" y="164414"/>
            <a:ext cx="37592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0B050"/>
                </a:solidFill>
                <a:latin typeface="Arial"/>
                <a:cs typeface="Arial"/>
              </a:rPr>
              <a:t>Critical Area , CA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7525" y="900785"/>
            <a:ext cx="8508365" cy="2220595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68300" indent="-342900">
              <a:lnSpc>
                <a:spcPct val="100000"/>
              </a:lnSpc>
              <a:spcBef>
                <a:spcPts val="5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67665" algn="l"/>
                <a:tab pos="368300" algn="l"/>
              </a:tabLst>
            </a:pPr>
            <a:r>
              <a:rPr sz="2000" b="1" dirty="0">
                <a:latin typeface="Arial"/>
                <a:cs typeface="Arial"/>
              </a:rPr>
              <a:t>Problem with </a:t>
            </a:r>
            <a:r>
              <a:rPr sz="2000" b="1" i="1" spc="10" dirty="0">
                <a:latin typeface="Arial-BoldItalicMT"/>
                <a:cs typeface="Arial-BoldItalicMT"/>
              </a:rPr>
              <a:t>Y</a:t>
            </a:r>
            <a:r>
              <a:rPr lang="en-US" sz="2000" b="1" i="1" spc="10" dirty="0">
                <a:latin typeface="Arial-BoldItalicMT"/>
                <a:cs typeface="Arial-BoldItalicMT"/>
              </a:rPr>
              <a:t>=e</a:t>
            </a:r>
            <a:r>
              <a:rPr sz="1950" b="1" i="1" spc="15" baseline="25641" dirty="0">
                <a:latin typeface="Arial-BoldItalicMT"/>
                <a:cs typeface="Arial-BoldItalicMT"/>
              </a:rPr>
              <a:t>-AD</a:t>
            </a:r>
            <a:r>
              <a:rPr sz="1950" b="1" i="1" spc="-60" baseline="25641" dirty="0">
                <a:latin typeface="Arial-BoldItalicMT"/>
                <a:cs typeface="Arial-BoldItalicMT"/>
              </a:rPr>
              <a:t> </a:t>
            </a:r>
            <a:r>
              <a:rPr sz="2000" b="1" dirty="0">
                <a:latin typeface="Arial"/>
                <a:cs typeface="Arial"/>
              </a:rPr>
              <a:t>model</a:t>
            </a:r>
            <a:endParaRPr sz="2000" dirty="0">
              <a:latin typeface="Arial"/>
              <a:cs typeface="Arial"/>
            </a:endParaRPr>
          </a:p>
          <a:p>
            <a:pPr marL="7689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68985" algn="l"/>
                <a:tab pos="769620" algn="l"/>
              </a:tabLst>
            </a:pPr>
            <a:r>
              <a:rPr sz="2000" b="1" dirty="0">
                <a:latin typeface="Arial"/>
                <a:cs typeface="Arial"/>
              </a:rPr>
              <a:t>Some area NOT </a:t>
            </a:r>
            <a:r>
              <a:rPr sz="2000" b="1" spc="-5" dirty="0">
                <a:latin typeface="Arial"/>
                <a:cs typeface="Arial"/>
              </a:rPr>
              <a:t>sensitive </a:t>
            </a:r>
            <a:r>
              <a:rPr sz="2000" b="1" dirty="0">
                <a:latin typeface="Arial"/>
                <a:cs typeface="Arial"/>
              </a:rPr>
              <a:t>to defect. Use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total area is</a:t>
            </a:r>
            <a:r>
              <a:rPr sz="2000" b="1" spc="-15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pessimistic</a:t>
            </a:r>
            <a:endParaRPr sz="2000" dirty="0">
              <a:latin typeface="Arial"/>
              <a:cs typeface="Arial"/>
            </a:endParaRPr>
          </a:p>
          <a:p>
            <a:pPr marL="368300" indent="-342900">
              <a:lnSpc>
                <a:spcPct val="100000"/>
              </a:lnSpc>
              <a:spcBef>
                <a:spcPts val="480"/>
              </a:spcBef>
              <a:buSzPct val="120000"/>
              <a:buFont typeface="Arial"/>
              <a:buChar char="•"/>
              <a:tabLst>
                <a:tab pos="367665" algn="l"/>
                <a:tab pos="368300" algn="l"/>
              </a:tabLst>
            </a:pPr>
            <a:r>
              <a:rPr sz="2000" b="1" i="1" dirty="0">
                <a:solidFill>
                  <a:srgbClr val="FF0000"/>
                </a:solidFill>
                <a:latin typeface="Arial-BoldItalicMT"/>
                <a:cs typeface="Arial-BoldItalicMT"/>
              </a:rPr>
              <a:t>Critical area,</a:t>
            </a:r>
            <a:r>
              <a:rPr sz="2000" b="1" i="1" spc="-80" dirty="0">
                <a:solidFill>
                  <a:srgbClr val="FF0000"/>
                </a:solidFill>
                <a:latin typeface="Arial-BoldItalicMT"/>
                <a:cs typeface="Arial-BoldItalicMT"/>
              </a:rPr>
              <a:t> </a:t>
            </a:r>
            <a:r>
              <a:rPr sz="2000" b="1" i="1" dirty="0">
                <a:solidFill>
                  <a:srgbClr val="FF0000"/>
                </a:solidFill>
                <a:latin typeface="Arial-BoldItalicMT"/>
                <a:cs typeface="Arial-BoldItalicMT"/>
              </a:rPr>
              <a:t>CA(r)</a:t>
            </a:r>
            <a:endParaRPr sz="2000" dirty="0">
              <a:latin typeface="Arial-BoldItalicMT"/>
              <a:cs typeface="Arial-BoldItalicMT"/>
            </a:endParaRPr>
          </a:p>
          <a:p>
            <a:pPr marL="7689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68985" algn="l"/>
                <a:tab pos="769620" algn="l"/>
              </a:tabLst>
            </a:pPr>
            <a:r>
              <a:rPr sz="2000" b="1" dirty="0">
                <a:latin typeface="Arial"/>
                <a:cs typeface="Arial"/>
              </a:rPr>
              <a:t>Area </a:t>
            </a:r>
            <a:r>
              <a:rPr sz="2000" b="1" spc="5" dirty="0">
                <a:latin typeface="Arial"/>
                <a:cs typeface="Arial"/>
              </a:rPr>
              <a:t>where </a:t>
            </a:r>
            <a:r>
              <a:rPr sz="2000" b="1" dirty="0">
                <a:latin typeface="Arial"/>
                <a:cs typeface="Arial"/>
              </a:rPr>
              <a:t>center of defect (radius </a:t>
            </a:r>
            <a:r>
              <a:rPr sz="2000" b="1" i="1" dirty="0">
                <a:latin typeface="Arial-BoldItalicMT"/>
                <a:cs typeface="Arial-BoldItalicMT"/>
              </a:rPr>
              <a:t>r</a:t>
            </a:r>
            <a:r>
              <a:rPr sz="2000" b="1" dirty="0">
                <a:latin typeface="Arial"/>
                <a:cs typeface="Arial"/>
              </a:rPr>
              <a:t>) land</a:t>
            </a:r>
            <a:r>
              <a:rPr lang="en-US" sz="2000" b="1" dirty="0">
                <a:latin typeface="Arial"/>
                <a:cs typeface="Arial"/>
              </a:rPr>
              <a:t>s </a:t>
            </a:r>
            <a:r>
              <a:rPr sz="2000" b="1" dirty="0">
                <a:latin typeface="Arial"/>
                <a:cs typeface="Arial"/>
              </a:rPr>
              <a:t>to create a</a:t>
            </a:r>
            <a:r>
              <a:rPr sz="2000" b="1" spc="-245" dirty="0">
                <a:latin typeface="Arial"/>
                <a:cs typeface="Arial"/>
              </a:rPr>
              <a:t> </a:t>
            </a:r>
            <a:r>
              <a:rPr sz="2000" b="1" i="1" dirty="0">
                <a:latin typeface="Arial-BoldItalicMT"/>
                <a:cs typeface="Arial-BoldItalicMT"/>
              </a:rPr>
              <a:t>fault</a:t>
            </a:r>
            <a:endParaRPr sz="2000" dirty="0">
              <a:latin typeface="Arial-BoldItalicMT"/>
              <a:cs typeface="Arial-BoldItalicMT"/>
            </a:endParaRPr>
          </a:p>
          <a:p>
            <a:pPr marL="368300" indent="-34290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67665" algn="l"/>
                <a:tab pos="368300" algn="l"/>
              </a:tabLst>
            </a:pPr>
            <a:r>
              <a:rPr sz="2000" b="1" dirty="0">
                <a:latin typeface="Arial"/>
                <a:cs typeface="Arial"/>
              </a:rPr>
              <a:t>Example:</a:t>
            </a:r>
            <a:endParaRPr sz="2000" dirty="0">
              <a:latin typeface="Arial"/>
              <a:cs typeface="Arial"/>
            </a:endParaRPr>
          </a:p>
          <a:p>
            <a:pPr marL="7689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68985" algn="l"/>
                <a:tab pos="769620" algn="l"/>
                <a:tab pos="3048635" algn="l"/>
              </a:tabLst>
            </a:pPr>
            <a:r>
              <a:rPr sz="2000" b="1" dirty="0">
                <a:latin typeface="Arial"/>
                <a:cs typeface="Arial"/>
              </a:rPr>
              <a:t>(a)</a:t>
            </a:r>
            <a:r>
              <a:rPr sz="2000" b="1" spc="-2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bridging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fault	(b) open</a:t>
            </a:r>
            <a:r>
              <a:rPr sz="2000" b="1" spc="-2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fault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55904" y="3936491"/>
            <a:ext cx="7678839" cy="27188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215798" y="6399903"/>
            <a:ext cx="393802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16</a:t>
            </a:fld>
            <a:endParaRPr spc="-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24383" y="213106"/>
            <a:ext cx="8369934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0B050"/>
                </a:solidFill>
                <a:latin typeface="Arial"/>
                <a:cs typeface="Arial"/>
              </a:rPr>
              <a:t>Defect Size and Density Distribution, DSDD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30225" y="961136"/>
            <a:ext cx="5633085" cy="706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i="1" dirty="0">
                <a:solidFill>
                  <a:srgbClr val="FF0000"/>
                </a:solidFill>
                <a:latin typeface="Arial-BoldItalicMT"/>
                <a:cs typeface="Arial-BoldItalicMT"/>
              </a:rPr>
              <a:t>D(r) </a:t>
            </a:r>
            <a:r>
              <a:rPr sz="2000" b="1" dirty="0">
                <a:solidFill>
                  <a:srgbClr val="FF0000"/>
                </a:solidFill>
                <a:latin typeface="Arial"/>
                <a:cs typeface="Arial"/>
              </a:rPr>
              <a:t>= defect density per unit defect radius</a:t>
            </a:r>
            <a:r>
              <a:rPr sz="2000" b="1" spc="-17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i="1" dirty="0">
                <a:solidFill>
                  <a:srgbClr val="FF0000"/>
                </a:solidFill>
                <a:latin typeface="Arial-BoldItalicMT"/>
                <a:cs typeface="Arial-BoldItalicMT"/>
              </a:rPr>
              <a:t>r</a:t>
            </a:r>
            <a:endParaRPr sz="2000">
              <a:latin typeface="Arial-BoldItalicMT"/>
              <a:cs typeface="Arial-BoldItalicMT"/>
            </a:endParaRPr>
          </a:p>
          <a:p>
            <a:pPr marL="355600" indent="-342900">
              <a:lnSpc>
                <a:spcPct val="100000"/>
              </a:lnSpc>
              <a:spcBef>
                <a:spcPts val="47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spc="-5" dirty="0">
                <a:latin typeface="Arial"/>
                <a:cs typeface="Arial"/>
              </a:rPr>
              <a:t>Typical </a:t>
            </a:r>
            <a:r>
              <a:rPr sz="2000" b="1" dirty="0">
                <a:latin typeface="Arial"/>
                <a:cs typeface="Arial"/>
              </a:rPr>
              <a:t>DSDD</a:t>
            </a:r>
            <a:r>
              <a:rPr sz="2000" b="1" spc="10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curve: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0225" y="3887851"/>
            <a:ext cx="3576954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i="1" dirty="0">
                <a:latin typeface="Arial-BoldItalicMT"/>
                <a:cs typeface="Arial-BoldItalicMT"/>
              </a:rPr>
              <a:t>D(r) </a:t>
            </a:r>
            <a:r>
              <a:rPr sz="2000" b="1" dirty="0">
                <a:latin typeface="Arial"/>
                <a:cs typeface="Arial"/>
              </a:rPr>
              <a:t>is process</a:t>
            </a:r>
            <a:r>
              <a:rPr sz="2000" b="1" spc="-9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dependent.</a:t>
            </a:r>
            <a:endParaRPr sz="2000">
              <a:latin typeface="Arial"/>
              <a:cs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7"/>
              <p:cNvSpPr txBox="1"/>
              <p:nvPr/>
            </p:nvSpPr>
            <p:spPr>
              <a:xfrm>
                <a:off x="662025" y="4192690"/>
                <a:ext cx="3940175" cy="1497846"/>
              </a:xfrm>
              <a:prstGeom prst="rect">
                <a:avLst/>
              </a:prstGeom>
            </p:spPr>
            <p:txBody>
              <a:bodyPr vert="horz" wrap="square" lIns="0" tIns="73660" rIns="0" bIns="0" rtlCol="0">
                <a:spAutoFit/>
              </a:bodyPr>
              <a:lstStyle/>
              <a:p>
                <a:pPr marL="324485" indent="-287020">
                  <a:lnSpc>
                    <a:spcPct val="100000"/>
                  </a:lnSpc>
                  <a:spcBef>
                    <a:spcPts val="580"/>
                  </a:spcBef>
                  <a:buClr>
                    <a:srgbClr val="FF0000"/>
                  </a:buClr>
                  <a:buSzPct val="75000"/>
                  <a:buFont typeface="Arial"/>
                  <a:buChar char="◆"/>
                  <a:tabLst>
                    <a:tab pos="324485" algn="l"/>
                    <a:tab pos="325120" algn="l"/>
                  </a:tabLst>
                </a:pPr>
                <a:r>
                  <a:rPr sz="2000" b="1" dirty="0">
                    <a:latin typeface="Arial"/>
                    <a:cs typeface="Arial"/>
                  </a:rPr>
                  <a:t>Example</a:t>
                </a:r>
                <a:r>
                  <a:rPr sz="2000" b="1" spc="-30" dirty="0">
                    <a:latin typeface="Arial"/>
                    <a:cs typeface="Arial"/>
                  </a:rPr>
                  <a:t> </a:t>
                </a:r>
                <a:r>
                  <a:rPr sz="2000" b="1" spc="-5" dirty="0">
                    <a:latin typeface="Arial"/>
                    <a:cs typeface="Arial"/>
                  </a:rPr>
                  <a:t>values:</a:t>
                </a:r>
                <a:endParaRPr sz="2000" dirty="0">
                  <a:latin typeface="Arial"/>
                  <a:cs typeface="Arial"/>
                </a:endParaRPr>
              </a:p>
              <a:p>
                <a:pPr marL="324485" indent="-287020">
                  <a:lnSpc>
                    <a:spcPct val="100000"/>
                  </a:lnSpc>
                  <a:spcBef>
                    <a:spcPts val="484"/>
                  </a:spcBef>
                  <a:buClr>
                    <a:srgbClr val="FF0000"/>
                  </a:buClr>
                  <a:buSzPct val="75000"/>
                  <a:buFont typeface="Arial"/>
                  <a:buChar char="◆"/>
                  <a:tabLst>
                    <a:tab pos="324485" algn="l"/>
                    <a:tab pos="325120" algn="l"/>
                  </a:tabLst>
                </a:pPr>
                <a:r>
                  <a:rPr sz="2000" b="1" spc="5" dirty="0">
                    <a:latin typeface="Arial"/>
                    <a:cs typeface="Arial"/>
                  </a:rPr>
                  <a:t>4.5x10</a:t>
                </a:r>
                <a:r>
                  <a:rPr sz="1950" b="1" spc="7" baseline="25641" dirty="0">
                    <a:latin typeface="Arial"/>
                    <a:cs typeface="Arial"/>
                  </a:rPr>
                  <a:t>-6 </a:t>
                </a:r>
                <a:r>
                  <a:rPr sz="2000" b="1" dirty="0">
                    <a:latin typeface="Arial"/>
                    <a:cs typeface="Arial"/>
                  </a:rPr>
                  <a:t>cm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/>
                      </a:rPr>
                      <m:t>≤</m:t>
                    </m:r>
                  </m:oMath>
                </a14:m>
                <a:r>
                  <a:rPr lang="en-US" sz="2000" b="1" i="1" spc="5" dirty="0">
                    <a:solidFill>
                      <a:srgbClr val="0000FF"/>
                    </a:solidFill>
                    <a:latin typeface="Arial-BoldItalicMT"/>
                    <a:cs typeface="Arial-BoldItalicMT"/>
                  </a:rPr>
                  <a:t> </a:t>
                </a:r>
                <a:r>
                  <a:rPr sz="2000" b="1" i="1" spc="5" dirty="0">
                    <a:solidFill>
                      <a:srgbClr val="0000FF"/>
                    </a:solidFill>
                    <a:latin typeface="Arial-BoldItalicMT"/>
                    <a:cs typeface="Arial-BoldItalicMT"/>
                  </a:rPr>
                  <a:t>X</a:t>
                </a:r>
                <a:r>
                  <a:rPr sz="1950" b="1" i="1" spc="7" baseline="-21367" dirty="0">
                    <a:solidFill>
                      <a:srgbClr val="0000FF"/>
                    </a:solidFill>
                    <a:latin typeface="Arial-BoldItalicMT"/>
                    <a:cs typeface="Arial-BoldItalicMT"/>
                  </a:rPr>
                  <a:t>o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/>
                      </a:rPr>
                      <m:t>≤</m:t>
                    </m:r>
                  </m:oMath>
                </a14:m>
                <a:r>
                  <a:rPr lang="en-US" sz="2000" b="1" spc="-535" dirty="0">
                    <a:latin typeface="Arial"/>
                    <a:cs typeface="Arial"/>
                  </a:rPr>
                  <a:t>   </a:t>
                </a:r>
                <a:r>
                  <a:rPr sz="2000" b="1" spc="-535" dirty="0">
                    <a:latin typeface="Arial"/>
                    <a:cs typeface="Arial"/>
                  </a:rPr>
                  <a:t> </a:t>
                </a:r>
                <a:r>
                  <a:rPr lang="en-US" sz="2000" b="1" spc="-535" dirty="0">
                    <a:latin typeface="Arial"/>
                    <a:cs typeface="Arial"/>
                  </a:rPr>
                  <a:t>   </a:t>
                </a:r>
                <a:r>
                  <a:rPr sz="2000" b="1" dirty="0">
                    <a:latin typeface="Arial"/>
                    <a:cs typeface="Arial"/>
                  </a:rPr>
                  <a:t>5.5x10</a:t>
                </a:r>
                <a:r>
                  <a:rPr sz="1950" b="1" baseline="25641" dirty="0">
                    <a:latin typeface="Arial"/>
                    <a:cs typeface="Arial"/>
                  </a:rPr>
                  <a:t>-6</a:t>
                </a:r>
                <a:r>
                  <a:rPr sz="1950" b="1" spc="240" baseline="25641" dirty="0">
                    <a:latin typeface="Arial"/>
                    <a:cs typeface="Arial"/>
                  </a:rPr>
                  <a:t> </a:t>
                </a:r>
                <a:r>
                  <a:rPr sz="2000" b="1" spc="-185" dirty="0">
                    <a:latin typeface="Arial"/>
                    <a:cs typeface="Arial"/>
                  </a:rPr>
                  <a:t>cm</a:t>
                </a:r>
                <a:endParaRPr sz="2000" dirty="0">
                  <a:latin typeface="Arial"/>
                  <a:cs typeface="Arial"/>
                </a:endParaRPr>
              </a:p>
              <a:p>
                <a:pPr marL="324485" indent="-287020">
                  <a:lnSpc>
                    <a:spcPct val="100000"/>
                  </a:lnSpc>
                  <a:spcBef>
                    <a:spcPts val="480"/>
                  </a:spcBef>
                  <a:buClr>
                    <a:srgbClr val="FF0000"/>
                  </a:buClr>
                  <a:buSzPct val="75000"/>
                  <a:buFont typeface="Arial"/>
                  <a:buChar char="◆"/>
                  <a:tabLst>
                    <a:tab pos="324485" algn="l"/>
                    <a:tab pos="325120" algn="l"/>
                    <a:tab pos="1026794" algn="l"/>
                    <a:tab pos="1531620" algn="l"/>
                  </a:tabLst>
                </a:pPr>
                <a:r>
                  <a:rPr sz="2000" b="1" dirty="0">
                    <a:latin typeface="Arial"/>
                    <a:cs typeface="Arial"/>
                  </a:rPr>
                  <a:t>2.0</a:t>
                </a:r>
                <a:r>
                  <a:rPr sz="2000" b="1" spc="-10" dirty="0">
                    <a:latin typeface="Arial"/>
                    <a:cs typeface="Arial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/>
                      </a:rPr>
                      <m:t>≤ </m:t>
                    </m:r>
                  </m:oMath>
                </a14:m>
                <a:r>
                  <a:rPr sz="2000" b="1" spc="-535" dirty="0">
                    <a:latin typeface="Arial"/>
                    <a:cs typeface="Arial"/>
                  </a:rPr>
                  <a:t>	</a:t>
                </a:r>
                <a:r>
                  <a:rPr sz="2000" b="1" i="1" dirty="0">
                    <a:solidFill>
                      <a:srgbClr val="0000FF"/>
                    </a:solidFill>
                    <a:latin typeface="Arial-BoldItalicMT"/>
                    <a:cs typeface="Arial-BoldItalicMT"/>
                  </a:rPr>
                  <a:t>p</a:t>
                </a:r>
                <a:r>
                  <a:rPr sz="2000" b="1" i="1" spc="-20" dirty="0">
                    <a:solidFill>
                      <a:srgbClr val="0000FF"/>
                    </a:solidFill>
                    <a:latin typeface="Arial-BoldItalicMT"/>
                    <a:cs typeface="Arial-BoldItalicMT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/>
                      </a:rPr>
                      <m:t>≤ </m:t>
                    </m:r>
                  </m:oMath>
                </a14:m>
                <a:r>
                  <a:rPr sz="2000" b="1" spc="-535" dirty="0">
                    <a:latin typeface="Arial"/>
                    <a:cs typeface="Arial"/>
                  </a:rPr>
                  <a:t>	</a:t>
                </a:r>
                <a:r>
                  <a:rPr sz="2000" b="1" dirty="0">
                    <a:latin typeface="Arial"/>
                    <a:cs typeface="Arial"/>
                  </a:rPr>
                  <a:t>3.0</a:t>
                </a:r>
                <a:endParaRPr sz="2000" dirty="0">
                  <a:latin typeface="Arial"/>
                  <a:cs typeface="Arial"/>
                </a:endParaRPr>
              </a:p>
              <a:p>
                <a:pPr marL="324485" indent="-287020">
                  <a:lnSpc>
                    <a:spcPct val="100000"/>
                  </a:lnSpc>
                  <a:spcBef>
                    <a:spcPts val="480"/>
                  </a:spcBef>
                  <a:buClr>
                    <a:srgbClr val="FF0000"/>
                  </a:buClr>
                  <a:buSzPct val="75000"/>
                  <a:buFont typeface="Arial"/>
                  <a:buChar char="◆"/>
                  <a:tabLst>
                    <a:tab pos="324485" algn="l"/>
                    <a:tab pos="325120" algn="l"/>
                  </a:tabLst>
                </a:pPr>
                <a:r>
                  <a:rPr sz="2000" b="1" dirty="0">
                    <a:latin typeface="Arial"/>
                    <a:cs typeface="Arial"/>
                  </a:rPr>
                  <a:t>0.25 /cm</a:t>
                </a:r>
                <a:r>
                  <a:rPr sz="1950" b="1" baseline="25641" dirty="0">
                    <a:latin typeface="Arial"/>
                    <a:cs typeface="Arial"/>
                  </a:rPr>
                  <a:t>2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/>
                      </a:rPr>
                      <m:t>≤</m:t>
                    </m:r>
                  </m:oMath>
                </a14:m>
                <a:r>
                  <a:rPr sz="2000" b="1" spc="-535" dirty="0">
                    <a:latin typeface="Arial"/>
                    <a:cs typeface="Arial"/>
                  </a:rPr>
                  <a:t> </a:t>
                </a:r>
                <a:r>
                  <a:rPr lang="en-US" sz="2000" b="1" spc="-535" dirty="0">
                    <a:latin typeface="Arial"/>
                    <a:cs typeface="Arial"/>
                  </a:rPr>
                  <a:t> </a:t>
                </a:r>
                <a:r>
                  <a:rPr sz="2000" b="1" i="1" spc="10" dirty="0">
                    <a:solidFill>
                      <a:srgbClr val="0000FF"/>
                    </a:solidFill>
                    <a:latin typeface="Arial-BoldItalicMT"/>
                    <a:cs typeface="Arial-BoldItalicMT"/>
                  </a:rPr>
                  <a:t>D</a:t>
                </a:r>
                <a:r>
                  <a:rPr sz="1950" b="1" i="1" spc="15" baseline="-21367" dirty="0">
                    <a:solidFill>
                      <a:srgbClr val="0000FF"/>
                    </a:solidFill>
                    <a:latin typeface="Arial-BoldItalicMT"/>
                    <a:cs typeface="Arial-BoldItalicMT"/>
                  </a:rPr>
                  <a:t>o</a:t>
                </a:r>
                <a:r>
                  <a:rPr lang="en-US" b="1" dirty="0">
                    <a:ea typeface="Cambria Math" panose="02040503050406030204" pitchFamily="18" charset="0"/>
                    <a:cs typeface="Arial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/>
                      </a:rPr>
                      <m:t>≤</m:t>
                    </m:r>
                  </m:oMath>
                </a14:m>
                <a:r>
                  <a:rPr sz="2000" b="1" spc="-535" dirty="0">
                    <a:latin typeface="Arial"/>
                    <a:cs typeface="Arial"/>
                  </a:rPr>
                  <a:t> </a:t>
                </a:r>
                <a:r>
                  <a:rPr sz="2000" b="1" dirty="0">
                    <a:latin typeface="Arial"/>
                    <a:cs typeface="Arial"/>
                  </a:rPr>
                  <a:t>0.6</a:t>
                </a:r>
                <a:r>
                  <a:rPr sz="2000" b="1" spc="-235" dirty="0">
                    <a:latin typeface="Arial"/>
                    <a:cs typeface="Arial"/>
                  </a:rPr>
                  <a:t> </a:t>
                </a:r>
                <a:r>
                  <a:rPr sz="2000" b="1" dirty="0">
                    <a:latin typeface="Arial"/>
                    <a:cs typeface="Arial"/>
                  </a:rPr>
                  <a:t>/cm</a:t>
                </a:r>
                <a:r>
                  <a:rPr sz="1950" b="1" baseline="25641" dirty="0">
                    <a:latin typeface="Arial"/>
                    <a:cs typeface="Arial"/>
                  </a:rPr>
                  <a:t>2</a:t>
                </a:r>
                <a:endParaRPr sz="1950" baseline="25641" dirty="0"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7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025" y="4192690"/>
                <a:ext cx="3940175" cy="1497846"/>
              </a:xfrm>
              <a:prstGeom prst="rect">
                <a:avLst/>
              </a:prstGeom>
              <a:blipFill>
                <a:blip r:embed="rId2"/>
                <a:stretch>
                  <a:fillRect l="-2572" t="-847" r="-965" b="-101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object 25"/>
          <p:cNvSpPr/>
          <p:nvPr/>
        </p:nvSpPr>
        <p:spPr>
          <a:xfrm>
            <a:off x="6063234" y="4026408"/>
            <a:ext cx="2665730" cy="86995"/>
          </a:xfrm>
          <a:custGeom>
            <a:avLst/>
            <a:gdLst/>
            <a:ahLst/>
            <a:cxnLst/>
            <a:rect l="l" t="t" r="r" b="b"/>
            <a:pathLst>
              <a:path w="2665729" h="86995">
                <a:moveTo>
                  <a:pt x="2578608" y="0"/>
                </a:moveTo>
                <a:lnTo>
                  <a:pt x="2578608" y="86868"/>
                </a:lnTo>
                <a:lnTo>
                  <a:pt x="2636519" y="57912"/>
                </a:lnTo>
                <a:lnTo>
                  <a:pt x="2593086" y="57912"/>
                </a:lnTo>
                <a:lnTo>
                  <a:pt x="2593086" y="28956"/>
                </a:lnTo>
                <a:lnTo>
                  <a:pt x="2636519" y="28956"/>
                </a:lnTo>
                <a:lnTo>
                  <a:pt x="2578608" y="0"/>
                </a:lnTo>
                <a:close/>
              </a:path>
              <a:path w="2665729" h="86995">
                <a:moveTo>
                  <a:pt x="2578608" y="28956"/>
                </a:moveTo>
                <a:lnTo>
                  <a:pt x="0" y="28956"/>
                </a:lnTo>
                <a:lnTo>
                  <a:pt x="0" y="57912"/>
                </a:lnTo>
                <a:lnTo>
                  <a:pt x="2578608" y="57912"/>
                </a:lnTo>
                <a:lnTo>
                  <a:pt x="2578608" y="28956"/>
                </a:lnTo>
                <a:close/>
              </a:path>
              <a:path w="2665729" h="86995">
                <a:moveTo>
                  <a:pt x="2636519" y="28956"/>
                </a:moveTo>
                <a:lnTo>
                  <a:pt x="2593086" y="28956"/>
                </a:lnTo>
                <a:lnTo>
                  <a:pt x="2593086" y="57912"/>
                </a:lnTo>
                <a:lnTo>
                  <a:pt x="2636519" y="57912"/>
                </a:lnTo>
                <a:lnTo>
                  <a:pt x="2665475" y="43434"/>
                </a:lnTo>
                <a:lnTo>
                  <a:pt x="2636519" y="289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6019800" y="2701289"/>
            <a:ext cx="86995" cy="1369060"/>
          </a:xfrm>
          <a:custGeom>
            <a:avLst/>
            <a:gdLst/>
            <a:ahLst/>
            <a:cxnLst/>
            <a:rect l="l" t="t" r="r" b="b"/>
            <a:pathLst>
              <a:path w="86995" h="1369060">
                <a:moveTo>
                  <a:pt x="57912" y="72389"/>
                </a:moveTo>
                <a:lnTo>
                  <a:pt x="28955" y="72389"/>
                </a:lnTo>
                <a:lnTo>
                  <a:pt x="28955" y="1368552"/>
                </a:lnTo>
                <a:lnTo>
                  <a:pt x="57912" y="1368552"/>
                </a:lnTo>
                <a:lnTo>
                  <a:pt x="57912" y="72389"/>
                </a:lnTo>
                <a:close/>
              </a:path>
              <a:path w="86995" h="1369060">
                <a:moveTo>
                  <a:pt x="43434" y="0"/>
                </a:moveTo>
                <a:lnTo>
                  <a:pt x="0" y="86868"/>
                </a:lnTo>
                <a:lnTo>
                  <a:pt x="28955" y="86868"/>
                </a:lnTo>
                <a:lnTo>
                  <a:pt x="28955" y="72389"/>
                </a:lnTo>
                <a:lnTo>
                  <a:pt x="79628" y="72389"/>
                </a:lnTo>
                <a:lnTo>
                  <a:pt x="43434" y="0"/>
                </a:lnTo>
                <a:close/>
              </a:path>
              <a:path w="86995" h="1369060">
                <a:moveTo>
                  <a:pt x="79628" y="72389"/>
                </a:moveTo>
                <a:lnTo>
                  <a:pt x="57912" y="72389"/>
                </a:lnTo>
                <a:lnTo>
                  <a:pt x="57912" y="86868"/>
                </a:lnTo>
                <a:lnTo>
                  <a:pt x="86867" y="86868"/>
                </a:lnTo>
                <a:lnTo>
                  <a:pt x="79628" y="7238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6063234" y="2917698"/>
            <a:ext cx="431800" cy="1152525"/>
          </a:xfrm>
          <a:custGeom>
            <a:avLst/>
            <a:gdLst/>
            <a:ahLst/>
            <a:cxnLst/>
            <a:rect l="l" t="t" r="r" b="b"/>
            <a:pathLst>
              <a:path w="431800" h="1152525">
                <a:moveTo>
                  <a:pt x="0" y="1152144"/>
                </a:moveTo>
                <a:lnTo>
                  <a:pt x="431291" y="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6494526" y="2917698"/>
            <a:ext cx="1918970" cy="1111250"/>
          </a:xfrm>
          <a:custGeom>
            <a:avLst/>
            <a:gdLst/>
            <a:ahLst/>
            <a:cxnLst/>
            <a:rect l="l" t="t" r="r" b="b"/>
            <a:pathLst>
              <a:path w="1918970" h="1111250">
                <a:moveTo>
                  <a:pt x="0" y="0"/>
                </a:moveTo>
                <a:lnTo>
                  <a:pt x="6770" y="56487"/>
                </a:lnTo>
                <a:lnTo>
                  <a:pt x="13708" y="112697"/>
                </a:lnTo>
                <a:lnTo>
                  <a:pt x="20883" y="168361"/>
                </a:lnTo>
                <a:lnTo>
                  <a:pt x="28369" y="223205"/>
                </a:lnTo>
                <a:lnTo>
                  <a:pt x="36236" y="276958"/>
                </a:lnTo>
                <a:lnTo>
                  <a:pt x="44557" y="329349"/>
                </a:lnTo>
                <a:lnTo>
                  <a:pt x="53404" y="380106"/>
                </a:lnTo>
                <a:lnTo>
                  <a:pt x="62848" y="428957"/>
                </a:lnTo>
                <a:lnTo>
                  <a:pt x="72961" y="475632"/>
                </a:lnTo>
                <a:lnTo>
                  <a:pt x="83814" y="519857"/>
                </a:lnTo>
                <a:lnTo>
                  <a:pt x="95481" y="561363"/>
                </a:lnTo>
                <a:lnTo>
                  <a:pt x="108031" y="599876"/>
                </a:lnTo>
                <a:lnTo>
                  <a:pt x="148598" y="691257"/>
                </a:lnTo>
                <a:lnTo>
                  <a:pt x="177727" y="736591"/>
                </a:lnTo>
                <a:lnTo>
                  <a:pt x="209070" y="773176"/>
                </a:lnTo>
                <a:lnTo>
                  <a:pt x="242767" y="803061"/>
                </a:lnTo>
                <a:lnTo>
                  <a:pt x="278961" y="828294"/>
                </a:lnTo>
                <a:lnTo>
                  <a:pt x="317795" y="850924"/>
                </a:lnTo>
                <a:lnTo>
                  <a:pt x="359409" y="872997"/>
                </a:lnTo>
                <a:lnTo>
                  <a:pt x="421949" y="902098"/>
                </a:lnTo>
                <a:lnTo>
                  <a:pt x="481012" y="917876"/>
                </a:lnTo>
                <a:lnTo>
                  <a:pt x="519613" y="924210"/>
                </a:lnTo>
                <a:lnTo>
                  <a:pt x="569793" y="931344"/>
                </a:lnTo>
                <a:lnTo>
                  <a:pt x="635701" y="940654"/>
                </a:lnTo>
                <a:lnTo>
                  <a:pt x="721487" y="953515"/>
                </a:lnTo>
                <a:lnTo>
                  <a:pt x="790458" y="963936"/>
                </a:lnTo>
                <a:lnTo>
                  <a:pt x="867417" y="975032"/>
                </a:lnTo>
                <a:lnTo>
                  <a:pt x="908669" y="980816"/>
                </a:lnTo>
                <a:lnTo>
                  <a:pt x="951648" y="986748"/>
                </a:lnTo>
                <a:lnTo>
                  <a:pt x="996267" y="992821"/>
                </a:lnTo>
                <a:lnTo>
                  <a:pt x="1042434" y="999029"/>
                </a:lnTo>
                <a:lnTo>
                  <a:pt x="1090062" y="1005363"/>
                </a:lnTo>
                <a:lnTo>
                  <a:pt x="1139059" y="1011819"/>
                </a:lnTo>
                <a:lnTo>
                  <a:pt x="1189337" y="1018388"/>
                </a:lnTo>
                <a:lnTo>
                  <a:pt x="1240805" y="1025064"/>
                </a:lnTo>
                <a:lnTo>
                  <a:pt x="1293375" y="1031840"/>
                </a:lnTo>
                <a:lnTo>
                  <a:pt x="1346957" y="1038709"/>
                </a:lnTo>
                <a:lnTo>
                  <a:pt x="1401461" y="1045664"/>
                </a:lnTo>
                <a:lnTo>
                  <a:pt x="1456798" y="1052698"/>
                </a:lnTo>
                <a:lnTo>
                  <a:pt x="1512877" y="1059804"/>
                </a:lnTo>
                <a:lnTo>
                  <a:pt x="1569610" y="1066976"/>
                </a:lnTo>
                <a:lnTo>
                  <a:pt x="1626907" y="1074207"/>
                </a:lnTo>
                <a:lnTo>
                  <a:pt x="1684679" y="1081489"/>
                </a:lnTo>
                <a:lnTo>
                  <a:pt x="1742835" y="1088815"/>
                </a:lnTo>
                <a:lnTo>
                  <a:pt x="1801286" y="1096180"/>
                </a:lnTo>
                <a:lnTo>
                  <a:pt x="1859943" y="1103576"/>
                </a:lnTo>
                <a:lnTo>
                  <a:pt x="1918716" y="1110995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8787510" y="3946016"/>
            <a:ext cx="12446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i="1" dirty="0">
                <a:latin typeface="HelveticaNeue-BoldItalic"/>
                <a:cs typeface="HelveticaNeue-BoldItalic"/>
              </a:rPr>
              <a:t>r</a:t>
            </a:r>
            <a:endParaRPr sz="2000">
              <a:latin typeface="HelveticaNeue-BoldItalic"/>
              <a:cs typeface="HelveticaNeue-BoldItalic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494401" y="2497963"/>
            <a:ext cx="46545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i="1" spc="-35" dirty="0">
                <a:latin typeface="HelveticaNeue-BoldItalic"/>
                <a:cs typeface="HelveticaNeue-BoldItalic"/>
              </a:rPr>
              <a:t>D</a:t>
            </a:r>
            <a:r>
              <a:rPr sz="2000" b="1" i="1" spc="40" dirty="0">
                <a:latin typeface="HelveticaNeue-BoldItalic"/>
                <a:cs typeface="HelveticaNeue-BoldItalic"/>
              </a:rPr>
              <a:t>(</a:t>
            </a:r>
            <a:r>
              <a:rPr sz="2000" b="1" i="1" dirty="0">
                <a:latin typeface="HelveticaNeue-BoldItalic"/>
                <a:cs typeface="HelveticaNeue-BoldItalic"/>
              </a:rPr>
              <a:t>r)</a:t>
            </a:r>
            <a:endParaRPr sz="2000">
              <a:latin typeface="HelveticaNeue-BoldItalic"/>
              <a:cs typeface="HelveticaNeue-BoldItalic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310629" y="4198365"/>
            <a:ext cx="34607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000" b="1" i="1" spc="5" dirty="0">
                <a:latin typeface="HelveticaNeue-BoldItalic"/>
                <a:cs typeface="HelveticaNeue-BoldItalic"/>
              </a:rPr>
              <a:t>X</a:t>
            </a:r>
            <a:r>
              <a:rPr sz="1950" b="1" i="1" spc="7" baseline="-21367" dirty="0">
                <a:latin typeface="HelveticaNeue-BoldItalic"/>
                <a:cs typeface="HelveticaNeue-BoldItalic"/>
              </a:rPr>
              <a:t>o</a:t>
            </a:r>
            <a:endParaRPr sz="1950" baseline="-21367">
              <a:latin typeface="HelveticaNeue-BoldItalic"/>
              <a:cs typeface="HelveticaNeue-BoldItalic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6470141" y="3957065"/>
            <a:ext cx="0" cy="144780"/>
          </a:xfrm>
          <a:custGeom>
            <a:avLst/>
            <a:gdLst/>
            <a:ahLst/>
            <a:cxnLst/>
            <a:rect l="l" t="t" r="r" b="b"/>
            <a:pathLst>
              <a:path h="144779">
                <a:moveTo>
                  <a:pt x="0" y="0"/>
                </a:moveTo>
                <a:lnTo>
                  <a:pt x="0" y="144779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89D42E0E-A9CB-BAA5-075D-ED7B9D8AE6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455" y="1670338"/>
            <a:ext cx="3972613" cy="1990852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8FDB1F0D-4B6D-3619-7FE0-B95A9227D22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2226" y="5924816"/>
            <a:ext cx="4607915" cy="730733"/>
          </a:xfrm>
          <a:prstGeom prst="rect">
            <a:avLst/>
          </a:prstGeom>
        </p:spPr>
      </p:pic>
      <p:sp>
        <p:nvSpPr>
          <p:cNvPr id="3" name="object 6">
            <a:extLst>
              <a:ext uri="{FF2B5EF4-FFF2-40B4-BE49-F238E27FC236}">
                <a16:creationId xmlns:a16="http://schemas.microsoft.com/office/drawing/2014/main" id="{57224B24-E851-079A-84DC-4A56DEDDF458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215798" y="6399903"/>
            <a:ext cx="393802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17</a:t>
            </a:fld>
            <a:endParaRPr spc="-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169414" y="164414"/>
            <a:ext cx="467995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0B050"/>
                </a:solidFill>
                <a:latin typeface="Arial"/>
                <a:cs typeface="Arial"/>
              </a:rPr>
              <a:t>Yield Estimation (CA)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6"/>
              <p:cNvSpPr txBox="1"/>
              <p:nvPr/>
            </p:nvSpPr>
            <p:spPr>
              <a:xfrm>
                <a:off x="230224" y="1985799"/>
                <a:ext cx="5938927" cy="774186"/>
              </a:xfrm>
              <a:prstGeom prst="rect">
                <a:avLst/>
              </a:prstGeom>
            </p:spPr>
            <p:txBody>
              <a:bodyPr vert="horz" wrap="square" lIns="0" tIns="73025" rIns="0" bIns="0" rtlCol="0">
                <a:spAutoFit/>
              </a:bodyPr>
              <a:lstStyle/>
              <a:p>
                <a:pPr marL="355600" indent="-342900">
                  <a:lnSpc>
                    <a:spcPct val="100000"/>
                  </a:lnSpc>
                  <a:spcBef>
                    <a:spcPts val="575"/>
                  </a:spcBef>
                  <a:buClr>
                    <a:srgbClr val="FF0000"/>
                  </a:buClr>
                  <a:buSzPct val="120000"/>
                  <a:buFont typeface="Arial"/>
                  <a:buChar char="•"/>
                  <a:tabLst>
                    <a:tab pos="354965" algn="l"/>
                    <a:tab pos="355600" algn="l"/>
                  </a:tabLst>
                </a:pPr>
                <a:r>
                  <a:rPr lang="en-US" sz="2000" b="1" dirty="0">
                    <a:latin typeface="Arial"/>
                    <a:cs typeface="Arial"/>
                  </a:rPr>
                  <a:t>Again, </a:t>
                </a:r>
                <a:r>
                  <a:rPr lang="en-US" sz="2000" b="1" i="1" dirty="0">
                    <a:latin typeface="Arial-BoldItalicMT"/>
                    <a:cs typeface="Arial-BoldItalicMT"/>
                  </a:rPr>
                  <a:t>Poisson distribution </a:t>
                </a:r>
                <a:r>
                  <a:rPr lang="en-US" sz="2000" b="1" dirty="0">
                    <a:latin typeface="Arial"/>
                    <a:cs typeface="Arial"/>
                  </a:rPr>
                  <a:t>with mean</a:t>
                </a:r>
                <a:r>
                  <a:rPr lang="en-US" sz="2000" b="1" spc="-165" dirty="0">
                    <a:latin typeface="Arial"/>
                    <a:cs typeface="Arial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100" b="1" i="1" spc="-915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-BoldItalicMT"/>
                      </a:rPr>
                      <m:t>λ</m:t>
                    </m:r>
                    <m:r>
                      <a:rPr lang="el-GR" sz="2100" b="1" i="1" spc="-915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-BoldItalicMT"/>
                      </a:rPr>
                      <m:t> </m:t>
                    </m:r>
                  </m:oMath>
                </a14:m>
                <a:r>
                  <a:rPr lang="en-US" sz="2000" b="1" dirty="0">
                    <a:latin typeface="Arial"/>
                    <a:cs typeface="Arial"/>
                  </a:rPr>
                  <a:t>  </a:t>
                </a:r>
              </a:p>
              <a:p>
                <a:pPr marL="12700">
                  <a:lnSpc>
                    <a:spcPct val="100000"/>
                  </a:lnSpc>
                  <a:spcBef>
                    <a:spcPts val="575"/>
                  </a:spcBef>
                  <a:buClr>
                    <a:srgbClr val="FF0000"/>
                  </a:buClr>
                  <a:buSzPct val="120000"/>
                  <a:tabLst>
                    <a:tab pos="354965" algn="l"/>
                    <a:tab pos="355600" algn="l"/>
                  </a:tabLst>
                </a:pPr>
                <a:r>
                  <a:rPr lang="en-US" sz="2000" b="1" dirty="0">
                    <a:latin typeface="Arial"/>
                    <a:cs typeface="Arial"/>
                  </a:rPr>
                  <a:t>	Yield </a:t>
                </a:r>
                <a:r>
                  <a:rPr lang="en-US" sz="2000" b="1" i="1" dirty="0">
                    <a:latin typeface="Arial-BoldItalicMT"/>
                    <a:cs typeface="Arial-BoldItalicMT"/>
                  </a:rPr>
                  <a:t>=</a:t>
                </a:r>
                <a:r>
                  <a:rPr lang="en-US" sz="2000" b="1" i="1" spc="-15" dirty="0">
                    <a:latin typeface="Arial-BoldItalicMT"/>
                    <a:cs typeface="Arial-BoldItalicMT"/>
                  </a:rPr>
                  <a:t> </a:t>
                </a:r>
                <a:r>
                  <a:rPr lang="en-US" sz="2000" b="1" i="1" dirty="0">
                    <a:solidFill>
                      <a:srgbClr val="0000FF"/>
                    </a:solidFill>
                    <a:latin typeface="TimesNewRomanPS-BoldItalicMT"/>
                    <a:cs typeface="TimesNewRomanPS-BoldItalicMT"/>
                  </a:rPr>
                  <a:t>Prob(k=0)</a:t>
                </a:r>
                <a:r>
                  <a:rPr lang="en-US" sz="2000" b="1" dirty="0">
                    <a:latin typeface="Arial"/>
                    <a:cs typeface="Arial"/>
                  </a:rPr>
                  <a:t>,	zero defect in</a:t>
                </a:r>
                <a:r>
                  <a:rPr lang="en-US" sz="2000" b="1" spc="-100" dirty="0">
                    <a:latin typeface="Arial"/>
                    <a:cs typeface="Arial"/>
                  </a:rPr>
                  <a:t> </a:t>
                </a:r>
                <a:r>
                  <a:rPr lang="en-US" sz="2000" b="1" spc="5" dirty="0">
                    <a:latin typeface="Arial"/>
                    <a:cs typeface="Arial"/>
                  </a:rPr>
                  <a:t>CA</a:t>
                </a:r>
                <a:endParaRPr sz="2000" dirty="0"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6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224" y="1985799"/>
                <a:ext cx="5938927" cy="774186"/>
              </a:xfrm>
              <a:prstGeom prst="rect">
                <a:avLst/>
              </a:prstGeom>
              <a:blipFill>
                <a:blip r:embed="rId3"/>
                <a:stretch>
                  <a:fillRect l="-2778" t="-4839" b="-193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object 7"/>
          <p:cNvSpPr txBox="1"/>
          <p:nvPr/>
        </p:nvSpPr>
        <p:spPr>
          <a:xfrm>
            <a:off x="230225" y="3827877"/>
            <a:ext cx="7368540" cy="112268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75"/>
              </a:spcBef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i="1" dirty="0">
                <a:solidFill>
                  <a:srgbClr val="FF0000"/>
                </a:solidFill>
                <a:latin typeface="Arial-BoldItalicMT"/>
                <a:cs typeface="Arial-BoldItalicMT"/>
              </a:rPr>
              <a:t>Critical area analysis (CAA) </a:t>
            </a:r>
            <a:r>
              <a:rPr sz="2000" b="1" dirty="0">
                <a:latin typeface="Arial"/>
                <a:cs typeface="Arial"/>
              </a:rPr>
              <a:t>is useful tool to estimate</a:t>
            </a:r>
            <a:r>
              <a:rPr sz="2000" b="1" spc="-215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yield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1. modify design for </a:t>
            </a:r>
            <a:r>
              <a:rPr sz="2000" b="1" spc="-10" dirty="0">
                <a:latin typeface="Arial"/>
                <a:cs typeface="Arial"/>
              </a:rPr>
              <a:t>yield</a:t>
            </a:r>
            <a:r>
              <a:rPr sz="2000" b="1" spc="-65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improvement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2. extract bridging </a:t>
            </a:r>
            <a:r>
              <a:rPr sz="2000" b="1" spc="-5" dirty="0">
                <a:latin typeface="Arial"/>
                <a:cs typeface="Arial"/>
              </a:rPr>
              <a:t>or </a:t>
            </a:r>
            <a:r>
              <a:rPr sz="2000" b="1" dirty="0">
                <a:latin typeface="Arial"/>
                <a:cs typeface="Arial"/>
              </a:rPr>
              <a:t>open faults for</a:t>
            </a:r>
            <a:r>
              <a:rPr sz="2000" b="1" spc="-13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ATPG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30225" y="874767"/>
            <a:ext cx="6380480" cy="699770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8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Expected number of defects per die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landing in</a:t>
            </a:r>
            <a:r>
              <a:rPr sz="2000" b="1" spc="-1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CA</a:t>
            </a:r>
            <a:endParaRPr sz="2000">
              <a:latin typeface="Arial"/>
              <a:cs typeface="Arial"/>
            </a:endParaRPr>
          </a:p>
          <a:p>
            <a:pPr marR="1684655" algn="ctr">
              <a:lnSpc>
                <a:spcPct val="100000"/>
              </a:lnSpc>
              <a:spcBef>
                <a:spcPts val="484"/>
              </a:spcBef>
            </a:pPr>
            <a:r>
              <a:rPr sz="1450" spc="-65" dirty="0">
                <a:latin typeface="Arial"/>
                <a:cs typeface="Arial"/>
              </a:rPr>
              <a:t></a:t>
            </a:r>
            <a:endParaRPr sz="145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169152" y="4637532"/>
            <a:ext cx="2974848" cy="206806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6446520" y="3012948"/>
            <a:ext cx="1377950" cy="510540"/>
          </a:xfrm>
          <a:prstGeom prst="rect">
            <a:avLst/>
          </a:prstGeom>
          <a:solidFill>
            <a:srgbClr val="BEBEBE"/>
          </a:solidFill>
          <a:ln w="1524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36195">
              <a:lnSpc>
                <a:spcPts val="2485"/>
              </a:lnSpc>
              <a:tabLst>
                <a:tab pos="391795" algn="l"/>
              </a:tabLst>
            </a:pPr>
            <a:r>
              <a:rPr sz="4350" i="1" spc="30" baseline="-24904" dirty="0">
                <a:latin typeface="Times New Roman"/>
                <a:cs typeface="Times New Roman"/>
              </a:rPr>
              <a:t>Y	</a:t>
            </a:r>
            <a:r>
              <a:rPr sz="4350" spc="-127" baseline="-24904" dirty="0">
                <a:latin typeface="Arial"/>
                <a:cs typeface="Arial"/>
              </a:rPr>
              <a:t>= </a:t>
            </a:r>
            <a:r>
              <a:rPr sz="4350" i="1" spc="60" baseline="-24904" dirty="0">
                <a:latin typeface="Times New Roman"/>
                <a:cs typeface="Times New Roman"/>
              </a:rPr>
              <a:t>e</a:t>
            </a:r>
            <a:r>
              <a:rPr sz="1700" spc="40" dirty="0">
                <a:latin typeface="Arial"/>
                <a:cs typeface="Arial"/>
              </a:rPr>
              <a:t>−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i="1" spc="85" dirty="0">
                <a:latin typeface="Times New Roman"/>
                <a:cs typeface="Times New Roman"/>
              </a:rPr>
              <a:t>AD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880353" y="3190494"/>
            <a:ext cx="394970" cy="192405"/>
          </a:xfrm>
          <a:custGeom>
            <a:avLst/>
            <a:gdLst/>
            <a:ahLst/>
            <a:cxnLst/>
            <a:rect l="l" t="t" r="r" b="b"/>
            <a:pathLst>
              <a:path w="394970" h="192404">
                <a:moveTo>
                  <a:pt x="0" y="96011"/>
                </a:moveTo>
                <a:lnTo>
                  <a:pt x="96012" y="0"/>
                </a:lnTo>
                <a:lnTo>
                  <a:pt x="96012" y="48005"/>
                </a:lnTo>
                <a:lnTo>
                  <a:pt x="298704" y="48005"/>
                </a:lnTo>
                <a:lnTo>
                  <a:pt x="298704" y="0"/>
                </a:lnTo>
                <a:lnTo>
                  <a:pt x="394716" y="96011"/>
                </a:lnTo>
                <a:lnTo>
                  <a:pt x="298704" y="192023"/>
                </a:lnTo>
                <a:lnTo>
                  <a:pt x="298704" y="144017"/>
                </a:lnTo>
                <a:lnTo>
                  <a:pt x="96012" y="144017"/>
                </a:lnTo>
                <a:lnTo>
                  <a:pt x="96012" y="192023"/>
                </a:lnTo>
                <a:lnTo>
                  <a:pt x="0" y="96011"/>
                </a:lnTo>
                <a:close/>
              </a:path>
            </a:pathLst>
          </a:custGeom>
          <a:ln w="28956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6334505" y="2593086"/>
            <a:ext cx="164782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7E7E7E"/>
                </a:solidFill>
                <a:latin typeface="Helvetica"/>
                <a:cs typeface="Helvetica"/>
              </a:rPr>
              <a:t>simple</a:t>
            </a:r>
            <a:r>
              <a:rPr sz="2000" b="1" spc="-105" dirty="0">
                <a:solidFill>
                  <a:srgbClr val="7E7E7E"/>
                </a:solidFill>
                <a:latin typeface="Helvetica"/>
                <a:cs typeface="Helvetica"/>
              </a:rPr>
              <a:t> </a:t>
            </a:r>
            <a:r>
              <a:rPr sz="2000" b="1" dirty="0">
                <a:solidFill>
                  <a:srgbClr val="7E7E7E"/>
                </a:solidFill>
                <a:latin typeface="Helvetica"/>
                <a:cs typeface="Helvetica"/>
              </a:rPr>
              <a:t>model</a:t>
            </a:r>
            <a:endParaRPr sz="2000">
              <a:latin typeface="Helvetica"/>
              <a:cs typeface="Helvetica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D9DE5B1D-38FF-474E-9BF5-0B8722BE7E0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4609" y="1236032"/>
            <a:ext cx="3737991" cy="769268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A41D1C30-4023-D66A-144E-3693E8A6147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6300" y="2895600"/>
            <a:ext cx="3568700" cy="826251"/>
          </a:xfrm>
          <a:prstGeom prst="rect">
            <a:avLst/>
          </a:prstGeom>
        </p:spPr>
      </p:pic>
      <p:sp>
        <p:nvSpPr>
          <p:cNvPr id="3" name="object 6">
            <a:extLst>
              <a:ext uri="{FF2B5EF4-FFF2-40B4-BE49-F238E27FC236}">
                <a16:creationId xmlns:a16="http://schemas.microsoft.com/office/drawing/2014/main" id="{997E7EE9-90FC-E375-87AC-5F1E0DD7BA2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215798" y="6399903"/>
            <a:ext cx="393802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18</a:t>
            </a:fld>
            <a:endParaRPr spc="-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51352" y="164414"/>
            <a:ext cx="211074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solidFill>
                  <a:srgbClr val="00B050"/>
                </a:solidFill>
                <a:latin typeface="Arial"/>
                <a:cs typeface="Arial"/>
              </a:rPr>
              <a:t>Summary</a:t>
            </a:r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xfrm>
            <a:off x="215798" y="6399903"/>
            <a:ext cx="471627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19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230225" y="961136"/>
            <a:ext cx="6402705" cy="10629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Test quality measured by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Defect per </a:t>
            </a:r>
            <a:r>
              <a:rPr sz="2000" b="1" spc="-5" dirty="0">
                <a:solidFill>
                  <a:srgbClr val="0000FF"/>
                </a:solidFill>
                <a:latin typeface="Arial"/>
                <a:cs typeface="Arial"/>
              </a:rPr>
              <a:t>Million</a:t>
            </a:r>
            <a:r>
              <a:rPr sz="2000" b="1" spc="-15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(DPM)</a:t>
            </a:r>
            <a:endParaRPr sz="2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7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Models for</a:t>
            </a:r>
            <a:r>
              <a:rPr sz="2000" b="1" spc="-5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DPM</a:t>
            </a:r>
            <a:endParaRPr sz="20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4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spc="5" dirty="0">
                <a:latin typeface="Arial"/>
                <a:cs typeface="Arial"/>
              </a:rPr>
              <a:t>Brown </a:t>
            </a:r>
            <a:r>
              <a:rPr sz="2000" b="1" dirty="0">
                <a:latin typeface="Arial"/>
                <a:cs typeface="Arial"/>
              </a:rPr>
              <a:t>&amp; Williams</a:t>
            </a:r>
            <a:r>
              <a:rPr sz="2000" b="1" spc="-10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: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87425" y="2790189"/>
            <a:ext cx="130492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5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299085" algn="l"/>
                <a:tab pos="299720" algn="l"/>
              </a:tabLst>
            </a:pPr>
            <a:r>
              <a:rPr sz="2000" b="1" dirty="0">
                <a:latin typeface="Arial"/>
                <a:cs typeface="Arial"/>
              </a:rPr>
              <a:t>Agrawal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0225" y="4192690"/>
            <a:ext cx="2421255" cy="75819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Models for</a:t>
            </a:r>
            <a:r>
              <a:rPr sz="2000" b="1" spc="-85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Yield</a:t>
            </a:r>
            <a:endParaRPr sz="20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4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spc="-5" dirty="0">
                <a:latin typeface="Arial"/>
                <a:cs typeface="Arial"/>
              </a:rPr>
              <a:t>Simple</a:t>
            </a:r>
            <a:r>
              <a:rPr sz="2000" b="1" spc="-6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model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87425" y="5717235"/>
            <a:ext cx="176403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299085" algn="l"/>
                <a:tab pos="299720" algn="l"/>
              </a:tabLst>
            </a:pPr>
            <a:r>
              <a:rPr sz="2000" b="1" dirty="0">
                <a:latin typeface="Arial"/>
                <a:cs typeface="Arial"/>
              </a:rPr>
              <a:t>Critical</a:t>
            </a:r>
            <a:r>
              <a:rPr sz="2000" b="1" spc="-114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area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088635" y="3247644"/>
            <a:ext cx="4055364" cy="295351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586483" y="5138928"/>
            <a:ext cx="1287780" cy="440690"/>
          </a:xfrm>
          <a:prstGeom prst="rect">
            <a:avLst/>
          </a:prstGeom>
          <a:solidFill>
            <a:srgbClr val="FFCCCC"/>
          </a:solidFill>
          <a:ln w="15239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32384">
              <a:lnSpc>
                <a:spcPts val="2140"/>
              </a:lnSpc>
            </a:pPr>
            <a:r>
              <a:rPr sz="3750" i="1" spc="15" baseline="-24444" dirty="0">
                <a:latin typeface="Times New Roman"/>
                <a:cs typeface="Times New Roman"/>
              </a:rPr>
              <a:t>Y </a:t>
            </a:r>
            <a:r>
              <a:rPr sz="3750" spc="-120" baseline="-24444" dirty="0">
                <a:latin typeface="Arial"/>
                <a:cs typeface="Arial"/>
              </a:rPr>
              <a:t>= </a:t>
            </a:r>
            <a:r>
              <a:rPr sz="3750" i="1" spc="44" baseline="-24444" dirty="0">
                <a:latin typeface="Times New Roman"/>
                <a:cs typeface="Times New Roman"/>
              </a:rPr>
              <a:t>e</a:t>
            </a:r>
            <a:r>
              <a:rPr sz="1450" spc="30" dirty="0">
                <a:latin typeface="Arial"/>
                <a:cs typeface="Arial"/>
              </a:rPr>
              <a:t>−</a:t>
            </a:r>
            <a:r>
              <a:rPr sz="1450" spc="120" dirty="0">
                <a:latin typeface="Arial"/>
                <a:cs typeface="Arial"/>
              </a:rPr>
              <a:t> </a:t>
            </a:r>
            <a:r>
              <a:rPr sz="1450" i="1" spc="75" dirty="0">
                <a:latin typeface="Times New Roman"/>
                <a:cs typeface="Times New Roman"/>
              </a:rPr>
              <a:t>AD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89532" y="2087879"/>
            <a:ext cx="2040889" cy="405765"/>
          </a:xfrm>
          <a:prstGeom prst="rect">
            <a:avLst/>
          </a:prstGeom>
          <a:solidFill>
            <a:srgbClr val="FFCCCC"/>
          </a:solidFill>
          <a:ln w="9144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0960">
              <a:lnSpc>
                <a:spcPts val="2145"/>
              </a:lnSpc>
            </a:pPr>
            <a:r>
              <a:rPr sz="3750" i="1" spc="44" baseline="-25555" dirty="0">
                <a:latin typeface="Times New Roman"/>
                <a:cs typeface="Times New Roman"/>
              </a:rPr>
              <a:t>DL</a:t>
            </a:r>
            <a:r>
              <a:rPr sz="3750" i="1" spc="-209" baseline="-25555" dirty="0">
                <a:latin typeface="Times New Roman"/>
                <a:cs typeface="Times New Roman"/>
              </a:rPr>
              <a:t> </a:t>
            </a:r>
            <a:r>
              <a:rPr sz="3750" baseline="-25555" dirty="0">
                <a:latin typeface="Arial"/>
                <a:cs typeface="Arial"/>
              </a:rPr>
              <a:t>=</a:t>
            </a:r>
            <a:r>
              <a:rPr sz="3750" spc="-637" baseline="-25555" dirty="0">
                <a:latin typeface="Arial"/>
                <a:cs typeface="Arial"/>
              </a:rPr>
              <a:t> </a:t>
            </a:r>
            <a:r>
              <a:rPr sz="3750" spc="270" baseline="-25555" dirty="0">
                <a:latin typeface="Times New Roman"/>
                <a:cs typeface="Times New Roman"/>
              </a:rPr>
              <a:t>1</a:t>
            </a:r>
            <a:r>
              <a:rPr sz="3750" spc="270" baseline="-25555" dirty="0">
                <a:latin typeface="Arial"/>
                <a:cs typeface="Arial"/>
              </a:rPr>
              <a:t>−</a:t>
            </a:r>
            <a:r>
              <a:rPr sz="3750" i="1" spc="270" baseline="-25555" dirty="0">
                <a:latin typeface="Times New Roman"/>
                <a:cs typeface="Times New Roman"/>
              </a:rPr>
              <a:t>Y</a:t>
            </a:r>
            <a:r>
              <a:rPr sz="3750" i="1" spc="-465" baseline="-25555" dirty="0">
                <a:latin typeface="Times New Roman"/>
                <a:cs typeface="Times New Roman"/>
              </a:rPr>
              <a:t> </a:t>
            </a:r>
            <a:r>
              <a:rPr sz="1450" spc="35" dirty="0">
                <a:latin typeface="Times New Roman"/>
                <a:cs typeface="Times New Roman"/>
              </a:rPr>
              <a:t>(1</a:t>
            </a:r>
            <a:r>
              <a:rPr sz="1450" spc="35" dirty="0">
                <a:latin typeface="Arial"/>
                <a:cs typeface="Arial"/>
              </a:rPr>
              <a:t>−</a:t>
            </a:r>
            <a:r>
              <a:rPr sz="1450" i="1" spc="35" dirty="0">
                <a:latin typeface="Times New Roman"/>
                <a:cs typeface="Times New Roman"/>
              </a:rPr>
              <a:t>FC</a:t>
            </a:r>
            <a:r>
              <a:rPr sz="1450" spc="35" dirty="0">
                <a:latin typeface="Times New Roman"/>
                <a:cs typeface="Times New Roman"/>
              </a:rPr>
              <a:t>)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594103" y="3227832"/>
            <a:ext cx="3495040" cy="828040"/>
          </a:xfrm>
          <a:custGeom>
            <a:avLst/>
            <a:gdLst/>
            <a:ahLst/>
            <a:cxnLst/>
            <a:rect l="l" t="t" r="r" b="b"/>
            <a:pathLst>
              <a:path w="3495040" h="828039">
                <a:moveTo>
                  <a:pt x="0" y="827532"/>
                </a:moveTo>
                <a:lnTo>
                  <a:pt x="3494532" y="827532"/>
                </a:lnTo>
                <a:lnTo>
                  <a:pt x="3494532" y="0"/>
                </a:lnTo>
                <a:lnTo>
                  <a:pt x="0" y="0"/>
                </a:lnTo>
                <a:lnTo>
                  <a:pt x="0" y="827532"/>
                </a:lnTo>
                <a:close/>
              </a:path>
            </a:pathLst>
          </a:custGeom>
          <a:solidFill>
            <a:srgbClr val="FF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270183" y="3631108"/>
            <a:ext cx="2762250" cy="0"/>
          </a:xfrm>
          <a:custGeom>
            <a:avLst/>
            <a:gdLst/>
            <a:ahLst/>
            <a:cxnLst/>
            <a:rect l="l" t="t" r="r" b="b"/>
            <a:pathLst>
              <a:path w="2762250">
                <a:moveTo>
                  <a:pt x="0" y="0"/>
                </a:moveTo>
                <a:lnTo>
                  <a:pt x="2761643" y="0"/>
                </a:lnTo>
              </a:path>
            </a:pathLst>
          </a:custGeom>
          <a:ln w="112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461698" y="3620088"/>
            <a:ext cx="534670" cy="1600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850" spc="25" dirty="0">
                <a:latin typeface="Arial"/>
                <a:cs typeface="Arial"/>
              </a:rPr>
              <a:t>−</a:t>
            </a:r>
            <a:r>
              <a:rPr sz="850" spc="25" dirty="0">
                <a:latin typeface="Times New Roman"/>
                <a:cs typeface="Times New Roman"/>
              </a:rPr>
              <a:t>(</a:t>
            </a:r>
            <a:r>
              <a:rPr sz="850" spc="-120" dirty="0">
                <a:latin typeface="Times New Roman"/>
                <a:cs typeface="Times New Roman"/>
              </a:rPr>
              <a:t> </a:t>
            </a:r>
            <a:r>
              <a:rPr sz="850" i="1" spc="20" dirty="0">
                <a:latin typeface="Times New Roman"/>
                <a:cs typeface="Times New Roman"/>
              </a:rPr>
              <a:t>n</a:t>
            </a:r>
            <a:r>
              <a:rPr sz="850" i="1" spc="-145" dirty="0">
                <a:latin typeface="Times New Roman"/>
                <a:cs typeface="Times New Roman"/>
              </a:rPr>
              <a:t> </a:t>
            </a:r>
            <a:r>
              <a:rPr sz="850" spc="15" dirty="0">
                <a:latin typeface="Arial"/>
                <a:cs typeface="Arial"/>
              </a:rPr>
              <a:t>−</a:t>
            </a:r>
            <a:r>
              <a:rPr sz="850" spc="15" dirty="0">
                <a:latin typeface="Times New Roman"/>
                <a:cs typeface="Times New Roman"/>
              </a:rPr>
              <a:t>1)</a:t>
            </a:r>
            <a:r>
              <a:rPr sz="850" spc="-95" dirty="0">
                <a:latin typeface="Times New Roman"/>
                <a:cs typeface="Times New Roman"/>
              </a:rPr>
              <a:t> </a:t>
            </a:r>
            <a:r>
              <a:rPr sz="850" i="1" spc="60" dirty="0">
                <a:latin typeface="Times New Roman"/>
                <a:cs typeface="Times New Roman"/>
              </a:rPr>
              <a:t>FC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269090" y="3653500"/>
            <a:ext cx="2182495" cy="3479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sz="2100" i="1" spc="25" dirty="0">
                <a:latin typeface="Times New Roman"/>
                <a:cs typeface="Times New Roman"/>
              </a:rPr>
              <a:t>Y</a:t>
            </a:r>
            <a:r>
              <a:rPr sz="2100" i="1" spc="160" dirty="0">
                <a:latin typeface="Times New Roman"/>
                <a:cs typeface="Times New Roman"/>
              </a:rPr>
              <a:t> </a:t>
            </a:r>
            <a:r>
              <a:rPr sz="2100" spc="-50" dirty="0">
                <a:latin typeface="Arial"/>
                <a:cs typeface="Arial"/>
              </a:rPr>
              <a:t>+</a:t>
            </a:r>
            <a:r>
              <a:rPr sz="2100" spc="-225" dirty="0">
                <a:latin typeface="Arial"/>
                <a:cs typeface="Arial"/>
              </a:rPr>
              <a:t> </a:t>
            </a:r>
            <a:r>
              <a:rPr sz="2100" spc="-45" dirty="0">
                <a:latin typeface="Times New Roman"/>
                <a:cs typeface="Times New Roman"/>
              </a:rPr>
              <a:t>(1</a:t>
            </a:r>
            <a:r>
              <a:rPr sz="2100" spc="-310" dirty="0">
                <a:latin typeface="Times New Roman"/>
                <a:cs typeface="Times New Roman"/>
              </a:rPr>
              <a:t> </a:t>
            </a:r>
            <a:r>
              <a:rPr sz="2100" spc="-50" dirty="0">
                <a:latin typeface="Arial"/>
                <a:cs typeface="Arial"/>
              </a:rPr>
              <a:t>−</a:t>
            </a:r>
            <a:r>
              <a:rPr sz="2100" spc="-140" dirty="0">
                <a:latin typeface="Arial"/>
                <a:cs typeface="Arial"/>
              </a:rPr>
              <a:t> </a:t>
            </a:r>
            <a:r>
              <a:rPr sz="2100" i="1" spc="15" dirty="0">
                <a:latin typeface="Times New Roman"/>
                <a:cs typeface="Times New Roman"/>
              </a:rPr>
              <a:t>FC</a:t>
            </a:r>
            <a:r>
              <a:rPr sz="2100" spc="15" dirty="0">
                <a:latin typeface="Times New Roman"/>
                <a:cs typeface="Times New Roman"/>
              </a:rPr>
              <a:t>)(1</a:t>
            </a:r>
            <a:r>
              <a:rPr sz="2100" spc="-320" dirty="0">
                <a:latin typeface="Times New Roman"/>
                <a:cs typeface="Times New Roman"/>
              </a:rPr>
              <a:t> </a:t>
            </a:r>
            <a:r>
              <a:rPr sz="2100" spc="-50" dirty="0">
                <a:latin typeface="Arial"/>
                <a:cs typeface="Arial"/>
              </a:rPr>
              <a:t>−</a:t>
            </a:r>
            <a:r>
              <a:rPr sz="2100" spc="-345" dirty="0">
                <a:latin typeface="Arial"/>
                <a:cs typeface="Arial"/>
              </a:rPr>
              <a:t> </a:t>
            </a:r>
            <a:r>
              <a:rPr sz="2100" i="1" spc="25" dirty="0">
                <a:latin typeface="Times New Roman"/>
                <a:cs typeface="Times New Roman"/>
              </a:rPr>
              <a:t>Y</a:t>
            </a:r>
            <a:r>
              <a:rPr sz="2100" i="1" spc="-190" dirty="0">
                <a:latin typeface="Times New Roman"/>
                <a:cs typeface="Times New Roman"/>
              </a:rPr>
              <a:t> </a:t>
            </a:r>
            <a:r>
              <a:rPr sz="2100" spc="30" dirty="0">
                <a:latin typeface="Times New Roman"/>
                <a:cs typeface="Times New Roman"/>
              </a:rPr>
              <a:t>)</a:t>
            </a:r>
            <a:r>
              <a:rPr sz="2100" i="1" spc="30" dirty="0">
                <a:latin typeface="Times New Roman"/>
                <a:cs typeface="Times New Roman"/>
              </a:rPr>
              <a:t>e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642161" y="3416905"/>
            <a:ext cx="572770" cy="3479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sz="2100" i="1" spc="10" dirty="0">
                <a:latin typeface="Times New Roman"/>
                <a:cs typeface="Times New Roman"/>
              </a:rPr>
              <a:t>DL</a:t>
            </a:r>
            <a:r>
              <a:rPr sz="2100" i="1" spc="-90" dirty="0">
                <a:latin typeface="Times New Roman"/>
                <a:cs typeface="Times New Roman"/>
              </a:rPr>
              <a:t> </a:t>
            </a:r>
            <a:r>
              <a:rPr sz="2100" spc="-50" dirty="0">
                <a:latin typeface="Arial"/>
                <a:cs typeface="Arial"/>
              </a:rPr>
              <a:t>=</a:t>
            </a:r>
            <a:endParaRPr sz="21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398802" y="3248590"/>
            <a:ext cx="2499360" cy="3479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14"/>
              </a:spcBef>
            </a:pPr>
            <a:r>
              <a:rPr sz="2100" spc="-45" dirty="0">
                <a:latin typeface="Times New Roman"/>
                <a:cs typeface="Times New Roman"/>
              </a:rPr>
              <a:t>(1</a:t>
            </a:r>
            <a:r>
              <a:rPr sz="2100" spc="-320" dirty="0">
                <a:latin typeface="Times New Roman"/>
                <a:cs typeface="Times New Roman"/>
              </a:rPr>
              <a:t> </a:t>
            </a:r>
            <a:r>
              <a:rPr sz="2100" spc="-50" dirty="0">
                <a:latin typeface="Arial"/>
                <a:cs typeface="Arial"/>
              </a:rPr>
              <a:t>−</a:t>
            </a:r>
            <a:r>
              <a:rPr sz="2100" spc="-140" dirty="0">
                <a:latin typeface="Arial"/>
                <a:cs typeface="Arial"/>
              </a:rPr>
              <a:t> </a:t>
            </a:r>
            <a:r>
              <a:rPr sz="2100" i="1" spc="20" dirty="0">
                <a:latin typeface="Times New Roman"/>
                <a:cs typeface="Times New Roman"/>
              </a:rPr>
              <a:t>FC</a:t>
            </a:r>
            <a:r>
              <a:rPr sz="2100" spc="20" dirty="0">
                <a:latin typeface="Times New Roman"/>
                <a:cs typeface="Times New Roman"/>
              </a:rPr>
              <a:t>)(1</a:t>
            </a:r>
            <a:r>
              <a:rPr sz="2100" spc="-315" dirty="0">
                <a:latin typeface="Times New Roman"/>
                <a:cs typeface="Times New Roman"/>
              </a:rPr>
              <a:t> </a:t>
            </a:r>
            <a:r>
              <a:rPr sz="2100" spc="-50" dirty="0">
                <a:latin typeface="Arial"/>
                <a:cs typeface="Arial"/>
              </a:rPr>
              <a:t>−</a:t>
            </a:r>
            <a:r>
              <a:rPr sz="2100" spc="-350" dirty="0">
                <a:latin typeface="Arial"/>
                <a:cs typeface="Arial"/>
              </a:rPr>
              <a:t> </a:t>
            </a:r>
            <a:r>
              <a:rPr sz="2100" i="1" spc="25" dirty="0">
                <a:latin typeface="Times New Roman"/>
                <a:cs typeface="Times New Roman"/>
              </a:rPr>
              <a:t>Y</a:t>
            </a:r>
            <a:r>
              <a:rPr sz="2100" i="1" spc="-195" dirty="0">
                <a:latin typeface="Times New Roman"/>
                <a:cs typeface="Times New Roman"/>
              </a:rPr>
              <a:t> </a:t>
            </a:r>
            <a:r>
              <a:rPr sz="2100" spc="40" dirty="0">
                <a:latin typeface="Times New Roman"/>
                <a:cs typeface="Times New Roman"/>
              </a:rPr>
              <a:t>)</a:t>
            </a:r>
            <a:r>
              <a:rPr sz="2100" i="1" spc="40" dirty="0">
                <a:latin typeface="Times New Roman"/>
                <a:cs typeface="Times New Roman"/>
              </a:rPr>
              <a:t>e</a:t>
            </a:r>
            <a:r>
              <a:rPr sz="1800" spc="60" baseline="43981" dirty="0">
                <a:latin typeface="Arial"/>
                <a:cs typeface="Arial"/>
              </a:rPr>
              <a:t>−</a:t>
            </a:r>
            <a:r>
              <a:rPr sz="1800" spc="60" baseline="43981" dirty="0">
                <a:latin typeface="Times New Roman"/>
                <a:cs typeface="Times New Roman"/>
              </a:rPr>
              <a:t>(</a:t>
            </a:r>
            <a:r>
              <a:rPr sz="1800" i="1" spc="60" baseline="43981" dirty="0">
                <a:latin typeface="Times New Roman"/>
                <a:cs typeface="Times New Roman"/>
              </a:rPr>
              <a:t>n</a:t>
            </a:r>
            <a:r>
              <a:rPr sz="1800" spc="60" baseline="43981" dirty="0">
                <a:latin typeface="Arial"/>
                <a:cs typeface="Arial"/>
              </a:rPr>
              <a:t>−</a:t>
            </a:r>
            <a:r>
              <a:rPr sz="1800" spc="60" baseline="43981" dirty="0">
                <a:latin typeface="Times New Roman"/>
                <a:cs typeface="Times New Roman"/>
              </a:rPr>
              <a:t>1)</a:t>
            </a:r>
            <a:r>
              <a:rPr sz="1800" spc="-262" baseline="43981" dirty="0">
                <a:latin typeface="Times New Roman"/>
                <a:cs typeface="Times New Roman"/>
              </a:rPr>
              <a:t> </a:t>
            </a:r>
            <a:r>
              <a:rPr sz="1800" i="1" spc="127" baseline="43981" dirty="0">
                <a:latin typeface="Times New Roman"/>
                <a:cs typeface="Times New Roman"/>
              </a:rPr>
              <a:t>FC</a:t>
            </a:r>
            <a:endParaRPr sz="1800" baseline="43981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589532" y="3223260"/>
            <a:ext cx="3503929" cy="836930"/>
          </a:xfrm>
          <a:custGeom>
            <a:avLst/>
            <a:gdLst/>
            <a:ahLst/>
            <a:cxnLst/>
            <a:rect l="l" t="t" r="r" b="b"/>
            <a:pathLst>
              <a:path w="3503929" h="836929">
                <a:moveTo>
                  <a:pt x="0" y="836676"/>
                </a:moveTo>
                <a:lnTo>
                  <a:pt x="3503676" y="836676"/>
                </a:lnTo>
                <a:lnTo>
                  <a:pt x="3503676" y="0"/>
                </a:lnTo>
                <a:lnTo>
                  <a:pt x="0" y="0"/>
                </a:lnTo>
                <a:lnTo>
                  <a:pt x="0" y="836676"/>
                </a:lnTo>
                <a:close/>
              </a:path>
            </a:pathLst>
          </a:custGeom>
          <a:ln w="9143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84B8221A-7A9F-1A07-18B7-EE71D947E5C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5480" y="6019800"/>
            <a:ext cx="2906538" cy="786732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61792" y="164414"/>
            <a:ext cx="269113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/>
              <a:t>Introduction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0225" y="961136"/>
            <a:ext cx="5213350" cy="292451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What Is</a:t>
            </a:r>
            <a:r>
              <a:rPr sz="2000" b="1" spc="-50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Testing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7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spc="-5" dirty="0">
                <a:solidFill>
                  <a:srgbClr val="A6A6A6"/>
                </a:solidFill>
                <a:latin typeface="Arial"/>
                <a:cs typeface="Arial"/>
              </a:rPr>
              <a:t>Types </a:t>
            </a: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of</a:t>
            </a:r>
            <a:r>
              <a:rPr sz="2000" b="1" spc="5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Testing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4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Test</a:t>
            </a:r>
            <a:r>
              <a:rPr sz="2000" b="1" spc="-20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Quality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Test</a:t>
            </a:r>
            <a:r>
              <a:rPr sz="2000" b="1" u="sng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0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Economics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Why and Who </a:t>
            </a:r>
            <a:r>
              <a:rPr sz="2000" b="1" u="sng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Invests in</a:t>
            </a:r>
            <a:r>
              <a:rPr sz="2000" b="1" u="sng" spc="-6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0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Test?</a:t>
            </a:r>
            <a:endParaRPr sz="2000" dirty="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480"/>
              </a:spcBef>
            </a:pPr>
            <a:r>
              <a:rPr sz="1800" spc="-600" dirty="0">
                <a:solidFill>
                  <a:srgbClr val="FF0000"/>
                </a:solidFill>
                <a:latin typeface="Arial"/>
                <a:cs typeface="Arial"/>
              </a:rPr>
              <a:t></a:t>
            </a:r>
            <a:r>
              <a:rPr sz="1800" spc="38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Global Semiconductor</a:t>
            </a:r>
            <a:r>
              <a:rPr sz="2000" b="1" u="sng" spc="-7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0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Industry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How to Make Optimal Test</a:t>
            </a:r>
            <a:r>
              <a:rPr sz="2000" b="1" spc="-13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Decision?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Conclusion</a:t>
            </a:r>
            <a:r>
              <a:rPr lang="en-US" sz="2000" b="1" dirty="0">
                <a:latin typeface="Arial"/>
                <a:cs typeface="Arial"/>
              </a:rPr>
              <a:t>s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437888" y="3601212"/>
            <a:ext cx="4120896" cy="29519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15798" y="6399903"/>
            <a:ext cx="622402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z="2400" b="1" spc="-5" dirty="0">
                <a:latin typeface="Arial"/>
                <a:cs typeface="Arial"/>
              </a:rPr>
              <a:t>20</a:t>
            </a:fld>
            <a:endParaRPr sz="2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04822" y="164414"/>
            <a:ext cx="500824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Why Invest in</a:t>
            </a:r>
            <a:r>
              <a:rPr spc="-75" dirty="0"/>
              <a:t> </a:t>
            </a:r>
            <a:r>
              <a:rPr dirty="0"/>
              <a:t>Testing?</a:t>
            </a:r>
          </a:p>
        </p:txBody>
      </p:sp>
      <p:sp>
        <p:nvSpPr>
          <p:cNvPr id="3" name="object 3"/>
          <p:cNvSpPr/>
          <p:nvPr/>
        </p:nvSpPr>
        <p:spPr>
          <a:xfrm>
            <a:off x="2805683" y="2610611"/>
            <a:ext cx="3546475" cy="2388235"/>
          </a:xfrm>
          <a:custGeom>
            <a:avLst/>
            <a:gdLst/>
            <a:ahLst/>
            <a:cxnLst/>
            <a:rect l="l" t="t" r="r" b="b"/>
            <a:pathLst>
              <a:path w="3546475" h="2388235">
                <a:moveTo>
                  <a:pt x="0" y="2388108"/>
                </a:moveTo>
                <a:lnTo>
                  <a:pt x="3546348" y="2388108"/>
                </a:lnTo>
                <a:lnTo>
                  <a:pt x="3546348" y="0"/>
                </a:lnTo>
                <a:lnTo>
                  <a:pt x="0" y="0"/>
                </a:lnTo>
                <a:lnTo>
                  <a:pt x="0" y="2388108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065520" y="4424171"/>
            <a:ext cx="294640" cy="0"/>
          </a:xfrm>
          <a:custGeom>
            <a:avLst/>
            <a:gdLst/>
            <a:ahLst/>
            <a:cxnLst/>
            <a:rect l="l" t="t" r="r" b="b"/>
            <a:pathLst>
              <a:path w="294639">
                <a:moveTo>
                  <a:pt x="0" y="0"/>
                </a:moveTo>
                <a:lnTo>
                  <a:pt x="294131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212079" y="4424171"/>
            <a:ext cx="449580" cy="0"/>
          </a:xfrm>
          <a:custGeom>
            <a:avLst/>
            <a:gdLst/>
            <a:ahLst/>
            <a:cxnLst/>
            <a:rect l="l" t="t" r="r" b="b"/>
            <a:pathLst>
              <a:path w="449579">
                <a:moveTo>
                  <a:pt x="0" y="0"/>
                </a:moveTo>
                <a:lnTo>
                  <a:pt x="44958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347971" y="4424171"/>
            <a:ext cx="449580" cy="0"/>
          </a:xfrm>
          <a:custGeom>
            <a:avLst/>
            <a:gdLst/>
            <a:ahLst/>
            <a:cxnLst/>
            <a:rect l="l" t="t" r="r" b="b"/>
            <a:pathLst>
              <a:path w="449579">
                <a:moveTo>
                  <a:pt x="0" y="0"/>
                </a:moveTo>
                <a:lnTo>
                  <a:pt x="449579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796539" y="4424171"/>
            <a:ext cx="1150620" cy="0"/>
          </a:xfrm>
          <a:custGeom>
            <a:avLst/>
            <a:gdLst/>
            <a:ahLst/>
            <a:cxnLst/>
            <a:rect l="l" t="t" r="r" b="b"/>
            <a:pathLst>
              <a:path w="1150620">
                <a:moveTo>
                  <a:pt x="0" y="0"/>
                </a:moveTo>
                <a:lnTo>
                  <a:pt x="115062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796539" y="4424171"/>
            <a:ext cx="3464560" cy="0"/>
          </a:xfrm>
          <a:custGeom>
            <a:avLst/>
            <a:gdLst/>
            <a:ahLst/>
            <a:cxnLst/>
            <a:rect l="l" t="t" r="r" b="b"/>
            <a:pathLst>
              <a:path w="3464560">
                <a:moveTo>
                  <a:pt x="0" y="0"/>
                </a:moveTo>
                <a:lnTo>
                  <a:pt x="3464052" y="0"/>
                </a:lnTo>
              </a:path>
            </a:pathLst>
          </a:custGeom>
          <a:ln w="12191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065520" y="3816096"/>
            <a:ext cx="294640" cy="0"/>
          </a:xfrm>
          <a:custGeom>
            <a:avLst/>
            <a:gdLst/>
            <a:ahLst/>
            <a:cxnLst/>
            <a:rect l="l" t="t" r="r" b="b"/>
            <a:pathLst>
              <a:path w="294639">
                <a:moveTo>
                  <a:pt x="0" y="0"/>
                </a:moveTo>
                <a:lnTo>
                  <a:pt x="294131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212079" y="3816096"/>
            <a:ext cx="449580" cy="0"/>
          </a:xfrm>
          <a:custGeom>
            <a:avLst/>
            <a:gdLst/>
            <a:ahLst/>
            <a:cxnLst/>
            <a:rect l="l" t="t" r="r" b="b"/>
            <a:pathLst>
              <a:path w="449579">
                <a:moveTo>
                  <a:pt x="0" y="0"/>
                </a:moveTo>
                <a:lnTo>
                  <a:pt x="449580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796539" y="3816096"/>
            <a:ext cx="2001520" cy="0"/>
          </a:xfrm>
          <a:custGeom>
            <a:avLst/>
            <a:gdLst/>
            <a:ahLst/>
            <a:cxnLst/>
            <a:rect l="l" t="t" r="r" b="b"/>
            <a:pathLst>
              <a:path w="2001520">
                <a:moveTo>
                  <a:pt x="0" y="0"/>
                </a:moveTo>
                <a:lnTo>
                  <a:pt x="2001012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796539" y="3816096"/>
            <a:ext cx="3464560" cy="0"/>
          </a:xfrm>
          <a:custGeom>
            <a:avLst/>
            <a:gdLst/>
            <a:ahLst/>
            <a:cxnLst/>
            <a:rect l="l" t="t" r="r" b="b"/>
            <a:pathLst>
              <a:path w="3464560">
                <a:moveTo>
                  <a:pt x="0" y="0"/>
                </a:moveTo>
                <a:lnTo>
                  <a:pt x="3464052" y="0"/>
                </a:lnTo>
              </a:path>
            </a:pathLst>
          </a:custGeom>
          <a:ln w="12191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065520" y="3217164"/>
            <a:ext cx="294640" cy="0"/>
          </a:xfrm>
          <a:custGeom>
            <a:avLst/>
            <a:gdLst/>
            <a:ahLst/>
            <a:cxnLst/>
            <a:rect l="l" t="t" r="r" b="b"/>
            <a:pathLst>
              <a:path w="294639">
                <a:moveTo>
                  <a:pt x="0" y="0"/>
                </a:moveTo>
                <a:lnTo>
                  <a:pt x="294131" y="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796539" y="3217164"/>
            <a:ext cx="2865120" cy="0"/>
          </a:xfrm>
          <a:custGeom>
            <a:avLst/>
            <a:gdLst/>
            <a:ahLst/>
            <a:cxnLst/>
            <a:rect l="l" t="t" r="r" b="b"/>
            <a:pathLst>
              <a:path w="2865120">
                <a:moveTo>
                  <a:pt x="0" y="0"/>
                </a:moveTo>
                <a:lnTo>
                  <a:pt x="2865120" y="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796539" y="3217164"/>
            <a:ext cx="3464560" cy="0"/>
          </a:xfrm>
          <a:custGeom>
            <a:avLst/>
            <a:gdLst/>
            <a:ahLst/>
            <a:cxnLst/>
            <a:rect l="l" t="t" r="r" b="b"/>
            <a:pathLst>
              <a:path w="3464560">
                <a:moveTo>
                  <a:pt x="0" y="0"/>
                </a:moveTo>
                <a:lnTo>
                  <a:pt x="3464052" y="0"/>
                </a:lnTo>
              </a:path>
            </a:pathLst>
          </a:custGeom>
          <a:ln w="12192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3092195" y="4572000"/>
            <a:ext cx="403860" cy="426720"/>
          </a:xfrm>
          <a:prstGeom prst="rect">
            <a:avLst/>
          </a:prstGeom>
          <a:solidFill>
            <a:srgbClr val="FFFFCC"/>
          </a:solidFill>
          <a:ln w="12192">
            <a:solidFill>
              <a:srgbClr val="000000"/>
            </a:solidFill>
          </a:ln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endParaRPr sz="1000">
              <a:latin typeface="Times New Roman"/>
              <a:cs typeface="Times New Roman"/>
            </a:endParaRPr>
          </a:p>
          <a:p>
            <a:pPr marL="64135">
              <a:lnSpc>
                <a:spcPct val="100000"/>
              </a:lnSpc>
            </a:pPr>
            <a:r>
              <a:rPr sz="1100" dirty="0">
                <a:latin typeface="Arial"/>
                <a:cs typeface="Arial"/>
              </a:rPr>
              <a:t>0.5</a:t>
            </a:r>
            <a:endParaRPr sz="11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947159" y="3973067"/>
            <a:ext cx="401320" cy="1026160"/>
          </a:xfrm>
          <a:custGeom>
            <a:avLst/>
            <a:gdLst/>
            <a:ahLst/>
            <a:cxnLst/>
            <a:rect l="l" t="t" r="r" b="b"/>
            <a:pathLst>
              <a:path w="401320" h="1026160">
                <a:moveTo>
                  <a:pt x="0" y="1025652"/>
                </a:moveTo>
                <a:lnTo>
                  <a:pt x="400812" y="1025652"/>
                </a:lnTo>
                <a:lnTo>
                  <a:pt x="400812" y="0"/>
                </a:lnTo>
                <a:lnTo>
                  <a:pt x="0" y="0"/>
                </a:lnTo>
                <a:lnTo>
                  <a:pt x="0" y="1025652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947159" y="3973067"/>
            <a:ext cx="401320" cy="1026160"/>
          </a:xfrm>
          <a:custGeom>
            <a:avLst/>
            <a:gdLst/>
            <a:ahLst/>
            <a:cxnLst/>
            <a:rect l="l" t="t" r="r" b="b"/>
            <a:pathLst>
              <a:path w="401320" h="1026160">
                <a:moveTo>
                  <a:pt x="0" y="1025652"/>
                </a:moveTo>
                <a:lnTo>
                  <a:pt x="400812" y="1025652"/>
                </a:lnTo>
                <a:lnTo>
                  <a:pt x="400812" y="0"/>
                </a:lnTo>
                <a:lnTo>
                  <a:pt x="0" y="0"/>
                </a:lnTo>
                <a:lnTo>
                  <a:pt x="0" y="1025652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3953255" y="3979164"/>
            <a:ext cx="388620" cy="439420"/>
          </a:xfrm>
          <a:prstGeom prst="rect">
            <a:avLst/>
          </a:prstGeom>
          <a:solidFill>
            <a:srgbClr val="FFFF99"/>
          </a:solidFill>
        </p:spPr>
        <p:txBody>
          <a:bodyPr vert="horz" wrap="square" lIns="0" tIns="57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5"/>
              </a:spcBef>
            </a:pPr>
            <a:endParaRPr sz="900">
              <a:latin typeface="Times New Roman"/>
              <a:cs typeface="Times New Roman"/>
            </a:endParaRPr>
          </a:p>
          <a:p>
            <a:pPr marR="26034" algn="ctr">
              <a:lnSpc>
                <a:spcPct val="100000"/>
              </a:lnSpc>
            </a:pPr>
            <a:r>
              <a:rPr sz="1100" dirty="0">
                <a:latin typeface="Arial"/>
                <a:cs typeface="Arial"/>
              </a:rPr>
              <a:t>5</a:t>
            </a:r>
            <a:endParaRPr sz="11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797552" y="3364991"/>
            <a:ext cx="414655" cy="1633855"/>
          </a:xfrm>
          <a:custGeom>
            <a:avLst/>
            <a:gdLst/>
            <a:ahLst/>
            <a:cxnLst/>
            <a:rect l="l" t="t" r="r" b="b"/>
            <a:pathLst>
              <a:path w="414654" h="1633854">
                <a:moveTo>
                  <a:pt x="0" y="1633727"/>
                </a:moveTo>
                <a:lnTo>
                  <a:pt x="414527" y="1633727"/>
                </a:lnTo>
                <a:lnTo>
                  <a:pt x="414527" y="0"/>
                </a:lnTo>
                <a:lnTo>
                  <a:pt x="0" y="0"/>
                </a:lnTo>
                <a:lnTo>
                  <a:pt x="0" y="1633727"/>
                </a:lnTo>
                <a:close/>
              </a:path>
            </a:pathLst>
          </a:custGeom>
          <a:solidFill>
            <a:srgbClr val="FFFF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797552" y="3364991"/>
            <a:ext cx="414655" cy="1633855"/>
          </a:xfrm>
          <a:custGeom>
            <a:avLst/>
            <a:gdLst/>
            <a:ahLst/>
            <a:cxnLst/>
            <a:rect l="l" t="t" r="r" b="b"/>
            <a:pathLst>
              <a:path w="414654" h="1633854">
                <a:moveTo>
                  <a:pt x="0" y="1633727"/>
                </a:moveTo>
                <a:lnTo>
                  <a:pt x="414527" y="1633727"/>
                </a:lnTo>
                <a:lnTo>
                  <a:pt x="414527" y="0"/>
                </a:lnTo>
                <a:lnTo>
                  <a:pt x="0" y="0"/>
                </a:lnTo>
                <a:lnTo>
                  <a:pt x="0" y="163372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4803647" y="3371088"/>
            <a:ext cx="402590" cy="439420"/>
          </a:xfrm>
          <a:prstGeom prst="rect">
            <a:avLst/>
          </a:prstGeom>
          <a:solidFill>
            <a:srgbClr val="FFFF66"/>
          </a:solidFill>
        </p:spPr>
        <p:txBody>
          <a:bodyPr vert="horz" wrap="square" lIns="0" tIns="57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5"/>
              </a:spcBef>
            </a:pPr>
            <a:endParaRPr sz="900">
              <a:latin typeface="Times New Roman"/>
              <a:cs typeface="Times New Roman"/>
            </a:endParaRPr>
          </a:p>
          <a:p>
            <a:pPr marL="87630">
              <a:lnSpc>
                <a:spcPct val="100000"/>
              </a:lnSpc>
            </a:pPr>
            <a:r>
              <a:rPr sz="1100" dirty="0">
                <a:latin typeface="Arial"/>
                <a:cs typeface="Arial"/>
              </a:rPr>
              <a:t>50</a:t>
            </a:r>
            <a:endParaRPr sz="110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5661659" y="2756916"/>
            <a:ext cx="403860" cy="2242185"/>
          </a:xfrm>
          <a:custGeom>
            <a:avLst/>
            <a:gdLst/>
            <a:ahLst/>
            <a:cxnLst/>
            <a:rect l="l" t="t" r="r" b="b"/>
            <a:pathLst>
              <a:path w="403860" h="2242185">
                <a:moveTo>
                  <a:pt x="0" y="2241804"/>
                </a:moveTo>
                <a:lnTo>
                  <a:pt x="403860" y="2241804"/>
                </a:lnTo>
                <a:lnTo>
                  <a:pt x="403860" y="0"/>
                </a:lnTo>
                <a:lnTo>
                  <a:pt x="0" y="0"/>
                </a:lnTo>
                <a:lnTo>
                  <a:pt x="0" y="2241804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661659" y="2756916"/>
            <a:ext cx="403860" cy="2242185"/>
          </a:xfrm>
          <a:custGeom>
            <a:avLst/>
            <a:gdLst/>
            <a:ahLst/>
            <a:cxnLst/>
            <a:rect l="l" t="t" r="r" b="b"/>
            <a:pathLst>
              <a:path w="403860" h="2242185">
                <a:moveTo>
                  <a:pt x="0" y="2241804"/>
                </a:moveTo>
                <a:lnTo>
                  <a:pt x="403860" y="2241804"/>
                </a:lnTo>
                <a:lnTo>
                  <a:pt x="403860" y="0"/>
                </a:lnTo>
                <a:lnTo>
                  <a:pt x="0" y="0"/>
                </a:lnTo>
                <a:lnTo>
                  <a:pt x="0" y="2241804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5667755" y="2763011"/>
            <a:ext cx="391795" cy="448309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endParaRPr sz="950">
              <a:latin typeface="Times New Roman"/>
              <a:cs typeface="Times New Roman"/>
            </a:endParaRPr>
          </a:p>
          <a:p>
            <a:pPr marL="40005">
              <a:lnSpc>
                <a:spcPct val="100000"/>
              </a:lnSpc>
            </a:pPr>
            <a:r>
              <a:rPr sz="1100" spc="-5" dirty="0">
                <a:latin typeface="Arial"/>
                <a:cs typeface="Arial"/>
              </a:rPr>
              <a:t>500</a:t>
            </a:r>
            <a:endParaRPr sz="11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15798" y="6399903"/>
            <a:ext cx="393802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z="2400" b="1" spc="-5" dirty="0">
                <a:latin typeface="Arial"/>
                <a:cs typeface="Arial"/>
              </a:rPr>
              <a:t>21</a:t>
            </a:fld>
            <a:endParaRPr sz="2400" dirty="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126485" y="5016500"/>
            <a:ext cx="332105" cy="4559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0645">
              <a:lnSpc>
                <a:spcPts val="1695"/>
              </a:lnSpc>
              <a:spcBef>
                <a:spcPts val="95"/>
              </a:spcBef>
            </a:pPr>
            <a:r>
              <a:rPr sz="1600" spc="-10" dirty="0">
                <a:latin typeface="Arial Narrow"/>
                <a:cs typeface="Arial Narrow"/>
              </a:rPr>
              <a:t>IC</a:t>
            </a:r>
            <a:endParaRPr sz="1600">
              <a:latin typeface="Arial Narrow"/>
              <a:cs typeface="Arial Narrow"/>
            </a:endParaRPr>
          </a:p>
          <a:p>
            <a:pPr marL="12700">
              <a:lnSpc>
                <a:spcPts val="1695"/>
              </a:lnSpc>
            </a:pPr>
            <a:r>
              <a:rPr sz="1600" spc="-145" dirty="0">
                <a:latin typeface="Arial Narrow"/>
                <a:cs typeface="Arial Narrow"/>
              </a:rPr>
              <a:t>T</a:t>
            </a:r>
            <a:r>
              <a:rPr sz="1600" spc="-10" dirty="0">
                <a:latin typeface="Arial Narrow"/>
                <a:cs typeface="Arial Narrow"/>
              </a:rPr>
              <a:t>e</a:t>
            </a:r>
            <a:r>
              <a:rPr sz="1600" dirty="0">
                <a:latin typeface="Arial Narrow"/>
                <a:cs typeface="Arial Narrow"/>
              </a:rPr>
              <a:t>s</a:t>
            </a:r>
            <a:r>
              <a:rPr sz="1600" spc="-5" dirty="0">
                <a:latin typeface="Arial Narrow"/>
                <a:cs typeface="Arial Narrow"/>
              </a:rPr>
              <a:t>t</a:t>
            </a:r>
            <a:endParaRPr sz="1600">
              <a:latin typeface="Arial Narrow"/>
              <a:cs typeface="Arial Narrow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929634" y="5016500"/>
            <a:ext cx="469900" cy="455930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63500" marR="5080" indent="-50800">
              <a:lnSpc>
                <a:spcPct val="76800"/>
              </a:lnSpc>
              <a:spcBef>
                <a:spcPts val="540"/>
              </a:spcBef>
            </a:pPr>
            <a:r>
              <a:rPr sz="1600" spc="-5" dirty="0">
                <a:latin typeface="Arial Narrow"/>
                <a:cs typeface="Arial Narrow"/>
              </a:rPr>
              <a:t>B</a:t>
            </a:r>
            <a:r>
              <a:rPr sz="1600" dirty="0">
                <a:latin typeface="Arial Narrow"/>
                <a:cs typeface="Arial Narrow"/>
              </a:rPr>
              <a:t>o</a:t>
            </a:r>
            <a:r>
              <a:rPr sz="1600" spc="-10" dirty="0">
                <a:latin typeface="Arial Narrow"/>
                <a:cs typeface="Arial Narrow"/>
              </a:rPr>
              <a:t>ard  </a:t>
            </a:r>
            <a:r>
              <a:rPr sz="1600" spc="-40" dirty="0">
                <a:latin typeface="Arial Narrow"/>
                <a:cs typeface="Arial Narrow"/>
              </a:rPr>
              <a:t>Test</a:t>
            </a:r>
            <a:endParaRPr sz="1600">
              <a:latin typeface="Arial Narrow"/>
              <a:cs typeface="Arial Narrow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742815" y="5016500"/>
            <a:ext cx="581660" cy="455930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110489" marR="5080" indent="-98425">
              <a:lnSpc>
                <a:spcPct val="76800"/>
              </a:lnSpc>
              <a:spcBef>
                <a:spcPts val="540"/>
              </a:spcBef>
            </a:pPr>
            <a:r>
              <a:rPr sz="1600" spc="-5" dirty="0">
                <a:latin typeface="Arial Narrow"/>
                <a:cs typeface="Arial Narrow"/>
              </a:rPr>
              <a:t>S</a:t>
            </a:r>
            <a:r>
              <a:rPr sz="1600" dirty="0">
                <a:latin typeface="Arial Narrow"/>
                <a:cs typeface="Arial Narrow"/>
              </a:rPr>
              <a:t>y</a:t>
            </a:r>
            <a:r>
              <a:rPr sz="1600" spc="-5" dirty="0">
                <a:latin typeface="Arial Narrow"/>
                <a:cs typeface="Arial Narrow"/>
              </a:rPr>
              <a:t>stem  </a:t>
            </a:r>
            <a:r>
              <a:rPr sz="1600" spc="-40" dirty="0">
                <a:latin typeface="Arial Narrow"/>
                <a:cs typeface="Arial Narrow"/>
              </a:rPr>
              <a:t>Test</a:t>
            </a:r>
            <a:endParaRPr sz="1600">
              <a:latin typeface="Arial Narrow"/>
              <a:cs typeface="Arial Narrow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533390" y="5016500"/>
            <a:ext cx="694055" cy="455930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104775" marR="5080" indent="-92075">
              <a:lnSpc>
                <a:spcPct val="76800"/>
              </a:lnSpc>
              <a:spcBef>
                <a:spcPts val="540"/>
              </a:spcBef>
            </a:pPr>
            <a:r>
              <a:rPr sz="1600" spc="-55" dirty="0">
                <a:latin typeface="Arial Narrow"/>
                <a:cs typeface="Arial Narrow"/>
              </a:rPr>
              <a:t>W</a:t>
            </a:r>
            <a:r>
              <a:rPr sz="1600" spc="-10" dirty="0">
                <a:latin typeface="Arial Narrow"/>
                <a:cs typeface="Arial Narrow"/>
              </a:rPr>
              <a:t>arra</a:t>
            </a:r>
            <a:r>
              <a:rPr sz="1600" spc="-5" dirty="0">
                <a:latin typeface="Arial Narrow"/>
                <a:cs typeface="Arial Narrow"/>
              </a:rPr>
              <a:t>nty  Repair</a:t>
            </a:r>
            <a:endParaRPr sz="1600">
              <a:latin typeface="Arial Narrow"/>
              <a:cs typeface="Arial Narrow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621407" y="3674186"/>
            <a:ext cx="211454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Arial Narrow"/>
                <a:cs typeface="Arial Narrow"/>
              </a:rPr>
              <a:t>10</a:t>
            </a:r>
            <a:endParaRPr sz="1600">
              <a:latin typeface="Arial Narrow"/>
              <a:cs typeface="Arial Narrow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678683" y="4282821"/>
            <a:ext cx="11811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Arial Narrow"/>
                <a:cs typeface="Arial Narrow"/>
              </a:rPr>
              <a:t>1</a:t>
            </a:r>
            <a:endParaRPr sz="1600">
              <a:latin typeface="Arial Narrow"/>
              <a:cs typeface="Arial Narrow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469007" y="3063367"/>
            <a:ext cx="3048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Arial Narrow"/>
                <a:cs typeface="Arial Narrow"/>
              </a:rPr>
              <a:t>100</a:t>
            </a:r>
            <a:endParaRPr sz="1600">
              <a:latin typeface="Arial Narrow"/>
              <a:cs typeface="Arial Narrow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30225" y="900785"/>
            <a:ext cx="5156835" cy="1859914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Although testing is</a:t>
            </a:r>
            <a:r>
              <a:rPr sz="2000" b="1" spc="-75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expensive</a:t>
            </a:r>
            <a:endParaRPr sz="20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Repair cost is </a:t>
            </a:r>
            <a:r>
              <a:rPr sz="2000" b="1" spc="-5" dirty="0">
                <a:latin typeface="Arial"/>
                <a:cs typeface="Arial"/>
              </a:rPr>
              <a:t>even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more</a:t>
            </a:r>
            <a:r>
              <a:rPr sz="2000" b="1" spc="-7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b="1" spc="-5" dirty="0">
                <a:solidFill>
                  <a:srgbClr val="0000FF"/>
                </a:solidFill>
                <a:latin typeface="Arial"/>
                <a:cs typeface="Arial"/>
              </a:rPr>
              <a:t>expensive!</a:t>
            </a:r>
            <a:endParaRPr sz="2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Rule of Tens </a:t>
            </a:r>
            <a:r>
              <a:rPr sz="2000" b="1" spc="-5" dirty="0">
                <a:latin typeface="Arial"/>
                <a:cs typeface="Arial"/>
              </a:rPr>
              <a:t>[Davis</a:t>
            </a:r>
            <a:r>
              <a:rPr sz="2000" b="1" spc="-5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82]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3350">
              <a:latin typeface="Arial"/>
              <a:cs typeface="Arial"/>
            </a:endParaRPr>
          </a:p>
          <a:p>
            <a:pPr marR="394335" algn="ctr">
              <a:lnSpc>
                <a:spcPct val="100000"/>
              </a:lnSpc>
              <a:spcBef>
                <a:spcPts val="5"/>
              </a:spcBef>
            </a:pPr>
            <a:r>
              <a:rPr sz="1600" spc="-5" dirty="0">
                <a:latin typeface="Arial Narrow"/>
                <a:cs typeface="Arial Narrow"/>
              </a:rPr>
              <a:t>1000</a:t>
            </a:r>
            <a:endParaRPr sz="1600">
              <a:latin typeface="Arial Narrow"/>
              <a:cs typeface="Arial Narrow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916429" y="3358642"/>
            <a:ext cx="654050" cy="834390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150495" marR="159385" indent="-8255" algn="just">
              <a:lnSpc>
                <a:spcPct val="77500"/>
              </a:lnSpc>
              <a:spcBef>
                <a:spcPts val="525"/>
              </a:spcBef>
            </a:pPr>
            <a:r>
              <a:rPr sz="1600" spc="-5" dirty="0">
                <a:latin typeface="Arial Narrow"/>
                <a:cs typeface="Arial Narrow"/>
              </a:rPr>
              <a:t>C</a:t>
            </a:r>
            <a:r>
              <a:rPr sz="1600" dirty="0">
                <a:latin typeface="Arial Narrow"/>
                <a:cs typeface="Arial Narrow"/>
              </a:rPr>
              <a:t>o</a:t>
            </a:r>
            <a:r>
              <a:rPr sz="1600" spc="-5" dirty="0">
                <a:latin typeface="Arial Narrow"/>
                <a:cs typeface="Arial Narrow"/>
              </a:rPr>
              <a:t>st  per  fault</a:t>
            </a:r>
            <a:endParaRPr sz="1600">
              <a:latin typeface="Arial Narrow"/>
              <a:cs typeface="Arial Narrow"/>
            </a:endParaRPr>
          </a:p>
          <a:p>
            <a:pPr marL="12700">
              <a:lnSpc>
                <a:spcPts val="1475"/>
              </a:lnSpc>
            </a:pPr>
            <a:r>
              <a:rPr sz="1600" spc="-5" dirty="0">
                <a:latin typeface="Arial Narrow"/>
                <a:cs typeface="Arial Narrow"/>
              </a:rPr>
              <a:t>(Dol</a:t>
            </a:r>
            <a:r>
              <a:rPr sz="1600" spc="-10" dirty="0">
                <a:latin typeface="Arial Narrow"/>
                <a:cs typeface="Arial Narrow"/>
              </a:rPr>
              <a:t>lars)</a:t>
            </a:r>
            <a:endParaRPr sz="16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24027" y="225374"/>
            <a:ext cx="8324132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15% </a:t>
            </a:r>
            <a:r>
              <a:rPr dirty="0"/>
              <a:t>Semiconductor </a:t>
            </a:r>
            <a:r>
              <a:rPr spc="-5" dirty="0"/>
              <a:t>Market </a:t>
            </a:r>
            <a:r>
              <a:rPr dirty="0"/>
              <a:t>Goes to</a:t>
            </a:r>
            <a:r>
              <a:rPr spc="-145" dirty="0"/>
              <a:t> </a:t>
            </a:r>
            <a:r>
              <a:rPr dirty="0"/>
              <a:t>Test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52400" y="900785"/>
            <a:ext cx="8991600" cy="2177519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2019 </a:t>
            </a:r>
            <a:r>
              <a:rPr lang="en-US" sz="2000" b="1" dirty="0">
                <a:latin typeface="Arial"/>
                <a:cs typeface="Arial"/>
              </a:rPr>
              <a:t>(2025) </a:t>
            </a:r>
            <a:r>
              <a:rPr sz="2000" b="1" dirty="0">
                <a:latin typeface="Arial"/>
                <a:cs typeface="Arial"/>
              </a:rPr>
              <a:t>global semiconductor market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$412.3B</a:t>
            </a:r>
            <a:r>
              <a:rPr lang="en-US" sz="2000" b="1" dirty="0">
                <a:solidFill>
                  <a:srgbClr val="0000FF"/>
                </a:solidFill>
                <a:latin typeface="Arial"/>
                <a:cs typeface="Arial"/>
              </a:rPr>
              <a:t> ($795.6B)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USD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lang="en-US" sz="2000" b="1" dirty="0">
                <a:latin typeface="Arial"/>
                <a:cs typeface="Arial"/>
              </a:rPr>
              <a:t>Out of which p</a:t>
            </a:r>
            <a:r>
              <a:rPr sz="2000" b="1" dirty="0">
                <a:latin typeface="Arial"/>
                <a:cs typeface="Arial"/>
              </a:rPr>
              <a:t>ack</a:t>
            </a:r>
            <a:r>
              <a:rPr lang="en-US" sz="2000" b="1" dirty="0">
                <a:latin typeface="Arial"/>
                <a:cs typeface="Arial"/>
              </a:rPr>
              <a:t>ag</a:t>
            </a:r>
            <a:r>
              <a:rPr sz="2000" b="1" dirty="0">
                <a:latin typeface="Arial"/>
                <a:cs typeface="Arial"/>
              </a:rPr>
              <a:t>ing and test </a:t>
            </a:r>
            <a:r>
              <a:rPr lang="en-US" sz="2000" b="1" dirty="0">
                <a:latin typeface="Arial"/>
                <a:cs typeface="Arial"/>
              </a:rPr>
              <a:t>is up to</a:t>
            </a:r>
            <a:r>
              <a:rPr sz="2000" b="1" spc="-60" dirty="0"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15%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2019 </a:t>
            </a:r>
            <a:r>
              <a:rPr lang="en-US" sz="2000" b="1" dirty="0">
                <a:latin typeface="Arial"/>
                <a:cs typeface="Arial"/>
              </a:rPr>
              <a:t>(2025) </a:t>
            </a:r>
            <a:r>
              <a:rPr sz="2000" b="1" dirty="0">
                <a:latin typeface="Arial"/>
                <a:cs typeface="Arial"/>
              </a:rPr>
              <a:t>Taiwan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$86.3B </a:t>
            </a:r>
            <a:r>
              <a:rPr lang="en-US" sz="2000" b="1" dirty="0">
                <a:solidFill>
                  <a:srgbClr val="0000FF"/>
                </a:solidFill>
                <a:latin typeface="Arial"/>
                <a:cs typeface="Arial"/>
              </a:rPr>
              <a:t>($ 209.1B) </a:t>
            </a:r>
            <a:r>
              <a:rPr sz="2000" b="1" dirty="0">
                <a:latin typeface="Arial"/>
                <a:cs typeface="Arial"/>
              </a:rPr>
              <a:t>USD, </a:t>
            </a:r>
            <a:r>
              <a:rPr sz="2000" b="1" spc="5" dirty="0">
                <a:solidFill>
                  <a:srgbClr val="0000FF"/>
                </a:solidFill>
                <a:latin typeface="Arial"/>
                <a:cs typeface="Arial"/>
              </a:rPr>
              <a:t>~21% </a:t>
            </a:r>
            <a:r>
              <a:rPr lang="en-US" sz="2000" b="1" spc="5" dirty="0">
                <a:solidFill>
                  <a:srgbClr val="0000FF"/>
                </a:solidFill>
                <a:latin typeface="Arial"/>
                <a:cs typeface="Arial"/>
              </a:rPr>
              <a:t>(26.3%) </a:t>
            </a:r>
            <a:r>
              <a:rPr sz="2000" b="1" dirty="0">
                <a:latin typeface="Arial"/>
                <a:cs typeface="Arial"/>
              </a:rPr>
              <a:t>of global</a:t>
            </a:r>
            <a:r>
              <a:rPr sz="2000" b="1" spc="-16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market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Fabless design $22.4B</a:t>
            </a:r>
            <a:r>
              <a:rPr sz="2000" b="1" spc="-6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USD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Manufacture $42.5B</a:t>
            </a:r>
            <a:r>
              <a:rPr sz="2000" b="1" spc="-7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USD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6102" y="3053080"/>
            <a:ext cx="4489298" cy="75692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575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299085" algn="l"/>
                <a:tab pos="299720" algn="l"/>
              </a:tabLst>
            </a:pPr>
            <a:r>
              <a:rPr sz="2000" b="1" dirty="0">
                <a:latin typeface="Arial"/>
                <a:cs typeface="Arial"/>
              </a:rPr>
              <a:t>Packaging $11.2B</a:t>
            </a:r>
            <a:r>
              <a:rPr sz="2000" b="1" spc="-9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USD</a:t>
            </a:r>
            <a:endParaRPr sz="2000" dirty="0">
              <a:latin typeface="Arial"/>
              <a:cs typeface="Arial"/>
            </a:endParaRPr>
          </a:p>
          <a:p>
            <a:pPr marL="299085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299085" algn="l"/>
                <a:tab pos="299720" algn="l"/>
                <a:tab pos="1343025" algn="l"/>
              </a:tabLst>
            </a:pP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Testing	$5.0B</a:t>
            </a:r>
            <a:r>
              <a:rPr sz="2000" b="1" spc="-4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lang="en-US" sz="2000" b="1" spc="-40" dirty="0">
                <a:solidFill>
                  <a:srgbClr val="0000FF"/>
                </a:solidFill>
                <a:latin typeface="Arial"/>
                <a:cs typeface="Arial"/>
              </a:rPr>
              <a:t>($7.14B)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USD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3" name="object 10">
            <a:extLst>
              <a:ext uri="{FF2B5EF4-FFF2-40B4-BE49-F238E27FC236}">
                <a16:creationId xmlns:a16="http://schemas.microsoft.com/office/drawing/2014/main" id="{8102AADD-9794-135C-ADF1-C400BDE2BF43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215798" y="6399903"/>
            <a:ext cx="546202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22</a:t>
            </a:fld>
            <a:endParaRPr spc="-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579107" y="4839208"/>
            <a:ext cx="890016" cy="70053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1736" y="164414"/>
            <a:ext cx="856107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Many </a:t>
            </a:r>
            <a:r>
              <a:rPr spc="-5" dirty="0"/>
              <a:t>Companies Invest </a:t>
            </a:r>
            <a:r>
              <a:rPr dirty="0"/>
              <a:t>Heavily in</a:t>
            </a:r>
            <a:r>
              <a:rPr spc="-50" dirty="0"/>
              <a:t> </a:t>
            </a:r>
            <a:r>
              <a:rPr dirty="0"/>
              <a:t>Test</a:t>
            </a:r>
          </a:p>
        </p:txBody>
      </p:sp>
      <p:sp>
        <p:nvSpPr>
          <p:cNvPr id="4" name="object 4"/>
          <p:cNvSpPr/>
          <p:nvPr/>
        </p:nvSpPr>
        <p:spPr>
          <a:xfrm>
            <a:off x="3028950" y="1413510"/>
            <a:ext cx="2021205" cy="1647825"/>
          </a:xfrm>
          <a:custGeom>
            <a:avLst/>
            <a:gdLst/>
            <a:ahLst/>
            <a:cxnLst/>
            <a:rect l="l" t="t" r="r" b="b"/>
            <a:pathLst>
              <a:path w="2021204" h="1647825">
                <a:moveTo>
                  <a:pt x="1010412" y="0"/>
                </a:moveTo>
                <a:lnTo>
                  <a:pt x="0" y="1647443"/>
                </a:lnTo>
                <a:lnTo>
                  <a:pt x="2020824" y="1647443"/>
                </a:lnTo>
                <a:lnTo>
                  <a:pt x="1010412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028950" y="1413510"/>
            <a:ext cx="2021205" cy="1647825"/>
          </a:xfrm>
          <a:custGeom>
            <a:avLst/>
            <a:gdLst/>
            <a:ahLst/>
            <a:cxnLst/>
            <a:rect l="l" t="t" r="r" b="b"/>
            <a:pathLst>
              <a:path w="2021204" h="1647825">
                <a:moveTo>
                  <a:pt x="0" y="1647443"/>
                </a:moveTo>
                <a:lnTo>
                  <a:pt x="1010412" y="0"/>
                </a:lnTo>
                <a:lnTo>
                  <a:pt x="2020824" y="1647443"/>
                </a:lnTo>
                <a:lnTo>
                  <a:pt x="0" y="1647443"/>
                </a:lnTo>
                <a:close/>
              </a:path>
            </a:pathLst>
          </a:custGeom>
          <a:ln w="2590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094738" y="3060954"/>
            <a:ext cx="3889375" cy="1468120"/>
          </a:xfrm>
          <a:custGeom>
            <a:avLst/>
            <a:gdLst/>
            <a:ahLst/>
            <a:cxnLst/>
            <a:rect l="l" t="t" r="r" b="b"/>
            <a:pathLst>
              <a:path w="3889375" h="1468120">
                <a:moveTo>
                  <a:pt x="2960624" y="0"/>
                </a:moveTo>
                <a:lnTo>
                  <a:pt x="928624" y="0"/>
                </a:lnTo>
                <a:lnTo>
                  <a:pt x="0" y="1467612"/>
                </a:lnTo>
                <a:lnTo>
                  <a:pt x="3889248" y="1467612"/>
                </a:lnTo>
                <a:lnTo>
                  <a:pt x="2960624" y="0"/>
                </a:lnTo>
                <a:close/>
              </a:path>
            </a:pathLst>
          </a:custGeom>
          <a:solidFill>
            <a:srgbClr val="FFCC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094738" y="3060954"/>
            <a:ext cx="3889375" cy="1468120"/>
          </a:xfrm>
          <a:custGeom>
            <a:avLst/>
            <a:gdLst/>
            <a:ahLst/>
            <a:cxnLst/>
            <a:rect l="l" t="t" r="r" b="b"/>
            <a:pathLst>
              <a:path w="3889375" h="1468120">
                <a:moveTo>
                  <a:pt x="0" y="1467612"/>
                </a:moveTo>
                <a:lnTo>
                  <a:pt x="928624" y="0"/>
                </a:lnTo>
                <a:lnTo>
                  <a:pt x="2960624" y="0"/>
                </a:lnTo>
                <a:lnTo>
                  <a:pt x="3889248" y="1467612"/>
                </a:lnTo>
                <a:lnTo>
                  <a:pt x="0" y="1467612"/>
                </a:lnTo>
                <a:close/>
              </a:path>
            </a:pathLst>
          </a:custGeom>
          <a:ln w="2590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31925" y="4528565"/>
            <a:ext cx="6215380" cy="1797050"/>
          </a:xfrm>
          <a:custGeom>
            <a:avLst/>
            <a:gdLst/>
            <a:ahLst/>
            <a:cxnLst/>
            <a:rect l="l" t="t" r="r" b="b"/>
            <a:pathLst>
              <a:path w="6215380" h="1797050">
                <a:moveTo>
                  <a:pt x="5077968" y="0"/>
                </a:moveTo>
                <a:lnTo>
                  <a:pt x="1136904" y="0"/>
                </a:lnTo>
                <a:lnTo>
                  <a:pt x="0" y="1796795"/>
                </a:lnTo>
                <a:lnTo>
                  <a:pt x="6214872" y="1796795"/>
                </a:lnTo>
                <a:lnTo>
                  <a:pt x="5077968" y="0"/>
                </a:lnTo>
                <a:close/>
              </a:path>
            </a:pathLst>
          </a:custGeom>
          <a:solidFill>
            <a:srgbClr val="E7E7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31925" y="4528565"/>
            <a:ext cx="6215380" cy="1797050"/>
          </a:xfrm>
          <a:custGeom>
            <a:avLst/>
            <a:gdLst/>
            <a:ahLst/>
            <a:cxnLst/>
            <a:rect l="l" t="t" r="r" b="b"/>
            <a:pathLst>
              <a:path w="6215380" h="1797050">
                <a:moveTo>
                  <a:pt x="0" y="1796795"/>
                </a:moveTo>
                <a:lnTo>
                  <a:pt x="1136904" y="0"/>
                </a:lnTo>
                <a:lnTo>
                  <a:pt x="5077968" y="0"/>
                </a:lnTo>
                <a:lnTo>
                  <a:pt x="6214872" y="1796795"/>
                </a:lnTo>
                <a:lnTo>
                  <a:pt x="0" y="1796795"/>
                </a:lnTo>
                <a:close/>
              </a:path>
            </a:pathLst>
          </a:custGeom>
          <a:ln w="2590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696972" y="1459669"/>
            <a:ext cx="2684780" cy="4271645"/>
          </a:xfrm>
          <a:prstGeom prst="rect">
            <a:avLst/>
          </a:prstGeom>
        </p:spPr>
        <p:txBody>
          <a:bodyPr vert="horz" wrap="square" lIns="0" tIns="2070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630"/>
              </a:spcBef>
            </a:pPr>
            <a:r>
              <a:rPr sz="2800" b="1" spc="-5" dirty="0">
                <a:latin typeface="Arial"/>
                <a:cs typeface="Arial"/>
              </a:rPr>
              <a:t>EDA</a:t>
            </a:r>
            <a:endParaRPr sz="2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875"/>
              </a:spcBef>
            </a:pPr>
            <a:r>
              <a:rPr sz="1600" b="1" spc="-45" dirty="0">
                <a:solidFill>
                  <a:srgbClr val="006FC0"/>
                </a:solidFill>
                <a:latin typeface="Arial"/>
                <a:cs typeface="Arial"/>
              </a:rPr>
              <a:t>ATPG</a:t>
            </a:r>
            <a:endParaRPr sz="16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390"/>
              </a:spcBef>
            </a:pPr>
            <a:r>
              <a:rPr sz="1600" b="1" spc="-5" dirty="0">
                <a:solidFill>
                  <a:srgbClr val="006FC0"/>
                </a:solidFill>
                <a:latin typeface="Arial"/>
                <a:cs typeface="Arial"/>
              </a:rPr>
              <a:t>Fault</a:t>
            </a:r>
            <a:r>
              <a:rPr sz="1600" b="1" spc="1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600" b="1" spc="-5" dirty="0">
                <a:solidFill>
                  <a:srgbClr val="006FC0"/>
                </a:solidFill>
                <a:latin typeface="Arial"/>
                <a:cs typeface="Arial"/>
              </a:rPr>
              <a:t>Sim.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800">
              <a:latin typeface="Arial"/>
              <a:cs typeface="Arial"/>
            </a:endParaRPr>
          </a:p>
          <a:p>
            <a:pPr marL="1270" algn="ctr">
              <a:lnSpc>
                <a:spcPct val="100000"/>
              </a:lnSpc>
              <a:spcBef>
                <a:spcPts val="1225"/>
              </a:spcBef>
            </a:pPr>
            <a:r>
              <a:rPr sz="2800" b="1" spc="-5" dirty="0">
                <a:latin typeface="Arial"/>
                <a:cs typeface="Arial"/>
              </a:rPr>
              <a:t>Design</a:t>
            </a:r>
            <a:endParaRPr sz="2800">
              <a:latin typeface="Arial"/>
              <a:cs typeface="Arial"/>
            </a:endParaRPr>
          </a:p>
          <a:p>
            <a:pPr marL="1905" algn="ctr">
              <a:lnSpc>
                <a:spcPts val="1789"/>
              </a:lnSpc>
              <a:spcBef>
                <a:spcPts val="875"/>
              </a:spcBef>
            </a:pPr>
            <a:r>
              <a:rPr sz="1600" b="1" spc="-40" dirty="0">
                <a:solidFill>
                  <a:srgbClr val="006FC0"/>
                </a:solidFill>
                <a:latin typeface="Arial"/>
                <a:cs typeface="Arial"/>
              </a:rPr>
              <a:t>BIST,</a:t>
            </a:r>
            <a:r>
              <a:rPr sz="1600" b="1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600" b="1" spc="-5" dirty="0">
                <a:solidFill>
                  <a:srgbClr val="006FC0"/>
                </a:solidFill>
                <a:latin typeface="Arial"/>
                <a:cs typeface="Arial"/>
              </a:rPr>
              <a:t>DFT</a:t>
            </a:r>
            <a:endParaRPr sz="1600">
              <a:latin typeface="Arial"/>
              <a:cs typeface="Arial"/>
            </a:endParaRPr>
          </a:p>
          <a:p>
            <a:pPr algn="ctr">
              <a:lnSpc>
                <a:spcPts val="1789"/>
              </a:lnSpc>
            </a:pPr>
            <a:r>
              <a:rPr sz="1600" b="1" spc="-5" dirty="0">
                <a:solidFill>
                  <a:srgbClr val="006FC0"/>
                </a:solidFill>
                <a:latin typeface="Arial"/>
                <a:cs typeface="Arial"/>
              </a:rPr>
              <a:t>Boundary</a:t>
            </a:r>
            <a:r>
              <a:rPr sz="1600" b="1" spc="1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600" b="1" spc="-5" dirty="0">
                <a:solidFill>
                  <a:srgbClr val="006FC0"/>
                </a:solidFill>
                <a:latin typeface="Arial"/>
                <a:cs typeface="Arial"/>
              </a:rPr>
              <a:t>Scan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1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2800" b="1" spc="-5" dirty="0">
                <a:latin typeface="Arial"/>
                <a:cs typeface="Arial"/>
              </a:rPr>
              <a:t>Manufacture</a:t>
            </a:r>
            <a:endParaRPr sz="2800">
              <a:latin typeface="Arial"/>
              <a:cs typeface="Arial"/>
            </a:endParaRPr>
          </a:p>
          <a:p>
            <a:pPr marL="12700" marR="5080" algn="ctr">
              <a:lnSpc>
                <a:spcPts val="1660"/>
              </a:lnSpc>
              <a:spcBef>
                <a:spcPts val="1150"/>
              </a:spcBef>
            </a:pPr>
            <a:r>
              <a:rPr sz="1600" b="1" spc="-5" dirty="0">
                <a:solidFill>
                  <a:srgbClr val="006FC0"/>
                </a:solidFill>
                <a:latin typeface="Arial"/>
                <a:cs typeface="Arial"/>
              </a:rPr>
              <a:t>Fabrication, </a:t>
            </a:r>
            <a:r>
              <a:rPr sz="1600" b="1" spc="-25" dirty="0">
                <a:solidFill>
                  <a:srgbClr val="006FC0"/>
                </a:solidFill>
                <a:latin typeface="Arial"/>
                <a:cs typeface="Arial"/>
              </a:rPr>
              <a:t>Assembly, </a:t>
            </a:r>
            <a:r>
              <a:rPr sz="1600" b="1" spc="-35" dirty="0">
                <a:solidFill>
                  <a:srgbClr val="006FC0"/>
                </a:solidFill>
                <a:latin typeface="Arial"/>
                <a:cs typeface="Arial"/>
              </a:rPr>
              <a:t>Test  </a:t>
            </a:r>
            <a:r>
              <a:rPr sz="1600" b="1" spc="-10" dirty="0">
                <a:solidFill>
                  <a:srgbClr val="006FC0"/>
                </a:solidFill>
                <a:latin typeface="Arial"/>
                <a:cs typeface="Arial"/>
              </a:rPr>
              <a:t>Physical </a:t>
            </a:r>
            <a:r>
              <a:rPr sz="1600" b="1" spc="-5" dirty="0">
                <a:solidFill>
                  <a:srgbClr val="006FC0"/>
                </a:solidFill>
                <a:latin typeface="Arial"/>
                <a:cs typeface="Arial"/>
              </a:rPr>
              <a:t>Failure</a:t>
            </a:r>
            <a:r>
              <a:rPr sz="1600" b="1" spc="4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006FC0"/>
                </a:solidFill>
                <a:latin typeface="Arial"/>
                <a:cs typeface="Arial"/>
              </a:rPr>
              <a:t>analysis</a:t>
            </a:r>
            <a:endParaRPr sz="16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902452" y="3083051"/>
            <a:ext cx="1972055" cy="62331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062471" y="3646932"/>
            <a:ext cx="1719072" cy="34747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20688" y="2307335"/>
            <a:ext cx="1688463" cy="40233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813816" y="3584447"/>
            <a:ext cx="954023" cy="37795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995415" y="1933955"/>
            <a:ext cx="868680" cy="45567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940982" y="1979676"/>
            <a:ext cx="942819" cy="39166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976616" y="1969007"/>
            <a:ext cx="954024" cy="40538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7437119" y="4783835"/>
            <a:ext cx="914400" cy="91440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766693" y="4053840"/>
            <a:ext cx="909706" cy="388750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809647" y="2882283"/>
            <a:ext cx="945597" cy="624040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7947659" y="3265932"/>
            <a:ext cx="906779" cy="667512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661416" y="975360"/>
            <a:ext cx="749935" cy="462280"/>
          </a:xfrm>
          <a:prstGeom prst="rect">
            <a:avLst/>
          </a:prstGeom>
          <a:solidFill>
            <a:srgbClr val="FF0000"/>
          </a:solidFill>
        </p:spPr>
        <p:txBody>
          <a:bodyPr vert="horz" wrap="square" lIns="0" tIns="3746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95"/>
              </a:spcBef>
            </a:pPr>
            <a:r>
              <a:rPr sz="2400" b="1" spc="-5" dirty="0">
                <a:solidFill>
                  <a:srgbClr val="FFFFFF"/>
                </a:solidFill>
                <a:latin typeface="Helvetica"/>
                <a:cs typeface="Helvetica"/>
              </a:rPr>
              <a:t>IDM</a:t>
            </a:r>
            <a:endParaRPr sz="2400">
              <a:latin typeface="Helvetica"/>
              <a:cs typeface="Helvetic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15798" y="6399903"/>
            <a:ext cx="445618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z="2400" b="1" spc="-5" dirty="0">
                <a:latin typeface="Arial"/>
                <a:cs typeface="Arial"/>
              </a:rPr>
              <a:t>23</a:t>
            </a:fld>
            <a:endParaRPr sz="2400" dirty="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057900" y="990600"/>
            <a:ext cx="2646045" cy="462280"/>
          </a:xfrm>
          <a:prstGeom prst="rect">
            <a:avLst/>
          </a:prstGeom>
          <a:solidFill>
            <a:srgbClr val="FF0000"/>
          </a:solidFill>
        </p:spPr>
        <p:txBody>
          <a:bodyPr vert="horz" wrap="square" lIns="0" tIns="3810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00"/>
              </a:spcBef>
            </a:pPr>
            <a:r>
              <a:rPr sz="2400" b="1" spc="-5" dirty="0">
                <a:solidFill>
                  <a:srgbClr val="FFFFFF"/>
                </a:solidFill>
                <a:latin typeface="Helvetica"/>
                <a:cs typeface="Helvetica"/>
              </a:rPr>
              <a:t>Fabless/Foundry</a:t>
            </a:r>
            <a:endParaRPr sz="2400">
              <a:latin typeface="Helvetica"/>
              <a:cs typeface="Helvetic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0644" y="1620093"/>
            <a:ext cx="7305959" cy="52379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335783" y="164414"/>
            <a:ext cx="434340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EDA Market by</a:t>
            </a:r>
            <a:r>
              <a:rPr sz="3600" spc="-90" dirty="0"/>
              <a:t> </a:t>
            </a:r>
            <a:r>
              <a:rPr sz="3600" spc="-5" dirty="0"/>
              <a:t>Tool</a:t>
            </a:r>
            <a:endParaRPr sz="3600"/>
          </a:p>
        </p:txBody>
      </p:sp>
      <p:sp>
        <p:nvSpPr>
          <p:cNvPr id="4" name="object 4"/>
          <p:cNvSpPr/>
          <p:nvPr/>
        </p:nvSpPr>
        <p:spPr>
          <a:xfrm>
            <a:off x="6831330" y="3870197"/>
            <a:ext cx="1270000" cy="708660"/>
          </a:xfrm>
          <a:custGeom>
            <a:avLst/>
            <a:gdLst/>
            <a:ahLst/>
            <a:cxnLst/>
            <a:rect l="l" t="t" r="r" b="b"/>
            <a:pathLst>
              <a:path w="1270000" h="708660">
                <a:moveTo>
                  <a:pt x="0" y="708659"/>
                </a:moveTo>
                <a:lnTo>
                  <a:pt x="1269492" y="708659"/>
                </a:lnTo>
                <a:lnTo>
                  <a:pt x="1269492" y="0"/>
                </a:lnTo>
                <a:lnTo>
                  <a:pt x="0" y="0"/>
                </a:lnTo>
                <a:lnTo>
                  <a:pt x="0" y="708659"/>
                </a:lnTo>
                <a:close/>
              </a:path>
            </a:pathLst>
          </a:custGeom>
          <a:solidFill>
            <a:srgbClr val="FF7B80">
              <a:alpha val="38822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831330" y="3870197"/>
            <a:ext cx="1270000" cy="708660"/>
          </a:xfrm>
          <a:custGeom>
            <a:avLst/>
            <a:gdLst/>
            <a:ahLst/>
            <a:cxnLst/>
            <a:rect l="l" t="t" r="r" b="b"/>
            <a:pathLst>
              <a:path w="1270000" h="708660">
                <a:moveTo>
                  <a:pt x="0" y="708659"/>
                </a:moveTo>
                <a:lnTo>
                  <a:pt x="1269492" y="708659"/>
                </a:lnTo>
                <a:lnTo>
                  <a:pt x="1269492" y="0"/>
                </a:lnTo>
                <a:lnTo>
                  <a:pt x="0" y="0"/>
                </a:lnTo>
                <a:lnTo>
                  <a:pt x="0" y="708659"/>
                </a:lnTo>
                <a:close/>
              </a:path>
            </a:pathLst>
          </a:custGeom>
          <a:ln w="2895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4037" y="903858"/>
            <a:ext cx="7134327" cy="14651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81330" indent="-343535">
              <a:lnSpc>
                <a:spcPct val="100000"/>
              </a:lnSpc>
              <a:spcBef>
                <a:spcPts val="10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481330" algn="l"/>
                <a:tab pos="481965" algn="l"/>
              </a:tabLst>
            </a:pPr>
            <a:r>
              <a:rPr sz="2000" b="1" dirty="0">
                <a:latin typeface="Arial"/>
                <a:cs typeface="Arial"/>
              </a:rPr>
              <a:t>Test-related tools are about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5~10% </a:t>
            </a:r>
            <a:r>
              <a:rPr sz="2000" b="1" dirty="0">
                <a:latin typeface="Arial"/>
                <a:cs typeface="Arial"/>
              </a:rPr>
              <a:t>EDA</a:t>
            </a:r>
            <a:r>
              <a:rPr sz="2000" b="1" spc="-114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revenue</a:t>
            </a:r>
            <a:r>
              <a:rPr lang="en-US" sz="2000" b="1" spc="-5" dirty="0">
                <a:latin typeface="Arial"/>
                <a:cs typeface="Arial"/>
              </a:rPr>
              <a:t> in 2025</a:t>
            </a:r>
            <a:endParaRPr sz="20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215"/>
              </a:spcBef>
            </a:pPr>
            <a:r>
              <a:rPr sz="1800" b="1" spc="-5" dirty="0">
                <a:solidFill>
                  <a:srgbClr val="7E7E7E"/>
                </a:solidFill>
                <a:latin typeface="Helvetica"/>
                <a:cs typeface="Helvetica"/>
              </a:rPr>
              <a:t>dataquest</a:t>
            </a:r>
            <a:endParaRPr sz="1800" dirty="0">
              <a:latin typeface="Helvetica"/>
              <a:cs typeface="Helvetic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b="1" spc="-10" dirty="0">
                <a:solidFill>
                  <a:srgbClr val="7E7E7E"/>
                </a:solidFill>
                <a:latin typeface="Helvetica"/>
                <a:cs typeface="Helvetica"/>
              </a:rPr>
              <a:t>2012</a:t>
            </a:r>
            <a:endParaRPr sz="1800" dirty="0">
              <a:latin typeface="Helvetica"/>
              <a:cs typeface="Helvetic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506718" y="5685282"/>
            <a:ext cx="1597660" cy="165100"/>
          </a:xfrm>
          <a:custGeom>
            <a:avLst/>
            <a:gdLst/>
            <a:ahLst/>
            <a:cxnLst/>
            <a:rect l="l" t="t" r="r" b="b"/>
            <a:pathLst>
              <a:path w="1597659" h="165100">
                <a:moveTo>
                  <a:pt x="0" y="164592"/>
                </a:moveTo>
                <a:lnTo>
                  <a:pt x="1597152" y="164592"/>
                </a:lnTo>
                <a:lnTo>
                  <a:pt x="1597152" y="0"/>
                </a:lnTo>
                <a:lnTo>
                  <a:pt x="0" y="0"/>
                </a:lnTo>
                <a:lnTo>
                  <a:pt x="0" y="164592"/>
                </a:lnTo>
                <a:close/>
              </a:path>
            </a:pathLst>
          </a:custGeom>
          <a:solidFill>
            <a:srgbClr val="FF7B80">
              <a:alpha val="38822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506718" y="5685282"/>
            <a:ext cx="1597660" cy="165100"/>
          </a:xfrm>
          <a:custGeom>
            <a:avLst/>
            <a:gdLst/>
            <a:ahLst/>
            <a:cxnLst/>
            <a:rect l="l" t="t" r="r" b="b"/>
            <a:pathLst>
              <a:path w="1597659" h="165100">
                <a:moveTo>
                  <a:pt x="0" y="164592"/>
                </a:moveTo>
                <a:lnTo>
                  <a:pt x="1597152" y="164592"/>
                </a:lnTo>
                <a:lnTo>
                  <a:pt x="1597152" y="0"/>
                </a:lnTo>
                <a:lnTo>
                  <a:pt x="0" y="0"/>
                </a:lnTo>
                <a:lnTo>
                  <a:pt x="0" y="164592"/>
                </a:lnTo>
                <a:close/>
              </a:path>
            </a:pathLst>
          </a:custGeom>
          <a:ln w="2895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970270" y="2036826"/>
            <a:ext cx="1268095" cy="233679"/>
          </a:xfrm>
          <a:custGeom>
            <a:avLst/>
            <a:gdLst/>
            <a:ahLst/>
            <a:cxnLst/>
            <a:rect l="l" t="t" r="r" b="b"/>
            <a:pathLst>
              <a:path w="1268095" h="233680">
                <a:moveTo>
                  <a:pt x="0" y="233172"/>
                </a:moveTo>
                <a:lnTo>
                  <a:pt x="1267968" y="233172"/>
                </a:lnTo>
                <a:lnTo>
                  <a:pt x="1267968" y="0"/>
                </a:lnTo>
                <a:lnTo>
                  <a:pt x="0" y="0"/>
                </a:lnTo>
                <a:lnTo>
                  <a:pt x="0" y="233172"/>
                </a:lnTo>
                <a:close/>
              </a:path>
            </a:pathLst>
          </a:custGeom>
          <a:solidFill>
            <a:srgbClr val="FF7B80">
              <a:alpha val="36077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970270" y="2036826"/>
            <a:ext cx="1268095" cy="233679"/>
          </a:xfrm>
          <a:custGeom>
            <a:avLst/>
            <a:gdLst/>
            <a:ahLst/>
            <a:cxnLst/>
            <a:rect l="l" t="t" r="r" b="b"/>
            <a:pathLst>
              <a:path w="1268095" h="233680">
                <a:moveTo>
                  <a:pt x="0" y="233172"/>
                </a:moveTo>
                <a:lnTo>
                  <a:pt x="1267968" y="233172"/>
                </a:lnTo>
                <a:lnTo>
                  <a:pt x="1267968" y="0"/>
                </a:lnTo>
                <a:lnTo>
                  <a:pt x="0" y="0"/>
                </a:lnTo>
                <a:lnTo>
                  <a:pt x="0" y="233172"/>
                </a:lnTo>
                <a:close/>
              </a:path>
            </a:pathLst>
          </a:custGeom>
          <a:ln w="2895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544574" y="6325361"/>
            <a:ext cx="680085" cy="259079"/>
          </a:xfrm>
          <a:custGeom>
            <a:avLst/>
            <a:gdLst/>
            <a:ahLst/>
            <a:cxnLst/>
            <a:rect l="l" t="t" r="r" b="b"/>
            <a:pathLst>
              <a:path w="680085" h="259079">
                <a:moveTo>
                  <a:pt x="0" y="259079"/>
                </a:moveTo>
                <a:lnTo>
                  <a:pt x="679704" y="259079"/>
                </a:lnTo>
                <a:lnTo>
                  <a:pt x="679704" y="0"/>
                </a:lnTo>
                <a:lnTo>
                  <a:pt x="0" y="0"/>
                </a:lnTo>
                <a:lnTo>
                  <a:pt x="0" y="259079"/>
                </a:lnTo>
                <a:close/>
              </a:path>
            </a:pathLst>
          </a:custGeom>
          <a:solidFill>
            <a:srgbClr val="FF7B80">
              <a:alpha val="38822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544574" y="6325361"/>
            <a:ext cx="680085" cy="259079"/>
          </a:xfrm>
          <a:custGeom>
            <a:avLst/>
            <a:gdLst/>
            <a:ahLst/>
            <a:cxnLst/>
            <a:rect l="l" t="t" r="r" b="b"/>
            <a:pathLst>
              <a:path w="680085" h="259079">
                <a:moveTo>
                  <a:pt x="0" y="259079"/>
                </a:moveTo>
                <a:lnTo>
                  <a:pt x="679704" y="259079"/>
                </a:lnTo>
                <a:lnTo>
                  <a:pt x="679704" y="0"/>
                </a:lnTo>
                <a:lnTo>
                  <a:pt x="0" y="0"/>
                </a:lnTo>
                <a:lnTo>
                  <a:pt x="0" y="259079"/>
                </a:lnTo>
                <a:close/>
              </a:path>
            </a:pathLst>
          </a:custGeom>
          <a:ln w="2895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5818632" y="6529127"/>
            <a:ext cx="2032635" cy="182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90"/>
              </a:lnSpc>
            </a:pPr>
            <a:r>
              <a:rPr sz="1200" b="1" dirty="0">
                <a:solidFill>
                  <a:srgbClr val="B1B1B1"/>
                </a:solidFill>
                <a:latin typeface="Helvetica"/>
                <a:cs typeface="Helvetica"/>
              </a:rPr>
              <a:t>VLSI </a:t>
            </a:r>
            <a:r>
              <a:rPr sz="1200" b="1" spc="-25" dirty="0">
                <a:solidFill>
                  <a:srgbClr val="B1B1B1"/>
                </a:solidFill>
                <a:latin typeface="Helvetica"/>
                <a:cs typeface="Helvetica"/>
              </a:rPr>
              <a:t>Test </a:t>
            </a:r>
            <a:r>
              <a:rPr sz="1200" b="1" spc="-5" dirty="0">
                <a:solidFill>
                  <a:srgbClr val="B1B1B1"/>
                </a:solidFill>
                <a:latin typeface="Helvetica"/>
                <a:cs typeface="Helvetica"/>
              </a:rPr>
              <a:t>1.4 </a:t>
            </a:r>
            <a:r>
              <a:rPr sz="1200" b="1" spc="-285" dirty="0">
                <a:solidFill>
                  <a:srgbClr val="B1B1B1"/>
                </a:solidFill>
                <a:latin typeface="Helvetica"/>
                <a:cs typeface="Helvetica"/>
              </a:rPr>
              <a:t>© </a:t>
            </a:r>
            <a:r>
              <a:rPr sz="1200" b="1" spc="-5" dirty="0">
                <a:solidFill>
                  <a:srgbClr val="B1B1B1"/>
                </a:solidFill>
                <a:latin typeface="Helvetica"/>
                <a:cs typeface="Helvetica"/>
              </a:rPr>
              <a:t>National</a:t>
            </a:r>
            <a:r>
              <a:rPr sz="1200" b="1" spc="-25" dirty="0">
                <a:solidFill>
                  <a:srgbClr val="B1B1B1"/>
                </a:solidFill>
                <a:latin typeface="Helvetica"/>
                <a:cs typeface="Helvetica"/>
              </a:rPr>
              <a:t> </a:t>
            </a:r>
            <a:r>
              <a:rPr sz="1200" b="1" spc="-30" dirty="0">
                <a:solidFill>
                  <a:srgbClr val="B1B1B1"/>
                </a:solidFill>
                <a:latin typeface="Helvetica"/>
                <a:cs typeface="Helvetica"/>
              </a:rPr>
              <a:t>Tai</a:t>
            </a:r>
            <a:endParaRPr sz="1200">
              <a:latin typeface="Helvetica"/>
              <a:cs typeface="Helvetic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15798" y="6422727"/>
            <a:ext cx="680084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z="2400" b="1" spc="-5" dirty="0">
                <a:latin typeface="Arial"/>
                <a:cs typeface="Arial"/>
              </a:rPr>
              <a:t>24</a:t>
            </a:fld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61792" y="164414"/>
            <a:ext cx="3086608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Introduction</a:t>
            </a: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230225" y="961136"/>
            <a:ext cx="5211445" cy="255262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solidFill>
                  <a:srgbClr val="7E7E7E"/>
                </a:solidFill>
                <a:latin typeface="Arial"/>
                <a:cs typeface="Arial"/>
              </a:rPr>
              <a:t>What Is</a:t>
            </a:r>
            <a:r>
              <a:rPr sz="2000" b="1" spc="-5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7E7E7E"/>
                </a:solidFill>
                <a:latin typeface="Arial"/>
                <a:cs typeface="Arial"/>
              </a:rPr>
              <a:t>Testing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7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spc="-5" dirty="0">
                <a:solidFill>
                  <a:srgbClr val="7E7E7E"/>
                </a:solidFill>
                <a:latin typeface="Arial"/>
                <a:cs typeface="Arial"/>
              </a:rPr>
              <a:t>Types </a:t>
            </a:r>
            <a:r>
              <a:rPr sz="2000" b="1" dirty="0">
                <a:solidFill>
                  <a:srgbClr val="7E7E7E"/>
                </a:solidFill>
                <a:latin typeface="Arial"/>
                <a:cs typeface="Arial"/>
              </a:rPr>
              <a:t>of</a:t>
            </a:r>
            <a:r>
              <a:rPr sz="2000" b="1" spc="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7E7E7E"/>
                </a:solidFill>
                <a:latin typeface="Arial"/>
                <a:cs typeface="Arial"/>
              </a:rPr>
              <a:t>Testing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4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solidFill>
                  <a:srgbClr val="7E7E7E"/>
                </a:solidFill>
                <a:latin typeface="Arial"/>
                <a:cs typeface="Arial"/>
              </a:rPr>
              <a:t>Test</a:t>
            </a:r>
            <a:r>
              <a:rPr sz="2000" b="1" spc="-2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7E7E7E"/>
                </a:solidFill>
                <a:latin typeface="Arial"/>
                <a:cs typeface="Arial"/>
              </a:rPr>
              <a:t>Quality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Test</a:t>
            </a:r>
            <a:r>
              <a:rPr sz="2000" b="1" u="sng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0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Economics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Why and Who </a:t>
            </a:r>
            <a:r>
              <a:rPr sz="2000" b="1" spc="-5" dirty="0">
                <a:latin typeface="Arial"/>
                <a:cs typeface="Arial"/>
              </a:rPr>
              <a:t>Invests in</a:t>
            </a:r>
            <a:r>
              <a:rPr sz="2000" b="1" spc="-6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Test?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u="sng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How </a:t>
            </a:r>
            <a:r>
              <a:rPr sz="20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to Make Optimal Test</a:t>
            </a:r>
            <a:r>
              <a:rPr sz="2000" b="1" u="sng" spc="-13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0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Decision?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Conclusion</a:t>
            </a:r>
            <a:r>
              <a:rPr lang="en-US" sz="2000" b="1" dirty="0">
                <a:latin typeface="Arial"/>
                <a:cs typeface="Arial"/>
              </a:rPr>
              <a:t>s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907279" y="3573779"/>
            <a:ext cx="3779520" cy="283159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383529" y="4822697"/>
            <a:ext cx="94678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215" dirty="0">
                <a:solidFill>
                  <a:srgbClr val="800000"/>
                </a:solidFill>
                <a:latin typeface="Helvetica"/>
                <a:cs typeface="Helvetica"/>
              </a:rPr>
              <a:t>T</a:t>
            </a:r>
            <a:r>
              <a:rPr sz="2800" b="1" spc="-5" dirty="0">
                <a:solidFill>
                  <a:srgbClr val="800000"/>
                </a:solidFill>
                <a:latin typeface="Helvetica"/>
                <a:cs typeface="Helvetica"/>
              </a:rPr>
              <a:t>e</a:t>
            </a:r>
            <a:r>
              <a:rPr sz="2800" b="1" dirty="0">
                <a:solidFill>
                  <a:srgbClr val="800000"/>
                </a:solidFill>
                <a:latin typeface="Helvetica"/>
                <a:cs typeface="Helvetica"/>
              </a:rPr>
              <a:t>s</a:t>
            </a:r>
            <a:r>
              <a:rPr sz="2800" b="1" spc="-5" dirty="0">
                <a:solidFill>
                  <a:srgbClr val="800000"/>
                </a:solidFill>
                <a:latin typeface="Helvetica"/>
                <a:cs typeface="Helvetica"/>
              </a:rPr>
              <a:t>t?</a:t>
            </a:r>
            <a:endParaRPr sz="2800">
              <a:latin typeface="Helvetica"/>
              <a:cs typeface="Helvetic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5798" y="6399903"/>
            <a:ext cx="470002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z="2400" b="1" spc="-5" dirty="0">
                <a:latin typeface="Arial"/>
                <a:cs typeface="Arial"/>
              </a:rPr>
              <a:t>25</a:t>
            </a:fld>
            <a:endParaRPr sz="240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176007" y="4852797"/>
            <a:ext cx="13487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800000"/>
                </a:solidFill>
                <a:latin typeface="Helvetica"/>
                <a:cs typeface="Helvetica"/>
              </a:rPr>
              <a:t>Repai</a:t>
            </a:r>
            <a:r>
              <a:rPr sz="2800" b="1" dirty="0">
                <a:solidFill>
                  <a:srgbClr val="800000"/>
                </a:solidFill>
                <a:latin typeface="Helvetica"/>
                <a:cs typeface="Helvetica"/>
              </a:rPr>
              <a:t>r</a:t>
            </a:r>
            <a:r>
              <a:rPr sz="2800" b="1" spc="-5" dirty="0">
                <a:solidFill>
                  <a:srgbClr val="800000"/>
                </a:solidFill>
                <a:latin typeface="Helvetica"/>
                <a:cs typeface="Helvetica"/>
              </a:rPr>
              <a:t>?</a:t>
            </a:r>
            <a:endParaRPr sz="2800">
              <a:latin typeface="Helvetica"/>
              <a:cs typeface="Helvetic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0225" y="900785"/>
            <a:ext cx="8009890" cy="1489075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Optimal test not only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technical </a:t>
            </a:r>
            <a:r>
              <a:rPr sz="2000" b="1" dirty="0">
                <a:latin typeface="Arial"/>
                <a:cs typeface="Arial"/>
              </a:rPr>
              <a:t>issue, but also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economics</a:t>
            </a:r>
            <a:r>
              <a:rPr sz="2000" b="1" spc="-21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issue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Trade off </a:t>
            </a:r>
            <a:r>
              <a:rPr sz="2000" b="1" spc="5" dirty="0">
                <a:latin typeface="Arial"/>
                <a:cs typeface="Arial"/>
              </a:rPr>
              <a:t>between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test cost </a:t>
            </a:r>
            <a:r>
              <a:rPr sz="2000" b="1" dirty="0">
                <a:latin typeface="Arial"/>
                <a:cs typeface="Arial"/>
              </a:rPr>
              <a:t>and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repair</a:t>
            </a:r>
            <a:r>
              <a:rPr sz="2000" b="1" spc="-16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cost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Different product has different optimal</a:t>
            </a:r>
            <a:r>
              <a:rPr sz="2000" b="1" spc="-16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decision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spc="5" dirty="0">
                <a:solidFill>
                  <a:srgbClr val="0000FF"/>
                </a:solidFill>
                <a:latin typeface="Arial"/>
                <a:cs typeface="Arial"/>
              </a:rPr>
              <a:t>No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single best decision </a:t>
            </a:r>
            <a:r>
              <a:rPr sz="2000" b="1" dirty="0">
                <a:latin typeface="Arial"/>
                <a:cs typeface="Arial"/>
              </a:rPr>
              <a:t>for all</a:t>
            </a:r>
            <a:r>
              <a:rPr sz="2000" b="1" spc="-12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products!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26363" y="164414"/>
            <a:ext cx="696150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How to Make </a:t>
            </a:r>
            <a:r>
              <a:rPr spc="-5" dirty="0"/>
              <a:t>Optimal</a:t>
            </a:r>
            <a:r>
              <a:rPr spc="-25" dirty="0"/>
              <a:t> </a:t>
            </a:r>
            <a:r>
              <a:rPr spc="-5" dirty="0"/>
              <a:t>Decision?</a:t>
            </a:r>
            <a:endParaRPr dirty="0"/>
          </a:p>
        </p:txBody>
      </p:sp>
      <p:sp>
        <p:nvSpPr>
          <p:cNvPr id="4" name="object 4"/>
          <p:cNvSpPr/>
          <p:nvPr/>
        </p:nvSpPr>
        <p:spPr>
          <a:xfrm>
            <a:off x="798576" y="2881883"/>
            <a:ext cx="5247640" cy="3366770"/>
          </a:xfrm>
          <a:custGeom>
            <a:avLst/>
            <a:gdLst/>
            <a:ahLst/>
            <a:cxnLst/>
            <a:rect l="l" t="t" r="r" b="b"/>
            <a:pathLst>
              <a:path w="5247640" h="3366770">
                <a:moveTo>
                  <a:pt x="0" y="3366516"/>
                </a:moveTo>
                <a:lnTo>
                  <a:pt x="5247132" y="3366516"/>
                </a:lnTo>
                <a:lnTo>
                  <a:pt x="5247132" y="0"/>
                </a:lnTo>
                <a:lnTo>
                  <a:pt x="0" y="0"/>
                </a:lnTo>
                <a:lnTo>
                  <a:pt x="0" y="3366516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336035" y="4504944"/>
            <a:ext cx="291465" cy="508000"/>
          </a:xfrm>
          <a:custGeom>
            <a:avLst/>
            <a:gdLst/>
            <a:ahLst/>
            <a:cxnLst/>
            <a:rect l="l" t="t" r="r" b="b"/>
            <a:pathLst>
              <a:path w="291464" h="508000">
                <a:moveTo>
                  <a:pt x="291084" y="407669"/>
                </a:moveTo>
                <a:lnTo>
                  <a:pt x="0" y="407669"/>
                </a:lnTo>
                <a:lnTo>
                  <a:pt x="145541" y="507491"/>
                </a:lnTo>
                <a:lnTo>
                  <a:pt x="291084" y="407669"/>
                </a:lnTo>
                <a:close/>
              </a:path>
              <a:path w="291464" h="508000">
                <a:moveTo>
                  <a:pt x="218312" y="0"/>
                </a:moveTo>
                <a:lnTo>
                  <a:pt x="72771" y="0"/>
                </a:lnTo>
                <a:lnTo>
                  <a:pt x="72771" y="407669"/>
                </a:lnTo>
                <a:lnTo>
                  <a:pt x="218312" y="407669"/>
                </a:lnTo>
                <a:lnTo>
                  <a:pt x="2183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134867" y="4166361"/>
            <a:ext cx="96075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Helvetica"/>
                <a:cs typeface="Helvetica"/>
              </a:rPr>
              <a:t>Optimal</a:t>
            </a:r>
            <a:endParaRPr sz="2000" dirty="0">
              <a:latin typeface="Helvetica"/>
              <a:cs typeface="Helvetic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84598" y="5956198"/>
            <a:ext cx="1791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Helvetica"/>
                <a:cs typeface="Helvetica"/>
              </a:rPr>
              <a:t>High test</a:t>
            </a:r>
            <a:r>
              <a:rPr sz="1800" b="1" spc="-60" dirty="0">
                <a:latin typeface="Helvetica"/>
                <a:cs typeface="Helvetica"/>
              </a:rPr>
              <a:t> </a:t>
            </a:r>
            <a:r>
              <a:rPr sz="1800" b="1" dirty="0">
                <a:latin typeface="Helvetica"/>
                <a:cs typeface="Helvetica"/>
              </a:rPr>
              <a:t>quality</a:t>
            </a:r>
            <a:endParaRPr sz="1800">
              <a:latin typeface="Helvetica"/>
              <a:cs typeface="Helvetic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16152" y="5956198"/>
            <a:ext cx="17443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Helvetica"/>
                <a:cs typeface="Helvetica"/>
              </a:rPr>
              <a:t>Low test</a:t>
            </a:r>
            <a:r>
              <a:rPr sz="1800" b="1" spc="-40" dirty="0">
                <a:latin typeface="Helvetica"/>
                <a:cs typeface="Helvetica"/>
              </a:rPr>
              <a:t> </a:t>
            </a:r>
            <a:r>
              <a:rPr sz="1800" b="1" dirty="0">
                <a:latin typeface="Helvetica"/>
                <a:cs typeface="Helvetica"/>
              </a:rPr>
              <a:t>quality</a:t>
            </a:r>
            <a:endParaRPr sz="1800">
              <a:latin typeface="Helvetica"/>
              <a:cs typeface="Helvetic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029042" y="2958719"/>
            <a:ext cx="134620" cy="2892425"/>
          </a:xfrm>
          <a:custGeom>
            <a:avLst/>
            <a:gdLst/>
            <a:ahLst/>
            <a:cxnLst/>
            <a:rect l="l" t="t" r="r" b="b"/>
            <a:pathLst>
              <a:path w="134619" h="2892425">
                <a:moveTo>
                  <a:pt x="66577" y="57509"/>
                </a:moveTo>
                <a:lnTo>
                  <a:pt x="52373" y="82464"/>
                </a:lnTo>
                <a:lnTo>
                  <a:pt x="83007" y="2892386"/>
                </a:lnTo>
                <a:lnTo>
                  <a:pt x="111963" y="2892069"/>
                </a:lnTo>
                <a:lnTo>
                  <a:pt x="81318" y="82167"/>
                </a:lnTo>
                <a:lnTo>
                  <a:pt x="66577" y="57509"/>
                </a:lnTo>
                <a:close/>
              </a:path>
              <a:path w="134619" h="2892425">
                <a:moveTo>
                  <a:pt x="65951" y="0"/>
                </a:moveTo>
                <a:lnTo>
                  <a:pt x="3962" y="109092"/>
                </a:lnTo>
                <a:lnTo>
                  <a:pt x="0" y="115950"/>
                </a:lnTo>
                <a:lnTo>
                  <a:pt x="2438" y="124840"/>
                </a:lnTo>
                <a:lnTo>
                  <a:pt x="16332" y="132714"/>
                </a:lnTo>
                <a:lnTo>
                  <a:pt x="25171" y="130301"/>
                </a:lnTo>
                <a:lnTo>
                  <a:pt x="29121" y="123316"/>
                </a:lnTo>
                <a:lnTo>
                  <a:pt x="52373" y="82464"/>
                </a:lnTo>
                <a:lnTo>
                  <a:pt x="51790" y="28955"/>
                </a:lnTo>
                <a:lnTo>
                  <a:pt x="80733" y="28575"/>
                </a:lnTo>
                <a:lnTo>
                  <a:pt x="83026" y="28575"/>
                </a:lnTo>
                <a:lnTo>
                  <a:pt x="65951" y="0"/>
                </a:lnTo>
                <a:close/>
              </a:path>
              <a:path w="134619" h="2892425">
                <a:moveTo>
                  <a:pt x="83026" y="28575"/>
                </a:moveTo>
                <a:lnTo>
                  <a:pt x="80733" y="28575"/>
                </a:lnTo>
                <a:lnTo>
                  <a:pt x="81318" y="82167"/>
                </a:lnTo>
                <a:lnTo>
                  <a:pt x="109562" y="129412"/>
                </a:lnTo>
                <a:lnTo>
                  <a:pt x="118452" y="131571"/>
                </a:lnTo>
                <a:lnTo>
                  <a:pt x="132168" y="123443"/>
                </a:lnTo>
                <a:lnTo>
                  <a:pt x="134404" y="114553"/>
                </a:lnTo>
                <a:lnTo>
                  <a:pt x="83026" y="28575"/>
                </a:lnTo>
                <a:close/>
              </a:path>
              <a:path w="134619" h="2892425">
                <a:moveTo>
                  <a:pt x="80733" y="28575"/>
                </a:moveTo>
                <a:lnTo>
                  <a:pt x="51790" y="28955"/>
                </a:lnTo>
                <a:lnTo>
                  <a:pt x="52373" y="82464"/>
                </a:lnTo>
                <a:lnTo>
                  <a:pt x="66577" y="57509"/>
                </a:lnTo>
                <a:lnTo>
                  <a:pt x="53835" y="36194"/>
                </a:lnTo>
                <a:lnTo>
                  <a:pt x="78854" y="35940"/>
                </a:lnTo>
                <a:lnTo>
                  <a:pt x="80814" y="35940"/>
                </a:lnTo>
                <a:lnTo>
                  <a:pt x="80733" y="28575"/>
                </a:lnTo>
                <a:close/>
              </a:path>
              <a:path w="134619" h="2892425">
                <a:moveTo>
                  <a:pt x="80814" y="35940"/>
                </a:moveTo>
                <a:lnTo>
                  <a:pt x="78854" y="35940"/>
                </a:lnTo>
                <a:lnTo>
                  <a:pt x="66577" y="57509"/>
                </a:lnTo>
                <a:lnTo>
                  <a:pt x="81318" y="82167"/>
                </a:lnTo>
                <a:lnTo>
                  <a:pt x="80814" y="35940"/>
                </a:lnTo>
                <a:close/>
              </a:path>
              <a:path w="134619" h="2892425">
                <a:moveTo>
                  <a:pt x="78854" y="35940"/>
                </a:moveTo>
                <a:lnTo>
                  <a:pt x="53835" y="36194"/>
                </a:lnTo>
                <a:lnTo>
                  <a:pt x="66577" y="57509"/>
                </a:lnTo>
                <a:lnTo>
                  <a:pt x="78854" y="3594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116330" y="5793333"/>
            <a:ext cx="4547235" cy="134620"/>
          </a:xfrm>
          <a:custGeom>
            <a:avLst/>
            <a:gdLst/>
            <a:ahLst/>
            <a:cxnLst/>
            <a:rect l="l" t="t" r="r" b="b"/>
            <a:pathLst>
              <a:path w="4547235" h="134620">
                <a:moveTo>
                  <a:pt x="4489214" y="67208"/>
                </a:moveTo>
                <a:lnTo>
                  <a:pt x="4416933" y="109397"/>
                </a:lnTo>
                <a:lnTo>
                  <a:pt x="4414520" y="118275"/>
                </a:lnTo>
                <a:lnTo>
                  <a:pt x="4422648" y="132079"/>
                </a:lnTo>
                <a:lnTo>
                  <a:pt x="4431410" y="134416"/>
                </a:lnTo>
                <a:lnTo>
                  <a:pt x="4521903" y="81686"/>
                </a:lnTo>
                <a:lnTo>
                  <a:pt x="4518025" y="81686"/>
                </a:lnTo>
                <a:lnTo>
                  <a:pt x="4518025" y="79717"/>
                </a:lnTo>
                <a:lnTo>
                  <a:pt x="4510658" y="79717"/>
                </a:lnTo>
                <a:lnTo>
                  <a:pt x="4489214" y="67208"/>
                </a:lnTo>
                <a:close/>
              </a:path>
              <a:path w="4547235" h="134620">
                <a:moveTo>
                  <a:pt x="4464394" y="52730"/>
                </a:moveTo>
                <a:lnTo>
                  <a:pt x="0" y="52730"/>
                </a:lnTo>
                <a:lnTo>
                  <a:pt x="0" y="81686"/>
                </a:lnTo>
                <a:lnTo>
                  <a:pt x="4464394" y="81686"/>
                </a:lnTo>
                <a:lnTo>
                  <a:pt x="4489214" y="67208"/>
                </a:lnTo>
                <a:lnTo>
                  <a:pt x="4464394" y="52730"/>
                </a:lnTo>
                <a:close/>
              </a:path>
              <a:path w="4547235" h="134620">
                <a:moveTo>
                  <a:pt x="4521903" y="52730"/>
                </a:moveTo>
                <a:lnTo>
                  <a:pt x="4518025" y="52730"/>
                </a:lnTo>
                <a:lnTo>
                  <a:pt x="4518025" y="81686"/>
                </a:lnTo>
                <a:lnTo>
                  <a:pt x="4521903" y="81686"/>
                </a:lnTo>
                <a:lnTo>
                  <a:pt x="4546727" y="67208"/>
                </a:lnTo>
                <a:lnTo>
                  <a:pt x="4521903" y="52730"/>
                </a:lnTo>
                <a:close/>
              </a:path>
              <a:path w="4547235" h="134620">
                <a:moveTo>
                  <a:pt x="4510658" y="54698"/>
                </a:moveTo>
                <a:lnTo>
                  <a:pt x="4489214" y="67208"/>
                </a:lnTo>
                <a:lnTo>
                  <a:pt x="4510658" y="79717"/>
                </a:lnTo>
                <a:lnTo>
                  <a:pt x="4510658" y="54698"/>
                </a:lnTo>
                <a:close/>
              </a:path>
              <a:path w="4547235" h="134620">
                <a:moveTo>
                  <a:pt x="4518025" y="54698"/>
                </a:moveTo>
                <a:lnTo>
                  <a:pt x="4510658" y="54698"/>
                </a:lnTo>
                <a:lnTo>
                  <a:pt x="4510658" y="79717"/>
                </a:lnTo>
                <a:lnTo>
                  <a:pt x="4518025" y="79717"/>
                </a:lnTo>
                <a:lnTo>
                  <a:pt x="4518025" y="54698"/>
                </a:lnTo>
                <a:close/>
              </a:path>
              <a:path w="4547235" h="134620">
                <a:moveTo>
                  <a:pt x="4431410" y="0"/>
                </a:moveTo>
                <a:lnTo>
                  <a:pt x="4422648" y="2336"/>
                </a:lnTo>
                <a:lnTo>
                  <a:pt x="4414520" y="16141"/>
                </a:lnTo>
                <a:lnTo>
                  <a:pt x="4416933" y="25006"/>
                </a:lnTo>
                <a:lnTo>
                  <a:pt x="4489214" y="67208"/>
                </a:lnTo>
                <a:lnTo>
                  <a:pt x="4510658" y="54698"/>
                </a:lnTo>
                <a:lnTo>
                  <a:pt x="4518025" y="54698"/>
                </a:lnTo>
                <a:lnTo>
                  <a:pt x="4518025" y="52730"/>
                </a:lnTo>
                <a:lnTo>
                  <a:pt x="4521903" y="52730"/>
                </a:lnTo>
                <a:lnTo>
                  <a:pt x="443141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678685" y="3371850"/>
            <a:ext cx="3794760" cy="2426335"/>
          </a:xfrm>
          <a:custGeom>
            <a:avLst/>
            <a:gdLst/>
            <a:ahLst/>
            <a:cxnLst/>
            <a:rect l="l" t="t" r="r" b="b"/>
            <a:pathLst>
              <a:path w="3794760" h="2426335">
                <a:moveTo>
                  <a:pt x="0" y="2426208"/>
                </a:moveTo>
                <a:lnTo>
                  <a:pt x="49890" y="2419964"/>
                </a:lnTo>
                <a:lnTo>
                  <a:pt x="99769" y="2413700"/>
                </a:lnTo>
                <a:lnTo>
                  <a:pt x="149628" y="2407398"/>
                </a:lnTo>
                <a:lnTo>
                  <a:pt x="199456" y="2401037"/>
                </a:lnTo>
                <a:lnTo>
                  <a:pt x="249241" y="2394598"/>
                </a:lnTo>
                <a:lnTo>
                  <a:pt x="298974" y="2388061"/>
                </a:lnTo>
                <a:lnTo>
                  <a:pt x="348644" y="2381406"/>
                </a:lnTo>
                <a:lnTo>
                  <a:pt x="398241" y="2374615"/>
                </a:lnTo>
                <a:lnTo>
                  <a:pt x="447754" y="2367666"/>
                </a:lnTo>
                <a:lnTo>
                  <a:pt x="497173" y="2360542"/>
                </a:lnTo>
                <a:lnTo>
                  <a:pt x="546487" y="2353222"/>
                </a:lnTo>
                <a:lnTo>
                  <a:pt x="595685" y="2345686"/>
                </a:lnTo>
                <a:lnTo>
                  <a:pt x="644758" y="2337916"/>
                </a:lnTo>
                <a:lnTo>
                  <a:pt x="693695" y="2329890"/>
                </a:lnTo>
                <a:lnTo>
                  <a:pt x="742485" y="2321591"/>
                </a:lnTo>
                <a:lnTo>
                  <a:pt x="791118" y="2312997"/>
                </a:lnTo>
                <a:lnTo>
                  <a:pt x="839583" y="2304091"/>
                </a:lnTo>
                <a:lnTo>
                  <a:pt x="887870" y="2294851"/>
                </a:lnTo>
                <a:lnTo>
                  <a:pt x="935969" y="2285258"/>
                </a:lnTo>
                <a:lnTo>
                  <a:pt x="983869" y="2275293"/>
                </a:lnTo>
                <a:lnTo>
                  <a:pt x="1034378" y="2264450"/>
                </a:lnTo>
                <a:lnTo>
                  <a:pt x="1085258" y="2253289"/>
                </a:lnTo>
                <a:lnTo>
                  <a:pt x="1136410" y="2241815"/>
                </a:lnTo>
                <a:lnTo>
                  <a:pt x="1187735" y="2230033"/>
                </a:lnTo>
                <a:lnTo>
                  <a:pt x="1239135" y="2217948"/>
                </a:lnTo>
                <a:lnTo>
                  <a:pt x="1290512" y="2205566"/>
                </a:lnTo>
                <a:lnTo>
                  <a:pt x="1341766" y="2192892"/>
                </a:lnTo>
                <a:lnTo>
                  <a:pt x="1392800" y="2179931"/>
                </a:lnTo>
                <a:lnTo>
                  <a:pt x="1443515" y="2166688"/>
                </a:lnTo>
                <a:lnTo>
                  <a:pt x="1493813" y="2153170"/>
                </a:lnTo>
                <a:lnTo>
                  <a:pt x="1543596" y="2139380"/>
                </a:lnTo>
                <a:lnTo>
                  <a:pt x="1592764" y="2125324"/>
                </a:lnTo>
                <a:lnTo>
                  <a:pt x="1641219" y="2111008"/>
                </a:lnTo>
                <a:lnTo>
                  <a:pt x="1688864" y="2096437"/>
                </a:lnTo>
                <a:lnTo>
                  <a:pt x="1735599" y="2081615"/>
                </a:lnTo>
                <a:lnTo>
                  <a:pt x="1781326" y="2066549"/>
                </a:lnTo>
                <a:lnTo>
                  <a:pt x="1825947" y="2051243"/>
                </a:lnTo>
                <a:lnTo>
                  <a:pt x="1869363" y="2035703"/>
                </a:lnTo>
                <a:lnTo>
                  <a:pt x="1911477" y="2019935"/>
                </a:lnTo>
                <a:lnTo>
                  <a:pt x="1962313" y="2000550"/>
                </a:lnTo>
                <a:lnTo>
                  <a:pt x="2010205" y="1982361"/>
                </a:lnTo>
                <a:lnTo>
                  <a:pt x="2055576" y="1964967"/>
                </a:lnTo>
                <a:lnTo>
                  <a:pt x="2098850" y="1947964"/>
                </a:lnTo>
                <a:lnTo>
                  <a:pt x="2140453" y="1930950"/>
                </a:lnTo>
                <a:lnTo>
                  <a:pt x="2180808" y="1913523"/>
                </a:lnTo>
                <a:lnTo>
                  <a:pt x="2220340" y="1895280"/>
                </a:lnTo>
                <a:lnTo>
                  <a:pt x="2259474" y="1875820"/>
                </a:lnTo>
                <a:lnTo>
                  <a:pt x="2298633" y="1854739"/>
                </a:lnTo>
                <a:lnTo>
                  <a:pt x="2338244" y="1831636"/>
                </a:lnTo>
                <a:lnTo>
                  <a:pt x="2378729" y="1806108"/>
                </a:lnTo>
                <a:lnTo>
                  <a:pt x="2420513" y="1777753"/>
                </a:lnTo>
                <a:lnTo>
                  <a:pt x="2464021" y="1746168"/>
                </a:lnTo>
                <a:lnTo>
                  <a:pt x="2509677" y="1710951"/>
                </a:lnTo>
                <a:lnTo>
                  <a:pt x="2557906" y="1671701"/>
                </a:lnTo>
                <a:lnTo>
                  <a:pt x="2589651" y="1644785"/>
                </a:lnTo>
                <a:lnTo>
                  <a:pt x="2622720" y="1615919"/>
                </a:lnTo>
                <a:lnTo>
                  <a:pt x="2656972" y="1585246"/>
                </a:lnTo>
                <a:lnTo>
                  <a:pt x="2692268" y="1552909"/>
                </a:lnTo>
                <a:lnTo>
                  <a:pt x="2728467" y="1519052"/>
                </a:lnTo>
                <a:lnTo>
                  <a:pt x="2765428" y="1483818"/>
                </a:lnTo>
                <a:lnTo>
                  <a:pt x="2803013" y="1447351"/>
                </a:lnTo>
                <a:lnTo>
                  <a:pt x="2841079" y="1409794"/>
                </a:lnTo>
                <a:lnTo>
                  <a:pt x="2879487" y="1371290"/>
                </a:lnTo>
                <a:lnTo>
                  <a:pt x="2918096" y="1331984"/>
                </a:lnTo>
                <a:lnTo>
                  <a:pt x="2956767" y="1292018"/>
                </a:lnTo>
                <a:lnTo>
                  <a:pt x="2995358" y="1251537"/>
                </a:lnTo>
                <a:lnTo>
                  <a:pt x="3033730" y="1210683"/>
                </a:lnTo>
                <a:lnTo>
                  <a:pt x="3071741" y="1169600"/>
                </a:lnTo>
                <a:lnTo>
                  <a:pt x="3109253" y="1128432"/>
                </a:lnTo>
                <a:lnTo>
                  <a:pt x="3146123" y="1087322"/>
                </a:lnTo>
                <a:lnTo>
                  <a:pt x="3182213" y="1046413"/>
                </a:lnTo>
                <a:lnTo>
                  <a:pt x="3217382" y="1005849"/>
                </a:lnTo>
                <a:lnTo>
                  <a:pt x="3251489" y="965774"/>
                </a:lnTo>
                <a:lnTo>
                  <a:pt x="3284394" y="926331"/>
                </a:lnTo>
                <a:lnTo>
                  <a:pt x="3315956" y="887663"/>
                </a:lnTo>
                <a:lnTo>
                  <a:pt x="3346036" y="849914"/>
                </a:lnTo>
                <a:lnTo>
                  <a:pt x="3374493" y="813228"/>
                </a:lnTo>
                <a:lnTo>
                  <a:pt x="3401187" y="777748"/>
                </a:lnTo>
                <a:lnTo>
                  <a:pt x="3436417" y="728872"/>
                </a:lnTo>
                <a:lnTo>
                  <a:pt x="3469451" y="680565"/>
                </a:lnTo>
                <a:lnTo>
                  <a:pt x="3500426" y="632791"/>
                </a:lnTo>
                <a:lnTo>
                  <a:pt x="3529480" y="585513"/>
                </a:lnTo>
                <a:lnTo>
                  <a:pt x="3556749" y="538698"/>
                </a:lnTo>
                <a:lnTo>
                  <a:pt x="3582371" y="492309"/>
                </a:lnTo>
                <a:lnTo>
                  <a:pt x="3606484" y="446310"/>
                </a:lnTo>
                <a:lnTo>
                  <a:pt x="3629223" y="400667"/>
                </a:lnTo>
                <a:lnTo>
                  <a:pt x="3650727" y="355343"/>
                </a:lnTo>
                <a:lnTo>
                  <a:pt x="3671133" y="310304"/>
                </a:lnTo>
                <a:lnTo>
                  <a:pt x="3690579" y="265513"/>
                </a:lnTo>
                <a:lnTo>
                  <a:pt x="3709200" y="220935"/>
                </a:lnTo>
                <a:lnTo>
                  <a:pt x="3727136" y="176535"/>
                </a:lnTo>
                <a:lnTo>
                  <a:pt x="3744522" y="132277"/>
                </a:lnTo>
                <a:lnTo>
                  <a:pt x="3761497" y="88125"/>
                </a:lnTo>
                <a:lnTo>
                  <a:pt x="3778197" y="44045"/>
                </a:lnTo>
                <a:lnTo>
                  <a:pt x="3794760" y="0"/>
                </a:lnTo>
              </a:path>
            </a:pathLst>
          </a:custGeom>
          <a:ln w="3810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477517" y="3396234"/>
            <a:ext cx="3794760" cy="2426335"/>
          </a:xfrm>
          <a:custGeom>
            <a:avLst/>
            <a:gdLst/>
            <a:ahLst/>
            <a:cxnLst/>
            <a:rect l="l" t="t" r="r" b="b"/>
            <a:pathLst>
              <a:path w="3794760" h="2426335">
                <a:moveTo>
                  <a:pt x="3794759" y="2426207"/>
                </a:moveTo>
                <a:lnTo>
                  <a:pt x="3744869" y="2419965"/>
                </a:lnTo>
                <a:lnTo>
                  <a:pt x="3694990" y="2413703"/>
                </a:lnTo>
                <a:lnTo>
                  <a:pt x="3645131" y="2407402"/>
                </a:lnTo>
                <a:lnTo>
                  <a:pt x="3595303" y="2401042"/>
                </a:lnTo>
                <a:lnTo>
                  <a:pt x="3545518" y="2394603"/>
                </a:lnTo>
                <a:lnTo>
                  <a:pt x="3495785" y="2388066"/>
                </a:lnTo>
                <a:lnTo>
                  <a:pt x="3446115" y="2381412"/>
                </a:lnTo>
                <a:lnTo>
                  <a:pt x="3396518" y="2374620"/>
                </a:lnTo>
                <a:lnTo>
                  <a:pt x="3347005" y="2367672"/>
                </a:lnTo>
                <a:lnTo>
                  <a:pt x="3297586" y="2360547"/>
                </a:lnTo>
                <a:lnTo>
                  <a:pt x="3248272" y="2353226"/>
                </a:lnTo>
                <a:lnTo>
                  <a:pt x="3199074" y="2345690"/>
                </a:lnTo>
                <a:lnTo>
                  <a:pt x="3150001" y="2337919"/>
                </a:lnTo>
                <a:lnTo>
                  <a:pt x="3101064" y="2329893"/>
                </a:lnTo>
                <a:lnTo>
                  <a:pt x="3052274" y="2321593"/>
                </a:lnTo>
                <a:lnTo>
                  <a:pt x="3003641" y="2312999"/>
                </a:lnTo>
                <a:lnTo>
                  <a:pt x="2955176" y="2304091"/>
                </a:lnTo>
                <a:lnTo>
                  <a:pt x="2906889" y="2294851"/>
                </a:lnTo>
                <a:lnTo>
                  <a:pt x="2858790" y="2285258"/>
                </a:lnTo>
                <a:lnTo>
                  <a:pt x="2810891" y="2275293"/>
                </a:lnTo>
                <a:lnTo>
                  <a:pt x="2760381" y="2264441"/>
                </a:lnTo>
                <a:lnTo>
                  <a:pt x="2709501" y="2253273"/>
                </a:lnTo>
                <a:lnTo>
                  <a:pt x="2658349" y="2241793"/>
                </a:lnTo>
                <a:lnTo>
                  <a:pt x="2607024" y="2230008"/>
                </a:lnTo>
                <a:lnTo>
                  <a:pt x="2555624" y="2217921"/>
                </a:lnTo>
                <a:lnTo>
                  <a:pt x="2504247" y="2205538"/>
                </a:lnTo>
                <a:lnTo>
                  <a:pt x="2452993" y="2192864"/>
                </a:lnTo>
                <a:lnTo>
                  <a:pt x="2401959" y="2179904"/>
                </a:lnTo>
                <a:lnTo>
                  <a:pt x="2351244" y="2166663"/>
                </a:lnTo>
                <a:lnTo>
                  <a:pt x="2300946" y="2153147"/>
                </a:lnTo>
                <a:lnTo>
                  <a:pt x="2251163" y="2139360"/>
                </a:lnTo>
                <a:lnTo>
                  <a:pt x="2201995" y="2125308"/>
                </a:lnTo>
                <a:lnTo>
                  <a:pt x="2153540" y="2110995"/>
                </a:lnTo>
                <a:lnTo>
                  <a:pt x="2105895" y="2096427"/>
                </a:lnTo>
                <a:lnTo>
                  <a:pt x="2059160" y="2081609"/>
                </a:lnTo>
                <a:lnTo>
                  <a:pt x="2013433" y="2066545"/>
                </a:lnTo>
                <a:lnTo>
                  <a:pt x="1968812" y="2051241"/>
                </a:lnTo>
                <a:lnTo>
                  <a:pt x="1925396" y="2035703"/>
                </a:lnTo>
                <a:lnTo>
                  <a:pt x="1883283" y="2019934"/>
                </a:lnTo>
                <a:lnTo>
                  <a:pt x="1832446" y="2000550"/>
                </a:lnTo>
                <a:lnTo>
                  <a:pt x="1784554" y="1982361"/>
                </a:lnTo>
                <a:lnTo>
                  <a:pt x="1739183" y="1964967"/>
                </a:lnTo>
                <a:lnTo>
                  <a:pt x="1695909" y="1947964"/>
                </a:lnTo>
                <a:lnTo>
                  <a:pt x="1654306" y="1930950"/>
                </a:lnTo>
                <a:lnTo>
                  <a:pt x="1613951" y="1913523"/>
                </a:lnTo>
                <a:lnTo>
                  <a:pt x="1574419" y="1895280"/>
                </a:lnTo>
                <a:lnTo>
                  <a:pt x="1535285" y="1875820"/>
                </a:lnTo>
                <a:lnTo>
                  <a:pt x="1496126" y="1854739"/>
                </a:lnTo>
                <a:lnTo>
                  <a:pt x="1456515" y="1831636"/>
                </a:lnTo>
                <a:lnTo>
                  <a:pt x="1416030" y="1806108"/>
                </a:lnTo>
                <a:lnTo>
                  <a:pt x="1374246" y="1777753"/>
                </a:lnTo>
                <a:lnTo>
                  <a:pt x="1330738" y="1746168"/>
                </a:lnTo>
                <a:lnTo>
                  <a:pt x="1285082" y="1710951"/>
                </a:lnTo>
                <a:lnTo>
                  <a:pt x="1236852" y="1671701"/>
                </a:lnTo>
                <a:lnTo>
                  <a:pt x="1205108" y="1644785"/>
                </a:lnTo>
                <a:lnTo>
                  <a:pt x="1172039" y="1615919"/>
                </a:lnTo>
                <a:lnTo>
                  <a:pt x="1137787" y="1585246"/>
                </a:lnTo>
                <a:lnTo>
                  <a:pt x="1102491" y="1552909"/>
                </a:lnTo>
                <a:lnTo>
                  <a:pt x="1066292" y="1519052"/>
                </a:lnTo>
                <a:lnTo>
                  <a:pt x="1029331" y="1483818"/>
                </a:lnTo>
                <a:lnTo>
                  <a:pt x="991746" y="1447351"/>
                </a:lnTo>
                <a:lnTo>
                  <a:pt x="953680" y="1409794"/>
                </a:lnTo>
                <a:lnTo>
                  <a:pt x="915272" y="1371290"/>
                </a:lnTo>
                <a:lnTo>
                  <a:pt x="876663" y="1331984"/>
                </a:lnTo>
                <a:lnTo>
                  <a:pt x="837992" y="1292018"/>
                </a:lnTo>
                <a:lnTo>
                  <a:pt x="799401" y="1251537"/>
                </a:lnTo>
                <a:lnTo>
                  <a:pt x="761029" y="1210683"/>
                </a:lnTo>
                <a:lnTo>
                  <a:pt x="723018" y="1169600"/>
                </a:lnTo>
                <a:lnTo>
                  <a:pt x="685506" y="1128432"/>
                </a:lnTo>
                <a:lnTo>
                  <a:pt x="648636" y="1087322"/>
                </a:lnTo>
                <a:lnTo>
                  <a:pt x="612546" y="1046413"/>
                </a:lnTo>
                <a:lnTo>
                  <a:pt x="577377" y="1005849"/>
                </a:lnTo>
                <a:lnTo>
                  <a:pt x="543270" y="965774"/>
                </a:lnTo>
                <a:lnTo>
                  <a:pt x="510365" y="926331"/>
                </a:lnTo>
                <a:lnTo>
                  <a:pt x="478803" y="887663"/>
                </a:lnTo>
                <a:lnTo>
                  <a:pt x="448723" y="849914"/>
                </a:lnTo>
                <a:lnTo>
                  <a:pt x="420266" y="813228"/>
                </a:lnTo>
                <a:lnTo>
                  <a:pt x="393573" y="777747"/>
                </a:lnTo>
                <a:lnTo>
                  <a:pt x="358342" y="728872"/>
                </a:lnTo>
                <a:lnTo>
                  <a:pt x="325308" y="680565"/>
                </a:lnTo>
                <a:lnTo>
                  <a:pt x="294333" y="632791"/>
                </a:lnTo>
                <a:lnTo>
                  <a:pt x="265279" y="585513"/>
                </a:lnTo>
                <a:lnTo>
                  <a:pt x="238010" y="538698"/>
                </a:lnTo>
                <a:lnTo>
                  <a:pt x="212388" y="492309"/>
                </a:lnTo>
                <a:lnTo>
                  <a:pt x="188275" y="446310"/>
                </a:lnTo>
                <a:lnTo>
                  <a:pt x="165536" y="400667"/>
                </a:lnTo>
                <a:lnTo>
                  <a:pt x="144032" y="355343"/>
                </a:lnTo>
                <a:lnTo>
                  <a:pt x="123626" y="310304"/>
                </a:lnTo>
                <a:lnTo>
                  <a:pt x="104180" y="265513"/>
                </a:lnTo>
                <a:lnTo>
                  <a:pt x="85559" y="220935"/>
                </a:lnTo>
                <a:lnTo>
                  <a:pt x="67623" y="176535"/>
                </a:lnTo>
                <a:lnTo>
                  <a:pt x="50237" y="132277"/>
                </a:lnTo>
                <a:lnTo>
                  <a:pt x="33262" y="88125"/>
                </a:lnTo>
                <a:lnTo>
                  <a:pt x="16562" y="44045"/>
                </a:lnTo>
                <a:lnTo>
                  <a:pt x="0" y="0"/>
                </a:lnTo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2442082" y="3117342"/>
            <a:ext cx="1565910" cy="635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  <a:tabLst>
                <a:tab pos="895350" algn="l"/>
              </a:tabLst>
            </a:pPr>
            <a:r>
              <a:rPr sz="2000" b="1" dirty="0">
                <a:solidFill>
                  <a:srgbClr val="FF0000"/>
                </a:solidFill>
                <a:latin typeface="Helvetica"/>
                <a:cs typeface="Helvetica"/>
              </a:rPr>
              <a:t>total</a:t>
            </a:r>
            <a:r>
              <a:rPr sz="2000" b="1" spc="-20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sz="2000" b="1" dirty="0">
                <a:solidFill>
                  <a:srgbClr val="FF0000"/>
                </a:solidFill>
                <a:latin typeface="Helvetica"/>
                <a:cs typeface="Helvetica"/>
              </a:rPr>
              <a:t>=	test</a:t>
            </a:r>
            <a:endParaRPr sz="2000">
              <a:latin typeface="Helvetica"/>
              <a:cs typeface="Helvetica"/>
            </a:endParaRPr>
          </a:p>
          <a:p>
            <a:pPr marL="628015">
              <a:lnSpc>
                <a:spcPct val="100000"/>
              </a:lnSpc>
            </a:pPr>
            <a:r>
              <a:rPr sz="2000" b="1" dirty="0">
                <a:solidFill>
                  <a:srgbClr val="FF0000"/>
                </a:solidFill>
                <a:latin typeface="Helvetica"/>
                <a:cs typeface="Helvetica"/>
              </a:rPr>
              <a:t>+</a:t>
            </a:r>
            <a:r>
              <a:rPr sz="2000" b="1" spc="-90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sz="2000" b="1" dirty="0">
                <a:solidFill>
                  <a:srgbClr val="FF0000"/>
                </a:solidFill>
                <a:latin typeface="Helvetica"/>
                <a:cs typeface="Helvetica"/>
              </a:rPr>
              <a:t>repair</a:t>
            </a:r>
            <a:endParaRPr sz="2000">
              <a:latin typeface="Helvetica"/>
              <a:cs typeface="Helvetic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501004" y="3023743"/>
            <a:ext cx="535940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508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0000FF"/>
                </a:solidFill>
                <a:latin typeface="Helvetica"/>
                <a:cs typeface="Helvetica"/>
              </a:rPr>
              <a:t>test  cost</a:t>
            </a:r>
            <a:endParaRPr sz="2000">
              <a:latin typeface="Helvetica"/>
              <a:cs typeface="Helvetic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68805" y="3052648"/>
            <a:ext cx="815340" cy="6369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008000"/>
                </a:solidFill>
                <a:latin typeface="Helvetica"/>
                <a:cs typeface="Helvetica"/>
              </a:rPr>
              <a:t>repair</a:t>
            </a:r>
            <a:endParaRPr sz="2000">
              <a:latin typeface="Helvetica"/>
              <a:cs typeface="Helvetica"/>
            </a:endParaRPr>
          </a:p>
          <a:p>
            <a:pPr marL="278765">
              <a:lnSpc>
                <a:spcPct val="100000"/>
              </a:lnSpc>
              <a:spcBef>
                <a:spcPts val="5"/>
              </a:spcBef>
            </a:pPr>
            <a:r>
              <a:rPr sz="2000" b="1" dirty="0">
                <a:solidFill>
                  <a:srgbClr val="008000"/>
                </a:solidFill>
                <a:latin typeface="Helvetica"/>
                <a:cs typeface="Helvetica"/>
              </a:rPr>
              <a:t>cost</a:t>
            </a:r>
            <a:endParaRPr sz="2000">
              <a:latin typeface="Helvetica"/>
              <a:cs typeface="Helvetic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489454" y="3451097"/>
            <a:ext cx="2357755" cy="1748155"/>
          </a:xfrm>
          <a:custGeom>
            <a:avLst/>
            <a:gdLst/>
            <a:ahLst/>
            <a:cxnLst/>
            <a:rect l="l" t="t" r="r" b="b"/>
            <a:pathLst>
              <a:path w="2357754" h="1748154">
                <a:moveTo>
                  <a:pt x="0" y="164591"/>
                </a:moveTo>
                <a:lnTo>
                  <a:pt x="15193" y="217367"/>
                </a:lnTo>
                <a:lnTo>
                  <a:pt x="30418" y="270073"/>
                </a:lnTo>
                <a:lnTo>
                  <a:pt x="45707" y="322643"/>
                </a:lnTo>
                <a:lnTo>
                  <a:pt x="61092" y="375005"/>
                </a:lnTo>
                <a:lnTo>
                  <a:pt x="76605" y="427090"/>
                </a:lnTo>
                <a:lnTo>
                  <a:pt x="92277" y="478828"/>
                </a:lnTo>
                <a:lnTo>
                  <a:pt x="108140" y="530150"/>
                </a:lnTo>
                <a:lnTo>
                  <a:pt x="124227" y="580987"/>
                </a:lnTo>
                <a:lnTo>
                  <a:pt x="140570" y="631268"/>
                </a:lnTo>
                <a:lnTo>
                  <a:pt x="157199" y="680923"/>
                </a:lnTo>
                <a:lnTo>
                  <a:pt x="174148" y="729884"/>
                </a:lnTo>
                <a:lnTo>
                  <a:pt x="191448" y="778081"/>
                </a:lnTo>
                <a:lnTo>
                  <a:pt x="209131" y="825444"/>
                </a:lnTo>
                <a:lnTo>
                  <a:pt x="227229" y="871903"/>
                </a:lnTo>
                <a:lnTo>
                  <a:pt x="245773" y="917389"/>
                </a:lnTo>
                <a:lnTo>
                  <a:pt x="264797" y="961832"/>
                </a:lnTo>
                <a:lnTo>
                  <a:pt x="284331" y="1005162"/>
                </a:lnTo>
                <a:lnTo>
                  <a:pt x="304408" y="1047310"/>
                </a:lnTo>
                <a:lnTo>
                  <a:pt x="325059" y="1088207"/>
                </a:lnTo>
                <a:lnTo>
                  <a:pt x="346316" y="1127782"/>
                </a:lnTo>
                <a:lnTo>
                  <a:pt x="368212" y="1165966"/>
                </a:lnTo>
                <a:lnTo>
                  <a:pt x="390778" y="1202689"/>
                </a:lnTo>
                <a:lnTo>
                  <a:pt x="419135" y="1246922"/>
                </a:lnTo>
                <a:lnTo>
                  <a:pt x="448158" y="1291490"/>
                </a:lnTo>
                <a:lnTo>
                  <a:pt x="477856" y="1336020"/>
                </a:lnTo>
                <a:lnTo>
                  <a:pt x="508234" y="1380141"/>
                </a:lnTo>
                <a:lnTo>
                  <a:pt x="539299" y="1423483"/>
                </a:lnTo>
                <a:lnTo>
                  <a:pt x="571057" y="1465674"/>
                </a:lnTo>
                <a:lnTo>
                  <a:pt x="603516" y="1506342"/>
                </a:lnTo>
                <a:lnTo>
                  <a:pt x="636681" y="1545116"/>
                </a:lnTo>
                <a:lnTo>
                  <a:pt x="670559" y="1581626"/>
                </a:lnTo>
                <a:lnTo>
                  <a:pt x="705158" y="1615499"/>
                </a:lnTo>
                <a:lnTo>
                  <a:pt x="740482" y="1646364"/>
                </a:lnTo>
                <a:lnTo>
                  <a:pt x="776539" y="1673850"/>
                </a:lnTo>
                <a:lnTo>
                  <a:pt x="813335" y="1697586"/>
                </a:lnTo>
                <a:lnTo>
                  <a:pt x="850877" y="1717200"/>
                </a:lnTo>
                <a:lnTo>
                  <a:pt x="889171" y="1732321"/>
                </a:lnTo>
                <a:lnTo>
                  <a:pt x="928224" y="1742577"/>
                </a:lnTo>
                <a:lnTo>
                  <a:pt x="968043" y="1747598"/>
                </a:lnTo>
                <a:lnTo>
                  <a:pt x="1008633" y="1747012"/>
                </a:lnTo>
                <a:lnTo>
                  <a:pt x="1078951" y="1733194"/>
                </a:lnTo>
                <a:lnTo>
                  <a:pt x="1116300" y="1720577"/>
                </a:lnTo>
                <a:lnTo>
                  <a:pt x="1154883" y="1704459"/>
                </a:lnTo>
                <a:lnTo>
                  <a:pt x="1194527" y="1685068"/>
                </a:lnTo>
                <a:lnTo>
                  <a:pt x="1235064" y="1662633"/>
                </a:lnTo>
                <a:lnTo>
                  <a:pt x="1276323" y="1637382"/>
                </a:lnTo>
                <a:lnTo>
                  <a:pt x="1318133" y="1609545"/>
                </a:lnTo>
                <a:lnTo>
                  <a:pt x="1360323" y="1579348"/>
                </a:lnTo>
                <a:lnTo>
                  <a:pt x="1402724" y="1547021"/>
                </a:lnTo>
                <a:lnTo>
                  <a:pt x="1445164" y="1512792"/>
                </a:lnTo>
                <a:lnTo>
                  <a:pt x="1487474" y="1476889"/>
                </a:lnTo>
                <a:lnTo>
                  <a:pt x="1529483" y="1439541"/>
                </a:lnTo>
                <a:lnTo>
                  <a:pt x="1571020" y="1400977"/>
                </a:lnTo>
                <a:lnTo>
                  <a:pt x="1611915" y="1361424"/>
                </a:lnTo>
                <a:lnTo>
                  <a:pt x="1651997" y="1321111"/>
                </a:lnTo>
                <a:lnTo>
                  <a:pt x="1691097" y="1280267"/>
                </a:lnTo>
                <a:lnTo>
                  <a:pt x="1729043" y="1239120"/>
                </a:lnTo>
                <a:lnTo>
                  <a:pt x="1765665" y="1197899"/>
                </a:lnTo>
                <a:lnTo>
                  <a:pt x="1800793" y="1156831"/>
                </a:lnTo>
                <a:lnTo>
                  <a:pt x="1834256" y="1116145"/>
                </a:lnTo>
                <a:lnTo>
                  <a:pt x="1865883" y="1076070"/>
                </a:lnTo>
                <a:lnTo>
                  <a:pt x="1893528" y="1039149"/>
                </a:lnTo>
                <a:lnTo>
                  <a:pt x="1920258" y="1001218"/>
                </a:lnTo>
                <a:lnTo>
                  <a:pt x="1946114" y="962319"/>
                </a:lnTo>
                <a:lnTo>
                  <a:pt x="1971136" y="922499"/>
                </a:lnTo>
                <a:lnTo>
                  <a:pt x="1995363" y="881799"/>
                </a:lnTo>
                <a:lnTo>
                  <a:pt x="2018835" y="840265"/>
                </a:lnTo>
                <a:lnTo>
                  <a:pt x="2041592" y="797940"/>
                </a:lnTo>
                <a:lnTo>
                  <a:pt x="2063674" y="754869"/>
                </a:lnTo>
                <a:lnTo>
                  <a:pt x="2085121" y="711094"/>
                </a:lnTo>
                <a:lnTo>
                  <a:pt x="2105972" y="666660"/>
                </a:lnTo>
                <a:lnTo>
                  <a:pt x="2126267" y="621612"/>
                </a:lnTo>
                <a:lnTo>
                  <a:pt x="2146046" y="575992"/>
                </a:lnTo>
                <a:lnTo>
                  <a:pt x="2165348" y="529845"/>
                </a:lnTo>
                <a:lnTo>
                  <a:pt x="2184214" y="483215"/>
                </a:lnTo>
                <a:lnTo>
                  <a:pt x="2202684" y="436146"/>
                </a:lnTo>
                <a:lnTo>
                  <a:pt x="2220797" y="388681"/>
                </a:lnTo>
                <a:lnTo>
                  <a:pt x="2238592" y="340864"/>
                </a:lnTo>
                <a:lnTo>
                  <a:pt x="2256111" y="292740"/>
                </a:lnTo>
                <a:lnTo>
                  <a:pt x="2273392" y="244353"/>
                </a:lnTo>
                <a:lnTo>
                  <a:pt x="2290475" y="195746"/>
                </a:lnTo>
                <a:lnTo>
                  <a:pt x="2307400" y="146963"/>
                </a:lnTo>
                <a:lnTo>
                  <a:pt x="2324208" y="98048"/>
                </a:lnTo>
                <a:lnTo>
                  <a:pt x="2340937" y="49046"/>
                </a:lnTo>
                <a:lnTo>
                  <a:pt x="2357628" y="0"/>
                </a:lnTo>
              </a:path>
            </a:pathLst>
          </a:custGeom>
          <a:ln w="381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843991" y="2932557"/>
            <a:ext cx="1822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Helvetica"/>
                <a:cs typeface="Helvetica"/>
              </a:rPr>
              <a:t>$</a:t>
            </a:r>
            <a:endParaRPr sz="2400">
              <a:latin typeface="Helvetica"/>
              <a:cs typeface="Helvetic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6320028" y="3444240"/>
            <a:ext cx="2636520" cy="197510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6671309" y="4336541"/>
            <a:ext cx="68707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145" dirty="0">
                <a:solidFill>
                  <a:srgbClr val="800000"/>
                </a:solidFill>
                <a:latin typeface="Helvetica"/>
                <a:cs typeface="Helvetica"/>
              </a:rPr>
              <a:t>T</a:t>
            </a:r>
            <a:r>
              <a:rPr sz="2000" b="1" dirty="0">
                <a:solidFill>
                  <a:srgbClr val="800000"/>
                </a:solidFill>
                <a:latin typeface="Helvetica"/>
                <a:cs typeface="Helvetica"/>
              </a:rPr>
              <a:t>es</a:t>
            </a:r>
            <a:r>
              <a:rPr sz="2000" b="1" spc="5" dirty="0">
                <a:solidFill>
                  <a:srgbClr val="800000"/>
                </a:solidFill>
                <a:latin typeface="Helvetica"/>
                <a:cs typeface="Helvetica"/>
              </a:rPr>
              <a:t>t</a:t>
            </a:r>
            <a:r>
              <a:rPr sz="2000" b="1" dirty="0">
                <a:solidFill>
                  <a:srgbClr val="800000"/>
                </a:solidFill>
                <a:latin typeface="Helvetica"/>
                <a:cs typeface="Helvetica"/>
              </a:rPr>
              <a:t>?</a:t>
            </a:r>
            <a:endParaRPr sz="2000">
              <a:latin typeface="Helvetica"/>
              <a:cs typeface="Helvetic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15798" y="6399903"/>
            <a:ext cx="582778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z="2400" b="1" spc="-5" dirty="0">
                <a:latin typeface="Arial"/>
                <a:cs typeface="Arial"/>
              </a:rPr>
              <a:t>26</a:t>
            </a:fld>
            <a:endParaRPr sz="2400" dirty="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992236" y="4366640"/>
            <a:ext cx="97345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800000"/>
                </a:solidFill>
                <a:latin typeface="Helvetica"/>
                <a:cs typeface="Helvetica"/>
              </a:rPr>
              <a:t>Repair?</a:t>
            </a:r>
            <a:endParaRPr sz="2000">
              <a:latin typeface="Helvetica"/>
              <a:cs typeface="Helvetic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215798" y="6399903"/>
            <a:ext cx="470002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27</a:t>
            </a:fld>
            <a:endParaRPr spc="-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94638" y="164414"/>
            <a:ext cx="642556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What Cost Can We</a:t>
            </a:r>
            <a:r>
              <a:rPr spc="-70" dirty="0"/>
              <a:t> </a:t>
            </a:r>
            <a:r>
              <a:rPr spc="-5" dirty="0"/>
              <a:t>Optimize?</a:t>
            </a: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230225" y="900785"/>
            <a:ext cx="7265034" cy="472059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34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EDA</a:t>
            </a:r>
            <a:r>
              <a:rPr sz="2000" b="1" dirty="0">
                <a:latin typeface="Arial"/>
                <a:cs typeface="Arial"/>
              </a:rPr>
              <a:t>: ATPG, fault </a:t>
            </a:r>
            <a:r>
              <a:rPr sz="2000" b="1" spc="-5" dirty="0">
                <a:latin typeface="Arial"/>
                <a:cs typeface="Arial"/>
              </a:rPr>
              <a:t>simulator</a:t>
            </a:r>
            <a:r>
              <a:rPr sz="2000" b="1" spc="-7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…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24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spc="-5" dirty="0">
                <a:latin typeface="Arial"/>
                <a:cs typeface="Arial"/>
              </a:rPr>
              <a:t>Typically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10K ~ 100K</a:t>
            </a:r>
            <a:r>
              <a:rPr sz="2000" b="1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USD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24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Design: </a:t>
            </a:r>
            <a:r>
              <a:rPr sz="2000" b="1" dirty="0">
                <a:latin typeface="Arial"/>
                <a:cs typeface="Arial"/>
              </a:rPr>
              <a:t>insert DFT/BIST</a:t>
            </a:r>
            <a:r>
              <a:rPr sz="2000" b="1" spc="-7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circuitry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24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Area/power/delay </a:t>
            </a:r>
            <a:r>
              <a:rPr sz="2000" b="1" spc="-5" dirty="0">
                <a:latin typeface="Arial"/>
                <a:cs typeface="Arial"/>
              </a:rPr>
              <a:t>overhead </a:t>
            </a:r>
            <a:r>
              <a:rPr sz="2000" b="1" dirty="0">
                <a:latin typeface="Arial"/>
                <a:cs typeface="Arial"/>
              </a:rPr>
              <a:t>about</a:t>
            </a:r>
            <a:r>
              <a:rPr sz="2000" b="1" spc="-30" dirty="0"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5~10%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24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OSAT: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24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Equipment</a:t>
            </a:r>
            <a:endParaRPr sz="2000" dirty="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240"/>
              </a:spcBef>
            </a:pPr>
            <a:r>
              <a:rPr sz="1800" spc="-600" dirty="0">
                <a:solidFill>
                  <a:srgbClr val="FF0000"/>
                </a:solidFill>
                <a:latin typeface="Arial"/>
                <a:cs typeface="Arial"/>
              </a:rPr>
              <a:t></a:t>
            </a:r>
            <a:r>
              <a:rPr sz="1800" spc="39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Tester (Automatic Testing Equipment,</a:t>
            </a:r>
            <a:r>
              <a:rPr sz="2000" b="1" spc="-12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ATE)</a:t>
            </a:r>
            <a:endParaRPr sz="2000" dirty="0">
              <a:latin typeface="Arial"/>
              <a:cs typeface="Arial"/>
            </a:endParaRPr>
          </a:p>
          <a:p>
            <a:pPr marL="1384300">
              <a:lnSpc>
                <a:spcPct val="100000"/>
              </a:lnSpc>
              <a:spcBef>
                <a:spcPts val="244"/>
              </a:spcBef>
              <a:tabLst>
                <a:tab pos="1612900" algn="l"/>
              </a:tabLst>
            </a:pPr>
            <a:r>
              <a:rPr sz="1400" spc="-50" dirty="0">
                <a:solidFill>
                  <a:srgbClr val="FF0000"/>
                </a:solidFill>
                <a:latin typeface="Arial"/>
                <a:cs typeface="Arial"/>
              </a:rPr>
              <a:t>−	</a:t>
            </a:r>
            <a:r>
              <a:rPr sz="2000" b="1" spc="-5" dirty="0">
                <a:latin typeface="Arial"/>
                <a:cs typeface="Arial"/>
              </a:rPr>
              <a:t>Typically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0.5~3 M</a:t>
            </a:r>
            <a:r>
              <a:rPr sz="2000" b="1" spc="-5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USD</a:t>
            </a:r>
            <a:endParaRPr sz="2000" dirty="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240"/>
              </a:spcBef>
            </a:pPr>
            <a:r>
              <a:rPr sz="1800" spc="-600" dirty="0">
                <a:solidFill>
                  <a:srgbClr val="FF0000"/>
                </a:solidFill>
                <a:latin typeface="Arial"/>
                <a:cs typeface="Arial"/>
              </a:rPr>
              <a:t></a:t>
            </a:r>
            <a:r>
              <a:rPr sz="1800" spc="39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Handler, probe station, Burn-in</a:t>
            </a:r>
            <a:r>
              <a:rPr sz="2000" b="1" spc="-110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oven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24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Test application time</a:t>
            </a:r>
            <a:r>
              <a:rPr sz="2000" b="1" spc="-8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(TAT)</a:t>
            </a:r>
            <a:endParaRPr sz="2000" dirty="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240"/>
              </a:spcBef>
            </a:pPr>
            <a:r>
              <a:rPr sz="1800" spc="-600" dirty="0">
                <a:solidFill>
                  <a:srgbClr val="FF0000"/>
                </a:solidFill>
                <a:latin typeface="Arial"/>
                <a:cs typeface="Arial"/>
              </a:rPr>
              <a:t></a:t>
            </a:r>
            <a:r>
              <a:rPr sz="1800" spc="39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Around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$50 to $300 </a:t>
            </a:r>
            <a:r>
              <a:rPr sz="2000" b="1" dirty="0">
                <a:latin typeface="Arial"/>
                <a:cs typeface="Arial"/>
              </a:rPr>
              <a:t>USD </a:t>
            </a:r>
            <a:r>
              <a:rPr sz="2000" b="1" spc="-5" dirty="0">
                <a:latin typeface="Arial"/>
                <a:cs typeface="Arial"/>
              </a:rPr>
              <a:t>per</a:t>
            </a:r>
            <a:r>
              <a:rPr sz="2000" b="1" spc="-6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hour</a:t>
            </a:r>
            <a:endParaRPr sz="2000" dirty="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240"/>
              </a:spcBef>
            </a:pPr>
            <a:r>
              <a:rPr sz="1800" spc="-600" dirty="0">
                <a:solidFill>
                  <a:srgbClr val="FF0000"/>
                </a:solidFill>
                <a:latin typeface="Arial"/>
                <a:cs typeface="Arial"/>
              </a:rPr>
              <a:t></a:t>
            </a:r>
            <a:r>
              <a:rPr sz="1800" spc="39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ASIC takes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2~3 </a:t>
            </a:r>
            <a:r>
              <a:rPr sz="2000" b="1" dirty="0">
                <a:latin typeface="Arial"/>
                <a:cs typeface="Arial"/>
              </a:rPr>
              <a:t>seconds. CPU can be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0.5~1</a:t>
            </a:r>
            <a:r>
              <a:rPr sz="2000" b="1" spc="-1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b="1" spc="-40" dirty="0">
                <a:latin typeface="Arial"/>
                <a:cs typeface="Arial"/>
              </a:rPr>
              <a:t>minute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24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lang="en-US" sz="2000" b="1" dirty="0">
                <a:latin typeface="Arial"/>
                <a:cs typeface="Arial"/>
              </a:rPr>
              <a:t>L</a:t>
            </a:r>
            <a:r>
              <a:rPr sz="2000" b="1" dirty="0">
                <a:latin typeface="Arial"/>
                <a:cs typeface="Arial"/>
              </a:rPr>
              <a:t>oad board, probe</a:t>
            </a:r>
            <a:r>
              <a:rPr sz="2000" b="1" spc="-5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card</a:t>
            </a:r>
            <a:endParaRPr sz="2000" dirty="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240"/>
              </a:spcBef>
            </a:pPr>
            <a:r>
              <a:rPr sz="1800" spc="-600" dirty="0">
                <a:solidFill>
                  <a:srgbClr val="FF0000"/>
                </a:solidFill>
                <a:latin typeface="Arial"/>
                <a:cs typeface="Arial"/>
              </a:rPr>
              <a:t></a:t>
            </a:r>
            <a:r>
              <a:rPr sz="1800" spc="39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$1K ~ 20K</a:t>
            </a:r>
            <a:r>
              <a:rPr sz="2000" b="1" spc="-4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USD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12264" y="5910071"/>
            <a:ext cx="4919980" cy="584200"/>
          </a:xfrm>
          <a:prstGeom prst="rect">
            <a:avLst/>
          </a:prstGeom>
          <a:ln w="9144">
            <a:solidFill>
              <a:srgbClr val="FF0000"/>
            </a:solidFill>
          </a:ln>
        </p:spPr>
        <p:txBody>
          <a:bodyPr vert="horz" wrap="square" lIns="0" tIns="3492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75"/>
              </a:spcBef>
            </a:pPr>
            <a:r>
              <a:rPr sz="3200" b="1" dirty="0">
                <a:solidFill>
                  <a:srgbClr val="FF0000"/>
                </a:solidFill>
                <a:latin typeface="Helvetica"/>
                <a:cs typeface="Helvetica"/>
              </a:rPr>
              <a:t>Many Decisions to</a:t>
            </a:r>
            <a:r>
              <a:rPr sz="3200" b="1" spc="-90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sz="3200" b="1" spc="-5" dirty="0">
                <a:solidFill>
                  <a:srgbClr val="FF0000"/>
                </a:solidFill>
                <a:latin typeface="Helvetica"/>
                <a:cs typeface="Helvetica"/>
              </a:rPr>
              <a:t>Make</a:t>
            </a:r>
            <a:endParaRPr sz="3200">
              <a:latin typeface="Helvetica"/>
              <a:cs typeface="Helvetic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215798" y="6399903"/>
            <a:ext cx="393802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28</a:t>
            </a:fld>
            <a:endParaRPr spc="-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97683" y="164414"/>
            <a:ext cx="442023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Case 1: DFT or</a:t>
            </a:r>
            <a:r>
              <a:rPr sz="3600" spc="-100" dirty="0"/>
              <a:t> </a:t>
            </a:r>
            <a:r>
              <a:rPr sz="3600" dirty="0"/>
              <a:t>Not?</a:t>
            </a:r>
            <a:endParaRPr sz="36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432468"/>
              </p:ext>
            </p:extLst>
          </p:nvPr>
        </p:nvGraphicFramePr>
        <p:xfrm>
          <a:off x="1059180" y="1014983"/>
          <a:ext cx="7092950" cy="3362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030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98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1876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2000" b="1" dirty="0">
                          <a:latin typeface="Helvetica"/>
                          <a:cs typeface="Helvetica"/>
                        </a:rPr>
                        <a:t>Q1: Without</a:t>
                      </a:r>
                      <a:r>
                        <a:rPr sz="2000" b="1" spc="-60" dirty="0">
                          <a:latin typeface="Helvetica"/>
                          <a:cs typeface="Helvetica"/>
                        </a:rPr>
                        <a:t> </a:t>
                      </a:r>
                      <a:r>
                        <a:rPr sz="2000" b="1" dirty="0">
                          <a:latin typeface="Helvetica"/>
                          <a:cs typeface="Helvetica"/>
                        </a:rPr>
                        <a:t>DFT</a:t>
                      </a:r>
                      <a:endParaRPr sz="2000" dirty="0">
                        <a:latin typeface="Helvetica"/>
                        <a:cs typeface="Helvetica"/>
                      </a:endParaRPr>
                    </a:p>
                    <a:p>
                      <a:pPr marR="354330" algn="ctr">
                        <a:lnSpc>
                          <a:spcPts val="1470"/>
                        </a:lnSpc>
                        <a:tabLst>
                          <a:tab pos="1036955" algn="l"/>
                          <a:tab pos="2243455" algn="l"/>
                        </a:tabLst>
                      </a:pPr>
                      <a:endParaRPr lang="en-US" sz="2000" b="1" spc="-5" dirty="0">
                        <a:latin typeface="Helvetica"/>
                        <a:cs typeface="Helvetica"/>
                      </a:endParaRPr>
                    </a:p>
                    <a:p>
                      <a:pPr marR="354330" algn="ctr">
                        <a:lnSpc>
                          <a:spcPts val="1470"/>
                        </a:lnSpc>
                        <a:tabLst>
                          <a:tab pos="1036955" algn="l"/>
                          <a:tab pos="2243455" algn="l"/>
                        </a:tabLst>
                      </a:pPr>
                      <a:r>
                        <a:rPr sz="2000" b="1" spc="-5" dirty="0">
                          <a:latin typeface="Helvetica"/>
                          <a:cs typeface="Helvetica"/>
                        </a:rPr>
                        <a:t>Y=98%,	FC=70%.	</a:t>
                      </a:r>
                      <a:r>
                        <a:rPr sz="2000" b="1" dirty="0">
                          <a:latin typeface="Helvetica"/>
                          <a:cs typeface="Helvetica"/>
                        </a:rPr>
                        <a:t>DL=?</a:t>
                      </a:r>
                      <a:endParaRPr sz="2000" dirty="0">
                        <a:latin typeface="Helvetica"/>
                        <a:cs typeface="Helvetica"/>
                      </a:endParaRPr>
                    </a:p>
                  </a:txBody>
                  <a:tcPr marL="0" marR="0" marT="27305" marB="0">
                    <a:lnR w="9525">
                      <a:solidFill>
                        <a:srgbClr val="000000"/>
                      </a:solidFill>
                      <a:prstDash val="solid"/>
                    </a:lnR>
                    <a:solidFill>
                      <a:srgbClr val="66FF66"/>
                    </a:solidFill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ts val="2820"/>
                        </a:lnSpc>
                      </a:pPr>
                      <a:r>
                        <a:rPr sz="4950" i="1" spc="60" baseline="-25252" dirty="0">
                          <a:latin typeface="Times New Roman"/>
                          <a:cs typeface="Times New Roman"/>
                        </a:rPr>
                        <a:t>DL</a:t>
                      </a:r>
                      <a:r>
                        <a:rPr sz="4950" i="1" spc="-240" baseline="-25252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4950" baseline="-25252" dirty="0">
                          <a:latin typeface="Arial"/>
                          <a:cs typeface="Arial"/>
                        </a:rPr>
                        <a:t>=</a:t>
                      </a:r>
                      <a:r>
                        <a:rPr sz="4950" spc="-839" baseline="-25252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4950" spc="359" baseline="-25252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4950" spc="359" baseline="-25252" dirty="0">
                          <a:latin typeface="Arial"/>
                          <a:cs typeface="Arial"/>
                        </a:rPr>
                        <a:t>−</a:t>
                      </a:r>
                      <a:r>
                        <a:rPr sz="4950" i="1" spc="359" baseline="-25252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4950" i="1" spc="-600" baseline="-25252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spc="25" dirty="0">
                          <a:latin typeface="Times New Roman"/>
                          <a:cs typeface="Times New Roman"/>
                        </a:rPr>
                        <a:t>(1</a:t>
                      </a:r>
                      <a:r>
                        <a:rPr sz="1950" spc="25" dirty="0">
                          <a:latin typeface="Arial"/>
                          <a:cs typeface="Arial"/>
                        </a:rPr>
                        <a:t>−</a:t>
                      </a:r>
                      <a:r>
                        <a:rPr sz="1950" i="1" spc="25" dirty="0">
                          <a:latin typeface="Times New Roman"/>
                          <a:cs typeface="Times New Roman"/>
                        </a:rPr>
                        <a:t>FC</a:t>
                      </a:r>
                      <a:r>
                        <a:rPr sz="1950" spc="25" dirty="0">
                          <a:latin typeface="Times New Roman"/>
                          <a:cs typeface="Times New Roman"/>
                        </a:rPr>
                        <a:t>)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66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27376">
                <a:tc gridSpan="2">
                  <a:txBody>
                    <a:bodyPr/>
                    <a:lstStyle/>
                    <a:p>
                      <a:pPr marL="90805" marR="5319395">
                        <a:lnSpc>
                          <a:spcPct val="200100"/>
                        </a:lnSpc>
                        <a:spcBef>
                          <a:spcPts val="825"/>
                        </a:spcBef>
                        <a:tabLst>
                          <a:tab pos="654050" algn="l"/>
                        </a:tabLst>
                      </a:pPr>
                      <a:r>
                        <a:rPr sz="2000" b="1" dirty="0">
                          <a:latin typeface="Helvetica"/>
                          <a:cs typeface="Helvetica"/>
                        </a:rPr>
                        <a:t>A: </a:t>
                      </a:r>
                      <a:r>
                        <a:rPr sz="2000" b="1" dirty="0">
                          <a:solidFill>
                            <a:srgbClr val="0000FF"/>
                          </a:solidFill>
                          <a:latin typeface="Helvetica"/>
                          <a:cs typeface="Helvetica"/>
                        </a:rPr>
                        <a:t>6,043 DPM  </a:t>
                      </a:r>
                      <a:r>
                        <a:rPr sz="2000" b="1" dirty="0">
                          <a:latin typeface="Helvetica"/>
                          <a:cs typeface="Helvetica"/>
                        </a:rPr>
                        <a:t>Q2:	</a:t>
                      </a:r>
                      <a:r>
                        <a:rPr sz="2000" b="1" spc="-5" dirty="0">
                          <a:latin typeface="Helvetica"/>
                          <a:cs typeface="Helvetica"/>
                        </a:rPr>
                        <a:t>With</a:t>
                      </a:r>
                      <a:r>
                        <a:rPr sz="2000" b="1" spc="-110" dirty="0">
                          <a:latin typeface="Helvetica"/>
                          <a:cs typeface="Helvetica"/>
                        </a:rPr>
                        <a:t> </a:t>
                      </a:r>
                      <a:r>
                        <a:rPr sz="2000" b="1" dirty="0">
                          <a:latin typeface="Helvetica"/>
                          <a:cs typeface="Helvetica"/>
                        </a:rPr>
                        <a:t>DFT</a:t>
                      </a:r>
                      <a:endParaRPr sz="2000" dirty="0">
                        <a:latin typeface="Helvetica"/>
                        <a:cs typeface="Helvetica"/>
                      </a:endParaRPr>
                    </a:p>
                    <a:p>
                      <a:pPr marL="645795">
                        <a:lnSpc>
                          <a:spcPct val="100000"/>
                        </a:lnSpc>
                        <a:tabLst>
                          <a:tab pos="2816225" algn="l"/>
                        </a:tabLst>
                      </a:pPr>
                      <a:r>
                        <a:rPr sz="2000" b="1" spc="-5" dirty="0">
                          <a:latin typeface="Helvetica"/>
                          <a:cs typeface="Helvetica"/>
                        </a:rPr>
                        <a:t>Y=97%,</a:t>
                      </a:r>
                      <a:r>
                        <a:rPr sz="2000" b="1" dirty="0">
                          <a:latin typeface="Helvetica"/>
                          <a:cs typeface="Helvetica"/>
                        </a:rPr>
                        <a:t> </a:t>
                      </a:r>
                      <a:r>
                        <a:rPr sz="2000" b="1" spc="-5" dirty="0">
                          <a:latin typeface="Helvetica"/>
                          <a:cs typeface="Helvetica"/>
                        </a:rPr>
                        <a:t>FC=99%.	</a:t>
                      </a:r>
                      <a:r>
                        <a:rPr sz="2000" b="1" dirty="0">
                          <a:latin typeface="Helvetica"/>
                          <a:cs typeface="Helvetica"/>
                        </a:rPr>
                        <a:t>DL=?</a:t>
                      </a:r>
                      <a:endParaRPr sz="2000" dirty="0">
                        <a:latin typeface="Helvetica"/>
                        <a:cs typeface="Helvetic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2050" dirty="0">
                        <a:latin typeface="Times New Roman"/>
                        <a:cs typeface="Times New Roman"/>
                      </a:endParaRPr>
                    </a:p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Helvetica"/>
                          <a:cs typeface="Helvetica"/>
                        </a:rPr>
                        <a:t>A: </a:t>
                      </a:r>
                      <a:r>
                        <a:rPr sz="2000" b="1" dirty="0">
                          <a:solidFill>
                            <a:srgbClr val="0000FF"/>
                          </a:solidFill>
                          <a:latin typeface="Helvetica"/>
                          <a:cs typeface="Helvetica"/>
                        </a:rPr>
                        <a:t>304</a:t>
                      </a:r>
                      <a:r>
                        <a:rPr sz="2000" b="1" spc="-35" dirty="0">
                          <a:solidFill>
                            <a:srgbClr val="0000FF"/>
                          </a:solidFill>
                          <a:latin typeface="Helvetica"/>
                          <a:cs typeface="Helvetica"/>
                        </a:rPr>
                        <a:t> </a:t>
                      </a:r>
                      <a:r>
                        <a:rPr sz="2000" b="1" dirty="0">
                          <a:solidFill>
                            <a:srgbClr val="0000FF"/>
                          </a:solidFill>
                          <a:latin typeface="Helvetica"/>
                          <a:cs typeface="Helvetica"/>
                        </a:rPr>
                        <a:t>DPM</a:t>
                      </a:r>
                      <a:endParaRPr sz="2000" dirty="0">
                        <a:latin typeface="Helvetica"/>
                        <a:cs typeface="Helvetica"/>
                      </a:endParaRPr>
                    </a:p>
                  </a:txBody>
                  <a:tcPr marL="0" marR="0" marT="104775" marB="0">
                    <a:solidFill>
                      <a:srgbClr val="66FF6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1027175" y="4981955"/>
            <a:ext cx="7089775" cy="1020151"/>
          </a:xfrm>
          <a:prstGeom prst="rect">
            <a:avLst/>
          </a:prstGeom>
          <a:ln w="9144">
            <a:solidFill>
              <a:srgbClr val="FF0000"/>
            </a:solidFill>
          </a:ln>
        </p:spPr>
        <p:txBody>
          <a:bodyPr vert="horz" wrap="square" lIns="0" tIns="34925" rIns="0" bIns="0" rtlCol="0">
            <a:spAutoFit/>
          </a:bodyPr>
          <a:lstStyle/>
          <a:p>
            <a:pPr marL="91440" marR="140970">
              <a:lnSpc>
                <a:spcPct val="100000"/>
              </a:lnSpc>
              <a:spcBef>
                <a:spcPts val="275"/>
              </a:spcBef>
            </a:pPr>
            <a:r>
              <a:rPr sz="3200" b="1" spc="-40" dirty="0">
                <a:solidFill>
                  <a:srgbClr val="FF0000"/>
                </a:solidFill>
                <a:latin typeface="Helvetica"/>
                <a:cs typeface="Helvetica"/>
              </a:rPr>
              <a:t>Technically, </a:t>
            </a:r>
            <a:r>
              <a:rPr sz="3200" b="1" dirty="0">
                <a:solidFill>
                  <a:srgbClr val="FF0000"/>
                </a:solidFill>
                <a:latin typeface="Helvetica"/>
                <a:cs typeface="Helvetica"/>
              </a:rPr>
              <a:t>DFT Improves DPM</a:t>
            </a:r>
            <a:r>
              <a:rPr lang="en-US" sz="3200" b="1" spc="-20" dirty="0">
                <a:solidFill>
                  <a:srgbClr val="FF0000"/>
                </a:solidFill>
                <a:latin typeface="Helvetica"/>
                <a:cs typeface="Helvetica"/>
              </a:rPr>
              <a:t> But</a:t>
            </a:r>
            <a:r>
              <a:rPr sz="3200" b="1" spc="-20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sz="3200" b="1" dirty="0">
                <a:solidFill>
                  <a:srgbClr val="FF0000"/>
                </a:solidFill>
                <a:latin typeface="Helvetica"/>
                <a:cs typeface="Helvetica"/>
              </a:rPr>
              <a:t>Is DFT </a:t>
            </a:r>
            <a:r>
              <a:rPr sz="3200" b="1" spc="-10" dirty="0">
                <a:solidFill>
                  <a:srgbClr val="FF0000"/>
                </a:solidFill>
                <a:latin typeface="Helvetica"/>
                <a:cs typeface="Helvetica"/>
              </a:rPr>
              <a:t>Worth</a:t>
            </a:r>
            <a:r>
              <a:rPr sz="3200" b="1" spc="-85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sz="3200" b="1" dirty="0">
                <a:solidFill>
                  <a:srgbClr val="FF0000"/>
                </a:solidFill>
                <a:latin typeface="Helvetica"/>
                <a:cs typeface="Helvetica"/>
              </a:rPr>
              <a:t>Doing</a:t>
            </a:r>
            <a:r>
              <a:rPr lang="en-US" sz="3200" b="1" dirty="0">
                <a:solidFill>
                  <a:srgbClr val="FF0000"/>
                </a:solidFill>
                <a:latin typeface="Helvetica"/>
                <a:cs typeface="Helvetica"/>
              </a:rPr>
              <a:t> Economically</a:t>
            </a:r>
            <a:r>
              <a:rPr sz="3200" b="1" dirty="0">
                <a:solidFill>
                  <a:srgbClr val="FF0000"/>
                </a:solidFill>
                <a:latin typeface="Helvetica"/>
                <a:cs typeface="Helvetica"/>
              </a:rPr>
              <a:t>?</a:t>
            </a:r>
            <a:endParaRPr sz="3200" dirty="0">
              <a:latin typeface="Helvetica"/>
              <a:cs typeface="Helvetic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7425" y="164414"/>
            <a:ext cx="8151775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Case </a:t>
            </a:r>
            <a:r>
              <a:rPr lang="en-US" sz="3600" spc="-5" dirty="0"/>
              <a:t>Study</a:t>
            </a:r>
            <a:r>
              <a:rPr sz="3600" spc="-5" dirty="0"/>
              <a:t>: DFT </a:t>
            </a:r>
            <a:r>
              <a:rPr sz="3600" dirty="0"/>
              <a:t>or </a:t>
            </a:r>
            <a:r>
              <a:rPr sz="3600" spc="-5" dirty="0"/>
              <a:t>Not?</a:t>
            </a:r>
            <a:r>
              <a:rPr sz="3600" spc="-40" dirty="0"/>
              <a:t> </a:t>
            </a:r>
            <a:r>
              <a:rPr sz="3600" spc="-5" dirty="0"/>
              <a:t>(Cont’d)</a:t>
            </a:r>
            <a:endParaRPr sz="3600" dirty="0"/>
          </a:p>
        </p:txBody>
      </p:sp>
      <p:sp>
        <p:nvSpPr>
          <p:cNvPr id="3" name="object 3"/>
          <p:cNvSpPr txBox="1"/>
          <p:nvPr/>
        </p:nvSpPr>
        <p:spPr>
          <a:xfrm>
            <a:off x="230225" y="961136"/>
            <a:ext cx="5092065" cy="706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Q: Is it economical to insert</a:t>
            </a:r>
            <a:r>
              <a:rPr sz="2000" b="1" spc="-14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DFT?</a:t>
            </a:r>
            <a:endParaRPr sz="2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7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  <a:tab pos="1355090" algn="l"/>
              </a:tabLst>
            </a:pPr>
            <a:r>
              <a:rPr sz="2000" b="1" dirty="0">
                <a:latin typeface="Arial"/>
                <a:cs typeface="Arial"/>
              </a:rPr>
              <a:t>A:</a:t>
            </a:r>
            <a:r>
              <a:rPr sz="2000" b="1" spc="-1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Yes.	</a:t>
            </a:r>
            <a:r>
              <a:rPr sz="2000" b="1" spc="-5" dirty="0">
                <a:latin typeface="Arial"/>
                <a:cs typeface="Arial"/>
              </a:rPr>
              <a:t>This is </a:t>
            </a:r>
            <a:r>
              <a:rPr sz="2000" b="1" dirty="0">
                <a:latin typeface="Arial"/>
                <a:cs typeface="Arial"/>
              </a:rPr>
              <a:t>true for many</a:t>
            </a:r>
            <a:r>
              <a:rPr sz="2000" b="1" spc="-9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products.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87425" y="1692351"/>
            <a:ext cx="567753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5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299085" algn="l"/>
                <a:tab pos="299720" algn="l"/>
              </a:tabLst>
            </a:pPr>
            <a:r>
              <a:rPr sz="2000" b="1" dirty="0">
                <a:latin typeface="Arial"/>
                <a:cs typeface="Arial"/>
              </a:rPr>
              <a:t>Although Y drops, DL </a:t>
            </a:r>
            <a:r>
              <a:rPr sz="2000" b="1" spc="-5" dirty="0">
                <a:latin typeface="Arial"/>
                <a:cs typeface="Arial"/>
              </a:rPr>
              <a:t>improves</a:t>
            </a:r>
            <a:r>
              <a:rPr sz="2000" b="1" spc="-6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significantly</a:t>
            </a:r>
            <a:endParaRPr sz="2000">
              <a:latin typeface="Arial"/>
              <a:cs typeface="Arial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8940277"/>
              </p:ext>
            </p:extLst>
          </p:nvPr>
        </p:nvGraphicFramePr>
        <p:xfrm>
          <a:off x="1001712" y="2325623"/>
          <a:ext cx="7129143" cy="297192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744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73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773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Item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5" dirty="0">
                          <a:latin typeface="Arial"/>
                          <a:cs typeface="Arial"/>
                        </a:rPr>
                        <a:t>w/o</a:t>
                      </a:r>
                      <a:r>
                        <a:rPr sz="1800" b="1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DFT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5" dirty="0">
                          <a:latin typeface="Arial"/>
                          <a:cs typeface="Arial"/>
                        </a:rPr>
                        <a:t>with</a:t>
                      </a:r>
                      <a:r>
                        <a:rPr sz="1800" b="1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DFT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30" dirty="0">
                          <a:latin typeface="Arial"/>
                          <a:cs typeface="Arial"/>
                        </a:rPr>
                        <a:t>Total 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#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of</a:t>
                      </a:r>
                      <a:r>
                        <a:rPr sz="1800" b="1" spc="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D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ies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AFFFF"/>
                    </a:solidFill>
                  </a:tcPr>
                </a:tc>
                <a:tc>
                  <a:txBody>
                    <a:bodyPr/>
                    <a:lstStyle/>
                    <a:p>
                      <a:pPr marR="635" algn="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000" b="1" dirty="0">
                          <a:latin typeface="Helvetica"/>
                          <a:cs typeface="Helvetica"/>
                        </a:rPr>
                        <a:t>1,000,000</a:t>
                      </a:r>
                      <a:endParaRPr sz="2000">
                        <a:latin typeface="Helvetica"/>
                        <a:cs typeface="Helvetica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AFFFF"/>
                    </a:solidFill>
                  </a:tcPr>
                </a:tc>
                <a:tc>
                  <a:txBody>
                    <a:bodyPr/>
                    <a:lstStyle/>
                    <a:p>
                      <a:pPr marR="635" algn="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000" b="1" dirty="0">
                          <a:latin typeface="Helvetica"/>
                          <a:cs typeface="Helvetica"/>
                        </a:rPr>
                        <a:t>900,000</a:t>
                      </a:r>
                      <a:endParaRPr sz="2000">
                        <a:latin typeface="Helvetica"/>
                        <a:cs typeface="Helvetica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A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1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Y</a:t>
                      </a:r>
                      <a:r>
                        <a:rPr sz="1800" b="1" spc="-15" dirty="0">
                          <a:latin typeface="Arial"/>
                          <a:cs typeface="Arial"/>
                        </a:rPr>
                        <a:t>ield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000" b="1" dirty="0">
                          <a:latin typeface="Helvetica"/>
                          <a:cs typeface="Helvetica"/>
                        </a:rPr>
                        <a:t>98%</a:t>
                      </a:r>
                      <a:endParaRPr sz="2000" dirty="0">
                        <a:latin typeface="Helvetica"/>
                        <a:cs typeface="Helvetica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000" b="1" dirty="0">
                          <a:latin typeface="Helvetica"/>
                          <a:cs typeface="Helvetica"/>
                        </a:rPr>
                        <a:t>97%</a:t>
                      </a:r>
                      <a:endParaRPr sz="2000" dirty="0">
                        <a:latin typeface="Helvetica"/>
                        <a:cs typeface="Helvetica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FC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fault</a:t>
                      </a:r>
                      <a:r>
                        <a:rPr sz="1800" b="1" spc="-10" dirty="0">
                          <a:latin typeface="Arial"/>
                          <a:cs typeface="Arial"/>
                        </a:rPr>
                        <a:t> coverage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A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000" b="1" dirty="0">
                          <a:solidFill>
                            <a:srgbClr val="0000FF"/>
                          </a:solidFill>
                          <a:latin typeface="Helvetica"/>
                          <a:cs typeface="Helvetica"/>
                        </a:rPr>
                        <a:t>70%</a:t>
                      </a:r>
                      <a:endParaRPr sz="2000" dirty="0">
                        <a:latin typeface="Helvetica"/>
                        <a:cs typeface="Helvetica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A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000" b="1" dirty="0">
                          <a:solidFill>
                            <a:srgbClr val="0000FF"/>
                          </a:solidFill>
                          <a:latin typeface="Helvetica"/>
                          <a:cs typeface="Helvetica"/>
                        </a:rPr>
                        <a:t>99%</a:t>
                      </a:r>
                      <a:endParaRPr sz="2000" dirty="0">
                        <a:latin typeface="Helvetica"/>
                        <a:cs typeface="Helvetica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A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91440">
                        <a:lnSpc>
                          <a:spcPts val="1939"/>
                        </a:lnSpc>
                      </a:pPr>
                      <a:r>
                        <a:rPr sz="2700" b="1" baseline="-1697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DL</a:t>
                      </a:r>
                      <a:r>
                        <a:rPr sz="2700" b="1" spc="-60" baseline="-1697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700" b="1" spc="-7" baseline="-16975" dirty="0">
                          <a:latin typeface="Arial"/>
                          <a:cs typeface="Arial"/>
                        </a:rPr>
                        <a:t>=1-Y</a:t>
                      </a:r>
                      <a:r>
                        <a:rPr sz="1200" b="1" spc="-5" dirty="0">
                          <a:latin typeface="Arial"/>
                          <a:cs typeface="Arial"/>
                        </a:rPr>
                        <a:t>(1-FC)</a:t>
                      </a:r>
                      <a:endParaRPr sz="12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FFFF"/>
                    </a:solidFill>
                  </a:tcPr>
                </a:tc>
                <a:tc>
                  <a:txBody>
                    <a:bodyPr/>
                    <a:lstStyle/>
                    <a:p>
                      <a:pPr marR="635" algn="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000" b="1" dirty="0">
                          <a:solidFill>
                            <a:srgbClr val="0000FF"/>
                          </a:solidFill>
                          <a:latin typeface="Helvetica"/>
                          <a:cs typeface="Helvetica"/>
                        </a:rPr>
                        <a:t>6,043</a:t>
                      </a:r>
                      <a:r>
                        <a:rPr sz="2000" b="1" spc="-114" dirty="0">
                          <a:solidFill>
                            <a:srgbClr val="0000FF"/>
                          </a:solidFill>
                          <a:latin typeface="Helvetica"/>
                          <a:cs typeface="Helvetica"/>
                        </a:rPr>
                        <a:t> </a:t>
                      </a:r>
                      <a:r>
                        <a:rPr sz="2000" b="1" dirty="0">
                          <a:solidFill>
                            <a:srgbClr val="0000FF"/>
                          </a:solidFill>
                          <a:latin typeface="Helvetica"/>
                          <a:cs typeface="Helvetica"/>
                        </a:rPr>
                        <a:t>DPM</a:t>
                      </a:r>
                      <a:endParaRPr sz="2000" dirty="0">
                        <a:latin typeface="Helvetica"/>
                        <a:cs typeface="Helvetica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000" b="1" dirty="0">
                          <a:solidFill>
                            <a:srgbClr val="0000FF"/>
                          </a:solidFill>
                          <a:latin typeface="Helvetica"/>
                          <a:cs typeface="Helvetica"/>
                        </a:rPr>
                        <a:t>304</a:t>
                      </a:r>
                      <a:r>
                        <a:rPr sz="2000" b="1" spc="-105" dirty="0">
                          <a:solidFill>
                            <a:srgbClr val="0000FF"/>
                          </a:solidFill>
                          <a:latin typeface="Helvetica"/>
                          <a:cs typeface="Helvetica"/>
                        </a:rPr>
                        <a:t> </a:t>
                      </a:r>
                      <a:r>
                        <a:rPr sz="2000" b="1" dirty="0">
                          <a:solidFill>
                            <a:srgbClr val="0000FF"/>
                          </a:solidFill>
                          <a:latin typeface="Helvetica"/>
                          <a:cs typeface="Helvetica"/>
                        </a:rPr>
                        <a:t>DPM</a:t>
                      </a:r>
                      <a:endParaRPr sz="2000" dirty="0">
                        <a:latin typeface="Helvetica"/>
                        <a:cs typeface="Helvetica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ales</a:t>
                      </a:r>
                      <a:r>
                        <a:rPr lang="en-US" sz="1800" b="1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=</a:t>
                      </a:r>
                      <a:r>
                        <a:rPr lang="en-US" sz="1800" b="1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D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x Y x</a:t>
                      </a:r>
                      <a:r>
                        <a:rPr sz="1800" b="1" spc="-8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$1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AFFFF"/>
                    </a:solidFill>
                  </a:tcPr>
                </a:tc>
                <a:tc>
                  <a:txBody>
                    <a:bodyPr/>
                    <a:lstStyle/>
                    <a:p>
                      <a:pPr marR="1270" algn="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000" b="1" dirty="0">
                          <a:latin typeface="Helvetica"/>
                          <a:cs typeface="Helvetica"/>
                        </a:rPr>
                        <a:t>980,000</a:t>
                      </a:r>
                      <a:endParaRPr sz="2000" dirty="0">
                        <a:latin typeface="Helvetica"/>
                        <a:cs typeface="Helvetica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AFFFF"/>
                    </a:solidFill>
                  </a:tcPr>
                </a:tc>
                <a:tc>
                  <a:txBody>
                    <a:bodyPr/>
                    <a:lstStyle/>
                    <a:p>
                      <a:pPr marR="635" algn="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000" b="1" dirty="0">
                          <a:latin typeface="Helvetica"/>
                          <a:cs typeface="Helvetica"/>
                        </a:rPr>
                        <a:t>873,000</a:t>
                      </a:r>
                      <a:endParaRPr sz="2000" dirty="0">
                        <a:latin typeface="Helvetica"/>
                        <a:cs typeface="Helvetica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A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epair cost</a:t>
                      </a:r>
                      <a:r>
                        <a:rPr lang="en-US" sz="1800" b="1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=</a:t>
                      </a:r>
                      <a:r>
                        <a:rPr lang="en-US" sz="1800" b="1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D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x Y x 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DL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1800" b="1" spc="-1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10" dirty="0">
                          <a:latin typeface="Arial"/>
                          <a:cs typeface="Arial"/>
                        </a:rPr>
                        <a:t>$100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FFFF"/>
                    </a:solidFill>
                  </a:tcPr>
                </a:tc>
                <a:tc>
                  <a:txBody>
                    <a:bodyPr/>
                    <a:lstStyle/>
                    <a:p>
                      <a:pPr marR="1270" algn="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000" b="1" dirty="0">
                          <a:latin typeface="Helvetica"/>
                          <a:cs typeface="Helvetica"/>
                        </a:rPr>
                        <a:t>592,163</a:t>
                      </a:r>
                      <a:endParaRPr sz="2000" dirty="0">
                        <a:latin typeface="Helvetica"/>
                        <a:cs typeface="Helvetica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FFFF"/>
                    </a:solidFill>
                  </a:tcPr>
                </a:tc>
                <a:tc>
                  <a:txBody>
                    <a:bodyPr/>
                    <a:lstStyle/>
                    <a:p>
                      <a:pPr marR="635" algn="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000" b="1" dirty="0">
                          <a:latin typeface="Helvetica"/>
                          <a:cs typeface="Helvetica"/>
                        </a:rPr>
                        <a:t>26,587</a:t>
                      </a:r>
                      <a:endParaRPr sz="2000">
                        <a:latin typeface="Helvetica"/>
                        <a:cs typeface="Helvetica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1601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Profit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= S –</a:t>
                      </a:r>
                      <a:r>
                        <a:rPr sz="1800" b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R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AFFFF"/>
                    </a:solidFill>
                  </a:tcPr>
                </a:tc>
                <a:tc>
                  <a:txBody>
                    <a:bodyPr/>
                    <a:lstStyle/>
                    <a:p>
                      <a:pPr marR="1270" algn="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000" b="1" dirty="0">
                          <a:latin typeface="Helvetica"/>
                          <a:cs typeface="Helvetica"/>
                        </a:rPr>
                        <a:t>387,837</a:t>
                      </a:r>
                      <a:endParaRPr sz="2000">
                        <a:latin typeface="Helvetica"/>
                        <a:cs typeface="Helvetica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AFFFF"/>
                    </a:solidFill>
                  </a:tcPr>
                </a:tc>
                <a:tc>
                  <a:txBody>
                    <a:bodyPr/>
                    <a:lstStyle/>
                    <a:p>
                      <a:pPr marR="635" algn="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000" b="1" dirty="0">
                          <a:solidFill>
                            <a:srgbClr val="0000FF"/>
                          </a:solidFill>
                          <a:latin typeface="Helvetica"/>
                          <a:cs typeface="Helvetica"/>
                        </a:rPr>
                        <a:t>846,413</a:t>
                      </a:r>
                      <a:endParaRPr sz="2000" dirty="0">
                        <a:latin typeface="Helvetica"/>
                        <a:cs typeface="Helvetica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A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2746248" y="5743955"/>
            <a:ext cx="3651885" cy="524510"/>
          </a:xfrm>
          <a:prstGeom prst="rect">
            <a:avLst/>
          </a:prstGeom>
          <a:ln w="9144">
            <a:solidFill>
              <a:srgbClr val="FF0000"/>
            </a:solidFill>
          </a:ln>
        </p:spPr>
        <p:txBody>
          <a:bodyPr vert="horz" wrap="square" lIns="0" tIns="3683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90"/>
              </a:spcBef>
            </a:pPr>
            <a:r>
              <a:rPr sz="2800" b="1" spc="-5" dirty="0">
                <a:solidFill>
                  <a:srgbClr val="FF0000"/>
                </a:solidFill>
                <a:latin typeface="Helvetica"/>
                <a:cs typeface="Helvetica"/>
              </a:rPr>
              <a:t>DFT Is </a:t>
            </a:r>
            <a:r>
              <a:rPr sz="2800" b="1" spc="-15" dirty="0">
                <a:solidFill>
                  <a:srgbClr val="FF0000"/>
                </a:solidFill>
                <a:latin typeface="Helvetica"/>
                <a:cs typeface="Helvetica"/>
              </a:rPr>
              <a:t>Worth</a:t>
            </a:r>
            <a:r>
              <a:rPr sz="2800" b="1" spc="-40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sz="2800" b="1" spc="-5" dirty="0">
                <a:solidFill>
                  <a:srgbClr val="FF0000"/>
                </a:solidFill>
                <a:latin typeface="Helvetica"/>
                <a:cs typeface="Helvetica"/>
              </a:rPr>
              <a:t>Doing!</a:t>
            </a:r>
            <a:endParaRPr sz="2800">
              <a:latin typeface="Helvetica"/>
              <a:cs typeface="Helvetic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898385" y="4871465"/>
            <a:ext cx="1403985" cy="532130"/>
          </a:xfrm>
          <a:custGeom>
            <a:avLst/>
            <a:gdLst/>
            <a:ahLst/>
            <a:cxnLst/>
            <a:rect l="l" t="t" r="r" b="b"/>
            <a:pathLst>
              <a:path w="1403984" h="532129">
                <a:moveTo>
                  <a:pt x="0" y="265937"/>
                </a:moveTo>
                <a:lnTo>
                  <a:pt x="12654" y="215420"/>
                </a:lnTo>
                <a:lnTo>
                  <a:pt x="49048" y="168095"/>
                </a:lnTo>
                <a:lnTo>
                  <a:pt x="106830" y="124856"/>
                </a:lnTo>
                <a:lnTo>
                  <a:pt x="143006" y="105048"/>
                </a:lnTo>
                <a:lnTo>
                  <a:pt x="183646" y="86596"/>
                </a:lnTo>
                <a:lnTo>
                  <a:pt x="228458" y="69613"/>
                </a:lnTo>
                <a:lnTo>
                  <a:pt x="277145" y="54209"/>
                </a:lnTo>
                <a:lnTo>
                  <a:pt x="329416" y="40497"/>
                </a:lnTo>
                <a:lnTo>
                  <a:pt x="384974" y="28588"/>
                </a:lnTo>
                <a:lnTo>
                  <a:pt x="443527" y="18594"/>
                </a:lnTo>
                <a:lnTo>
                  <a:pt x="504781" y="10626"/>
                </a:lnTo>
                <a:lnTo>
                  <a:pt x="568440" y="4797"/>
                </a:lnTo>
                <a:lnTo>
                  <a:pt x="634212" y="1217"/>
                </a:lnTo>
                <a:lnTo>
                  <a:pt x="701802" y="0"/>
                </a:lnTo>
                <a:lnTo>
                  <a:pt x="769391" y="1217"/>
                </a:lnTo>
                <a:lnTo>
                  <a:pt x="835163" y="4797"/>
                </a:lnTo>
                <a:lnTo>
                  <a:pt x="898822" y="10626"/>
                </a:lnTo>
                <a:lnTo>
                  <a:pt x="960076" y="18594"/>
                </a:lnTo>
                <a:lnTo>
                  <a:pt x="1018629" y="28588"/>
                </a:lnTo>
                <a:lnTo>
                  <a:pt x="1074187" y="40497"/>
                </a:lnTo>
                <a:lnTo>
                  <a:pt x="1126458" y="54209"/>
                </a:lnTo>
                <a:lnTo>
                  <a:pt x="1175145" y="69613"/>
                </a:lnTo>
                <a:lnTo>
                  <a:pt x="1219957" y="86596"/>
                </a:lnTo>
                <a:lnTo>
                  <a:pt x="1260597" y="105048"/>
                </a:lnTo>
                <a:lnTo>
                  <a:pt x="1296773" y="124856"/>
                </a:lnTo>
                <a:lnTo>
                  <a:pt x="1354555" y="168095"/>
                </a:lnTo>
                <a:lnTo>
                  <a:pt x="1390949" y="215420"/>
                </a:lnTo>
                <a:lnTo>
                  <a:pt x="1403604" y="265937"/>
                </a:lnTo>
                <a:lnTo>
                  <a:pt x="1400391" y="291539"/>
                </a:lnTo>
                <a:lnTo>
                  <a:pt x="1375573" y="340572"/>
                </a:lnTo>
                <a:lnTo>
                  <a:pt x="1328191" y="385966"/>
                </a:lnTo>
                <a:lnTo>
                  <a:pt x="1260597" y="426827"/>
                </a:lnTo>
                <a:lnTo>
                  <a:pt x="1219957" y="445279"/>
                </a:lnTo>
                <a:lnTo>
                  <a:pt x="1175145" y="462262"/>
                </a:lnTo>
                <a:lnTo>
                  <a:pt x="1126458" y="477666"/>
                </a:lnTo>
                <a:lnTo>
                  <a:pt x="1074187" y="491378"/>
                </a:lnTo>
                <a:lnTo>
                  <a:pt x="1018629" y="503287"/>
                </a:lnTo>
                <a:lnTo>
                  <a:pt x="960076" y="513281"/>
                </a:lnTo>
                <a:lnTo>
                  <a:pt x="898822" y="521249"/>
                </a:lnTo>
                <a:lnTo>
                  <a:pt x="835163" y="527078"/>
                </a:lnTo>
                <a:lnTo>
                  <a:pt x="769391" y="530658"/>
                </a:lnTo>
                <a:lnTo>
                  <a:pt x="701802" y="531875"/>
                </a:lnTo>
                <a:lnTo>
                  <a:pt x="634212" y="530658"/>
                </a:lnTo>
                <a:lnTo>
                  <a:pt x="568440" y="527078"/>
                </a:lnTo>
                <a:lnTo>
                  <a:pt x="504781" y="521249"/>
                </a:lnTo>
                <a:lnTo>
                  <a:pt x="443527" y="513281"/>
                </a:lnTo>
                <a:lnTo>
                  <a:pt x="384974" y="503287"/>
                </a:lnTo>
                <a:lnTo>
                  <a:pt x="329416" y="491378"/>
                </a:lnTo>
                <a:lnTo>
                  <a:pt x="277145" y="477666"/>
                </a:lnTo>
                <a:lnTo>
                  <a:pt x="228458" y="462262"/>
                </a:lnTo>
                <a:lnTo>
                  <a:pt x="183646" y="445279"/>
                </a:lnTo>
                <a:lnTo>
                  <a:pt x="143006" y="426827"/>
                </a:lnTo>
                <a:lnTo>
                  <a:pt x="106830" y="407019"/>
                </a:lnTo>
                <a:lnTo>
                  <a:pt x="49048" y="363780"/>
                </a:lnTo>
                <a:lnTo>
                  <a:pt x="12654" y="316455"/>
                </a:lnTo>
                <a:lnTo>
                  <a:pt x="0" y="265937"/>
                </a:lnTo>
                <a:close/>
              </a:path>
            </a:pathLst>
          </a:custGeom>
          <a:ln w="2895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320028" y="1019555"/>
            <a:ext cx="2689860" cy="532130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8740">
              <a:lnSpc>
                <a:spcPts val="2820"/>
              </a:lnSpc>
            </a:pPr>
            <a:r>
              <a:rPr sz="4950" i="1" spc="60" baseline="-25252" dirty="0">
                <a:latin typeface="Times New Roman"/>
                <a:cs typeface="Times New Roman"/>
              </a:rPr>
              <a:t>DL</a:t>
            </a:r>
            <a:r>
              <a:rPr sz="4950" i="1" spc="-240" baseline="-25252" dirty="0">
                <a:latin typeface="Times New Roman"/>
                <a:cs typeface="Times New Roman"/>
              </a:rPr>
              <a:t> </a:t>
            </a:r>
            <a:r>
              <a:rPr sz="4950" baseline="-25252" dirty="0">
                <a:latin typeface="Arial"/>
                <a:cs typeface="Arial"/>
              </a:rPr>
              <a:t>=</a:t>
            </a:r>
            <a:r>
              <a:rPr sz="4950" spc="-839" baseline="-25252" dirty="0">
                <a:latin typeface="Arial"/>
                <a:cs typeface="Arial"/>
              </a:rPr>
              <a:t> </a:t>
            </a:r>
            <a:r>
              <a:rPr sz="4950" spc="359" baseline="-25252" dirty="0">
                <a:latin typeface="Times New Roman"/>
                <a:cs typeface="Times New Roman"/>
              </a:rPr>
              <a:t>1</a:t>
            </a:r>
            <a:r>
              <a:rPr sz="4950" spc="359" baseline="-25252" dirty="0">
                <a:latin typeface="Arial"/>
                <a:cs typeface="Arial"/>
              </a:rPr>
              <a:t>−</a:t>
            </a:r>
            <a:r>
              <a:rPr sz="4950" i="1" spc="359" baseline="-25252" dirty="0">
                <a:latin typeface="Times New Roman"/>
                <a:cs typeface="Times New Roman"/>
              </a:rPr>
              <a:t>Y</a:t>
            </a:r>
            <a:r>
              <a:rPr sz="4950" i="1" spc="-600" baseline="-25252" dirty="0">
                <a:latin typeface="Times New Roman"/>
                <a:cs typeface="Times New Roman"/>
              </a:rPr>
              <a:t> </a:t>
            </a:r>
            <a:r>
              <a:rPr sz="1950" spc="25" dirty="0">
                <a:latin typeface="Times New Roman"/>
                <a:cs typeface="Times New Roman"/>
              </a:rPr>
              <a:t>(1</a:t>
            </a:r>
            <a:r>
              <a:rPr sz="1950" spc="25" dirty="0">
                <a:latin typeface="Arial"/>
                <a:cs typeface="Arial"/>
              </a:rPr>
              <a:t>−</a:t>
            </a:r>
            <a:r>
              <a:rPr sz="1950" i="1" spc="25" dirty="0">
                <a:latin typeface="Times New Roman"/>
                <a:cs typeface="Times New Roman"/>
              </a:rPr>
              <a:t>FC</a:t>
            </a:r>
            <a:r>
              <a:rPr sz="1950" spc="25" dirty="0">
                <a:latin typeface="Times New Roman"/>
                <a:cs typeface="Times New Roman"/>
              </a:rPr>
              <a:t>)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xfrm>
            <a:off x="215798" y="6399903"/>
            <a:ext cx="471627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29</a:t>
            </a:fld>
            <a:endParaRPr spc="-5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61792" y="164414"/>
            <a:ext cx="269113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Introduction</a:t>
            </a: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230225" y="961136"/>
            <a:ext cx="3641090" cy="18088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What Is</a:t>
            </a:r>
            <a:r>
              <a:rPr sz="2000" b="1" spc="-55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Testing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7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spc="-5" dirty="0">
                <a:solidFill>
                  <a:srgbClr val="A6A6A6"/>
                </a:solidFill>
                <a:latin typeface="Arial"/>
                <a:cs typeface="Arial"/>
              </a:rPr>
              <a:t>Types </a:t>
            </a: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of Testing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4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Test</a:t>
            </a:r>
            <a:r>
              <a:rPr sz="2000" b="1" spc="-20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Quality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Test</a:t>
            </a:r>
            <a:r>
              <a:rPr sz="2000" b="1" spc="-2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Economy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Conclusion</a:t>
            </a:r>
            <a:r>
              <a:rPr lang="en-US" sz="20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439411" y="3247644"/>
            <a:ext cx="4119372" cy="295351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10">
            <a:extLst>
              <a:ext uri="{FF2B5EF4-FFF2-40B4-BE49-F238E27FC236}">
                <a16:creationId xmlns:a16="http://schemas.microsoft.com/office/drawing/2014/main" id="{F6DAB952-EC4E-1BDB-5CAF-72DBBB12364C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215798" y="6399903"/>
            <a:ext cx="546202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30</a:t>
            </a:fld>
            <a:endParaRPr spc="-5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50183" y="164414"/>
            <a:ext cx="251333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Conclusion</a:t>
            </a:r>
            <a:r>
              <a:rPr lang="en-US" spc="-5" dirty="0"/>
              <a:t>s</a:t>
            </a:r>
            <a:endParaRPr dirty="0"/>
          </a:p>
        </p:txBody>
      </p:sp>
      <p:sp>
        <p:nvSpPr>
          <p:cNvPr id="3" name="object 3"/>
          <p:cNvSpPr/>
          <p:nvPr/>
        </p:nvSpPr>
        <p:spPr>
          <a:xfrm>
            <a:off x="3052572" y="4061459"/>
            <a:ext cx="2264664" cy="22646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059048" y="5529173"/>
            <a:ext cx="56324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000" b="1" spc="-2010" baseline="1388" dirty="0">
                <a:latin typeface="Helvetica"/>
                <a:cs typeface="Helvetica"/>
              </a:rPr>
              <a:t>E</a:t>
            </a:r>
            <a:r>
              <a:rPr sz="2000" b="1" spc="-10" dirty="0">
                <a:latin typeface="Helvetica"/>
                <a:cs typeface="Helvetica"/>
              </a:rPr>
              <a:t>E</a:t>
            </a:r>
            <a:r>
              <a:rPr sz="2000" b="1" spc="-1445" dirty="0">
                <a:latin typeface="Helvetica"/>
                <a:cs typeface="Helvetica"/>
              </a:rPr>
              <a:t>D</a:t>
            </a:r>
            <a:r>
              <a:rPr sz="3000" b="1" spc="-7" baseline="1388" dirty="0">
                <a:latin typeface="Helvetica"/>
                <a:cs typeface="Helvetica"/>
              </a:rPr>
              <a:t>D</a:t>
            </a:r>
            <a:r>
              <a:rPr sz="2000" b="1" spc="-1450" dirty="0">
                <a:latin typeface="Helvetica"/>
                <a:cs typeface="Helvetica"/>
              </a:rPr>
              <a:t>A</a:t>
            </a:r>
            <a:r>
              <a:rPr sz="3000" b="1" baseline="1388" dirty="0">
                <a:latin typeface="Helvetica"/>
                <a:cs typeface="Helvetica"/>
              </a:rPr>
              <a:t>A</a:t>
            </a:r>
            <a:endParaRPr sz="3000" baseline="1388">
              <a:latin typeface="Helvetica"/>
              <a:cs typeface="Helvetic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53127" y="4854702"/>
            <a:ext cx="112141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35" dirty="0">
                <a:latin typeface="Helvetica"/>
                <a:cs typeface="Helvetica"/>
              </a:rPr>
              <a:t>Test</a:t>
            </a:r>
            <a:r>
              <a:rPr sz="2000" b="1" spc="-100" dirty="0">
                <a:latin typeface="Helvetica"/>
                <a:cs typeface="Helvetica"/>
              </a:rPr>
              <a:t> </a:t>
            </a:r>
            <a:r>
              <a:rPr sz="2000" b="1" dirty="0">
                <a:latin typeface="Helvetica"/>
                <a:cs typeface="Helvetica"/>
              </a:rPr>
              <a:t>eng.</a:t>
            </a:r>
            <a:endParaRPr sz="2000">
              <a:latin typeface="Helvetica"/>
              <a:cs typeface="Helvetic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573779" y="4831079"/>
            <a:ext cx="1440941" cy="56769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643121" y="4869941"/>
            <a:ext cx="1201420" cy="367665"/>
          </a:xfrm>
          <a:prstGeom prst="rect">
            <a:avLst/>
          </a:prstGeom>
          <a:ln w="38100">
            <a:solidFill>
              <a:srgbClr val="800000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305"/>
              </a:spcBef>
            </a:pPr>
            <a:r>
              <a:rPr sz="2000" b="1" dirty="0">
                <a:solidFill>
                  <a:srgbClr val="800000"/>
                </a:solidFill>
                <a:latin typeface="Helvetica"/>
                <a:cs typeface="Helvetica"/>
              </a:rPr>
              <a:t>TE</a:t>
            </a:r>
            <a:r>
              <a:rPr sz="2000" b="1" spc="-10" dirty="0">
                <a:solidFill>
                  <a:srgbClr val="800000"/>
                </a:solidFill>
                <a:latin typeface="Helvetica"/>
                <a:cs typeface="Helvetica"/>
              </a:rPr>
              <a:t>S</a:t>
            </a:r>
            <a:r>
              <a:rPr sz="2000" b="1" dirty="0">
                <a:solidFill>
                  <a:srgbClr val="800000"/>
                </a:solidFill>
                <a:latin typeface="Helvetica"/>
                <a:cs typeface="Helvetica"/>
              </a:rPr>
              <a:t>TING</a:t>
            </a:r>
            <a:endParaRPr sz="2000">
              <a:latin typeface="Helvetica"/>
              <a:cs typeface="Helvetic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xfrm>
            <a:off x="215798" y="6399903"/>
            <a:ext cx="546202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31</a:t>
            </a:fld>
            <a:endParaRPr spc="-5" dirty="0"/>
          </a:p>
        </p:txBody>
      </p:sp>
      <p:sp>
        <p:nvSpPr>
          <p:cNvPr id="8" name="object 8"/>
          <p:cNvSpPr txBox="1"/>
          <p:nvPr/>
        </p:nvSpPr>
        <p:spPr>
          <a:xfrm>
            <a:off x="3701034" y="5479186"/>
            <a:ext cx="1682750" cy="8870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20419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Helvetica"/>
                <a:cs typeface="Helvetica"/>
              </a:rPr>
              <a:t>Design</a:t>
            </a:r>
            <a:endParaRPr sz="2000">
              <a:latin typeface="Helvetica"/>
              <a:cs typeface="Helvetica"/>
            </a:endParaRPr>
          </a:p>
          <a:p>
            <a:pPr marL="12700">
              <a:lnSpc>
                <a:spcPct val="100000"/>
              </a:lnSpc>
              <a:spcBef>
                <a:spcPts val="1980"/>
              </a:spcBef>
            </a:pPr>
            <a:r>
              <a:rPr sz="2000" b="1" spc="-5" dirty="0">
                <a:latin typeface="Helvetica"/>
                <a:cs typeface="Helvetica"/>
              </a:rPr>
              <a:t>Reliability</a:t>
            </a:r>
            <a:endParaRPr sz="2000">
              <a:latin typeface="Helvetica"/>
              <a:cs typeface="Helvetic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30225" y="900785"/>
            <a:ext cx="8410575" cy="399415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WHY</a:t>
            </a:r>
            <a:r>
              <a:rPr sz="2000" b="1" spc="-3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test?</a:t>
            </a:r>
            <a:endParaRPr sz="20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It is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important to </a:t>
            </a:r>
            <a:r>
              <a:rPr sz="2000" b="1" spc="-5" dirty="0">
                <a:solidFill>
                  <a:srgbClr val="0000FF"/>
                </a:solidFill>
                <a:latin typeface="Arial"/>
                <a:cs typeface="Arial"/>
              </a:rPr>
              <a:t>invest </a:t>
            </a:r>
            <a:r>
              <a:rPr sz="2000" b="1" dirty="0">
                <a:latin typeface="Arial"/>
                <a:cs typeface="Arial"/>
              </a:rPr>
              <a:t>in test because of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rule of</a:t>
            </a:r>
            <a:r>
              <a:rPr sz="2000" b="1" spc="-18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ten</a:t>
            </a:r>
            <a:endParaRPr sz="2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spc="5" dirty="0">
                <a:latin typeface="Arial"/>
                <a:cs typeface="Arial"/>
              </a:rPr>
              <a:t>HOW </a:t>
            </a:r>
            <a:r>
              <a:rPr sz="2000" b="1" dirty="0">
                <a:latin typeface="Arial"/>
                <a:cs typeface="Arial"/>
              </a:rPr>
              <a:t>to</a:t>
            </a:r>
            <a:r>
              <a:rPr sz="2000" b="1" spc="-5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test?</a:t>
            </a:r>
            <a:endParaRPr sz="20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Optimal test not only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technical issue</a:t>
            </a:r>
            <a:r>
              <a:rPr sz="2000" b="1" dirty="0">
                <a:latin typeface="Arial"/>
                <a:cs typeface="Arial"/>
              </a:rPr>
              <a:t>, but also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economics</a:t>
            </a:r>
            <a:r>
              <a:rPr sz="2000" b="1" spc="-2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issue</a:t>
            </a:r>
            <a:endParaRPr sz="20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spc="5" dirty="0">
                <a:solidFill>
                  <a:srgbClr val="0000FF"/>
                </a:solidFill>
                <a:latin typeface="Arial"/>
                <a:cs typeface="Arial"/>
              </a:rPr>
              <a:t>No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single best test solution for all</a:t>
            </a:r>
            <a:r>
              <a:rPr sz="2000" b="1" spc="-15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products!</a:t>
            </a:r>
            <a:endParaRPr sz="2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spc="5" dirty="0">
                <a:latin typeface="Arial"/>
                <a:cs typeface="Arial"/>
              </a:rPr>
              <a:t>WHO</a:t>
            </a:r>
            <a:r>
              <a:rPr sz="2000" b="1" spc="-3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responsible?</a:t>
            </a:r>
            <a:endParaRPr sz="20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Testing is </a:t>
            </a:r>
            <a:r>
              <a:rPr sz="2000" b="1" spc="-5" dirty="0">
                <a:latin typeface="Arial"/>
                <a:cs typeface="Arial"/>
              </a:rPr>
              <a:t>joint </a:t>
            </a:r>
            <a:r>
              <a:rPr sz="2000" b="1" dirty="0">
                <a:latin typeface="Arial"/>
                <a:cs typeface="Arial"/>
              </a:rPr>
              <a:t>responsibility </a:t>
            </a:r>
            <a:r>
              <a:rPr sz="2000" b="1" spc="-5" dirty="0">
                <a:latin typeface="Arial"/>
                <a:cs typeface="Arial"/>
              </a:rPr>
              <a:t>of</a:t>
            </a:r>
            <a:r>
              <a:rPr sz="2000" b="1" spc="-100" dirty="0">
                <a:latin typeface="Arial"/>
                <a:cs typeface="Arial"/>
              </a:rPr>
              <a:t> </a:t>
            </a:r>
            <a:r>
              <a:rPr sz="2000" b="1" spc="-5" dirty="0">
                <a:solidFill>
                  <a:srgbClr val="0000FF"/>
                </a:solidFill>
                <a:latin typeface="Arial"/>
                <a:cs typeface="Arial"/>
              </a:rPr>
              <a:t>everybody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900">
              <a:latin typeface="Arial"/>
              <a:cs typeface="Arial"/>
            </a:endParaRPr>
          </a:p>
          <a:p>
            <a:pPr marL="394335" algn="ctr">
              <a:lnSpc>
                <a:spcPct val="100000"/>
              </a:lnSpc>
              <a:tabLst>
                <a:tab pos="1018540" algn="l"/>
              </a:tabLst>
            </a:pPr>
            <a:r>
              <a:rPr sz="3000" b="1" baseline="4166" dirty="0">
                <a:latin typeface="Helvetica"/>
                <a:cs typeface="Helvetica"/>
              </a:rPr>
              <a:t>Fab	</a:t>
            </a:r>
            <a:r>
              <a:rPr sz="2000" b="1" dirty="0">
                <a:latin typeface="Helvetica"/>
                <a:cs typeface="Helvetica"/>
              </a:rPr>
              <a:t>Production</a:t>
            </a:r>
            <a:endParaRPr sz="2000">
              <a:latin typeface="Helvetica"/>
              <a:cs typeface="Helvetica"/>
            </a:endParaRPr>
          </a:p>
          <a:p>
            <a:pPr marR="2176780" algn="ctr">
              <a:lnSpc>
                <a:spcPct val="100000"/>
              </a:lnSpc>
              <a:spcBef>
                <a:spcPts val="1540"/>
              </a:spcBef>
            </a:pPr>
            <a:r>
              <a:rPr sz="2000" b="1" spc="-35" dirty="0">
                <a:latin typeface="Helvetica"/>
                <a:cs typeface="Helvetica"/>
              </a:rPr>
              <a:t>PFA</a:t>
            </a:r>
            <a:endParaRPr sz="2000">
              <a:latin typeface="Helvetica"/>
              <a:cs typeface="Helvetic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215798" y="6399903"/>
            <a:ext cx="393802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32</a:t>
            </a:fld>
            <a:endParaRPr spc="-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60852" y="164414"/>
            <a:ext cx="249237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References</a:t>
            </a:r>
            <a:endParaRPr sz="3600" dirty="0"/>
          </a:p>
        </p:txBody>
      </p:sp>
      <p:sp>
        <p:nvSpPr>
          <p:cNvPr id="3" name="object 3"/>
          <p:cNvSpPr txBox="1"/>
          <p:nvPr/>
        </p:nvSpPr>
        <p:spPr>
          <a:xfrm>
            <a:off x="230225" y="961136"/>
            <a:ext cx="8551545" cy="3257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132080" indent="-342900">
              <a:lnSpc>
                <a:spcPct val="100000"/>
              </a:lnSpc>
              <a:spcBef>
                <a:spcPts val="10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[Agrawal </a:t>
            </a:r>
            <a:r>
              <a:rPr sz="2000" b="1" spc="-5" dirty="0">
                <a:latin typeface="Arial"/>
                <a:cs typeface="Arial"/>
              </a:rPr>
              <a:t>82] </a:t>
            </a:r>
            <a:r>
              <a:rPr sz="2000" b="1" dirty="0">
                <a:latin typeface="Arial"/>
                <a:cs typeface="Arial"/>
              </a:rPr>
              <a:t>V. </a:t>
            </a:r>
            <a:r>
              <a:rPr sz="2000" b="1" spc="-5" dirty="0">
                <a:latin typeface="Arial"/>
                <a:cs typeface="Arial"/>
              </a:rPr>
              <a:t>D. </a:t>
            </a:r>
            <a:r>
              <a:rPr sz="2000" b="1" dirty="0">
                <a:latin typeface="Arial"/>
                <a:cs typeface="Arial"/>
              </a:rPr>
              <a:t>Agrawal, S. </a:t>
            </a:r>
            <a:r>
              <a:rPr sz="2000" b="1" spc="-5" dirty="0">
                <a:latin typeface="Arial"/>
                <a:cs typeface="Arial"/>
              </a:rPr>
              <a:t>C. </a:t>
            </a:r>
            <a:r>
              <a:rPr sz="2000" b="1" dirty="0">
                <a:latin typeface="Arial"/>
                <a:cs typeface="Arial"/>
              </a:rPr>
              <a:t>Seth, P. </a:t>
            </a:r>
            <a:r>
              <a:rPr sz="2000" b="1" spc="-5" dirty="0">
                <a:latin typeface="Arial"/>
                <a:cs typeface="Arial"/>
              </a:rPr>
              <a:t>Agrawal, </a:t>
            </a:r>
            <a:r>
              <a:rPr sz="2000" b="1" dirty="0">
                <a:latin typeface="Arial"/>
                <a:cs typeface="Arial"/>
              </a:rPr>
              <a:t>“Fault</a:t>
            </a:r>
            <a:r>
              <a:rPr sz="2000" b="1" spc="-254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Coverage  Requirement </a:t>
            </a:r>
            <a:r>
              <a:rPr sz="2000" b="1" dirty="0">
                <a:latin typeface="Arial"/>
                <a:cs typeface="Arial"/>
              </a:rPr>
              <a:t>in Production Testing of LSI </a:t>
            </a:r>
            <a:r>
              <a:rPr sz="2000" b="1" spc="-5" dirty="0">
                <a:latin typeface="Arial"/>
                <a:cs typeface="Arial"/>
              </a:rPr>
              <a:t>Circuits,” IEEE J. </a:t>
            </a:r>
            <a:r>
              <a:rPr sz="2000" b="1" dirty="0">
                <a:latin typeface="Arial"/>
                <a:cs typeface="Arial"/>
              </a:rPr>
              <a:t>Solid-  State Circuits, </a:t>
            </a:r>
            <a:r>
              <a:rPr sz="2000" b="1" spc="-5" dirty="0">
                <a:latin typeface="Arial"/>
                <a:cs typeface="Arial"/>
              </a:rPr>
              <a:t>vol. </a:t>
            </a:r>
            <a:r>
              <a:rPr sz="2000" b="1" dirty="0">
                <a:latin typeface="Arial"/>
                <a:cs typeface="Arial"/>
              </a:rPr>
              <a:t>SC-17, no. 1, pp. 57-61, Feb.</a:t>
            </a:r>
            <a:r>
              <a:rPr sz="2000" b="1" spc="-19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1982.</a:t>
            </a:r>
            <a:endParaRPr sz="2000" dirty="0"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spc="-5" dirty="0">
                <a:latin typeface="Arial"/>
                <a:cs typeface="Arial"/>
              </a:rPr>
              <a:t>[Davis </a:t>
            </a:r>
            <a:r>
              <a:rPr sz="2000" b="1" dirty="0">
                <a:latin typeface="Arial"/>
                <a:cs typeface="Arial"/>
              </a:rPr>
              <a:t>82] B. </a:t>
            </a:r>
            <a:r>
              <a:rPr sz="2000" b="1" spc="-5" dirty="0">
                <a:latin typeface="Arial"/>
                <a:cs typeface="Arial"/>
              </a:rPr>
              <a:t>Davis, </a:t>
            </a:r>
            <a:r>
              <a:rPr sz="2000" b="1" dirty="0">
                <a:latin typeface="Arial"/>
                <a:cs typeface="Arial"/>
              </a:rPr>
              <a:t>The Economics of Automated Testing.</a:t>
            </a:r>
            <a:r>
              <a:rPr sz="2000" b="1" spc="-9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McGraw-  </a:t>
            </a:r>
            <a:r>
              <a:rPr sz="2000" b="1" spc="-5" dirty="0">
                <a:latin typeface="Arial"/>
                <a:cs typeface="Arial"/>
              </a:rPr>
              <a:t>Hill: </a:t>
            </a:r>
            <a:r>
              <a:rPr sz="2000" b="1" dirty="0">
                <a:latin typeface="Arial"/>
                <a:cs typeface="Arial"/>
              </a:rPr>
              <a:t>London,</a:t>
            </a:r>
            <a:r>
              <a:rPr sz="2000" b="1" spc="-3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UK</a:t>
            </a:r>
            <a:endParaRPr sz="2000" dirty="0">
              <a:latin typeface="Arial"/>
              <a:cs typeface="Arial"/>
            </a:endParaRPr>
          </a:p>
          <a:p>
            <a:pPr marL="355600" marR="547370" indent="-34290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[McCluskey </a:t>
            </a:r>
            <a:r>
              <a:rPr sz="2000" b="1" spc="-5" dirty="0">
                <a:latin typeface="Arial"/>
                <a:cs typeface="Arial"/>
              </a:rPr>
              <a:t>88] E.J. </a:t>
            </a:r>
            <a:r>
              <a:rPr sz="2000" b="1" dirty="0">
                <a:latin typeface="Arial"/>
                <a:cs typeface="Arial"/>
              </a:rPr>
              <a:t>McCluskey ; F. Buelow, “IC quality </a:t>
            </a:r>
            <a:r>
              <a:rPr sz="2000" b="1" spc="-5" dirty="0">
                <a:latin typeface="Arial"/>
                <a:cs typeface="Arial"/>
              </a:rPr>
              <a:t>and</a:t>
            </a:r>
            <a:r>
              <a:rPr sz="2000" b="1" spc="-19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test  </a:t>
            </a:r>
            <a:r>
              <a:rPr sz="2000" b="1" spc="-5" dirty="0">
                <a:latin typeface="Arial"/>
                <a:cs typeface="Arial"/>
              </a:rPr>
              <a:t>transparency,” </a:t>
            </a:r>
            <a:r>
              <a:rPr sz="2000" b="1" dirty="0">
                <a:latin typeface="Arial"/>
                <a:cs typeface="Arial"/>
              </a:rPr>
              <a:t>Int’l Test Conf.,</a:t>
            </a:r>
            <a:r>
              <a:rPr sz="2000" b="1" spc="-10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1988.</a:t>
            </a:r>
            <a:endParaRPr sz="2000" dirty="0">
              <a:latin typeface="Arial"/>
              <a:cs typeface="Arial"/>
            </a:endParaRPr>
          </a:p>
          <a:p>
            <a:pPr marL="355600" marR="159385" indent="-342900">
              <a:lnSpc>
                <a:spcPct val="100000"/>
              </a:lnSpc>
              <a:spcBef>
                <a:spcPts val="484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spc="-5" dirty="0">
                <a:latin typeface="Arial"/>
                <a:cs typeface="Arial"/>
              </a:rPr>
              <a:t>[Williams 81] </a:t>
            </a:r>
            <a:r>
              <a:rPr sz="2000" b="1" dirty="0">
                <a:latin typeface="Arial"/>
                <a:cs typeface="Arial"/>
              </a:rPr>
              <a:t>T. W. </a:t>
            </a:r>
            <a:r>
              <a:rPr sz="2000" b="1" spc="-5" dirty="0">
                <a:latin typeface="Arial"/>
                <a:cs typeface="Arial"/>
              </a:rPr>
              <a:t>Williams, N. C. </a:t>
            </a:r>
            <a:r>
              <a:rPr sz="2000" b="1" dirty="0">
                <a:latin typeface="Arial"/>
                <a:cs typeface="Arial"/>
              </a:rPr>
              <a:t>Brown, “Defect </a:t>
            </a:r>
            <a:r>
              <a:rPr sz="2000" b="1" spc="-5" dirty="0">
                <a:latin typeface="Arial"/>
                <a:cs typeface="Arial"/>
              </a:rPr>
              <a:t>Level as </a:t>
            </a:r>
            <a:r>
              <a:rPr sz="2000" b="1" dirty="0">
                <a:latin typeface="Arial"/>
                <a:cs typeface="Arial"/>
              </a:rPr>
              <a:t>a  Function of Fault </a:t>
            </a:r>
            <a:r>
              <a:rPr sz="2000" b="1" spc="-5" dirty="0">
                <a:latin typeface="Arial"/>
                <a:cs typeface="Arial"/>
              </a:rPr>
              <a:t>Coverage,” IEEE </a:t>
            </a:r>
            <a:r>
              <a:rPr sz="2000" b="1" dirty="0">
                <a:latin typeface="Arial"/>
                <a:cs typeface="Arial"/>
              </a:rPr>
              <a:t>Trans. on Computers, </a:t>
            </a:r>
            <a:r>
              <a:rPr sz="2000" b="1" spc="-5" dirty="0">
                <a:latin typeface="Arial"/>
                <a:cs typeface="Arial"/>
              </a:rPr>
              <a:t>vol.</a:t>
            </a:r>
            <a:r>
              <a:rPr sz="2000" b="1" spc="-11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C-30,  no. 12, pp. 987-988,</a:t>
            </a:r>
            <a:r>
              <a:rPr sz="2000" b="1" spc="-9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Dec.1981.</a:t>
            </a:r>
            <a:endParaRPr sz="20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7868</TotalTime>
  <Words>2617</Words>
  <Application>Microsoft Macintosh PowerPoint</Application>
  <PresentationFormat>On-screen Show (4:3)</PresentationFormat>
  <Paragraphs>457</Paragraphs>
  <Slides>32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3" baseType="lpstr">
      <vt:lpstr>Arial</vt:lpstr>
      <vt:lpstr>Arial Narrow</vt:lpstr>
      <vt:lpstr>Arial-BoldItalicMT</vt:lpstr>
      <vt:lpstr>Calibri</vt:lpstr>
      <vt:lpstr>Cambria Math</vt:lpstr>
      <vt:lpstr>Google Sans</vt:lpstr>
      <vt:lpstr>Helvetica</vt:lpstr>
      <vt:lpstr>HelveticaNeue-BoldItalic</vt:lpstr>
      <vt:lpstr>Times New Roman</vt:lpstr>
      <vt:lpstr>TimesNewRomanPS-BoldItalicMT</vt:lpstr>
      <vt:lpstr>Office Theme</vt:lpstr>
      <vt:lpstr>ECE 553: TESTING AND TESTABLE DESIGN OF DIGITAL SYSTEMS</vt:lpstr>
      <vt:lpstr>Introduction</vt:lpstr>
      <vt:lpstr>How to Measure Test Quality?</vt:lpstr>
      <vt:lpstr>IC DPM → System DPM</vt:lpstr>
      <vt:lpstr>Quiz</vt:lpstr>
      <vt:lpstr>Introduction</vt:lpstr>
      <vt:lpstr>Brown &amp; Williams Model [Williams 81]</vt:lpstr>
      <vt:lpstr>B&amp;W Proof  (simplified! Not required/just for your reference)</vt:lpstr>
      <vt:lpstr>Quiz</vt:lpstr>
      <vt:lpstr>Introduction</vt:lpstr>
      <vt:lpstr>Why B&amp;W Not Accurate?</vt:lpstr>
      <vt:lpstr>Agrawal Model [Agrawal 82]</vt:lpstr>
      <vt:lpstr>Introduction</vt:lpstr>
      <vt:lpstr>Yield Estimation (Simple)</vt:lpstr>
      <vt:lpstr>Quiz</vt:lpstr>
      <vt:lpstr>Critical Area , CA</vt:lpstr>
      <vt:lpstr>Defect Size and Density Distribution, DSDD</vt:lpstr>
      <vt:lpstr>Yield Estimation (CA)</vt:lpstr>
      <vt:lpstr>Summary</vt:lpstr>
      <vt:lpstr>Introduction</vt:lpstr>
      <vt:lpstr>Why Invest in Testing?</vt:lpstr>
      <vt:lpstr>15% Semiconductor Market Goes to Test</vt:lpstr>
      <vt:lpstr>Many Companies Invest Heavily in Test</vt:lpstr>
      <vt:lpstr>EDA Market by Tool</vt:lpstr>
      <vt:lpstr>Introduction</vt:lpstr>
      <vt:lpstr>How to Make Optimal Decision?</vt:lpstr>
      <vt:lpstr>What Cost Can We Optimize?</vt:lpstr>
      <vt:lpstr>Case 1: DFT or Not?</vt:lpstr>
      <vt:lpstr>Case Study: DFT or Not? (Cont’d)</vt:lpstr>
      <vt:lpstr>Introduction</vt:lpstr>
      <vt:lpstr>Conclusions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user</dc:creator>
  <cp:lastModifiedBy>Azadeh Davoodi</cp:lastModifiedBy>
  <cp:revision>198</cp:revision>
  <cp:lastPrinted>2026-09-07T19:02:19Z</cp:lastPrinted>
  <dcterms:created xsi:type="dcterms:W3CDTF">2022-08-16T15:10:06Z</dcterms:created>
  <dcterms:modified xsi:type="dcterms:W3CDTF">2026-09-08T14:21:10Z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2021-02-18T00:00:00Z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2022-08-16T00:00:00Z</vt:filetime>
  </property>
</Properties>
</file>